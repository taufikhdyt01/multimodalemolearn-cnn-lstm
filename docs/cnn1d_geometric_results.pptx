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MediaPipe</c:v>
                </c:pt>
              </c:strCache>
            </c:strRef>
          </c:tx>
          <c:spPr>
            <a:solidFill>
              <a:srgbClr val="1E3A5F"/>
            </a:solidFill>
          </c:spPr>
          <c:cat>
            <c:strRef>
              <c:f>Sheet1!$A$2:$A$5</c:f>
              <c:strCache>
                <c:ptCount val="4"/>
                <c:pt idx="0">
                  <c:v>FCNN 3c</c:v>
                </c:pt>
                <c:pt idx="1">
                  <c:v>FCNN 7c</c:v>
                </c:pt>
                <c:pt idx="2">
                  <c:v>CNN1D 3c</c:v>
                </c:pt>
                <c:pt idx="3">
                  <c:v>CNN1D 7c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0.5087</c:v>
                </c:pt>
                <c:pt idx="1">
                  <c:v>0.2255</c:v>
                </c:pt>
                <c:pt idx="2">
                  <c:v>0.638</c:v>
                </c:pt>
                <c:pt idx="3">
                  <c:v>0.2679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face-api.js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Sheet1!$A$2:$A$5</c:f>
              <c:strCache>
                <c:ptCount val="4"/>
                <c:pt idx="0">
                  <c:v>FCNN 3c</c:v>
                </c:pt>
                <c:pt idx="1">
                  <c:v>FCNN 7c</c:v>
                </c:pt>
                <c:pt idx="2">
                  <c:v>CNN1D 3c</c:v>
                </c:pt>
                <c:pt idx="3">
                  <c:v>CNN1D 7c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0.7119</c:v>
                </c:pt>
                <c:pt idx="1">
                  <c:v>0.3122</c:v>
                </c:pt>
                <c:pt idx="2">
                  <c:v>0.7524</c:v>
                </c:pt>
                <c:pt idx="3">
                  <c:v>0.3036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548640" cy="9144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54864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E86AB"/>
                </a:solidFill>
                <a:latin typeface="Calibri"/>
              </a:rPr>
              <a:t>EKSPLORASI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CNN1D dengan Fitur Geometrik
Landmark Wajah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Eksperimen baseline koordinat, ablation landmark source, dan FACS-decomposed Euclidean 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Arahan Dosen — 13 Mei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Multimodal Emotion Learning  ·  Dataset Primer conf60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Latar Belakang &amp; Arahan Dosen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9728" cy="14630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ARAHAN DOSEN (13 Mei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1E293B"/>
                </a:solidFill>
                <a:latin typeface="Calibri"/>
              </a:rPr>
              <a:t>“Coba model CNN dengan fitur geometrik (baseline — hanya koordinat titik).”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  <a:latin typeface="Calibri"/>
              </a:rPr>
              <a:t>Interpretasi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1247120" cy="2926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CNN 1D di koordinat landmark mentah  </a:t>
            </a:r>
            <a:r>
              <a:rPr sz="1500" b="0" i="0">
                <a:solidFill>
                  <a:srgbClr val="64748B"/>
                </a:solidFill>
                <a:latin typeface="Calibri"/>
              </a:rPr>
              <a:t>— 68 titik × 2 (x, y) sebagai sequence, bukan flat 136-dim vector seperti FCNN.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“Baseline” = raw coordinates dulu</a:t>
            </a:r>
            <a:r>
              <a:rPr sz="1500" b="0" i="0">
                <a:solidFill>
                  <a:srgbClr val="64748B"/>
                </a:solidFill>
                <a:latin typeface="Calibri"/>
              </a:rPr>
              <a:t>, sebelum tambah fitur turunan (eccentricity, distance ratio à la Liliana 2019).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Tujuan eksperimen: </a:t>
            </a:r>
            <a:r>
              <a:rPr sz="1500" b="0" i="0">
                <a:solidFill>
                  <a:srgbClr val="64748B"/>
                </a:solidFill>
                <a:latin typeface="Calibri"/>
              </a:rPr>
              <a:t>verifikasi apakah struktur sequential antar titik landmark (Conv1d) bisa men-leverage adjacency information yang dibuang oleh flat MLP.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Setup Eksperimen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00" cy="5212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DATASET &amp;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8308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data/dataset_frontonly_conf60/ (single split)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Input 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41448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(B, 2, 68) — channel (x, y) × 68 landmark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5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Skema kelas 7c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099815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angry, disgust, fear, happy, neutral, sad, surprise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58183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Skema kelas 3c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58183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positive / neutral / negative (REMAP_3)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16551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16551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NVIDIA L40 (GPU 1), shared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19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07491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42  ·  Batch 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5486400" cy="5212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MODEL &amp;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830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78308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EmotionCNN1D (models.py:14)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4144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Arsitektur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41448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4 Conv1d (32→64→128→256, k=5/5/3/3)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099815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099815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GAP → FC(128) →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58183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Params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58183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441,735 (7c)  ·  441,219 (3c)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16551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Optimizer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416551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Adam, lr = 1e-3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074919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Epochs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7491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max 50 · early stop patience 15 (val macro-F1)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Distribusi Kelas &amp;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8580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7-CLASS (LABEL ASLI)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69164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868680"/>
                <a:gridCol w="685800"/>
                <a:gridCol w="594360"/>
                <a:gridCol w="640080"/>
                <a:gridCol w="777240"/>
                <a:gridCol w="777240"/>
                <a:gridCol w="685800"/>
                <a:gridCol w="68580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happy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sad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angry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fearful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disgust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surpr.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4526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416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5287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477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579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688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183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929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" y="3246120"/>
            <a:ext cx="6400800" cy="5029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⚠  </a:t>
            </a:r>
            <a:r>
              <a:rPr sz="1200" b="1" i="0">
                <a:solidFill>
                  <a:srgbClr val="DC2626"/>
                </a:solidFill>
                <a:latin typeface="Calibri"/>
              </a:rPr>
              <a:t>Imbalance ekstrem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rasio neutral : fearful = </a:t>
            </a:r>
            <a:r>
              <a:rPr sz="1200" b="1" i="0">
                <a:solidFill>
                  <a:srgbClr val="DC2626"/>
                </a:solidFill>
                <a:latin typeface="Calibri"/>
              </a:rPr>
              <a:t>2263 : 1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  di train  →  sumber masalah B2 7c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18872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2801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3-CLASS (REMAP)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818120" y="169164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77240"/>
                <a:gridCol w="777240"/>
                <a:gridCol w="777240"/>
                <a:gridCol w="68580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4526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329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5287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477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579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688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929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818120" y="3246120"/>
            <a:ext cx="3657600" cy="50292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310128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✓  </a:t>
            </a:r>
            <a:r>
              <a:rPr sz="1200" b="1" i="0">
                <a:solidFill>
                  <a:srgbClr val="10B981"/>
                </a:solidFill>
                <a:latin typeface="Calibri"/>
              </a:rPr>
              <a:t>Moderate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rasio max </a:t>
            </a:r>
            <a:r>
              <a:rPr sz="1200" b="1" i="0">
                <a:solidFill>
                  <a:srgbClr val="10B981"/>
                </a:solidFill>
                <a:latin typeface="Calibri"/>
              </a:rPr>
              <a:t>≈ 14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Implikasi terhadap skenario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86AB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Di 7c,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class_weight='balanced' menghasilkan weight 377.6 untuk fear 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(hanya 2 sampel train) — loss didistorsi ekstrem.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E86AB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Di 3c, weights moderate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[4.08, 0.39, 5.36]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 — class weighting jauh lebih aman.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E86AB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Kelas dengan 1–3 sampel di test set mustahil di-recover </a:t>
            </a:r>
            <a:r>
              <a:rPr sz="1300" b="0" i="0">
                <a:solidFill>
                  <a:srgbClr val="64748B"/>
                </a:solidFill>
                <a:latin typeface="Calibri"/>
              </a:rPr>
              <a:t>(macro-F1 capped struktural).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Tiga Skenario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1188720"/>
            <a:ext cx="36576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1188720"/>
            <a:ext cx="3657600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" y="12801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1007" y="14173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24028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Tanpa augmentasi.
Class weight uniform (none).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3383280"/>
            <a:ext cx="32004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Reference baseline murni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Tidak ada bias ke kelas minoritas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Fair comparison antar arsitektur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047" y="1188720"/>
            <a:ext cx="36576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047" y="1188720"/>
            <a:ext cx="3657600" cy="8229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647" y="12801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5767" y="14173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Class-Weighted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5647" y="224028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Tanpa augmentasi.
Class weight sklearn 'balanced'.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383280"/>
            <a:ext cx="32004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Loss di-reweight inverse-frequency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Cocok untuk imbalance moderat (3c)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Rentan collapse di imbalance ekstrem (7c)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1807" y="1188720"/>
            <a:ext cx="36576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1807" y="1188720"/>
            <a:ext cx="3657600" cy="8229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0407" y="12801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0527" y="141732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On-the-fly Aug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407" y="2240280"/>
            <a:ext cx="3200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Augmentasi landmark on-the-fly +
balanced (= 1.0 setelah aug).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407" y="3383280"/>
            <a:ext cx="32004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394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hflip + rotate ±10° + flip_rot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394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Cycle teknik oversampling minoritas → match majority count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3946"/>
                </a:solidFill>
                <a:latin typeface="Calibri"/>
              </a:rPr>
              <a:t>▸  </a:t>
            </a:r>
            <a:r>
              <a:rPr sz="1200">
                <a:solidFill>
                  <a:srgbClr val="1E293B"/>
                </a:solidFill>
                <a:latin typeface="Calibri"/>
              </a:rPr>
              <a:t>Mirror src/preprocessing/augment_conf60_3class.py:73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Hasil Utama — 7-Class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FCNN vs CNN1D di tiga skenario (test_macro_f1, weighted_f1, accuracy)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4529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93215"/>
                <a:gridCol w="1493215"/>
                <a:gridCol w="1493215"/>
                <a:gridCol w="1493215"/>
                <a:gridCol w="1493215"/>
                <a:gridCol w="149321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FCNN B1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CNN1D B1</a:t>
                      </a:r>
                    </a:p>
                  </a:txBody>
                  <a:tcPr marL="36576" marR="36576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FCNN B2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CNN1D B2</a:t>
                      </a:r>
                    </a:p>
                  </a:txBody>
                  <a:tcPr marL="36576" marR="36576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FCNN B3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CNN1D B3</a:t>
                      </a:r>
                    </a:p>
                  </a:txBody>
                  <a:tcPr marL="36576" marR="36576" marT="18288" marB="18288"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test_macro_f1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0.2317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0.2766 ✓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0.2437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C2626"/>
                          </a:solidFill>
                          <a:latin typeface="Calibri"/>
                        </a:rPr>
                        <a:t>0.1631 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0.2224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0.2235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test_weighted_f1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0.7650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0.8014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0.7674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0.5994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0.7580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0.7003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test_accuracy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0.7675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0.8084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0.7653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0.5608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0.7395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0.6609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best epoch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training time (s)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171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551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Δ macro_f1 vs FCNN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+0.0449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C2626"/>
                          </a:solidFill>
                          <a:latin typeface="Calibri"/>
                        </a:rPr>
                        <a:t>−0.0806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4748B"/>
                          </a:solidFill>
                          <a:latin typeface="Calibri"/>
                        </a:rPr>
                        <a:t>+0.0011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09728" cy="1463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TAKEAWAYS 7-CLASS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94960"/>
            <a:ext cx="1069848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1E293B"/>
                </a:solidFill>
                <a:latin typeface="Calibri"/>
              </a:rPr>
              <a:t>CNN1D B1 menang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+0.045 macro-F1 vs FCNN B1 — Conv1d men-leverage adjacency antar titik landmark.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DC2626"/>
                </a:solidFill>
                <a:latin typeface="Calibri"/>
              </a:rPr>
              <a:t>B2 collapse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akibat weight 377.6 untuk fear (2 sampel train); accuracy jatuh 0.81 → 0.56.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1E293B"/>
                </a:solidFill>
                <a:latin typeface="Calibri"/>
              </a:rPr>
              <a:t>Macro-F1 capped struktural ~0.28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karena kelas dengan 1–3 sampel test mustahil dipelajari.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Hasil Utama — 3-Class (Positive / Neutral / Negative)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FCNN vs CNN1D di tiga skenario — imbalance moderat, hasil lebih informatif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4529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93215"/>
                <a:gridCol w="1493215"/>
                <a:gridCol w="1493215"/>
                <a:gridCol w="1493215"/>
                <a:gridCol w="1493215"/>
                <a:gridCol w="149321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FCNN B1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CNN1D B1</a:t>
                      </a:r>
                    </a:p>
                  </a:txBody>
                  <a:tcPr marL="36576" marR="36576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FCNN B2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CNN1D B2</a:t>
                      </a:r>
                    </a:p>
                  </a:txBody>
                  <a:tcPr marL="36576" marR="36576" marT="18288" marB="18288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FCNN B3 ⭐</a:t>
                      </a:r>
                    </a:p>
                  </a:txBody>
                  <a:tcPr marL="36576" marR="36576" marT="18288" marB="18288"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CNN1D B3</a:t>
                      </a:r>
                    </a:p>
                  </a:txBody>
                  <a:tcPr marL="36576" marR="36576" marT="18288" marB="18288"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test_macro_f1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0.5893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0.6183 ✓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0.5750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0.5935 ✓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63946"/>
                          </a:solidFill>
                          <a:latin typeface="Calibri"/>
                        </a:rPr>
                        <a:t>0.6342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C2626"/>
                          </a:solidFill>
                          <a:latin typeface="Calibri"/>
                        </a:rPr>
                        <a:t>0.5744 ✗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test_weighted_f1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0.7596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0.8203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0.7302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0.7686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0.7636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0.7072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test_accuracy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0.7406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0.8299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0.7018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0.7524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0.7492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0.6598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best epoch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training time (s)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Δ macro_f1 vs FCNN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+0.0290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0B981"/>
                          </a:solidFill>
                          <a:latin typeface="Calibri"/>
                        </a:rPr>
                        <a:t>+0.0185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C2626"/>
                          </a:solidFill>
                          <a:latin typeface="Calibri"/>
                        </a:rPr>
                        <a:t>−0.0598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09728" cy="14630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TAKEAWAYS 3-CLASS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94960"/>
            <a:ext cx="1069848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Best overall: </a:t>
            </a:r>
            <a:r>
              <a:rPr sz="1100" b="1" i="0">
                <a:solidFill>
                  <a:srgbClr val="E63946"/>
                </a:solidFill>
                <a:latin typeface="Calibri"/>
              </a:rPr>
              <a:t>FCNN 3c B3 = 0.6342 macro-F1 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(raja sejauh ini, dengan offline-augmented data).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Best CNN1D: </a:t>
            </a:r>
            <a:r>
              <a:rPr sz="1100" b="1" i="0">
                <a:solidFill>
                  <a:srgbClr val="10B981"/>
                </a:solidFill>
                <a:latin typeface="Calibri"/>
              </a:rPr>
              <a:t>3c B1 = 0.6183 macro-F1 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(close second, +0.029 vs FCNN B1, tanpa augmentasi).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E86AB"/>
                </a:solidFill>
                <a:latin typeface="Calibri"/>
              </a:rPr>
              <a:t>▸  </a:t>
            </a:r>
            <a:r>
              <a:rPr sz="1100" b="1" i="0">
                <a:solidFill>
                  <a:srgbClr val="DC2626"/>
                </a:solidFill>
                <a:latin typeface="Calibri"/>
              </a:rPr>
              <a:t>B3 CNN1D kalah </a:t>
            </a:r>
            <a:r>
              <a:rPr sz="1100" b="0" i="0">
                <a:solidFill>
                  <a:srgbClr val="64748B"/>
                </a:solidFill>
                <a:latin typeface="Calibri"/>
              </a:rPr>
              <a:t>— on-the-fly aug terlalu agresif &amp; hflip tanpa swap index left/right merusak semantik.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Confusion Matrix — CNN1D 3-Class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Trade-off recall positive vs negative di tiga skenario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" y="1554480"/>
            <a:ext cx="3749039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6567" y="1554480"/>
            <a:ext cx="3749039" cy="6400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447" y="1627632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B1 —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1874519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macro-F1 = 0.6183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9447" y="2377440"/>
          <a:ext cx="337989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977"/>
                <a:gridCol w="652973"/>
                <a:gridCol w="652973"/>
                <a:gridCol w="652973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positive (186)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neutral (688)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629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negative (55)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09447" y="4160520"/>
            <a:ext cx="3383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" y="4224528"/>
            <a:ext cx="320039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Recall: Pos 71%, Neu 91%, Neg 18%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1327" y="1554480"/>
            <a:ext cx="3749039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1327" y="1554480"/>
            <a:ext cx="3749039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4207" y="1627632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B2 — Class-Weighted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1874519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macro-F1 = 0.5935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404207" y="2377440"/>
          <a:ext cx="337989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977"/>
                <a:gridCol w="652973"/>
                <a:gridCol w="652973"/>
                <a:gridCol w="652973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positive (186)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neutral (688)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571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negative (55)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404207" y="4160520"/>
            <a:ext cx="3383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5647" y="4224528"/>
            <a:ext cx="320039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Recall: Pos 54%, Neu 83%, Neg 49%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6087" y="1554480"/>
            <a:ext cx="3749039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6087" y="1554480"/>
            <a:ext cx="3749039" cy="64008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8967" y="1627632"/>
            <a:ext cx="33832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B3 — On-the-fly Aug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8967" y="1874519"/>
            <a:ext cx="33832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macro-F1 = 0.5744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198967" y="2377440"/>
          <a:ext cx="337989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977"/>
                <a:gridCol w="652973"/>
                <a:gridCol w="652973"/>
                <a:gridCol w="652973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Neu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Neg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positive (186)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neutral (688)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424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194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negative (55)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8198967" y="4160520"/>
            <a:ext cx="338327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407" y="4224528"/>
            <a:ext cx="320039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Recall: Pos 82%, Neu 62%, Neg 65%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Trade-off jelas: </a:t>
            </a:r>
            <a:r>
              <a:rPr sz="1300" b="0" i="0">
                <a:solidFill>
                  <a:srgbClr val="CBD5E1"/>
                </a:solidFill>
                <a:latin typeface="Calibri"/>
              </a:rPr>
              <a:t>B1 unggul recall mayoritas, B2 seimbang, B3 angkat minoritas tapi neutral jatuh → weighted-F1 hancur.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Interpretasi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114300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1143000"/>
            <a:ext cx="640080" cy="1600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287" y="16002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9527" y="1280160"/>
            <a:ext cx="4617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CNN1D B1 konsisten menang vs FCNN B1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9527" y="1691640"/>
            <a:ext cx="4617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+0.045 di 7c, +0.029 di 3c macro-F1. Struktur sequential antar titik (Conv1d) bisa di-leverage; flat MLP membuang informasi adjacency.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14300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143000"/>
            <a:ext cx="640080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60020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1280160"/>
            <a:ext cx="4617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B2 di 7c collapse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247" y="1691640"/>
            <a:ext cx="4617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Rasio 2263:1 → weight 377.6 untuk fearful. Loss didominasi 2 sampel fear; model over-correct. Naive balanced weights bukan strategi yang tepat untuk imbalance ekstrem.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287" y="283464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2287" y="2834640"/>
            <a:ext cx="640080" cy="16002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287" y="32918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9527" y="2971800"/>
            <a:ext cx="4617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B2 di 3c aman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9527" y="3383280"/>
            <a:ext cx="4617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Rasio 14:1, weights moderate. CNN1D B2 marginal unggul FCNN B2 (+0.019). Val_macro_f1 B2 (0.604) sedikit di atas B1 (0.598).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283464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2834640"/>
            <a:ext cx="640080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3007" y="32918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247" y="2971800"/>
            <a:ext cx="4617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B3 di 3c kalah dari FCNN B3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0247" y="3383280"/>
            <a:ext cx="4617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On-the-fly aug terlalu agresif (13.5k vs 5.3k sampel/epoch). hflip tanpa swap index L/R merusak semantik. Class weights 1:1:1 setelah balancing terlalu agresif.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287" y="452628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2287" y="4526280"/>
            <a:ext cx="640080" cy="16002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287" y="49834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9527" y="4663440"/>
            <a:ext cx="4617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Class imbalance ekstrem = bottleneck struktural 7c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9527" y="5074920"/>
            <a:ext cx="4617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Bahkan model bagus stuck di macro-F1 ~0.28 karena kelas 2–16 train sample mustahil dipelajari. Konsisten dengan eksperimen clean-6c (drop fear → tetap ~0.27).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4526280"/>
            <a:ext cx="5486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3007" y="4526280"/>
            <a:ext cx="640080" cy="1600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3007" y="498348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0247" y="4663440"/>
            <a:ext cx="4617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Macro-F1 ≠ accuracy/weighted-F1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0247" y="5074920"/>
            <a:ext cx="46177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Di 7c B1, CNN1D unggul di ketiganya. Di 3c B3, FCNN unggul macro tapi CNN1D kalah weighted/acc — metrik menangkap performa minoritas vs mayoritas.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Ablation — MediaPipe vs face-api.js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Apakah source landmark mempengaruhi performa? Eksperimen 14 Mei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287" y="150876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2287" y="1508760"/>
            <a:ext cx="5486400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607" y="16002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MediaPipe (pipeline existing)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2286000"/>
            <a:ext cx="493776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478 titik FaceLandmarker v2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 → mapping ke 68 indeks dlib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Extract offline dari face-crop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224×224 JPEG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(ada artifact resize/kompresi)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Sudah ter-normalize ke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[0, 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50876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508760"/>
            <a:ext cx="5486400" cy="64008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6002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face-api.js (native dlib 68)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286000"/>
            <a:ext cx="493776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3946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68 titik native dlib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(konvensi standar)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3946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Extract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live di browser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saat data collection — dari frame asli sebelum face-crop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E63946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Normalisasi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(pos − shift) / imgDims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per axis → comparable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SETUP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Source: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data/emotions.csv (20,110 baris, 80 user)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Filter: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37 user yang dipakai dataset_frontonly_conf60, conf60 (max emotion prob ≥ 0.6)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Matching: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strict (uid, soft_label vector) tol=1e-4 + nn fallback untuk 13 sampel borderline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Coverage: </a:t>
            </a:r>
            <a:r>
              <a:rPr sz="1200" b="1" i="0">
                <a:solidFill>
                  <a:srgbClr val="10B981"/>
                </a:solidFill>
                <a:latin typeface="Calibri"/>
              </a:rPr>
              <a:t>100% (6795/6795) — strict 6782 + fallback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Hasil Ablation — face-api.js Pecah Rekor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test_macro_f1 — semua run B1 (no aug, no class weight)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50876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1508760"/>
            <a:ext cx="420624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4592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GAIN (face-api.js − MediaPipe)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0312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FCNN 3c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1031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E63946"/>
                </a:solidFill>
                <a:latin typeface="Calibri"/>
              </a:rPr>
              <a:t>+0.2032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0603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FCNN 7c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606039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2E86AB"/>
                </a:solidFill>
                <a:latin typeface="Calibri"/>
              </a:rPr>
              <a:t>+0.0867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0895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CNN1D 3c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108959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E63946"/>
                </a:solidFill>
                <a:latin typeface="Calibri"/>
              </a:rPr>
              <a:t>+0.1144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61187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CNN1D 7c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611879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800" b="1" i="0">
                <a:solidFill>
                  <a:srgbClr val="2E86AB"/>
                </a:solidFill>
                <a:latin typeface="Calibri"/>
              </a:rPr>
              <a:t>+0.0357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480560"/>
            <a:ext cx="3840480" cy="100584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526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BEST OVERALL BARU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800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CNN1D 3c B1 + face-api.js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1206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0.7524 macro-F1  (+0.12 vs lama)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Pecah rekor +12% tanpa augmentasi  </a:t>
            </a:r>
            <a:r>
              <a:rPr sz="1300" b="0" i="0">
                <a:solidFill>
                  <a:srgbClr val="CBD5E1"/>
                </a:solidFill>
                <a:latin typeface="Calibri"/>
              </a:rPr>
              <a:t>— hanya dengan mengganti sumber landmark. Best lama: FCNN 3c B3 = 0.6342.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Mengapa face-api.js Menang?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Hipotesis (perlu validasi lanjut) — landmark source mengalahkan arsitektur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37160" cy="9601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Coords preservation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face-api.js extract dari frame asli sebelum face-crop. MediaPipe extract dari face-crop 224×224 yang sudah resize — info skala / pose hilang setelah crop.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87752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587752"/>
            <a:ext cx="137160" cy="9601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7919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Native dlib 68-point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2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face-api.js output 68 titik native dlib convention. MediaPipe 478→68 via index mapping — semantik approximate, beberapa titik tidak persis di posisi konvensi dlib.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66744"/>
            <a:ext cx="11247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66744"/>
            <a:ext cx="137160" cy="96012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58183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Temporal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23944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face-api.js extract live saat data collection. MediaPipe extract offline dari face-crop JPEG (artifact resize / kompresi). Live extraction lebih sesuai kondisi runtime.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109728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949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1E3A5F"/>
                </a:solidFill>
                <a:latin typeface="Calibri"/>
              </a:rPr>
              <a:t>Landmark source &gt; arsitektur model. 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FCNN+face-api.js (0.7119) bahkan beat CNN1D+MediaPipe (0.6380).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Kenaikan terbesar di FCNN </a:t>
            </a:r>
            <a:r>
              <a:rPr sz="1200" b="0" i="0">
                <a:solidFill>
                  <a:srgbClr val="1E293B"/>
                </a:solidFill>
                <a:latin typeface="Calibri"/>
              </a:rPr>
              <a:t>— simpler model lebih sensitif terhadap konsistensi &amp; akurasi koordinat absolut. CNN1D slightly more robust karena extract pattern lokal.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FACS-Decomposed Euclidean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09728" cy="9144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ARAHAN DOSEN (lanjutan)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E293B"/>
                </a:solidFill>
                <a:latin typeface="Calibri"/>
              </a:rPr>
              <a:t>“Coba CNN dengan fitur geometrik yang didekomposisi — jarak Euclid dari acuan FACS (Facial Action Coding System).”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28 Jarak Euclidean per Action Unit (AU)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8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Inner brow raiser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 dist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175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Outer brow raiser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 dist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375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Brow lowerer (frown)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375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3 dist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AU5/7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5760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Eye opening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6576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4 dist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977639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Cheek raiser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977639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 dist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97679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297679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Nose wrinkler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97679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 dist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69748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6974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Upper lip raiser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6974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3 dist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0175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0175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Smile / lip corner puller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017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 dist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3375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33756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Lip corner depressor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3375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 dist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6576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AU20/23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36576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Mouth width / tightener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365760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2 dist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977639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AU25/26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977639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Lips part / jaw drop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977639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3 dist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297679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face_height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297679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Reference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297679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1 dist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MODEL &amp; NORMALISASI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349240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5349240"/>
            <a:ext cx="9326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EmotionCNN1D_FACS — 3 Conv1d (32→64→128) + GAP + FC(64) + head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559552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Params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5559552"/>
            <a:ext cx="9326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~105K  (vs 442K untuk raw CNN1D — 4× lebih kecil)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769864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Input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769864"/>
            <a:ext cx="9326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(B, 1, 28) — 28-dim FACS distance vector sebagai sequence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980176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Normalisasi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4560" y="5980176"/>
            <a:ext cx="9326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Dibagi inter-ocular distance d(36, 45) untuk scale invariance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190488"/>
            <a:ext cx="1463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Sweep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94560" y="6190488"/>
            <a:ext cx="93268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2 sources × 2 schemes × 2 scenarios = 8 runs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Hasil FACS — Sweep 8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test_macro_f1 + perbandingan dengan raw 136-dim coords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005840"/>
                <a:gridCol w="1005840"/>
                <a:gridCol w="100584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macro_f1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weighted_f1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best_ep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time(s)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MP × 3c × B1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0.5363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0.7671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0.7879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MP × 3c × B2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0.4962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0.7417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0.7255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FA × 3c × B1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0.6818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0.8359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0.8471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FA × 3c × B2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0.6778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0.8417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0.8224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MP × 7c × B1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0.2311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0.7639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0.7826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MP × 7c × B2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0.1999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0.6453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0.5823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FA × 7c × B1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0.3063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0.8539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0.8590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36576" marR="36576" marT="18288" marB="18288">
                    <a:solidFill>
                      <a:srgbClr val="ECFD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E293B"/>
                          </a:solidFill>
                          <a:latin typeface="Calibri"/>
                        </a:rPr>
                        <a:t>FA × 7c × B2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0.2956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0.8203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0.7944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1463040"/>
            <a:ext cx="4206240" cy="3657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00200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  <a:latin typeface="Calibri"/>
              </a:rPr>
              <a:t>FACS vs RAW COORDS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(CNN1D B1 face-api.js)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80960" y="2240280"/>
          <a:ext cx="3840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3c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7c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Raw 136-dim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0.7524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0.3036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FACS 28-dim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0.6818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0.3063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−0.0706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+0.0027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80960" y="4251960"/>
            <a:ext cx="38404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1E293B"/>
                </a:solidFill>
                <a:latin typeface="Calibri"/>
              </a:rPr>
              <a:t>Information loss dari 136→28 lebih besar daripada gain dari semantic prior (di 3c).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109728" cy="10058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TAKEAWAYS FACS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607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face-api.js advantage robust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(+0.075 … +0.18 macro_f1) — konsisten dengan finding raw coords / FCNN.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1E293B"/>
                </a:solidFill>
                <a:latin typeface="Calibri"/>
              </a:rPr>
              <a:t>Training 2–3× lebih cepat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(~70–180 s/run, 105K params) — cocok untuk eksperimen iteratif.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Ringkasan Best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🏆  BEST OVERALL BARU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0.7524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macro-F1 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CNN1D 3-class B1  +  face-api.js landmark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371600"/>
            <a:ext cx="2743200" cy="18288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50876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GAIN vs 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874519"/>
            <a:ext cx="2560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+18.7%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606040"/>
            <a:ext cx="25603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vs FCNN 3c B3 (0.6342)
tanpa augmentasi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Calibri"/>
              </a:rPr>
              <a:t>Top model di setiap kategori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0690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657600"/>
                <a:gridCol w="256032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36576" marR="36576" marT="18288" marB="18288">
                    <a:solidFill>
                      <a:srgbClr val="1E3A5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Best overall (baru)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CNN1D 3c B1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face-api.js, raw coords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63946"/>
                          </a:solidFill>
                          <a:latin typeface="Calibri"/>
                        </a:rPr>
                        <a:t>0.7524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Best 3c (lama, MP)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FCNN 3c B3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MediaPipe, offline aug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0.6342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Best 3c CNN1D (MP)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CNN1D 3c B1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MediaPipe, no aug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0.6183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Best 7c (face-api.js)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FCNN 7c B1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face-api.js, raw coords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0.3122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Calibri"/>
                        </a:rPr>
                        <a:t>Best FACS 3c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CNN1D 3c B1 FACS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face-api.js, 28-dim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0.6818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3A5F"/>
                </a:solidFill>
                <a:latin typeface="Calibri"/>
              </a:rPr>
              <a:t>Eksplorasi Lanjutan yang Disarankan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Eksplorasi CNN1D Fitur Geometrik  ·  FER Multimodal  ·  Mei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PRIORITAS TINGGI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Multi-seed (3–5) untuk konfirmasi gap face-api.js di atas noise floor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validasi statistik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Re-run B2/B3 dengan face-api.js landmark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55648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scenario lain konsisten naik?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02536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Apply face-api.js ke pipeline image-based (CNN, IntermediateFusion, EarlyFusion)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02536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lift bertahan saat digabung visual features?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49424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5-fold CV subject-wise / LOSO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49424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robustness vs random split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87752"/>
            <a:ext cx="1124712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33472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EKSPLORASI MENENGAH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9923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Regenerate offline augmented 3c dataset → re-run B3 (fair vs FCNN B3)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999232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isolate efek aug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Landmark hflip dengan index swap L↔R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4612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fix semantik geometri saat flip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93008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Coordinate normalization (center + inter-ocular scaling)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493008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robust terhadap pose/scale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39896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Hybrid: Conv1d raw + Liliana 20-dim → concat → 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39896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low-level + high-level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78223"/>
            <a:ext cx="11247120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123943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LANJUTAN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89703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CNN1D di clean-6c dataset (drop fearful)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489703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imbalance jauh lebih jinak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36592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Focal loss sebagai alternatif class weights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36592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lebih stabil di imbalance ekstrem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83479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▸  </a:t>
            </a:r>
            <a:r>
              <a:rPr sz="1100" b="0" i="0">
                <a:solidFill>
                  <a:srgbClr val="1E293B"/>
                </a:solidFill>
                <a:latin typeface="Calibri"/>
              </a:rPr>
              <a:t>Compare CNN1D raw vs FCNN + Liliana 20-dim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983479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raw vs derived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153912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Terima kasih  ·  Diskusi dan masukan dipersilakan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