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MediaPipe</c:v>
                </c:pt>
              </c:strCache>
            </c:strRef>
          </c:tx>
          <c:spPr>
            <a:solidFill>
              <a:srgbClr val="1E3A5F"/>
            </a:solidFill>
          </c:spPr>
          <c:cat>
            <c:strRef>
              <c:f>Sheet1!$A$2:$A$5</c:f>
              <c:strCache>
                <c:ptCount val="4"/>
                <c:pt idx="0">
                  <c:v>FCNN 3c</c:v>
                </c:pt>
                <c:pt idx="1">
                  <c:v>FCNN 7c</c:v>
                </c:pt>
                <c:pt idx="2">
                  <c:v>CNN1D 3c</c:v>
                </c:pt>
                <c:pt idx="3">
                  <c:v>CNN1D 7c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0.5087</c:v>
                </c:pt>
                <c:pt idx="1">
                  <c:v>0.2255</c:v>
                </c:pt>
                <c:pt idx="2">
                  <c:v>0.638</c:v>
                </c:pt>
                <c:pt idx="3">
                  <c:v>0.2679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face-api.js</c:v>
                </c:pt>
              </c:strCache>
            </c:strRef>
          </c:tx>
          <c:spPr>
            <a:solidFill>
              <a:srgbClr val="E63946"/>
            </a:solidFill>
          </c:spPr>
          <c:cat>
            <c:strRef>
              <c:f>Sheet1!$A$2:$A$5</c:f>
              <c:strCache>
                <c:ptCount val="4"/>
                <c:pt idx="0">
                  <c:v>FCNN 3c</c:v>
                </c:pt>
                <c:pt idx="1">
                  <c:v>FCNN 7c</c:v>
                </c:pt>
                <c:pt idx="2">
                  <c:v>CNN1D 3c</c:v>
                </c:pt>
                <c:pt idx="3">
                  <c:v>CNN1D 7c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0.7119</c:v>
                </c:pt>
                <c:pt idx="1">
                  <c:v>0.3122</c:v>
                </c:pt>
                <c:pt idx="2">
                  <c:v>0.7524</c:v>
                </c:pt>
                <c:pt idx="3">
                  <c:v>0.3036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0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85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0"/>
            <a:ext cx="548640" cy="91440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00"/>
            <a:ext cx="548640" cy="3657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2E86AB"/>
                </a:solidFill>
                <a:latin typeface="Calibri"/>
              </a:rPr>
              <a:t>EKSPLORASI MANDIRI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33272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CNN1D dengan Fitur Geometrik
Landmark Wajah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103327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CBD5E1"/>
                </a:solidFill>
                <a:latin typeface="Calibri"/>
              </a:rPr>
              <a:t>Eksperimen baseline koordinat, ablation landmark source, dan FACS-decomposed Euclidean distance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486400"/>
            <a:ext cx="10332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E63946"/>
                </a:solidFill>
                <a:latin typeface="Calibri"/>
              </a:rPr>
              <a:t>Arahan Dosen — 13 Mei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852160"/>
            <a:ext cx="10332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Multimodal Emotion Learning  ·  Dataset Primer conf60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3A5F"/>
                </a:solidFill>
                <a:latin typeface="Calibri"/>
              </a:rPr>
              <a:t>Latar Belakang &amp; Arahan Dosen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292608"/>
            <a:ext cx="822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alibri"/>
              </a:rPr>
              <a:t>2 / 17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1247120" cy="1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Eksplorasi CNN1D Fitur Geometrik  ·  FER Multimodal  ·  Mei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11247120" cy="14630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109728" cy="146304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2588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E63946"/>
                </a:solidFill>
                <a:latin typeface="Calibri"/>
              </a:rPr>
              <a:t>ARAHAN DOSEN (13 Mei 2026)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9164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1">
                <a:solidFill>
                  <a:srgbClr val="1E293B"/>
                </a:solidFill>
                <a:latin typeface="Calibri"/>
              </a:rPr>
              <a:t>“Coba model CNN dengan fitur geometrik (baseline — hanya koordinat titik).”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926080"/>
            <a:ext cx="112471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1E3A5F"/>
                </a:solidFill>
                <a:latin typeface="Calibri"/>
              </a:rPr>
              <a:t>Interpretasi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83280"/>
            <a:ext cx="11247120" cy="2926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E86AB"/>
                </a:solidFill>
                <a:latin typeface="Calibri"/>
              </a:rPr>
              <a:t>▸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CNN 1D di koordinat landmark mentah  </a:t>
            </a:r>
            <a:r>
              <a:rPr sz="1500" b="0" i="0">
                <a:solidFill>
                  <a:srgbClr val="64748B"/>
                </a:solidFill>
                <a:latin typeface="Calibri"/>
              </a:rPr>
              <a:t>— 68 titik × 2 (x, y) sebagai sequence, bukan flat 136-dim vector seperti FCNN.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2E86AB"/>
                </a:solidFill>
                <a:latin typeface="Calibri"/>
              </a:rPr>
              <a:t>▸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“Baseline” = raw coordinates dulu</a:t>
            </a:r>
            <a:r>
              <a:rPr sz="1500" b="0" i="0">
                <a:solidFill>
                  <a:srgbClr val="64748B"/>
                </a:solidFill>
                <a:latin typeface="Calibri"/>
              </a:rPr>
              <a:t>, sebelum tambah fitur turunan (eccentricity, distance ratio à la Liliana 2019).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2E86AB"/>
                </a:solidFill>
                <a:latin typeface="Calibri"/>
              </a:rPr>
              <a:t>▸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Tujuan eksperimen: </a:t>
            </a:r>
            <a:r>
              <a:rPr sz="1500" b="0" i="0">
                <a:solidFill>
                  <a:srgbClr val="64748B"/>
                </a:solidFill>
                <a:latin typeface="Calibri"/>
              </a:rPr>
              <a:t>verifikasi apakah struktur sequential antar titik landmark (Conv1d) bisa men-leverage adjacency information yang dibuang oleh flat MLP.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3A5F"/>
                </a:solidFill>
                <a:latin typeface="Calibri"/>
              </a:rPr>
              <a:t>Setup Eksperimen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292608"/>
            <a:ext cx="822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alibri"/>
              </a:rPr>
              <a:t>3 / 17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1247120" cy="1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Eksplorasi CNN1D Fitur Geometrik  ·  FER Multimodal  ·  Mei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5486400" cy="52120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5029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E86AB"/>
                </a:solidFill>
                <a:latin typeface="Calibri"/>
              </a:rPr>
              <a:t>DATASET &amp;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1828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  <a:latin typeface="Calibri"/>
              </a:rPr>
              <a:t>Dataset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1783080"/>
            <a:ext cx="3383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data/dataset_frontonly_conf60/ (single split)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41448"/>
            <a:ext cx="1828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  <a:latin typeface="Calibri"/>
              </a:rPr>
              <a:t>Input shape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441448"/>
            <a:ext cx="3383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(B, 2, 68) — channel (x, y) × 68 landmark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099815"/>
            <a:ext cx="1828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  <a:latin typeface="Calibri"/>
              </a:rPr>
              <a:t>Skema kelas 7c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099815"/>
            <a:ext cx="3383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angry, disgust, fear, happy, neutral, sad, surprise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58183"/>
            <a:ext cx="1828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  <a:latin typeface="Calibri"/>
              </a:rPr>
              <a:t>Skema kelas 3c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758183"/>
            <a:ext cx="3383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positive / neutral / negative (REMAP_3)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416551"/>
            <a:ext cx="1828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  <a:latin typeface="Calibri"/>
              </a:rPr>
              <a:t>Hardware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416551"/>
            <a:ext cx="3383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NVIDIA L40 (GPU 1), shared server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074919"/>
            <a:ext cx="1828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  <a:latin typeface="Calibri"/>
              </a:rPr>
              <a:t>Seed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5074919"/>
            <a:ext cx="3383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42  ·  Batch 32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143000"/>
            <a:ext cx="5486400" cy="52120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1325880"/>
            <a:ext cx="5029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E86AB"/>
                </a:solidFill>
                <a:latin typeface="Calibri"/>
              </a:rPr>
              <a:t>MODEL &amp; TRAINING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783080"/>
            <a:ext cx="1828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  <a:latin typeface="Calibri"/>
              </a:rPr>
              <a:t>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1783080"/>
            <a:ext cx="3383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EmotionCNN1D (models.py:14)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441448"/>
            <a:ext cx="1828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  <a:latin typeface="Calibri"/>
              </a:rPr>
              <a:t>Arsitektur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2441448"/>
            <a:ext cx="3383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4 Conv1d (32→64→128→256, k=5/5/3/3)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099815"/>
            <a:ext cx="1828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  <a:latin typeface="Calibri"/>
              </a:rPr>
              <a:t>Head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3099815"/>
            <a:ext cx="3383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GAP → FC(128) → classifier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3758183"/>
            <a:ext cx="1828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  <a:latin typeface="Calibri"/>
              </a:rPr>
              <a:t>Params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3758183"/>
            <a:ext cx="3383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441,735 (7c)  ·  441,219 (3c)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4416551"/>
            <a:ext cx="1828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  <a:latin typeface="Calibri"/>
              </a:rPr>
              <a:t>Optimizer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4416551"/>
            <a:ext cx="3383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Adam, lr = 1e-3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5074919"/>
            <a:ext cx="1828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  <a:latin typeface="Calibri"/>
              </a:rPr>
              <a:t>Epochs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5074919"/>
            <a:ext cx="3383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max 50 · early stop patience 15 (val macro-F1)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3A5F"/>
                </a:solidFill>
                <a:latin typeface="Calibri"/>
              </a:rPr>
              <a:t>Distribusi Kelas &amp; Class Imbalance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292608"/>
            <a:ext cx="822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alibri"/>
              </a:rPr>
              <a:t>4 / 17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1247120" cy="1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Eksplorasi CNN1D Fitur Geometrik  ·  FER Multimodal  ·  Mei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68580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8016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E86AB"/>
                </a:solidFill>
                <a:latin typeface="Calibri"/>
              </a:rPr>
              <a:t>7-CLASS (LABEL ASLI)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1691640"/>
          <a:ext cx="64008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868680"/>
                <a:gridCol w="685800"/>
                <a:gridCol w="594360"/>
                <a:gridCol w="640080"/>
                <a:gridCol w="777240"/>
                <a:gridCol w="777240"/>
                <a:gridCol w="685800"/>
                <a:gridCol w="685800"/>
              </a:tblGrid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Split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neutral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happy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sad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angry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fearful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disgust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surpr.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E293B"/>
                          </a:solidFill>
                          <a:latin typeface="Calibri"/>
                        </a:rPr>
                        <a:t>train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4526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416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287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DC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5287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E293B"/>
                          </a:solidFill>
                          <a:latin typeface="Calibri"/>
                        </a:rPr>
                        <a:t>val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477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579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E293B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688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183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  <a:latin typeface="Calibri"/>
                        </a:rPr>
                        <a:t>929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85800" y="3246120"/>
            <a:ext cx="6400800" cy="502920"/>
          </a:xfrm>
          <a:prstGeom prst="rect">
            <a:avLst/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310128"/>
            <a:ext cx="6126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DC2626"/>
                </a:solidFill>
                <a:latin typeface="Calibri"/>
              </a:rPr>
              <a:t>⚠  </a:t>
            </a:r>
            <a:r>
              <a:rPr sz="1200" b="1" i="0">
                <a:solidFill>
                  <a:srgbClr val="DC2626"/>
                </a:solidFill>
                <a:latin typeface="Calibri"/>
              </a:rPr>
              <a:t>Imbalance ekstrem  </a:t>
            </a:r>
            <a:r>
              <a:rPr sz="1200" b="0" i="0">
                <a:solidFill>
                  <a:srgbClr val="1E293B"/>
                </a:solidFill>
                <a:latin typeface="Calibri"/>
              </a:rPr>
              <a:t>rasio neutral : fearful = </a:t>
            </a:r>
            <a:r>
              <a:rPr sz="1200" b="1" i="0">
                <a:solidFill>
                  <a:srgbClr val="DC2626"/>
                </a:solidFill>
                <a:latin typeface="Calibri"/>
              </a:rPr>
              <a:t>2263 : 1</a:t>
            </a:r>
            <a:r>
              <a:rPr sz="1200" b="0" i="0">
                <a:solidFill>
                  <a:srgbClr val="1E293B"/>
                </a:solidFill>
                <a:latin typeface="Calibri"/>
              </a:rPr>
              <a:t>  di train  →  sumber masalah B2 7c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0" y="1188720"/>
            <a:ext cx="41148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8120" y="128016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E86AB"/>
                </a:solidFill>
                <a:latin typeface="Calibri"/>
              </a:rPr>
              <a:t>3-CLASS (REMAP)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818120" y="1691640"/>
          <a:ext cx="3657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777240"/>
                <a:gridCol w="777240"/>
                <a:gridCol w="777240"/>
                <a:gridCol w="685800"/>
              </a:tblGrid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Split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positive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neutral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negative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293B"/>
                          </a:solidFill>
                          <a:latin typeface="Calibri"/>
                        </a:rPr>
                        <a:t>train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432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4526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329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5287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293B"/>
                          </a:solidFill>
                          <a:latin typeface="Calibri"/>
                        </a:rPr>
                        <a:t>val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477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579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293B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186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688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55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929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818120" y="3246120"/>
            <a:ext cx="3657600" cy="50292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79" y="3310128"/>
            <a:ext cx="3383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✓  </a:t>
            </a:r>
            <a:r>
              <a:rPr sz="1200" b="1" i="0">
                <a:solidFill>
                  <a:srgbClr val="10B981"/>
                </a:solidFill>
                <a:latin typeface="Calibri"/>
              </a:rPr>
              <a:t>Moderate  </a:t>
            </a:r>
            <a:r>
              <a:rPr sz="1200" b="0" i="0">
                <a:solidFill>
                  <a:srgbClr val="1E293B"/>
                </a:solidFill>
                <a:latin typeface="Calibri"/>
              </a:rPr>
              <a:t>rasio max </a:t>
            </a:r>
            <a:r>
              <a:rPr sz="1200" b="1" i="0">
                <a:solidFill>
                  <a:srgbClr val="10B981"/>
                </a:solidFill>
                <a:latin typeface="Calibri"/>
              </a:rPr>
              <a:t>≈ 14 :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160520"/>
            <a:ext cx="112471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E3A5F"/>
                </a:solidFill>
                <a:latin typeface="Calibri"/>
              </a:rPr>
              <a:t>Implikasi terhadap skenario training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572000"/>
            <a:ext cx="11247120" cy="1828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E86AB"/>
                </a:solidFill>
                <a:latin typeface="Calibri"/>
              </a:rPr>
              <a:t>▸ 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Di 7c, </a:t>
            </a:r>
            <a:r>
              <a:rPr sz="1300" b="1" i="0">
                <a:solidFill>
                  <a:srgbClr val="1E293B"/>
                </a:solidFill>
                <a:latin typeface="Calibri"/>
              </a:rPr>
              <a:t>class_weight='balanced' menghasilkan weight 377.6 untuk fear  </a:t>
            </a:r>
            <a:r>
              <a:rPr sz="1300" b="0" i="0">
                <a:solidFill>
                  <a:srgbClr val="64748B"/>
                </a:solidFill>
                <a:latin typeface="Calibri"/>
              </a:rPr>
              <a:t>(hanya 2 sampel train) — loss didistorsi ekstrem.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2E86AB"/>
                </a:solidFill>
                <a:latin typeface="Calibri"/>
              </a:rPr>
              <a:t>▸ 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Di 3c, weights moderate </a:t>
            </a:r>
            <a:r>
              <a:rPr sz="1300" b="1" i="0">
                <a:solidFill>
                  <a:srgbClr val="1E293B"/>
                </a:solidFill>
                <a:latin typeface="Calibri"/>
              </a:rPr>
              <a:t>[4.08, 0.39, 5.36]</a:t>
            </a:r>
            <a:r>
              <a:rPr sz="1300" b="0" i="0">
                <a:solidFill>
                  <a:srgbClr val="64748B"/>
                </a:solidFill>
                <a:latin typeface="Calibri"/>
              </a:rPr>
              <a:t> — class weighting jauh lebih aman.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2E86AB"/>
                </a:solidFill>
                <a:latin typeface="Calibri"/>
              </a:rPr>
              <a:t>▸ 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Kelas dengan 1–3 sampel di test set mustahil di-recover </a:t>
            </a:r>
            <a:r>
              <a:rPr sz="1300" b="0" i="0">
                <a:solidFill>
                  <a:srgbClr val="64748B"/>
                </a:solidFill>
                <a:latin typeface="Calibri"/>
              </a:rPr>
              <a:t>(macro-F1 capped struktural).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3A5F"/>
                </a:solidFill>
                <a:latin typeface="Calibri"/>
              </a:rPr>
              <a:t>Tiga Skenario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292608"/>
            <a:ext cx="822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alibri"/>
              </a:rPr>
              <a:t>5 / 17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1247120" cy="1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Eksplorasi CNN1D Fitur Geometrik  ·  FER Multimodal  ·  Mei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72287" y="1188720"/>
            <a:ext cx="3657600" cy="5120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72287" y="1188720"/>
            <a:ext cx="3657600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887" y="1280160"/>
            <a:ext cx="8229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1007" y="1417320"/>
            <a:ext cx="23774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0887" y="2240280"/>
            <a:ext cx="32004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Tanpa augmentasi.
Class weight uniform (none).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0887" y="3383280"/>
            <a:ext cx="3200400" cy="2743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E86AB"/>
                </a:solidFill>
                <a:latin typeface="Calibri"/>
              </a:rPr>
              <a:t>▸  </a:t>
            </a:r>
            <a:r>
              <a:rPr sz="1200">
                <a:solidFill>
                  <a:srgbClr val="1E293B"/>
                </a:solidFill>
                <a:latin typeface="Calibri"/>
              </a:rPr>
              <a:t>Reference baseline murni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2E86AB"/>
                </a:solidFill>
                <a:latin typeface="Calibri"/>
              </a:rPr>
              <a:t>▸  </a:t>
            </a:r>
            <a:r>
              <a:rPr sz="1200">
                <a:solidFill>
                  <a:srgbClr val="1E293B"/>
                </a:solidFill>
                <a:latin typeface="Calibri"/>
              </a:rPr>
              <a:t>Tidak ada bias ke kelas minoritas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2E86AB"/>
                </a:solidFill>
                <a:latin typeface="Calibri"/>
              </a:rPr>
              <a:t>▸  </a:t>
            </a:r>
            <a:r>
              <a:rPr sz="1200">
                <a:solidFill>
                  <a:srgbClr val="1E293B"/>
                </a:solidFill>
                <a:latin typeface="Calibri"/>
              </a:rPr>
              <a:t>Fair comparison antar arsitektur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67047" y="1188720"/>
            <a:ext cx="3657600" cy="5120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67047" y="1188720"/>
            <a:ext cx="3657600" cy="8229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5647" y="1280160"/>
            <a:ext cx="8229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B2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55767" y="1417320"/>
            <a:ext cx="23774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Class-Weighted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5647" y="2240280"/>
            <a:ext cx="32004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Tanpa augmentasi.
Class weight sklearn 'balanced'.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95647" y="3383280"/>
            <a:ext cx="3200400" cy="2743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▸  </a:t>
            </a:r>
            <a:r>
              <a:rPr sz="1200">
                <a:solidFill>
                  <a:srgbClr val="1E293B"/>
                </a:solidFill>
                <a:latin typeface="Calibri"/>
              </a:rPr>
              <a:t>Loss di-reweight inverse-frequency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▸  </a:t>
            </a:r>
            <a:r>
              <a:rPr sz="1200">
                <a:solidFill>
                  <a:srgbClr val="1E293B"/>
                </a:solidFill>
                <a:latin typeface="Calibri"/>
              </a:rPr>
              <a:t>Cocok untuk imbalance moderat (3c)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▸  </a:t>
            </a:r>
            <a:r>
              <a:rPr sz="1200">
                <a:solidFill>
                  <a:srgbClr val="1E293B"/>
                </a:solidFill>
                <a:latin typeface="Calibri"/>
              </a:rPr>
              <a:t>Rentan collapse di imbalance ekstrem (7c)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61807" y="1188720"/>
            <a:ext cx="3657600" cy="5120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61807" y="1188720"/>
            <a:ext cx="3657600" cy="82296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0407" y="1280160"/>
            <a:ext cx="8229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50527" y="1417320"/>
            <a:ext cx="23774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On-the-fly Aug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0407" y="2240280"/>
            <a:ext cx="32004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Augmentasi landmark on-the-fly +
balanced (= 1.0 setelah aug).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0407" y="3383280"/>
            <a:ext cx="3200400" cy="2743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63946"/>
                </a:solidFill>
                <a:latin typeface="Calibri"/>
              </a:rPr>
              <a:t>▸  </a:t>
            </a:r>
            <a:r>
              <a:rPr sz="1200">
                <a:solidFill>
                  <a:srgbClr val="1E293B"/>
                </a:solidFill>
                <a:latin typeface="Calibri"/>
              </a:rPr>
              <a:t>hflip + rotate ±10° + flip_rot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E63946"/>
                </a:solidFill>
                <a:latin typeface="Calibri"/>
              </a:rPr>
              <a:t>▸  </a:t>
            </a:r>
            <a:r>
              <a:rPr sz="1200">
                <a:solidFill>
                  <a:srgbClr val="1E293B"/>
                </a:solidFill>
                <a:latin typeface="Calibri"/>
              </a:rPr>
              <a:t>Cycle teknik oversampling minoritas → match majority count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E63946"/>
                </a:solidFill>
                <a:latin typeface="Calibri"/>
              </a:rPr>
              <a:t>▸  </a:t>
            </a:r>
            <a:r>
              <a:rPr sz="1200">
                <a:solidFill>
                  <a:srgbClr val="1E293B"/>
                </a:solidFill>
                <a:latin typeface="Calibri"/>
              </a:rPr>
              <a:t>Mirror src/preprocessing/augment_conf60_3class.py:73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3A5F"/>
                </a:solidFill>
                <a:latin typeface="Calibri"/>
              </a:rPr>
              <a:t>Hasil Utama — 7-Class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292608"/>
            <a:ext cx="822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alibri"/>
              </a:rPr>
              <a:t>6 / 17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1247120" cy="1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Eksplorasi CNN1D Fitur Geometrik  ·  FER Multimodal  ·  Mei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  <a:latin typeface="Calibri"/>
              </a:rPr>
              <a:t>FCNN vs CNN1D di tiga skenario (test_macro_f1, weighted_f1, accuracy)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08760"/>
          <a:ext cx="1124529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493215"/>
                <a:gridCol w="1493215"/>
                <a:gridCol w="1493215"/>
                <a:gridCol w="1493215"/>
                <a:gridCol w="1493215"/>
                <a:gridCol w="1493215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FCNN B1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CNN1D B1</a:t>
                      </a:r>
                    </a:p>
                  </a:txBody>
                  <a:tcPr marL="36576" marR="36576" marT="18288" marB="18288"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FCNN B2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CNN1D B2</a:t>
                      </a:r>
                    </a:p>
                  </a:txBody>
                  <a:tcPr marL="36576" marR="36576" marT="18288" marB="18288"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FCNN B3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CNN1D B3</a:t>
                      </a:r>
                    </a:p>
                  </a:txBody>
                  <a:tcPr marL="36576" marR="36576" marT="18288" marB="18288">
                    <a:solidFill>
                      <a:srgbClr val="2E86A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  <a:latin typeface="Calibri"/>
                        </a:rPr>
                        <a:t>test_macro_f1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0.2317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0B981"/>
                          </a:solidFill>
                          <a:latin typeface="Calibri"/>
                        </a:rPr>
                        <a:t>0.2766 ✓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0.2437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DC2626"/>
                          </a:solidFill>
                          <a:latin typeface="Calibri"/>
                        </a:rPr>
                        <a:t>0.1631 ✗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0.2224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0.2235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  <a:latin typeface="Calibri"/>
                        </a:rPr>
                        <a:t>test_weighted_f1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0.7650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0B981"/>
                          </a:solidFill>
                          <a:latin typeface="Calibri"/>
                        </a:rPr>
                        <a:t>0.8014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0.7674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0.5994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0.7580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0.7003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  <a:latin typeface="Calibri"/>
                        </a:rPr>
                        <a:t>test_accuracy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0.7675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0B981"/>
                          </a:solidFill>
                          <a:latin typeface="Calibri"/>
                        </a:rPr>
                        <a:t>0.8084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0.7653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0.5608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0.7395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0.6609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  <a:latin typeface="Calibri"/>
                        </a:rPr>
                        <a:t>best epoch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  <a:latin typeface="Calibri"/>
                        </a:rPr>
                        <a:t>training time (s)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171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142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551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  <a:latin typeface="Calibri"/>
                        </a:rPr>
                        <a:t>Δ macro_f1 vs FCNN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0B981"/>
                          </a:solidFill>
                          <a:latin typeface="Calibri"/>
                        </a:rPr>
                        <a:t>+0.0449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DC2626"/>
                          </a:solidFill>
                          <a:latin typeface="Calibri"/>
                        </a:rPr>
                        <a:t>−0.0806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4748B"/>
                          </a:solidFill>
                          <a:latin typeface="Calibri"/>
                        </a:rPr>
                        <a:t>+0.0011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57200" y="4937760"/>
            <a:ext cx="11247120" cy="14630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937760"/>
            <a:ext cx="109728" cy="14630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0292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TAKEAWAYS 7-CLASS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394960"/>
            <a:ext cx="1069848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▸  </a:t>
            </a:r>
            <a:r>
              <a:rPr sz="1100" b="1" i="0">
                <a:solidFill>
                  <a:srgbClr val="1E293B"/>
                </a:solidFill>
                <a:latin typeface="Calibri"/>
              </a:rPr>
              <a:t>CNN1D B1 menang </a:t>
            </a:r>
            <a:r>
              <a:rPr sz="1100" b="0" i="0">
                <a:solidFill>
                  <a:srgbClr val="64748B"/>
                </a:solidFill>
                <a:latin typeface="Calibri"/>
              </a:rPr>
              <a:t>+0.045 macro-F1 vs FCNN B1 — Conv1d men-leverage adjacency antar titik landmark.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▸  </a:t>
            </a:r>
            <a:r>
              <a:rPr sz="1100" b="1" i="0">
                <a:solidFill>
                  <a:srgbClr val="DC2626"/>
                </a:solidFill>
                <a:latin typeface="Calibri"/>
              </a:rPr>
              <a:t>B2 collapse </a:t>
            </a:r>
            <a:r>
              <a:rPr sz="1100" b="0" i="0">
                <a:solidFill>
                  <a:srgbClr val="64748B"/>
                </a:solidFill>
                <a:latin typeface="Calibri"/>
              </a:rPr>
              <a:t>akibat weight 377.6 untuk fear (2 sampel train); accuracy jatuh 0.81 → 0.56.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▸  </a:t>
            </a:r>
            <a:r>
              <a:rPr sz="1100" b="1" i="0">
                <a:solidFill>
                  <a:srgbClr val="1E293B"/>
                </a:solidFill>
                <a:latin typeface="Calibri"/>
              </a:rPr>
              <a:t>Macro-F1 capped struktural ~0.28 </a:t>
            </a:r>
            <a:r>
              <a:rPr sz="1100" b="0" i="0">
                <a:solidFill>
                  <a:srgbClr val="64748B"/>
                </a:solidFill>
                <a:latin typeface="Calibri"/>
              </a:rPr>
              <a:t>karena kelas dengan 1–3 sampel test mustahil dipelajari.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3A5F"/>
                </a:solidFill>
                <a:latin typeface="Calibri"/>
              </a:rPr>
              <a:t>Hasil Utama — 3-Class (Positive / Neutral / Negative)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292608"/>
            <a:ext cx="822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alibri"/>
              </a:rPr>
              <a:t>7 / 17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1247120" cy="1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Eksplorasi CNN1D Fitur Geometrik  ·  FER Multimodal  ·  Mei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  <a:latin typeface="Calibri"/>
              </a:rPr>
              <a:t>FCNN vs CNN1D di tiga skenario — imbalance moderat, hasil lebih informatif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08760"/>
          <a:ext cx="1124529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493215"/>
                <a:gridCol w="1493215"/>
                <a:gridCol w="1493215"/>
                <a:gridCol w="1493215"/>
                <a:gridCol w="1493215"/>
                <a:gridCol w="1493215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FCNN B1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CNN1D B1</a:t>
                      </a:r>
                    </a:p>
                  </a:txBody>
                  <a:tcPr marL="36576" marR="36576" marT="18288" marB="18288"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FCNN B2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CNN1D B2</a:t>
                      </a:r>
                    </a:p>
                  </a:txBody>
                  <a:tcPr marL="36576" marR="36576" marT="18288" marB="18288"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FCNN B3 ⭐</a:t>
                      </a:r>
                    </a:p>
                  </a:txBody>
                  <a:tcPr marL="36576" marR="36576" marT="18288" marB="18288">
                    <a:solidFill>
                      <a:srgbClr val="E639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CNN1D B3</a:t>
                      </a:r>
                    </a:p>
                  </a:txBody>
                  <a:tcPr marL="36576" marR="36576" marT="18288" marB="18288">
                    <a:solidFill>
                      <a:srgbClr val="2E86A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  <a:latin typeface="Calibri"/>
                        </a:rPr>
                        <a:t>test_macro_f1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0.5893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0B981"/>
                          </a:solidFill>
                          <a:latin typeface="Calibri"/>
                        </a:rPr>
                        <a:t>0.6183 ✓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0.5750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0B981"/>
                          </a:solidFill>
                          <a:latin typeface="Calibri"/>
                        </a:rPr>
                        <a:t>0.5935 ✓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E63946"/>
                          </a:solidFill>
                          <a:latin typeface="Calibri"/>
                        </a:rPr>
                        <a:t>0.6342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DC2626"/>
                          </a:solidFill>
                          <a:latin typeface="Calibri"/>
                        </a:rPr>
                        <a:t>0.5744 ✗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  <a:latin typeface="Calibri"/>
                        </a:rPr>
                        <a:t>test_weighted_f1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0.7596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0B981"/>
                          </a:solidFill>
                          <a:latin typeface="Calibri"/>
                        </a:rPr>
                        <a:t>0.8203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0.7302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0.7686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0.7636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0.7072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  <a:latin typeface="Calibri"/>
                        </a:rPr>
                        <a:t>test_accuracy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0.7406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0B981"/>
                          </a:solidFill>
                          <a:latin typeface="Calibri"/>
                        </a:rPr>
                        <a:t>0.8299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0.7018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0.7524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0.7492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0.6598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  <a:latin typeface="Calibri"/>
                        </a:rPr>
                        <a:t>best epoch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  <a:latin typeface="Calibri"/>
                        </a:rPr>
                        <a:t>training time (s)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110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109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279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  <a:latin typeface="Calibri"/>
                        </a:rPr>
                        <a:t>Δ macro_f1 vs FCNN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0B981"/>
                          </a:solidFill>
                          <a:latin typeface="Calibri"/>
                        </a:rPr>
                        <a:t>+0.0290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0B981"/>
                          </a:solidFill>
                          <a:latin typeface="Calibri"/>
                        </a:rPr>
                        <a:t>+0.0185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DC2626"/>
                          </a:solidFill>
                          <a:latin typeface="Calibri"/>
                        </a:rPr>
                        <a:t>−0.0598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57200" y="4937760"/>
            <a:ext cx="11247120" cy="14630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937760"/>
            <a:ext cx="109728" cy="146304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0292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E63946"/>
                </a:solidFill>
                <a:latin typeface="Calibri"/>
              </a:rPr>
              <a:t>TAKEAWAYS 3-CLASS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394960"/>
            <a:ext cx="1069848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▸  </a:t>
            </a:r>
            <a:r>
              <a:rPr sz="1100" b="0" i="0">
                <a:solidFill>
                  <a:srgbClr val="1E293B"/>
                </a:solidFill>
                <a:latin typeface="Calibri"/>
              </a:rPr>
              <a:t>Best overall: </a:t>
            </a:r>
            <a:r>
              <a:rPr sz="1100" b="1" i="0">
                <a:solidFill>
                  <a:srgbClr val="E63946"/>
                </a:solidFill>
                <a:latin typeface="Calibri"/>
              </a:rPr>
              <a:t>FCNN 3c B3 = 0.6342 macro-F1  </a:t>
            </a:r>
            <a:r>
              <a:rPr sz="1100" b="0" i="0">
                <a:solidFill>
                  <a:srgbClr val="64748B"/>
                </a:solidFill>
                <a:latin typeface="Calibri"/>
              </a:rPr>
              <a:t>(raja sejauh ini, dengan offline-augmented data).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▸  </a:t>
            </a:r>
            <a:r>
              <a:rPr sz="1100" b="0" i="0">
                <a:solidFill>
                  <a:srgbClr val="1E293B"/>
                </a:solidFill>
                <a:latin typeface="Calibri"/>
              </a:rPr>
              <a:t>Best CNN1D: </a:t>
            </a:r>
            <a:r>
              <a:rPr sz="1100" b="1" i="0">
                <a:solidFill>
                  <a:srgbClr val="10B981"/>
                </a:solidFill>
                <a:latin typeface="Calibri"/>
              </a:rPr>
              <a:t>3c B1 = 0.6183 macro-F1  </a:t>
            </a:r>
            <a:r>
              <a:rPr sz="1100" b="0" i="0">
                <a:solidFill>
                  <a:srgbClr val="64748B"/>
                </a:solidFill>
                <a:latin typeface="Calibri"/>
              </a:rPr>
              <a:t>(close second, +0.029 vs FCNN B1, tanpa augmentasi).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▸  </a:t>
            </a:r>
            <a:r>
              <a:rPr sz="1100" b="1" i="0">
                <a:solidFill>
                  <a:srgbClr val="DC2626"/>
                </a:solidFill>
                <a:latin typeface="Calibri"/>
              </a:rPr>
              <a:t>B3 CNN1D kalah </a:t>
            </a:r>
            <a:r>
              <a:rPr sz="1100" b="0" i="0">
                <a:solidFill>
                  <a:srgbClr val="64748B"/>
                </a:solidFill>
                <a:latin typeface="Calibri"/>
              </a:rPr>
              <a:t>— on-the-fly aug terlalu agresif &amp; hflip tanpa swap index left/right merusak semantik.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3A5F"/>
                </a:solidFill>
                <a:latin typeface="Calibri"/>
              </a:rPr>
              <a:t>Confusion Matrix — CNN1D 3-Class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292608"/>
            <a:ext cx="822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alibri"/>
              </a:rPr>
              <a:t>8 / 17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1247120" cy="1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Eksplorasi CNN1D Fitur Geometrik  ·  FER Multimodal  ·  Mei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  <a:latin typeface="Calibri"/>
              </a:rPr>
              <a:t>Trade-off recall positive vs negative di tiga skenario</a:t>
            </a:r>
          </a:p>
        </p:txBody>
      </p:sp>
      <p:sp>
        <p:nvSpPr>
          <p:cNvPr id="8" name="Rectangle 7"/>
          <p:cNvSpPr/>
          <p:nvPr/>
        </p:nvSpPr>
        <p:spPr>
          <a:xfrm>
            <a:off x="426567" y="1554480"/>
            <a:ext cx="3749039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6567" y="1554480"/>
            <a:ext cx="3749039" cy="64008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447" y="1627632"/>
            <a:ext cx="3383279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B1 — 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447" y="1874519"/>
            <a:ext cx="338327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macro-F1 = 0.6183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09447" y="2377440"/>
          <a:ext cx="3379896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0977"/>
                <a:gridCol w="652973"/>
                <a:gridCol w="652973"/>
                <a:gridCol w="652973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Pos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Neu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Neg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293B"/>
                          </a:solidFill>
                          <a:latin typeface="Calibri"/>
                        </a:rPr>
                        <a:t>positive (186)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132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293B"/>
                          </a:solidFill>
                          <a:latin typeface="Calibri"/>
                        </a:rPr>
                        <a:t>neutral (688)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629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293B"/>
                          </a:solidFill>
                          <a:latin typeface="Calibri"/>
                        </a:rPr>
                        <a:t>negative (55)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09447" y="4160520"/>
            <a:ext cx="3383279" cy="457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0887" y="4224528"/>
            <a:ext cx="3200399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Recall: Pos 71%, Neu 91%, Neg 18%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21327" y="1554480"/>
            <a:ext cx="3749039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21327" y="1554480"/>
            <a:ext cx="3749039" cy="6400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04207" y="1627632"/>
            <a:ext cx="3383279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B2 — Class-Weighted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4207" y="1874519"/>
            <a:ext cx="338327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macro-F1 = 0.5935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404207" y="2377440"/>
          <a:ext cx="3379896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0977"/>
                <a:gridCol w="652973"/>
                <a:gridCol w="652973"/>
                <a:gridCol w="652973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Pos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Neu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Neg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293B"/>
                          </a:solidFill>
                          <a:latin typeface="Calibri"/>
                        </a:rPr>
                        <a:t>positive (186)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293B"/>
                          </a:solidFill>
                          <a:latin typeface="Calibri"/>
                        </a:rPr>
                        <a:t>neutral (688)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571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293B"/>
                          </a:solidFill>
                          <a:latin typeface="Calibri"/>
                        </a:rPr>
                        <a:t>negative (55)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4404207" y="4160520"/>
            <a:ext cx="3383279" cy="457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95647" y="4224528"/>
            <a:ext cx="3200399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Recall: Pos 54%, Neu 83%, Neg 49%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16087" y="1554480"/>
            <a:ext cx="3749039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16087" y="1554480"/>
            <a:ext cx="3749039" cy="64008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8967" y="1627632"/>
            <a:ext cx="3383279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B3 — On-the-fly Aug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8967" y="1874519"/>
            <a:ext cx="338327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macro-F1 = 0.5744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8198967" y="2377440"/>
          <a:ext cx="3379896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0977"/>
                <a:gridCol w="652973"/>
                <a:gridCol w="652973"/>
                <a:gridCol w="652973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Pos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Neu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Neg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293B"/>
                          </a:solidFill>
                          <a:latin typeface="Calibri"/>
                        </a:rPr>
                        <a:t>positive (186)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153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293B"/>
                          </a:solidFill>
                          <a:latin typeface="Calibri"/>
                        </a:rPr>
                        <a:t>neutral (688)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424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194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293B"/>
                          </a:solidFill>
                          <a:latin typeface="Calibri"/>
                        </a:rPr>
                        <a:t>negative (55)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8198967" y="4160520"/>
            <a:ext cx="3383279" cy="457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90407" y="4224528"/>
            <a:ext cx="3200399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Recall: Pos 82%, Neu 62%, Neg 65%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760720"/>
            <a:ext cx="11247120" cy="6400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Trade-off jelas: </a:t>
            </a:r>
            <a:r>
              <a:rPr sz="1300" b="0" i="0">
                <a:solidFill>
                  <a:srgbClr val="CBD5E1"/>
                </a:solidFill>
                <a:latin typeface="Calibri"/>
              </a:rPr>
              <a:t>B1 unggul recall mayoritas, B2 seimbang, B3 angkat minoritas tapi neutral jatuh → weighted-F1 hancur.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3A5F"/>
                </a:solidFill>
                <a:latin typeface="Calibri"/>
              </a:rPr>
              <a:t>Interpretasi Utama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292608"/>
            <a:ext cx="822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alibri"/>
              </a:rPr>
              <a:t>9 / 17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1247120" cy="1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Eksplorasi CNN1D Fitur Geometrik  ·  FER Multimodal  ·  Mei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72287" y="1143000"/>
            <a:ext cx="54864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72287" y="1143000"/>
            <a:ext cx="640080" cy="1600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2287" y="1600200"/>
            <a:ext cx="640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9527" y="1280160"/>
            <a:ext cx="46177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  <a:latin typeface="Calibri"/>
              </a:rPr>
              <a:t>CNN1D B1 konsisten menang vs FCNN B1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49527" y="1691640"/>
            <a:ext cx="461772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+0.045 di 7c, +0.029 di 3c macro-F1. Struktur sequential antar titik (Conv1d) bisa di-leverage; flat MLP membuang informasi adjacency.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1143000"/>
            <a:ext cx="54864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3007" y="1143000"/>
            <a:ext cx="640080" cy="16002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7" y="1600200"/>
            <a:ext cx="640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0247" y="1280160"/>
            <a:ext cx="46177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  <a:latin typeface="Calibri"/>
              </a:rPr>
              <a:t>B2 di 7c collapse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10247" y="1691640"/>
            <a:ext cx="461772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Rasio 2263:1 → weight 377.6 untuk fearful. Loss didominasi 2 sampel fear; model over-correct. Naive balanced weights bukan strategi yang tepat untuk imbalance ekstrem.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2287" y="2834640"/>
            <a:ext cx="54864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72287" y="2834640"/>
            <a:ext cx="640080" cy="16002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2287" y="3291840"/>
            <a:ext cx="640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49527" y="2971800"/>
            <a:ext cx="46177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  <a:latin typeface="Calibri"/>
              </a:rPr>
              <a:t>B2 di 3c aman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49527" y="3383280"/>
            <a:ext cx="461772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Rasio 14:1, weights moderate. CNN1D B2 marginal unggul FCNN B2 (+0.019). Val_macro_f1 B2 (0.604) sedikit di atas B1 (0.598).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2834640"/>
            <a:ext cx="54864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3007" y="2834640"/>
            <a:ext cx="640080" cy="16002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33007" y="3291840"/>
            <a:ext cx="640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10247" y="2971800"/>
            <a:ext cx="46177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  <a:latin typeface="Calibri"/>
              </a:rPr>
              <a:t>B3 di 3c kalah dari FCNN B3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10247" y="3383280"/>
            <a:ext cx="461772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On-the-fly aug terlalu agresif (13.5k vs 5.3k sampel/epoch). hflip tanpa swap index L/R merusak semantik. Class weights 1:1:1 setelah balancing terlalu agresif.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2287" y="4526280"/>
            <a:ext cx="54864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2287" y="4526280"/>
            <a:ext cx="640080" cy="160020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2287" y="4983480"/>
            <a:ext cx="640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49527" y="4663440"/>
            <a:ext cx="46177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  <a:latin typeface="Calibri"/>
              </a:rPr>
              <a:t>Class imbalance ekstrem = bottleneck struktural 7c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49527" y="5074920"/>
            <a:ext cx="461772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Bahkan model bagus stuck di macro-F1 ~0.28 karena kelas 2–16 train sample mustahil dipelajari. Konsisten dengan eksperimen clean-6c (drop fear → tetap ~0.27).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3007" y="4526280"/>
            <a:ext cx="54864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3007" y="4526280"/>
            <a:ext cx="640080" cy="16002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33007" y="4983480"/>
            <a:ext cx="640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10247" y="4663440"/>
            <a:ext cx="46177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  <a:latin typeface="Calibri"/>
              </a:rPr>
              <a:t>Macro-F1 ≠ accuracy/weighted-F1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10247" y="5074920"/>
            <a:ext cx="461772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Di 7c B1, CNN1D unggul di ketiganya. Di 3c B3, FCNN unggul macro tapi CNN1D kalah weighted/acc — metrik menangkap performa minoritas vs mayoritas.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3A5F"/>
                </a:solidFill>
                <a:latin typeface="Calibri"/>
              </a:rPr>
              <a:t>Ablation — MediaPipe vs face-api.js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292608"/>
            <a:ext cx="822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alibri"/>
              </a:rPr>
              <a:t>10 / 17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1247120" cy="1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Eksplorasi CNN1D Fitur Geometrik  ·  FER Multimodal  ·  Mei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  <a:latin typeface="Calibri"/>
              </a:rPr>
              <a:t>Apakah source landmark mempengaruhi performa? Eksperimen 14 Mei 2026.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2287" y="1508760"/>
            <a:ext cx="54864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2287" y="1508760"/>
            <a:ext cx="5486400" cy="6400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6607" y="1600200"/>
            <a:ext cx="4937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MediaPipe (pipeline existing)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607" y="2286000"/>
            <a:ext cx="4937760" cy="1828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▸  </a:t>
            </a:r>
            <a:r>
              <a:rPr sz="1200" b="1" i="0">
                <a:solidFill>
                  <a:srgbClr val="1E293B"/>
                </a:solidFill>
                <a:latin typeface="Calibri"/>
              </a:rPr>
              <a:t>478 titik FaceLandmarker v2</a:t>
            </a:r>
            <a:r>
              <a:rPr sz="1200" b="0" i="0">
                <a:solidFill>
                  <a:srgbClr val="64748B"/>
                </a:solidFill>
                <a:latin typeface="Calibri"/>
              </a:rPr>
              <a:t> → mapping ke 68 indeks dlib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▸  </a:t>
            </a:r>
            <a:r>
              <a:rPr sz="1200" b="0" i="0">
                <a:solidFill>
                  <a:srgbClr val="1E293B"/>
                </a:solidFill>
                <a:latin typeface="Calibri"/>
              </a:rPr>
              <a:t>Extract offline dari face-crop </a:t>
            </a:r>
            <a:r>
              <a:rPr sz="1200" b="1" i="0">
                <a:solidFill>
                  <a:srgbClr val="1E293B"/>
                </a:solidFill>
                <a:latin typeface="Calibri"/>
              </a:rPr>
              <a:t>224×224 JPEG  </a:t>
            </a:r>
            <a:r>
              <a:rPr sz="1200" b="0" i="0">
                <a:solidFill>
                  <a:srgbClr val="64748B"/>
                </a:solidFill>
                <a:latin typeface="Calibri"/>
              </a:rPr>
              <a:t>(ada artifact resize/kompresi)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▸  </a:t>
            </a:r>
            <a:r>
              <a:rPr sz="1200" b="0" i="0">
                <a:solidFill>
                  <a:srgbClr val="1E293B"/>
                </a:solidFill>
                <a:latin typeface="Calibri"/>
              </a:rPr>
              <a:t>Sudah ter-normalize ke </a:t>
            </a:r>
            <a:r>
              <a:rPr sz="1200" b="1" i="0">
                <a:solidFill>
                  <a:srgbClr val="1E293B"/>
                </a:solidFill>
                <a:latin typeface="Calibri"/>
              </a:rPr>
              <a:t>[0, 1]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1508760"/>
            <a:ext cx="54864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3007" y="1508760"/>
            <a:ext cx="5486400" cy="64008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7327" y="1600200"/>
            <a:ext cx="4937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face-api.js (native dlib 68)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7327" y="2286000"/>
            <a:ext cx="4937760" cy="1828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63946"/>
                </a:solidFill>
                <a:latin typeface="Calibri"/>
              </a:rPr>
              <a:t>▸  </a:t>
            </a:r>
            <a:r>
              <a:rPr sz="1200" b="1" i="0">
                <a:solidFill>
                  <a:srgbClr val="1E293B"/>
                </a:solidFill>
                <a:latin typeface="Calibri"/>
              </a:rPr>
              <a:t>68 titik native dlib  </a:t>
            </a:r>
            <a:r>
              <a:rPr sz="1200" b="0" i="0">
                <a:solidFill>
                  <a:srgbClr val="64748B"/>
                </a:solidFill>
                <a:latin typeface="Calibri"/>
              </a:rPr>
              <a:t>(konvensi standar)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E63946"/>
                </a:solidFill>
                <a:latin typeface="Calibri"/>
              </a:rPr>
              <a:t>▸  </a:t>
            </a:r>
            <a:r>
              <a:rPr sz="1200" b="0" i="0">
                <a:solidFill>
                  <a:srgbClr val="1E293B"/>
                </a:solidFill>
                <a:latin typeface="Calibri"/>
              </a:rPr>
              <a:t>Extract </a:t>
            </a:r>
            <a:r>
              <a:rPr sz="1200" b="1" i="0">
                <a:solidFill>
                  <a:srgbClr val="1E293B"/>
                </a:solidFill>
                <a:latin typeface="Calibri"/>
              </a:rPr>
              <a:t>live di browser  </a:t>
            </a:r>
            <a:r>
              <a:rPr sz="1200" b="0" i="0">
                <a:solidFill>
                  <a:srgbClr val="64748B"/>
                </a:solidFill>
                <a:latin typeface="Calibri"/>
              </a:rPr>
              <a:t>saat data collection — dari frame asli sebelum face-crop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E63946"/>
                </a:solidFill>
                <a:latin typeface="Calibri"/>
              </a:rPr>
              <a:t>▸  </a:t>
            </a:r>
            <a:r>
              <a:rPr sz="1200" b="0" i="0">
                <a:solidFill>
                  <a:srgbClr val="1E293B"/>
                </a:solidFill>
                <a:latin typeface="Calibri"/>
              </a:rPr>
              <a:t>Normalisasi </a:t>
            </a:r>
            <a:r>
              <a:rPr sz="1200" b="1" i="0">
                <a:solidFill>
                  <a:srgbClr val="1E293B"/>
                </a:solidFill>
                <a:latin typeface="Calibri"/>
              </a:rPr>
              <a:t>(pos − shift) / imgDims  </a:t>
            </a:r>
            <a:r>
              <a:rPr sz="1200" b="0" i="0">
                <a:solidFill>
                  <a:srgbClr val="64748B"/>
                </a:solidFill>
                <a:latin typeface="Calibri"/>
              </a:rPr>
              <a:t>per axis → comparable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526280"/>
            <a:ext cx="11247120" cy="1828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6634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E86AB"/>
                </a:solidFill>
                <a:latin typeface="Calibri"/>
              </a:rPr>
              <a:t>SETUP MATCHING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029200"/>
            <a:ext cx="1069848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E86AB"/>
                </a:solidFill>
                <a:latin typeface="Calibri"/>
              </a:rPr>
              <a:t>▸  </a:t>
            </a:r>
            <a:r>
              <a:rPr sz="1200" b="0" i="0">
                <a:solidFill>
                  <a:srgbClr val="1E293B"/>
                </a:solidFill>
                <a:latin typeface="Calibri"/>
              </a:rPr>
              <a:t>Source: </a:t>
            </a:r>
            <a:r>
              <a:rPr sz="1200" b="1" i="0">
                <a:solidFill>
                  <a:srgbClr val="1E293B"/>
                </a:solidFill>
                <a:latin typeface="Calibri"/>
              </a:rPr>
              <a:t>data/emotions.csv (20,110 baris, 80 user)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2E86AB"/>
                </a:solidFill>
                <a:latin typeface="Calibri"/>
              </a:rPr>
              <a:t>▸  </a:t>
            </a:r>
            <a:r>
              <a:rPr sz="1200" b="0" i="0">
                <a:solidFill>
                  <a:srgbClr val="1E293B"/>
                </a:solidFill>
                <a:latin typeface="Calibri"/>
              </a:rPr>
              <a:t>Filter: </a:t>
            </a:r>
            <a:r>
              <a:rPr sz="1200" b="1" i="0">
                <a:solidFill>
                  <a:srgbClr val="1E293B"/>
                </a:solidFill>
                <a:latin typeface="Calibri"/>
              </a:rPr>
              <a:t>37 user yang dipakai dataset_frontonly_conf60, conf60 (max emotion prob ≥ 0.6)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2E86AB"/>
                </a:solidFill>
                <a:latin typeface="Calibri"/>
              </a:rPr>
              <a:t>▸  </a:t>
            </a:r>
            <a:r>
              <a:rPr sz="1200" b="0" i="0">
                <a:solidFill>
                  <a:srgbClr val="1E293B"/>
                </a:solidFill>
                <a:latin typeface="Calibri"/>
              </a:rPr>
              <a:t>Matching: </a:t>
            </a:r>
            <a:r>
              <a:rPr sz="1200" b="1" i="0">
                <a:solidFill>
                  <a:srgbClr val="1E293B"/>
                </a:solidFill>
                <a:latin typeface="Calibri"/>
              </a:rPr>
              <a:t>strict (uid, soft_label vector) tol=1e-4 + nn fallback untuk 13 sampel borderline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2E86AB"/>
                </a:solidFill>
                <a:latin typeface="Calibri"/>
              </a:rPr>
              <a:t>▸  </a:t>
            </a:r>
            <a:r>
              <a:rPr sz="1200" b="0" i="0">
                <a:solidFill>
                  <a:srgbClr val="1E293B"/>
                </a:solidFill>
                <a:latin typeface="Calibri"/>
              </a:rPr>
              <a:t>Coverage: </a:t>
            </a:r>
            <a:r>
              <a:rPr sz="1200" b="1" i="0">
                <a:solidFill>
                  <a:srgbClr val="10B981"/>
                </a:solidFill>
                <a:latin typeface="Calibri"/>
              </a:rPr>
              <a:t>100% (6795/6795) — strict 6782 + fallback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3A5F"/>
                </a:solidFill>
                <a:latin typeface="Calibri"/>
              </a:rPr>
              <a:t>Hasil Ablation — face-api.js Pecah Rekor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292608"/>
            <a:ext cx="822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alibri"/>
              </a:rPr>
              <a:t>11 / 17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1247120" cy="1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Eksplorasi CNN1D Fitur Geometrik  ·  FER Multimodal  ·  Mei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  <a:latin typeface="Calibri"/>
              </a:rPr>
              <a:t>test_macro_f1 — semua run B1 (no aug, no class weight)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508760"/>
          <a:ext cx="68580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7498079" y="1508760"/>
            <a:ext cx="4206240" cy="4114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645920"/>
            <a:ext cx="3840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E86AB"/>
                </a:solidFill>
                <a:latin typeface="Calibri"/>
              </a:rPr>
              <a:t>GAIN (face-api.js − MediaPipe)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10312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E293B"/>
                </a:solidFill>
                <a:latin typeface="Calibri"/>
              </a:rPr>
              <a:t>FCNN 3c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0" y="210312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800" b="1" i="0">
                <a:solidFill>
                  <a:srgbClr val="E63946"/>
                </a:solidFill>
                <a:latin typeface="Calibri"/>
              </a:rPr>
              <a:t>+0.2032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2606039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E293B"/>
                </a:solidFill>
                <a:latin typeface="Calibri"/>
              </a:rPr>
              <a:t>FCNN 7c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2606039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800" b="1" i="0">
                <a:solidFill>
                  <a:srgbClr val="2E86AB"/>
                </a:solidFill>
                <a:latin typeface="Calibri"/>
              </a:rPr>
              <a:t>+0.0867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3108959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E293B"/>
                </a:solidFill>
                <a:latin typeface="Calibri"/>
              </a:rPr>
              <a:t>CNN1D 3c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3108959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800" b="1" i="0">
                <a:solidFill>
                  <a:srgbClr val="E63946"/>
                </a:solidFill>
                <a:latin typeface="Calibri"/>
              </a:rPr>
              <a:t>+0.1144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3611879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E293B"/>
                </a:solidFill>
                <a:latin typeface="Calibri"/>
              </a:rPr>
              <a:t>CNN1D 7c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3611879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800" b="1" i="0">
                <a:solidFill>
                  <a:srgbClr val="2E86AB"/>
                </a:solidFill>
                <a:latin typeface="Calibri"/>
              </a:rPr>
              <a:t>+0.0357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80960" y="4480560"/>
            <a:ext cx="3840480" cy="100584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20" y="452628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BEST OVERALL BARU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480060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CNN1D 3c B1 + face-api.js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512064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0.7524 macro-F1  (+0.12 vs lama)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760720"/>
            <a:ext cx="11247120" cy="5943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Pecah rekor +12% tanpa augmentasi  </a:t>
            </a:r>
            <a:r>
              <a:rPr sz="1300" b="0" i="0">
                <a:solidFill>
                  <a:srgbClr val="CBD5E1"/>
                </a:solidFill>
                <a:latin typeface="Calibri"/>
              </a:rPr>
              <a:t>— hanya dengan mengganti sumber landmark. Best lama: FCNN 3c B3 = 0.6342.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3A5F"/>
                </a:solidFill>
                <a:latin typeface="Calibri"/>
              </a:rPr>
              <a:t>Mengapa face-api.js Menang?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292608"/>
            <a:ext cx="822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alibri"/>
              </a:rPr>
              <a:t>12 / 17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1247120" cy="1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Eksplorasi CNN1D Fitur Geometrik  ·  FER Multimodal  ·  Mei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  <a:latin typeface="Calibri"/>
              </a:rPr>
              <a:t>Hipotesis (perlu validasi lanjut) — landmark source mengalahkan arsitektur model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08760"/>
            <a:ext cx="112471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08760"/>
            <a:ext cx="137160" cy="96012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60020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E3A5F"/>
                </a:solidFill>
                <a:latin typeface="Calibri"/>
              </a:rPr>
              <a:t>Coords preservation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965960"/>
            <a:ext cx="105156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face-api.js extract dari frame asli sebelum face-crop. MediaPipe extract dari face-crop 224×224 yang sudah resize — info skala / pose hilang setelah crop.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87752"/>
            <a:ext cx="112471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587752"/>
            <a:ext cx="137160" cy="96012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679192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E3A5F"/>
                </a:solidFill>
                <a:latin typeface="Calibri"/>
              </a:rPr>
              <a:t>Native dlib 68-point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044952"/>
            <a:ext cx="105156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face-api.js output 68 titik native dlib convention. MediaPipe 478→68 via index mapping — semantik approximate, beberapa titik tidak persis di posisi konvensi dlib.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666744"/>
            <a:ext cx="112471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666744"/>
            <a:ext cx="137160" cy="96012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758183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E3A5F"/>
                </a:solidFill>
                <a:latin typeface="Calibri"/>
              </a:rPr>
              <a:t>Temporal consistency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123944"/>
            <a:ext cx="105156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face-api.js extract live saat data collection. MediaPipe extract offline dari face-crop JPEG (artifact resize / kompresi). Live extraction lebih sesuai kondisi runtime.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937760"/>
            <a:ext cx="11247120" cy="14173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937760"/>
            <a:ext cx="109728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02920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INSIGHT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3949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E86AB"/>
                </a:solidFill>
                <a:latin typeface="Calibri"/>
              </a:rPr>
              <a:t>▸  </a:t>
            </a:r>
            <a:r>
              <a:rPr sz="1200" b="1" i="0">
                <a:solidFill>
                  <a:srgbClr val="1E3A5F"/>
                </a:solidFill>
                <a:latin typeface="Calibri"/>
              </a:rPr>
              <a:t>Landmark source &gt; arsitektur model.  </a:t>
            </a:r>
            <a:r>
              <a:rPr sz="1200" b="0" i="0">
                <a:solidFill>
                  <a:srgbClr val="1E293B"/>
                </a:solidFill>
                <a:latin typeface="Calibri"/>
              </a:rPr>
              <a:t>FCNN+face-api.js (0.7119) bahkan beat CNN1D+MediaPipe (0.6380).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2E86AB"/>
                </a:solidFill>
                <a:latin typeface="Calibri"/>
              </a:rPr>
              <a:t>▸  </a:t>
            </a:r>
            <a:r>
              <a:rPr sz="1200" b="1" i="0">
                <a:solidFill>
                  <a:srgbClr val="1E293B"/>
                </a:solidFill>
                <a:latin typeface="Calibri"/>
              </a:rPr>
              <a:t>Kenaikan terbesar di FCNN </a:t>
            </a:r>
            <a:r>
              <a:rPr sz="1200" b="0" i="0">
                <a:solidFill>
                  <a:srgbClr val="1E293B"/>
                </a:solidFill>
                <a:latin typeface="Calibri"/>
              </a:rPr>
              <a:t>— simpler model lebih sensitif terhadap konsistensi &amp; akurasi koordinat absolut. CNN1D slightly more robust karena extract pattern lokal.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3A5F"/>
                </a:solidFill>
                <a:latin typeface="Calibri"/>
              </a:rPr>
              <a:t>FACS-Decomposed Euclidean Distance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292608"/>
            <a:ext cx="822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alibri"/>
              </a:rPr>
              <a:t>13 / 17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1247120" cy="1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Eksplorasi CNN1D Fitur Geometrik  ·  FER Multimodal  ·  Mei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11247120" cy="9144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109728" cy="91440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1887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E63946"/>
                </a:solidFill>
                <a:latin typeface="Calibri"/>
              </a:rPr>
              <a:t>ARAHAN DOSEN (lanjutan)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463040"/>
            <a:ext cx="10698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1E293B"/>
                </a:solidFill>
                <a:latin typeface="Calibri"/>
              </a:rPr>
              <a:t>“Coba CNN dengan fitur geometrik yang didekomposisi — jarak Euclid dari acuan FACS (Facial Action Coding System).”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4028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E3A5F"/>
                </a:solidFill>
                <a:latin typeface="Calibri"/>
              </a:rPr>
              <a:t>28 Jarak Euclidean per Action Unit (AU)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9748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2E86AB"/>
                </a:solidFill>
                <a:latin typeface="Calibri"/>
              </a:rPr>
              <a:t>AU1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697480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Inner brow raiser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69748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2 dist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175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2E86AB"/>
                </a:solidFill>
                <a:latin typeface="Calibri"/>
              </a:rPr>
              <a:t>AU2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017520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Outer brow raiser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30175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2 dist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3375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2E86AB"/>
                </a:solidFill>
                <a:latin typeface="Calibri"/>
              </a:rPr>
              <a:t>AU4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337560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Brow lowerer (frown)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33375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3 dist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2E86AB"/>
                </a:solidFill>
                <a:latin typeface="Calibri"/>
              </a:rPr>
              <a:t>AU5/7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3657600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Eye opening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365760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4 dist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977639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2E86AB"/>
                </a:solidFill>
                <a:latin typeface="Calibri"/>
              </a:rPr>
              <a:t>AU6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3977639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Cheek raiser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0" y="3977639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2 dist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297679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2E86AB"/>
                </a:solidFill>
                <a:latin typeface="Calibri"/>
              </a:rPr>
              <a:t>AU9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4297679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Nose wrinkler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4297679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2 dist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269748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2E86AB"/>
                </a:solidFill>
                <a:latin typeface="Calibri"/>
              </a:rPr>
              <a:t>AU10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269748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Upper lip raiser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269748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3 dist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5040" y="30175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2E86AB"/>
                </a:solidFill>
                <a:latin typeface="Calibri"/>
              </a:rPr>
              <a:t>AU12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78040" y="301752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Smile / lip corner puller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301752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2 dist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35040" y="33375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2E86AB"/>
                </a:solidFill>
                <a:latin typeface="Calibri"/>
              </a:rPr>
              <a:t>AU15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78040" y="333756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Lip corner depressor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0" y="333756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2 dist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35040" y="365760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2E86AB"/>
                </a:solidFill>
                <a:latin typeface="Calibri"/>
              </a:rPr>
              <a:t>AU20/23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78040" y="365760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Mouth width / tightener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0" y="365760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2 dist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35040" y="3977639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2E86AB"/>
                </a:solidFill>
                <a:latin typeface="Calibri"/>
              </a:rPr>
              <a:t>AU25/26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78040" y="3977639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Lips part / jaw drop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3977639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3 dist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4297679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2E86AB"/>
                </a:solidFill>
                <a:latin typeface="Calibri"/>
              </a:rPr>
              <a:t>face_height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78040" y="4297679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Reference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0" y="4297679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1 dist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46320"/>
            <a:ext cx="11247120" cy="1554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498348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E86AB"/>
                </a:solidFill>
                <a:latin typeface="Calibri"/>
              </a:rPr>
              <a:t>MODEL &amp; NORMALISASI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5349240"/>
            <a:ext cx="146304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E3A5F"/>
                </a:solidFill>
                <a:latin typeface="Calibri"/>
              </a:rPr>
              <a:t>Model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94560" y="5349240"/>
            <a:ext cx="932688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EmotionCNN1D_FACS — 3 Conv1d (32→64→128) + GAP + FC(64) + head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" y="5559552"/>
            <a:ext cx="146304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E3A5F"/>
                </a:solidFill>
                <a:latin typeface="Calibri"/>
              </a:rPr>
              <a:t>Params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94560" y="5559552"/>
            <a:ext cx="932688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~105K  (vs 442K untuk raw CNN1D — 4× lebih kecil)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5769864"/>
            <a:ext cx="146304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E3A5F"/>
                </a:solidFill>
                <a:latin typeface="Calibri"/>
              </a:rPr>
              <a:t>Input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94560" y="5769864"/>
            <a:ext cx="932688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(B, 1, 28) — 28-dim FACS distance vector sebagai sequence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1520" y="5980176"/>
            <a:ext cx="146304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E3A5F"/>
                </a:solidFill>
                <a:latin typeface="Calibri"/>
              </a:rPr>
              <a:t>Normalisasi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94560" y="5980176"/>
            <a:ext cx="932688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Dibagi inter-ocular distance d(36, 45) untuk scale invariance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" y="6190488"/>
            <a:ext cx="146304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E3A5F"/>
                </a:solidFill>
                <a:latin typeface="Calibri"/>
              </a:rPr>
              <a:t>Sweep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94560" y="6190488"/>
            <a:ext cx="932688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2 sources × 2 schemes × 2 scenarios = 8 runs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3A5F"/>
                </a:solidFill>
                <a:latin typeface="Calibri"/>
              </a:rPr>
              <a:t>Hasil FACS — Sweep 8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292608"/>
            <a:ext cx="822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alibri"/>
              </a:rPr>
              <a:t>14 / 17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1247120" cy="1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Eksplorasi CNN1D Fitur Geometrik  ·  FER Multimodal  ·  Mei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  <a:latin typeface="Calibri"/>
              </a:rPr>
              <a:t>test_macro_f1 + perbandingan dengan raw 136-dim coords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463040"/>
          <a:ext cx="6858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05840"/>
                <a:gridCol w="1005840"/>
                <a:gridCol w="1005840"/>
                <a:gridCol w="1005840"/>
                <a:gridCol w="1005840"/>
              </a:tblGrid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Config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macro_f1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weighted_f1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best_ep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time(s)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293B"/>
                          </a:solidFill>
                          <a:latin typeface="Calibri"/>
                        </a:rPr>
                        <a:t>MP × 3c × B1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0.5363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0.7671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0.7879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165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293B"/>
                          </a:solidFill>
                          <a:latin typeface="Calibri"/>
                        </a:rPr>
                        <a:t>MP × 3c × B2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0.4962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0.7417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0.7255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293B"/>
                          </a:solidFill>
                          <a:latin typeface="Calibri"/>
                        </a:rPr>
                        <a:t>FA × 3c × B1</a:t>
                      </a:r>
                    </a:p>
                  </a:txBody>
                  <a:tcPr marL="36576" marR="36576" marT="18288" marB="18288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0B981"/>
                          </a:solidFill>
                          <a:latin typeface="Calibri"/>
                        </a:rPr>
                        <a:t>0.6818</a:t>
                      </a:r>
                    </a:p>
                  </a:txBody>
                  <a:tcPr marL="36576" marR="36576" marT="18288" marB="18288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0B981"/>
                          </a:solidFill>
                          <a:latin typeface="Calibri"/>
                        </a:rPr>
                        <a:t>0.8359</a:t>
                      </a:r>
                    </a:p>
                  </a:txBody>
                  <a:tcPr marL="36576" marR="36576" marT="18288" marB="18288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0B981"/>
                          </a:solidFill>
                          <a:latin typeface="Calibri"/>
                        </a:rPr>
                        <a:t>0.8471</a:t>
                      </a:r>
                    </a:p>
                  </a:txBody>
                  <a:tcPr marL="36576" marR="36576" marT="18288" marB="18288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36576" marR="36576" marT="18288" marB="18288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marL="36576" marR="36576" marT="18288" marB="18288">
                    <a:solidFill>
                      <a:srgbClr val="ECFDF5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293B"/>
                          </a:solidFill>
                          <a:latin typeface="Calibri"/>
                        </a:rPr>
                        <a:t>FA × 3c × B2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0.6778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0.8417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0.8224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293B"/>
                          </a:solidFill>
                          <a:latin typeface="Calibri"/>
                        </a:rPr>
                        <a:t>MP × 7c × B1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0.2311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0.7639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0.7826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187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293B"/>
                          </a:solidFill>
                          <a:latin typeface="Calibri"/>
                        </a:rPr>
                        <a:t>MP × 7c × B2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0.1999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0.6453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0.5823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118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293B"/>
                          </a:solidFill>
                          <a:latin typeface="Calibri"/>
                        </a:rPr>
                        <a:t>FA × 7c × B1</a:t>
                      </a:r>
                    </a:p>
                  </a:txBody>
                  <a:tcPr marL="36576" marR="36576" marT="18288" marB="18288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0B981"/>
                          </a:solidFill>
                          <a:latin typeface="Calibri"/>
                        </a:rPr>
                        <a:t>0.3063</a:t>
                      </a:r>
                    </a:p>
                  </a:txBody>
                  <a:tcPr marL="36576" marR="36576" marT="18288" marB="18288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0B981"/>
                          </a:solidFill>
                          <a:latin typeface="Calibri"/>
                        </a:rPr>
                        <a:t>0.8539</a:t>
                      </a:r>
                    </a:p>
                  </a:txBody>
                  <a:tcPr marL="36576" marR="36576" marT="18288" marB="18288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0B981"/>
                          </a:solidFill>
                          <a:latin typeface="Calibri"/>
                        </a:rPr>
                        <a:t>0.8590</a:t>
                      </a:r>
                    </a:p>
                  </a:txBody>
                  <a:tcPr marL="36576" marR="36576" marT="18288" marB="18288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36576" marR="36576" marT="18288" marB="18288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90</a:t>
                      </a:r>
                    </a:p>
                  </a:txBody>
                  <a:tcPr marL="36576" marR="36576" marT="18288" marB="18288">
                    <a:solidFill>
                      <a:srgbClr val="ECFDF5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293B"/>
                          </a:solidFill>
                          <a:latin typeface="Calibri"/>
                        </a:rPr>
                        <a:t>FA × 7c × B2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0.2956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0.8203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0.7944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166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498079" y="1463040"/>
            <a:ext cx="4206240" cy="36576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600200"/>
            <a:ext cx="3840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E86AB"/>
                </a:solidFill>
                <a:latin typeface="Calibri"/>
              </a:rPr>
              <a:t>FACS vs RAW COORDS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1920240"/>
            <a:ext cx="3840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(CNN1D B1 face-api.js)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680960" y="2240280"/>
          <a:ext cx="38404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097280"/>
                <a:gridCol w="1097280"/>
              </a:tblGrid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Representation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3c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7c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  <a:latin typeface="Calibri"/>
                        </a:rPr>
                        <a:t>Raw 136-dim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0.7524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0.3036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  <a:latin typeface="Calibri"/>
                        </a:rPr>
                        <a:t>FACS 28-dim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0.6818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0.3063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−0.0706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+0.0027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680960" y="4251960"/>
            <a:ext cx="384048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1E293B"/>
                </a:solidFill>
                <a:latin typeface="Calibri"/>
              </a:rPr>
              <a:t>Information loss dari 136→28 lebih besar daripada gain dari semantic prior (di 3c).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349240"/>
            <a:ext cx="11247120" cy="10058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5349240"/>
            <a:ext cx="109728" cy="100584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44068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2E86AB"/>
                </a:solidFill>
                <a:latin typeface="Calibri"/>
              </a:rPr>
              <a:t>TAKEAWAYS FACS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760720"/>
            <a:ext cx="10698480" cy="594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E86AB"/>
                </a:solidFill>
                <a:latin typeface="Calibri"/>
              </a:rPr>
              <a:t>▸  </a:t>
            </a:r>
            <a:r>
              <a:rPr sz="1200" b="1" i="0">
                <a:solidFill>
                  <a:srgbClr val="1E293B"/>
                </a:solidFill>
                <a:latin typeface="Calibri"/>
              </a:rPr>
              <a:t>face-api.js advantage robust </a:t>
            </a:r>
            <a:r>
              <a:rPr sz="1200" b="0" i="0">
                <a:solidFill>
                  <a:srgbClr val="64748B"/>
                </a:solidFill>
                <a:latin typeface="Calibri"/>
              </a:rPr>
              <a:t>(+0.075 … +0.18 macro_f1) — konsisten dengan finding raw coords / FCNN.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2E86AB"/>
                </a:solidFill>
                <a:latin typeface="Calibri"/>
              </a:rPr>
              <a:t>▸  </a:t>
            </a:r>
            <a:r>
              <a:rPr sz="1200" b="1" i="0">
                <a:solidFill>
                  <a:srgbClr val="1E293B"/>
                </a:solidFill>
                <a:latin typeface="Calibri"/>
              </a:rPr>
              <a:t>Training 2–3× lebih cepat  </a:t>
            </a:r>
            <a:r>
              <a:rPr sz="1200" b="0" i="0">
                <a:solidFill>
                  <a:srgbClr val="64748B"/>
                </a:solidFill>
                <a:latin typeface="Calibri"/>
              </a:rPr>
              <a:t>(~70–180 s/run, 105K params) — cocok untuk eksperimen iteratif.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3A5F"/>
                </a:solidFill>
                <a:latin typeface="Calibri"/>
              </a:rPr>
              <a:t>Ringkasan Best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292608"/>
            <a:ext cx="822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alibri"/>
              </a:rPr>
              <a:t>15 / 17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1247120" cy="1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Eksplorasi CNN1D Fitur Geometrik  ·  FER Multimodal  ·  Mei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11247120" cy="2286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63946"/>
                </a:solidFill>
                <a:latin typeface="Calibri"/>
              </a:rPr>
              <a:t>🏆  BEST OVERALL BARU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"/>
              </a:rPr>
              <a:t>0.7524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4320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macro-F1 test 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632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CNN1D 3-class B1  +  face-api.js landmark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371600"/>
            <a:ext cx="2743200" cy="182880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0" y="1508760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GAIN vs LAMA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1874519"/>
            <a:ext cx="2560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+18.7%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2606040"/>
            <a:ext cx="25603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vs FCNN 3c B3 (0.6342)
tanpa augmentasi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5760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E3A5F"/>
                </a:solidFill>
                <a:latin typeface="Calibri"/>
              </a:rPr>
              <a:t>Top model di setiap kategori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57200" y="406908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286000"/>
                <a:gridCol w="3657600"/>
                <a:gridCol w="2560320"/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Kategori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Config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macro-F1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  <a:latin typeface="Calibri"/>
                        </a:rPr>
                        <a:t>Best overall (baru)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293B"/>
                          </a:solidFill>
                          <a:latin typeface="Calibri"/>
                        </a:rPr>
                        <a:t>CNN1D 3c B1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face-api.js, raw coords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E63946"/>
                          </a:solidFill>
                          <a:latin typeface="Calibri"/>
                        </a:rPr>
                        <a:t>0.7524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  <a:latin typeface="Calibri"/>
                        </a:rPr>
                        <a:t>Best 3c (lama, MP)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FCNN 3c B3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MediaPipe, offline aug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0.6342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  <a:latin typeface="Calibri"/>
                        </a:rPr>
                        <a:t>Best 3c CNN1D (MP)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CNN1D 3c B1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MediaPipe, no aug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0.6183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  <a:latin typeface="Calibri"/>
                        </a:rPr>
                        <a:t>Best 7c (face-api.js)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FCNN 7c B1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face-api.js, raw coords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0.3122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  <a:latin typeface="Calibri"/>
                        </a:rPr>
                        <a:t>Best FACS 3c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CNN1D 3c B1 FACS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face-api.js, 28-dim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0.6818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3A5F"/>
                </a:solidFill>
                <a:latin typeface="Calibri"/>
              </a:rPr>
              <a:t>Eksplorasi Lanjutan yang Disarankan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292608"/>
            <a:ext cx="822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alibri"/>
              </a:rPr>
              <a:t>16 / 17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1247120" cy="1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Eksplorasi CNN1D Fitur Geometrik  ·  FER Multimodal  ·  Mei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143000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PRIORITAS TINGGI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508760"/>
            <a:ext cx="7772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E63946"/>
                </a:solidFill>
                <a:latin typeface="Calibri"/>
              </a:rPr>
              <a:t>▸  </a:t>
            </a:r>
            <a:r>
              <a:rPr sz="1100" b="0" i="0">
                <a:solidFill>
                  <a:srgbClr val="1E293B"/>
                </a:solidFill>
                <a:latin typeface="Calibri"/>
              </a:rPr>
              <a:t>Multi-seed (3–5) untuk konfirmasi gap face-api.js di atas noise floor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508760"/>
            <a:ext cx="3017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validasi statistik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55648"/>
            <a:ext cx="7772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E63946"/>
                </a:solidFill>
                <a:latin typeface="Calibri"/>
              </a:rPr>
              <a:t>▸  </a:t>
            </a:r>
            <a:r>
              <a:rPr sz="1100" b="0" i="0">
                <a:solidFill>
                  <a:srgbClr val="1E293B"/>
                </a:solidFill>
                <a:latin typeface="Calibri"/>
              </a:rPr>
              <a:t>Re-run B2/B3 dengan face-api.js landmark 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1755648"/>
            <a:ext cx="3017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scenario lain konsisten naik?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002536"/>
            <a:ext cx="7772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E63946"/>
                </a:solidFill>
                <a:latin typeface="Calibri"/>
              </a:rPr>
              <a:t>▸  </a:t>
            </a:r>
            <a:r>
              <a:rPr sz="1100" b="0" i="0">
                <a:solidFill>
                  <a:srgbClr val="1E293B"/>
                </a:solidFill>
                <a:latin typeface="Calibri"/>
              </a:rPr>
              <a:t>Apply face-api.js ke pipeline image-based (CNN, IntermediateFusion, EarlyFusion)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002536"/>
            <a:ext cx="3017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lift bertahan saat digabung visual features?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249424"/>
            <a:ext cx="7772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E63946"/>
                </a:solidFill>
                <a:latin typeface="Calibri"/>
              </a:rPr>
              <a:t>▸  </a:t>
            </a:r>
            <a:r>
              <a:rPr sz="1100" b="0" i="0">
                <a:solidFill>
                  <a:srgbClr val="1E293B"/>
                </a:solidFill>
                <a:latin typeface="Calibri"/>
              </a:rPr>
              <a:t>5-fold CV subject-wise / LOSO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249424"/>
            <a:ext cx="3017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robustness vs random split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587752"/>
            <a:ext cx="11247120" cy="3657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633472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EKSPLORASI MENENGAH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2999232"/>
            <a:ext cx="7772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2E86AB"/>
                </a:solidFill>
                <a:latin typeface="Calibri"/>
              </a:rPr>
              <a:t>▸  </a:t>
            </a:r>
            <a:r>
              <a:rPr sz="1100" b="0" i="0">
                <a:solidFill>
                  <a:srgbClr val="1E293B"/>
                </a:solidFill>
                <a:latin typeface="Calibri"/>
              </a:rPr>
              <a:t>Regenerate offline augmented 3c dataset → re-run B3 (fair vs FCNN B3)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2999232"/>
            <a:ext cx="3017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isolate efek aug strategy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246120"/>
            <a:ext cx="7772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2E86AB"/>
                </a:solidFill>
                <a:latin typeface="Calibri"/>
              </a:rPr>
              <a:t>▸  </a:t>
            </a:r>
            <a:r>
              <a:rPr sz="1100" b="0" i="0">
                <a:solidFill>
                  <a:srgbClr val="1E293B"/>
                </a:solidFill>
                <a:latin typeface="Calibri"/>
              </a:rPr>
              <a:t>Landmark hflip dengan index swap L↔R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246120"/>
            <a:ext cx="3017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fix semantik geometri saat flip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493008"/>
            <a:ext cx="7772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2E86AB"/>
                </a:solidFill>
                <a:latin typeface="Calibri"/>
              </a:rPr>
              <a:t>▸  </a:t>
            </a:r>
            <a:r>
              <a:rPr sz="1100" b="0" i="0">
                <a:solidFill>
                  <a:srgbClr val="1E293B"/>
                </a:solidFill>
                <a:latin typeface="Calibri"/>
              </a:rPr>
              <a:t>Coordinate normalization (center + inter-ocular scaling)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3493008"/>
            <a:ext cx="3017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robust terhadap pose/scale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739896"/>
            <a:ext cx="7772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2E86AB"/>
                </a:solidFill>
                <a:latin typeface="Calibri"/>
              </a:rPr>
              <a:t>▸  </a:t>
            </a:r>
            <a:r>
              <a:rPr sz="1100" b="0" i="0">
                <a:solidFill>
                  <a:srgbClr val="1E293B"/>
                </a:solidFill>
                <a:latin typeface="Calibri"/>
              </a:rPr>
              <a:t>Hybrid: Conv1d raw + Liliana 20-dim → concat → head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3739896"/>
            <a:ext cx="3017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low-level + high-level features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78223"/>
            <a:ext cx="11247120" cy="3657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123943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LANJUTAN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489703"/>
            <a:ext cx="7772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E3A5F"/>
                </a:solidFill>
                <a:latin typeface="Calibri"/>
              </a:rPr>
              <a:t>▸  </a:t>
            </a:r>
            <a:r>
              <a:rPr sz="1100" b="0" i="0">
                <a:solidFill>
                  <a:srgbClr val="1E293B"/>
                </a:solidFill>
                <a:latin typeface="Calibri"/>
              </a:rPr>
              <a:t>CNN1D di clean-6c dataset (drop fearful)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489703"/>
            <a:ext cx="3017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imbalance jauh lebih jinak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736592"/>
            <a:ext cx="7772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E3A5F"/>
                </a:solidFill>
                <a:latin typeface="Calibri"/>
              </a:rPr>
              <a:t>▸  </a:t>
            </a:r>
            <a:r>
              <a:rPr sz="1100" b="0" i="0">
                <a:solidFill>
                  <a:srgbClr val="1E293B"/>
                </a:solidFill>
                <a:latin typeface="Calibri"/>
              </a:rPr>
              <a:t>Focal loss sebagai alternatif class weights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4736592"/>
            <a:ext cx="3017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lebih stabil di imbalance ekstrem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983479"/>
            <a:ext cx="7772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E3A5F"/>
                </a:solidFill>
                <a:latin typeface="Calibri"/>
              </a:rPr>
              <a:t>▸  </a:t>
            </a:r>
            <a:r>
              <a:rPr sz="1100" b="0" i="0">
                <a:solidFill>
                  <a:srgbClr val="1E293B"/>
                </a:solidFill>
                <a:latin typeface="Calibri"/>
              </a:rPr>
              <a:t>Compare CNN1D raw vs FCNN + Liliana 20-dim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4983479"/>
            <a:ext cx="3017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raw vs derived features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3A5F"/>
                </a:solidFill>
                <a:latin typeface="Calibri"/>
              </a:rPr>
              <a:t>Q&amp;A — Mekanisme Early Fusion di Project 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292608"/>
            <a:ext cx="822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alibri"/>
              </a:rPr>
              <a:t>17 / 17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1247120" cy="1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Eksplorasi CNN1D Fitur Geometrik  ·  FER Multimodal  ·  Mei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7315200" cy="8229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109728" cy="82296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170432"/>
            <a:ext cx="6858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E63946"/>
                </a:solidFill>
                <a:latin typeface="Calibri"/>
              </a:rPr>
              <a:t>PERTANYAAN DOSEN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417320"/>
            <a:ext cx="6858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1">
                <a:solidFill>
                  <a:srgbClr val="1E293B"/>
                </a:solidFill>
                <a:latin typeface="Calibri"/>
              </a:rPr>
              <a:t>“Cek early fusion di project ini — concat atau gated (learnable)?”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1097280"/>
            <a:ext cx="3749039" cy="822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1170432"/>
            <a:ext cx="3474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JAWABAN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1371600"/>
            <a:ext cx="34747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CONCAT (channel stacking)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103120"/>
            <a:ext cx="557784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103120"/>
            <a:ext cx="5577840" cy="4572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176272"/>
            <a:ext cx="53035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1.  EmotionEarlyFusion  (scratch CNN)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651760"/>
            <a:ext cx="52120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2E86AB"/>
                </a:solidFill>
                <a:latin typeface="Calibri"/>
              </a:rPr>
              <a:t>models.py : 275–323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971800"/>
            <a:ext cx="521208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▸  </a:t>
            </a:r>
            <a:r>
              <a:rPr sz="1100" b="0" i="0">
                <a:solidFill>
                  <a:srgbClr val="1E293B"/>
                </a:solidFill>
                <a:latin typeface="Calibri"/>
              </a:rPr>
              <a:t>Input: </a:t>
            </a:r>
            <a:r>
              <a:rPr sz="1100" b="0" i="0">
                <a:solidFill>
                  <a:srgbClr val="1E293B"/>
                </a:solidFill>
                <a:latin typeface="Calibri"/>
              </a:rPr>
              <a:t>tensor 4-channel (R, G, B, landmark_heatmap) 224×224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▸  </a:t>
            </a:r>
            <a:r>
              <a:rPr sz="1100" b="0" i="0">
                <a:solidFill>
                  <a:srgbClr val="1E293B"/>
                </a:solidFill>
                <a:latin typeface="Calibri"/>
              </a:rPr>
              <a:t>First conv: </a:t>
            </a:r>
            <a:r>
              <a:rPr sz="1100" b="0" i="0">
                <a:solidFill>
                  <a:srgbClr val="1E3A5F"/>
                </a:solidFill>
                <a:latin typeface="Consolas"/>
              </a:rPr>
              <a:t>nn.Conv2d(4, 32, 3, padding=1)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▸  </a:t>
            </a:r>
            <a:r>
              <a:rPr sz="1100" b="0" i="0">
                <a:solidFill>
                  <a:srgbClr val="1E293B"/>
                </a:solidFill>
                <a:latin typeface="Calibri"/>
              </a:rPr>
              <a:t>Mengikuti HAE-Net  </a:t>
            </a:r>
            <a:r>
              <a:rPr sz="1100" b="0" i="1">
                <a:solidFill>
                  <a:srgbClr val="64748B"/>
                </a:solidFill>
                <a:latin typeface="Calibri"/>
              </a:rPr>
              <a:t>(Mo et al., MMM 2020)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▸  </a:t>
            </a:r>
            <a:r>
              <a:rPr sz="1100" b="1" i="0">
                <a:solidFill>
                  <a:srgbClr val="DC2626"/>
                </a:solidFill>
                <a:latin typeface="Calibri"/>
              </a:rPr>
              <a:t>Tidak ada gate / bobot fusi terpisah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2103120"/>
            <a:ext cx="557784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2103120"/>
            <a:ext cx="5577840" cy="4572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2176272"/>
            <a:ext cx="53035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2.  EmotionEarlyFusionTransfer  (ResNet18 TL)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651760"/>
            <a:ext cx="52120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2E86AB"/>
                </a:solidFill>
                <a:latin typeface="Calibri"/>
              </a:rPr>
              <a:t>models.py : 326–372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971800"/>
            <a:ext cx="521208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▸  </a:t>
            </a:r>
            <a:r>
              <a:rPr sz="1100" b="0" i="0">
                <a:solidFill>
                  <a:srgbClr val="1E293B"/>
                </a:solidFill>
                <a:latin typeface="Calibri"/>
              </a:rPr>
              <a:t>conv1 ResNet18 dimodifikasi </a:t>
            </a:r>
            <a:r>
              <a:rPr sz="1100" b="0" i="0">
                <a:solidFill>
                  <a:srgbClr val="1E3A5F"/>
                </a:solidFill>
                <a:latin typeface="Consolas"/>
              </a:rPr>
              <a:t>in_channels = 3 → 4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▸  </a:t>
            </a:r>
            <a:r>
              <a:rPr sz="1100" b="0" i="0">
                <a:solidFill>
                  <a:srgbClr val="1E293B"/>
                </a:solidFill>
                <a:latin typeface="Calibri"/>
              </a:rPr>
              <a:t>Channel ke-4 init = </a:t>
            </a:r>
            <a:r>
              <a:rPr sz="1100" b="0" i="0">
                <a:solidFill>
                  <a:srgbClr val="1E3A5F"/>
                </a:solidFill>
                <a:latin typeface="Consolas"/>
              </a:rPr>
              <a:t>mean(RGB pretrained)</a:t>
            </a:r>
            <a:r>
              <a:rPr sz="1000" b="0" i="0">
                <a:solidFill>
                  <a:srgbClr val="64748B"/>
                </a:solidFill>
                <a:latin typeface="Calibri"/>
              </a:rPr>
              <a:t>  (l. 351–356)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▸  </a:t>
            </a:r>
            <a:r>
              <a:rPr sz="1100" b="0" i="0">
                <a:solidFill>
                  <a:srgbClr val="1E293B"/>
                </a:solidFill>
                <a:latin typeface="Calibri"/>
              </a:rPr>
              <a:t>Ini </a:t>
            </a:r>
            <a:r>
              <a:rPr sz="1100" b="1" i="0">
                <a:solidFill>
                  <a:srgbClr val="1E293B"/>
                </a:solidFill>
                <a:latin typeface="Calibri"/>
              </a:rPr>
              <a:t>inisialisasi, bukan gating  </a:t>
            </a:r>
            <a:r>
              <a:rPr sz="1100" b="0" i="0">
                <a:solidFill>
                  <a:srgbClr val="64748B"/>
                </a:solidFill>
                <a:latin typeface="Calibri"/>
              </a:rPr>
              <a:t>— bobot dilatih bebas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▸  </a:t>
            </a:r>
            <a:r>
              <a:rPr sz="1100" b="1" i="0">
                <a:solidFill>
                  <a:srgbClr val="DC2626"/>
                </a:solidFill>
                <a:latin typeface="Calibri"/>
              </a:rPr>
              <a:t>Tidak ada sigmoid-gate / σ(·) yang membobot ulang stream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389120"/>
            <a:ext cx="11247120" cy="5486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4805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63946"/>
                </a:solidFill>
                <a:latin typeface="Calibri"/>
              </a:rPr>
              <a:t>3.  </a:t>
            </a:r>
            <a:r>
              <a:rPr sz="1200" b="1" i="0">
                <a:solidFill>
                  <a:srgbClr val="1E293B"/>
                </a:solidFill>
                <a:latin typeface="Calibri"/>
              </a:rPr>
              <a:t>Grep models.py: </a:t>
            </a:r>
            <a:r>
              <a:rPr sz="1200" b="0" i="0">
                <a:solidFill>
                  <a:srgbClr val="1E293B"/>
                </a:solidFill>
                <a:latin typeface="Calibri"/>
              </a:rPr>
              <a:t>tidak ditemukan keyword  </a:t>
            </a:r>
            <a:r>
              <a:rPr sz="1100" b="0" i="0">
                <a:solidFill>
                  <a:srgbClr val="1E3A5F"/>
                </a:solidFill>
                <a:latin typeface="Consolas"/>
              </a:rPr>
              <a:t>gate / gating / sigmoid+fusion / α·β learnable  </a:t>
            </a:r>
            <a:r>
              <a:rPr sz="1100" b="0" i="0">
                <a:solidFill>
                  <a:srgbClr val="1E293B"/>
                </a:solidFill>
                <a:latin typeface="Calibri"/>
              </a:rPr>
              <a:t>·  torch.cat hanya muncul di Intermediate Fusion (l. 436, 598, 648)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029200"/>
            <a:ext cx="11247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  <a:latin typeface="Calibri"/>
              </a:rPr>
              <a:t>Ringkasan tipe fusi di project ini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57200" y="5394960"/>
          <a:ext cx="1124712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554480"/>
                <a:gridCol w="4389120"/>
                <a:gridCol w="2926080"/>
              </a:tblGrid>
              <a:tr h="24003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Skema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Mekanisme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Kode</a:t>
                      </a:r>
                    </a:p>
                  </a:txBody>
                  <a:tcPr marL="36576" marR="36576" marT="18288" marB="18288">
                    <a:solidFill>
                      <a:srgbClr val="1E3A5F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293B"/>
                          </a:solidFill>
                          <a:latin typeface="Calibri"/>
                        </a:rPr>
                        <a:t>Early Fusion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Input-level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63946"/>
                          </a:solidFill>
                          <a:latin typeface="Calibri"/>
                        </a:rPr>
                        <a:t>Channel concat (RGB + heatmap → 4-ch)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EmotionEarlyFusion(Transfer)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293B"/>
                          </a:solidFill>
                          <a:latin typeface="Calibri"/>
                        </a:rPr>
                        <a:t>Intermediate Fusion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Feature-level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torch.cat([img_feat, lm_feat], dim=1)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IntermediateFusion*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293B"/>
                          </a:solidFill>
                          <a:latin typeface="Calibri"/>
                        </a:rPr>
                        <a:t>Late Fusion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Decision-level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Gabung di level logit / prediksi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folder late_fusion*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