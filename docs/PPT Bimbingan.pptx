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1" r:id="rId131"/>
    <p:sldId id="390" r:id="rId140"/>
    <p:sldId id="382" r:id="rId132"/>
    <p:sldId id="389" r:id="rId139"/>
    <p:sldId id="383" r:id="rId133"/>
    <p:sldId id="384" r:id="rId134"/>
    <p:sldId id="388" r:id="rId138"/>
    <p:sldId id="385" r:id="rId135"/>
    <p:sldId id="387" r:id="rId137"/>
    <p:sldId id="386" r:id="rId136"/>
    <p:sldId id="391" r:id="rId141"/>
    <p:sldId id="393" r:id="rId142"/>
    <p:sldId id="394" r:id="rId143"/>
    <p:sldId id="395" r:id="rId144"/>
    <p:sldId id="365" r:id="rId115"/>
    <p:sldId id="337" r:id="rId87"/>
    <p:sldId id="392" r:id="rId130"/>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6.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6.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34.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33.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35.xml"/><Relationship Id="rId131" Type="http://schemas.openxmlformats.org/officeDocument/2006/relationships/slide" Target="slides/slide121.xml"/><Relationship Id="rId132" Type="http://schemas.openxmlformats.org/officeDocument/2006/relationships/slide" Target="slides/slide123.xml"/><Relationship Id="rId133" Type="http://schemas.openxmlformats.org/officeDocument/2006/relationships/slide" Target="slides/slide125.xml"/><Relationship Id="rId134" Type="http://schemas.openxmlformats.org/officeDocument/2006/relationships/slide" Target="slides/slide126.xml"/><Relationship Id="rId135" Type="http://schemas.openxmlformats.org/officeDocument/2006/relationships/slide" Target="slides/slide128.xml"/><Relationship Id="rId136" Type="http://schemas.openxmlformats.org/officeDocument/2006/relationships/slide" Target="slides/slide130.xml"/><Relationship Id="rId137" Type="http://schemas.openxmlformats.org/officeDocument/2006/relationships/slide" Target="slides/slide129.xml"/><Relationship Id="rId138" Type="http://schemas.openxmlformats.org/officeDocument/2006/relationships/slide" Target="slides/slide127.xml"/><Relationship Id="rId139" Type="http://schemas.openxmlformats.org/officeDocument/2006/relationships/slide" Target="slides/slide124.xml"/><Relationship Id="rId140" Type="http://schemas.openxmlformats.org/officeDocument/2006/relationships/slide" Target="slides/slide122.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7.xml"/><Relationship Id="rId144" Type="http://schemas.openxmlformats.org/officeDocument/2006/relationships/slide" Target="slides/slide1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 ★</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 ★</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0.270 (scratch B1)</a:t>
                      </a:r>
                    </a:p>
                  </a:txBody>
                  <a:tcPr>
                    <a:solidFill>
                      <a:srgbClr val="E6F4EA"/>
                    </a:solidFill>
                  </a:tcPr>
                </a:tc>
                <a:tc>
                  <a:txBody>
                    <a:bodyPr/>
                    <a:lstStyle/>
                    <a:p>
                      <a:pPr algn="ctr"/>
                      <a:r>
                        <a:rPr sz="850" b="0">
                          <a:solidFill>
                            <a:srgbClr val="202020"/>
                          </a:solidFill>
                        </a:rPr>
                        <a:t>0.479 (scratch B2)</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32: Early Fusion TL B3 tembus best di 7-class (0.333)</a:t>
            </a:r>
          </a:p>
          <a:p>
            <a:r>
              <a:rPr sz="900" b="0"/>
              <a:t>Melampaui Intermediate TL B3 (0.292) dan Late Fusion scratch B1 (0.270, val-tuned). Kombinasi heatmap channel + class weights + augmentasi + TL bekerja sinergis untuk skenario kelas banyak + imbalance ekstrem.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35: Ranking fusion strategy berbeda per granularitas kelas (val-tuned)</a:t>
            </a:r>
          </a:p>
          <a:p>
            <a:r>
              <a:rPr sz="900" b="0"/>
              <a:t>7-class: Early TL B3 (0.333) &gt; Intermediate TL B3 (0.292) &gt; Late Fusion scratch B1 (0.270). 4-class: Intermediate TL B3 (0.521) &gt; Late Fusion scratch B2 (0.479) &gt; Early TL B1 (0.471). Early Fusion juara di high-granularity, Intermediate juara di low-granularity.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JAFFE</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9" name="TextBox 8"/>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KDEF</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0.246</a:t>
                      </a:r>
                    </a:p>
                  </a:txBody>
                  <a:tcPr>
                    <a:solidFill>
                      <a:srgbClr val="E8F0FE"/>
                    </a:solidFill>
                  </a:tcPr>
                </a:tc>
                <a:tc>
                  <a:txBody>
                    <a:bodyPr/>
                    <a:lstStyle/>
                    <a:p>
                      <a:pPr algn="ctr"/>
                      <a:r>
                        <a:rPr sz="750" b="0">
                          <a:solidFill>
                            <a:srgbClr val="202020"/>
                          </a:solidFill>
                        </a:rPr>
                        <a:t>0.794</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0.253</a:t>
                      </a:r>
                    </a:p>
                  </a:txBody>
                  <a:tcPr>
                    <a:solidFill>
                      <a:srgbClr val="E8F0FE"/>
                    </a:solidFill>
                  </a:tcPr>
                </a:tc>
                <a:tc>
                  <a:txBody>
                    <a:bodyPr/>
                    <a:lstStyle/>
                    <a:p>
                      <a:pPr algn="ctr"/>
                      <a:r>
                        <a:rPr sz="750" b="0">
                          <a:solidFill>
                            <a:srgbClr val="202020"/>
                          </a:solidFill>
                        </a:rPr>
                        <a:t>0.713</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0.713</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0.457</a:t>
                      </a:r>
                    </a:p>
                  </a:txBody>
                  <a:tcPr>
                    <a:solidFill>
                      <a:srgbClr val="E8F0FE"/>
                    </a:solidFill>
                  </a:tcPr>
                </a:tc>
                <a:tc>
                  <a:txBody>
                    <a:bodyPr/>
                    <a:lstStyle/>
                    <a:p>
                      <a:pPr algn="ctr"/>
                      <a:r>
                        <a:rPr sz="750" b="0">
                          <a:solidFill>
                            <a:srgbClr val="202020"/>
                          </a:solidFill>
                        </a:rPr>
                        <a:t>0.822</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0.822</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0.471</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c>
                  <a:txBody>
                    <a:bodyPr/>
                    <a:lstStyle/>
                    <a:p>
                      <a:pPr algn="ctr"/>
                      <a:r>
                        <a:rPr sz="750" b="0">
                          <a:solidFill>
                            <a:srgbClr val="202020"/>
                          </a:solidFill>
                        </a:rPr>
                        <a:t>0.770</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CK+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9" name="TextBox 8"/>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RAF-DB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 KDEF → Primer</a:t>
            </a:r>
          </a:p>
        </p:txBody>
      </p:sp>
      <p:sp>
        <p:nvSpPr>
          <p:cNvPr id="8" name="TextBox 7"/>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 Eksplorasi Selesai (Negative Result)</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0"/>
              <a:t>Konsolidasi nb 71 (CNN TL) + nb 72 (Late Fusion TL) + nb 78 (Intermediate TL) — 4 loss × 3 arsitektur, hyperparam align (EPOCHS=50, LR=5e-5), selection by val macro.</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Arsitektur</a:t>
                      </a:r>
                    </a:p>
                  </a:txBody>
                  <a:tcPr>
                    <a:solidFill>
                      <a:srgbClr val="1A73E8"/>
                    </a:solidFill>
                  </a:tcPr>
                </a:tc>
                <a:tc>
                  <a:txBody>
                    <a:bodyPr/>
                    <a:lstStyle/>
                    <a:p>
                      <a:pPr algn="ctr"/>
                      <a:r>
                        <a:rPr sz="900" b="1">
                          <a:solidFill>
                            <a:srgbClr val="FFFFFF"/>
                          </a:solidFill>
                        </a:rPr>
                        <a:t>A Hard CE</a:t>
                      </a:r>
                    </a:p>
                  </a:txBody>
                  <a:tcPr>
                    <a:solidFill>
                      <a:srgbClr val="1A73E8"/>
                    </a:solidFill>
                  </a:tcPr>
                </a:tc>
                <a:tc>
                  <a:txBody>
                    <a:bodyPr/>
                    <a:lstStyle/>
                    <a:p>
                      <a:pPr algn="ctr"/>
                      <a:r>
                        <a:rPr sz="900" b="1">
                          <a:solidFill>
                            <a:srgbClr val="FFFFFF"/>
                          </a:solidFill>
                        </a:rPr>
                        <a:t>C KL-div</a:t>
                      </a:r>
                    </a:p>
                  </a:txBody>
                  <a:tcPr>
                    <a:solidFill>
                      <a:srgbClr val="1A73E8"/>
                    </a:solidFill>
                  </a:tcPr>
                </a:tc>
                <a:tc>
                  <a:txBody>
                    <a:bodyPr/>
                    <a:lstStyle/>
                    <a:p>
                      <a:pPr algn="ctr"/>
                      <a:r>
                        <a:rPr sz="900" b="1">
                          <a:solidFill>
                            <a:srgbClr val="FFFFFF"/>
                          </a:solidFill>
                        </a:rPr>
                        <a:t>Kesimpulan</a:t>
                      </a:r>
                    </a:p>
                  </a:txBody>
                  <a:tcPr>
                    <a:solidFill>
                      <a:srgbClr val="1A73E8"/>
                    </a:solidFill>
                  </a:tcPr>
                </a:tc>
              </a:tr>
              <a:tr h="320040">
                <a:tc>
                  <a:txBody>
                    <a:bodyPr/>
                    <a:lstStyle/>
                    <a:p>
                      <a:pPr algn="l"/>
                      <a:r>
                        <a:rPr sz="850" b="1">
                          <a:solidFill>
                            <a:srgbClr val="202020"/>
                          </a:solidFill>
                        </a:rPr>
                        <a:t>CNN TL 4c B1 (nb 71)</a:t>
                      </a:r>
                    </a:p>
                  </a:txBody>
                  <a:tcPr>
                    <a:solidFill>
                      <a:srgbClr val="E8F0FE"/>
                    </a:solidFill>
                  </a:tcPr>
                </a:tc>
                <a:tc>
                  <a:txBody>
                    <a:bodyPr/>
                    <a:lstStyle/>
                    <a:p>
                      <a:pPr algn="ctr"/>
                      <a:r>
                        <a:rPr sz="850" b="0">
                          <a:solidFill>
                            <a:srgbClr val="202020"/>
                          </a:solidFill>
                        </a:rPr>
                        <a:t>0.432</a:t>
                      </a:r>
                    </a:p>
                  </a:txBody>
                  <a:tcPr>
                    <a:solidFill>
                      <a:srgbClr val="E8F0FE"/>
                    </a:solidFill>
                  </a:tcPr>
                </a:tc>
                <a:tc>
                  <a:txBody>
                    <a:bodyPr/>
                    <a:lstStyle/>
                    <a:p>
                      <a:pPr algn="ctr"/>
                      <a:r>
                        <a:rPr sz="850" b="0">
                          <a:solidFill>
                            <a:srgbClr val="202020"/>
                          </a:solidFill>
                        </a:rPr>
                        <a:t>0.427</a:t>
                      </a:r>
                    </a:p>
                  </a:txBody>
                  <a:tcPr>
                    <a:solidFill>
                      <a:srgbClr val="E8F0FE"/>
                    </a:solidFill>
                  </a:tcPr>
                </a:tc>
                <a:tc>
                  <a:txBody>
                    <a:bodyPr/>
                    <a:lstStyle/>
                    <a:p>
                      <a:pPr algn="ctr"/>
                      <a:r>
                        <a:rPr sz="850" b="0">
                          <a:solidFill>
                            <a:srgbClr val="202020"/>
                          </a:solidFill>
                        </a:rPr>
                        <a:t>Tied dalam variance (val N/A)</a:t>
                      </a:r>
                    </a:p>
                  </a:txBody>
                  <a:tcPr>
                    <a:solidFill>
                      <a:srgbClr val="E8F0FE"/>
                    </a:solidFill>
                  </a:tcPr>
                </a:tc>
              </a:tr>
              <a:tr h="320040">
                <a:tc>
                  <a:txBody>
                    <a:bodyPr/>
                    <a:lstStyle/>
                    <a:p>
                      <a:pPr algn="l"/>
                      <a:r>
                        <a:rPr sz="850" b="1">
                          <a:solidFill>
                            <a:srgbClr val="202020"/>
                          </a:solidFill>
                        </a:rPr>
                        <a:t>Late Fusion TL 4c (nb 72)</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0.437</a:t>
                      </a:r>
                    </a:p>
                  </a:txBody>
                  <a:tcPr>
                    <a:solidFill>
                      <a:srgbClr val="FFFFFF"/>
                    </a:solidFill>
                  </a:tcPr>
                </a:tc>
                <a:tc>
                  <a:txBody>
                    <a:bodyPr/>
                    <a:lstStyle/>
                    <a:p>
                      <a:pPr algn="ctr"/>
                      <a:r>
                        <a:rPr sz="850" b="0">
                          <a:solidFill>
                            <a:srgbClr val="202020"/>
                          </a:solidFill>
                        </a:rPr>
                        <a:t>&lt; baseline val-tuned 0.466</a:t>
                      </a:r>
                    </a:p>
                  </a:txBody>
                  <a:tcPr>
                    <a:solidFill>
                      <a:srgbClr val="FFFFFF"/>
                    </a:solidFill>
                  </a:tcPr>
                </a:tc>
              </a:tr>
              <a:tr h="320040">
                <a:tc>
                  <a:txBody>
                    <a:bodyPr/>
                    <a:lstStyle/>
                    <a:p>
                      <a:pPr algn="l"/>
                      <a:r>
                        <a:rPr sz="850" b="1">
                          <a:solidFill>
                            <a:srgbClr val="202020"/>
                          </a:solidFill>
                        </a:rPr>
                        <a:t>Intermediate TL 4c B1 (nb 78)</a:t>
                      </a:r>
                    </a:p>
                  </a:txBody>
                  <a:tcPr>
                    <a:solidFill>
                      <a:srgbClr val="E8F0FE"/>
                    </a:solidFill>
                  </a:tcPr>
                </a:tc>
                <a:tc>
                  <a:txBody>
                    <a:bodyPr/>
                    <a:lstStyle/>
                    <a:p>
                      <a:pPr algn="ctr"/>
                      <a:r>
                        <a:rPr sz="850" b="0">
                          <a:solidFill>
                            <a:srgbClr val="202020"/>
                          </a:solidFill>
                        </a:rPr>
                        <a:t>0.485</a:t>
                      </a:r>
                    </a:p>
                  </a:txBody>
                  <a:tcPr>
                    <a:solidFill>
                      <a:srgbClr val="E8F0FE"/>
                    </a:solidFill>
                  </a:tcPr>
                </a:tc>
                <a:tc>
                  <a:txBody>
                    <a:bodyPr/>
                    <a:lstStyle/>
                    <a:p>
                      <a:pPr algn="ctr"/>
                      <a:r>
                        <a:rPr sz="850" b="0">
                          <a:solidFill>
                            <a:srgbClr val="202020"/>
                          </a:solidFill>
                        </a:rPr>
                        <a:t>0.453</a:t>
                      </a:r>
                    </a:p>
                  </a:txBody>
                  <a:tcPr>
                    <a:solidFill>
                      <a:srgbClr val="E8F0FE"/>
                    </a:solidFill>
                  </a:tcPr>
                </a:tc>
                <a:tc>
                  <a:txBody>
                    <a:bodyPr/>
                    <a:lstStyle/>
                    <a:p>
                      <a:pPr algn="ctr"/>
                      <a:r>
                        <a:rPr sz="850" b="0">
                          <a:solidFill>
                            <a:srgbClr val="202020"/>
                          </a:solidFill>
                        </a:rPr>
                        <a:t>Hard CE juara by val (0.480)</a:t>
                      </a:r>
                    </a:p>
                  </a:txBody>
                  <a:tcPr>
                    <a:solidFill>
                      <a:srgbClr val="E8F0FE"/>
                    </a:solidFill>
                  </a:tcPr>
                </a:tc>
              </a:tr>
              <a:tr h="320040">
                <a:tc>
                  <a:txBody>
                    <a:bodyPr/>
                    <a:lstStyle/>
                    <a:p>
                      <a:pPr algn="l"/>
                      <a:r>
                        <a:rPr sz="850" b="1">
                          <a:solidFill>
                            <a:srgbClr val="202020"/>
                          </a:solidFill>
                        </a:rPr>
                        <a:t>Variance single-seed</a:t>
                      </a:r>
                    </a:p>
                  </a:txBody>
                  <a:tcPr>
                    <a:solidFill>
                      <a:srgbClr val="FFFFFF"/>
                    </a:solidFill>
                  </a:tcPr>
                </a:tc>
                <a:tc>
                  <a:txBody>
                    <a:bodyPr/>
                    <a:lstStyle/>
                    <a:p>
                      <a:pPr algn="ctr"/>
                      <a:r>
                        <a:rPr sz="850" b="0">
                          <a:solidFill>
                            <a:srgbClr val="202020"/>
                          </a:solidFill>
                        </a:rPr>
                        <a:t>±0.05-0.09</a:t>
                      </a:r>
                    </a:p>
                  </a:txBody>
                  <a:tcPr>
                    <a:solidFill>
                      <a:srgbClr val="FFFFFF"/>
                    </a:solidFill>
                  </a:tcPr>
                </a:tc>
                <a:tc>
                  <a:txBody>
                    <a:bodyPr/>
                    <a:lstStyle/>
                    <a:p>
                      <a:pPr algn="ctr"/>
                      <a:r>
                        <a:rPr sz="850" b="0">
                          <a:solidFill>
                            <a:srgbClr val="202020"/>
                          </a:solidFill>
                        </a:rPr>
                        <a:t>—</a:t>
                      </a:r>
                    </a:p>
                  </a:txBody>
                  <a:tcPr>
                    <a:solidFill>
                      <a:srgbClr val="FFFFFF"/>
                    </a:solidFill>
                  </a:tcPr>
                </a:tc>
                <a:tc>
                  <a:txBody>
                    <a:bodyPr/>
                    <a:lstStyle/>
                    <a:p>
                      <a:pPr algn="ctr"/>
                      <a:r>
                        <a:rPr sz="850" b="0">
                          <a:solidFill>
                            <a:srgbClr val="202020"/>
                          </a:solidFill>
                        </a:rPr>
                        <a:t>khas DL — multi-seed needed</a:t>
                      </a:r>
                    </a:p>
                  </a:txBody>
                  <a:tcPr>
                    <a:solidFill>
                      <a:srgbClr val="FFFFFF"/>
                    </a:solidFill>
                  </a:tcPr>
                </a:tc>
              </a:tr>
              <a:tr h="320040">
                <a:tc>
                  <a:txBody>
                    <a:bodyPr/>
                    <a:lstStyle/>
                    <a:p>
                      <a:pPr algn="l"/>
                      <a:r>
                        <a:rPr sz="850" b="1">
                          <a:solidFill>
                            <a:srgbClr val="202020"/>
                          </a:solidFill>
                        </a:rPr>
                        <a:t>Hipotesis</a:t>
                      </a:r>
                    </a:p>
                  </a:txBody>
                  <a:tcPr>
                    <a:solidFill>
                      <a:srgbClr val="E6F4EA"/>
                    </a:solidFill>
                  </a:tcPr>
                </a:tc>
                <a:tc>
                  <a:txBody>
                    <a:bodyPr/>
                    <a:lstStyle/>
                    <a:p>
                      <a:pPr algn="ctr"/>
                      <a:r>
                        <a:rPr sz="850" b="0">
                          <a:solidFill>
                            <a:srgbClr val="202020"/>
                          </a:solidFill>
                        </a:rPr>
                        <a:t>Tidak terkonfirmasi</a:t>
                      </a:r>
                    </a:p>
                  </a:txBody>
                  <a:tcPr>
                    <a:solidFill>
                      <a:srgbClr val="E6F4EA"/>
                    </a:solidFill>
                  </a:tcPr>
                </a:tc>
                <a:tc>
                  <a:txBody>
                    <a:bodyPr/>
                    <a:lstStyle/>
                    <a:p>
                      <a:pPr algn="ctr"/>
                      <a:r>
                        <a:rPr sz="850" b="0">
                          <a:solidFill>
                            <a:srgbClr val="202020"/>
                          </a:solidFill>
                        </a:rPr>
                        <a:t>—</a:t>
                      </a:r>
                    </a:p>
                  </a:txBody>
                  <a:tcPr>
                    <a:solidFill>
                      <a:srgbClr val="E6F4EA"/>
                    </a:solidFill>
                  </a:tcPr>
                </a:tc>
                <a:tc>
                  <a:txBody>
                    <a:bodyPr/>
                    <a:lstStyle/>
                    <a:p>
                      <a:pPr algn="ctr"/>
                      <a:r>
                        <a:rPr sz="850" b="0">
                          <a:solidFill>
                            <a:srgbClr val="202020"/>
                          </a:solidFill>
                        </a:rPr>
                        <a:t>STOP eksplorasi</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Konsolidasi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T41: Single-seed variance ±0.05-0.09 — terlalu besar untuk klaim marginal</a:t>
            </a:r>
          </a:p>
          <a:p>
            <a:r>
              <a:rPr sz="900" b="0"/>
              <a:t>Gap antar loss config 0.02-0.03, di bawah variance. Mustahil klaim "soft label menang" tanpa multi-seed (3-5 run minimum).</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T42: KL-div juara 0.517 di run sebelumnya adalah fluke</a:t>
            </a:r>
          </a:p>
          <a:p>
            <a:r>
              <a:rPr sz="900" b="0"/>
              <a:t>Re-run dengan setup konsisten kasih KL-div = 0.427 di CNN TL (selisih 0.09 dari run lama) — manifestasi pure seed/convergence variance.</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T43: Soft label tidak transfer ke fusion</a:t>
            </a:r>
          </a:p>
          <a:p>
            <a:r>
              <a:rPr sz="900" b="0"/>
              <a:t>Late Fusion TL gagal (0.432-0.437 vs baseline 0.466). Intermediate TL: Hard CE menang by val. Modality interaction dominates over loss-function nuance.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T44: Status — stop eksplorasi soft label</a:t>
            </a:r>
          </a:p>
          <a:p>
            <a:r>
              <a:rPr sz="900" b="0"/>
              <a:t>Hipotesis tidak terkonfirmasi. Fokus pindah ke Geometric Features (Liliana Table 3) + GCN Preprocessing (Pitaloka 2017) yang potensinya lebih jelas.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i="0"/>
              <a:t>SLIDE 34: GradCAM Observasi Awal (Eksplorasi, nb 73)</a:t>
            </a:r>
          </a:p>
        </p:txBody>
      </p:sp>
      <p:sp>
        <p:nvSpPr>
          <p:cNvPr id="3" name="TextBox 2"/>
          <p:cNvSpPr txBox="1"/>
          <p:nvPr/>
        </p:nvSpPr>
        <p:spPr>
          <a:xfrm>
            <a:off x="274320" y="475488"/>
            <a:ext cx="8595360" cy="256032"/>
          </a:xfrm>
          <a:prstGeom prst="rect">
            <a:avLst/>
          </a:prstGeom>
          <a:noFill/>
        </p:spPr>
        <p:txBody>
          <a:bodyPr wrap="square" lIns="0" rIns="0" tIns="0" bIns="0">
            <a:spAutoFit/>
          </a:bodyPr>
          <a:lstStyle/>
          <a:p>
            <a:r>
              <a:rPr sz="950" b="0" i="1">
                <a:solidFill>
                  <a:srgbClr val="555555"/>
                </a:solidFill>
              </a:rPr>
              <a:t>Visualisasi region citra paling berpengaruh per prediksi kelas — bandingkan 2 model di 8 sampel (2 per kelas × 4 kelas).</a:t>
            </a:r>
          </a:p>
        </p:txBody>
      </p:sp>
      <p:pic>
        <p:nvPicPr>
          <p:cNvPr id="4" name="Picture 3" descr="cnn_tl_4c_b1_baseline.png"/>
          <p:cNvPicPr>
            <a:picLocks noChangeAspect="1"/>
          </p:cNvPicPr>
          <p:nvPr/>
        </p:nvPicPr>
        <p:blipFill>
          <a:blip r:embed="rId2"/>
          <a:stretch>
            <a:fillRect/>
          </a:stretch>
        </p:blipFill>
        <p:spPr>
          <a:xfrm>
            <a:off x="228600" y="822960"/>
            <a:ext cx="4206240" cy="2176272"/>
          </a:xfrm>
          <a:prstGeom prst="rect">
            <a:avLst/>
          </a:prstGeom>
        </p:spPr>
      </p:pic>
      <p:sp>
        <p:nvSpPr>
          <p:cNvPr id="5" name="TextBox 4"/>
          <p:cNvSpPr txBox="1"/>
          <p:nvPr/>
        </p:nvSpPr>
        <p:spPr>
          <a:xfrm>
            <a:off x="228600" y="2999232"/>
            <a:ext cx="4206240" cy="228600"/>
          </a:xfrm>
          <a:prstGeom prst="rect">
            <a:avLst/>
          </a:prstGeom>
          <a:noFill/>
        </p:spPr>
        <p:txBody>
          <a:bodyPr wrap="square" lIns="0" rIns="0" tIns="0" bIns="0">
            <a:spAutoFit/>
          </a:bodyPr>
          <a:lstStyle/>
          <a:p>
            <a:r>
              <a:rPr sz="900" b="1" i="0"/>
              <a:t>CNN TL 4c B1 (single-modal, Macro F1 = 0.456)</a:t>
            </a:r>
          </a:p>
        </p:txBody>
      </p:sp>
      <p:pic>
        <p:nvPicPr>
          <p:cNvPr id="6" name="Picture 5" descr="intermediate_tl_4c_b3_img_branch.png"/>
          <p:cNvPicPr>
            <a:picLocks noChangeAspect="1"/>
          </p:cNvPicPr>
          <p:nvPr/>
        </p:nvPicPr>
        <p:blipFill>
          <a:blip r:embed="rId3"/>
          <a:stretch>
            <a:fillRect/>
          </a:stretch>
        </p:blipFill>
        <p:spPr>
          <a:xfrm>
            <a:off x="4709160" y="822960"/>
            <a:ext cx="4206240" cy="2176272"/>
          </a:xfrm>
          <a:prstGeom prst="rect">
            <a:avLst/>
          </a:prstGeom>
        </p:spPr>
      </p:pic>
      <p:sp>
        <p:nvSpPr>
          <p:cNvPr id="7" name="TextBox 6"/>
          <p:cNvSpPr txBox="1"/>
          <p:nvPr/>
        </p:nvSpPr>
        <p:spPr>
          <a:xfrm>
            <a:off x="4709160" y="2999232"/>
            <a:ext cx="4206240" cy="228600"/>
          </a:xfrm>
          <a:prstGeom prst="rect">
            <a:avLst/>
          </a:prstGeom>
          <a:noFill/>
        </p:spPr>
        <p:txBody>
          <a:bodyPr wrap="square" lIns="0" rIns="0" tIns="0" bIns="0">
            <a:spAutoFit/>
          </a:bodyPr>
          <a:lstStyle/>
          <a:p>
            <a:r>
              <a:rPr sz="900" b="1" i="0"/>
              <a:t>Intermediate TL 4c B3 image branch (juara val-tuned, Macro F1 = 0.521)</a:t>
            </a:r>
          </a:p>
        </p:txBody>
      </p:sp>
      <p:sp>
        <p:nvSpPr>
          <p:cNvPr id="8" name="TextBox 7"/>
          <p:cNvSpPr txBox="1"/>
          <p:nvPr/>
        </p:nvSpPr>
        <p:spPr>
          <a:xfrm>
            <a:off x="274320" y="3310128"/>
            <a:ext cx="8595360" cy="731520"/>
          </a:xfrm>
          <a:prstGeom prst="rect">
            <a:avLst/>
          </a:prstGeom>
          <a:noFill/>
        </p:spPr>
        <p:txBody>
          <a:bodyPr wrap="square" lIns="0" rIns="0" tIns="0" bIns="0">
            <a:spAutoFit/>
          </a:bodyPr>
          <a:lstStyle/>
          <a:p>
            <a:r>
              <a:rPr sz="950" b="0" i="0"/>
              <a:t>Observasi qualitative: CNN baseline → fokus tersebar ke non-emosi region (aksesori, tangan, pundak, background). Intermediate TL image branch → fokus konsisten di mouth-nose region di 8/8 sampel, bahkan saat occlusion (tangan menutup mulut).</a:t>
            </a:r>
          </a:p>
        </p:txBody>
      </p:sp>
      <p:sp>
        <p:nvSpPr>
          <p:cNvPr id="9" name="TextBox 8"/>
          <p:cNvSpPr txBox="1"/>
          <p:nvPr/>
        </p:nvSpPr>
        <p:spPr>
          <a:xfrm>
            <a:off x="274320" y="4069080"/>
            <a:ext cx="8595360" cy="1005840"/>
          </a:xfrm>
          <a:prstGeom prst="rect">
            <a:avLst/>
          </a:prstGeom>
          <a:noFill/>
        </p:spPr>
        <p:txBody>
          <a:bodyPr wrap="square" lIns="0" rIns="0" tIns="0" bIns="0">
            <a:spAutoFit/>
          </a:bodyPr>
          <a:lstStyle/>
          <a:p>
            <a:r>
              <a:rPr sz="850" b="0" i="1">
                <a:solidFill>
                  <a:srgbClr val="555555"/>
                </a:solidFill>
              </a:rPr>
              <a:t>Keterbatasan metodologi (penting): (1) hanya 2 sampel/kelas — representativeness rendah; (2) single seed — variance antar run belum diketahui; (3) qualitative only — belum ada quantitative measure (mis. mean activation di mouth bounding box ≥50 sampel/kelas); (4) belum ada baseline sanity check (random-init model). Observasi awal ini belum cukup untuk klaim general — bukan finding paper/tesis, sekadar eksplorasi.</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35: Space Alignment (arahan dosen #2, nb 75)</a:t>
            </a:r>
          </a:p>
        </p:txBody>
      </p:sp>
      <p:sp>
        <p:nvSpPr>
          <p:cNvPr id="3" name="TextBox 2"/>
          <p:cNvSpPr txBox="1"/>
          <p:nvPr/>
        </p:nvSpPr>
        <p:spPr>
          <a:xfrm>
            <a:off x="274320" y="457200"/>
            <a:ext cx="8595360" cy="292608"/>
          </a:xfrm>
          <a:prstGeom prst="rect">
            <a:avLst/>
          </a:prstGeom>
          <a:noFill/>
        </p:spPr>
        <p:txBody>
          <a:bodyPr wrap="square" lIns="0" rIns="0" tIns="0" bIns="0">
            <a:spAutoFit/>
          </a:bodyPr>
          <a:lstStyle/>
          <a:p>
            <a:r>
              <a:rPr sz="950" b="0">
                <a:solidFill>
                  <a:srgbClr val="555555"/>
                </a:solidFill>
              </a:rPr>
              <a:t>Evaluasi alignment feature space CNN TL (256-d) vs FCNN (128-d) — 4 metode analitis di test set Primer n=929. Positive result, methodology-clean.</a:t>
            </a:r>
          </a:p>
        </p:txBody>
      </p:sp>
      <p:pic>
        <p:nvPicPr>
          <p:cNvPr id="4" name="Picture 3" descr="cca_correlations.png"/>
          <p:cNvPicPr>
            <a:picLocks noChangeAspect="1"/>
          </p:cNvPicPr>
          <p:nvPr/>
        </p:nvPicPr>
        <p:blipFill>
          <a:blip r:embed="rId2"/>
          <a:stretch>
            <a:fillRect/>
          </a:stretch>
        </p:blipFill>
        <p:spPr>
          <a:xfrm>
            <a:off x="228600" y="822960"/>
            <a:ext cx="4206240" cy="2057400"/>
          </a:xfrm>
          <a:prstGeom prst="rect">
            <a:avLst/>
          </a:prstGeom>
        </p:spPr>
      </p:pic>
      <p:sp>
        <p:nvSpPr>
          <p:cNvPr id="5" name="TextBox 4"/>
          <p:cNvSpPr txBox="1"/>
          <p:nvPr/>
        </p:nvSpPr>
        <p:spPr>
          <a:xfrm>
            <a:off x="228600" y="2907792"/>
            <a:ext cx="4206240" cy="228600"/>
          </a:xfrm>
          <a:prstGeom prst="rect">
            <a:avLst/>
          </a:prstGeom>
          <a:noFill/>
        </p:spPr>
        <p:txBody>
          <a:bodyPr wrap="square" lIns="0" rIns="0" tIns="0" bIns="0">
            <a:spAutoFit/>
          </a:bodyPr>
          <a:lstStyle/>
          <a:p>
            <a:r>
              <a:rPr sz="900" b="1"/>
              <a:t>CCA correlations — top-5 mean = 0.978</a:t>
            </a:r>
          </a:p>
        </p:txBody>
      </p:sp>
      <p:pic>
        <p:nvPicPr>
          <p:cNvPr id="6" name="Picture 5" descr="retrieval_topk.png"/>
          <p:cNvPicPr>
            <a:picLocks noChangeAspect="1"/>
          </p:cNvPicPr>
          <p:nvPr/>
        </p:nvPicPr>
        <p:blipFill>
          <a:blip r:embed="rId3"/>
          <a:stretch>
            <a:fillRect/>
          </a:stretch>
        </p:blipFill>
        <p:spPr>
          <a:xfrm>
            <a:off x="4709160" y="822960"/>
            <a:ext cx="4206240" cy="2057400"/>
          </a:xfrm>
          <a:prstGeom prst="rect">
            <a:avLst/>
          </a:prstGeom>
        </p:spPr>
      </p:pic>
      <p:sp>
        <p:nvSpPr>
          <p:cNvPr id="7" name="TextBox 6"/>
          <p:cNvSpPr txBox="1"/>
          <p:nvPr/>
        </p:nvSpPr>
        <p:spPr>
          <a:xfrm>
            <a:off x="4709160" y="2907792"/>
            <a:ext cx="4206240" cy="228600"/>
          </a:xfrm>
          <a:prstGeom prst="rect">
            <a:avLst/>
          </a:prstGeom>
          <a:noFill/>
        </p:spPr>
        <p:txBody>
          <a:bodyPr wrap="square" lIns="0" rIns="0" tIns="0" bIns="0">
            <a:spAutoFit/>
          </a:bodyPr>
          <a:lstStyle/>
          <a:p>
            <a:r>
              <a:rPr sz="900" b="1"/>
              <a:t>Cross-modal retrieval — top-5 = 95.3% (random = 0.54%)</a:t>
            </a:r>
          </a:p>
        </p:txBody>
      </p:sp>
      <p:sp>
        <p:nvSpPr>
          <p:cNvPr id="8" name="TextBox 7"/>
          <p:cNvSpPr txBox="1"/>
          <p:nvPr/>
        </p:nvSpPr>
        <p:spPr>
          <a:xfrm>
            <a:off x="274320" y="3218688"/>
            <a:ext cx="8595360" cy="685800"/>
          </a:xfrm>
          <a:prstGeom prst="rect">
            <a:avLst/>
          </a:prstGeom>
          <a:noFill/>
        </p:spPr>
        <p:txBody>
          <a:bodyPr wrap="square" lIns="0" rIns="0" tIns="0" bIns="0">
            <a:spAutoFit/>
          </a:bodyPr>
          <a:lstStyle/>
          <a:p>
            <a:r>
              <a:rPr sz="950" b="1"/>
              <a:t>Metrik Kunci:</a:t>
            </a:r>
          </a:p>
          <a:p>
            <a:r>
              <a:rPr sz="900" b="0"/>
              <a:t>• CCA top-5 mean = 0.978  (strong linear alignment, well above 0.5 threshold)</a:t>
            </a:r>
          </a:p>
          <a:p>
            <a:r>
              <a:rPr sz="900" b="0"/>
              <a:t>• Paired cosine overall = 0.939  |  per-class konsisten 0.937-0.951 (termasuk minoritas negative n=8)</a:t>
            </a:r>
          </a:p>
          <a:p>
            <a:r>
              <a:rPr sz="900" b="0"/>
              <a:t>• Cross-modal retrieval top-1 = 0.670, top-5 = 0.953, top-20 = 1.000  (random baseline top-5 = 0.005)</a:t>
            </a:r>
          </a:p>
        </p:txBody>
      </p:sp>
      <p:sp>
        <p:nvSpPr>
          <p:cNvPr id="9" name="TextBox 8"/>
          <p:cNvSpPr txBox="1"/>
          <p:nvPr/>
        </p:nvSpPr>
        <p:spPr>
          <a:xfrm>
            <a:off x="274320" y="3950208"/>
            <a:ext cx="8595360" cy="594360"/>
          </a:xfrm>
          <a:prstGeom prst="rect">
            <a:avLst/>
          </a:prstGeom>
          <a:noFill/>
        </p:spPr>
        <p:txBody>
          <a:bodyPr wrap="square" lIns="0" rIns="0" tIns="0" bIns="0">
            <a:spAutoFit/>
          </a:bodyPr>
          <a:lstStyle/>
          <a:p>
            <a:r>
              <a:rPr sz="950" b="1"/>
              <a:t>Interpretasi:</a:t>
            </a:r>
          </a:p>
          <a:p>
            <a:r>
              <a:rPr sz="850" b="0"/>
              <a:t>Image dan landmark stream belajar representasi yang nyaris co-linear di latent space — justifikasi empiris untuk Intermediate Fusion (concat). Konsisten dengan Intermediate TL juara val-tuned 4c (0.521) &gt; Late Fusion TL (0.466). Streams semantically paired meskipun modality berbeda.</a:t>
            </a:r>
          </a:p>
        </p:txBody>
      </p:sp>
      <p:sp>
        <p:nvSpPr>
          <p:cNvPr id="10" name="TextBox 9"/>
          <p:cNvSpPr txBox="1"/>
          <p:nvPr/>
        </p:nvSpPr>
        <p:spPr>
          <a:xfrm>
            <a:off x="274320" y="4617720"/>
            <a:ext cx="8595360" cy="411480"/>
          </a:xfrm>
          <a:prstGeom prst="rect">
            <a:avLst/>
          </a:prstGeom>
          <a:noFill/>
        </p:spPr>
        <p:txBody>
          <a:bodyPr wrap="square" lIns="0" rIns="0" tIns="0" bIns="0">
            <a:spAutoFit/>
          </a:bodyPr>
          <a:lstStyle/>
          <a:p>
            <a:r>
              <a:rPr sz="850" b="1">
                <a:solidFill>
                  <a:srgbClr val="1F3A5F"/>
                </a:solidFill>
              </a:rPr>
              <a:t>Status: Positive result, methodology-clean (analytical, no seed variance). Siap dimasukkan ke paper/tesis Section Discussion sebagai empirical justification fusion strategy.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&amp; Status Eksplorasi Lanjutan (Fokus Arahan Dosen)</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3-class Late Fusion TL B3 = Macro F1 0.623 (val-tuned, nb 79) — reframe dari 4c.</a:t>
            </a:r>
          </a:p>
          <a:p>
            <a:r>
              <a:rPr sz="950" b="0"/>
              <a:t>Status 4 arahan dosen + turunan paper. Arahan diprioritaskan.</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Arahan Dosen (4 item)</a:t>
            </a:r>
          </a:p>
          <a:p>
            <a:r>
              <a:rPr sz="300" b="0"/>
              <a:t/>
            </a:r>
          </a:p>
          <a:p>
            <a:r>
              <a:rPr sz="950" b="1"/>
              <a:t>(1) GradCAM ✅ DONE (nb 73) — observational</a:t>
            </a:r>
          </a:p>
          <a:p>
            <a:r>
              <a:rPr sz="950" b="1"/>
              <a:t>(2) Space Alignment ✅ DONE (nb 75)</a:t>
            </a:r>
          </a:p>
          <a:p>
            <a:r>
              <a:rPr sz="850" b="0"/>
              <a:t>   → positive result: CCA top-5 = 0.978, siap paper</a:t>
            </a:r>
          </a:p>
          <a:p>
            <a:r>
              <a:rPr sz="950" b="1"/>
              <a:t>(3) Attention Module (CBAM) 🔄 nb 80 prepared</a:t>
            </a:r>
          </a:p>
          <a:p>
            <a:r>
              <a:rPr sz="850" b="0"/>
              <a:t>   → target beat 3c LF TL B3 (0.623), ~4-5 jam VPS</a:t>
            </a:r>
          </a:p>
          <a:p>
            <a:r>
              <a:rPr sz="950" b="1"/>
              <a:t>(4) Geometric Features (Liliana 2019) ⏳ belum</a:t>
            </a:r>
          </a:p>
          <a:p>
            <a:r>
              <a:rPr sz="850" b="0"/>
              <a:t>   → 20-d GF Table 3, est. 2-3 hari</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Turunan + Eksplorasi Lain</a:t>
            </a:r>
          </a:p>
          <a:p>
            <a:r>
              <a:rPr sz="300" b="0"/>
              <a:t/>
            </a:r>
          </a:p>
          <a:p>
            <a:r>
              <a:rPr sz="900" b="1"/>
              <a:t>Soft Label (nb 71/72/78) ✅ CLOSED — negative result</a:t>
            </a:r>
          </a:p>
          <a:p>
            <a:r>
              <a:rPr sz="300" b="0"/>
              <a:t/>
            </a:r>
          </a:p>
          <a:p>
            <a:r>
              <a:rPr sz="900" b="1"/>
              <a:t>3-Class Exploration (nb 79) ✅ DONE — positive</a:t>
            </a:r>
          </a:p>
          <a:p>
            <a:r>
              <a:rPr sz="850" b="0"/>
              <a:t>   → +0.10 Macro F1 vs 4c, reframe paper</a:t>
            </a:r>
          </a:p>
          <a:p>
            <a:r>
              <a:rPr sz="300" b="0"/>
              <a:t/>
            </a:r>
          </a:p>
          <a:p>
            <a:r>
              <a:rPr sz="900" b="1"/>
              <a:t>Pitaloka 2017 GCN Ablation ⏳ belum</a:t>
            </a:r>
          </a:p>
          <a:p>
            <a:r>
              <a:rPr sz="850" b="0"/>
              <a:t>   → quick win 0.5-1 hari</a:t>
            </a:r>
          </a:p>
          <a:p>
            <a:r>
              <a:rPr sz="300" b="0"/>
              <a:t/>
            </a:r>
          </a:p>
          <a:p>
            <a:r>
              <a:rPr sz="900" b="1"/>
              <a:t>Liliana 2019 FEIS Fuzzy Rule ⏳ belum</a:t>
            </a:r>
          </a:p>
          <a:p>
            <a:r>
              <a:rPr sz="850" b="0"/>
              <a:t>   → non-DL baseline, est. 2-3 hari</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Urutan eksekusi rekomendasi:</a:t>
            </a:r>
          </a:p>
          <a:p>
            <a:r>
              <a:rPr sz="300" b="0"/>
              <a:t/>
            </a:r>
          </a:p>
          <a:p>
            <a:r>
              <a:rPr sz="900" b="0"/>
              <a:t>(3) Attention CBAM (nb 80 queued) → (4) Geometric Features → Pitaloka GCN → FEIS. Semua berbasis val-based selection, bandingkan vs 3-class baseline 0.623.</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Apr 2026: 3/4 arahan dosen (1, 2) + 3-class DONE  |  (3) queued (nb 80)  |  (4) + 2 turunan paper belum dimulai  |  Detail: docs/eksplorasi_lanjutan.md, bimbingan_progress.md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365760"/>
          </a:xfrm>
          <a:prstGeom prst="rect">
            <a:avLst/>
          </a:prstGeom>
          <a:noFill/>
        </p:spPr>
        <p:txBody>
          <a:bodyPr wrap="square" lIns="0" rIns="0" tIns="0" bIns="0">
            <a:spAutoFit/>
          </a:bodyPr>
          <a:lstStyle/>
          <a:p>
            <a:r>
              <a:rPr sz="1800" b="1"/>
              <a:t>Pertanyaan Bimbingan — Update Paper</a:t>
            </a:r>
          </a:p>
        </p:txBody>
      </p:sp>
      <p:sp>
        <p:nvSpPr>
          <p:cNvPr id="3" name="TextBox 2"/>
          <p:cNvSpPr txBox="1"/>
          <p:nvPr/>
        </p:nvSpPr>
        <p:spPr>
          <a:xfrm>
            <a:off x="274320" y="548640"/>
            <a:ext cx="8595360" cy="320040"/>
          </a:xfrm>
          <a:prstGeom prst="rect">
            <a:avLst/>
          </a:prstGeom>
          <a:noFill/>
        </p:spPr>
        <p:txBody>
          <a:bodyPr wrap="square" lIns="0" rIns="0" tIns="0" bIns="0">
            <a:spAutoFit/>
          </a:bodyPr>
          <a:lstStyle/>
          <a:p>
            <a:r>
              <a:rPr sz="1300" b="1">
                <a:solidFill>
                  <a:srgbClr val="2E5E96"/>
                </a:solidFill>
              </a:rPr>
              <a:t>1. Paper EECCIS 2026 (Accepted)</a:t>
            </a:r>
          </a:p>
        </p:txBody>
      </p:sp>
      <p:sp>
        <p:nvSpPr>
          <p:cNvPr id="4" name="TextBox 3"/>
          <p:cNvSpPr txBox="1"/>
          <p:nvPr/>
        </p:nvSpPr>
        <p:spPr>
          <a:xfrm>
            <a:off x="274320" y="896112"/>
            <a:ext cx="8595360" cy="274320"/>
          </a:xfrm>
          <a:prstGeom prst="rect">
            <a:avLst/>
          </a:prstGeom>
          <a:noFill/>
        </p:spPr>
        <p:txBody>
          <a:bodyPr wrap="square" lIns="0" rIns="0" tIns="0" bIns="0">
            <a:spAutoFit/>
          </a:bodyPr>
          <a:lstStyle/>
          <a:p>
            <a:r>
              <a:rPr sz="1000" b="0"/>
              <a:t>Judul: "Automated Engagement Assessment in Block-Based Programming Using Facial Emotion Recognition"</a:t>
            </a:r>
          </a:p>
        </p:txBody>
      </p:sp>
      <p:sp>
        <p:nvSpPr>
          <p:cNvPr id="5" name="TextBox 4"/>
          <p:cNvSpPr txBox="1"/>
          <p:nvPr/>
        </p:nvSpPr>
        <p:spPr>
          <a:xfrm>
            <a:off x="274320" y="1188720"/>
            <a:ext cx="8595360" cy="1005840"/>
          </a:xfrm>
          <a:prstGeom prst="rect">
            <a:avLst/>
          </a:prstGeom>
          <a:noFill/>
        </p:spPr>
        <p:txBody>
          <a:bodyPr wrap="square" lIns="0" rIns="0" tIns="0" bIns="0">
            <a:spAutoFit/>
          </a:bodyPr>
          <a:lstStyle/>
          <a:p>
            <a:r>
              <a:rPr sz="1000" b="1"/>
              <a:t>Pertanyaan:</a:t>
            </a:r>
          </a:p>
          <a:p>
            <a:r>
              <a:rPr sz="950" b="0"/>
              <a:t>• Langkah-langkah revisi final manuscript — apa yang perlu diperhatikan dari reviewer comments?</a:t>
            </a:r>
          </a:p>
          <a:p>
            <a:r>
              <a:rPr sz="950" b="0"/>
              <a:t>• Proses registrasi konferensi — deadline, author registration, early-bird fee?</a:t>
            </a:r>
          </a:p>
          <a:p>
            <a:r>
              <a:rPr sz="950" b="0"/>
              <a:t>• Mekanisme pengajuan pendanaan untuk biaya konferensi — apakah ada skema dari fakultas/universitas?</a:t>
            </a:r>
          </a:p>
        </p:txBody>
      </p:sp>
      <p:sp>
        <p:nvSpPr>
          <p:cNvPr id="6" name="TextBox 5"/>
          <p:cNvSpPr txBox="1"/>
          <p:nvPr/>
        </p:nvSpPr>
        <p:spPr>
          <a:xfrm>
            <a:off x="274320" y="2331720"/>
            <a:ext cx="8595360" cy="320040"/>
          </a:xfrm>
          <a:prstGeom prst="rect">
            <a:avLst/>
          </a:prstGeom>
          <a:noFill/>
        </p:spPr>
        <p:txBody>
          <a:bodyPr wrap="square" lIns="0" rIns="0" tIns="0" bIns="0">
            <a:spAutoFit/>
          </a:bodyPr>
          <a:lstStyle/>
          <a:p>
            <a:r>
              <a:rPr sz="1300" b="1">
                <a:solidFill>
                  <a:srgbClr val="A87143"/>
                </a:solidFill>
              </a:rPr>
              <a:t>2. Paper JITeCS (Draft)</a:t>
            </a:r>
          </a:p>
        </p:txBody>
      </p:sp>
      <p:sp>
        <p:nvSpPr>
          <p:cNvPr id="7" name="TextBox 6"/>
          <p:cNvSpPr txBox="1"/>
          <p:nvPr/>
        </p:nvSpPr>
        <p:spPr>
          <a:xfrm>
            <a:off x="274320" y="2679192"/>
            <a:ext cx="8595360" cy="274320"/>
          </a:xfrm>
          <a:prstGeom prst="rect">
            <a:avLst/>
          </a:prstGeom>
          <a:noFill/>
        </p:spPr>
        <p:txBody>
          <a:bodyPr wrap="square" lIns="0" rIns="0" tIns="0" bIns="0">
            <a:spAutoFit/>
          </a:bodyPr>
          <a:lstStyle/>
          <a:p>
            <a:r>
              <a:rPr sz="1000" b="0"/>
              <a:t>Status: Draft selesai — tersimpan di folder Publikasi + Google Drive template</a:t>
            </a:r>
          </a:p>
        </p:txBody>
      </p:sp>
      <p:sp>
        <p:nvSpPr>
          <p:cNvPr id="8" name="TextBox 7"/>
          <p:cNvSpPr txBox="1"/>
          <p:nvPr/>
        </p:nvSpPr>
        <p:spPr>
          <a:xfrm>
            <a:off x="274320" y="2971800"/>
            <a:ext cx="8595360" cy="274320"/>
          </a:xfrm>
          <a:prstGeom prst="rect">
            <a:avLst/>
          </a:prstGeom>
          <a:noFill/>
        </p:spPr>
        <p:txBody>
          <a:bodyPr wrap="square" lIns="0" rIns="0" tIns="0" bIns="0">
            <a:spAutoFit/>
          </a:bodyPr>
          <a:lstStyle/>
          <a:p>
            <a:r>
              <a:rPr sz="850" b="0">
                <a:solidFill>
                  <a:srgbClr val="2E5E96"/>
                </a:solidFill>
              </a:rPr>
              <a:t>https://drive.google.com/drive/folders/1tbxb0Vi1AsEuXPxNNkRqECmX24P9Kqfj</a:t>
            </a:r>
          </a:p>
        </p:txBody>
      </p:sp>
      <p:sp>
        <p:nvSpPr>
          <p:cNvPr id="9" name="TextBox 8"/>
          <p:cNvSpPr txBox="1"/>
          <p:nvPr/>
        </p:nvSpPr>
        <p:spPr>
          <a:xfrm>
            <a:off x="274320" y="3291840"/>
            <a:ext cx="8595360" cy="1051560"/>
          </a:xfrm>
          <a:prstGeom prst="rect">
            <a:avLst/>
          </a:prstGeom>
          <a:noFill/>
        </p:spPr>
        <p:txBody>
          <a:bodyPr wrap="square" lIns="0" rIns="0" tIns="0" bIns="0">
            <a:spAutoFit/>
          </a:bodyPr>
          <a:lstStyle/>
          <a:p>
            <a:r>
              <a:rPr sz="1000" b="1"/>
              <a:t>Kendala + pertanyaan:</a:t>
            </a:r>
          </a:p>
          <a:p>
            <a:r>
              <a:rPr sz="950" b="0"/>
              <a:t>• Draft saat ini 14 halaman — melebihi 2 halaman dari batas (12 halaman).</a:t>
            </a:r>
          </a:p>
          <a:p>
            <a:r>
              <a:rPr sz="950" b="0"/>
              <a:t>• Saya belum menemukan bagian yang sebaiknya dipangkas — mohon masukan + review.</a:t>
            </a:r>
          </a:p>
          <a:p>
            <a:r>
              <a:rPr sz="950" b="0"/>
              <a:t>• Apakah ada sesi bimbingan hari ini untuk membahas revisi bersama?</a:t>
            </a:r>
          </a:p>
        </p:txBody>
      </p:sp>
      <p:sp>
        <p:nvSpPr>
          <p:cNvPr id="10" name="TextBox 9"/>
          <p:cNvSpPr txBox="1"/>
          <p:nvPr/>
        </p:nvSpPr>
        <p:spPr>
          <a:xfrm>
            <a:off x="274320" y="4526280"/>
            <a:ext cx="8595360" cy="457200"/>
          </a:xfrm>
          <a:prstGeom prst="rect">
            <a:avLst/>
          </a:prstGeom>
          <a:noFill/>
        </p:spPr>
        <p:txBody>
          <a:bodyPr wrap="square" lIns="0" rIns="0" tIns="0" bIns="0">
            <a:spAutoFit/>
          </a:bodyPr>
          <a:lstStyle/>
          <a:p>
            <a:r>
              <a:rPr sz="1000" b="1">
                <a:solidFill>
                  <a:srgbClr val="555555"/>
                </a:solidFill>
              </a:rPr>
              <a:t>Terima kasih banyak atas bimbingannya, Pak.</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36: 3-Class Exploration (Positive/Neutral/Negative, nb 79)</a:t>
            </a:r>
          </a:p>
        </p:txBody>
      </p:sp>
      <p:sp>
        <p:nvSpPr>
          <p:cNvPr id="3" name="TextBox 2"/>
          <p:cNvSpPr txBox="1"/>
          <p:nvPr/>
        </p:nvSpPr>
        <p:spPr>
          <a:xfrm>
            <a:off x="274320" y="457200"/>
            <a:ext cx="8595360" cy="274320"/>
          </a:xfrm>
          <a:prstGeom prst="rect">
            <a:avLst/>
          </a:prstGeom>
          <a:noFill/>
        </p:spPr>
        <p:txBody>
          <a:bodyPr wrap="square" lIns="0" rIns="0" tIns="0" bIns="0">
            <a:spAutoFit/>
          </a:bodyPr>
          <a:lstStyle/>
          <a:p>
            <a:r>
              <a:rPr sz="950" b="0">
                <a:solidFill>
                  <a:srgbClr val="555555"/>
                </a:solidFill>
              </a:rPr>
              <a:t>4-class mapping arbitrary → 3-class valence (Russell 1980 circumplex). Imbalance 1:14 (4× lebih balanced dari 4c). 5 arch × 3 scenario = 15 configs, val-based selection.</a:t>
            </a:r>
          </a:p>
        </p:txBody>
      </p:sp>
      <p:graphicFrame>
        <p:nvGraphicFramePr>
          <p:cNvPr id="4" name="Table 3"/>
          <p:cNvGraphicFramePr>
            <a:graphicFrameLocks noGrp="1"/>
          </p:cNvGraphicFramePr>
          <p:nvPr/>
        </p:nvGraphicFramePr>
        <p:xfrm>
          <a:off x="274320" y="804672"/>
          <a:ext cx="4846320" cy="3474720"/>
        </p:xfrm>
        <a:graphic>
          <a:graphicData uri="http://schemas.openxmlformats.org/drawingml/2006/table">
            <a:tbl>
              <a:tblPr firstRow="1" bandRow="1">
                <a:tableStyleId>{5C22544A-7EE6-4342-B048-85BDC9FD1C3A}</a:tableStyleId>
              </a:tblPr>
              <a:tblGrid>
                <a:gridCol w="969264"/>
                <a:gridCol w="969264"/>
                <a:gridCol w="969264"/>
                <a:gridCol w="969264"/>
                <a:gridCol w="969264"/>
              </a:tblGrid>
              <a:tr h="217170">
                <a:tc>
                  <a:txBody>
                    <a:bodyPr/>
                    <a:lstStyle/>
                    <a:p>
                      <a:r>
                        <a:rPr sz="800" b="1"/>
                        <a:t>Config</a:t>
                      </a:r>
                    </a:p>
                  </a:txBody>
                  <a:tcPr/>
                </a:tc>
                <a:tc>
                  <a:txBody>
                    <a:bodyPr/>
                    <a:lstStyle/>
                    <a:p>
                      <a:r>
                        <a:rPr sz="800" b="1"/>
                        <a:t>Val F1</a:t>
                      </a:r>
                    </a:p>
                  </a:txBody>
                  <a:tcPr/>
                </a:tc>
                <a:tc>
                  <a:txBody>
                    <a:bodyPr/>
                    <a:lstStyle/>
                    <a:p>
                      <a:r>
                        <a:rPr sz="800" b="1"/>
                        <a:t>Test F1</a:t>
                      </a:r>
                    </a:p>
                  </a:txBody>
                  <a:tcPr/>
                </a:tc>
                <a:tc>
                  <a:txBody>
                    <a:bodyPr/>
                    <a:lstStyle/>
                    <a:p>
                      <a:r>
                        <a:rPr sz="800" b="1"/>
                        <a:t>Test Acc</a:t>
                      </a:r>
                    </a:p>
                  </a:txBody>
                  <a:tcPr/>
                </a:tc>
                <a:tc>
                  <a:txBody>
                    <a:bodyPr/>
                    <a:lstStyle/>
                    <a:p>
                      <a:r>
                        <a:rPr sz="800" b="1"/>
                        <a:t>w</a:t>
                      </a:r>
                    </a:p>
                  </a:txBody>
                  <a:tcPr/>
                </a:tc>
              </a:tr>
              <a:tr h="217170">
                <a:tc>
                  <a:txBody>
                    <a:bodyPr/>
                    <a:lstStyle/>
                    <a:p>
                      <a:r>
                        <a:rPr sz="800"/>
                        <a:t>FCNN B1</a:t>
                      </a:r>
                    </a:p>
                  </a:txBody>
                  <a:tcPr/>
                </a:tc>
                <a:tc>
                  <a:txBody>
                    <a:bodyPr/>
                    <a:lstStyle/>
                    <a:p>
                      <a:r>
                        <a:rPr sz="800"/>
                        <a:t>0.603</a:t>
                      </a:r>
                    </a:p>
                  </a:txBody>
                  <a:tcPr/>
                </a:tc>
                <a:tc>
                  <a:txBody>
                    <a:bodyPr/>
                    <a:lstStyle/>
                    <a:p>
                      <a:r>
                        <a:rPr sz="800"/>
                        <a:t>0.589</a:t>
                      </a:r>
                    </a:p>
                  </a:txBody>
                  <a:tcPr/>
                </a:tc>
                <a:tc>
                  <a:txBody>
                    <a:bodyPr/>
                    <a:lstStyle/>
                    <a:p>
                      <a:r>
                        <a:rPr sz="800"/>
                        <a:t>0.741</a:t>
                      </a:r>
                    </a:p>
                  </a:txBody>
                  <a:tcPr/>
                </a:tc>
                <a:tc>
                  <a:txBody>
                    <a:bodyPr/>
                    <a:lstStyle/>
                    <a:p>
                      <a:r>
                        <a:rPr sz="800"/>
                        <a:t>—</a:t>
                      </a:r>
                    </a:p>
                  </a:txBody>
                  <a:tcPr/>
                </a:tc>
              </a:tr>
              <a:tr h="217170">
                <a:tc>
                  <a:txBody>
                    <a:bodyPr/>
                    <a:lstStyle/>
                    <a:p>
                      <a:r>
                        <a:rPr sz="800"/>
                        <a:t>FCNN B2</a:t>
                      </a:r>
                    </a:p>
                  </a:txBody>
                  <a:tcPr/>
                </a:tc>
                <a:tc>
                  <a:txBody>
                    <a:bodyPr/>
                    <a:lstStyle/>
                    <a:p>
                      <a:r>
                        <a:rPr sz="800"/>
                        <a:t>0.564</a:t>
                      </a:r>
                    </a:p>
                  </a:txBody>
                  <a:tcPr/>
                </a:tc>
                <a:tc>
                  <a:txBody>
                    <a:bodyPr/>
                    <a:lstStyle/>
                    <a:p>
                      <a:r>
                        <a:rPr sz="800"/>
                        <a:t>0.575</a:t>
                      </a:r>
                    </a:p>
                  </a:txBody>
                  <a:tcPr/>
                </a:tc>
                <a:tc>
                  <a:txBody>
                    <a:bodyPr/>
                    <a:lstStyle/>
                    <a:p>
                      <a:r>
                        <a:rPr sz="800"/>
                        <a:t>0.702</a:t>
                      </a:r>
                    </a:p>
                  </a:txBody>
                  <a:tcPr/>
                </a:tc>
                <a:tc>
                  <a:txBody>
                    <a:bodyPr/>
                    <a:lstStyle/>
                    <a:p>
                      <a:r>
                        <a:rPr sz="800"/>
                        <a:t>—</a:t>
                      </a:r>
                    </a:p>
                  </a:txBody>
                  <a:tcPr/>
                </a:tc>
              </a:tr>
              <a:tr h="217170">
                <a:tc>
                  <a:txBody>
                    <a:bodyPr/>
                    <a:lstStyle/>
                    <a:p>
                      <a:r>
                        <a:rPr sz="800"/>
                        <a:t>FCNN B3</a:t>
                      </a:r>
                    </a:p>
                  </a:txBody>
                  <a:tcPr/>
                </a:tc>
                <a:tc>
                  <a:txBody>
                    <a:bodyPr/>
                    <a:lstStyle/>
                    <a:p>
                      <a:r>
                        <a:rPr sz="800"/>
                        <a:t>0.619</a:t>
                      </a:r>
                    </a:p>
                  </a:txBody>
                  <a:tcPr/>
                </a:tc>
                <a:tc>
                  <a:txBody>
                    <a:bodyPr/>
                    <a:lstStyle/>
                    <a:p>
                      <a:r>
                        <a:rPr sz="800"/>
                        <a:t>0.634</a:t>
                      </a:r>
                    </a:p>
                  </a:txBody>
                  <a:tcPr/>
                </a:tc>
                <a:tc>
                  <a:txBody>
                    <a:bodyPr/>
                    <a:lstStyle/>
                    <a:p>
                      <a:r>
                        <a:rPr sz="800"/>
                        <a:t>0.749</a:t>
                      </a:r>
                    </a:p>
                  </a:txBody>
                  <a:tcPr/>
                </a:tc>
                <a:tc>
                  <a:txBody>
                    <a:bodyPr/>
                    <a:lstStyle/>
                    <a:p>
                      <a:r>
                        <a:rPr sz="800"/>
                        <a:t>—</a:t>
                      </a:r>
                    </a:p>
                  </a:txBody>
                  <a:tcPr/>
                </a:tc>
              </a:tr>
              <a:tr h="217170">
                <a:tc>
                  <a:txBody>
                    <a:bodyPr/>
                    <a:lstStyle/>
                    <a:p>
                      <a:r>
                        <a:rPr sz="800"/>
                        <a:t>CNN TL B1</a:t>
                      </a:r>
                    </a:p>
                  </a:txBody>
                  <a:tcPr/>
                </a:tc>
                <a:tc>
                  <a:txBody>
                    <a:bodyPr/>
                    <a:lstStyle/>
                    <a:p>
                      <a:r>
                        <a:rPr sz="800"/>
                        <a:t>0.493</a:t>
                      </a:r>
                    </a:p>
                  </a:txBody>
                  <a:tcPr/>
                </a:tc>
                <a:tc>
                  <a:txBody>
                    <a:bodyPr/>
                    <a:lstStyle/>
                    <a:p>
                      <a:r>
                        <a:rPr sz="800"/>
                        <a:t>0.634</a:t>
                      </a:r>
                    </a:p>
                  </a:txBody>
                  <a:tcPr/>
                </a:tc>
                <a:tc>
                  <a:txBody>
                    <a:bodyPr/>
                    <a:lstStyle/>
                    <a:p>
                      <a:r>
                        <a:rPr sz="800"/>
                        <a:t>0.791</a:t>
                      </a:r>
                    </a:p>
                  </a:txBody>
                  <a:tcPr/>
                </a:tc>
                <a:tc>
                  <a:txBody>
                    <a:bodyPr/>
                    <a:lstStyle/>
                    <a:p>
                      <a:r>
                        <a:rPr sz="800"/>
                        <a:t>—</a:t>
                      </a:r>
                    </a:p>
                  </a:txBody>
                  <a:tcPr/>
                </a:tc>
              </a:tr>
              <a:tr h="217170">
                <a:tc>
                  <a:txBody>
                    <a:bodyPr/>
                    <a:lstStyle/>
                    <a:p>
                      <a:r>
                        <a:rPr sz="800"/>
                        <a:t>CNN TL B2</a:t>
                      </a:r>
                    </a:p>
                  </a:txBody>
                  <a:tcPr/>
                </a:tc>
                <a:tc>
                  <a:txBody>
                    <a:bodyPr/>
                    <a:lstStyle/>
                    <a:p>
                      <a:r>
                        <a:rPr sz="800"/>
                        <a:t>0.515</a:t>
                      </a:r>
                    </a:p>
                  </a:txBody>
                  <a:tcPr/>
                </a:tc>
                <a:tc>
                  <a:txBody>
                    <a:bodyPr/>
                    <a:lstStyle/>
                    <a:p>
                      <a:r>
                        <a:rPr sz="800"/>
                        <a:t>0.516</a:t>
                      </a:r>
                    </a:p>
                  </a:txBody>
                  <a:tcPr/>
                </a:tc>
                <a:tc>
                  <a:txBody>
                    <a:bodyPr/>
                    <a:lstStyle/>
                    <a:p>
                      <a:r>
                        <a:rPr sz="800"/>
                        <a:t>0.581</a:t>
                      </a:r>
                    </a:p>
                  </a:txBody>
                  <a:tcPr/>
                </a:tc>
                <a:tc>
                  <a:txBody>
                    <a:bodyPr/>
                    <a:lstStyle/>
                    <a:p>
                      <a:r>
                        <a:rPr sz="800"/>
                        <a:t>—</a:t>
                      </a:r>
                    </a:p>
                  </a:txBody>
                  <a:tcPr/>
                </a:tc>
              </a:tr>
              <a:tr h="217170">
                <a:tc>
                  <a:txBody>
                    <a:bodyPr/>
                    <a:lstStyle/>
                    <a:p>
                      <a:r>
                        <a:rPr sz="800"/>
                        <a:t>CNN TL B3</a:t>
                      </a:r>
                    </a:p>
                  </a:txBody>
                  <a:tcPr/>
                </a:tc>
                <a:tc>
                  <a:txBody>
                    <a:bodyPr/>
                    <a:lstStyle/>
                    <a:p>
                      <a:r>
                        <a:rPr sz="800"/>
                        <a:t>0.495</a:t>
                      </a:r>
                    </a:p>
                  </a:txBody>
                  <a:tcPr/>
                </a:tc>
                <a:tc>
                  <a:txBody>
                    <a:bodyPr/>
                    <a:lstStyle/>
                    <a:p>
                      <a:r>
                        <a:rPr sz="800"/>
                        <a:t>0.706</a:t>
                      </a:r>
                    </a:p>
                  </a:txBody>
                  <a:tcPr/>
                </a:tc>
                <a:tc>
                  <a:txBody>
                    <a:bodyPr/>
                    <a:lstStyle/>
                    <a:p>
                      <a:r>
                        <a:rPr sz="800"/>
                        <a:t>0.840</a:t>
                      </a:r>
                    </a:p>
                  </a:txBody>
                  <a:tcPr/>
                </a:tc>
                <a:tc>
                  <a:txBody>
                    <a:bodyPr/>
                    <a:lstStyle/>
                    <a:p>
                      <a:r>
                        <a:rPr sz="800"/>
                        <a:t>—</a:t>
                      </a:r>
                    </a:p>
                  </a:txBody>
                  <a:tcPr/>
                </a:tc>
              </a:tr>
              <a:tr h="217170">
                <a:tc>
                  <a:txBody>
                    <a:bodyPr/>
                    <a:lstStyle/>
                    <a:p>
                      <a:r>
                        <a:rPr sz="800"/>
                        <a:t>Intermediate TL B1</a:t>
                      </a:r>
                    </a:p>
                  </a:txBody>
                  <a:tcPr/>
                </a:tc>
                <a:tc>
                  <a:txBody>
                    <a:bodyPr/>
                    <a:lstStyle/>
                    <a:p>
                      <a:r>
                        <a:rPr sz="800"/>
                        <a:t>0.554</a:t>
                      </a:r>
                    </a:p>
                  </a:txBody>
                  <a:tcPr/>
                </a:tc>
                <a:tc>
                  <a:txBody>
                    <a:bodyPr/>
                    <a:lstStyle/>
                    <a:p>
                      <a:r>
                        <a:rPr sz="800"/>
                        <a:t>0.686</a:t>
                      </a:r>
                    </a:p>
                  </a:txBody>
                  <a:tcPr/>
                </a:tc>
                <a:tc>
                  <a:txBody>
                    <a:bodyPr/>
                    <a:lstStyle/>
                    <a:p>
                      <a:r>
                        <a:rPr sz="800"/>
                        <a:t>0.790</a:t>
                      </a:r>
                    </a:p>
                  </a:txBody>
                  <a:tcPr/>
                </a:tc>
                <a:tc>
                  <a:txBody>
                    <a:bodyPr/>
                    <a:lstStyle/>
                    <a:p>
                      <a:r>
                        <a:rPr sz="800"/>
                        <a:t>—</a:t>
                      </a:r>
                    </a:p>
                  </a:txBody>
                  <a:tcPr/>
                </a:tc>
              </a:tr>
              <a:tr h="217170">
                <a:tc>
                  <a:txBody>
                    <a:bodyPr/>
                    <a:lstStyle/>
                    <a:p>
                      <a:r>
                        <a:rPr sz="800"/>
                        <a:t>Intermediate TL B2</a:t>
                      </a:r>
                    </a:p>
                  </a:txBody>
                  <a:tcPr/>
                </a:tc>
                <a:tc>
                  <a:txBody>
                    <a:bodyPr/>
                    <a:lstStyle/>
                    <a:p>
                      <a:r>
                        <a:rPr sz="800"/>
                        <a:t>0.559</a:t>
                      </a:r>
                    </a:p>
                  </a:txBody>
                  <a:tcPr/>
                </a:tc>
                <a:tc>
                  <a:txBody>
                    <a:bodyPr/>
                    <a:lstStyle/>
                    <a:p>
                      <a:r>
                        <a:rPr sz="800"/>
                        <a:t>0.665</a:t>
                      </a:r>
                    </a:p>
                  </a:txBody>
                  <a:tcPr/>
                </a:tc>
                <a:tc>
                  <a:txBody>
                    <a:bodyPr/>
                    <a:lstStyle/>
                    <a:p>
                      <a:r>
                        <a:rPr sz="800"/>
                        <a:t>0.815</a:t>
                      </a:r>
                    </a:p>
                  </a:txBody>
                  <a:tcPr/>
                </a:tc>
                <a:tc>
                  <a:txBody>
                    <a:bodyPr/>
                    <a:lstStyle/>
                    <a:p>
                      <a:r>
                        <a:rPr sz="800"/>
                        <a:t>—</a:t>
                      </a:r>
                    </a:p>
                  </a:txBody>
                  <a:tcPr/>
                </a:tc>
              </a:tr>
              <a:tr h="217170">
                <a:tc>
                  <a:txBody>
                    <a:bodyPr/>
                    <a:lstStyle/>
                    <a:p>
                      <a:r>
                        <a:rPr sz="800"/>
                        <a:t>Intermediate TL B3</a:t>
                      </a:r>
                    </a:p>
                  </a:txBody>
                  <a:tcPr/>
                </a:tc>
                <a:tc>
                  <a:txBody>
                    <a:bodyPr/>
                    <a:lstStyle/>
                    <a:p>
                      <a:r>
                        <a:rPr sz="800"/>
                        <a:t>0.501</a:t>
                      </a:r>
                    </a:p>
                  </a:txBody>
                  <a:tcPr/>
                </a:tc>
                <a:tc>
                  <a:txBody>
                    <a:bodyPr/>
                    <a:lstStyle/>
                    <a:p>
                      <a:r>
                        <a:rPr sz="800"/>
                        <a:t>0.689</a:t>
                      </a:r>
                    </a:p>
                  </a:txBody>
                  <a:tcPr/>
                </a:tc>
                <a:tc>
                  <a:txBody>
                    <a:bodyPr/>
                    <a:lstStyle/>
                    <a:p>
                      <a:r>
                        <a:rPr sz="800"/>
                        <a:t>0.828</a:t>
                      </a:r>
                    </a:p>
                  </a:txBody>
                  <a:tcPr/>
                </a:tc>
                <a:tc>
                  <a:txBody>
                    <a:bodyPr/>
                    <a:lstStyle/>
                    <a:p>
                      <a:r>
                        <a:rPr sz="800"/>
                        <a:t>—</a:t>
                      </a:r>
                    </a:p>
                  </a:txBody>
                  <a:tcPr/>
                </a:tc>
              </a:tr>
              <a:tr h="217170">
                <a:tc>
                  <a:txBody>
                    <a:bodyPr/>
                    <a:lstStyle/>
                    <a:p>
                      <a:r>
                        <a:rPr sz="800"/>
                        <a:t>Late Fusion TL B1</a:t>
                      </a:r>
                    </a:p>
                  </a:txBody>
                  <a:tcPr/>
                </a:tc>
                <a:tc>
                  <a:txBody>
                    <a:bodyPr/>
                    <a:lstStyle/>
                    <a:p>
                      <a:r>
                        <a:rPr sz="800"/>
                        <a:t>0.609</a:t>
                      </a:r>
                    </a:p>
                  </a:txBody>
                  <a:tcPr/>
                </a:tc>
                <a:tc>
                  <a:txBody>
                    <a:bodyPr/>
                    <a:lstStyle/>
                    <a:p>
                      <a:r>
                        <a:rPr sz="800"/>
                        <a:t>0.653</a:t>
                      </a:r>
                    </a:p>
                  </a:txBody>
                  <a:tcPr/>
                </a:tc>
                <a:tc>
                  <a:txBody>
                    <a:bodyPr/>
                    <a:lstStyle/>
                    <a:p>
                      <a:r>
                        <a:rPr sz="800"/>
                        <a:t>0.797</a:t>
                      </a:r>
                    </a:p>
                  </a:txBody>
                  <a:tcPr/>
                </a:tc>
                <a:tc>
                  <a:txBody>
                    <a:bodyPr/>
                    <a:lstStyle/>
                    <a:p>
                      <a:r>
                        <a:rPr sz="800"/>
                        <a:t>0.25</a:t>
                      </a:r>
                    </a:p>
                  </a:txBody>
                  <a:tcPr/>
                </a:tc>
              </a:tr>
              <a:tr h="217170">
                <a:tc>
                  <a:txBody>
                    <a:bodyPr/>
                    <a:lstStyle/>
                    <a:p>
                      <a:r>
                        <a:rPr sz="800"/>
                        <a:t>Late Fusion TL B2</a:t>
                      </a:r>
                    </a:p>
                  </a:txBody>
                  <a:tcPr/>
                </a:tc>
                <a:tc>
                  <a:txBody>
                    <a:bodyPr/>
                    <a:lstStyle/>
                    <a:p>
                      <a:r>
                        <a:rPr sz="800"/>
                        <a:t>0.591</a:t>
                      </a:r>
                    </a:p>
                  </a:txBody>
                  <a:tcPr/>
                </a:tc>
                <a:tc>
                  <a:txBody>
                    <a:bodyPr/>
                    <a:lstStyle/>
                    <a:p>
                      <a:r>
                        <a:rPr sz="800"/>
                        <a:t>0.646</a:t>
                      </a:r>
                    </a:p>
                  </a:txBody>
                  <a:tcPr/>
                </a:tc>
                <a:tc>
                  <a:txBody>
                    <a:bodyPr/>
                    <a:lstStyle/>
                    <a:p>
                      <a:r>
                        <a:rPr sz="800"/>
                        <a:t>0.774</a:t>
                      </a:r>
                    </a:p>
                  </a:txBody>
                  <a:tcPr/>
                </a:tc>
                <a:tc>
                  <a:txBody>
                    <a:bodyPr/>
                    <a:lstStyle/>
                    <a:p>
                      <a:r>
                        <a:rPr sz="800"/>
                        <a:t>0.30</a:t>
                      </a:r>
                    </a:p>
                  </a:txBody>
                  <a:tcPr/>
                </a:tc>
              </a:tr>
              <a:tr h="217170">
                <a:tc>
                  <a:txBody>
                    <a:bodyPr/>
                    <a:lstStyle/>
                    <a:p>
                      <a:r>
                        <a:rPr sz="800" b="1"/>
                        <a:t>Late Fusion TL B3 ⭐</a:t>
                      </a:r>
                    </a:p>
                  </a:txBody>
                  <a:tcPr/>
                </a:tc>
                <a:tc>
                  <a:txBody>
                    <a:bodyPr/>
                    <a:lstStyle/>
                    <a:p>
                      <a:r>
                        <a:rPr sz="800" b="1"/>
                        <a:t>0.623</a:t>
                      </a:r>
                    </a:p>
                  </a:txBody>
                  <a:tcPr/>
                </a:tc>
                <a:tc>
                  <a:txBody>
                    <a:bodyPr/>
                    <a:lstStyle/>
                    <a:p>
                      <a:r>
                        <a:rPr sz="800" b="1"/>
                        <a:t>0.637</a:t>
                      </a:r>
                    </a:p>
                  </a:txBody>
                  <a:tcPr/>
                </a:tc>
                <a:tc>
                  <a:txBody>
                    <a:bodyPr/>
                    <a:lstStyle/>
                    <a:p>
                      <a:r>
                        <a:rPr sz="800" b="1"/>
                        <a:t>0.784</a:t>
                      </a:r>
                    </a:p>
                  </a:txBody>
                  <a:tcPr/>
                </a:tc>
                <a:tc>
                  <a:txBody>
                    <a:bodyPr/>
                    <a:lstStyle/>
                    <a:p>
                      <a:r>
                        <a:rPr sz="800" b="1"/>
                        <a:t>0.15</a:t>
                      </a:r>
                    </a:p>
                  </a:txBody>
                  <a:tcPr/>
                </a:tc>
              </a:tr>
              <a:tr h="217170">
                <a:tc>
                  <a:txBody>
                    <a:bodyPr/>
                    <a:lstStyle/>
                    <a:p>
                      <a:r>
                        <a:rPr sz="800"/>
                        <a:t>Early Fusion TL B1</a:t>
                      </a:r>
                    </a:p>
                  </a:txBody>
                  <a:tcPr/>
                </a:tc>
                <a:tc>
                  <a:txBody>
                    <a:bodyPr/>
                    <a:lstStyle/>
                    <a:p>
                      <a:r>
                        <a:rPr sz="800"/>
                        <a:t>0.537</a:t>
                      </a:r>
                    </a:p>
                  </a:txBody>
                  <a:tcPr/>
                </a:tc>
                <a:tc>
                  <a:txBody>
                    <a:bodyPr/>
                    <a:lstStyle/>
                    <a:p>
                      <a:r>
                        <a:rPr sz="800"/>
                        <a:t>0.587</a:t>
                      </a:r>
                    </a:p>
                  </a:txBody>
                  <a:tcPr/>
                </a:tc>
                <a:tc>
                  <a:txBody>
                    <a:bodyPr/>
                    <a:lstStyle/>
                    <a:p>
                      <a:r>
                        <a:rPr sz="800"/>
                        <a:t>0.783</a:t>
                      </a:r>
                    </a:p>
                  </a:txBody>
                  <a:tcPr/>
                </a:tc>
                <a:tc>
                  <a:txBody>
                    <a:bodyPr/>
                    <a:lstStyle/>
                    <a:p>
                      <a:r>
                        <a:rPr sz="800"/>
                        <a:t>—</a:t>
                      </a:r>
                    </a:p>
                  </a:txBody>
                  <a:tcPr/>
                </a:tc>
              </a:tr>
              <a:tr h="217170">
                <a:tc>
                  <a:txBody>
                    <a:bodyPr/>
                    <a:lstStyle/>
                    <a:p>
                      <a:r>
                        <a:rPr sz="800"/>
                        <a:t>Early Fusion TL B2</a:t>
                      </a:r>
                    </a:p>
                  </a:txBody>
                  <a:tcPr/>
                </a:tc>
                <a:tc>
                  <a:txBody>
                    <a:bodyPr/>
                    <a:lstStyle/>
                    <a:p>
                      <a:r>
                        <a:rPr sz="800"/>
                        <a:t>0.504</a:t>
                      </a:r>
                    </a:p>
                  </a:txBody>
                  <a:tcPr/>
                </a:tc>
                <a:tc>
                  <a:txBody>
                    <a:bodyPr/>
                    <a:lstStyle/>
                    <a:p>
                      <a:r>
                        <a:rPr sz="800"/>
                        <a:t>0.584</a:t>
                      </a:r>
                    </a:p>
                  </a:txBody>
                  <a:tcPr/>
                </a:tc>
                <a:tc>
                  <a:txBody>
                    <a:bodyPr/>
                    <a:lstStyle/>
                    <a:p>
                      <a:r>
                        <a:rPr sz="800"/>
                        <a:t>0.650</a:t>
                      </a:r>
                    </a:p>
                  </a:txBody>
                  <a:tcPr/>
                </a:tc>
                <a:tc>
                  <a:txBody>
                    <a:bodyPr/>
                    <a:lstStyle/>
                    <a:p>
                      <a:r>
                        <a:rPr sz="800"/>
                        <a:t>—</a:t>
                      </a:r>
                    </a:p>
                  </a:txBody>
                  <a:tcPr/>
                </a:tc>
              </a:tr>
              <a:tr h="217170">
                <a:tc>
                  <a:txBody>
                    <a:bodyPr/>
                    <a:lstStyle/>
                    <a:p>
                      <a:r>
                        <a:rPr sz="800"/>
                        <a:t>Early Fusion TL B3</a:t>
                      </a:r>
                    </a:p>
                  </a:txBody>
                  <a:tcPr/>
                </a:tc>
                <a:tc>
                  <a:txBody>
                    <a:bodyPr/>
                    <a:lstStyle/>
                    <a:p>
                      <a:r>
                        <a:rPr sz="800"/>
                        <a:t>0.509</a:t>
                      </a:r>
                    </a:p>
                  </a:txBody>
                  <a:tcPr/>
                </a:tc>
                <a:tc>
                  <a:txBody>
                    <a:bodyPr/>
                    <a:lstStyle/>
                    <a:p>
                      <a:r>
                        <a:rPr sz="800"/>
                        <a:t>0.699</a:t>
                      </a:r>
                    </a:p>
                  </a:txBody>
                  <a:tcPr/>
                </a:tc>
                <a:tc>
                  <a:txBody>
                    <a:bodyPr/>
                    <a:lstStyle/>
                    <a:p>
                      <a:r>
                        <a:rPr sz="800"/>
                        <a:t>0.820</a:t>
                      </a:r>
                    </a:p>
                  </a:txBody>
                  <a:tcPr/>
                </a:tc>
                <a:tc>
                  <a:txBody>
                    <a:bodyPr/>
                    <a:lstStyle/>
                    <a:p>
                      <a:r>
                        <a:rPr sz="800"/>
                        <a:t>—</a:t>
                      </a:r>
                    </a:p>
                  </a:txBody>
                  <a:tcPr/>
                </a:tc>
              </a:tr>
            </a:tbl>
          </a:graphicData>
        </a:graphic>
      </p:graphicFrame>
      <p:sp>
        <p:nvSpPr>
          <p:cNvPr id="5" name="TextBox 4"/>
          <p:cNvSpPr txBox="1"/>
          <p:nvPr/>
        </p:nvSpPr>
        <p:spPr>
          <a:xfrm>
            <a:off x="5303520" y="804672"/>
            <a:ext cx="3566160" cy="274320"/>
          </a:xfrm>
          <a:prstGeom prst="rect">
            <a:avLst/>
          </a:prstGeom>
          <a:noFill/>
        </p:spPr>
        <p:txBody>
          <a:bodyPr wrap="square" lIns="0" rIns="0" tIns="0" bIns="0">
            <a:spAutoFit/>
          </a:bodyPr>
          <a:lstStyle/>
          <a:p>
            <a:r>
              <a:rPr sz="1000" b="1"/>
              <a:t>Perbandingan vs scheme lain (val-based)</a:t>
            </a:r>
          </a:p>
        </p:txBody>
      </p:sp>
      <p:graphicFrame>
        <p:nvGraphicFramePr>
          <p:cNvPr id="6" name="Table 5"/>
          <p:cNvGraphicFramePr>
            <a:graphicFrameLocks noGrp="1"/>
          </p:cNvGraphicFramePr>
          <p:nvPr/>
        </p:nvGraphicFramePr>
        <p:xfrm>
          <a:off x="5303520" y="1078992"/>
          <a:ext cx="3566160" cy="1005840"/>
        </p:xfrm>
        <a:graphic>
          <a:graphicData uri="http://schemas.openxmlformats.org/drawingml/2006/table">
            <a:tbl>
              <a:tblPr firstRow="1" bandRow="1">
                <a:tableStyleId>{5C22544A-7EE6-4342-B048-85BDC9FD1C3A}</a:tableStyleId>
              </a:tblPr>
              <a:tblGrid>
                <a:gridCol w="1188720"/>
                <a:gridCol w="1188720"/>
                <a:gridCol w="1188720"/>
              </a:tblGrid>
              <a:tr h="251460">
                <a:tc>
                  <a:txBody>
                    <a:bodyPr/>
                    <a:lstStyle/>
                    <a:p>
                      <a:r>
                        <a:rPr sz="900" b="1"/>
                        <a:t>Scheme</a:t>
                      </a:r>
                    </a:p>
                  </a:txBody>
                  <a:tcPr/>
                </a:tc>
                <a:tc>
                  <a:txBody>
                    <a:bodyPr/>
                    <a:lstStyle/>
                    <a:p>
                      <a:r>
                        <a:rPr sz="900" b="1"/>
                        <a:t>Juara</a:t>
                      </a:r>
                    </a:p>
                  </a:txBody>
                  <a:tcPr/>
                </a:tc>
                <a:tc>
                  <a:txBody>
                    <a:bodyPr/>
                    <a:lstStyle/>
                    <a:p>
                      <a:r>
                        <a:rPr sz="900" b="1"/>
                        <a:t>Test F1</a:t>
                      </a:r>
                    </a:p>
                  </a:txBody>
                  <a:tcPr/>
                </a:tc>
              </a:tr>
              <a:tr h="251460">
                <a:tc>
                  <a:txBody>
                    <a:bodyPr/>
                    <a:lstStyle/>
                    <a:p>
                      <a:r>
                        <a:rPr sz="900" b="0"/>
                        <a:t>7-class</a:t>
                      </a:r>
                    </a:p>
                  </a:txBody>
                  <a:tcPr/>
                </a:tc>
                <a:tc>
                  <a:txBody>
                    <a:bodyPr/>
                    <a:lstStyle/>
                    <a:p>
                      <a:r>
                        <a:rPr sz="900" b="0"/>
                        <a:t>Early Fusion TL B3</a:t>
                      </a:r>
                    </a:p>
                  </a:txBody>
                  <a:tcPr/>
                </a:tc>
                <a:tc>
                  <a:txBody>
                    <a:bodyPr/>
                    <a:lstStyle/>
                    <a:p>
                      <a:r>
                        <a:rPr sz="900" b="0"/>
                        <a:t>0.333</a:t>
                      </a:r>
                    </a:p>
                  </a:txBody>
                  <a:tcPr/>
                </a:tc>
              </a:tr>
              <a:tr h="251460">
                <a:tc>
                  <a:txBody>
                    <a:bodyPr/>
                    <a:lstStyle/>
                    <a:p>
                      <a:r>
                        <a:rPr sz="900" b="0"/>
                        <a:t>4-class</a:t>
                      </a:r>
                    </a:p>
                  </a:txBody>
                  <a:tcPr/>
                </a:tc>
                <a:tc>
                  <a:txBody>
                    <a:bodyPr/>
                    <a:lstStyle/>
                    <a:p>
                      <a:r>
                        <a:rPr sz="900" b="0"/>
                        <a:t>Intermediate TL B3</a:t>
                      </a:r>
                    </a:p>
                  </a:txBody>
                  <a:tcPr/>
                </a:tc>
                <a:tc>
                  <a:txBody>
                    <a:bodyPr/>
                    <a:lstStyle/>
                    <a:p>
                      <a:r>
                        <a:rPr sz="900" b="0"/>
                        <a:t>0.521</a:t>
                      </a:r>
                    </a:p>
                  </a:txBody>
                  <a:tcPr/>
                </a:tc>
              </a:tr>
              <a:tr h="251460">
                <a:tc>
                  <a:txBody>
                    <a:bodyPr/>
                    <a:lstStyle/>
                    <a:p>
                      <a:r>
                        <a:rPr sz="900" b="1"/>
                        <a:t>3-class ⭐</a:t>
                      </a:r>
                    </a:p>
                  </a:txBody>
                  <a:tcPr/>
                </a:tc>
                <a:tc>
                  <a:txBody>
                    <a:bodyPr/>
                    <a:lstStyle/>
                    <a:p>
                      <a:r>
                        <a:rPr sz="900" b="1"/>
                        <a:t>Late Fusion TL B3</a:t>
                      </a:r>
                    </a:p>
                  </a:txBody>
                  <a:tcPr/>
                </a:tc>
                <a:tc>
                  <a:txBody>
                    <a:bodyPr/>
                    <a:lstStyle/>
                    <a:p>
                      <a:r>
                        <a:rPr sz="900" b="1"/>
                        <a:t>0.637</a:t>
                      </a:r>
                    </a:p>
                  </a:txBody>
                  <a:tcPr/>
                </a:tc>
              </a:tr>
            </a:tbl>
          </a:graphicData>
        </a:graphic>
      </p:graphicFrame>
      <p:sp>
        <p:nvSpPr>
          <p:cNvPr id="7" name="TextBox 6"/>
          <p:cNvSpPr txBox="1"/>
          <p:nvPr/>
        </p:nvSpPr>
        <p:spPr>
          <a:xfrm>
            <a:off x="5303520" y="2194560"/>
            <a:ext cx="3566160" cy="2834640"/>
          </a:xfrm>
          <a:prstGeom prst="rect">
            <a:avLst/>
          </a:prstGeom>
          <a:noFill/>
        </p:spPr>
        <p:txBody>
          <a:bodyPr wrap="square" lIns="0" rIns="0" tIns="0" bIns="0">
            <a:spAutoFit/>
          </a:bodyPr>
          <a:lstStyle/>
          <a:p>
            <a:r>
              <a:rPr sz="1000" b="1"/>
              <a:t>Temuan Kunci (T49-T52)</a:t>
            </a:r>
          </a:p>
          <a:p>
            <a:r>
              <a:rPr sz="300" b="0"/>
              <a:t/>
            </a:r>
          </a:p>
          <a:p>
            <a:r>
              <a:rPr sz="900" b="1"/>
              <a:t>T49: Gain +0.10 Macro F1 dari 4c → 3c</a:t>
            </a:r>
          </a:p>
          <a:p>
            <a:r>
              <a:rPr sz="850" b="0"/>
              <a:t>Semua arch lebih stabil, bahkan config terlemah CNN TL B2 test=0.516 masih di level 4c best.</a:t>
            </a:r>
          </a:p>
          <a:p>
            <a:r>
              <a:rPr sz="400" b="0"/>
              <a:t/>
            </a:r>
          </a:p>
          <a:p>
            <a:r>
              <a:rPr sz="900" b="1"/>
              <a:t>T50: Fusion strategy shifts per class granularity</a:t>
            </a:r>
          </a:p>
          <a:p>
            <a:r>
              <a:rPr sz="850" b="0"/>
              <a:t>7c: Early Fusion → 4c: Intermediate → 3c: Late Fusion. Late Fusion reclaims juara di coarse.</a:t>
            </a:r>
          </a:p>
          <a:p>
            <a:r>
              <a:rPr sz="400" b="0"/>
              <a:t/>
            </a:r>
          </a:p>
          <a:p>
            <a:r>
              <a:rPr sz="900" b="1"/>
              <a:t>T51: w_best lebih balanced (0.15-0.30)</a:t>
            </a:r>
          </a:p>
          <a:p>
            <a:r>
              <a:rPr sz="850" b="0"/>
              <a:t>vs 4-class (0.00-0.15 FCNN-dominant). Image stream contribute signifikan di 3-class.</a:t>
            </a:r>
          </a:p>
          <a:p>
            <a:r>
              <a:rPr sz="400" b="0"/>
              <a:t/>
            </a:r>
          </a:p>
          <a:p>
            <a:r>
              <a:rPr sz="900" b="1"/>
              <a:t>T52: FCNN 3c sangat kompetitif</a:t>
            </a:r>
          </a:p>
          <a:p>
            <a:r>
              <a:rPr sz="850" b="0"/>
              <a:t>FCNN B3 val=0.619 nyaris setara Late Fusion TL — landmark geometry dominan di Primer.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73152"/>
            <a:ext cx="8595360" cy="365760"/>
          </a:xfrm>
          <a:prstGeom prst="rect">
            <a:avLst/>
          </a:prstGeom>
          <a:noFill/>
        </p:spPr>
        <p:txBody>
          <a:bodyPr wrap="square" lIns="0" rIns="0" tIns="0" bIns="0">
            <a:spAutoFit/>
          </a:bodyPr>
          <a:lstStyle/>
          <a:p>
            <a:r>
              <a:rPr sz="1800" b="1"/>
              <a:t>SLIDE 36 (lanjutan): 3-Class Best Model — Late Fusion TL B3</a:t>
            </a:r>
          </a:p>
        </p:txBody>
      </p:sp>
      <p:sp>
        <p:nvSpPr>
          <p:cNvPr id="3" name="TextBox 2"/>
          <p:cNvSpPr txBox="1"/>
          <p:nvPr/>
        </p:nvSpPr>
        <p:spPr>
          <a:xfrm>
            <a:off x="274320" y="457200"/>
            <a:ext cx="8595360" cy="256032"/>
          </a:xfrm>
          <a:prstGeom prst="rect">
            <a:avLst/>
          </a:prstGeom>
          <a:noFill/>
        </p:spPr>
        <p:txBody>
          <a:bodyPr wrap="square" lIns="0" rIns="0" tIns="0" bIns="0">
            <a:spAutoFit/>
          </a:bodyPr>
          <a:lstStyle/>
          <a:p>
            <a:r>
              <a:rPr sz="1000" b="1">
                <a:solidFill>
                  <a:srgbClr val="1F3A5F"/>
                </a:solidFill>
              </a:rPr>
              <a:t>Val Macro = 0.623  |  Test Macro = 0.637  |  Test Acc = 0.784  |  w_best = 0.15</a:t>
            </a:r>
          </a:p>
        </p:txBody>
      </p:sp>
      <p:sp>
        <p:nvSpPr>
          <p:cNvPr id="4" name="TextBox 3"/>
          <p:cNvSpPr txBox="1"/>
          <p:nvPr/>
        </p:nvSpPr>
        <p:spPr>
          <a:xfrm>
            <a:off x="274320" y="804672"/>
            <a:ext cx="3931920" cy="256032"/>
          </a:xfrm>
          <a:prstGeom prst="rect">
            <a:avLst/>
          </a:prstGeom>
          <a:noFill/>
        </p:spPr>
        <p:txBody>
          <a:bodyPr wrap="square" lIns="0" rIns="0" tIns="0" bIns="0">
            <a:spAutoFit/>
          </a:bodyPr>
          <a:lstStyle/>
          <a:p>
            <a:r>
              <a:rPr sz="1000" b="1"/>
              <a:t>Per-Class Metrics</a:t>
            </a:r>
          </a:p>
        </p:txBody>
      </p:sp>
      <p:graphicFrame>
        <p:nvGraphicFramePr>
          <p:cNvPr id="5" name="Table 4"/>
          <p:cNvGraphicFramePr>
            <a:graphicFrameLocks noGrp="1"/>
          </p:cNvGraphicFramePr>
          <p:nvPr/>
        </p:nvGraphicFramePr>
        <p:xfrm>
          <a:off x="274320" y="1078992"/>
          <a:ext cx="3931920" cy="1645920"/>
        </p:xfrm>
        <a:graphic>
          <a:graphicData uri="http://schemas.openxmlformats.org/drawingml/2006/table">
            <a:tbl>
              <a:tblPr firstRow="1" bandRow="1">
                <a:tableStyleId>{5C22544A-7EE6-4342-B048-85BDC9FD1C3A}</a:tableStyleId>
              </a:tblPr>
              <a:tblGrid>
                <a:gridCol w="786384"/>
                <a:gridCol w="786384"/>
                <a:gridCol w="786384"/>
                <a:gridCol w="786384"/>
                <a:gridCol w="786384"/>
              </a:tblGrid>
              <a:tr h="274320">
                <a:tc>
                  <a:txBody>
                    <a:bodyPr/>
                    <a:lstStyle/>
                    <a:p>
                      <a:r>
                        <a:rPr sz="900" b="1"/>
                        <a:t>Class</a:t>
                      </a:r>
                    </a:p>
                  </a:txBody>
                  <a:tcPr/>
                </a:tc>
                <a:tc>
                  <a:txBody>
                    <a:bodyPr/>
                    <a:lstStyle/>
                    <a:p>
                      <a:r>
                        <a:rPr sz="900" b="1"/>
                        <a:t>Prec</a:t>
                      </a:r>
                    </a:p>
                  </a:txBody>
                  <a:tcPr/>
                </a:tc>
                <a:tc>
                  <a:txBody>
                    <a:bodyPr/>
                    <a:lstStyle/>
                    <a:p>
                      <a:r>
                        <a:rPr sz="900" b="1"/>
                        <a:t>Recall</a:t>
                      </a:r>
                    </a:p>
                  </a:txBody>
                  <a:tcPr/>
                </a:tc>
                <a:tc>
                  <a:txBody>
                    <a:bodyPr/>
                    <a:lstStyle/>
                    <a:p>
                      <a:r>
                        <a:rPr sz="900" b="1"/>
                        <a:t>F1</a:t>
                      </a:r>
                    </a:p>
                  </a:txBody>
                  <a:tcPr/>
                </a:tc>
                <a:tc>
                  <a:txBody>
                    <a:bodyPr/>
                    <a:lstStyle/>
                    <a:p>
                      <a:r>
                        <a:rPr sz="900" b="1"/>
                        <a:t>Support</a:t>
                      </a:r>
                    </a:p>
                  </a:txBody>
                  <a:tcPr/>
                </a:tc>
              </a:tr>
              <a:tr h="274320">
                <a:tc>
                  <a:txBody>
                    <a:bodyPr/>
                    <a:lstStyle/>
                    <a:p>
                      <a:r>
                        <a:rPr sz="900" b="0"/>
                        <a:t>positive</a:t>
                      </a:r>
                    </a:p>
                  </a:txBody>
                  <a:tcPr/>
                </a:tc>
                <a:tc>
                  <a:txBody>
                    <a:bodyPr/>
                    <a:lstStyle/>
                    <a:p>
                      <a:r>
                        <a:rPr sz="900" b="0"/>
                        <a:t>0.607</a:t>
                      </a:r>
                    </a:p>
                  </a:txBody>
                  <a:tcPr/>
                </a:tc>
                <a:tc>
                  <a:txBody>
                    <a:bodyPr/>
                    <a:lstStyle/>
                    <a:p>
                      <a:r>
                        <a:rPr sz="900" b="0"/>
                        <a:t>0.930</a:t>
                      </a:r>
                    </a:p>
                  </a:txBody>
                  <a:tcPr/>
                </a:tc>
                <a:tc>
                  <a:txBody>
                    <a:bodyPr/>
                    <a:lstStyle/>
                    <a:p>
                      <a:r>
                        <a:rPr sz="900" b="0"/>
                        <a:t>0.735</a:t>
                      </a:r>
                    </a:p>
                  </a:txBody>
                  <a:tcPr/>
                </a:tc>
                <a:tc>
                  <a:txBody>
                    <a:bodyPr/>
                    <a:lstStyle/>
                    <a:p>
                      <a:r>
                        <a:rPr sz="900" b="0"/>
                        <a:t>186</a:t>
                      </a:r>
                    </a:p>
                  </a:txBody>
                  <a:tcPr/>
                </a:tc>
              </a:tr>
              <a:tr h="274320">
                <a:tc>
                  <a:txBody>
                    <a:bodyPr/>
                    <a:lstStyle/>
                    <a:p>
                      <a:r>
                        <a:rPr sz="900" b="0"/>
                        <a:t>neutral</a:t>
                      </a:r>
                    </a:p>
                  </a:txBody>
                  <a:tcPr/>
                </a:tc>
                <a:tc>
                  <a:txBody>
                    <a:bodyPr/>
                    <a:lstStyle/>
                    <a:p>
                      <a:r>
                        <a:rPr sz="900" b="0"/>
                        <a:t>0.935</a:t>
                      </a:r>
                    </a:p>
                  </a:txBody>
                  <a:tcPr/>
                </a:tc>
                <a:tc>
                  <a:txBody>
                    <a:bodyPr/>
                    <a:lstStyle/>
                    <a:p>
                      <a:r>
                        <a:rPr sz="900" b="0"/>
                        <a:t>0.776</a:t>
                      </a:r>
                    </a:p>
                  </a:txBody>
                  <a:tcPr/>
                </a:tc>
                <a:tc>
                  <a:txBody>
                    <a:bodyPr/>
                    <a:lstStyle/>
                    <a:p>
                      <a:r>
                        <a:rPr sz="900" b="0"/>
                        <a:t>0.848</a:t>
                      </a:r>
                    </a:p>
                  </a:txBody>
                  <a:tcPr/>
                </a:tc>
                <a:tc>
                  <a:txBody>
                    <a:bodyPr/>
                    <a:lstStyle/>
                    <a:p>
                      <a:r>
                        <a:rPr sz="900" b="0"/>
                        <a:t>688</a:t>
                      </a:r>
                    </a:p>
                  </a:txBody>
                  <a:tcPr/>
                </a:tc>
              </a:tr>
              <a:tr h="274320">
                <a:tc>
                  <a:txBody>
                    <a:bodyPr/>
                    <a:lstStyle/>
                    <a:p>
                      <a:r>
                        <a:rPr sz="900" b="0"/>
                        <a:t>negative</a:t>
                      </a:r>
                    </a:p>
                  </a:txBody>
                  <a:tcPr/>
                </a:tc>
                <a:tc>
                  <a:txBody>
                    <a:bodyPr/>
                    <a:lstStyle/>
                    <a:p>
                      <a:r>
                        <a:rPr sz="900" b="0"/>
                        <a:t>0.288</a:t>
                      </a:r>
                    </a:p>
                  </a:txBody>
                  <a:tcPr/>
                </a:tc>
                <a:tc>
                  <a:txBody>
                    <a:bodyPr/>
                    <a:lstStyle/>
                    <a:p>
                      <a:r>
                        <a:rPr sz="900" b="0"/>
                        <a:t>0.382</a:t>
                      </a:r>
                    </a:p>
                  </a:txBody>
                  <a:tcPr/>
                </a:tc>
                <a:tc>
                  <a:txBody>
                    <a:bodyPr/>
                    <a:lstStyle/>
                    <a:p>
                      <a:r>
                        <a:rPr sz="900" b="0"/>
                        <a:t>0.328</a:t>
                      </a:r>
                    </a:p>
                  </a:txBody>
                  <a:tcPr/>
                </a:tc>
                <a:tc>
                  <a:txBody>
                    <a:bodyPr/>
                    <a:lstStyle/>
                    <a:p>
                      <a:r>
                        <a:rPr sz="900" b="0"/>
                        <a:t>55</a:t>
                      </a:r>
                    </a:p>
                  </a:txBody>
                  <a:tcPr/>
                </a:tc>
              </a:tr>
              <a:tr h="274320">
                <a:tc>
                  <a:txBody>
                    <a:bodyPr/>
                    <a:lstStyle/>
                    <a:p>
                      <a:r>
                        <a:rPr sz="900" b="1"/>
                        <a:t>Macro avg</a:t>
                      </a:r>
                    </a:p>
                  </a:txBody>
                  <a:tcPr/>
                </a:tc>
                <a:tc>
                  <a:txBody>
                    <a:bodyPr/>
                    <a:lstStyle/>
                    <a:p>
                      <a:r>
                        <a:rPr sz="900" b="1"/>
                        <a:t>0.610</a:t>
                      </a:r>
                    </a:p>
                  </a:txBody>
                  <a:tcPr/>
                </a:tc>
                <a:tc>
                  <a:txBody>
                    <a:bodyPr/>
                    <a:lstStyle/>
                    <a:p>
                      <a:r>
                        <a:rPr sz="900" b="1"/>
                        <a:t>0.696</a:t>
                      </a:r>
                    </a:p>
                  </a:txBody>
                  <a:tcPr/>
                </a:tc>
                <a:tc>
                  <a:txBody>
                    <a:bodyPr/>
                    <a:lstStyle/>
                    <a:p>
                      <a:r>
                        <a:rPr sz="900" b="1"/>
                        <a:t>0.637</a:t>
                      </a:r>
                    </a:p>
                  </a:txBody>
                  <a:tcPr/>
                </a:tc>
                <a:tc>
                  <a:txBody>
                    <a:bodyPr/>
                    <a:lstStyle/>
                    <a:p>
                      <a:r>
                        <a:rPr sz="900" b="1"/>
                        <a:t>929</a:t>
                      </a:r>
                    </a:p>
                  </a:txBody>
                  <a:tcPr/>
                </a:tc>
              </a:tr>
              <a:tr h="274320">
                <a:tc>
                  <a:txBody>
                    <a:bodyPr/>
                    <a:lstStyle/>
                    <a:p>
                      <a:r>
                        <a:rPr sz="900" b="1"/>
                        <a:t>Weighted avg</a:t>
                      </a:r>
                    </a:p>
                  </a:txBody>
                  <a:tcPr/>
                </a:tc>
                <a:tc>
                  <a:txBody>
                    <a:bodyPr/>
                    <a:lstStyle/>
                    <a:p>
                      <a:r>
                        <a:rPr sz="900" b="1"/>
                        <a:t>0.844</a:t>
                      </a:r>
                    </a:p>
                  </a:txBody>
                  <a:tcPr/>
                </a:tc>
                <a:tc>
                  <a:txBody>
                    <a:bodyPr/>
                    <a:lstStyle/>
                    <a:p>
                      <a:r>
                        <a:rPr sz="900" b="1"/>
                        <a:t>0.784</a:t>
                      </a:r>
                    </a:p>
                  </a:txBody>
                  <a:tcPr/>
                </a:tc>
                <a:tc>
                  <a:txBody>
                    <a:bodyPr/>
                    <a:lstStyle/>
                    <a:p>
                      <a:r>
                        <a:rPr sz="900" b="1"/>
                        <a:t>0.795</a:t>
                      </a:r>
                    </a:p>
                  </a:txBody>
                  <a:tcPr/>
                </a:tc>
                <a:tc>
                  <a:txBody>
                    <a:bodyPr/>
                    <a:lstStyle/>
                    <a:p>
                      <a:r>
                        <a:rPr sz="900" b="1"/>
                        <a:t>929</a:t>
                      </a:r>
                    </a:p>
                  </a:txBody>
                  <a:tcPr/>
                </a:tc>
              </a:tr>
            </a:tbl>
          </a:graphicData>
        </a:graphic>
      </p:graphicFrame>
      <p:pic>
        <p:nvPicPr>
          <p:cNvPr id="6" name="Picture 5" descr="confusion_matrix_3class.png"/>
          <p:cNvPicPr>
            <a:picLocks noChangeAspect="1"/>
          </p:cNvPicPr>
          <p:nvPr/>
        </p:nvPicPr>
        <p:blipFill>
          <a:blip r:embed="rId2"/>
          <a:stretch>
            <a:fillRect/>
          </a:stretch>
        </p:blipFill>
        <p:spPr>
          <a:xfrm>
            <a:off x="4572000" y="822960"/>
            <a:ext cx="4389120" cy="3246120"/>
          </a:xfrm>
          <a:prstGeom prst="rect">
            <a:avLst/>
          </a:prstGeom>
        </p:spPr>
      </p:pic>
      <p:sp>
        <p:nvSpPr>
          <p:cNvPr id="7" name="TextBox 6"/>
          <p:cNvSpPr txBox="1"/>
          <p:nvPr/>
        </p:nvSpPr>
        <p:spPr>
          <a:xfrm>
            <a:off x="274320" y="2926080"/>
            <a:ext cx="3931920" cy="2148840"/>
          </a:xfrm>
          <a:prstGeom prst="rect">
            <a:avLst/>
          </a:prstGeom>
          <a:noFill/>
        </p:spPr>
        <p:txBody>
          <a:bodyPr wrap="square" lIns="0" rIns="0" tIns="0" bIns="0">
            <a:spAutoFit/>
          </a:bodyPr>
          <a:lstStyle/>
          <a:p>
            <a:r>
              <a:rPr sz="1000" b="1"/>
              <a:t>Misclassification Pattern</a:t>
            </a:r>
          </a:p>
          <a:p>
            <a:r>
              <a:rPr sz="300" b="0"/>
              <a:t/>
            </a:r>
          </a:p>
          <a:p>
            <a:r>
              <a:rPr sz="850" b="0"/>
              <a:t>• neutral → positive: 105 (15.3%) — dominant, subtle smile reactions</a:t>
            </a:r>
          </a:p>
          <a:p>
            <a:r>
              <a:rPr sz="850" b="0"/>
              <a:t>• negative → neutral: 27 (49.1% of negative) — frustrasi mild ≈ deep focus</a:t>
            </a:r>
          </a:p>
          <a:p>
            <a:r>
              <a:rPr sz="850" b="0"/>
              <a:t>• neutral → negative: 49 (7.1%)</a:t>
            </a:r>
          </a:p>
          <a:p>
            <a:r>
              <a:rPr sz="850" b="0"/>
              <a:t>• Cross-valence confusion total: 13 (1.4%) — rendah</a:t>
            </a:r>
          </a:p>
          <a:p>
            <a:r>
              <a:rPr sz="400" b="0"/>
              <a:t/>
            </a:r>
          </a:p>
          <a:p>
            <a:r>
              <a:rPr sz="900" b="1"/>
              <a:t>Strong valence discrimination:</a:t>
            </a:r>
          </a:p>
          <a:p>
            <a:r>
              <a:rPr sz="850" b="0"/>
              <a:t>positive ↔ negative confusion hampir nol. Konsisten Russell 1980 — valence dimension paling prominent.</a:t>
            </a:r>
          </a:p>
          <a:p>
            <a:r>
              <a:rPr sz="850" b="0"/>
              <a:t>Negative recall rendah (0.382) karena boundary neutral-negative ambiguous di natural data.</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