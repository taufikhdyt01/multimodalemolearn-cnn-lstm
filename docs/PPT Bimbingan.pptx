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1" r:id="rId131"/>
    <p:sldId id="390" r:id="rId140"/>
    <p:sldId id="382" r:id="rId132"/>
    <p:sldId id="389" r:id="rId139"/>
    <p:sldId id="383" r:id="rId133"/>
    <p:sldId id="384" r:id="rId134"/>
    <p:sldId id="388" r:id="rId138"/>
    <p:sldId id="385" r:id="rId135"/>
    <p:sldId id="387" r:id="rId137"/>
    <p:sldId id="386" r:id="rId136"/>
    <p:sldId id="391" r:id="rId141"/>
    <p:sldId id="393" r:id="rId142"/>
    <p:sldId id="365" r:id="rId115"/>
    <p:sldId id="337" r:id="rId87"/>
    <p:sldId id="392" r:id="rId130"/>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5.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5.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33.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2.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34.xml"/><Relationship Id="rId131" Type="http://schemas.openxmlformats.org/officeDocument/2006/relationships/slide" Target="slides/slide121.xml"/><Relationship Id="rId132" Type="http://schemas.openxmlformats.org/officeDocument/2006/relationships/slide" Target="slides/slide123.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8.xml"/><Relationship Id="rId136" Type="http://schemas.openxmlformats.org/officeDocument/2006/relationships/slide" Target="slides/slide130.xml"/><Relationship Id="rId137" Type="http://schemas.openxmlformats.org/officeDocument/2006/relationships/slide" Target="slides/slide129.xml"/><Relationship Id="rId138" Type="http://schemas.openxmlformats.org/officeDocument/2006/relationships/slide" Target="slides/slide127.xml"/><Relationship Id="rId139" Type="http://schemas.openxmlformats.org/officeDocument/2006/relationships/slide" Target="slides/slide124.xml"/><Relationship Id="rId140" Type="http://schemas.openxmlformats.org/officeDocument/2006/relationships/slide" Target="slides/slide122.xml"/><Relationship Id="rId141" Type="http://schemas.openxmlformats.org/officeDocument/2006/relationships/slide" Target="slides/slide131.xml"/><Relationship Id="rId142" Type="http://schemas.openxmlformats.org/officeDocument/2006/relationships/slide" Target="slides/slide1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 ★</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 ★</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0.270 (scratch B1)</a:t>
                      </a:r>
                    </a:p>
                  </a:txBody>
                  <a:tcPr>
                    <a:solidFill>
                      <a:srgbClr val="E6F4EA"/>
                    </a:solidFill>
                  </a:tcPr>
                </a:tc>
                <a:tc>
                  <a:txBody>
                    <a:bodyPr/>
                    <a:lstStyle/>
                    <a:p>
                      <a:pPr algn="ctr"/>
                      <a:r>
                        <a:rPr sz="850" b="0">
                          <a:solidFill>
                            <a:srgbClr val="202020"/>
                          </a:solidFill>
                        </a:rPr>
                        <a:t>0.479 (scratch B2)</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32: Early Fusion TL B3 tembus best di 7-class (0.333)</a:t>
            </a:r>
          </a:p>
          <a:p>
            <a:r>
              <a:rPr sz="900" b="0"/>
              <a:t>Melampaui Intermediate TL B3 (0.292) dan Late Fusion scratch B1 (0.270, val-tuned). Kombinasi heatmap channel + class weights + augmentasi + TL bekerja sinergis untuk skenario kelas banyak + imbalance ekstrem.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35: Ranking fusion strategy berbeda per granularitas kelas (val-tuned)</a:t>
            </a:r>
          </a:p>
          <a:p>
            <a:r>
              <a:rPr sz="900" b="0"/>
              <a:t>7-class: Early TL B3 (0.333) &gt; Intermediate TL B3 (0.292) &gt; Late Fusion scratch B1 (0.270). 4-class: Intermediate TL B3 (0.521) &gt; Late Fusion scratch B2 (0.479) &gt; Early TL B1 (0.471). Early Fusion juara di high-granularity, Intermediate juara di low-granularity.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0.246</a:t>
                      </a:r>
                    </a:p>
                  </a:txBody>
                  <a:tcPr>
                    <a:solidFill>
                      <a:srgbClr val="E8F0FE"/>
                    </a:solidFill>
                  </a:tcPr>
                </a:tc>
                <a:tc>
                  <a:txBody>
                    <a:bodyPr/>
                    <a:lstStyle/>
                    <a:p>
                      <a:pPr algn="ctr"/>
                      <a:r>
                        <a:rPr sz="750" b="0">
                          <a:solidFill>
                            <a:srgbClr val="202020"/>
                          </a:solidFill>
                        </a:rPr>
                        <a:t>0.794</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0.253</a:t>
                      </a:r>
                    </a:p>
                  </a:txBody>
                  <a:tcPr>
                    <a:solidFill>
                      <a:srgbClr val="E8F0FE"/>
                    </a:solidFill>
                  </a:tcPr>
                </a:tc>
                <a:tc>
                  <a:txBody>
                    <a:bodyPr/>
                    <a:lstStyle/>
                    <a:p>
                      <a:pPr algn="ctr"/>
                      <a:r>
                        <a:rPr sz="750" b="0">
                          <a:solidFill>
                            <a:srgbClr val="202020"/>
                          </a:solidFill>
                        </a:rPr>
                        <a:t>0.713</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0.713</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0.457</a:t>
                      </a:r>
                    </a:p>
                  </a:txBody>
                  <a:tcPr>
                    <a:solidFill>
                      <a:srgbClr val="E8F0FE"/>
                    </a:solidFill>
                  </a:tcPr>
                </a:tc>
                <a:tc>
                  <a:txBody>
                    <a:bodyPr/>
                    <a:lstStyle/>
                    <a:p>
                      <a:pPr algn="ctr"/>
                      <a:r>
                        <a:rPr sz="750" b="0">
                          <a:solidFill>
                            <a:srgbClr val="202020"/>
                          </a:solidFill>
                        </a:rPr>
                        <a:t>0.822</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0.822</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0.471</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 Eksplorasi Selesai (Negative Result)</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0"/>
              <a:t>Konsolidasi nb 71 (CNN TL) + nb 72 (Late Fusion TL) + nb 78 (Intermediate TL) — 4 loss × 3 arsitektur, hyperparam align (EPOCHS=50, LR=5e-5), selection by val macro.</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Arsitektur</a:t>
                      </a:r>
                    </a:p>
                  </a:txBody>
                  <a:tcPr>
                    <a:solidFill>
                      <a:srgbClr val="1A73E8"/>
                    </a:solidFill>
                  </a:tcPr>
                </a:tc>
                <a:tc>
                  <a:txBody>
                    <a:bodyPr/>
                    <a:lstStyle/>
                    <a:p>
                      <a:pPr algn="ctr"/>
                      <a:r>
                        <a:rPr sz="900" b="1">
                          <a:solidFill>
                            <a:srgbClr val="FFFFFF"/>
                          </a:solidFill>
                        </a:rPr>
                        <a:t>A Hard CE</a:t>
                      </a:r>
                    </a:p>
                  </a:txBody>
                  <a:tcPr>
                    <a:solidFill>
                      <a:srgbClr val="1A73E8"/>
                    </a:solidFill>
                  </a:tcPr>
                </a:tc>
                <a:tc>
                  <a:txBody>
                    <a:bodyPr/>
                    <a:lstStyle/>
                    <a:p>
                      <a:pPr algn="ctr"/>
                      <a:r>
                        <a:rPr sz="900" b="1">
                          <a:solidFill>
                            <a:srgbClr val="FFFFFF"/>
                          </a:solidFill>
                        </a:rPr>
                        <a:t>C KL-div</a:t>
                      </a:r>
                    </a:p>
                  </a:txBody>
                  <a:tcPr>
                    <a:solidFill>
                      <a:srgbClr val="1A73E8"/>
                    </a:solidFill>
                  </a:tcPr>
                </a:tc>
                <a:tc>
                  <a:txBody>
                    <a:bodyPr/>
                    <a:lstStyle/>
                    <a:p>
                      <a:pPr algn="ctr"/>
                      <a:r>
                        <a:rPr sz="900" b="1">
                          <a:solidFill>
                            <a:srgbClr val="FFFFFF"/>
                          </a:solidFill>
                        </a:rPr>
                        <a:t>Kesimpulan</a:t>
                      </a:r>
                    </a:p>
                  </a:txBody>
                  <a:tcPr>
                    <a:solidFill>
                      <a:srgbClr val="1A73E8"/>
                    </a:solidFill>
                  </a:tcPr>
                </a:tc>
              </a:tr>
              <a:tr h="320040">
                <a:tc>
                  <a:txBody>
                    <a:bodyPr/>
                    <a:lstStyle/>
                    <a:p>
                      <a:pPr algn="l"/>
                      <a:r>
                        <a:rPr sz="850" b="1">
                          <a:solidFill>
                            <a:srgbClr val="202020"/>
                          </a:solidFill>
                        </a:rPr>
                        <a:t>CNN TL 4c B1 (nb 71)</a:t>
                      </a:r>
                    </a:p>
                  </a:txBody>
                  <a:tcPr>
                    <a:solidFill>
                      <a:srgbClr val="E8F0FE"/>
                    </a:solidFill>
                  </a:tcPr>
                </a:tc>
                <a:tc>
                  <a:txBody>
                    <a:bodyPr/>
                    <a:lstStyle/>
                    <a:p>
                      <a:pPr algn="ctr"/>
                      <a:r>
                        <a:rPr sz="850" b="0">
                          <a:solidFill>
                            <a:srgbClr val="202020"/>
                          </a:solidFill>
                        </a:rPr>
                        <a:t>0.432</a:t>
                      </a:r>
                    </a:p>
                  </a:txBody>
                  <a:tcPr>
                    <a:solidFill>
                      <a:srgbClr val="E8F0FE"/>
                    </a:solidFill>
                  </a:tcPr>
                </a:tc>
                <a:tc>
                  <a:txBody>
                    <a:bodyPr/>
                    <a:lstStyle/>
                    <a:p>
                      <a:pPr algn="ctr"/>
                      <a:r>
                        <a:rPr sz="850" b="0">
                          <a:solidFill>
                            <a:srgbClr val="202020"/>
                          </a:solidFill>
                        </a:rPr>
                        <a:t>0.427</a:t>
                      </a:r>
                    </a:p>
                  </a:txBody>
                  <a:tcPr>
                    <a:solidFill>
                      <a:srgbClr val="E8F0FE"/>
                    </a:solidFill>
                  </a:tcPr>
                </a:tc>
                <a:tc>
                  <a:txBody>
                    <a:bodyPr/>
                    <a:lstStyle/>
                    <a:p>
                      <a:pPr algn="ctr"/>
                      <a:r>
                        <a:rPr sz="850" b="0">
                          <a:solidFill>
                            <a:srgbClr val="202020"/>
                          </a:solidFill>
                        </a:rPr>
                        <a:t>Tied dalam variance (val N/A)</a:t>
                      </a:r>
                    </a:p>
                  </a:txBody>
                  <a:tcPr>
                    <a:solidFill>
                      <a:srgbClr val="E8F0FE"/>
                    </a:solidFill>
                  </a:tcPr>
                </a:tc>
              </a:tr>
              <a:tr h="320040">
                <a:tc>
                  <a:txBody>
                    <a:bodyPr/>
                    <a:lstStyle/>
                    <a:p>
                      <a:pPr algn="l"/>
                      <a:r>
                        <a:rPr sz="850" b="1">
                          <a:solidFill>
                            <a:srgbClr val="202020"/>
                          </a:solidFill>
                        </a:rPr>
                        <a:t>Late Fusion TL 4c (nb 72)</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0.437</a:t>
                      </a:r>
                    </a:p>
                  </a:txBody>
                  <a:tcPr>
                    <a:solidFill>
                      <a:srgbClr val="FFFFFF"/>
                    </a:solidFill>
                  </a:tcPr>
                </a:tc>
                <a:tc>
                  <a:txBody>
                    <a:bodyPr/>
                    <a:lstStyle/>
                    <a:p>
                      <a:pPr algn="ctr"/>
                      <a:r>
                        <a:rPr sz="850" b="0">
                          <a:solidFill>
                            <a:srgbClr val="202020"/>
                          </a:solidFill>
                        </a:rPr>
                        <a:t>&lt; baseline val-tuned 0.466</a:t>
                      </a:r>
                    </a:p>
                  </a:txBody>
                  <a:tcPr>
                    <a:solidFill>
                      <a:srgbClr val="FFFFFF"/>
                    </a:solidFill>
                  </a:tcPr>
                </a:tc>
              </a:tr>
              <a:tr h="320040">
                <a:tc>
                  <a:txBody>
                    <a:bodyPr/>
                    <a:lstStyle/>
                    <a:p>
                      <a:pPr algn="l"/>
                      <a:r>
                        <a:rPr sz="850" b="1">
                          <a:solidFill>
                            <a:srgbClr val="202020"/>
                          </a:solidFill>
                        </a:rPr>
                        <a:t>Intermediate TL 4c B1 (nb 78)</a:t>
                      </a:r>
                    </a:p>
                  </a:txBody>
                  <a:tcPr>
                    <a:solidFill>
                      <a:srgbClr val="E8F0FE"/>
                    </a:solidFill>
                  </a:tcPr>
                </a:tc>
                <a:tc>
                  <a:txBody>
                    <a:bodyPr/>
                    <a:lstStyle/>
                    <a:p>
                      <a:pPr algn="ctr"/>
                      <a:r>
                        <a:rPr sz="850" b="0">
                          <a:solidFill>
                            <a:srgbClr val="202020"/>
                          </a:solidFill>
                        </a:rPr>
                        <a:t>0.485</a:t>
                      </a:r>
                    </a:p>
                  </a:txBody>
                  <a:tcPr>
                    <a:solidFill>
                      <a:srgbClr val="E8F0FE"/>
                    </a:solidFill>
                  </a:tcPr>
                </a:tc>
                <a:tc>
                  <a:txBody>
                    <a:bodyPr/>
                    <a:lstStyle/>
                    <a:p>
                      <a:pPr algn="ctr"/>
                      <a:r>
                        <a:rPr sz="850" b="0">
                          <a:solidFill>
                            <a:srgbClr val="202020"/>
                          </a:solidFill>
                        </a:rPr>
                        <a:t>0.453</a:t>
                      </a:r>
                    </a:p>
                  </a:txBody>
                  <a:tcPr>
                    <a:solidFill>
                      <a:srgbClr val="E8F0FE"/>
                    </a:solidFill>
                  </a:tcPr>
                </a:tc>
                <a:tc>
                  <a:txBody>
                    <a:bodyPr/>
                    <a:lstStyle/>
                    <a:p>
                      <a:pPr algn="ctr"/>
                      <a:r>
                        <a:rPr sz="850" b="0">
                          <a:solidFill>
                            <a:srgbClr val="202020"/>
                          </a:solidFill>
                        </a:rPr>
                        <a:t>Hard CE juara by val (0.480)</a:t>
                      </a:r>
                    </a:p>
                  </a:txBody>
                  <a:tcPr>
                    <a:solidFill>
                      <a:srgbClr val="E8F0FE"/>
                    </a:solidFill>
                  </a:tcPr>
                </a:tc>
              </a:tr>
              <a:tr h="320040">
                <a:tc>
                  <a:txBody>
                    <a:bodyPr/>
                    <a:lstStyle/>
                    <a:p>
                      <a:pPr algn="l"/>
                      <a:r>
                        <a:rPr sz="850" b="1">
                          <a:solidFill>
                            <a:srgbClr val="202020"/>
                          </a:solidFill>
                        </a:rPr>
                        <a:t>Variance single-seed</a:t>
                      </a:r>
                    </a:p>
                  </a:txBody>
                  <a:tcPr>
                    <a:solidFill>
                      <a:srgbClr val="FFFFFF"/>
                    </a:solidFill>
                  </a:tcPr>
                </a:tc>
                <a:tc>
                  <a:txBody>
                    <a:bodyPr/>
                    <a:lstStyle/>
                    <a:p>
                      <a:pPr algn="ctr"/>
                      <a:r>
                        <a:rPr sz="850" b="0">
                          <a:solidFill>
                            <a:srgbClr val="202020"/>
                          </a:solidFill>
                        </a:rPr>
                        <a:t>±0.05-0.09</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khas DL — multi-seed needed</a:t>
                      </a:r>
                    </a:p>
                  </a:txBody>
                  <a:tcPr>
                    <a:solidFill>
                      <a:srgbClr val="FFFFFF"/>
                    </a:solidFill>
                  </a:tcPr>
                </a:tc>
              </a:tr>
              <a:tr h="320040">
                <a:tc>
                  <a:txBody>
                    <a:bodyPr/>
                    <a:lstStyle/>
                    <a:p>
                      <a:pPr algn="l"/>
                      <a:r>
                        <a:rPr sz="850" b="1">
                          <a:solidFill>
                            <a:srgbClr val="202020"/>
                          </a:solidFill>
                        </a:rPr>
                        <a:t>Hipotesis</a:t>
                      </a:r>
                    </a:p>
                  </a:txBody>
                  <a:tcPr>
                    <a:solidFill>
                      <a:srgbClr val="E6F4EA"/>
                    </a:solidFill>
                  </a:tcPr>
                </a:tc>
                <a:tc>
                  <a:txBody>
                    <a:bodyPr/>
                    <a:lstStyle/>
                    <a:p>
                      <a:pPr algn="ctr"/>
                      <a:r>
                        <a:rPr sz="850" b="0">
                          <a:solidFill>
                            <a:srgbClr val="202020"/>
                          </a:solidFill>
                        </a:rPr>
                        <a:t>Tidak terkonfirmasi</a:t>
                      </a:r>
                    </a:p>
                  </a:txBody>
                  <a:tcPr>
                    <a:solidFill>
                      <a:srgbClr val="E6F4EA"/>
                    </a:solidFill>
                  </a:tcPr>
                </a:tc>
                <a:tc>
                  <a:txBody>
                    <a:bodyPr/>
                    <a:lstStyle/>
                    <a:p>
                      <a:pPr algn="ctr"/>
                      <a:r>
                        <a:rPr sz="850" b="0">
                          <a:solidFill>
                            <a:srgbClr val="202020"/>
                          </a:solidFill>
                        </a:rPr>
                        <a:t>—</a:t>
                      </a:r>
                    </a:p>
                  </a:txBody>
                  <a:tcPr>
                    <a:solidFill>
                      <a:srgbClr val="E6F4EA"/>
                    </a:solidFill>
                  </a:tcPr>
                </a:tc>
                <a:tc>
                  <a:txBody>
                    <a:bodyPr/>
                    <a:lstStyle/>
                    <a:p>
                      <a:pPr algn="ctr"/>
                      <a:r>
                        <a:rPr sz="850" b="0">
                          <a:solidFill>
                            <a:srgbClr val="202020"/>
                          </a:solidFill>
                        </a:rPr>
                        <a:t>STOP eksplorasi</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Konsolidasi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T41: Single-seed variance ±0.05-0.09 — terlalu besar untuk klaim marginal</a:t>
            </a:r>
          </a:p>
          <a:p>
            <a:r>
              <a:rPr sz="900" b="0"/>
              <a:t>Gap antar loss config 0.02-0.03, di bawah variance. Mustahil klaim "soft label menang" tanpa multi-seed (3-5 run minimum).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T42: KL-div juara 0.517 di run sebelumnya adalah fluke</a:t>
            </a:r>
          </a:p>
          <a:p>
            <a:r>
              <a:rPr sz="900" b="0"/>
              <a:t>Re-run dengan setup konsisten kasih KL-div = 0.427 di CNN TL (selisih 0.09 dari run lama) — manifestasi pure seed/convergence variance.</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T43: Soft label tidak transfer ke fusion</a:t>
            </a:r>
          </a:p>
          <a:p>
            <a:r>
              <a:rPr sz="900" b="0"/>
              <a:t>Late Fusion TL gagal (0.432-0.437 vs baseline 0.466). Intermediate TL: Hard CE menang by val. Modality interaction dominates over loss-function nuance.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T44: Status — stop eksplorasi soft label</a:t>
            </a:r>
          </a:p>
          <a:p>
            <a:r>
              <a:rPr sz="900" b="0"/>
              <a:t>Hipotesis tidak terkonfirmasi. Fokus pindah ke Geometric Features (Liliana Table 3) + GCN Preprocessing (Pitaloka 2017) yang potensinya lebih jelas.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Eksperimen Lanjutan — Paper-Grounded Experiments</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Tiap eksperimen dirancang berbasis paper referensi — metodologi jelas, reproducible, dan langsung terhubung ke literatur.</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Liliana et al. (2019) — Cognitive Processing (Springer)</a:t>
            </a:r>
          </a:p>
          <a:p>
            <a:r>
              <a:rPr sz="850" b="0"/>
              <a:t>"Fuzzy emotion: a natural approach to automatic facial expression recognition"  [first author = dosen pembimbing]</a:t>
            </a:r>
          </a:p>
          <a:p>
            <a:r>
              <a:rPr sz="300" b="0"/>
              <a:t/>
            </a:r>
          </a:p>
          <a:p>
            <a:r>
              <a:rPr sz="950" b="1"/>
              <a:t>(A) Soft Label Training  ✅ DONE</a:t>
            </a:r>
          </a:p>
          <a:p>
            <a:r>
              <a:rPr sz="900" b="0"/>
              <a:t>   → Face API distribusi 7-dim sebagai soft target (fuzzy emotion concept)</a:t>
            </a:r>
          </a:p>
          <a:p>
            <a:r>
              <a:rPr sz="900" b="0"/>
              <a:t>   → nb 71 (CNN TL): KL-div 0.517 vs Hard 0.427 (+0.090)</a:t>
            </a:r>
          </a:p>
          <a:p>
            <a:r>
              <a:rPr sz="900" b="0"/>
              <a:t>   → nb 72 (Late Fusion TL): 0.437 — gagal transfer ke weighted softmax</a:t>
            </a:r>
          </a:p>
          <a:p>
            <a:r>
              <a:rPr sz="900" b="0"/>
              <a:t>   → nb 78 (Intermediate TL): queued — joint training + soft target</a:t>
            </a:r>
          </a:p>
          <a:p>
            <a:r>
              <a:rPr sz="300" b="0"/>
              <a:t/>
            </a:r>
          </a:p>
          <a:p>
            <a:r>
              <a:rPr sz="950" b="1"/>
              <a:t>(B) Geometric Features (Table 3 paper)</a:t>
            </a:r>
          </a:p>
          <a:p>
            <a:r>
              <a:rPr sz="900" b="0"/>
              <a:t>   → 10 komponen facial × 2 metrik (eccentricity + dist ratio) = 20-d GF</a:t>
            </a:r>
          </a:p>
          <a:p>
            <a:r>
              <a:rPr sz="900" b="0"/>
              <a:t>   → FCNN_geom (20-d) vs FCNN raw (136-d) — test interpretability</a:t>
            </a:r>
          </a:p>
          <a:p>
            <a:r>
              <a:rPr sz="300" b="0"/>
              <a:t/>
            </a:r>
          </a:p>
          <a:p>
            <a:r>
              <a:rPr sz="950" b="1"/>
              <a:t>(C) Geometric + Soft Label Combined  ★★★★★</a:t>
            </a:r>
          </a:p>
          <a:p>
            <a:r>
              <a:rPr sz="900" b="0"/>
              <a:t>   → Double-extension: 20-d GF + fuzzy soft target (kombinasi A + B)</a:t>
            </a:r>
          </a:p>
          <a:p>
            <a:r>
              <a:rPr sz="900" b="0"/>
              <a:t>   → Novelty tertinggi — direct follow-up dari paper dosen</a:t>
            </a:r>
          </a:p>
          <a:p>
            <a:r>
              <a:rPr sz="300" b="0"/>
              <a:t/>
            </a:r>
          </a:p>
          <a:p>
            <a:r>
              <a:rPr sz="950" b="1"/>
              <a:t>(D) FEIS Fuzzy Rule-Based (replikasi)</a:t>
            </a:r>
          </a:p>
          <a:p>
            <a:r>
              <a:rPr sz="900" b="0"/>
              <a:t>   → Mamdani inference, 6 emotion engines — non-DL baseline</a:t>
            </a:r>
          </a:p>
          <a:p>
            <a:r>
              <a:rPr sz="900" b="0"/>
              <a:t>   → Bandingkan vs DL: apakah rule-based lebih robust di natural data?</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Pitaloka et al. (2017)</a:t>
            </a:r>
          </a:p>
          <a:p>
            <a:r>
              <a:rPr sz="850" b="0"/>
              <a:t>"Enhancing CNN with Preprocessing Stage in Automatic Emotion Recognition"</a:t>
            </a:r>
          </a:p>
          <a:p>
            <a:r>
              <a:rPr sz="300" b="0"/>
              <a:t/>
            </a:r>
          </a:p>
          <a:p>
            <a:r>
              <a:rPr sz="950" b="1"/>
              <a:t>(E) GCN Preprocessing Ablation</a:t>
            </a:r>
          </a:p>
          <a:p>
            <a:r>
              <a:rPr sz="900" b="0"/>
              <a:t>   → Paper menunjukkan Global Contrast Normalization &gt; min-max</a:t>
            </a:r>
          </a:p>
          <a:p>
            <a:r>
              <a:rPr sz="900" b="0"/>
              <a:t>   → Ablation: {min-max, GCN, HistEq} × CNN TL best baseline</a:t>
            </a:r>
          </a:p>
          <a:p>
            <a:r>
              <a:rPr sz="900" b="0"/>
              <a:t>   → Quick win: 0.5-1 hari, terukur langsung vs baseline 0.521</a:t>
            </a:r>
          </a:p>
          <a:p>
            <a:r>
              <a:rPr sz="800" b="0"/>
              <a:t/>
            </a:r>
          </a:p>
          <a:p>
            <a:r>
              <a:rPr sz="1000" b="1"/>
              <a:t>Catatan — Pemilihan Paper Referensi:</a:t>
            </a:r>
          </a:p>
          <a:p>
            <a:r>
              <a:rPr sz="900" b="0"/>
              <a:t>• Liliana 2019 dipilih karena paper dosen pembimbing (first author)</a:t>
            </a:r>
          </a:p>
          <a:p>
            <a:r>
              <a:rPr sz="900" b="0"/>
              <a:t>  — novelty tesis = direct extension work beliau</a:t>
            </a:r>
          </a:p>
          <a:p>
            <a:r>
              <a:rPr sz="900" b="0"/>
              <a:t>• Pitaloka 2017 dipilih karena ablation preprocessing</a:t>
            </a:r>
          </a:p>
          <a:p>
            <a:r>
              <a:rPr sz="900" b="0"/>
              <a:t>  — quick win, sesuai pipeline saat ini</a:t>
            </a:r>
          </a:p>
          <a:p>
            <a:r>
              <a:rPr sz="900" b="0"/>
              <a:t>• Total 5 eksperimen paper-grounded (A-E), semua sejalan</a:t>
            </a:r>
          </a:p>
          <a:p>
            <a:r>
              <a:rPr sz="900" b="0"/>
              <a:t>  dengan novelty tesis + paper JITeCS.</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berdasarkan paper-grounding + novelty:</a:t>
            </a:r>
          </a:p>
          <a:p>
            <a:r>
              <a:rPr sz="300" b="0"/>
              <a:t/>
            </a:r>
          </a:p>
          <a:p>
            <a:r>
              <a:rPr sz="950" b="0"/>
              <a:t>• Liliana family (A-D): direct extension paper dosen → novelty tertinggi untuk tesis + potensi paper follow-up</a:t>
            </a:r>
          </a:p>
          <a:p>
            <a:r>
              <a:rPr sz="950" b="0"/>
              <a:t>• Pitaloka (E): ablation terukur, quick win — memperkuat preprocessing choice di paper JITeCS</a:t>
            </a:r>
          </a:p>
          <a:p>
            <a:r>
              <a:rPr sz="300" b="0"/>
              <a:t/>
            </a:r>
          </a:p>
          <a:p>
            <a:r>
              <a:rPr sz="900" b="0"/>
              <a:t>Catatan: GradCAM (arahan dosen, terpisah) sudah in-progress via nb 73 untuk qualitative analysis BAB Discussion — bukan push SOTA.</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per Apr 2026: A DONE (nb 71/72) + nb 78 queued  |  B/C/D/E belum dimulai  |  Detail: docs/eksplorasi_lanjutan.md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a:t>Pertanyaan Bimbingan — Update Paper</a:t>
            </a:r>
          </a:p>
        </p:txBody>
      </p:sp>
      <p:sp>
        <p:nvSpPr>
          <p:cNvPr id="3" name="TextBox 2"/>
          <p:cNvSpPr txBox="1"/>
          <p:nvPr/>
        </p:nvSpPr>
        <p:spPr>
          <a:xfrm>
            <a:off x="274320" y="548640"/>
            <a:ext cx="8595360" cy="320040"/>
          </a:xfrm>
          <a:prstGeom prst="rect">
            <a:avLst/>
          </a:prstGeom>
          <a:noFill/>
        </p:spPr>
        <p:txBody>
          <a:bodyPr wrap="square" lIns="0" rIns="0" tIns="0" bIns="0">
            <a:spAutoFit/>
          </a:bodyPr>
          <a:lstStyle/>
          <a:p>
            <a:r>
              <a:rPr sz="1300" b="1">
                <a:solidFill>
                  <a:srgbClr val="2E5E96"/>
                </a:solidFill>
              </a:rPr>
              <a:t>1. Paper EECCIS 2026 (Accepted)</a:t>
            </a:r>
          </a:p>
        </p:txBody>
      </p:sp>
      <p:sp>
        <p:nvSpPr>
          <p:cNvPr id="4" name="TextBox 3"/>
          <p:cNvSpPr txBox="1"/>
          <p:nvPr/>
        </p:nvSpPr>
        <p:spPr>
          <a:xfrm>
            <a:off x="274320" y="896112"/>
            <a:ext cx="8595360" cy="274320"/>
          </a:xfrm>
          <a:prstGeom prst="rect">
            <a:avLst/>
          </a:prstGeom>
          <a:noFill/>
        </p:spPr>
        <p:txBody>
          <a:bodyPr wrap="square" lIns="0" rIns="0" tIns="0" bIns="0">
            <a:spAutoFit/>
          </a:bodyPr>
          <a:lstStyle/>
          <a:p>
            <a:r>
              <a:rPr sz="1000" b="0"/>
              <a:t>Judul: "Automated Engagement Assessment in Block-Based Programming Using Facial Emotion Recognition"</a:t>
            </a:r>
          </a:p>
        </p:txBody>
      </p:sp>
      <p:sp>
        <p:nvSpPr>
          <p:cNvPr id="5" name="TextBox 4"/>
          <p:cNvSpPr txBox="1"/>
          <p:nvPr/>
        </p:nvSpPr>
        <p:spPr>
          <a:xfrm>
            <a:off x="274320" y="1188720"/>
            <a:ext cx="8595360" cy="1005840"/>
          </a:xfrm>
          <a:prstGeom prst="rect">
            <a:avLst/>
          </a:prstGeom>
          <a:noFill/>
        </p:spPr>
        <p:txBody>
          <a:bodyPr wrap="square" lIns="0" rIns="0" tIns="0" bIns="0">
            <a:spAutoFit/>
          </a:bodyPr>
          <a:lstStyle/>
          <a:p>
            <a:r>
              <a:rPr sz="1000" b="1"/>
              <a:t>Pertanyaan:</a:t>
            </a:r>
          </a:p>
          <a:p>
            <a:r>
              <a:rPr sz="950" b="0"/>
              <a:t>• Langkah-langkah revisi final manuscript — apa yang perlu diperhatikan dari reviewer comments?</a:t>
            </a:r>
          </a:p>
          <a:p>
            <a:r>
              <a:rPr sz="950" b="0"/>
              <a:t>• Proses registrasi konferensi — deadline, author registration, early-bird fee?</a:t>
            </a:r>
          </a:p>
          <a:p>
            <a:r>
              <a:rPr sz="950" b="0"/>
              <a:t>• Mekanisme pengajuan pendanaan untuk biaya konferensi — apakah ada skema dari fakultas/universitas?</a:t>
            </a:r>
          </a:p>
        </p:txBody>
      </p:sp>
      <p:sp>
        <p:nvSpPr>
          <p:cNvPr id="6" name="TextBox 5"/>
          <p:cNvSpPr txBox="1"/>
          <p:nvPr/>
        </p:nvSpPr>
        <p:spPr>
          <a:xfrm>
            <a:off x="274320" y="2331720"/>
            <a:ext cx="8595360" cy="320040"/>
          </a:xfrm>
          <a:prstGeom prst="rect">
            <a:avLst/>
          </a:prstGeom>
          <a:noFill/>
        </p:spPr>
        <p:txBody>
          <a:bodyPr wrap="square" lIns="0" rIns="0" tIns="0" bIns="0">
            <a:spAutoFit/>
          </a:bodyPr>
          <a:lstStyle/>
          <a:p>
            <a:r>
              <a:rPr sz="1300" b="1">
                <a:solidFill>
                  <a:srgbClr val="A87143"/>
                </a:solidFill>
              </a:rPr>
              <a:t>2. Paper JITeCS (Draft)</a:t>
            </a:r>
          </a:p>
        </p:txBody>
      </p:sp>
      <p:sp>
        <p:nvSpPr>
          <p:cNvPr id="7" name="TextBox 6"/>
          <p:cNvSpPr txBox="1"/>
          <p:nvPr/>
        </p:nvSpPr>
        <p:spPr>
          <a:xfrm>
            <a:off x="274320" y="2679192"/>
            <a:ext cx="8595360" cy="274320"/>
          </a:xfrm>
          <a:prstGeom prst="rect">
            <a:avLst/>
          </a:prstGeom>
          <a:noFill/>
        </p:spPr>
        <p:txBody>
          <a:bodyPr wrap="square" lIns="0" rIns="0" tIns="0" bIns="0">
            <a:spAutoFit/>
          </a:bodyPr>
          <a:lstStyle/>
          <a:p>
            <a:r>
              <a:rPr sz="1000" b="0"/>
              <a:t>Status: Draft selesai — tersimpan di folder Publikasi + Google Drive template</a:t>
            </a:r>
          </a:p>
        </p:txBody>
      </p:sp>
      <p:sp>
        <p:nvSpPr>
          <p:cNvPr id="8" name="TextBox 7"/>
          <p:cNvSpPr txBox="1"/>
          <p:nvPr/>
        </p:nvSpPr>
        <p:spPr>
          <a:xfrm>
            <a:off x="274320" y="2971800"/>
            <a:ext cx="8595360" cy="274320"/>
          </a:xfrm>
          <a:prstGeom prst="rect">
            <a:avLst/>
          </a:prstGeom>
          <a:noFill/>
        </p:spPr>
        <p:txBody>
          <a:bodyPr wrap="square" lIns="0" rIns="0" tIns="0" bIns="0">
            <a:spAutoFit/>
          </a:bodyPr>
          <a:lstStyle/>
          <a:p>
            <a:r>
              <a:rPr sz="850" b="0">
                <a:solidFill>
                  <a:srgbClr val="2E5E96"/>
                </a:solidFill>
              </a:rPr>
              <a:t>https://drive.google.com/drive/folders/1tbxb0Vi1AsEuXPxNNkRqECmX24P9Kqfj</a:t>
            </a:r>
          </a:p>
        </p:txBody>
      </p:sp>
      <p:sp>
        <p:nvSpPr>
          <p:cNvPr id="9" name="TextBox 8"/>
          <p:cNvSpPr txBox="1"/>
          <p:nvPr/>
        </p:nvSpPr>
        <p:spPr>
          <a:xfrm>
            <a:off x="274320" y="3291840"/>
            <a:ext cx="8595360" cy="1051560"/>
          </a:xfrm>
          <a:prstGeom prst="rect">
            <a:avLst/>
          </a:prstGeom>
          <a:noFill/>
        </p:spPr>
        <p:txBody>
          <a:bodyPr wrap="square" lIns="0" rIns="0" tIns="0" bIns="0">
            <a:spAutoFit/>
          </a:bodyPr>
          <a:lstStyle/>
          <a:p>
            <a:r>
              <a:rPr sz="1000" b="1"/>
              <a:t>Kendala + pertanyaan:</a:t>
            </a:r>
          </a:p>
          <a:p>
            <a:r>
              <a:rPr sz="950" b="0"/>
              <a:t>• Draft saat ini 14 halaman — melebihi 2 halaman dari batas (12 halaman).</a:t>
            </a:r>
          </a:p>
          <a:p>
            <a:r>
              <a:rPr sz="950" b="0"/>
              <a:t>• Saya belum menemukan bagian yang sebaiknya dipangkas — mohon masukan + review.</a:t>
            </a:r>
          </a:p>
          <a:p>
            <a:r>
              <a:rPr sz="950" b="0"/>
              <a:t>• Apakah ada sesi bimbingan hari ini untuk membahas revisi bersama?</a:t>
            </a:r>
          </a:p>
        </p:txBody>
      </p:sp>
      <p:sp>
        <p:nvSpPr>
          <p:cNvPr id="10" name="TextBox 9"/>
          <p:cNvSpPr txBox="1"/>
          <p:nvPr/>
        </p:nvSpPr>
        <p:spPr>
          <a:xfrm>
            <a:off x="274320" y="4526280"/>
            <a:ext cx="8595360" cy="457200"/>
          </a:xfrm>
          <a:prstGeom prst="rect">
            <a:avLst/>
          </a:prstGeom>
          <a:noFill/>
        </p:spPr>
        <p:txBody>
          <a:bodyPr wrap="square" lIns="0" rIns="0" tIns="0" bIns="0">
            <a:spAutoFit/>
          </a:bodyPr>
          <a:lstStyle/>
          <a:p>
            <a:r>
              <a:rPr sz="1000" b="1">
                <a:solidFill>
                  <a:srgbClr val="555555"/>
                </a:solidFill>
              </a:rPr>
              <a:t>Terima kasih banyak atas bimbingannya, Pak.</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35: Space Alignment (arahan dosen #2, nb 75)</a:t>
            </a:r>
          </a:p>
        </p:txBody>
      </p:sp>
      <p:sp>
        <p:nvSpPr>
          <p:cNvPr id="3" name="TextBox 2"/>
          <p:cNvSpPr txBox="1"/>
          <p:nvPr/>
        </p:nvSpPr>
        <p:spPr>
          <a:xfrm>
            <a:off x="274320" y="457200"/>
            <a:ext cx="8595360" cy="292608"/>
          </a:xfrm>
          <a:prstGeom prst="rect">
            <a:avLst/>
          </a:prstGeom>
          <a:noFill/>
        </p:spPr>
        <p:txBody>
          <a:bodyPr wrap="square" lIns="0" rIns="0" tIns="0" bIns="0">
            <a:spAutoFit/>
          </a:bodyPr>
          <a:lstStyle/>
          <a:p>
            <a:r>
              <a:rPr sz="950" b="0">
                <a:solidFill>
                  <a:srgbClr val="555555"/>
                </a:solidFill>
              </a:rPr>
              <a:t>Evaluasi alignment feature space CNN TL (256-d) vs FCNN (128-d) — 4 metode analitis di test set Primer n=929. Positive result, methodology-clean.</a:t>
            </a:r>
          </a:p>
        </p:txBody>
      </p:sp>
      <p:pic>
        <p:nvPicPr>
          <p:cNvPr id="4" name="Picture 3" descr="cca_correlations.png"/>
          <p:cNvPicPr>
            <a:picLocks noChangeAspect="1"/>
          </p:cNvPicPr>
          <p:nvPr/>
        </p:nvPicPr>
        <p:blipFill>
          <a:blip r:embed="rId2"/>
          <a:stretch>
            <a:fillRect/>
          </a:stretch>
        </p:blipFill>
        <p:spPr>
          <a:xfrm>
            <a:off x="228600" y="822960"/>
            <a:ext cx="4206240" cy="2057400"/>
          </a:xfrm>
          <a:prstGeom prst="rect">
            <a:avLst/>
          </a:prstGeom>
        </p:spPr>
      </p:pic>
      <p:sp>
        <p:nvSpPr>
          <p:cNvPr id="5" name="TextBox 4"/>
          <p:cNvSpPr txBox="1"/>
          <p:nvPr/>
        </p:nvSpPr>
        <p:spPr>
          <a:xfrm>
            <a:off x="228600" y="2907792"/>
            <a:ext cx="4206240" cy="228600"/>
          </a:xfrm>
          <a:prstGeom prst="rect">
            <a:avLst/>
          </a:prstGeom>
          <a:noFill/>
        </p:spPr>
        <p:txBody>
          <a:bodyPr wrap="square" lIns="0" rIns="0" tIns="0" bIns="0">
            <a:spAutoFit/>
          </a:bodyPr>
          <a:lstStyle/>
          <a:p>
            <a:r>
              <a:rPr sz="900" b="1"/>
              <a:t>CCA correlations — top-5 mean = 0.978</a:t>
            </a:r>
          </a:p>
        </p:txBody>
      </p:sp>
      <p:pic>
        <p:nvPicPr>
          <p:cNvPr id="6" name="Picture 5" descr="retrieval_topk.png"/>
          <p:cNvPicPr>
            <a:picLocks noChangeAspect="1"/>
          </p:cNvPicPr>
          <p:nvPr/>
        </p:nvPicPr>
        <p:blipFill>
          <a:blip r:embed="rId3"/>
          <a:stretch>
            <a:fillRect/>
          </a:stretch>
        </p:blipFill>
        <p:spPr>
          <a:xfrm>
            <a:off x="4709160" y="822960"/>
            <a:ext cx="4206240" cy="2057400"/>
          </a:xfrm>
          <a:prstGeom prst="rect">
            <a:avLst/>
          </a:prstGeom>
        </p:spPr>
      </p:pic>
      <p:sp>
        <p:nvSpPr>
          <p:cNvPr id="7" name="TextBox 6"/>
          <p:cNvSpPr txBox="1"/>
          <p:nvPr/>
        </p:nvSpPr>
        <p:spPr>
          <a:xfrm>
            <a:off x="4709160" y="2907792"/>
            <a:ext cx="4206240" cy="228600"/>
          </a:xfrm>
          <a:prstGeom prst="rect">
            <a:avLst/>
          </a:prstGeom>
          <a:noFill/>
        </p:spPr>
        <p:txBody>
          <a:bodyPr wrap="square" lIns="0" rIns="0" tIns="0" bIns="0">
            <a:spAutoFit/>
          </a:bodyPr>
          <a:lstStyle/>
          <a:p>
            <a:r>
              <a:rPr sz="900" b="1"/>
              <a:t>Cross-modal retrieval — top-5 = 95.3% (random = 0.54%)</a:t>
            </a:r>
          </a:p>
        </p:txBody>
      </p:sp>
      <p:sp>
        <p:nvSpPr>
          <p:cNvPr id="8" name="TextBox 7"/>
          <p:cNvSpPr txBox="1"/>
          <p:nvPr/>
        </p:nvSpPr>
        <p:spPr>
          <a:xfrm>
            <a:off x="274320" y="3218688"/>
            <a:ext cx="8595360" cy="685800"/>
          </a:xfrm>
          <a:prstGeom prst="rect">
            <a:avLst/>
          </a:prstGeom>
          <a:noFill/>
        </p:spPr>
        <p:txBody>
          <a:bodyPr wrap="square" lIns="0" rIns="0" tIns="0" bIns="0">
            <a:spAutoFit/>
          </a:bodyPr>
          <a:lstStyle/>
          <a:p>
            <a:r>
              <a:rPr sz="950" b="1"/>
              <a:t>Metrik Kunci:</a:t>
            </a:r>
          </a:p>
          <a:p>
            <a:r>
              <a:rPr sz="900" b="0"/>
              <a:t>• CCA top-5 mean = 0.978  (strong linear alignment, well above 0.5 threshold)</a:t>
            </a:r>
          </a:p>
          <a:p>
            <a:r>
              <a:rPr sz="900" b="0"/>
              <a:t>• Paired cosine overall = 0.939  |  per-class konsisten 0.937-0.951 (termasuk minoritas negative n=8)</a:t>
            </a:r>
          </a:p>
          <a:p>
            <a:r>
              <a:rPr sz="900" b="0"/>
              <a:t>• Cross-modal retrieval top-1 = 0.670, top-5 = 0.953, top-20 = 1.000  (random baseline top-5 = 0.005)</a:t>
            </a:r>
          </a:p>
        </p:txBody>
      </p:sp>
      <p:sp>
        <p:nvSpPr>
          <p:cNvPr id="9" name="TextBox 8"/>
          <p:cNvSpPr txBox="1"/>
          <p:nvPr/>
        </p:nvSpPr>
        <p:spPr>
          <a:xfrm>
            <a:off x="274320" y="3950208"/>
            <a:ext cx="8595360" cy="594360"/>
          </a:xfrm>
          <a:prstGeom prst="rect">
            <a:avLst/>
          </a:prstGeom>
          <a:noFill/>
        </p:spPr>
        <p:txBody>
          <a:bodyPr wrap="square" lIns="0" rIns="0" tIns="0" bIns="0">
            <a:spAutoFit/>
          </a:bodyPr>
          <a:lstStyle/>
          <a:p>
            <a:r>
              <a:rPr sz="950" b="1"/>
              <a:t>Interpretasi:</a:t>
            </a:r>
          </a:p>
          <a:p>
            <a:r>
              <a:rPr sz="850" b="0"/>
              <a:t>Image dan landmark stream belajar representasi yang nyaris co-linear di latent space — justifikasi empiris untuk Intermediate Fusion (concat). Konsisten dengan Intermediate TL juara val-tuned 4c (0.521) &gt; Late Fusion TL (0.466). Streams semantically paired meskipun modality berbeda.</a:t>
            </a:r>
          </a:p>
        </p:txBody>
      </p:sp>
      <p:sp>
        <p:nvSpPr>
          <p:cNvPr id="10" name="TextBox 9"/>
          <p:cNvSpPr txBox="1"/>
          <p:nvPr/>
        </p:nvSpPr>
        <p:spPr>
          <a:xfrm>
            <a:off x="274320" y="4617720"/>
            <a:ext cx="8595360" cy="411480"/>
          </a:xfrm>
          <a:prstGeom prst="rect">
            <a:avLst/>
          </a:prstGeom>
          <a:noFill/>
        </p:spPr>
        <p:txBody>
          <a:bodyPr wrap="square" lIns="0" rIns="0" tIns="0" bIns="0">
            <a:spAutoFit/>
          </a:bodyPr>
          <a:lstStyle/>
          <a:p>
            <a:r>
              <a:rPr sz="850" b="1">
                <a:solidFill>
                  <a:srgbClr val="1F3A5F"/>
                </a:solidFill>
              </a:rPr>
              <a:t>Status: Positive result, methodology-clean (analytical, no seed variance). Siap dimasukkan ke paper/tesis Section Discussion sebagai empirical justification fusion strategy.</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