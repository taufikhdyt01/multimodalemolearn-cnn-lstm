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0" r:id="rId130"/>
    <p:sldId id="381" r:id="rId131"/>
    <p:sldId id="390" r:id="rId140"/>
    <p:sldId id="382" r:id="rId132"/>
    <p:sldId id="389" r:id="rId139"/>
    <p:sldId id="383" r:id="rId133"/>
    <p:sldId id="384" r:id="rId134"/>
    <p:sldId id="388" r:id="rId138"/>
    <p:sldId id="385" r:id="rId135"/>
    <p:sldId id="387" r:id="rId137"/>
    <p:sldId id="386" r:id="rId136"/>
    <p:sldId id="391" r:id="rId141"/>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34.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34.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33.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32.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21.xml"/><Relationship Id="rId131" Type="http://schemas.openxmlformats.org/officeDocument/2006/relationships/slide" Target="slides/slide122.xml"/><Relationship Id="rId132" Type="http://schemas.openxmlformats.org/officeDocument/2006/relationships/slide" Target="slides/slide124.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9.xml"/><Relationship Id="rId136" Type="http://schemas.openxmlformats.org/officeDocument/2006/relationships/slide" Target="slides/slide131.xml"/><Relationship Id="rId137" Type="http://schemas.openxmlformats.org/officeDocument/2006/relationships/slide" Target="slides/slide130.xml"/><Relationship Id="rId138" Type="http://schemas.openxmlformats.org/officeDocument/2006/relationships/slide" Target="slides/slide128.xml"/><Relationship Id="rId139" Type="http://schemas.openxmlformats.org/officeDocument/2006/relationships/slide" Target="slides/slide125.xml"/><Relationship Id="rId140" Type="http://schemas.openxmlformats.org/officeDocument/2006/relationships/slide" Target="slides/slide123.xml"/><Relationship Id="rId141" Type="http://schemas.openxmlformats.org/officeDocument/2006/relationships/slide" Target="slides/slide1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0.333</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0.521</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Intermediate TL 4-class B3 = 0.521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(val-tuned proper)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Intermediate TL B3</a:t>
                      </a:r>
                    </a:p>
                  </a:txBody>
                  <a:tcPr>
                    <a:solidFill>
                      <a:srgbClr val="E8F0FE"/>
                    </a:solidFill>
                  </a:tcPr>
                </a:tc>
                <a:tc>
                  <a:txBody>
                    <a:bodyPr/>
                    <a:lstStyle/>
                    <a:p>
                      <a:pPr algn="l"/>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Intermediate TL 4c B3</a:t>
                      </a:r>
                    </a:p>
                  </a:txBody>
                  <a:tcPr>
                    <a:solidFill>
                      <a:srgbClr val="C6EFCE"/>
                    </a:solidFill>
                  </a:tcPr>
                </a:tc>
                <a:tc>
                  <a:txBody>
                    <a:bodyPr/>
                    <a:lstStyle/>
                    <a:p>
                      <a:pPr algn="ctr"/>
                      <a:r>
                        <a:rPr sz="950" b="1">
                          <a:solidFill>
                            <a:srgbClr val="202020"/>
                          </a:solidFill>
                        </a:rPr>
                        <a:t>0.521</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Intermediate TL 4-class B3 conf60 = 0.521 (val-tuned)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0.521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0.333 (Early TL B3)</a:t>
                      </a:r>
                    </a:p>
                  </a:txBody>
                  <a:tcPr>
                    <a:solidFill>
                      <a:srgbClr val="E6F4EA"/>
                    </a:solidFill>
                  </a:tcPr>
                </a:tc>
                <a:tc>
                  <a:txBody>
                    <a:bodyPr/>
                    <a:lstStyle/>
                    <a:p>
                      <a:pPr algn="ctr"/>
                      <a:r>
                        <a:rPr sz="850" b="0">
                          <a:solidFill>
                            <a:srgbClr val="202020"/>
                          </a:solidFill>
                        </a:rPr>
                        <a:t>0.521 (Inter TL B3) ★</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00" b="1" i="0">
                <a:solidFill>
                  <a:srgbClr val="0F9D58"/>
                </a:solidFill>
              </a:rPr>
              <a:t>Temuan 32: Early Fusion TL B3 tembus best di 7-class (0.333)</a:t>
            </a:r>
          </a:p>
          <a:p>
            <a:pPr algn="l"/>
            <a:r>
              <a:rPr sz="850" b="0" i="0">
                <a:solidFill>
                  <a:srgbClr val="202020"/>
                </a:solidFill>
              </a:rPr>
              <a:t>Melampaui Intermediate TL B3 (0.292) dan Late Fusion TL B1 (0.301). Kombinasi heatmap channel + class weights + augmentation + TL bekerja sinergis untuk 7-class.</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0.521 Intermediate TL)</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00" b="1" i="0">
                <a:solidFill>
                  <a:srgbClr val="1A73E8"/>
                </a:solidFill>
              </a:rPr>
              <a:t>Temuan 35: Ranking fusion strategy berbeda per granularitas kelas</a:t>
            </a:r>
          </a:p>
          <a:p>
            <a:pPr algn="l"/>
            <a:r>
              <a:rPr sz="850" b="0" i="0">
                <a:solidFill>
                  <a:srgbClr val="202020"/>
                </a:solidFill>
              </a:rPr>
              <a:t>7-class: Early TL B3 &gt; Late TL B1 &gt; Intermediate TL B3.  4-class: Late TL B3 &gt; Intermediate TL B3 &gt; Early TL B1.  Tidak ada single strategy dominan — pemilihan tergantung konteks task.</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31: Cross-Dataset Evaluation Lengkap (Skema 2)</a:t>
            </a:r>
          </a:p>
        </p:txBody>
      </p:sp>
      <p:sp>
        <p:nvSpPr>
          <p:cNvPr id="4" name="TextBox 3"/>
          <p:cNvSpPr txBox="1"/>
          <p:nvPr/>
        </p:nvSpPr>
        <p:spPr>
          <a:xfrm>
            <a:off x="274320" y="548640"/>
            <a:ext cx="8595360" cy="502920"/>
          </a:xfrm>
          <a:prstGeom prst="rect">
            <a:avLst/>
          </a:prstGeom>
          <a:solidFill>
            <a:srgbClr val="E8F0FE"/>
          </a:solidFill>
        </p:spPr>
        <p:txBody>
          <a:bodyPr wrap="square">
            <a:spAutoFit/>
          </a:bodyPr>
          <a:lstStyle/>
          <a:p>
            <a:pPr algn="l"/>
            <a:r>
              <a:rPr sz="950" b="1" i="0">
                <a:solidFill>
                  <a:srgbClr val="1A73E8"/>
                </a:solidFill>
              </a:rPr>
              <a:t>Train di public FER benchmark → Test di Primer conf60 (929 imgs)</a:t>
            </a:r>
          </a:p>
          <a:p>
            <a:pPr algn="l"/>
            <a:r>
              <a:rPr sz="850" b="0" i="0">
                <a:solidFill>
                  <a:srgbClr val="202020"/>
                </a:solidFill>
              </a:rPr>
              <a:t>Melengkapi Skema 2: CK+/JAFFE/RAF-DB/KDEF × 7c/4c × 6 arsitektur. Sebelumnya hanya CK+ → Primer 7c yang ditabulasi lengkap.</a:t>
            </a:r>
          </a:p>
        </p:txBody>
      </p:sp>
      <p:sp>
        <p:nvSpPr>
          <p:cNvPr id="5" name="TextBox 4"/>
          <p:cNvSpPr txBox="1"/>
          <p:nvPr/>
        </p:nvSpPr>
        <p:spPr>
          <a:xfrm>
            <a:off x="274320" y="1143000"/>
            <a:ext cx="8595360" cy="228600"/>
          </a:xfrm>
          <a:prstGeom prst="rect">
            <a:avLst/>
          </a:prstGeom>
          <a:noFill/>
        </p:spPr>
        <p:txBody>
          <a:bodyPr wrap="none">
            <a:spAutoFit/>
          </a:bodyPr>
          <a:lstStyle/>
          <a:p>
            <a:pPr algn="l"/>
            <a:r>
              <a:rPr sz="1000" b="1" i="0">
                <a:solidFill>
                  <a:srgbClr val="1A73E8"/>
                </a:solidFill>
              </a:rPr>
              <a:t>Best Model per Source Dataset → Primer conf60</a:t>
            </a:r>
          </a:p>
        </p:txBody>
      </p:sp>
      <p:graphicFrame>
        <p:nvGraphicFramePr>
          <p:cNvPr id="6" name="Table 5"/>
          <p:cNvGraphicFramePr>
            <a:graphicFrameLocks noGrp="1"/>
          </p:cNvGraphicFramePr>
          <p:nvPr/>
        </p:nvGraphicFramePr>
        <p:xfrm>
          <a:off x="274320" y="1417320"/>
          <a:ext cx="8595360" cy="2560320"/>
        </p:xfrm>
        <a:graphic>
          <a:graphicData uri="http://schemas.openxmlformats.org/drawingml/2006/table">
            <a:tbl>
              <a:tblPr firstRow="1" bandRow="1"/>
              <a:tblGrid>
                <a:gridCol w="1504188"/>
                <a:gridCol w="2148840"/>
                <a:gridCol w="1181862"/>
                <a:gridCol w="1396746"/>
                <a:gridCol w="1181862"/>
                <a:gridCol w="1181862"/>
              </a:tblGrid>
              <a:tr h="284480">
                <a:tc>
                  <a:txBody>
                    <a:bodyPr/>
                    <a:lstStyle/>
                    <a:p>
                      <a:pPr algn="ctr"/>
                      <a:r>
                        <a:rPr sz="900" b="1">
                          <a:solidFill>
                            <a:srgbClr val="FFFFFF"/>
                          </a:solidFill>
                        </a:rPr>
                        <a:t>Source</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Acc</a:t>
                      </a:r>
                    </a:p>
                  </a:txBody>
                  <a:tcPr>
                    <a:solidFill>
                      <a:srgbClr val="1A73E8"/>
                    </a:solidFill>
                  </a:tcPr>
                </a:tc>
                <a:tc>
                  <a:txBody>
                    <a:bodyPr/>
                    <a:lstStyle/>
                    <a:p>
                      <a:pPr algn="ctr"/>
                      <a:r>
                        <a:rPr sz="900" b="1">
                          <a:solidFill>
                            <a:srgbClr val="FFFFFF"/>
                          </a:solidFill>
                        </a:rPr>
                        <a:t>Macro F1</a:t>
                      </a:r>
                    </a:p>
                  </a:txBody>
                  <a:tcPr>
                    <a:solidFill>
                      <a:srgbClr val="1A73E8"/>
                    </a:solidFill>
                  </a:tcPr>
                </a:tc>
                <a:tc>
                  <a:txBody>
                    <a:bodyPr/>
                    <a:lstStyle/>
                    <a:p>
                      <a:pPr algn="ctr"/>
                      <a:r>
                        <a:rPr sz="900" b="1">
                          <a:solidFill>
                            <a:srgbClr val="FFFFFF"/>
                          </a:solidFill>
                        </a:rPr>
                        <a:t>Micro F1</a:t>
                      </a:r>
                    </a:p>
                  </a:txBody>
                  <a:tcPr>
                    <a:solidFill>
                      <a:srgbClr val="1A73E8"/>
                    </a:solidFill>
                  </a:tcPr>
                </a:tc>
                <a:tc>
                  <a:txBody>
                    <a:bodyPr/>
                    <a:lstStyle/>
                    <a:p>
                      <a:pPr algn="ctr"/>
                      <a:r>
                        <a:rPr sz="900" b="1">
                          <a:solidFill>
                            <a:srgbClr val="FFFFFF"/>
                          </a:solidFill>
                        </a:rPr>
                        <a:t>W-F1</a:t>
                      </a:r>
                    </a:p>
                  </a:txBody>
                  <a:tcPr>
                    <a:solidFill>
                      <a:srgbClr val="1A73E8"/>
                    </a:solidFill>
                  </a:tcPr>
                </a:tc>
              </a:tr>
              <a:tr h="284480">
                <a:tc>
                  <a:txBody>
                    <a:bodyPr/>
                    <a:lstStyle/>
                    <a:p>
                      <a:pPr algn="l"/>
                      <a:r>
                        <a:rPr sz="850" b="1">
                          <a:solidFill>
                            <a:srgbClr val="202020"/>
                          </a:solidFill>
                        </a:rPr>
                        <a:t>CK+ 7c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0.194</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0.739</a:t>
                      </a:r>
                    </a:p>
                  </a:txBody>
                  <a:tcPr>
                    <a:solidFill>
                      <a:srgbClr val="E8F0FE"/>
                    </a:solidFill>
                  </a:tcPr>
                </a:tc>
              </a:tr>
              <a:tr h="284480">
                <a:tc>
                  <a:txBody>
                    <a:bodyPr/>
                    <a:lstStyle/>
                    <a:p>
                      <a:pPr algn="l"/>
                      <a:r>
                        <a:rPr sz="850" b="1">
                          <a:solidFill>
                            <a:srgbClr val="202020"/>
                          </a:solidFill>
                        </a:rPr>
                        <a:t>CK+ 4c</a:t>
                      </a:r>
                    </a:p>
                  </a:txBody>
                  <a:tcPr>
                    <a:solidFill>
                      <a:srgbClr val="E6F4EA"/>
                    </a:solidFill>
                  </a:tcPr>
                </a:tc>
                <a:tc>
                  <a:txBody>
                    <a:bodyPr/>
                    <a:lstStyle/>
                    <a:p>
                      <a:pPr algn="ctr"/>
                      <a:r>
                        <a:rPr sz="850" b="0">
                          <a:solidFill>
                            <a:srgbClr val="202020"/>
                          </a:solidFill>
                        </a:rPr>
                        <a:t>CNN</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0.396 ★</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0.703</a:t>
                      </a:r>
                    </a:p>
                  </a:txBody>
                  <a:tcPr>
                    <a:solidFill>
                      <a:srgbClr val="E6F4EA"/>
                    </a:solidFill>
                  </a:tcPr>
                </a:tc>
              </a:tr>
              <a:tr h="284480">
                <a:tc>
                  <a:txBody>
                    <a:bodyPr/>
                    <a:lstStyle/>
                    <a:p>
                      <a:pPr algn="l"/>
                      <a:r>
                        <a:rPr sz="850" b="1">
                          <a:solidFill>
                            <a:srgbClr val="202020"/>
                          </a:solidFill>
                        </a:rPr>
                        <a:t>JAFFE 7c</a:t>
                      </a:r>
                    </a:p>
                  </a:txBody>
                  <a:tcPr>
                    <a:solidFill>
                      <a:srgbClr val="E8F0FE"/>
                    </a:solidFill>
                  </a:tcPr>
                </a:tc>
                <a:tc>
                  <a:txBody>
                    <a:bodyPr/>
                    <a:lstStyle/>
                    <a:p>
                      <a:pPr algn="ctr"/>
                      <a:r>
                        <a:rPr sz="850" b="0">
                          <a:solidFill>
                            <a:srgbClr val="202020"/>
                          </a:solidFill>
                        </a:rPr>
                        <a:t>Late Fusion</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0.040</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0.054</a:t>
                      </a:r>
                    </a:p>
                  </a:txBody>
                  <a:tcPr>
                    <a:solidFill>
                      <a:srgbClr val="E8F0FE"/>
                    </a:solidFill>
                  </a:tcPr>
                </a:tc>
              </a:tr>
              <a:tr h="284480">
                <a:tc>
                  <a:txBody>
                    <a:bodyPr/>
                    <a:lstStyle/>
                    <a:p>
                      <a:pPr algn="l"/>
                      <a:r>
                        <a:rPr sz="850" b="1">
                          <a:solidFill>
                            <a:srgbClr val="202020"/>
                          </a:solidFill>
                        </a:rPr>
                        <a:t>JAFFE 4c</a:t>
                      </a:r>
                    </a:p>
                  </a:txBody>
                  <a:tcPr>
                    <a:solidFill>
                      <a:srgbClr val="FFFFFF"/>
                    </a:solidFill>
                  </a:tcPr>
                </a:tc>
                <a:tc>
                  <a:txBody>
                    <a:bodyPr/>
                    <a:lstStyle/>
                    <a:p>
                      <a:pPr algn="ctr"/>
                      <a:r>
                        <a:rPr sz="850" b="0">
                          <a:solidFill>
                            <a:srgbClr val="202020"/>
                          </a:solidFill>
                        </a:rPr>
                        <a:t>Intermediate TL</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0.093</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0.073</a:t>
                      </a:r>
                    </a:p>
                  </a:txBody>
                  <a:tcPr>
                    <a:solidFill>
                      <a:srgbClr val="FFFFFF"/>
                    </a:solidFill>
                  </a:tcPr>
                </a:tc>
              </a:tr>
              <a:tr h="284480">
                <a:tc>
                  <a:txBody>
                    <a:bodyPr/>
                    <a:lstStyle/>
                    <a:p>
                      <a:pPr algn="l"/>
                      <a:r>
                        <a:rPr sz="850" b="1">
                          <a:solidFill>
                            <a:srgbClr val="202020"/>
                          </a:solidFill>
                        </a:rPr>
                        <a:t>RAF-DB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0.183</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0.672</a:t>
                      </a:r>
                    </a:p>
                  </a:txBody>
                  <a:tcPr>
                    <a:solidFill>
                      <a:srgbClr val="E8F0FE"/>
                    </a:solidFill>
                  </a:tcPr>
                </a:tc>
              </a:tr>
              <a:tr h="284480">
                <a:tc>
                  <a:txBody>
                    <a:bodyPr/>
                    <a:lstStyle/>
                    <a:p>
                      <a:pPr algn="l"/>
                      <a:r>
                        <a:rPr sz="850" b="1">
                          <a:solidFill>
                            <a:srgbClr val="202020"/>
                          </a:solidFill>
                        </a:rPr>
                        <a:t>RAF-DB 4c</a:t>
                      </a:r>
                    </a:p>
                  </a:txBody>
                  <a:tcPr>
                    <a:solidFill>
                      <a:srgbClr val="E6F4EA"/>
                    </a:solidFill>
                  </a:tcPr>
                </a:tc>
                <a:tc>
                  <a:txBody>
                    <a:bodyPr/>
                    <a:lstStyle/>
                    <a:p>
                      <a:pPr algn="ctr"/>
                      <a:r>
                        <a:rPr sz="850" b="0">
                          <a:solidFill>
                            <a:srgbClr val="202020"/>
                          </a:solidFill>
                        </a:rPr>
                        <a:t>Intermediate</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0.269</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0.594</a:t>
                      </a:r>
                    </a:p>
                  </a:txBody>
                  <a:tcPr>
                    <a:solidFill>
                      <a:srgbClr val="E6F4EA"/>
                    </a:solidFill>
                  </a:tcPr>
                </a:tc>
              </a:tr>
              <a:tr h="284480">
                <a:tc>
                  <a:txBody>
                    <a:bodyPr/>
                    <a:lstStyle/>
                    <a:p>
                      <a:pPr algn="l"/>
                      <a:r>
                        <a:rPr sz="850" b="1">
                          <a:solidFill>
                            <a:srgbClr val="202020"/>
                          </a:solidFill>
                        </a:rPr>
                        <a:t>KDEF 7c</a:t>
                      </a:r>
                    </a:p>
                  </a:txBody>
                  <a:tcPr>
                    <a:solidFill>
                      <a:srgbClr val="E8F0FE"/>
                    </a:solidFill>
                  </a:tcPr>
                </a:tc>
                <a:tc>
                  <a:txBody>
                    <a:bodyPr/>
                    <a:lstStyle/>
                    <a:p>
                      <a:pPr algn="ctr"/>
                      <a:r>
                        <a:rPr sz="850" b="0">
                          <a:solidFill>
                            <a:srgbClr val="202020"/>
                          </a:solidFill>
                        </a:rPr>
                        <a:t>CNN TL</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0.038</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0.036</a:t>
                      </a:r>
                    </a:p>
                  </a:txBody>
                  <a:tcPr>
                    <a:solidFill>
                      <a:srgbClr val="E8F0FE"/>
                    </a:solidFill>
                  </a:tcPr>
                </a:tc>
              </a:tr>
              <a:tr h="284480">
                <a:tc>
                  <a:txBody>
                    <a:bodyPr/>
                    <a:lstStyle/>
                    <a:p>
                      <a:pPr algn="l"/>
                      <a:r>
                        <a:rPr sz="850" b="1">
                          <a:solidFill>
                            <a:srgbClr val="202020"/>
                          </a:solidFill>
                        </a:rPr>
                        <a:t>KDEF 4c</a:t>
                      </a:r>
                    </a:p>
                  </a:txBody>
                  <a:tcPr>
                    <a:solidFill>
                      <a:srgbClr val="FFFFFF"/>
                    </a:solidFill>
                  </a:tcPr>
                </a:tc>
                <a:tc>
                  <a:txBody>
                    <a:bodyPr/>
                    <a:lstStyle/>
                    <a:p>
                      <a:pPr algn="ctr"/>
                      <a:r>
                        <a:rPr sz="850" b="0">
                          <a:solidFill>
                            <a:srgbClr val="202020"/>
                          </a:solidFill>
                        </a:rPr>
                        <a:t>CNN</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0.079</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0.078</a:t>
                      </a:r>
                    </a:p>
                  </a:txBody>
                  <a:tcPr>
                    <a:solidFill>
                      <a:srgbClr val="FFFFFF"/>
                    </a:solidFill>
                  </a:tcPr>
                </a:tc>
              </a:tr>
            </a:tbl>
          </a:graphicData>
        </a:graphic>
      </p:graphicFrame>
      <p:sp>
        <p:nvSpPr>
          <p:cNvPr id="7" name="TextBox 6"/>
          <p:cNvSpPr txBox="1"/>
          <p:nvPr/>
        </p:nvSpPr>
        <p:spPr>
          <a:xfrm>
            <a:off x="274320" y="4114800"/>
            <a:ext cx="8595360" cy="274320"/>
          </a:xfrm>
          <a:prstGeom prst="rect">
            <a:avLst/>
          </a:prstGeom>
          <a:noFill/>
        </p:spPr>
        <p:txBody>
          <a:bodyPr wrap="none">
            <a:spAutoFit/>
          </a:bodyPr>
          <a:lstStyle/>
          <a:p>
            <a:pPr algn="l"/>
            <a:r>
              <a:rPr sz="1100" b="1" i="0">
                <a:solidFill>
                  <a:srgbClr val="202020"/>
                </a:solidFill>
              </a:rPr>
              <a:t>Temuan (36-40)</a:t>
            </a:r>
          </a:p>
        </p:txBody>
      </p:sp>
      <p:sp>
        <p:nvSpPr>
          <p:cNvPr id="8" name="TextBox 7"/>
          <p:cNvSpPr txBox="1"/>
          <p:nvPr/>
        </p:nvSpPr>
        <p:spPr>
          <a:xfrm>
            <a:off x="274320" y="4407408"/>
            <a:ext cx="4206240" cy="1463040"/>
          </a:xfrm>
          <a:prstGeom prst="rect">
            <a:avLst/>
          </a:prstGeom>
          <a:solidFill>
            <a:srgbClr val="FCE8E6"/>
          </a:solidFill>
        </p:spPr>
        <p:txBody>
          <a:bodyPr wrap="square">
            <a:spAutoFit/>
          </a:bodyPr>
          <a:lstStyle/>
          <a:p>
            <a:pPr algn="l"/>
            <a:r>
              <a:rPr sz="900" b="1" i="0">
                <a:solidFill>
                  <a:srgbClr val="D93C3C"/>
                </a:solidFill>
              </a:rPr>
              <a:t>T36: Semua source gagal generalize</a:t>
            </a:r>
          </a:p>
          <a:p>
            <a:pPr algn="l"/>
            <a:r>
              <a:rPr sz="800" b="0" i="0">
                <a:solidFill>
                  <a:srgbClr val="202020"/>
                </a:solidFill>
              </a:rPr>
              <a:t>Best cross hanya 0.396 (CK+ 4c → Primer dengan CNN B1). Vs Primer self-training best 0.521 — gap -0.17.</a:t>
            </a:r>
          </a:p>
          <a:p>
            <a:pPr algn="l"/>
            <a:r>
              <a:rPr sz="900" b="1" i="0">
                <a:solidFill>
                  <a:srgbClr val="D93C3C"/>
                </a:solidFill>
              </a:rPr>
              <a:t>
T39: JAFFE/KDEF → Primer catastrophic</a:t>
            </a:r>
          </a:p>
          <a:p>
            <a:pPr algn="l"/>
            <a:r>
              <a:rPr sz="800" b="0" i="0">
                <a:solidFill>
                  <a:srgbClr val="202020"/>
                </a:solidFill>
              </a:rPr>
              <a:t>JAFFE &lt; 10% acc. KDEF 5-7% acc. Lab-posed dataset tidak transferable sama sekali ke natural.</a:t>
            </a:r>
          </a:p>
        </p:txBody>
      </p:sp>
      <p:sp>
        <p:nvSpPr>
          <p:cNvPr id="9" name="TextBox 8"/>
          <p:cNvSpPr txBox="1"/>
          <p:nvPr/>
        </p:nvSpPr>
        <p:spPr>
          <a:xfrm>
            <a:off x="4617720" y="4407408"/>
            <a:ext cx="4206240" cy="1463040"/>
          </a:xfrm>
          <a:prstGeom prst="rect">
            <a:avLst/>
          </a:prstGeom>
          <a:solidFill>
            <a:srgbClr val="E6F4EA"/>
          </a:solidFill>
        </p:spPr>
        <p:txBody>
          <a:bodyPr wrap="square">
            <a:spAutoFit/>
          </a:bodyPr>
          <a:lstStyle/>
          <a:p>
            <a:pPr algn="l"/>
            <a:r>
              <a:rPr sz="900" b="1" i="0">
                <a:solidFill>
                  <a:srgbClr val="0F9D58"/>
                </a:solidFill>
              </a:rPr>
              <a:t>T38: Landmark &gt; Visual untuk domain shift</a:t>
            </a:r>
          </a:p>
          <a:p>
            <a:pPr algn="l"/>
            <a:r>
              <a:rPr sz="800" b="0" i="0">
                <a:solidFill>
                  <a:srgbClr val="202020"/>
                </a:solidFill>
              </a:rPr>
              <a:t>FCNN (landmark-only) best di CK+ 7c dan RAF-DB 7c → Primer. Landmark geometry lebih tahan domain shift.</a:t>
            </a:r>
          </a:p>
          <a:p>
            <a:pPr algn="l"/>
            <a:r>
              <a:rPr sz="900" b="1" i="0">
                <a:solidFill>
                  <a:srgbClr val="0F9D58"/>
                </a:solidFill>
              </a:rPr>
              <a:t>
T40: Justifikasi tesis &amp; paper kuat</a:t>
            </a:r>
          </a:p>
          <a:p>
            <a:pPr algn="l"/>
            <a:r>
              <a:rPr sz="800" b="0" i="0">
                <a:solidFill>
                  <a:srgbClr val="202020"/>
                </a:solidFill>
              </a:rPr>
              <a:t>Transfer learning dari public FER tidak viable untuk natural programming. Solusi: Primer self-training + conf60 + fusion + aug.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0.494</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0.691</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0.446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0.665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0.762</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0.537</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0.681</a:t>
                      </a:r>
                    </a:p>
                  </a:txBody>
                  <a:tcPr>
                    <a:solidFill>
                      <a:srgbClr val="FFFFFF"/>
                    </a:solidFill>
                  </a:tcPr>
                </a:tc>
                <a:tc>
                  <a:txBody>
                    <a:bodyPr/>
                    <a:lstStyle/>
                    <a:p>
                      <a:pPr algn="ctr"/>
                      <a:r>
                        <a:rPr sz="750" b="0">
                          <a:solidFill>
                            <a:srgbClr val="202020"/>
                          </a:solidFill>
                        </a:rPr>
                        <a:t>0.694</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0.507</a:t>
                      </a:r>
                    </a:p>
                  </a:txBody>
                  <a:tcPr>
                    <a:solidFill>
                      <a:srgbClr val="E8F0FE"/>
                    </a:solidFill>
                  </a:tcPr>
                </a:tc>
                <a:tc>
                  <a:txBody>
                    <a:bodyPr/>
                    <a:lstStyle/>
                    <a:p>
                      <a:pPr algn="ctr"/>
                      <a:r>
                        <a:rPr sz="750" b="0">
                          <a:solidFill>
                            <a:srgbClr val="202020"/>
                          </a:solidFill>
                        </a:rPr>
                        <a:t>0.694</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0.871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0.871</a:t>
                      </a:r>
                    </a:p>
                  </a:txBody>
                  <a:tcPr>
                    <a:solidFill>
                      <a:srgbClr val="E8F0FE"/>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JAFFE</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9" name="TextBox 8"/>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0.314</a:t>
                      </a:r>
                    </a:p>
                  </a:txBody>
                  <a:tcPr>
                    <a:solidFill>
                      <a:srgbClr val="E6F4EA"/>
                    </a:solidFill>
                  </a:tcPr>
                </a:tc>
                <a:tc>
                  <a:txBody>
                    <a:bodyPr/>
                    <a:lstStyle/>
                    <a:p>
                      <a:pPr algn="ctr"/>
                      <a:r>
                        <a:rPr sz="750" b="0">
                          <a:solidFill>
                            <a:srgbClr val="202020"/>
                          </a:solidFill>
                        </a:rPr>
                        <a:t>0.400</a:t>
                      </a:r>
                    </a:p>
                  </a:txBody>
                  <a:tcPr>
                    <a:solidFill>
                      <a:srgbClr val="E6F4EA"/>
                    </a:solidFill>
                  </a:tcPr>
                </a:tc>
                <a:tc>
                  <a:txBody>
                    <a:bodyPr/>
                    <a:lstStyle/>
                    <a:p>
                      <a:pPr algn="ctr"/>
                      <a:r>
                        <a:rPr sz="750" b="0">
                          <a:solidFill>
                            <a:srgbClr val="202020"/>
                          </a:solidFill>
                        </a:rPr>
                        <a:t>0.290</a:t>
                      </a:r>
                    </a:p>
                  </a:txBody>
                  <a:tcPr>
                    <a:solidFill>
                      <a:srgbClr val="E6F4EA"/>
                    </a:solidFill>
                  </a:tcPr>
                </a:tc>
                <a:tc>
                  <a:txBody>
                    <a:bodyPr/>
                    <a:lstStyle/>
                    <a:p>
                      <a:pPr algn="ctr"/>
                      <a:r>
                        <a:rPr sz="750" b="0">
                          <a:solidFill>
                            <a:srgbClr val="202020"/>
                          </a:solidFill>
                        </a:rPr>
                        <a:t>0.400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0.286</a:t>
                      </a:r>
                    </a:p>
                  </a:txBody>
                  <a:tcPr>
                    <a:solidFill>
                      <a:srgbClr val="E8F0FE"/>
                    </a:solidFill>
                  </a:tcPr>
                </a:tc>
                <a:tc>
                  <a:txBody>
                    <a:bodyPr/>
                    <a:lstStyle/>
                    <a:p>
                      <a:pPr algn="ctr"/>
                      <a:r>
                        <a:rPr sz="750" b="0">
                          <a:solidFill>
                            <a:srgbClr val="202020"/>
                          </a:solidFill>
                        </a:rPr>
                        <a:t>0.350</a:t>
                      </a:r>
                    </a:p>
                  </a:txBody>
                  <a:tcPr>
                    <a:solidFill>
                      <a:srgbClr val="E8F0FE"/>
                    </a:solidFill>
                  </a:tcPr>
                </a:tc>
                <a:tc>
                  <a:txBody>
                    <a:bodyPr/>
                    <a:lstStyle/>
                    <a:p>
                      <a:pPr algn="ctr"/>
                      <a:r>
                        <a:rPr sz="750" b="0">
                          <a:solidFill>
                            <a:srgbClr val="202020"/>
                          </a:solidFill>
                        </a:rPr>
                        <a:t>0.267</a:t>
                      </a:r>
                    </a:p>
                  </a:txBody>
                  <a:tcPr>
                    <a:solidFill>
                      <a:srgbClr val="E8F0FE"/>
                    </a:solidFill>
                  </a:tcPr>
                </a:tc>
                <a:tc>
                  <a:txBody>
                    <a:bodyPr/>
                    <a:lstStyle/>
                    <a:p>
                      <a:pPr algn="ctr"/>
                      <a:r>
                        <a:rPr sz="750" b="0">
                          <a:solidFill>
                            <a:srgbClr val="202020"/>
                          </a:solidFill>
                        </a:rPr>
                        <a:t>0.350</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0.041</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0.043</a:t>
                      </a:r>
                    </a:p>
                  </a:txBody>
                  <a:tcPr>
                    <a:solidFill>
                      <a:srgbClr val="E8F0FE"/>
                    </a:solidFill>
                  </a:tcPr>
                </a:tc>
                <a:tc>
                  <a:txBody>
                    <a:bodyPr/>
                    <a:lstStyle/>
                    <a:p>
                      <a:pPr algn="ctr"/>
                      <a:r>
                        <a:rPr sz="750" b="0">
                          <a:solidFill>
                            <a:srgbClr val="202020"/>
                          </a:solidFill>
                        </a:rPr>
                        <a:t>0.150</a:t>
                      </a:r>
                    </a:p>
                  </a:txBody>
                  <a:tcPr>
                    <a:solidFill>
                      <a:srgbClr val="E8F0FE"/>
                    </a:solidFill>
                  </a:tcPr>
                </a:tc>
              </a:tr>
            </a:tbl>
          </a:graphicData>
        </a:graphic>
      </p:graphicFrame>
      <p:sp>
        <p:nvSpPr>
          <p:cNvPr id="11" name="TextBox 10"/>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0.492</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0.615</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r h="285750">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0.177</a:t>
                      </a:r>
                    </a:p>
                  </a:txBody>
                  <a:tcPr>
                    <a:solidFill>
                      <a:srgbClr val="E6F4EA"/>
                    </a:solidFill>
                  </a:tcPr>
                </a:tc>
                <a:tc>
                  <a:txBody>
                    <a:bodyPr/>
                    <a:lstStyle/>
                    <a:p>
                      <a:pPr algn="ctr"/>
                      <a:r>
                        <a:rPr sz="750" b="0">
                          <a:solidFill>
                            <a:srgbClr val="202020"/>
                          </a:solidFill>
                        </a:rPr>
                        <a:t>0.550</a:t>
                      </a:r>
                    </a:p>
                  </a:txBody>
                  <a:tcPr>
                    <a:solidFill>
                      <a:srgbClr val="E6F4EA"/>
                    </a:solidFill>
                  </a:tcPr>
                </a:tc>
                <a:tc>
                  <a:txBody>
                    <a:bodyPr/>
                    <a:lstStyle/>
                    <a:p>
                      <a:pPr algn="ctr"/>
                      <a:r>
                        <a:rPr sz="750" b="0">
                          <a:solidFill>
                            <a:srgbClr val="202020"/>
                          </a:solidFill>
                        </a:rPr>
                        <a:t>0.390</a:t>
                      </a:r>
                    </a:p>
                  </a:txBody>
                  <a:tcPr>
                    <a:solidFill>
                      <a:srgbClr val="E6F4EA"/>
                    </a:solidFill>
                  </a:tcPr>
                </a:tc>
                <a:tc>
                  <a:txBody>
                    <a:bodyPr/>
                    <a:lstStyle/>
                    <a:p>
                      <a:pPr algn="ctr"/>
                      <a:r>
                        <a:rPr sz="750" b="0">
                          <a:solidFill>
                            <a:srgbClr val="202020"/>
                          </a:solidFill>
                        </a:rPr>
                        <a:t>0.550</a:t>
                      </a:r>
                    </a:p>
                  </a:txBody>
                  <a:tcPr>
                    <a:solidFill>
                      <a:srgbClr val="E6F4EA"/>
                    </a:solidFill>
                  </a:tcPr>
                </a:tc>
              </a:tr>
              <a:tr h="285750">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0.352</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0.507</a:t>
                      </a:r>
                    </a:p>
                  </a:txBody>
                  <a:tcPr>
                    <a:solidFill>
                      <a:srgbClr val="E6F4EA"/>
                    </a:solidFill>
                  </a:tcPr>
                </a:tc>
                <a:tc>
                  <a:txBody>
                    <a:bodyPr/>
                    <a:lstStyle/>
                    <a:p>
                      <a:pPr algn="ctr"/>
                      <a:r>
                        <a:rPr sz="750" b="0">
                          <a:solidFill>
                            <a:srgbClr val="202020"/>
                          </a:solidFill>
                        </a:rPr>
                        <a:t>0.600</a:t>
                      </a:r>
                    </a:p>
                  </a:txBody>
                  <a:tcPr>
                    <a:solidFill>
                      <a:srgbClr val="E6F4EA"/>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0.710</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0.804</a:t>
                      </a:r>
                    </a:p>
                  </a:txBody>
                  <a:tcPr>
                    <a:solidFill>
                      <a:srgbClr val="E8F0FE"/>
                    </a:solidFill>
                  </a:tcPr>
                </a:tc>
                <a:tc>
                  <a:txBody>
                    <a:bodyPr/>
                    <a:lstStyle/>
                    <a:p>
                      <a:pPr algn="ctr"/>
                      <a:r>
                        <a:rPr sz="750" b="0">
                          <a:solidFill>
                            <a:srgbClr val="202020"/>
                          </a:solidFill>
                        </a:rPr>
                        <a:t>0.808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0.819</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r>
            </a:tbl>
          </a:graphicData>
        </a:graphic>
      </p:graphicFrame>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KDEF</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0.663</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0.797</a:t>
                      </a:r>
                    </a:p>
                  </a:txBody>
                  <a:tcPr>
                    <a:solidFill>
                      <a:srgbClr val="E8F0FE"/>
                    </a:solidFill>
                  </a:tcPr>
                </a:tc>
                <a:tc>
                  <a:txBody>
                    <a:bodyPr/>
                    <a:lstStyle/>
                    <a:p>
                      <a:pPr algn="ctr"/>
                      <a:r>
                        <a:rPr sz="750" b="0">
                          <a:solidFill>
                            <a:srgbClr val="202020"/>
                          </a:solidFill>
                        </a:rPr>
                        <a:t>0.795</a:t>
                      </a:r>
                    </a:p>
                  </a:txBody>
                  <a:tcPr>
                    <a:solidFill>
                      <a:srgbClr val="E8F0FE"/>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0.763</a:t>
                      </a:r>
                    </a:p>
                  </a:txBody>
                  <a:tcPr>
                    <a:solidFill>
                      <a:srgbClr val="E8F0FE"/>
                    </a:solidFill>
                  </a:tcPr>
                </a:tc>
                <a:tc>
                  <a:txBody>
                    <a:bodyPr/>
                    <a:lstStyle/>
                    <a:p>
                      <a:pPr algn="ctr"/>
                      <a:r>
                        <a:rPr sz="750" b="0">
                          <a:solidFill>
                            <a:srgbClr val="202020"/>
                          </a:solidFill>
                        </a:rPr>
                        <a:t>0.764</a:t>
                      </a:r>
                    </a:p>
                  </a:txBody>
                  <a:tcPr>
                    <a:solidFill>
                      <a:srgbClr val="E8F0FE"/>
                    </a:solidFill>
                  </a:tcPr>
                </a:tc>
                <a:tc>
                  <a:txBody>
                    <a:bodyPr/>
                    <a:lstStyle/>
                    <a:p>
                      <a:pPr algn="ctr"/>
                      <a:r>
                        <a:rPr sz="750" b="0">
                          <a:solidFill>
                            <a:srgbClr val="202020"/>
                          </a:solidFill>
                        </a:rPr>
                        <a:t>0.763</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0.855</a:t>
                      </a:r>
                    </a:p>
                  </a:txBody>
                  <a:tcPr>
                    <a:solidFill>
                      <a:srgbClr val="E8F0FE"/>
                    </a:solidFill>
                  </a:tcPr>
                </a:tc>
                <a:tc>
                  <a:txBody>
                    <a:bodyPr/>
                    <a:lstStyle/>
                    <a:p>
                      <a:pPr algn="ctr"/>
                      <a:r>
                        <a:rPr sz="750" b="0">
                          <a:solidFill>
                            <a:srgbClr val="202020"/>
                          </a:solidFill>
                        </a:rPr>
                        <a:t>0.854</a:t>
                      </a:r>
                    </a:p>
                  </a:txBody>
                  <a:tcPr>
                    <a:solidFill>
                      <a:srgbClr val="E8F0FE"/>
                    </a:solidFill>
                  </a:tcPr>
                </a:tc>
                <a:tc>
                  <a:txBody>
                    <a:bodyPr/>
                    <a:lstStyle/>
                    <a:p>
                      <a:pPr algn="ctr"/>
                      <a:r>
                        <a:rPr sz="750" b="0">
                          <a:solidFill>
                            <a:srgbClr val="202020"/>
                          </a:solidFill>
                        </a:rPr>
                        <a:t>0.855</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0.270</a:t>
                      </a:r>
                    </a:p>
                  </a:txBody>
                  <a:tcPr>
                    <a:solidFill>
                      <a:srgbClr val="FFFFFF"/>
                    </a:solidFill>
                  </a:tcPr>
                </a:tc>
                <a:tc>
                  <a:txBody>
                    <a:bodyPr/>
                    <a:lstStyle/>
                    <a:p>
                      <a:pPr algn="ctr"/>
                      <a:r>
                        <a:rPr sz="750" b="0">
                          <a:solidFill>
                            <a:srgbClr val="202020"/>
                          </a:solidFill>
                        </a:rPr>
                        <a:t>0.816</a:t>
                      </a:r>
                    </a:p>
                  </a:txBody>
                  <a:tcPr>
                    <a:solidFill>
                      <a:srgbClr val="FFFFFF"/>
                    </a:solidFill>
                  </a:tcPr>
                </a:tc>
                <a:tc>
                  <a:txBody>
                    <a:bodyPr/>
                    <a:lstStyle/>
                    <a:p>
                      <a:pPr algn="ctr"/>
                      <a:r>
                        <a:rPr sz="750" b="0">
                          <a:solidFill>
                            <a:srgbClr val="202020"/>
                          </a:solidFill>
                        </a:rPr>
                        <a:t>0.812</a:t>
                      </a:r>
                    </a:p>
                  </a:txBody>
                  <a:tcPr>
                    <a:solidFill>
                      <a:srgbClr val="FFFFFF"/>
                    </a:solidFill>
                  </a:tcPr>
                </a:tc>
                <a:tc>
                  <a:txBody>
                    <a:bodyPr/>
                    <a:lstStyle/>
                    <a:p>
                      <a:pPr algn="ctr"/>
                      <a:r>
                        <a:rPr sz="750" b="0">
                          <a:solidFill>
                            <a:srgbClr val="202020"/>
                          </a:solidFill>
                        </a:rPr>
                        <a:t>0.816</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0.784</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0.474</a:t>
                      </a:r>
                    </a:p>
                  </a:txBody>
                  <a:tcPr>
                    <a:solidFill>
                      <a:srgbClr val="FFFFFF"/>
                    </a:solidFill>
                  </a:tcPr>
                </a:tc>
                <a:tc>
                  <a:txBody>
                    <a:bodyPr/>
                    <a:lstStyle/>
                    <a:p>
                      <a:pPr algn="ctr"/>
                      <a:r>
                        <a:rPr sz="750" b="0">
                          <a:solidFill>
                            <a:srgbClr val="202020"/>
                          </a:solidFill>
                        </a:rPr>
                        <a:t>0.807</a:t>
                      </a:r>
                    </a:p>
                  </a:txBody>
                  <a:tcPr>
                    <a:solidFill>
                      <a:srgbClr val="FFFFFF"/>
                    </a:solidFill>
                  </a:tcPr>
                </a:tc>
                <a:tc>
                  <a:txBody>
                    <a:bodyPr/>
                    <a:lstStyle/>
                    <a:p>
                      <a:pPr algn="ctr"/>
                      <a:r>
                        <a:rPr sz="750" b="0">
                          <a:solidFill>
                            <a:srgbClr val="202020"/>
                          </a:solidFill>
                        </a:rPr>
                        <a:t>0.815</a:t>
                      </a:r>
                    </a:p>
                  </a:txBody>
                  <a:tcPr>
                    <a:solidFill>
                      <a:srgbClr val="FFFFFF"/>
                    </a:solidFill>
                  </a:tcPr>
                </a:tc>
                <a:tc>
                  <a:txBody>
                    <a:bodyPr/>
                    <a:lstStyle/>
                    <a:p>
                      <a:pPr algn="ctr"/>
                      <a:r>
                        <a:rPr sz="750" b="0">
                          <a:solidFill>
                            <a:srgbClr val="202020"/>
                          </a:solidFill>
                        </a:rPr>
                        <a:t>0.807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0.422</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0.695</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Intermediate TL 4c B3 = 0.521.</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(val-tuned) = 0.521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CK+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0.125</a:t>
                      </a:r>
                    </a:p>
                  </a:txBody>
                  <a:tcPr>
                    <a:solidFill>
                      <a:srgbClr val="FFFFFF"/>
                    </a:solidFill>
                  </a:tcPr>
                </a:tc>
                <a:tc>
                  <a:txBody>
                    <a:bodyPr/>
                    <a:lstStyle/>
                    <a:p>
                      <a:pPr algn="ctr"/>
                      <a:r>
                        <a:rPr sz="750" b="0">
                          <a:solidFill>
                            <a:srgbClr val="202020"/>
                          </a:solidFill>
                        </a:rPr>
                        <a:t>0.686</a:t>
                      </a:r>
                    </a:p>
                  </a:txBody>
                  <a:tcPr>
                    <a:solidFill>
                      <a:srgbClr val="FFFFFF"/>
                    </a:solidFill>
                  </a:tcPr>
                </a:tc>
                <a:tc>
                  <a:txBody>
                    <a:bodyPr/>
                    <a:lstStyle/>
                    <a:p>
                      <a:pPr algn="ctr"/>
                      <a:r>
                        <a:rPr sz="750" b="0">
                          <a:solidFill>
                            <a:srgbClr val="202020"/>
                          </a:solidFill>
                        </a:rPr>
                        <a:t>0.638</a:t>
                      </a:r>
                    </a:p>
                  </a:txBody>
                  <a:tcPr>
                    <a:solidFill>
                      <a:srgbClr val="FFFFFF"/>
                    </a:solidFill>
                  </a:tcPr>
                </a:tc>
                <a:tc>
                  <a:txBody>
                    <a:bodyPr/>
                    <a:lstStyle/>
                    <a:p>
                      <a:pPr algn="ctr"/>
                      <a:r>
                        <a:rPr sz="750" b="0">
                          <a:solidFill>
                            <a:srgbClr val="202020"/>
                          </a:solidFill>
                        </a:rPr>
                        <a:t>0.686</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0.179</a:t>
                      </a:r>
                    </a:p>
                  </a:txBody>
                  <a:tcPr>
                    <a:solidFill>
                      <a:srgbClr val="FFFFFF"/>
                    </a:solidFill>
                  </a:tcPr>
                </a:tc>
                <a:tc>
                  <a:txBody>
                    <a:bodyPr/>
                    <a:lstStyle/>
                    <a:p>
                      <a:pPr algn="ctr"/>
                      <a:r>
                        <a:rPr sz="750" b="0">
                          <a:solidFill>
                            <a:srgbClr val="202020"/>
                          </a:solidFill>
                        </a:rPr>
                        <a:t>0.705</a:t>
                      </a:r>
                    </a:p>
                  </a:txBody>
                  <a:tcPr>
                    <a:solidFill>
                      <a:srgbClr val="FFFFFF"/>
                    </a:solidFill>
                  </a:tcPr>
                </a:tc>
                <a:tc>
                  <a:txBody>
                    <a:bodyPr/>
                    <a:lstStyle/>
                    <a:p>
                      <a:pPr algn="ctr"/>
                      <a:r>
                        <a:rPr sz="750" b="0">
                          <a:solidFill>
                            <a:srgbClr val="202020"/>
                          </a:solidFill>
                        </a:rPr>
                        <a:t>0.676</a:t>
                      </a:r>
                    </a:p>
                  </a:txBody>
                  <a:tcPr>
                    <a:solidFill>
                      <a:srgbClr val="FFFFFF"/>
                    </a:solidFill>
                  </a:tcPr>
                </a:tc>
                <a:tc>
                  <a:txBody>
                    <a:bodyPr/>
                    <a:lstStyle/>
                    <a:p>
                      <a:pPr algn="ctr"/>
                      <a:r>
                        <a:rPr sz="750" b="0">
                          <a:solidFill>
                            <a:srgbClr val="202020"/>
                          </a:solidFill>
                        </a:rPr>
                        <a:t>0.705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0.247</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0.726</a:t>
                      </a:r>
                    </a:p>
                  </a:txBody>
                  <a:tcPr>
                    <a:solidFill>
                      <a:srgbClr val="FFFFFF"/>
                    </a:solidFill>
                  </a:tcPr>
                </a:tc>
                <a:tc>
                  <a:txBody>
                    <a:bodyPr/>
                    <a:lstStyle/>
                    <a:p>
                      <a:pPr algn="ctr"/>
                      <a:r>
                        <a:rPr sz="750" b="0">
                          <a:solidFill>
                            <a:srgbClr val="202020"/>
                          </a:solidFill>
                        </a:rPr>
                        <a:t>0.703</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0.207</a:t>
                      </a:r>
                    </a:p>
                  </a:txBody>
                  <a:tcPr>
                    <a:solidFill>
                      <a:srgbClr val="FFFFFF"/>
                    </a:solidFill>
                  </a:tcPr>
                </a:tc>
                <a:tc>
                  <a:txBody>
                    <a:bodyPr/>
                    <a:lstStyle/>
                    <a:p>
                      <a:pPr algn="ctr"/>
                      <a:r>
                        <a:rPr sz="750" b="0">
                          <a:solidFill>
                            <a:srgbClr val="202020"/>
                          </a:solidFill>
                        </a:rPr>
                        <a:t>0.577</a:t>
                      </a:r>
                    </a:p>
                  </a:txBody>
                  <a:tcPr>
                    <a:solidFill>
                      <a:srgbClr val="FFFFFF"/>
                    </a:solidFill>
                  </a:tcPr>
                </a:tc>
                <a:tc>
                  <a:txBody>
                    <a:bodyPr/>
                    <a:lstStyle/>
                    <a:p>
                      <a:pPr algn="ctr"/>
                      <a:r>
                        <a:rPr sz="750" b="0">
                          <a:solidFill>
                            <a:srgbClr val="202020"/>
                          </a:solidFill>
                        </a:rPr>
                        <a:t>0.582</a:t>
                      </a:r>
                    </a:p>
                  </a:txBody>
                  <a:tcPr>
                    <a:solidFill>
                      <a:srgbClr val="FFFFFF"/>
                    </a:solidFill>
                  </a:tcPr>
                </a:tc>
                <a:tc>
                  <a:txBody>
                    <a:bodyPr/>
                    <a:lstStyle/>
                    <a:p>
                      <a:pPr algn="ctr"/>
                      <a:r>
                        <a:rPr sz="750" b="0">
                          <a:solidFill>
                            <a:srgbClr val="202020"/>
                          </a:solidFill>
                        </a:rPr>
                        <a:t>0.577</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0.194</a:t>
                      </a:r>
                    </a:p>
                  </a:txBody>
                  <a:tcPr>
                    <a:solidFill>
                      <a:srgbClr val="FFFFFF"/>
                    </a:solidFill>
                  </a:tcPr>
                </a:tc>
                <a:tc>
                  <a:txBody>
                    <a:bodyPr/>
                    <a:lstStyle/>
                    <a:p>
                      <a:pPr algn="ctr"/>
                      <a:r>
                        <a:rPr sz="750" b="0">
                          <a:solidFill>
                            <a:srgbClr val="202020"/>
                          </a:solidFill>
                        </a:rPr>
                        <a:t>0.288</a:t>
                      </a:r>
                    </a:p>
                  </a:txBody>
                  <a:tcPr>
                    <a:solidFill>
                      <a:srgbClr val="FFFFFF"/>
                    </a:solidFill>
                  </a:tcPr>
                </a:tc>
                <a:tc>
                  <a:txBody>
                    <a:bodyPr/>
                    <a:lstStyle/>
                    <a:p>
                      <a:pPr algn="ctr"/>
                      <a:r>
                        <a:rPr sz="750" b="0">
                          <a:solidFill>
                            <a:srgbClr val="202020"/>
                          </a:solidFill>
                        </a:rPr>
                        <a:t>0.194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0.141</a:t>
                      </a:r>
                    </a:p>
                  </a:txBody>
                  <a:tcPr>
                    <a:solidFill>
                      <a:srgbClr val="FFFFFF"/>
                    </a:solidFill>
                  </a:tcPr>
                </a:tc>
                <a:tc>
                  <a:txBody>
                    <a:bodyPr/>
                    <a:lstStyle/>
                    <a:p>
                      <a:pPr algn="ctr"/>
                      <a:r>
                        <a:rPr sz="750" b="0">
                          <a:solidFill>
                            <a:srgbClr val="202020"/>
                          </a:solidFill>
                        </a:rPr>
                        <a:t>0.182</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0.182</a:t>
                      </a:r>
                    </a:p>
                  </a:txBody>
                  <a:tcPr>
                    <a:solidFill>
                      <a:srgbClr val="FFFFFF"/>
                    </a:solidFill>
                  </a:tcPr>
                </a:tc>
              </a:tr>
            </a:tbl>
          </a:graphicData>
        </a:graphic>
      </p:graphicFrame>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9" name="TextBox 8"/>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r h="287388">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r>
              <a:tr h="287388">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0.001</a:t>
                      </a:r>
                    </a:p>
                  </a:txBody>
                  <a:tcPr>
                    <a:solidFill>
                      <a:srgbClr val="E6F4EA"/>
                    </a:solidFill>
                  </a:tcPr>
                </a:tc>
                <a:tc>
                  <a:txBody>
                    <a:bodyPr/>
                    <a:lstStyle/>
                    <a:p>
                      <a:pPr algn="ctr"/>
                      <a:r>
                        <a:rPr sz="750" b="0">
                          <a:solidFill>
                            <a:srgbClr val="202020"/>
                          </a:solidFill>
                        </a:rPr>
                        <a:t>0.002</a:t>
                      </a:r>
                    </a:p>
                  </a:txBody>
                  <a:tcPr>
                    <a:solidFill>
                      <a:srgbClr val="E6F4EA"/>
                    </a:solidFill>
                  </a:tcPr>
                </a:tc>
                <a:tc>
                  <a:txBody>
                    <a:bodyPr/>
                    <a:lstStyle/>
                    <a:p>
                      <a:pPr algn="ctr"/>
                      <a:r>
                        <a:rPr sz="750" b="0">
                          <a:solidFill>
                            <a:srgbClr val="202020"/>
                          </a:solidFill>
                        </a:rPr>
                        <a:t>0.000</a:t>
                      </a:r>
                    </a:p>
                  </a:txBody>
                  <a:tcPr>
                    <a:solidFill>
                      <a:srgbClr val="E6F4EA"/>
                    </a:solidFill>
                  </a:tcPr>
                </a:tc>
                <a:tc>
                  <a:txBody>
                    <a:bodyPr/>
                    <a:lstStyle/>
                    <a:p>
                      <a:pPr algn="ctr"/>
                      <a:r>
                        <a:rPr sz="750" b="0">
                          <a:solidFill>
                            <a:srgbClr val="202020"/>
                          </a:solidFill>
                        </a:rPr>
                        <a:t>0.002</a:t>
                      </a:r>
                    </a:p>
                  </a:txBody>
                  <a:tcPr>
                    <a:solidFill>
                      <a:srgbClr val="E6F4EA"/>
                    </a:solidFill>
                  </a:tcPr>
                </a:tc>
              </a:tr>
              <a:tr h="287388">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0.050</a:t>
                      </a:r>
                    </a:p>
                  </a:txBody>
                  <a:tcPr>
                    <a:solidFill>
                      <a:srgbClr val="E6F4EA"/>
                    </a:solidFill>
                  </a:tcPr>
                </a:tc>
                <a:tc>
                  <a:txBody>
                    <a:bodyPr/>
                    <a:lstStyle/>
                    <a:p>
                      <a:pPr algn="ctr"/>
                      <a:r>
                        <a:rPr sz="750" b="0">
                          <a:solidFill>
                            <a:srgbClr val="202020"/>
                          </a:solidFill>
                        </a:rPr>
                        <a:t>0.118</a:t>
                      </a:r>
                    </a:p>
                  </a:txBody>
                  <a:tcPr>
                    <a:solidFill>
                      <a:srgbClr val="E6F4EA"/>
                    </a:solidFill>
                  </a:tcPr>
                </a:tc>
                <a:tc>
                  <a:txBody>
                    <a:bodyPr/>
                    <a:lstStyle/>
                    <a:p>
                      <a:pPr algn="ctr"/>
                      <a:r>
                        <a:rPr sz="750" b="0">
                          <a:solidFill>
                            <a:srgbClr val="202020"/>
                          </a:solidFill>
                        </a:rPr>
                        <a:t>0.192</a:t>
                      </a:r>
                    </a:p>
                  </a:txBody>
                  <a:tcPr>
                    <a:solidFill>
                      <a:srgbClr val="E6F4EA"/>
                    </a:solidFill>
                  </a:tcPr>
                </a:tc>
                <a:tc>
                  <a:txBody>
                    <a:bodyPr/>
                    <a:lstStyle/>
                    <a:p>
                      <a:pPr algn="ctr"/>
                      <a:r>
                        <a:rPr sz="750" b="0">
                          <a:solidFill>
                            <a:srgbClr val="202020"/>
                          </a:solidFill>
                        </a:rPr>
                        <a:t>0.118</a:t>
                      </a:r>
                    </a:p>
                  </a:txBody>
                  <a:tcPr>
                    <a:solidFill>
                      <a:srgbClr val="E6F4EA"/>
                    </a:solidFill>
                  </a:tcPr>
                </a:tc>
              </a:tr>
            </a:tbl>
          </a:graphicData>
        </a:graphic>
      </p:graphicFrame>
      <p:sp>
        <p:nvSpPr>
          <p:cNvPr id="11" name="TextBox 10"/>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0.013</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RAF-DB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0.142</a:t>
                      </a:r>
                    </a:p>
                  </a:txBody>
                  <a:tcPr>
                    <a:solidFill>
                      <a:srgbClr val="FFFFFF"/>
                    </a:solidFill>
                  </a:tcPr>
                </a:tc>
                <a:tc>
                  <a:txBody>
                    <a:bodyPr/>
                    <a:lstStyle/>
                    <a:p>
                      <a:pPr algn="ctr"/>
                      <a:r>
                        <a:rPr sz="750" b="0">
                          <a:solidFill>
                            <a:srgbClr val="202020"/>
                          </a:solidFill>
                        </a:rPr>
                        <a:t>0.365</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0.365</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0.157</a:t>
                      </a:r>
                    </a:p>
                  </a:txBody>
                  <a:tcPr>
                    <a:solidFill>
                      <a:srgbClr val="FFFFFF"/>
                    </a:solidFill>
                  </a:tcPr>
                </a:tc>
                <a:tc>
                  <a:txBody>
                    <a:bodyPr/>
                    <a:lstStyle/>
                    <a:p>
                      <a:pPr algn="ctr"/>
                      <a:r>
                        <a:rPr sz="750" b="0">
                          <a:solidFill>
                            <a:srgbClr val="202020"/>
                          </a:solidFill>
                        </a:rPr>
                        <a:t>0.685</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0.153</a:t>
                      </a:r>
                    </a:p>
                  </a:txBody>
                  <a:tcPr>
                    <a:solidFill>
                      <a:srgbClr val="FFFFFF"/>
                    </a:solidFill>
                  </a:tcPr>
                </a:tc>
                <a:tc>
                  <a:txBody>
                    <a:bodyPr/>
                    <a:lstStyle/>
                    <a:p>
                      <a:pPr algn="ctr"/>
                      <a:r>
                        <a:rPr sz="750" b="0">
                          <a:solidFill>
                            <a:srgbClr val="202020"/>
                          </a:solidFill>
                        </a:rPr>
                        <a:t>0.483</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0.483</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0.227</a:t>
                      </a:r>
                    </a:p>
                  </a:txBody>
                  <a:tcPr>
                    <a:solidFill>
                      <a:srgbClr val="FFFFFF"/>
                    </a:solidFill>
                  </a:tcPr>
                </a:tc>
                <a:tc>
                  <a:txBody>
                    <a:bodyPr/>
                    <a:lstStyle/>
                    <a:p>
                      <a:pPr algn="ctr"/>
                      <a:r>
                        <a:rPr sz="750" b="0">
                          <a:solidFill>
                            <a:srgbClr val="202020"/>
                          </a:solidFill>
                        </a:rPr>
                        <a:t>0.404</a:t>
                      </a:r>
                    </a:p>
                  </a:txBody>
                  <a:tcPr>
                    <a:solidFill>
                      <a:srgbClr val="FFFFFF"/>
                    </a:solidFill>
                  </a:tcPr>
                </a:tc>
                <a:tc>
                  <a:txBody>
                    <a:bodyPr/>
                    <a:lstStyle/>
                    <a:p>
                      <a:pPr algn="ctr"/>
                      <a:r>
                        <a:rPr sz="750" b="0">
                          <a:solidFill>
                            <a:srgbClr val="202020"/>
                          </a:solidFill>
                        </a:rPr>
                        <a:t>0.485</a:t>
                      </a:r>
                    </a:p>
                  </a:txBody>
                  <a:tcPr>
                    <a:solidFill>
                      <a:srgbClr val="FFFFFF"/>
                    </a:solidFill>
                  </a:tcPr>
                </a:tc>
                <a:tc>
                  <a:txBody>
                    <a:bodyPr/>
                    <a:lstStyle/>
                    <a:p>
                      <a:pPr algn="ctr"/>
                      <a:r>
                        <a:rPr sz="750" b="0">
                          <a:solidFill>
                            <a:srgbClr val="202020"/>
                          </a:solidFill>
                        </a:rPr>
                        <a:t>0.404</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0.311</a:t>
                      </a:r>
                    </a:p>
                  </a:txBody>
                  <a:tcPr>
                    <a:solidFill>
                      <a:srgbClr val="FFFFFF"/>
                    </a:solidFill>
                  </a:tcPr>
                </a:tc>
                <a:tc>
                  <a:txBody>
                    <a:bodyPr/>
                    <a:lstStyle/>
                    <a:p>
                      <a:pPr algn="ctr"/>
                      <a:r>
                        <a:rPr sz="750" b="0">
                          <a:solidFill>
                            <a:srgbClr val="202020"/>
                          </a:solidFill>
                        </a:rPr>
                        <a:t>0.477</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0.477</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0.517</a:t>
                      </a:r>
                    </a:p>
                  </a:txBody>
                  <a:tcPr>
                    <a:solidFill>
                      <a:srgbClr val="FFFFFF"/>
                    </a:solidFill>
                  </a:tcPr>
                </a:tc>
                <a:tc>
                  <a:txBody>
                    <a:bodyPr/>
                    <a:lstStyle/>
                    <a:p>
                      <a:pPr algn="ctr"/>
                      <a:r>
                        <a:rPr sz="750" b="0">
                          <a:solidFill>
                            <a:srgbClr val="202020"/>
                          </a:solidFill>
                        </a:rPr>
                        <a:t>0.459</a:t>
                      </a:r>
                    </a:p>
                  </a:txBody>
                  <a:tcPr>
                    <a:solidFill>
                      <a:srgbClr val="FFFFFF"/>
                    </a:solidFill>
                  </a:tcPr>
                </a:tc>
              </a:tr>
            </a:tbl>
          </a:graphicData>
        </a:graphic>
      </p:graphicFrame>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KDEF → Primer</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0.029</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0.097</a:t>
                      </a:r>
                    </a:p>
                  </a:txBody>
                  <a:tcPr>
                    <a:solidFill>
                      <a:srgbClr val="FFFFFF"/>
                    </a:solidFill>
                  </a:tcPr>
                </a:tc>
                <a:tc>
                  <a:txBody>
                    <a:bodyPr/>
                    <a:lstStyle/>
                    <a:p>
                      <a:pPr algn="ctr"/>
                      <a:r>
                        <a:rPr sz="750" b="0">
                          <a:solidFill>
                            <a:srgbClr val="202020"/>
                          </a:solidFill>
                        </a:rPr>
                        <a:t>0.054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0.055</a:t>
                      </a:r>
                    </a:p>
                  </a:txBody>
                  <a:tcPr>
                    <a:solidFill>
                      <a:srgbClr val="FFFFFF"/>
                    </a:solidFill>
                  </a:tcPr>
                </a:tc>
                <a:tc>
                  <a:txBody>
                    <a:bodyPr/>
                    <a:lstStyle/>
                    <a:p>
                      <a:pPr algn="ctr"/>
                      <a:r>
                        <a:rPr sz="750" b="0">
                          <a:solidFill>
                            <a:srgbClr val="202020"/>
                          </a:solidFill>
                        </a:rPr>
                        <a:t>0.078</a:t>
                      </a:r>
                    </a:p>
                  </a:txBody>
                  <a:tcPr>
                    <a:solidFill>
                      <a:srgbClr val="FFFFFF"/>
                    </a:solidFill>
                  </a:tcPr>
                </a:tc>
                <a:tc>
                  <a:txBody>
                    <a:bodyPr/>
                    <a:lstStyle/>
                    <a:p>
                      <a:pPr algn="ctr"/>
                      <a:r>
                        <a:rPr sz="750" b="0">
                          <a:solidFill>
                            <a:srgbClr val="202020"/>
                          </a:solidFill>
                        </a:rPr>
                        <a:t>0.063</a:t>
                      </a:r>
                    </a:p>
                  </a:txBody>
                  <a:tcPr>
                    <a:solidFill>
                      <a:srgbClr val="FFFFFF"/>
                    </a:solidFill>
                  </a:tcPr>
                </a:tc>
                <a:tc>
                  <a:txBody>
                    <a:bodyPr/>
                    <a:lstStyle/>
                    <a:p>
                      <a:pPr algn="ctr"/>
                      <a:r>
                        <a:rPr sz="750" b="0">
                          <a:solidFill>
                            <a:srgbClr val="202020"/>
                          </a:solidFill>
                        </a:rPr>
                        <a:t>0.078</a:t>
                      </a:r>
                    </a:p>
                  </a:txBody>
                  <a:tcPr>
                    <a:solidFill>
                      <a:srgbClr val="FFFFFF"/>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0.039</a:t>
                      </a:r>
                    </a:p>
                  </a:txBody>
                  <a:tcPr>
                    <a:solidFill>
                      <a:srgbClr val="FFFFFF"/>
                    </a:solidFill>
                  </a:tcPr>
                </a:tc>
                <a:tc>
                  <a:txBody>
                    <a:bodyPr/>
                    <a:lstStyle/>
                    <a:p>
                      <a:pPr algn="ctr"/>
                      <a:r>
                        <a:rPr sz="750" b="0">
                          <a:solidFill>
                            <a:srgbClr val="202020"/>
                          </a:solidFill>
                        </a:rPr>
                        <a:t>0.040</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0.104</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0.152</a:t>
                      </a:r>
                    </a:p>
                  </a:txBody>
                  <a:tcPr>
                    <a:solidFill>
                      <a:srgbClr val="FFFFFF"/>
                    </a:solidFill>
                  </a:tcPr>
                </a:tc>
                <a:tc>
                  <a:txBody>
                    <a:bodyPr/>
                    <a:lstStyle/>
                    <a:p>
                      <a:pPr algn="ctr"/>
                      <a:r>
                        <a:rPr sz="750" b="0">
                          <a:solidFill>
                            <a:srgbClr val="202020"/>
                          </a:solidFill>
                        </a:rPr>
                        <a:t>0.101</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0.017</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0.003</a:t>
                      </a:r>
                    </a:p>
                  </a:txBody>
                  <a:tcPr>
                    <a:solidFill>
                      <a:srgbClr val="FFFFFF"/>
                    </a:solidFill>
                  </a:tcPr>
                </a:tc>
                <a:tc>
                  <a:txBody>
                    <a:bodyPr/>
                    <a:lstStyle/>
                    <a:p>
                      <a:pPr algn="ctr"/>
                      <a:r>
                        <a:rPr sz="750" b="0">
                          <a:solidFill>
                            <a:srgbClr val="202020"/>
                          </a:solidFill>
                        </a:rPr>
                        <a:t>0.011</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(0.521, val-tuned)</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800" b="1"/>
              <a:t>SLIDE 33: Soft Label Training (Eksplorasi Liliana 2019-inspired, nb 71)</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100" b="0"/>
              <a:t>4 Loss Variants — CNN TL 4-class B1 Baseline (isolate efek loss function)</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Config</a:t>
                      </a:r>
                    </a:p>
                  </a:txBody>
                  <a:tcPr>
                    <a:solidFill>
                      <a:srgbClr val="1A73E8"/>
                    </a:solidFill>
                  </a:tcPr>
                </a:tc>
                <a:tc>
                  <a:txBody>
                    <a:bodyPr/>
                    <a:lstStyle/>
                    <a:p>
                      <a:pPr algn="ctr"/>
                      <a:r>
                        <a:rPr sz="900" b="1">
                          <a:solidFill>
                            <a:srgbClr val="FFFFFF"/>
                          </a:solidFill>
                        </a:rPr>
                        <a:t>Macro F1</a:t>
                      </a:r>
                    </a:p>
                  </a:txBody>
                  <a:tcPr>
                    <a:solidFill>
                      <a:srgbClr val="1A73E8"/>
                    </a:solidFill>
                  </a:tcPr>
                </a:tc>
                <a:tc>
                  <a:txBody>
                    <a:bodyPr/>
                    <a:lstStyle/>
                    <a:p>
                      <a:pPr algn="ctr"/>
                      <a:r>
                        <a:rPr sz="900" b="1">
                          <a:solidFill>
                            <a:srgbClr val="FFFFFF"/>
                          </a:solidFill>
                        </a:rPr>
                        <a:t>Micro F1</a:t>
                      </a:r>
                    </a:p>
                  </a:txBody>
                  <a:tcPr>
                    <a:solidFill>
                      <a:srgbClr val="1A73E8"/>
                    </a:solidFill>
                  </a:tcPr>
                </a:tc>
                <a:tc>
                  <a:txBody>
                    <a:bodyPr/>
                    <a:lstStyle/>
                    <a:p>
                      <a:pPr algn="ctr"/>
                      <a:r>
                        <a:rPr sz="900" b="1">
                          <a:solidFill>
                            <a:srgbClr val="FFFFFF"/>
                          </a:solidFill>
                        </a:rPr>
                        <a:t>W-F1</a:t>
                      </a:r>
                    </a:p>
                  </a:txBody>
                  <a:tcPr>
                    <a:solidFill>
                      <a:srgbClr val="1A73E8"/>
                    </a:solidFill>
                  </a:tcPr>
                </a:tc>
              </a:tr>
              <a:tr h="320040">
                <a:tc>
                  <a:txBody>
                    <a:bodyPr/>
                    <a:lstStyle/>
                    <a:p>
                      <a:pPr algn="l"/>
                      <a:r>
                        <a:rPr sz="850" b="1">
                          <a:solidFill>
                            <a:srgbClr val="202020"/>
                          </a:solidFill>
                        </a:rPr>
                        <a:t>A. Hard CE (baseline)</a:t>
                      </a:r>
                    </a:p>
                  </a:txBody>
                  <a:tcPr>
                    <a:solidFill>
                      <a:srgbClr val="E8F0FE"/>
                    </a:solidFill>
                  </a:tcPr>
                </a:tc>
                <a:tc>
                  <a:txBody>
                    <a:bodyPr/>
                    <a:lstStyle/>
                    <a:p>
                      <a:pPr algn="ctr"/>
                      <a:r>
                        <a:rPr sz="850" b="0">
                          <a:solidFill>
                            <a:srgbClr val="202020"/>
                          </a:solidFill>
                        </a:rPr>
                        <a:t>0.4269</a:t>
                      </a:r>
                    </a:p>
                  </a:txBody>
                  <a:tcPr>
                    <a:solidFill>
                      <a:srgbClr val="E8F0FE"/>
                    </a:solidFill>
                  </a:tcPr>
                </a:tc>
                <a:tc>
                  <a:txBody>
                    <a:bodyPr/>
                    <a:lstStyle/>
                    <a:p>
                      <a:pPr algn="ctr"/>
                      <a:r>
                        <a:rPr sz="850" b="0">
                          <a:solidFill>
                            <a:srgbClr val="202020"/>
                          </a:solidFill>
                        </a:rPr>
                        <a:t>0.6986</a:t>
                      </a:r>
                    </a:p>
                  </a:txBody>
                  <a:tcPr>
                    <a:solidFill>
                      <a:srgbClr val="E8F0FE"/>
                    </a:solidFill>
                  </a:tcPr>
                </a:tc>
                <a:tc>
                  <a:txBody>
                    <a:bodyPr/>
                    <a:lstStyle/>
                    <a:p>
                      <a:pPr algn="ctr"/>
                      <a:r>
                        <a:rPr sz="850" b="0">
                          <a:solidFill>
                            <a:srgbClr val="202020"/>
                          </a:solidFill>
                        </a:rPr>
                        <a:t>0.7155</a:t>
                      </a:r>
                    </a:p>
                  </a:txBody>
                  <a:tcPr>
                    <a:solidFill>
                      <a:srgbClr val="E8F0FE"/>
                    </a:solidFill>
                  </a:tcPr>
                </a:tc>
              </a:tr>
              <a:tr h="320040">
                <a:tc>
                  <a:txBody>
                    <a:bodyPr/>
                    <a:lstStyle/>
                    <a:p>
                      <a:pPr algn="l"/>
                      <a:r>
                        <a:rPr sz="850" b="1">
                          <a:solidFill>
                            <a:srgbClr val="202020"/>
                          </a:solidFill>
                        </a:rPr>
                        <a:t>B. Soft CE</a:t>
                      </a:r>
                    </a:p>
                  </a:txBody>
                  <a:tcPr>
                    <a:solidFill>
                      <a:srgbClr val="FFFFFF"/>
                    </a:solidFill>
                  </a:tcPr>
                </a:tc>
                <a:tc>
                  <a:txBody>
                    <a:bodyPr/>
                    <a:lstStyle/>
                    <a:p>
                      <a:pPr algn="ctr"/>
                      <a:r>
                        <a:rPr sz="850" b="0">
                          <a:solidFill>
                            <a:srgbClr val="202020"/>
                          </a:solidFill>
                        </a:rPr>
                        <a:t>0.4667</a:t>
                      </a:r>
                    </a:p>
                  </a:txBody>
                  <a:tcPr>
                    <a:solidFill>
                      <a:srgbClr val="FFFFFF"/>
                    </a:solidFill>
                  </a:tcPr>
                </a:tc>
                <a:tc>
                  <a:txBody>
                    <a:bodyPr/>
                    <a:lstStyle/>
                    <a:p>
                      <a:pPr algn="ctr"/>
                      <a:r>
                        <a:rPr sz="850" b="0">
                          <a:solidFill>
                            <a:srgbClr val="202020"/>
                          </a:solidFill>
                        </a:rPr>
                        <a:t>0.8407</a:t>
                      </a:r>
                    </a:p>
                  </a:txBody>
                  <a:tcPr>
                    <a:solidFill>
                      <a:srgbClr val="FFFFFF"/>
                    </a:solidFill>
                  </a:tcPr>
                </a:tc>
                <a:tc>
                  <a:txBody>
                    <a:bodyPr/>
                    <a:lstStyle/>
                    <a:p>
                      <a:pPr algn="ctr"/>
                      <a:r>
                        <a:rPr sz="850" b="0">
                          <a:solidFill>
                            <a:srgbClr val="202020"/>
                          </a:solidFill>
                        </a:rPr>
                        <a:t>0.8281</a:t>
                      </a:r>
                    </a:p>
                  </a:txBody>
                  <a:tcPr>
                    <a:solidFill>
                      <a:srgbClr val="FFFFFF"/>
                    </a:solidFill>
                  </a:tcPr>
                </a:tc>
              </a:tr>
              <a:tr h="320040">
                <a:tc>
                  <a:txBody>
                    <a:bodyPr/>
                    <a:lstStyle/>
                    <a:p>
                      <a:pPr algn="l"/>
                      <a:r>
                        <a:rPr sz="850" b="1">
                          <a:solidFill>
                            <a:srgbClr val="202020"/>
                          </a:solidFill>
                        </a:rPr>
                        <a:t>C. KL-divergence  ⭐</a:t>
                      </a:r>
                    </a:p>
                  </a:txBody>
                  <a:tcPr>
                    <a:solidFill>
                      <a:srgbClr val="E8F0FE"/>
                    </a:solidFill>
                  </a:tcPr>
                </a:tc>
                <a:tc>
                  <a:txBody>
                    <a:bodyPr/>
                    <a:lstStyle/>
                    <a:p>
                      <a:pPr algn="ctr"/>
                      <a:r>
                        <a:rPr sz="850" b="0">
                          <a:solidFill>
                            <a:srgbClr val="202020"/>
                          </a:solidFill>
                        </a:rPr>
                        <a:t>0.5170</a:t>
                      </a:r>
                    </a:p>
                  </a:txBody>
                  <a:tcPr>
                    <a:solidFill>
                      <a:srgbClr val="E8F0FE"/>
                    </a:solidFill>
                  </a:tcPr>
                </a:tc>
                <a:tc>
                  <a:txBody>
                    <a:bodyPr/>
                    <a:lstStyle/>
                    <a:p>
                      <a:pPr algn="ctr"/>
                      <a:r>
                        <a:rPr sz="850" b="0">
                          <a:solidFill>
                            <a:srgbClr val="202020"/>
                          </a:solidFill>
                        </a:rPr>
                        <a:t>0.8213</a:t>
                      </a:r>
                    </a:p>
                  </a:txBody>
                  <a:tcPr>
                    <a:solidFill>
                      <a:srgbClr val="E8F0FE"/>
                    </a:solidFill>
                  </a:tcPr>
                </a:tc>
                <a:tc>
                  <a:txBody>
                    <a:bodyPr/>
                    <a:lstStyle/>
                    <a:p>
                      <a:pPr algn="ctr"/>
                      <a:r>
                        <a:rPr sz="850" b="0">
                          <a:solidFill>
                            <a:srgbClr val="202020"/>
                          </a:solidFill>
                        </a:rPr>
                        <a:t>0.8258</a:t>
                      </a:r>
                    </a:p>
                  </a:txBody>
                  <a:tcPr>
                    <a:solidFill>
                      <a:srgbClr val="E8F0FE"/>
                    </a:solidFill>
                  </a:tcPr>
                </a:tc>
              </a:tr>
              <a:tr h="320040">
                <a:tc>
                  <a:txBody>
                    <a:bodyPr/>
                    <a:lstStyle/>
                    <a:p>
                      <a:pPr algn="l"/>
                      <a:r>
                        <a:rPr sz="850" b="1">
                          <a:solidFill>
                            <a:srgbClr val="202020"/>
                          </a:solidFill>
                        </a:rPr>
                        <a:t>D. Label Smoothing (ε=0.1)</a:t>
                      </a:r>
                    </a:p>
                  </a:txBody>
                  <a:tcPr>
                    <a:solidFill>
                      <a:srgbClr val="FFFFFF"/>
                    </a:solidFill>
                  </a:tcPr>
                </a:tc>
                <a:tc>
                  <a:txBody>
                    <a:bodyPr/>
                    <a:lstStyle/>
                    <a:p>
                      <a:pPr algn="ctr"/>
                      <a:r>
                        <a:rPr sz="850" b="0">
                          <a:solidFill>
                            <a:srgbClr val="202020"/>
                          </a:solidFill>
                        </a:rPr>
                        <a:t>0.4418</a:t>
                      </a:r>
                    </a:p>
                  </a:txBody>
                  <a:tcPr>
                    <a:solidFill>
                      <a:srgbClr val="FFFFFF"/>
                    </a:solidFill>
                  </a:tcPr>
                </a:tc>
                <a:tc>
                  <a:txBody>
                    <a:bodyPr/>
                    <a:lstStyle/>
                    <a:p>
                      <a:pPr algn="ctr"/>
                      <a:r>
                        <a:rPr sz="850" b="0">
                          <a:solidFill>
                            <a:srgbClr val="202020"/>
                          </a:solidFill>
                        </a:rPr>
                        <a:t>0.8202</a:t>
                      </a:r>
                    </a:p>
                  </a:txBody>
                  <a:tcPr>
                    <a:solidFill>
                      <a:srgbClr val="FFFFFF"/>
                    </a:solidFill>
                  </a:tcPr>
                </a:tc>
                <a:tc>
                  <a:txBody>
                    <a:bodyPr/>
                    <a:lstStyle/>
                    <a:p>
                      <a:pPr algn="ctr"/>
                      <a:r>
                        <a:rPr sz="850" b="0">
                          <a:solidFill>
                            <a:srgbClr val="202020"/>
                          </a:solidFill>
                        </a:rPr>
                        <a:t>0.8089</a:t>
                      </a:r>
                    </a:p>
                  </a:txBody>
                  <a:tcPr>
                    <a:solidFill>
                      <a:srgbClr val="FFFFFF"/>
                    </a:solidFill>
                  </a:tcPr>
                </a:tc>
              </a:tr>
              <a:tr h="320040">
                <a:tc>
                  <a:txBody>
                    <a:bodyPr/>
                    <a:lstStyle/>
                    <a:p>
                      <a:pPr algn="l"/>
                      <a:r>
                        <a:rPr sz="850" b="1">
                          <a:solidFill>
                            <a:srgbClr val="202020"/>
                          </a:solidFill>
                        </a:rPr>
                        <a:t>Ref: CNN TL 4c B1 hard (nb 54) = 0.456</a:t>
                      </a:r>
                    </a:p>
                  </a:txBody>
                  <a:tcPr>
                    <a:solidFill>
                      <a:srgbClr val="E6F4EA"/>
                    </a:solidFill>
                  </a:tcPr>
                </a:tc>
                <a:tc>
                  <a:txBody>
                    <a:bodyPr/>
                    <a:lstStyle/>
                    <a:p>
                      <a:pPr algn="ctr"/>
                      <a:r>
                        <a:rPr sz="850" b="0">
                          <a:solidFill>
                            <a:srgbClr val="202020"/>
                          </a:solidFill>
                        </a:rPr>
                        <a:t/>
                      </a:r>
                    </a:p>
                  </a:txBody>
                  <a:tcPr>
                    <a:solidFill>
                      <a:srgbClr val="E6F4EA"/>
                    </a:solidFill>
                  </a:tcPr>
                </a:tc>
                <a:tc>
                  <a:txBody>
                    <a:bodyPr/>
                    <a:lstStyle/>
                    <a:p>
                      <a:pPr algn="ctr"/>
                      <a:r>
                        <a:rPr sz="850" b="0">
                          <a:solidFill>
                            <a:srgbClr val="202020"/>
                          </a:solidFill>
                        </a:rPr>
                        <a:t/>
                      </a:r>
                    </a:p>
                  </a:txBody>
                  <a:tcPr>
                    <a:solidFill>
                      <a:srgbClr val="E6F4EA"/>
                    </a:solidFill>
                  </a:tcPr>
                </a:tc>
                <a:tc>
                  <a:txBody>
                    <a:bodyPr/>
                    <a:lstStyle/>
                    <a:p>
                      <a:pPr algn="ctr"/>
                      <a:r>
                        <a:rPr sz="850" b="0">
                          <a:solidFill>
                            <a:srgbClr val="202020"/>
                          </a:solidFill>
                        </a:rPr>
                        <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200" b="1"/>
              <a:t>Temuan (41-44)</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Temuan 41: KL-divergence soft label beat Hard CE +0.090 Macro F1</a:t>
            </a:r>
          </a:p>
          <a:p>
            <a:r>
              <a:rPr sz="900" b="0"/>
              <a:t>CNN TL 4c: 0.427 (hard) → 0.517 (KL-div). Signifikan. Konsisten hipotesis Liliana 2019: natural emotion recognition diuntungkan target fuzzy/distribusional.</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50" b="1"/>
              <a:t>Temuan 42: Hierarki efektivitas — KL &gt; Soft CE &gt; Label Smoothing &gt; Hard CE</a:t>
            </a:r>
          </a:p>
          <a:p>
            <a:r>
              <a:rPr sz="900" b="0"/>
              <a:t>KL (Face API real) &gt; Soft CE (sama distribusi, beda loss) &gt; Label Smoothing (artificial ε=0.1) &gt; Hard CE. Menunjukkan distribusi Face API membawa sinyal real, bukan sekadar regularisasi.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50" b="1"/>
              <a:t>Temuan 43: KL-div converge epoch 1 — perlu verifikasi</a:t>
            </a:r>
          </a:p>
          <a:p>
            <a:r>
              <a:rPr sz="900" b="0"/>
              <a:t>best_epoch = 1 (stale 15 epoch lalu early stop). Perlu cek training history + multi-seed run untuk pastikan bukan fluke.</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Temuan 44: Soft label bump accuracy 0.70 → 0.84</a:t>
            </a:r>
          </a:p>
          <a:p>
            <a:r>
              <a:rPr sz="900" b="0"/>
              <a:t>Hard CE acc 0.70 vs Soft CE acc 0.84. Model tidak selalu prediksi neutral dengan soft target — lebih "aware" kelas lain. Next: nb 72 extend ke Late Fusion TL 4c B3.</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a:t>Rencana Eksperimen Lanjutan — Paper-Grounded Experiments</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a:t>Best saat ini: Intermediate TL 4-class B3 = Macro F1 0.521 (val-tuned proper).</a:t>
            </a:r>
          </a:p>
          <a:p>
            <a:r>
              <a:rPr sz="950" b="0"/>
              <a:t>Tiap eksperimen dirancang berbasis paper referensi — metodologi jelas, reproducible, dan langsung terhubung ke literatur.</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a:t>Liliana et al. (2019) — Cognitive Processing (Springer)</a:t>
            </a:r>
          </a:p>
          <a:p>
            <a:r>
              <a:rPr sz="850" b="0"/>
              <a:t>"Fuzzy emotion: a natural approach to automatic facial expression recognition"  [first author = dosen pembimbing]</a:t>
            </a:r>
          </a:p>
          <a:p>
            <a:r>
              <a:rPr sz="300" b="0"/>
              <a:t/>
            </a:r>
          </a:p>
          <a:p>
            <a:r>
              <a:rPr sz="950" b="1"/>
              <a:t>(A) Soft Label Training  ✅ DONE</a:t>
            </a:r>
          </a:p>
          <a:p>
            <a:r>
              <a:rPr sz="900" b="0"/>
              <a:t>   → Face API distribusi 7-dim sebagai soft target (fuzzy emotion concept)</a:t>
            </a:r>
          </a:p>
          <a:p>
            <a:r>
              <a:rPr sz="900" b="0"/>
              <a:t>   → nb 71 (CNN TL): KL-div 0.517 vs Hard 0.427 (+0.090)</a:t>
            </a:r>
          </a:p>
          <a:p>
            <a:r>
              <a:rPr sz="900" b="0"/>
              <a:t>   → nb 72 (Late Fusion TL): 0.437 — gagal transfer ke weighted softmax</a:t>
            </a:r>
          </a:p>
          <a:p>
            <a:r>
              <a:rPr sz="900" b="0"/>
              <a:t>   → nb 78 (Intermediate TL): queued — joint training + soft target</a:t>
            </a:r>
          </a:p>
          <a:p>
            <a:r>
              <a:rPr sz="300" b="0"/>
              <a:t/>
            </a:r>
          </a:p>
          <a:p>
            <a:r>
              <a:rPr sz="950" b="1"/>
              <a:t>(B) Geometric Features (Table 3 paper)</a:t>
            </a:r>
          </a:p>
          <a:p>
            <a:r>
              <a:rPr sz="900" b="0"/>
              <a:t>   → 10 komponen facial × 2 metrik (eccentricity + dist ratio) = 20-d GF</a:t>
            </a:r>
          </a:p>
          <a:p>
            <a:r>
              <a:rPr sz="900" b="0"/>
              <a:t>   → FCNN_geom (20-d) vs FCNN raw (136-d) — test interpretability</a:t>
            </a:r>
          </a:p>
          <a:p>
            <a:r>
              <a:rPr sz="300" b="0"/>
              <a:t/>
            </a:r>
          </a:p>
          <a:p>
            <a:r>
              <a:rPr sz="950" b="1"/>
              <a:t>(C) Geometric + Soft Label Combined  ★★★★★</a:t>
            </a:r>
          </a:p>
          <a:p>
            <a:r>
              <a:rPr sz="900" b="0"/>
              <a:t>   → Double-extension: 20-d GF + fuzzy soft target (kombinasi A + B)</a:t>
            </a:r>
          </a:p>
          <a:p>
            <a:r>
              <a:rPr sz="900" b="0"/>
              <a:t>   → Novelty tertinggi — direct follow-up dari paper dosen</a:t>
            </a:r>
          </a:p>
          <a:p>
            <a:r>
              <a:rPr sz="300" b="0"/>
              <a:t/>
            </a:r>
          </a:p>
          <a:p>
            <a:r>
              <a:rPr sz="950" b="1"/>
              <a:t>(D) FEIS Fuzzy Rule-Based (replikasi)</a:t>
            </a:r>
          </a:p>
          <a:p>
            <a:r>
              <a:rPr sz="900" b="0"/>
              <a:t>   → Mamdani inference, 6 emotion engines — non-DL baseline</a:t>
            </a:r>
          </a:p>
          <a:p>
            <a:r>
              <a:rPr sz="900" b="0"/>
              <a:t>   → Bandingkan vs DL: apakah rule-based lebih robust di natural data?</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a:t>Pitaloka et al. (2017)</a:t>
            </a:r>
          </a:p>
          <a:p>
            <a:r>
              <a:rPr sz="850" b="0"/>
              <a:t>"Enhancing CNN with Preprocessing Stage in Automatic Emotion Recognition"</a:t>
            </a:r>
          </a:p>
          <a:p>
            <a:r>
              <a:rPr sz="300" b="0"/>
              <a:t/>
            </a:r>
          </a:p>
          <a:p>
            <a:r>
              <a:rPr sz="950" b="1"/>
              <a:t>(E) GCN Preprocessing Ablation</a:t>
            </a:r>
          </a:p>
          <a:p>
            <a:r>
              <a:rPr sz="900" b="0"/>
              <a:t>   → Paper menunjukkan Global Contrast Normalization &gt; min-max</a:t>
            </a:r>
          </a:p>
          <a:p>
            <a:r>
              <a:rPr sz="900" b="0"/>
              <a:t>   → Ablation: {min-max, GCN, HistEq} × CNN TL best baseline</a:t>
            </a:r>
          </a:p>
          <a:p>
            <a:r>
              <a:rPr sz="900" b="0"/>
              <a:t>   → Quick win: 0.5-1 hari, terukur langsung vs baseline 0.521</a:t>
            </a:r>
          </a:p>
          <a:p>
            <a:r>
              <a:rPr sz="800" b="0"/>
              <a:t/>
            </a:r>
          </a:p>
          <a:p>
            <a:r>
              <a:rPr sz="1000" b="1"/>
              <a:t>Catatan — Pemilihan Paper Referensi:</a:t>
            </a:r>
          </a:p>
          <a:p>
            <a:r>
              <a:rPr sz="900" b="0"/>
              <a:t>• Liliana 2019 dipilih karena paper dosen pembimbing (first author)</a:t>
            </a:r>
          </a:p>
          <a:p>
            <a:r>
              <a:rPr sz="900" b="0"/>
              <a:t>  — novelty tesis = direct extension work beliau</a:t>
            </a:r>
          </a:p>
          <a:p>
            <a:r>
              <a:rPr sz="900" b="0"/>
              <a:t>• Pitaloka 2017 dipilih karena ablation preprocessing</a:t>
            </a:r>
          </a:p>
          <a:p>
            <a:r>
              <a:rPr sz="900" b="0"/>
              <a:t>  — quick win, sesuai pipeline saat ini</a:t>
            </a:r>
          </a:p>
          <a:p>
            <a:r>
              <a:rPr sz="900" b="0"/>
              <a:t>• Total 5 eksperimen paper-grounded (A-E), semua sejalan</a:t>
            </a:r>
          </a:p>
          <a:p>
            <a:r>
              <a:rPr sz="900" b="0"/>
              <a:t>  dengan novelty tesis + paper JITeCS.</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a:t>Prioritas berdasarkan paper-grounding + novelty:</a:t>
            </a:r>
          </a:p>
          <a:p>
            <a:r>
              <a:rPr sz="300" b="0"/>
              <a:t/>
            </a:r>
          </a:p>
          <a:p>
            <a:r>
              <a:rPr sz="950" b="0"/>
              <a:t>• Liliana family (A-D): direct extension paper dosen → novelty tertinggi untuk tesis + potensi paper follow-up</a:t>
            </a:r>
          </a:p>
          <a:p>
            <a:r>
              <a:rPr sz="950" b="0"/>
              <a:t>• Pitaloka (E): ablation terukur, quick win — memperkuat preprocessing choice di paper JITeCS</a:t>
            </a:r>
          </a:p>
          <a:p>
            <a:r>
              <a:rPr sz="300" b="0"/>
              <a:t/>
            </a:r>
          </a:p>
          <a:p>
            <a:r>
              <a:rPr sz="900" b="0"/>
              <a:t>Catatan: GradCAM (arahan dosen, terpisah) sudah in-progress via nb 73 untuk qualitative analysis BAB Discussion — bukan push SOTA.</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00" b="1"/>
              <a:t>Status per Apr 2026: A DONE (nb 71/72) + nb 78 queued  |  B/C/D/E belum dimulai  |  Detail: docs/eksplorasi_lanjutan.md</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Apakah multimodal fusion outperforms single-modality?</a:t>
                      </a:r>
                    </a:p>
                  </a:txBody>
                  <a:tcPr>
                    <a:solidFill>
                      <a:srgbClr val="E8F0FE"/>
                    </a:solidFill>
                  </a:tcPr>
                </a:tc>
                <a:tc>
                  <a:txBody>
                    <a:bodyPr/>
                    <a:lstStyle/>
                    <a:p>
                      <a:pPr algn="ctr"/>
                      <a:r>
                        <a:rPr sz="900">
                          <a:solidFill>
                            <a:srgbClr val="202020"/>
                          </a:solidFill>
                        </a:rPr>
                        <a:t>Ya. Best fusion (Intermediate TL 4c B3 = 0.521) &gt; best single-modal (CNN TL 4c B3 = 0.507, FCNN 4c B2 = 0.459). Gain moderat ~+0.01-0.06 Macro F1.</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Strategi fusion mana yang terbaik (Early / Intermediate / Late)?</a:t>
                      </a:r>
                    </a:p>
                  </a:txBody>
                  <a:tcPr>
                    <a:solidFill>
                      <a:srgbClr val="FFFFFF"/>
                    </a:solidFill>
                  </a:tcPr>
                </a:tc>
                <a:tc>
                  <a:txBody>
                    <a:bodyPr/>
                    <a:lstStyle/>
                    <a:p>
                      <a:pPr algn="ctr"/>
                      <a:r>
                        <a:rPr sz="900">
                          <a:solidFill>
                            <a:srgbClr val="202020"/>
                          </a:solidFill>
                        </a:rPr>
                        <a:t>4-class: Intermediate TL (0.521) &gt; Late Fusion scratch B2 (0.479) ≈ Early Fusion TL (0.471). 7-class: Early Fusion TL B3 (0.333) &gt; Intermediate TL (0.292). Val-tuned proper, no leakage.</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Transfer Learning effectiveness?</a:t>
                      </a:r>
                    </a:p>
                  </a:txBody>
                  <a:tcPr>
                    <a:solidFill>
                      <a:srgbClr val="E8F0FE"/>
                    </a:solidFill>
                  </a:tcPr>
                </a:tc>
                <a:tc>
                  <a:txBody>
                    <a:bodyPr/>
                    <a:lstStyle/>
                    <a:p>
                      <a:pPr algn="ctr"/>
                      <a:r>
                        <a:rPr sz="900">
                          <a:solidFill>
                            <a:srgbClr val="202020"/>
                          </a:solidFill>
                        </a:rPr>
                        <a:t>TL konsisten unggul (Intermediate TL vs scratch: +0.127 B3 4c). Gain Late Fusion marginal post val-tuning karena w ≈ 0 pilih FCNN-only. Best 4c val-tuned: Intermediate TL &gt; Late Fusion.</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Best overall bergeser: Late Fusion TL (0.567 test-tuned) → Intermediate TL (0.521 val-tuned)</a:t>
                      </a:r>
                    </a:p>
                  </a:txBody>
                  <a:tcPr>
                    <a:solidFill>
                      <a:srgbClr val="E8F0FE"/>
                    </a:solidFill>
                  </a:tcPr>
                </a:tc>
                <a:tc>
                  <a:txBody>
                    <a:bodyPr/>
                    <a:lstStyle/>
                    <a:p>
                      <a:pPr algn="ctr"/>
                      <a:r>
                        <a:rPr sz="900">
                          <a:solidFill>
                            <a:srgbClr val="202020"/>
                          </a:solidFill>
                        </a:rPr>
                        <a:t>Fix test-set leakage di Late Fusion grid-search w. Mohon konfirmasi narasi paper: pakai angka val-tuned proper (0.521) atau report both dengan caveat?</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Soft Label Training (nb 71) — KL-divergence +0.09 Macro F1</a:t>
                      </a:r>
                    </a:p>
                  </a:txBody>
                  <a:tcPr>
                    <a:solidFill>
                      <a:srgbClr val="FFFFFF"/>
                    </a:solidFill>
                  </a:tcPr>
                </a:tc>
                <a:tc>
                  <a:txBody>
                    <a:bodyPr/>
                    <a:lstStyle/>
                    <a:p>
                      <a:pPr algn="ctr"/>
                      <a:r>
                        <a:rPr sz="900">
                          <a:solidFill>
                            <a:srgbClr val="202020"/>
                          </a:solidFill>
                        </a:rPr>
                        <a:t>Hasil promising di CNN TL single (0.427 → 0.517). Lanjut ke nb 72 (Late Fusion + soft label + B3) untuk coba beat 0.521? Atau cukup dicantumkan sebagai eksplorasi?</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Eksplorasi lanjutan: GradCAM, Space Alignment, Attention (CBAM/Ghost/Triplet), Geometric Features (Liliana)</a:t>
                      </a:r>
                    </a:p>
                  </a:txBody>
                  <a:tcPr>
                    <a:solidFill>
                      <a:srgbClr val="E8F0FE"/>
                    </a:solidFill>
                  </a:tcPr>
                </a:tc>
                <a:tc>
                  <a:txBody>
                    <a:bodyPr/>
                    <a:lstStyle/>
                    <a:p>
                      <a:pPr algn="ctr"/>
                      <a:r>
                        <a:rPr sz="900">
                          <a:solidFill>
                            <a:srgbClr val="202020"/>
                          </a:solidFill>
                        </a:rPr>
                        <a:t>Prioritas mana yang diambil dulu untuk BAB eksperimen tesis? 4-6 item dalam ~2-3 minggu, atau fokus 1-2 item lebih dalam?</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Scope paper JITeCS vs tesis</a:t>
                      </a:r>
                    </a:p>
                  </a:txBody>
                  <a:tcPr>
                    <a:solidFill>
                      <a:srgbClr val="FFFFFF"/>
                    </a:solidFill>
                  </a:tcPr>
                </a:tc>
                <a:tc>
                  <a:txBody>
                    <a:bodyPr/>
                    <a:lstStyle/>
                    <a:p>
                      <a:pPr algn="ctr"/>
                      <a:r>
                        <a:rPr sz="900">
                          <a:solidFill>
                            <a:srgbClr val="202020"/>
                          </a:solidFill>
                        </a:rPr>
                        <a:t>Paper fokus Primer conf60 (5 fusion strategy + TL + imbalance). Eksplorasi lanjutan (8 item) masuk ke tesis saja, bukan paper?</a:t>
                      </a:r>
                    </a:p>
                  </a:txBody>
                  <a:tcPr>
                    <a:solidFill>
                      <a:srgbClr val="FFFFFF"/>
                    </a:solidFill>
                  </a:tcPr>
                </a:tc>
              </a:tr>
            </a:tbl>
          </a:graphicData>
        </a:graphic>
      </p:graphicFrame>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i="0"/>
              <a:t>SLIDE 34: GradCAM Observasi Awal (Eksplorasi, nb 73)</a:t>
            </a:r>
          </a:p>
        </p:txBody>
      </p:sp>
      <p:sp>
        <p:nvSpPr>
          <p:cNvPr id="3" name="TextBox 2"/>
          <p:cNvSpPr txBox="1"/>
          <p:nvPr/>
        </p:nvSpPr>
        <p:spPr>
          <a:xfrm>
            <a:off x="274320" y="475488"/>
            <a:ext cx="8595360" cy="256032"/>
          </a:xfrm>
          <a:prstGeom prst="rect">
            <a:avLst/>
          </a:prstGeom>
          <a:noFill/>
        </p:spPr>
        <p:txBody>
          <a:bodyPr wrap="square" lIns="0" rIns="0" tIns="0" bIns="0">
            <a:spAutoFit/>
          </a:bodyPr>
          <a:lstStyle/>
          <a:p>
            <a:r>
              <a:rPr sz="950" b="0" i="1">
                <a:solidFill>
                  <a:srgbClr val="555555"/>
                </a:solidFill>
              </a:rPr>
              <a:t>Visualisasi region citra paling berpengaruh per prediksi kelas — bandingkan 2 model di 8 sampel (2 per kelas × 4 kelas).</a:t>
            </a:r>
          </a:p>
        </p:txBody>
      </p:sp>
      <p:pic>
        <p:nvPicPr>
          <p:cNvPr id="4" name="Picture 3" descr="cnn_tl_4c_b1_baseline.png"/>
          <p:cNvPicPr>
            <a:picLocks noChangeAspect="1"/>
          </p:cNvPicPr>
          <p:nvPr/>
        </p:nvPicPr>
        <p:blipFill>
          <a:blip r:embed="rId2"/>
          <a:stretch>
            <a:fillRect/>
          </a:stretch>
        </p:blipFill>
        <p:spPr>
          <a:xfrm>
            <a:off x="228600" y="822960"/>
            <a:ext cx="4206240" cy="2176272"/>
          </a:xfrm>
          <a:prstGeom prst="rect">
            <a:avLst/>
          </a:prstGeom>
        </p:spPr>
      </p:pic>
      <p:sp>
        <p:nvSpPr>
          <p:cNvPr id="5" name="TextBox 4"/>
          <p:cNvSpPr txBox="1"/>
          <p:nvPr/>
        </p:nvSpPr>
        <p:spPr>
          <a:xfrm>
            <a:off x="228600" y="2999232"/>
            <a:ext cx="4206240" cy="228600"/>
          </a:xfrm>
          <a:prstGeom prst="rect">
            <a:avLst/>
          </a:prstGeom>
          <a:noFill/>
        </p:spPr>
        <p:txBody>
          <a:bodyPr wrap="square" lIns="0" rIns="0" tIns="0" bIns="0">
            <a:spAutoFit/>
          </a:bodyPr>
          <a:lstStyle/>
          <a:p>
            <a:r>
              <a:rPr sz="900" b="1" i="0"/>
              <a:t>CNN TL 4c B1 (single-modal, Macro F1 = 0.456)</a:t>
            </a:r>
          </a:p>
        </p:txBody>
      </p:sp>
      <p:pic>
        <p:nvPicPr>
          <p:cNvPr id="6" name="Picture 5" descr="intermediate_tl_4c_b3_img_branch.png"/>
          <p:cNvPicPr>
            <a:picLocks noChangeAspect="1"/>
          </p:cNvPicPr>
          <p:nvPr/>
        </p:nvPicPr>
        <p:blipFill>
          <a:blip r:embed="rId3"/>
          <a:stretch>
            <a:fillRect/>
          </a:stretch>
        </p:blipFill>
        <p:spPr>
          <a:xfrm>
            <a:off x="4709160" y="822960"/>
            <a:ext cx="4206240" cy="2176272"/>
          </a:xfrm>
          <a:prstGeom prst="rect">
            <a:avLst/>
          </a:prstGeom>
        </p:spPr>
      </p:pic>
      <p:sp>
        <p:nvSpPr>
          <p:cNvPr id="7" name="TextBox 6"/>
          <p:cNvSpPr txBox="1"/>
          <p:nvPr/>
        </p:nvSpPr>
        <p:spPr>
          <a:xfrm>
            <a:off x="4709160" y="2999232"/>
            <a:ext cx="4206240" cy="228600"/>
          </a:xfrm>
          <a:prstGeom prst="rect">
            <a:avLst/>
          </a:prstGeom>
          <a:noFill/>
        </p:spPr>
        <p:txBody>
          <a:bodyPr wrap="square" lIns="0" rIns="0" tIns="0" bIns="0">
            <a:spAutoFit/>
          </a:bodyPr>
          <a:lstStyle/>
          <a:p>
            <a:r>
              <a:rPr sz="900" b="1" i="0"/>
              <a:t>Intermediate TL 4c B3 image branch (juara val-tuned, Macro F1 = 0.521)</a:t>
            </a:r>
          </a:p>
        </p:txBody>
      </p:sp>
      <p:sp>
        <p:nvSpPr>
          <p:cNvPr id="8" name="TextBox 7"/>
          <p:cNvSpPr txBox="1"/>
          <p:nvPr/>
        </p:nvSpPr>
        <p:spPr>
          <a:xfrm>
            <a:off x="274320" y="3310128"/>
            <a:ext cx="8595360" cy="731520"/>
          </a:xfrm>
          <a:prstGeom prst="rect">
            <a:avLst/>
          </a:prstGeom>
          <a:noFill/>
        </p:spPr>
        <p:txBody>
          <a:bodyPr wrap="square" lIns="0" rIns="0" tIns="0" bIns="0">
            <a:spAutoFit/>
          </a:bodyPr>
          <a:lstStyle/>
          <a:p>
            <a:r>
              <a:rPr sz="950" b="0" i="0"/>
              <a:t>Observasi qualitative: CNN baseline → fokus tersebar ke non-emosi region (aksesori, tangan, pundak, background). Intermediate TL image branch → fokus konsisten di mouth-nose region di 8/8 sampel, bahkan saat occlusion (tangan menutup mulut).</a:t>
            </a:r>
          </a:p>
        </p:txBody>
      </p:sp>
      <p:sp>
        <p:nvSpPr>
          <p:cNvPr id="9" name="TextBox 8"/>
          <p:cNvSpPr txBox="1"/>
          <p:nvPr/>
        </p:nvSpPr>
        <p:spPr>
          <a:xfrm>
            <a:off x="274320" y="4069080"/>
            <a:ext cx="8595360" cy="1005840"/>
          </a:xfrm>
          <a:prstGeom prst="rect">
            <a:avLst/>
          </a:prstGeom>
          <a:noFill/>
        </p:spPr>
        <p:txBody>
          <a:bodyPr wrap="square" lIns="0" rIns="0" tIns="0" bIns="0">
            <a:spAutoFit/>
          </a:bodyPr>
          <a:lstStyle/>
          <a:p>
            <a:r>
              <a:rPr sz="850" b="0" i="1">
                <a:solidFill>
                  <a:srgbClr val="555555"/>
                </a:solidFill>
              </a:rPr>
              <a:t>Keterbatasan metodologi (penting): (1) hanya 2 sampel/kelas — representativeness rendah; (2) single seed — variance antar run belum diketahui; (3) qualitative only — belum ada quantitative measure (mis. mean activation di mouth bounding box ≥50 sampel/kelas); (4) belum ada baseline sanity check (random-init model). Observasi awal ini belum cukup untuk klaim general — bukan finding paper/tesis, sekadar eksplorasi.</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