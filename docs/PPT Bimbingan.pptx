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1" r:id="rId131"/>
    <p:sldId id="390" r:id="rId140"/>
    <p:sldId id="382" r:id="rId132"/>
    <p:sldId id="389" r:id="rId139"/>
    <p:sldId id="383" r:id="rId133"/>
    <p:sldId id="384" r:id="rId134"/>
    <p:sldId id="388" r:id="rId138"/>
    <p:sldId id="385" r:id="rId135"/>
    <p:sldId id="387" r:id="rId137"/>
    <p:sldId id="386" r:id="rId136"/>
    <p:sldId id="391" r:id="rId141"/>
    <p:sldId id="393" r:id="rId142"/>
    <p:sldId id="396" r:id="rId145"/>
    <p:sldId id="394" r:id="rId143"/>
    <p:sldId id="395" r:id="rId144"/>
    <p:sldId id="397" r:id="rId146"/>
    <p:sldId id="398" r:id="rId147"/>
    <p:sldId id="399" r:id="rId148"/>
    <p:sldId id="365" r:id="rId115"/>
    <p:sldId id="337" r:id="rId87"/>
    <p:sldId id="392" r:id="rId130"/>
    <p:sldId id="401" r:id="rId150"/>
    <p:sldId id="400" r:id="rId149"/>
    <p:sldId id="402" r:id="rId151"/>
    <p:sldId id="403" r:id="rId152"/>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46.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46.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40.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39.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41.xml"/><Relationship Id="rId131" Type="http://schemas.openxmlformats.org/officeDocument/2006/relationships/slide" Target="slides/slide121.xml"/><Relationship Id="rId132" Type="http://schemas.openxmlformats.org/officeDocument/2006/relationships/slide" Target="slides/slide123.xml"/><Relationship Id="rId133" Type="http://schemas.openxmlformats.org/officeDocument/2006/relationships/slide" Target="slides/slide125.xml"/><Relationship Id="rId134" Type="http://schemas.openxmlformats.org/officeDocument/2006/relationships/slide" Target="slides/slide126.xml"/><Relationship Id="rId135" Type="http://schemas.openxmlformats.org/officeDocument/2006/relationships/slide" Target="slides/slide128.xml"/><Relationship Id="rId136" Type="http://schemas.openxmlformats.org/officeDocument/2006/relationships/slide" Target="slides/slide130.xml"/><Relationship Id="rId137" Type="http://schemas.openxmlformats.org/officeDocument/2006/relationships/slide" Target="slides/slide129.xml"/><Relationship Id="rId138" Type="http://schemas.openxmlformats.org/officeDocument/2006/relationships/slide" Target="slides/slide127.xml"/><Relationship Id="rId139" Type="http://schemas.openxmlformats.org/officeDocument/2006/relationships/slide" Target="slides/slide124.xml"/><Relationship Id="rId140" Type="http://schemas.openxmlformats.org/officeDocument/2006/relationships/slide" Target="slides/slide122.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4.xml"/><Relationship Id="rId144" Type="http://schemas.openxmlformats.org/officeDocument/2006/relationships/slide" Target="slides/slide135.xml"/><Relationship Id="rId145" Type="http://schemas.openxmlformats.org/officeDocument/2006/relationships/slide" Target="slides/slide133.xml"/><Relationship Id="rId146" Type="http://schemas.openxmlformats.org/officeDocument/2006/relationships/slide" Target="slides/slide136.xml"/><Relationship Id="rId147" Type="http://schemas.openxmlformats.org/officeDocument/2006/relationships/slide" Target="slides/slide137.xml"/><Relationship Id="rId148" Type="http://schemas.openxmlformats.org/officeDocument/2006/relationships/slide" Target="slides/slide138.xml"/><Relationship Id="rId149" Type="http://schemas.openxmlformats.org/officeDocument/2006/relationships/slide" Target="slides/slide143.xml"/><Relationship Id="rId150" Type="http://schemas.openxmlformats.org/officeDocument/2006/relationships/slide" Target="slides/slide142.xml"/><Relationship Id="rId151" Type="http://schemas.openxmlformats.org/officeDocument/2006/relationships/slide" Target="slides/slide144.xml"/><Relationship Id="rId152" Type="http://schemas.openxmlformats.org/officeDocument/2006/relationships/slide" Target="slides/slide1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
        <p:nvSpPr>
          <p:cNvPr id="5" name="TextBox 4"/>
          <p:cNvSpPr txBox="1"/>
          <p:nvPr/>
        </p:nvSpPr>
        <p:spPr>
          <a:xfrm>
            <a:off x="4572000" y="457200"/>
            <a:ext cx="4297680" cy="0"/>
          </a:xfrm>
          <a:prstGeom prst="rect">
            <a:avLst/>
          </a:prstGeom>
          <a:noFill/>
        </p:spPr>
        <p:txBody>
          <a:bodyPr wrap="square" lIns="0" rIns="0" tIns="0" bIns="0">
            <a:spAutoFit/>
          </a:bodyPr>
          <a:lstStyle/>
          <a:p>
            <a:r>
              <a:rPr sz="1000" b="1">
                <a:solidFill>
                  <a:srgbClr val="1F3A5F"/>
                </a:solidFill>
              </a:rPr>
              <a:t>Distribusi Conf60 Front-Only (7-Class)</a:t>
            </a:r>
          </a:p>
        </p:txBody>
      </p:sp>
      <p:graphicFrame>
        <p:nvGraphicFramePr>
          <p:cNvPr id="6" name="Table 5"/>
          <p:cNvGraphicFramePr>
            <a:graphicFrameLocks noGrp="1"/>
          </p:cNvGraphicFramePr>
          <p:nvPr/>
        </p:nvGraphicFramePr>
        <p:xfrm>
          <a:off x="4572000" y="731520"/>
          <a:ext cx="3520440" cy="1554480"/>
        </p:xfrm>
        <a:graphic>
          <a:graphicData uri="http://schemas.openxmlformats.org/drawingml/2006/table">
            <a:tbl>
              <a:tblPr firstRow="1" bandRow="1">
                <a:tableStyleId>{5C22544A-7EE6-4342-B048-85BDC9FD1C3A}</a:tableStyleId>
              </a:tblPr>
              <a:tblGrid>
                <a:gridCol w="411480"/>
                <a:gridCol w="365760"/>
                <a:gridCol w="502920"/>
                <a:gridCol w="411480"/>
                <a:gridCol w="365760"/>
                <a:gridCol w="320040"/>
                <a:gridCol w="320040"/>
                <a:gridCol w="365760"/>
                <a:gridCol w="457200"/>
              </a:tblGrid>
              <a:tr h="259080">
                <a:tc>
                  <a:txBody>
                    <a:bodyPr/>
                    <a:lstStyle/>
                    <a:p>
                      <a:pPr>
                        <a:spcBef>
                          <a:spcPts val="0"/>
                        </a:spcBef>
                        <a:spcAft>
                          <a:spcPts val="0"/>
                        </a:spcAft>
                      </a:pPr>
                      <a:r>
                        <a:rPr sz="650" b="1">
                          <a:solidFill>
                            <a:srgbClr val="FFFFFF"/>
                          </a:solidFill>
                        </a:rPr>
                        <a:t>Split</a:t>
                      </a:r>
                    </a:p>
                  </a:txBody>
                  <a:tcPr>
                    <a:solidFill>
                      <a:srgbClr val="1F3A5F"/>
                    </a:solidFill>
                  </a:tcPr>
                </a:tc>
                <a:tc>
                  <a:txBody>
                    <a:bodyPr/>
                    <a:lstStyle/>
                    <a:p>
                      <a:pPr>
                        <a:spcBef>
                          <a:spcPts val="0"/>
                        </a:spcBef>
                        <a:spcAft>
                          <a:spcPts val="0"/>
                        </a:spcAft>
                      </a:pPr>
                      <a:r>
                        <a:rPr sz="650" b="1">
                          <a:solidFill>
                            <a:srgbClr val="FFFFFF"/>
                          </a:solidFill>
                        </a:rPr>
                        <a:t>Total</a:t>
                      </a:r>
                    </a:p>
                  </a:txBody>
                  <a:tcPr>
                    <a:solidFill>
                      <a:srgbClr val="1F3A5F"/>
                    </a:solidFill>
                  </a:tcPr>
                </a:tc>
                <a:tc>
                  <a:txBody>
                    <a:bodyPr/>
                    <a:lstStyle/>
                    <a:p>
                      <a:pPr>
                        <a:spcBef>
                          <a:spcPts val="0"/>
                        </a:spcBef>
                        <a:spcAft>
                          <a:spcPts val="0"/>
                        </a:spcAft>
                      </a:pPr>
                      <a:r>
                        <a:rPr sz="650" b="1">
                          <a:solidFill>
                            <a:srgbClr val="FFFFFF"/>
                          </a:solidFill>
                        </a:rPr>
                        <a:t>neutral</a:t>
                      </a:r>
                    </a:p>
                  </a:txBody>
                  <a:tcPr>
                    <a:solidFill>
                      <a:srgbClr val="1F3A5F"/>
                    </a:solidFill>
                  </a:tcPr>
                </a:tc>
                <a:tc>
                  <a:txBody>
                    <a:bodyPr/>
                    <a:lstStyle/>
                    <a:p>
                      <a:pPr>
                        <a:spcBef>
                          <a:spcPts val="0"/>
                        </a:spcBef>
                        <a:spcAft>
                          <a:spcPts val="0"/>
                        </a:spcAft>
                      </a:pPr>
                      <a:r>
                        <a:rPr sz="650" b="1">
                          <a:solidFill>
                            <a:srgbClr val="FFFFFF"/>
                          </a:solidFill>
                        </a:rPr>
                        <a:t>happy</a:t>
                      </a:r>
                    </a:p>
                  </a:txBody>
                  <a:tcPr>
                    <a:solidFill>
                      <a:srgbClr val="1F3A5F"/>
                    </a:solidFill>
                  </a:tcPr>
                </a:tc>
                <a:tc>
                  <a:txBody>
                    <a:bodyPr/>
                    <a:lstStyle/>
                    <a:p>
                      <a:pPr>
                        <a:spcBef>
                          <a:spcPts val="0"/>
                        </a:spcBef>
                        <a:spcAft>
                          <a:spcPts val="0"/>
                        </a:spcAft>
                      </a:pPr>
                      <a:r>
                        <a:rPr sz="650" b="1">
                          <a:solidFill>
                            <a:srgbClr val="FFFFFF"/>
                          </a:solidFill>
                        </a:rPr>
                        <a:t>sad</a:t>
                      </a:r>
                    </a:p>
                  </a:txBody>
                  <a:tcPr>
                    <a:solidFill>
                      <a:srgbClr val="1F3A5F"/>
                    </a:solidFill>
                  </a:tcPr>
                </a:tc>
                <a:tc>
                  <a:txBody>
                    <a:bodyPr/>
                    <a:lstStyle/>
                    <a:p>
                      <a:pPr>
                        <a:spcBef>
                          <a:spcPts val="0"/>
                        </a:spcBef>
                        <a:spcAft>
                          <a:spcPts val="0"/>
                        </a:spcAft>
                      </a:pPr>
                      <a:r>
                        <a:rPr sz="650" b="1">
                          <a:solidFill>
                            <a:srgbClr val="FFFFFF"/>
                          </a:solidFill>
                        </a:rPr>
                        <a:t>angry</a:t>
                      </a:r>
                    </a:p>
                  </a:txBody>
                  <a:tcPr>
                    <a:solidFill>
                      <a:srgbClr val="1F3A5F"/>
                    </a:solidFill>
                  </a:tcPr>
                </a:tc>
                <a:tc>
                  <a:txBody>
                    <a:bodyPr/>
                    <a:lstStyle/>
                    <a:p>
                      <a:pPr>
                        <a:spcBef>
                          <a:spcPts val="0"/>
                        </a:spcBef>
                        <a:spcAft>
                          <a:spcPts val="0"/>
                        </a:spcAft>
                      </a:pPr>
                      <a:r>
                        <a:rPr sz="650" b="1">
                          <a:solidFill>
                            <a:srgbClr val="FFFFFF"/>
                          </a:solidFill>
                        </a:rPr>
                        <a:t>fearful</a:t>
                      </a:r>
                    </a:p>
                  </a:txBody>
                  <a:tcPr>
                    <a:solidFill>
                      <a:srgbClr val="1F3A5F"/>
                    </a:solidFill>
                  </a:tcPr>
                </a:tc>
                <a:tc>
                  <a:txBody>
                    <a:bodyPr/>
                    <a:lstStyle/>
                    <a:p>
                      <a:pPr>
                        <a:spcBef>
                          <a:spcPts val="0"/>
                        </a:spcBef>
                        <a:spcAft>
                          <a:spcPts val="0"/>
                        </a:spcAft>
                      </a:pPr>
                      <a:r>
                        <a:rPr sz="650" b="1">
                          <a:solidFill>
                            <a:srgbClr val="FFFFFF"/>
                          </a:solidFill>
                        </a:rPr>
                        <a:t>disgust</a:t>
                      </a:r>
                    </a:p>
                  </a:txBody>
                  <a:tcPr>
                    <a:solidFill>
                      <a:srgbClr val="1F3A5F"/>
                    </a:solidFill>
                  </a:tcPr>
                </a:tc>
                <a:tc>
                  <a:txBody>
                    <a:bodyPr/>
                    <a:lstStyle/>
                    <a:p>
                      <a:pPr>
                        <a:spcBef>
                          <a:spcPts val="0"/>
                        </a:spcBef>
                        <a:spcAft>
                          <a:spcPts val="0"/>
                        </a:spcAft>
                      </a:pPr>
                      <a:r>
                        <a:rPr sz="650" b="1">
                          <a:solidFill>
                            <a:srgbClr val="FFFFFF"/>
                          </a:solidFill>
                        </a:rPr>
                        <a:t>surprised</a:t>
                      </a:r>
                    </a:p>
                  </a:txBody>
                  <a:tcPr>
                    <a:solidFill>
                      <a:srgbClr val="1F3A5F"/>
                    </a:solidFill>
                  </a:tcPr>
                </a:tc>
              </a:tr>
              <a:tr h="259080">
                <a:tc>
                  <a:txBody>
                    <a:bodyPr/>
                    <a:lstStyle/>
                    <a:p>
                      <a:pPr>
                        <a:spcBef>
                          <a:spcPts val="0"/>
                        </a:spcBef>
                        <a:spcAft>
                          <a:spcPts val="0"/>
                        </a:spcAft>
                      </a:pPr>
                      <a:r>
                        <a:rPr sz="650" b="0"/>
                        <a:t>Train</a:t>
                      </a:r>
                    </a:p>
                  </a:txBody>
                  <a:tcPr/>
                </a:tc>
                <a:tc>
                  <a:txBody>
                    <a:bodyPr/>
                    <a:lstStyle/>
                    <a:p>
                      <a:pPr>
                        <a:spcBef>
                          <a:spcPts val="0"/>
                        </a:spcBef>
                        <a:spcAft>
                          <a:spcPts val="0"/>
                        </a:spcAft>
                      </a:pPr>
                      <a:r>
                        <a:rPr sz="650" b="0"/>
                        <a:t>5,287</a:t>
                      </a:r>
                    </a:p>
                  </a:txBody>
                  <a:tcPr/>
                </a:tc>
                <a:tc>
                  <a:txBody>
                    <a:bodyPr/>
                    <a:lstStyle/>
                    <a:p>
                      <a:pPr>
                        <a:spcBef>
                          <a:spcPts val="0"/>
                        </a:spcBef>
                        <a:spcAft>
                          <a:spcPts val="0"/>
                        </a:spcAft>
                      </a:pPr>
                      <a:r>
                        <a:rPr sz="650" b="0"/>
                        <a:t>4,526</a:t>
                      </a:r>
                    </a:p>
                  </a:txBody>
                  <a:tcPr/>
                </a:tc>
                <a:tc>
                  <a:txBody>
                    <a:bodyPr/>
                    <a:lstStyle/>
                    <a:p>
                      <a:pPr>
                        <a:spcBef>
                          <a:spcPts val="0"/>
                        </a:spcBef>
                        <a:spcAft>
                          <a:spcPts val="0"/>
                        </a:spcAft>
                      </a:pPr>
                      <a:r>
                        <a:rPr sz="650" b="0"/>
                        <a:t>416</a:t>
                      </a:r>
                    </a:p>
                  </a:txBody>
                  <a:tcPr/>
                </a:tc>
                <a:tc>
                  <a:txBody>
                    <a:bodyPr/>
                    <a:lstStyle/>
                    <a:p>
                      <a:pPr>
                        <a:spcBef>
                          <a:spcPts val="0"/>
                        </a:spcBef>
                        <a:spcAft>
                          <a:spcPts val="0"/>
                        </a:spcAft>
                      </a:pPr>
                      <a:r>
                        <a:rPr sz="650" b="0"/>
                        <a:t>287</a:t>
                      </a:r>
                    </a:p>
                  </a:txBody>
                  <a:tcPr/>
                </a:tc>
                <a:tc>
                  <a:txBody>
                    <a:bodyPr/>
                    <a:lstStyle/>
                    <a:p>
                      <a:pPr>
                        <a:spcBef>
                          <a:spcPts val="0"/>
                        </a:spcBef>
                        <a:spcAft>
                          <a:spcPts val="0"/>
                        </a:spcAft>
                      </a:pPr>
                      <a:r>
                        <a:rPr sz="650" b="0"/>
                        <a:t>27</a:t>
                      </a:r>
                    </a:p>
                  </a:txBody>
                  <a:tcPr/>
                </a:tc>
                <a:tc>
                  <a:txBody>
                    <a:bodyPr/>
                    <a:lstStyle/>
                    <a:p>
                      <a:pPr>
                        <a:spcBef>
                          <a:spcPts val="0"/>
                        </a:spcBef>
                        <a:spcAft>
                          <a:spcPts val="0"/>
                        </a:spcAft>
                      </a:pPr>
                      <a:r>
                        <a:rPr sz="650" b="0"/>
                        <a:t>2</a:t>
                      </a:r>
                    </a:p>
                  </a:txBody>
                  <a:tcPr/>
                </a:tc>
                <a:tc>
                  <a:txBody>
                    <a:bodyPr/>
                    <a:lstStyle/>
                    <a:p>
                      <a:pPr>
                        <a:spcBef>
                          <a:spcPts val="0"/>
                        </a:spcBef>
                        <a:spcAft>
                          <a:spcPts val="0"/>
                        </a:spcAft>
                      </a:pPr>
                      <a:r>
                        <a:rPr sz="650" b="0"/>
                        <a:t>13</a:t>
                      </a:r>
                    </a:p>
                  </a:txBody>
                  <a:tcPr/>
                </a:tc>
                <a:tc>
                  <a:txBody>
                    <a:bodyPr/>
                    <a:lstStyle/>
                    <a:p>
                      <a:pPr>
                        <a:spcBef>
                          <a:spcPts val="0"/>
                        </a:spcBef>
                        <a:spcAft>
                          <a:spcPts val="0"/>
                        </a:spcAft>
                      </a:pPr>
                      <a:r>
                        <a:rPr sz="650" b="0"/>
                        <a:t>16</a:t>
                      </a:r>
                    </a:p>
                  </a:txBody>
                  <a:tcPr/>
                </a:tc>
              </a:tr>
              <a:tr h="259080">
                <a:tc>
                  <a:txBody>
                    <a:bodyPr/>
                    <a:lstStyle/>
                    <a:p>
                      <a:pPr>
                        <a:spcBef>
                          <a:spcPts val="0"/>
                        </a:spcBef>
                        <a:spcAft>
                          <a:spcPts val="0"/>
                        </a:spcAft>
                      </a:pPr>
                      <a:r>
                        <a:rPr sz="650" b="0"/>
                        <a:t>Val</a:t>
                      </a:r>
                    </a:p>
                  </a:txBody>
                  <a:tcPr/>
                </a:tc>
                <a:tc>
                  <a:txBody>
                    <a:bodyPr/>
                    <a:lstStyle/>
                    <a:p>
                      <a:pPr>
                        <a:spcBef>
                          <a:spcPts val="0"/>
                        </a:spcBef>
                        <a:spcAft>
                          <a:spcPts val="0"/>
                        </a:spcAft>
                      </a:pPr>
                      <a:r>
                        <a:rPr sz="650" b="0"/>
                        <a:t>579</a:t>
                      </a:r>
                    </a:p>
                  </a:txBody>
                  <a:tcPr/>
                </a:tc>
                <a:tc>
                  <a:txBody>
                    <a:bodyPr/>
                    <a:lstStyle/>
                    <a:p>
                      <a:pPr>
                        <a:spcBef>
                          <a:spcPts val="0"/>
                        </a:spcBef>
                        <a:spcAft>
                          <a:spcPts val="0"/>
                        </a:spcAft>
                      </a:pPr>
                      <a:r>
                        <a:rPr sz="650" b="0"/>
                        <a:t>477</a:t>
                      </a:r>
                    </a:p>
                  </a:txBody>
                  <a:tcPr/>
                </a:tc>
                <a:tc>
                  <a:txBody>
                    <a:bodyPr/>
                    <a:lstStyle/>
                    <a:p>
                      <a:pPr>
                        <a:spcBef>
                          <a:spcPts val="0"/>
                        </a:spcBef>
                        <a:spcAft>
                          <a:spcPts val="0"/>
                        </a:spcAft>
                      </a:pPr>
                      <a:r>
                        <a:rPr sz="650" b="0"/>
                        <a:t>52</a:t>
                      </a:r>
                    </a:p>
                  </a:txBody>
                  <a:tcPr/>
                </a:tc>
                <a:tc>
                  <a:txBody>
                    <a:bodyPr/>
                    <a:lstStyle/>
                    <a:p>
                      <a:pPr>
                        <a:spcBef>
                          <a:spcPts val="0"/>
                        </a:spcBef>
                        <a:spcAft>
                          <a:spcPts val="0"/>
                        </a:spcAft>
                      </a:pPr>
                      <a:r>
                        <a:rPr sz="650" b="0"/>
                        <a:t>24</a:t>
                      </a:r>
                    </a:p>
                  </a:txBody>
                  <a:tcPr/>
                </a:tc>
                <a:tc>
                  <a:txBody>
                    <a:bodyPr/>
                    <a:lstStyle/>
                    <a:p>
                      <a:pPr>
                        <a:spcBef>
                          <a:spcPts val="0"/>
                        </a:spcBef>
                        <a:spcAft>
                          <a:spcPts val="0"/>
                        </a:spcAft>
                      </a:pPr>
                      <a:r>
                        <a:rPr sz="650" b="0"/>
                        <a:t>3</a:t>
                      </a:r>
                    </a:p>
                  </a:txBody>
                  <a:tcPr/>
                </a:tc>
                <a:tc>
                  <a:txBody>
                    <a:bodyPr/>
                    <a:lstStyle/>
                    <a:p>
                      <a:pPr>
                        <a:spcBef>
                          <a:spcPts val="0"/>
                        </a:spcBef>
                        <a:spcAft>
                          <a:spcPts val="0"/>
                        </a:spcAft>
                      </a:pPr>
                      <a:r>
                        <a:rPr sz="650" b="0"/>
                        <a:t>2</a:t>
                      </a:r>
                    </a:p>
                  </a:txBody>
                  <a:tcPr/>
                </a:tc>
                <a:tc>
                  <a:txBody>
                    <a:bodyPr/>
                    <a:lstStyle/>
                    <a:p>
                      <a:pPr>
                        <a:spcBef>
                          <a:spcPts val="0"/>
                        </a:spcBef>
                        <a:spcAft>
                          <a:spcPts val="0"/>
                        </a:spcAft>
                      </a:pPr>
                      <a:r>
                        <a:rPr sz="650" b="0"/>
                        <a:t>1</a:t>
                      </a:r>
                    </a:p>
                  </a:txBody>
                  <a:tcPr/>
                </a:tc>
                <a:tc>
                  <a:txBody>
                    <a:bodyPr/>
                    <a:lstStyle/>
                    <a:p>
                      <a:pPr>
                        <a:spcBef>
                          <a:spcPts val="0"/>
                        </a:spcBef>
                        <a:spcAft>
                          <a:spcPts val="0"/>
                        </a:spcAft>
                      </a:pPr>
                      <a:r>
                        <a:rPr sz="650" b="0"/>
                        <a:t>20</a:t>
                      </a:r>
                    </a:p>
                  </a:txBody>
                  <a:tcPr/>
                </a:tc>
              </a:tr>
              <a:tr h="259080">
                <a:tc>
                  <a:txBody>
                    <a:bodyPr/>
                    <a:lstStyle/>
                    <a:p>
                      <a:pPr>
                        <a:spcBef>
                          <a:spcPts val="0"/>
                        </a:spcBef>
                        <a:spcAft>
                          <a:spcPts val="0"/>
                        </a:spcAft>
                      </a:pPr>
                      <a:r>
                        <a:rPr sz="650" b="0"/>
                        <a:t>Test</a:t>
                      </a:r>
                    </a:p>
                  </a:txBody>
                  <a:tcPr/>
                </a:tc>
                <a:tc>
                  <a:txBody>
                    <a:bodyPr/>
                    <a:lstStyle/>
                    <a:p>
                      <a:pPr>
                        <a:spcBef>
                          <a:spcPts val="0"/>
                        </a:spcBef>
                        <a:spcAft>
                          <a:spcPts val="0"/>
                        </a:spcAft>
                      </a:pPr>
                      <a:r>
                        <a:rPr sz="650" b="0"/>
                        <a:t>929</a:t>
                      </a:r>
                    </a:p>
                  </a:txBody>
                  <a:tcPr/>
                </a:tc>
                <a:tc>
                  <a:txBody>
                    <a:bodyPr/>
                    <a:lstStyle/>
                    <a:p>
                      <a:pPr>
                        <a:spcBef>
                          <a:spcPts val="0"/>
                        </a:spcBef>
                        <a:spcAft>
                          <a:spcPts val="0"/>
                        </a:spcAft>
                      </a:pPr>
                      <a:r>
                        <a:rPr sz="650" b="0"/>
                        <a:t>688</a:t>
                      </a:r>
                    </a:p>
                  </a:txBody>
                  <a:tcPr/>
                </a:tc>
                <a:tc>
                  <a:txBody>
                    <a:bodyPr/>
                    <a:lstStyle/>
                    <a:p>
                      <a:pPr>
                        <a:spcBef>
                          <a:spcPts val="0"/>
                        </a:spcBef>
                        <a:spcAft>
                          <a:spcPts val="0"/>
                        </a:spcAft>
                      </a:pPr>
                      <a:r>
                        <a:rPr sz="650" b="0"/>
                        <a:t>183</a:t>
                      </a:r>
                    </a:p>
                  </a:txBody>
                  <a:tcPr/>
                </a:tc>
                <a:tc>
                  <a:txBody>
                    <a:bodyPr/>
                    <a:lstStyle/>
                    <a:p>
                      <a:pPr>
                        <a:spcBef>
                          <a:spcPts val="0"/>
                        </a:spcBef>
                        <a:spcAft>
                          <a:spcPts val="0"/>
                        </a:spcAft>
                      </a:pPr>
                      <a:r>
                        <a:rPr sz="650" b="0"/>
                        <a:t>50</a:t>
                      </a:r>
                    </a:p>
                  </a:txBody>
                  <a:tcPr/>
                </a:tc>
                <a:tc>
                  <a:txBody>
                    <a:bodyPr/>
                    <a:lstStyle/>
                    <a:p>
                      <a:pPr>
                        <a:spcBef>
                          <a:spcPts val="0"/>
                        </a:spcBef>
                        <a:spcAft>
                          <a:spcPts val="0"/>
                        </a:spcAft>
                      </a:pPr>
                      <a:r>
                        <a:rPr sz="650" b="0"/>
                        <a:t>2</a:t>
                      </a:r>
                    </a:p>
                  </a:txBody>
                  <a:tcPr/>
                </a:tc>
                <a:tc>
                  <a:txBody>
                    <a:bodyPr/>
                    <a:lstStyle/>
                    <a:p>
                      <a:pPr>
                        <a:spcBef>
                          <a:spcPts val="0"/>
                        </a:spcBef>
                        <a:spcAft>
                          <a:spcPts val="0"/>
                        </a:spcAft>
                      </a:pPr>
                      <a:r>
                        <a:rPr sz="650" b="0"/>
                        <a:t>1</a:t>
                      </a:r>
                    </a:p>
                  </a:txBody>
                  <a:tcPr/>
                </a:tc>
                <a:tc>
                  <a:txBody>
                    <a:bodyPr/>
                    <a:lstStyle/>
                    <a:p>
                      <a:pPr>
                        <a:spcBef>
                          <a:spcPts val="0"/>
                        </a:spcBef>
                        <a:spcAft>
                          <a:spcPts val="0"/>
                        </a:spcAft>
                      </a:pPr>
                      <a:r>
                        <a:rPr sz="650" b="0"/>
                        <a:t>2</a:t>
                      </a:r>
                    </a:p>
                  </a:txBody>
                  <a:tcPr/>
                </a:tc>
                <a:tc>
                  <a:txBody>
                    <a:bodyPr/>
                    <a:lstStyle/>
                    <a:p>
                      <a:pPr>
                        <a:spcBef>
                          <a:spcPts val="0"/>
                        </a:spcBef>
                        <a:spcAft>
                          <a:spcPts val="0"/>
                        </a:spcAft>
                      </a:pPr>
                      <a:r>
                        <a:rPr sz="650" b="0"/>
                        <a:t>3</a:t>
                      </a:r>
                    </a:p>
                  </a:txBody>
                  <a:tcPr/>
                </a:tc>
              </a:tr>
              <a:tr h="259080">
                <a:tc>
                  <a:txBody>
                    <a:bodyPr/>
                    <a:lstStyle/>
                    <a:p>
                      <a:pPr>
                        <a:spcBef>
                          <a:spcPts val="0"/>
                        </a:spcBef>
                        <a:spcAft>
                          <a:spcPts val="0"/>
                        </a:spcAft>
                      </a:pPr>
                      <a:r>
                        <a:rPr sz="650" b="1"/>
                        <a:t>Total</a:t>
                      </a:r>
                    </a:p>
                  </a:txBody>
                  <a:tcPr>
                    <a:solidFill>
                      <a:srgbClr val="E8E8E8"/>
                    </a:solidFill>
                  </a:tcPr>
                </a:tc>
                <a:tc>
                  <a:txBody>
                    <a:bodyPr/>
                    <a:lstStyle/>
                    <a:p>
                      <a:pPr>
                        <a:spcBef>
                          <a:spcPts val="0"/>
                        </a:spcBef>
                        <a:spcAft>
                          <a:spcPts val="0"/>
                        </a:spcAft>
                      </a:pPr>
                      <a:r>
                        <a:rPr sz="650" b="1"/>
                        <a:t>6,795</a:t>
                      </a:r>
                    </a:p>
                  </a:txBody>
                  <a:tcPr>
                    <a:solidFill>
                      <a:srgbClr val="E8E8E8"/>
                    </a:solidFill>
                  </a:tcPr>
                </a:tc>
                <a:tc>
                  <a:txBody>
                    <a:bodyPr/>
                    <a:lstStyle/>
                    <a:p>
                      <a:pPr>
                        <a:spcBef>
                          <a:spcPts val="0"/>
                        </a:spcBef>
                        <a:spcAft>
                          <a:spcPts val="0"/>
                        </a:spcAft>
                      </a:pPr>
                      <a:r>
                        <a:rPr sz="650" b="1"/>
                        <a:t>5,691</a:t>
                      </a:r>
                    </a:p>
                  </a:txBody>
                  <a:tcPr>
                    <a:solidFill>
                      <a:srgbClr val="E8E8E8"/>
                    </a:solidFill>
                  </a:tcPr>
                </a:tc>
                <a:tc>
                  <a:txBody>
                    <a:bodyPr/>
                    <a:lstStyle/>
                    <a:p>
                      <a:pPr>
                        <a:spcBef>
                          <a:spcPts val="0"/>
                        </a:spcBef>
                        <a:spcAft>
                          <a:spcPts val="0"/>
                        </a:spcAft>
                      </a:pPr>
                      <a:r>
                        <a:rPr sz="650" b="1"/>
                        <a:t>651</a:t>
                      </a:r>
                    </a:p>
                  </a:txBody>
                  <a:tcPr>
                    <a:solidFill>
                      <a:srgbClr val="E8E8E8"/>
                    </a:solidFill>
                  </a:tcPr>
                </a:tc>
                <a:tc>
                  <a:txBody>
                    <a:bodyPr/>
                    <a:lstStyle/>
                    <a:p>
                      <a:pPr>
                        <a:spcBef>
                          <a:spcPts val="0"/>
                        </a:spcBef>
                        <a:spcAft>
                          <a:spcPts val="0"/>
                        </a:spcAft>
                      </a:pPr>
                      <a:r>
                        <a:rPr sz="650" b="1"/>
                        <a:t>361</a:t>
                      </a:r>
                    </a:p>
                  </a:txBody>
                  <a:tcPr>
                    <a:solidFill>
                      <a:srgbClr val="E8E8E8"/>
                    </a:solidFill>
                  </a:tcPr>
                </a:tc>
                <a:tc>
                  <a:txBody>
                    <a:bodyPr/>
                    <a:lstStyle/>
                    <a:p>
                      <a:pPr>
                        <a:spcBef>
                          <a:spcPts val="0"/>
                        </a:spcBef>
                        <a:spcAft>
                          <a:spcPts val="0"/>
                        </a:spcAft>
                      </a:pPr>
                      <a:r>
                        <a:rPr sz="650" b="1"/>
                        <a:t>32</a:t>
                      </a:r>
                    </a:p>
                  </a:txBody>
                  <a:tcPr>
                    <a:solidFill>
                      <a:srgbClr val="E8E8E8"/>
                    </a:solidFill>
                  </a:tcPr>
                </a:tc>
                <a:tc>
                  <a:txBody>
                    <a:bodyPr/>
                    <a:lstStyle/>
                    <a:p>
                      <a:pPr>
                        <a:spcBef>
                          <a:spcPts val="0"/>
                        </a:spcBef>
                        <a:spcAft>
                          <a:spcPts val="0"/>
                        </a:spcAft>
                      </a:pPr>
                      <a:r>
                        <a:rPr sz="650" b="1"/>
                        <a:t>5</a:t>
                      </a:r>
                    </a:p>
                  </a:txBody>
                  <a:tcPr>
                    <a:solidFill>
                      <a:srgbClr val="E8E8E8"/>
                    </a:solidFill>
                  </a:tcPr>
                </a:tc>
                <a:tc>
                  <a:txBody>
                    <a:bodyPr/>
                    <a:lstStyle/>
                    <a:p>
                      <a:pPr>
                        <a:spcBef>
                          <a:spcPts val="0"/>
                        </a:spcBef>
                        <a:spcAft>
                          <a:spcPts val="0"/>
                        </a:spcAft>
                      </a:pPr>
                      <a:r>
                        <a:rPr sz="650" b="1"/>
                        <a:t>16</a:t>
                      </a:r>
                    </a:p>
                  </a:txBody>
                  <a:tcPr>
                    <a:solidFill>
                      <a:srgbClr val="E8E8E8"/>
                    </a:solidFill>
                  </a:tcPr>
                </a:tc>
                <a:tc>
                  <a:txBody>
                    <a:bodyPr/>
                    <a:lstStyle/>
                    <a:p>
                      <a:pPr>
                        <a:spcBef>
                          <a:spcPts val="0"/>
                        </a:spcBef>
                        <a:spcAft>
                          <a:spcPts val="0"/>
                        </a:spcAft>
                      </a:pPr>
                      <a:r>
                        <a:rPr sz="650" b="1"/>
                        <a:t>39</a:t>
                      </a:r>
                    </a:p>
                  </a:txBody>
                  <a:tcPr>
                    <a:solidFill>
                      <a:srgbClr val="E8E8E8"/>
                    </a:solidFill>
                  </a:tcPr>
                </a:tc>
              </a:tr>
              <a:tr h="259080">
                <a:tc>
                  <a:txBody>
                    <a:bodyPr/>
                    <a:lstStyle/>
                    <a:p>
                      <a:pPr>
                        <a:spcBef>
                          <a:spcPts val="0"/>
                        </a:spcBef>
                        <a:spcAft>
                          <a:spcPts val="0"/>
                        </a:spcAft>
                      </a:pPr>
                      <a:r>
                        <a:rPr sz="650" b="1"/>
                        <a:t/>
                      </a:r>
                    </a:p>
                  </a:txBody>
                  <a:tcPr/>
                </a:tc>
                <a:tc>
                  <a:txBody>
                    <a:bodyPr/>
                    <a:lstStyle/>
                    <a:p>
                      <a:pPr>
                        <a:spcBef>
                          <a:spcPts val="0"/>
                        </a:spcBef>
                        <a:spcAft>
                          <a:spcPts val="0"/>
                        </a:spcAft>
                      </a:pPr>
                      <a:r>
                        <a:rPr sz="650" b="1"/>
                        <a:t>(%)</a:t>
                      </a:r>
                    </a:p>
                  </a:txBody>
                  <a:tcPr/>
                </a:tc>
                <a:tc>
                  <a:txBody>
                    <a:bodyPr/>
                    <a:lstStyle/>
                    <a:p>
                      <a:pPr>
                        <a:spcBef>
                          <a:spcPts val="0"/>
                        </a:spcBef>
                        <a:spcAft>
                          <a:spcPts val="0"/>
                        </a:spcAft>
                      </a:pPr>
                      <a:r>
                        <a:rPr sz="650" b="1"/>
                        <a:t>83.8%</a:t>
                      </a:r>
                    </a:p>
                  </a:txBody>
                  <a:tcPr/>
                </a:tc>
                <a:tc>
                  <a:txBody>
                    <a:bodyPr/>
                    <a:lstStyle/>
                    <a:p>
                      <a:pPr>
                        <a:spcBef>
                          <a:spcPts val="0"/>
                        </a:spcBef>
                        <a:spcAft>
                          <a:spcPts val="0"/>
                        </a:spcAft>
                      </a:pPr>
                      <a:r>
                        <a:rPr sz="650" b="1"/>
                        <a:t>9.6%</a:t>
                      </a:r>
                    </a:p>
                  </a:txBody>
                  <a:tcPr/>
                </a:tc>
                <a:tc>
                  <a:txBody>
                    <a:bodyPr/>
                    <a:lstStyle/>
                    <a:p>
                      <a:pPr>
                        <a:spcBef>
                          <a:spcPts val="0"/>
                        </a:spcBef>
                        <a:spcAft>
                          <a:spcPts val="0"/>
                        </a:spcAft>
                      </a:pPr>
                      <a:r>
                        <a:rPr sz="650" b="1"/>
                        <a:t>5.3%</a:t>
                      </a:r>
                    </a:p>
                  </a:txBody>
                  <a:tcPr/>
                </a:tc>
                <a:tc>
                  <a:txBody>
                    <a:bodyPr/>
                    <a:lstStyle/>
                    <a:p>
                      <a:pPr>
                        <a:spcBef>
                          <a:spcPts val="0"/>
                        </a:spcBef>
                        <a:spcAft>
                          <a:spcPts val="0"/>
                        </a:spcAft>
                      </a:pPr>
                      <a:r>
                        <a:rPr sz="650" b="1"/>
                        <a:t>0.5%</a:t>
                      </a:r>
                    </a:p>
                  </a:txBody>
                  <a:tcPr/>
                </a:tc>
                <a:tc>
                  <a:txBody>
                    <a:bodyPr/>
                    <a:lstStyle/>
                    <a:p>
                      <a:pPr>
                        <a:spcBef>
                          <a:spcPts val="0"/>
                        </a:spcBef>
                        <a:spcAft>
                          <a:spcPts val="0"/>
                        </a:spcAft>
                      </a:pPr>
                      <a:r>
                        <a:rPr sz="650" b="1"/>
                        <a:t>0.1%</a:t>
                      </a:r>
                    </a:p>
                  </a:txBody>
                  <a:tcPr/>
                </a:tc>
                <a:tc>
                  <a:txBody>
                    <a:bodyPr/>
                    <a:lstStyle/>
                    <a:p>
                      <a:pPr>
                        <a:spcBef>
                          <a:spcPts val="0"/>
                        </a:spcBef>
                        <a:spcAft>
                          <a:spcPts val="0"/>
                        </a:spcAft>
                      </a:pPr>
                      <a:r>
                        <a:rPr sz="650" b="1"/>
                        <a:t>0.2%</a:t>
                      </a:r>
                    </a:p>
                  </a:txBody>
                  <a:tcPr/>
                </a:tc>
                <a:tc>
                  <a:txBody>
                    <a:bodyPr/>
                    <a:lstStyle/>
                    <a:p>
                      <a:pPr>
                        <a:spcBef>
                          <a:spcPts val="0"/>
                        </a:spcBef>
                        <a:spcAft>
                          <a:spcPts val="0"/>
                        </a:spcAft>
                      </a:pPr>
                      <a:r>
                        <a:rPr sz="650" b="1"/>
                        <a:t>0.6%</a:t>
                      </a:r>
                    </a:p>
                  </a:txBody>
                  <a:tcPr/>
                </a:tc>
              </a:tr>
            </a:tbl>
          </a:graphicData>
        </a:graphic>
      </p:graphicFrame>
      <p:sp>
        <p:nvSpPr>
          <p:cNvPr id="7" name="TextBox 6"/>
          <p:cNvSpPr txBox="1"/>
          <p:nvPr/>
        </p:nvSpPr>
        <p:spPr>
          <a:xfrm>
            <a:off x="4572000" y="2331720"/>
            <a:ext cx="4297680" cy="0"/>
          </a:xfrm>
          <a:prstGeom prst="rect">
            <a:avLst/>
          </a:prstGeom>
          <a:noFill/>
        </p:spPr>
        <p:txBody>
          <a:bodyPr wrap="square" lIns="0">
            <a:spAutoFit/>
          </a:bodyPr>
          <a:lstStyle/>
          <a:p>
            <a:r>
              <a:rPr sz="700" b="0">
                <a:solidFill>
                  <a:srgbClr val="777777"/>
                </a:solidFill>
              </a:rPr>
              <a:t>Imbalance ratio: 1,138:1 (neutral:fearful) | Front-only, conf &gt;= 60%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 ★</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 ★</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0.270 (scratch B1)</a:t>
                      </a:r>
                    </a:p>
                  </a:txBody>
                  <a:tcPr>
                    <a:solidFill>
                      <a:srgbClr val="E6F4EA"/>
                    </a:solidFill>
                  </a:tcPr>
                </a:tc>
                <a:tc>
                  <a:txBody>
                    <a:bodyPr/>
                    <a:lstStyle/>
                    <a:p>
                      <a:pPr algn="ctr"/>
                      <a:r>
                        <a:rPr sz="850" b="0">
                          <a:solidFill>
                            <a:srgbClr val="202020"/>
                          </a:solidFill>
                        </a:rPr>
                        <a:t>0.479 (scratch B2)</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32: Early Fusion TL B3 tembus best di 7-class (0.333)</a:t>
            </a:r>
          </a:p>
          <a:p>
            <a:r>
              <a:rPr sz="900" b="0"/>
              <a:t>Melampaui Intermediate TL B3 (0.292) dan Late Fusion scratch B1 (0.270, val-tuned). Kombinasi heatmap channel + class weights + augmentasi + TL bekerja sinergis untuk skenario kelas banyak + imbalance ekstrem.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35: Ranking fusion strategy berbeda per granularitas kelas (val-tuned)</a:t>
            </a:r>
          </a:p>
          <a:p>
            <a:r>
              <a:rPr sz="900" b="0"/>
              <a:t>7-class: Early TL B3 (0.333) &gt; Intermediate TL B3 (0.292) &gt; Late Fusion scratch B1 (0.270). 4-class: Intermediate TL B3 (0.521) &gt; Late Fusion scratch B2 (0.479) &gt; Early TL B1 (0.471). Early Fusion juara di high-granularity, Intermediate juara di low-granularity.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0.246</a:t>
                      </a:r>
                    </a:p>
                  </a:txBody>
                  <a:tcPr>
                    <a:solidFill>
                      <a:srgbClr val="E8F0FE"/>
                    </a:solidFill>
                  </a:tcPr>
                </a:tc>
                <a:tc>
                  <a:txBody>
                    <a:bodyPr/>
                    <a:lstStyle/>
                    <a:p>
                      <a:pPr algn="ctr"/>
                      <a:r>
                        <a:rPr sz="750" b="0">
                          <a:solidFill>
                            <a:srgbClr val="202020"/>
                          </a:solidFill>
                        </a:rPr>
                        <a:t>0.794</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0.253</a:t>
                      </a:r>
                    </a:p>
                  </a:txBody>
                  <a:tcPr>
                    <a:solidFill>
                      <a:srgbClr val="E8F0FE"/>
                    </a:solidFill>
                  </a:tcPr>
                </a:tc>
                <a:tc>
                  <a:txBody>
                    <a:bodyPr/>
                    <a:lstStyle/>
                    <a:p>
                      <a:pPr algn="ctr"/>
                      <a:r>
                        <a:rPr sz="750" b="0">
                          <a:solidFill>
                            <a:srgbClr val="202020"/>
                          </a:solidFill>
                        </a:rPr>
                        <a:t>0.713</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0.713</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0.457</a:t>
                      </a:r>
                    </a:p>
                  </a:txBody>
                  <a:tcPr>
                    <a:solidFill>
                      <a:srgbClr val="E8F0FE"/>
                    </a:solidFill>
                  </a:tcPr>
                </a:tc>
                <a:tc>
                  <a:txBody>
                    <a:bodyPr/>
                    <a:lstStyle/>
                    <a:p>
                      <a:pPr algn="ctr"/>
                      <a:r>
                        <a:rPr sz="750" b="0">
                          <a:solidFill>
                            <a:srgbClr val="202020"/>
                          </a:solidFill>
                        </a:rPr>
                        <a:t>0.822</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0.822</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0.471</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 Eksplorasi Selesai (Negative Result)</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0"/>
              <a:t>Konsolidasi nb 71 (CNN TL) + nb 72 (Late Fusion TL) + nb 78 (Intermediate TL) — 4 loss × 3 arsitektur, hyperparam align (EPOCHS=50, LR=5e-5), selection by val macro.</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Arsitektur</a:t>
                      </a:r>
                    </a:p>
                  </a:txBody>
                  <a:tcPr>
                    <a:solidFill>
                      <a:srgbClr val="1A73E8"/>
                    </a:solidFill>
                  </a:tcPr>
                </a:tc>
                <a:tc>
                  <a:txBody>
                    <a:bodyPr/>
                    <a:lstStyle/>
                    <a:p>
                      <a:pPr algn="ctr"/>
                      <a:r>
                        <a:rPr sz="900" b="1">
                          <a:solidFill>
                            <a:srgbClr val="FFFFFF"/>
                          </a:solidFill>
                        </a:rPr>
                        <a:t>A Hard CE</a:t>
                      </a:r>
                    </a:p>
                  </a:txBody>
                  <a:tcPr>
                    <a:solidFill>
                      <a:srgbClr val="1A73E8"/>
                    </a:solidFill>
                  </a:tcPr>
                </a:tc>
                <a:tc>
                  <a:txBody>
                    <a:bodyPr/>
                    <a:lstStyle/>
                    <a:p>
                      <a:pPr algn="ctr"/>
                      <a:r>
                        <a:rPr sz="900" b="1">
                          <a:solidFill>
                            <a:srgbClr val="FFFFFF"/>
                          </a:solidFill>
                        </a:rPr>
                        <a:t>C KL-div</a:t>
                      </a:r>
                    </a:p>
                  </a:txBody>
                  <a:tcPr>
                    <a:solidFill>
                      <a:srgbClr val="1A73E8"/>
                    </a:solidFill>
                  </a:tcPr>
                </a:tc>
                <a:tc>
                  <a:txBody>
                    <a:bodyPr/>
                    <a:lstStyle/>
                    <a:p>
                      <a:pPr algn="ctr"/>
                      <a:r>
                        <a:rPr sz="900" b="1">
                          <a:solidFill>
                            <a:srgbClr val="FFFFFF"/>
                          </a:solidFill>
                        </a:rPr>
                        <a:t>Kesimpulan</a:t>
                      </a:r>
                    </a:p>
                  </a:txBody>
                  <a:tcPr>
                    <a:solidFill>
                      <a:srgbClr val="1A73E8"/>
                    </a:solidFill>
                  </a:tcPr>
                </a:tc>
              </a:tr>
              <a:tr h="320040">
                <a:tc>
                  <a:txBody>
                    <a:bodyPr/>
                    <a:lstStyle/>
                    <a:p>
                      <a:pPr algn="l"/>
                      <a:r>
                        <a:rPr sz="850" b="1">
                          <a:solidFill>
                            <a:srgbClr val="202020"/>
                          </a:solidFill>
                        </a:rPr>
                        <a:t>CNN TL 4c B1 (nb 71)</a:t>
                      </a:r>
                    </a:p>
                  </a:txBody>
                  <a:tcPr>
                    <a:solidFill>
                      <a:srgbClr val="E8F0FE"/>
                    </a:solidFill>
                  </a:tcPr>
                </a:tc>
                <a:tc>
                  <a:txBody>
                    <a:bodyPr/>
                    <a:lstStyle/>
                    <a:p>
                      <a:pPr algn="ctr"/>
                      <a:r>
                        <a:rPr sz="850" b="0">
                          <a:solidFill>
                            <a:srgbClr val="202020"/>
                          </a:solidFill>
                        </a:rPr>
                        <a:t>0.432</a:t>
                      </a:r>
                    </a:p>
                  </a:txBody>
                  <a:tcPr>
                    <a:solidFill>
                      <a:srgbClr val="E8F0FE"/>
                    </a:solidFill>
                  </a:tcPr>
                </a:tc>
                <a:tc>
                  <a:txBody>
                    <a:bodyPr/>
                    <a:lstStyle/>
                    <a:p>
                      <a:pPr algn="ctr"/>
                      <a:r>
                        <a:rPr sz="850" b="0">
                          <a:solidFill>
                            <a:srgbClr val="202020"/>
                          </a:solidFill>
                        </a:rPr>
                        <a:t>0.427</a:t>
                      </a:r>
                    </a:p>
                  </a:txBody>
                  <a:tcPr>
                    <a:solidFill>
                      <a:srgbClr val="E8F0FE"/>
                    </a:solidFill>
                  </a:tcPr>
                </a:tc>
                <a:tc>
                  <a:txBody>
                    <a:bodyPr/>
                    <a:lstStyle/>
                    <a:p>
                      <a:pPr algn="ctr"/>
                      <a:r>
                        <a:rPr sz="850" b="0">
                          <a:solidFill>
                            <a:srgbClr val="202020"/>
                          </a:solidFill>
                        </a:rPr>
                        <a:t>Tied dalam variance (val N/A)</a:t>
                      </a:r>
                    </a:p>
                  </a:txBody>
                  <a:tcPr>
                    <a:solidFill>
                      <a:srgbClr val="E8F0FE"/>
                    </a:solidFill>
                  </a:tcPr>
                </a:tc>
              </a:tr>
              <a:tr h="320040">
                <a:tc>
                  <a:txBody>
                    <a:bodyPr/>
                    <a:lstStyle/>
                    <a:p>
                      <a:pPr algn="l"/>
                      <a:r>
                        <a:rPr sz="850" b="1">
                          <a:solidFill>
                            <a:srgbClr val="202020"/>
                          </a:solidFill>
                        </a:rPr>
                        <a:t>Late Fusion TL 4c (nb 72)</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0.437</a:t>
                      </a:r>
                    </a:p>
                  </a:txBody>
                  <a:tcPr>
                    <a:solidFill>
                      <a:srgbClr val="FFFFFF"/>
                    </a:solidFill>
                  </a:tcPr>
                </a:tc>
                <a:tc>
                  <a:txBody>
                    <a:bodyPr/>
                    <a:lstStyle/>
                    <a:p>
                      <a:pPr algn="ctr"/>
                      <a:r>
                        <a:rPr sz="850" b="0">
                          <a:solidFill>
                            <a:srgbClr val="202020"/>
                          </a:solidFill>
                        </a:rPr>
                        <a:t>&lt; baseline val-tuned 0.466</a:t>
                      </a:r>
                    </a:p>
                  </a:txBody>
                  <a:tcPr>
                    <a:solidFill>
                      <a:srgbClr val="FFFFFF"/>
                    </a:solidFill>
                  </a:tcPr>
                </a:tc>
              </a:tr>
              <a:tr h="320040">
                <a:tc>
                  <a:txBody>
                    <a:bodyPr/>
                    <a:lstStyle/>
                    <a:p>
                      <a:pPr algn="l"/>
                      <a:r>
                        <a:rPr sz="850" b="1">
                          <a:solidFill>
                            <a:srgbClr val="202020"/>
                          </a:solidFill>
                        </a:rPr>
                        <a:t>Intermediate TL 4c B1 (nb 78)</a:t>
                      </a:r>
                    </a:p>
                  </a:txBody>
                  <a:tcPr>
                    <a:solidFill>
                      <a:srgbClr val="E8F0FE"/>
                    </a:solidFill>
                  </a:tcPr>
                </a:tc>
                <a:tc>
                  <a:txBody>
                    <a:bodyPr/>
                    <a:lstStyle/>
                    <a:p>
                      <a:pPr algn="ctr"/>
                      <a:r>
                        <a:rPr sz="850" b="0">
                          <a:solidFill>
                            <a:srgbClr val="202020"/>
                          </a:solidFill>
                        </a:rPr>
                        <a:t>0.485</a:t>
                      </a:r>
                    </a:p>
                  </a:txBody>
                  <a:tcPr>
                    <a:solidFill>
                      <a:srgbClr val="E8F0FE"/>
                    </a:solidFill>
                  </a:tcPr>
                </a:tc>
                <a:tc>
                  <a:txBody>
                    <a:bodyPr/>
                    <a:lstStyle/>
                    <a:p>
                      <a:pPr algn="ctr"/>
                      <a:r>
                        <a:rPr sz="850" b="0">
                          <a:solidFill>
                            <a:srgbClr val="202020"/>
                          </a:solidFill>
                        </a:rPr>
                        <a:t>0.453</a:t>
                      </a:r>
                    </a:p>
                  </a:txBody>
                  <a:tcPr>
                    <a:solidFill>
                      <a:srgbClr val="E8F0FE"/>
                    </a:solidFill>
                  </a:tcPr>
                </a:tc>
                <a:tc>
                  <a:txBody>
                    <a:bodyPr/>
                    <a:lstStyle/>
                    <a:p>
                      <a:pPr algn="ctr"/>
                      <a:r>
                        <a:rPr sz="850" b="0">
                          <a:solidFill>
                            <a:srgbClr val="202020"/>
                          </a:solidFill>
                        </a:rPr>
                        <a:t>Hard CE juara by val (0.480)</a:t>
                      </a:r>
                    </a:p>
                  </a:txBody>
                  <a:tcPr>
                    <a:solidFill>
                      <a:srgbClr val="E8F0FE"/>
                    </a:solidFill>
                  </a:tcPr>
                </a:tc>
              </a:tr>
              <a:tr h="320040">
                <a:tc>
                  <a:txBody>
                    <a:bodyPr/>
                    <a:lstStyle/>
                    <a:p>
                      <a:pPr algn="l"/>
                      <a:r>
                        <a:rPr sz="850" b="1">
                          <a:solidFill>
                            <a:srgbClr val="202020"/>
                          </a:solidFill>
                        </a:rPr>
                        <a:t>Variance single-seed</a:t>
                      </a:r>
                    </a:p>
                  </a:txBody>
                  <a:tcPr>
                    <a:solidFill>
                      <a:srgbClr val="FFFFFF"/>
                    </a:solidFill>
                  </a:tcPr>
                </a:tc>
                <a:tc>
                  <a:txBody>
                    <a:bodyPr/>
                    <a:lstStyle/>
                    <a:p>
                      <a:pPr algn="ctr"/>
                      <a:r>
                        <a:rPr sz="850" b="0">
                          <a:solidFill>
                            <a:srgbClr val="202020"/>
                          </a:solidFill>
                        </a:rPr>
                        <a:t>±0.05-0.09</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khas DL — multi-seed needed</a:t>
                      </a:r>
                    </a:p>
                  </a:txBody>
                  <a:tcPr>
                    <a:solidFill>
                      <a:srgbClr val="FFFFFF"/>
                    </a:solidFill>
                  </a:tcPr>
                </a:tc>
              </a:tr>
              <a:tr h="320040">
                <a:tc>
                  <a:txBody>
                    <a:bodyPr/>
                    <a:lstStyle/>
                    <a:p>
                      <a:pPr algn="l"/>
                      <a:r>
                        <a:rPr sz="850" b="1">
                          <a:solidFill>
                            <a:srgbClr val="202020"/>
                          </a:solidFill>
                        </a:rPr>
                        <a:t>Hipotesis</a:t>
                      </a:r>
                    </a:p>
                  </a:txBody>
                  <a:tcPr>
                    <a:solidFill>
                      <a:srgbClr val="E6F4EA"/>
                    </a:solidFill>
                  </a:tcPr>
                </a:tc>
                <a:tc>
                  <a:txBody>
                    <a:bodyPr/>
                    <a:lstStyle/>
                    <a:p>
                      <a:pPr algn="ctr"/>
                      <a:r>
                        <a:rPr sz="850" b="0">
                          <a:solidFill>
                            <a:srgbClr val="202020"/>
                          </a:solidFill>
                        </a:rPr>
                        <a:t>Tidak terkonfirmasi</a:t>
                      </a:r>
                    </a:p>
                  </a:txBody>
                  <a:tcPr>
                    <a:solidFill>
                      <a:srgbClr val="E6F4EA"/>
                    </a:solidFill>
                  </a:tcPr>
                </a:tc>
                <a:tc>
                  <a:txBody>
                    <a:bodyPr/>
                    <a:lstStyle/>
                    <a:p>
                      <a:pPr algn="ctr"/>
                      <a:r>
                        <a:rPr sz="850" b="0">
                          <a:solidFill>
                            <a:srgbClr val="202020"/>
                          </a:solidFill>
                        </a:rPr>
                        <a:t>—</a:t>
                      </a:r>
                    </a:p>
                  </a:txBody>
                  <a:tcPr>
                    <a:solidFill>
                      <a:srgbClr val="E6F4EA"/>
                    </a:solidFill>
                  </a:tcPr>
                </a:tc>
                <a:tc>
                  <a:txBody>
                    <a:bodyPr/>
                    <a:lstStyle/>
                    <a:p>
                      <a:pPr algn="ctr"/>
                      <a:r>
                        <a:rPr sz="850" b="0">
                          <a:solidFill>
                            <a:srgbClr val="202020"/>
                          </a:solidFill>
                        </a:rPr>
                        <a:t>STOP eksplorasi</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Konsolidasi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T41: Single-seed variance ±0.05-0.09 — terlalu besar untuk klaim marginal</a:t>
            </a:r>
          </a:p>
          <a:p>
            <a:r>
              <a:rPr sz="900" b="0"/>
              <a:t>Gap antar loss config 0.02-0.03, di bawah variance. Mustahil klaim "soft label menang" tanpa multi-seed (3-5 run minimum).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T42: KL-div juara 0.517 di run sebelumnya adalah fluke</a:t>
            </a:r>
          </a:p>
          <a:p>
            <a:r>
              <a:rPr sz="900" b="0"/>
              <a:t>Re-run dengan setup konsisten kasih KL-div = 0.427 di CNN TL (selisih 0.09 dari run lama) — manifestasi pure seed/convergence variance.</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T43: Soft label tidak transfer ke fusion</a:t>
            </a:r>
          </a:p>
          <a:p>
            <a:r>
              <a:rPr sz="900" b="0"/>
              <a:t>Late Fusion TL gagal (0.432-0.437 vs baseline 0.466). Intermediate TL: Hard CE menang by val. Modality interaction dominates over loss-function nuance.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T44: Status — stop eksplorasi soft label</a:t>
            </a:r>
          </a:p>
          <a:p>
            <a:r>
              <a:rPr sz="900" b="0"/>
              <a:t>Hipotesis tidak terkonfirmasi. Fokus pindah ke Geometric Features (Liliana Table 3) + GCN Preprocessing (Pitaloka 2017) yang potensinya lebih jelas.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i="0"/>
              <a:t>SLIDE 34: GradCAM Observasi Awal (Eksplorasi, nb 73)</a:t>
            </a:r>
          </a:p>
        </p:txBody>
      </p:sp>
      <p:sp>
        <p:nvSpPr>
          <p:cNvPr id="3" name="TextBox 2"/>
          <p:cNvSpPr txBox="1"/>
          <p:nvPr/>
        </p:nvSpPr>
        <p:spPr>
          <a:xfrm>
            <a:off x="274320" y="475488"/>
            <a:ext cx="8595360" cy="256032"/>
          </a:xfrm>
          <a:prstGeom prst="rect">
            <a:avLst/>
          </a:prstGeom>
          <a:noFill/>
        </p:spPr>
        <p:txBody>
          <a:bodyPr wrap="square" lIns="0" rIns="0" tIns="0" bIns="0">
            <a:spAutoFit/>
          </a:bodyPr>
          <a:lstStyle/>
          <a:p>
            <a:r>
              <a:rPr sz="950" b="0" i="1">
                <a:solidFill>
                  <a:srgbClr val="555555"/>
                </a:solidFill>
              </a:rPr>
              <a:t>Visualisasi region citra paling berpengaruh per prediksi kelas — bandingkan 2 model di 8 sampel (2 per kelas × 4 kelas).</a:t>
            </a:r>
          </a:p>
        </p:txBody>
      </p:sp>
      <p:pic>
        <p:nvPicPr>
          <p:cNvPr id="4" name="Picture 3" descr="cnn_tl_4c_b1_baseline.png"/>
          <p:cNvPicPr>
            <a:picLocks noChangeAspect="1"/>
          </p:cNvPicPr>
          <p:nvPr/>
        </p:nvPicPr>
        <p:blipFill>
          <a:blip r:embed="rId2"/>
          <a:stretch>
            <a:fillRect/>
          </a:stretch>
        </p:blipFill>
        <p:spPr>
          <a:xfrm>
            <a:off x="228600" y="822960"/>
            <a:ext cx="4206240" cy="2176272"/>
          </a:xfrm>
          <a:prstGeom prst="rect">
            <a:avLst/>
          </a:prstGeom>
        </p:spPr>
      </p:pic>
      <p:sp>
        <p:nvSpPr>
          <p:cNvPr id="5" name="TextBox 4"/>
          <p:cNvSpPr txBox="1"/>
          <p:nvPr/>
        </p:nvSpPr>
        <p:spPr>
          <a:xfrm>
            <a:off x="228600" y="2999232"/>
            <a:ext cx="4206240" cy="228600"/>
          </a:xfrm>
          <a:prstGeom prst="rect">
            <a:avLst/>
          </a:prstGeom>
          <a:noFill/>
        </p:spPr>
        <p:txBody>
          <a:bodyPr wrap="square" lIns="0" rIns="0" tIns="0" bIns="0">
            <a:spAutoFit/>
          </a:bodyPr>
          <a:lstStyle/>
          <a:p>
            <a:r>
              <a:rPr sz="900" b="1" i="0"/>
              <a:t>CNN TL 4c B1 (single-modal, Macro F1 = 0.456)</a:t>
            </a:r>
          </a:p>
        </p:txBody>
      </p:sp>
      <p:pic>
        <p:nvPicPr>
          <p:cNvPr id="6" name="Picture 5" descr="intermediate_tl_4c_b3_img_branch.png"/>
          <p:cNvPicPr>
            <a:picLocks noChangeAspect="1"/>
          </p:cNvPicPr>
          <p:nvPr/>
        </p:nvPicPr>
        <p:blipFill>
          <a:blip r:embed="rId3"/>
          <a:stretch>
            <a:fillRect/>
          </a:stretch>
        </p:blipFill>
        <p:spPr>
          <a:xfrm>
            <a:off x="4709160" y="822960"/>
            <a:ext cx="4206240" cy="2176272"/>
          </a:xfrm>
          <a:prstGeom prst="rect">
            <a:avLst/>
          </a:prstGeom>
        </p:spPr>
      </p:pic>
      <p:sp>
        <p:nvSpPr>
          <p:cNvPr id="7" name="TextBox 6"/>
          <p:cNvSpPr txBox="1"/>
          <p:nvPr/>
        </p:nvSpPr>
        <p:spPr>
          <a:xfrm>
            <a:off x="4709160" y="2999232"/>
            <a:ext cx="4206240" cy="228600"/>
          </a:xfrm>
          <a:prstGeom prst="rect">
            <a:avLst/>
          </a:prstGeom>
          <a:noFill/>
        </p:spPr>
        <p:txBody>
          <a:bodyPr wrap="square" lIns="0" rIns="0" tIns="0" bIns="0">
            <a:spAutoFit/>
          </a:bodyPr>
          <a:lstStyle/>
          <a:p>
            <a:r>
              <a:rPr sz="900" b="1" i="0"/>
              <a:t>Intermediate TL 4c B3 image branch (juara val-tuned, Macro F1 = 0.521)</a:t>
            </a:r>
          </a:p>
        </p:txBody>
      </p:sp>
      <p:sp>
        <p:nvSpPr>
          <p:cNvPr id="8" name="TextBox 7"/>
          <p:cNvSpPr txBox="1"/>
          <p:nvPr/>
        </p:nvSpPr>
        <p:spPr>
          <a:xfrm>
            <a:off x="274320" y="3310128"/>
            <a:ext cx="8595360" cy="731520"/>
          </a:xfrm>
          <a:prstGeom prst="rect">
            <a:avLst/>
          </a:prstGeom>
          <a:noFill/>
        </p:spPr>
        <p:txBody>
          <a:bodyPr wrap="square" lIns="0" rIns="0" tIns="0" bIns="0">
            <a:spAutoFit/>
          </a:bodyPr>
          <a:lstStyle/>
          <a:p>
            <a:r>
              <a:rPr sz="950" b="0" i="0"/>
              <a:t>Observasi qualitative: CNN baseline → fokus tersebar ke non-emosi region (aksesori, tangan, pundak, background). Intermediate TL image branch → fokus konsisten di mouth-nose region di 8/8 sampel, bahkan saat occlusion (tangan menutup mulut).</a:t>
            </a:r>
          </a:p>
        </p:txBody>
      </p:sp>
      <p:sp>
        <p:nvSpPr>
          <p:cNvPr id="9" name="TextBox 8"/>
          <p:cNvSpPr txBox="1"/>
          <p:nvPr/>
        </p:nvSpPr>
        <p:spPr>
          <a:xfrm>
            <a:off x="274320" y="4069080"/>
            <a:ext cx="8595360" cy="1005840"/>
          </a:xfrm>
          <a:prstGeom prst="rect">
            <a:avLst/>
          </a:prstGeom>
          <a:noFill/>
        </p:spPr>
        <p:txBody>
          <a:bodyPr wrap="square" lIns="0" rIns="0" tIns="0" bIns="0">
            <a:spAutoFit/>
          </a:bodyPr>
          <a:lstStyle/>
          <a:p>
            <a:r>
              <a:rPr sz="850" b="0" i="1">
                <a:solidFill>
                  <a:srgbClr val="555555"/>
                </a:solidFill>
              </a:rPr>
              <a:t>Keterbatasan metodologi (penting): (1) hanya 2 sampel/kelas — representativeness rendah; (2) single seed — variance antar run belum diketahui; (3) qualitative only — belum ada quantitative measure (mis. mean activation di mouth bounding box ≥50 sampel/kelas); (4) belum ada baseline sanity check (random-init model). Observasi awal ini belum cukup untuk klaim general — bukan finding paper/tesis, sekadar eksplorasi.</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35: Space Alignment (arahan dosen #2, nb 75)</a:t>
            </a:r>
          </a:p>
        </p:txBody>
      </p:sp>
      <p:sp>
        <p:nvSpPr>
          <p:cNvPr id="3" name="TextBox 2"/>
          <p:cNvSpPr txBox="1"/>
          <p:nvPr/>
        </p:nvSpPr>
        <p:spPr>
          <a:xfrm>
            <a:off x="274320" y="457200"/>
            <a:ext cx="8595360" cy="292608"/>
          </a:xfrm>
          <a:prstGeom prst="rect">
            <a:avLst/>
          </a:prstGeom>
          <a:noFill/>
        </p:spPr>
        <p:txBody>
          <a:bodyPr wrap="square" lIns="0" rIns="0" tIns="0" bIns="0">
            <a:spAutoFit/>
          </a:bodyPr>
          <a:lstStyle/>
          <a:p>
            <a:r>
              <a:rPr sz="950" b="0">
                <a:solidFill>
                  <a:srgbClr val="555555"/>
                </a:solidFill>
              </a:rPr>
              <a:t>Evaluasi alignment feature space CNN TL (256-d) vs FCNN (128-d) — 4 metode analitis di test set Primer n=929. Positive result, methodology-clean.</a:t>
            </a:r>
          </a:p>
        </p:txBody>
      </p:sp>
      <p:pic>
        <p:nvPicPr>
          <p:cNvPr id="4" name="Picture 3" descr="cca_correlations.png"/>
          <p:cNvPicPr>
            <a:picLocks noChangeAspect="1"/>
          </p:cNvPicPr>
          <p:nvPr/>
        </p:nvPicPr>
        <p:blipFill>
          <a:blip r:embed="rId2"/>
          <a:stretch>
            <a:fillRect/>
          </a:stretch>
        </p:blipFill>
        <p:spPr>
          <a:xfrm>
            <a:off x="228600" y="822960"/>
            <a:ext cx="4206240" cy="2057400"/>
          </a:xfrm>
          <a:prstGeom prst="rect">
            <a:avLst/>
          </a:prstGeom>
        </p:spPr>
      </p:pic>
      <p:sp>
        <p:nvSpPr>
          <p:cNvPr id="5" name="TextBox 4"/>
          <p:cNvSpPr txBox="1"/>
          <p:nvPr/>
        </p:nvSpPr>
        <p:spPr>
          <a:xfrm>
            <a:off x="228600" y="2907792"/>
            <a:ext cx="4206240" cy="228600"/>
          </a:xfrm>
          <a:prstGeom prst="rect">
            <a:avLst/>
          </a:prstGeom>
          <a:noFill/>
        </p:spPr>
        <p:txBody>
          <a:bodyPr wrap="square" lIns="0" rIns="0" tIns="0" bIns="0">
            <a:spAutoFit/>
          </a:bodyPr>
          <a:lstStyle/>
          <a:p>
            <a:r>
              <a:rPr sz="900" b="1"/>
              <a:t>CCA correlations — top-5 mean = 0.978</a:t>
            </a:r>
          </a:p>
        </p:txBody>
      </p:sp>
      <p:pic>
        <p:nvPicPr>
          <p:cNvPr id="6" name="Picture 5" descr="retrieval_topk.png"/>
          <p:cNvPicPr>
            <a:picLocks noChangeAspect="1"/>
          </p:cNvPicPr>
          <p:nvPr/>
        </p:nvPicPr>
        <p:blipFill>
          <a:blip r:embed="rId3"/>
          <a:stretch>
            <a:fillRect/>
          </a:stretch>
        </p:blipFill>
        <p:spPr>
          <a:xfrm>
            <a:off x="4709160" y="822960"/>
            <a:ext cx="4206240" cy="2057400"/>
          </a:xfrm>
          <a:prstGeom prst="rect">
            <a:avLst/>
          </a:prstGeom>
        </p:spPr>
      </p:pic>
      <p:sp>
        <p:nvSpPr>
          <p:cNvPr id="7" name="TextBox 6"/>
          <p:cNvSpPr txBox="1"/>
          <p:nvPr/>
        </p:nvSpPr>
        <p:spPr>
          <a:xfrm>
            <a:off x="4709160" y="2907792"/>
            <a:ext cx="4206240" cy="228600"/>
          </a:xfrm>
          <a:prstGeom prst="rect">
            <a:avLst/>
          </a:prstGeom>
          <a:noFill/>
        </p:spPr>
        <p:txBody>
          <a:bodyPr wrap="square" lIns="0" rIns="0" tIns="0" bIns="0">
            <a:spAutoFit/>
          </a:bodyPr>
          <a:lstStyle/>
          <a:p>
            <a:r>
              <a:rPr sz="900" b="1"/>
              <a:t>Cross-modal retrieval — top-5 = 95.3% (random = 0.54%)</a:t>
            </a:r>
          </a:p>
        </p:txBody>
      </p:sp>
      <p:sp>
        <p:nvSpPr>
          <p:cNvPr id="8" name="TextBox 7"/>
          <p:cNvSpPr txBox="1"/>
          <p:nvPr/>
        </p:nvSpPr>
        <p:spPr>
          <a:xfrm>
            <a:off x="274320" y="3218688"/>
            <a:ext cx="8595360" cy="685800"/>
          </a:xfrm>
          <a:prstGeom prst="rect">
            <a:avLst/>
          </a:prstGeom>
          <a:noFill/>
        </p:spPr>
        <p:txBody>
          <a:bodyPr wrap="square" lIns="0" rIns="0" tIns="0" bIns="0">
            <a:spAutoFit/>
          </a:bodyPr>
          <a:lstStyle/>
          <a:p>
            <a:r>
              <a:rPr sz="950" b="1"/>
              <a:t>Metrik Kunci:</a:t>
            </a:r>
          </a:p>
          <a:p>
            <a:r>
              <a:rPr sz="900" b="0"/>
              <a:t>• CCA top-5 mean = 0.978  (strong linear alignment, well above 0.5 threshold)</a:t>
            </a:r>
          </a:p>
          <a:p>
            <a:r>
              <a:rPr sz="900" b="0"/>
              <a:t>• Paired cosine overall = 0.939  |  per-class konsisten 0.937-0.951 (termasuk minoritas negative n=8)</a:t>
            </a:r>
          </a:p>
          <a:p>
            <a:r>
              <a:rPr sz="900" b="0"/>
              <a:t>• Cross-modal retrieval top-1 = 0.670, top-5 = 0.953, top-20 = 1.000  (random baseline top-5 = 0.005)</a:t>
            </a:r>
          </a:p>
        </p:txBody>
      </p:sp>
      <p:sp>
        <p:nvSpPr>
          <p:cNvPr id="9" name="TextBox 8"/>
          <p:cNvSpPr txBox="1"/>
          <p:nvPr/>
        </p:nvSpPr>
        <p:spPr>
          <a:xfrm>
            <a:off x="274320" y="3950208"/>
            <a:ext cx="8595360" cy="594360"/>
          </a:xfrm>
          <a:prstGeom prst="rect">
            <a:avLst/>
          </a:prstGeom>
          <a:noFill/>
        </p:spPr>
        <p:txBody>
          <a:bodyPr wrap="square" lIns="0" rIns="0" tIns="0" bIns="0">
            <a:spAutoFit/>
          </a:bodyPr>
          <a:lstStyle/>
          <a:p>
            <a:r>
              <a:rPr sz="950" b="1"/>
              <a:t>Interpretasi:</a:t>
            </a:r>
          </a:p>
          <a:p>
            <a:r>
              <a:rPr sz="850" b="0"/>
              <a:t>Image dan landmark stream belajar representasi yang nyaris co-linear di latent space — justifikasi empiris untuk Intermediate Fusion (concat). Konsisten dengan Intermediate TL juara val-tuned 4c (0.521) &gt; Late Fusion TL (0.466). Streams semantically paired meskipun modality berbeda.</a:t>
            </a:r>
          </a:p>
        </p:txBody>
      </p:sp>
      <p:sp>
        <p:nvSpPr>
          <p:cNvPr id="10" name="TextBox 9"/>
          <p:cNvSpPr txBox="1"/>
          <p:nvPr/>
        </p:nvSpPr>
        <p:spPr>
          <a:xfrm>
            <a:off x="274320" y="4617720"/>
            <a:ext cx="8595360" cy="411480"/>
          </a:xfrm>
          <a:prstGeom prst="rect">
            <a:avLst/>
          </a:prstGeom>
          <a:noFill/>
        </p:spPr>
        <p:txBody>
          <a:bodyPr wrap="square" lIns="0" rIns="0" tIns="0" bIns="0">
            <a:spAutoFit/>
          </a:bodyPr>
          <a:lstStyle/>
          <a:p>
            <a:r>
              <a:rPr sz="850" b="1">
                <a:solidFill>
                  <a:srgbClr val="1F3A5F"/>
                </a:solidFill>
              </a:rPr>
              <a:t>Status: Positive result, methodology-clean (analytical, no seed variance). Siap dimasukkan ke paper/tesis Section Discussion sebagai empirical justification fusion strategy.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700" b="1"/>
              <a:t>SLIDE 36: Reframe ke 3-Class — Motivasi &amp; Literature Justification</a:t>
            </a:r>
          </a:p>
        </p:txBody>
      </p:sp>
      <p:sp>
        <p:nvSpPr>
          <p:cNvPr id="3" name="TextBox 2"/>
          <p:cNvSpPr txBox="1"/>
          <p:nvPr/>
        </p:nvSpPr>
        <p:spPr>
          <a:xfrm>
            <a:off x="274320" y="502920"/>
            <a:ext cx="8595360" cy="274320"/>
          </a:xfrm>
          <a:prstGeom prst="rect">
            <a:avLst/>
          </a:prstGeom>
          <a:noFill/>
        </p:spPr>
        <p:txBody>
          <a:bodyPr wrap="square" lIns="0" rIns="0" tIns="0" bIns="0">
            <a:spAutoFit/>
          </a:bodyPr>
          <a:lstStyle/>
          <a:p>
            <a:r>
              <a:rPr sz="1200" b="1">
                <a:solidFill>
                  <a:srgbClr val="2E5E96"/>
                </a:solidFill>
              </a:rPr>
              <a:t>1. Arahan Pak Fitra</a:t>
            </a:r>
          </a:p>
        </p:txBody>
      </p:sp>
      <p:sp>
        <p:nvSpPr>
          <p:cNvPr id="4" name="TextBox 3"/>
          <p:cNvSpPr txBox="1"/>
          <p:nvPr/>
        </p:nvSpPr>
        <p:spPr>
          <a:xfrm>
            <a:off x="274320" y="804672"/>
            <a:ext cx="8595360" cy="320040"/>
          </a:xfrm>
          <a:prstGeom prst="rect">
            <a:avLst/>
          </a:prstGeom>
          <a:noFill/>
        </p:spPr>
        <p:txBody>
          <a:bodyPr wrap="square" lIns="0" rIns="0" tIns="0" bIns="0">
            <a:spAutoFit/>
          </a:bodyPr>
          <a:lstStyle/>
          <a:p>
            <a:r>
              <a:rPr sz="1000" b="0"/>
              <a:t>"Cari precedent literatur untuk skema 4-class yang dipakai (neutral/happy/sad/negative)"</a:t>
            </a:r>
          </a:p>
        </p:txBody>
      </p:sp>
      <p:sp>
        <p:nvSpPr>
          <p:cNvPr id="5" name="TextBox 4"/>
          <p:cNvSpPr txBox="1"/>
          <p:nvPr/>
        </p:nvSpPr>
        <p:spPr>
          <a:xfrm>
            <a:off x="274320" y="1234440"/>
            <a:ext cx="8595360" cy="274320"/>
          </a:xfrm>
          <a:prstGeom prst="rect">
            <a:avLst/>
          </a:prstGeom>
          <a:noFill/>
        </p:spPr>
        <p:txBody>
          <a:bodyPr wrap="square" lIns="0" rIns="0" tIns="0" bIns="0">
            <a:spAutoFit/>
          </a:bodyPr>
          <a:lstStyle/>
          <a:p>
            <a:r>
              <a:rPr sz="1200" b="1">
                <a:solidFill>
                  <a:srgbClr val="2E5E96"/>
                </a:solidFill>
              </a:rPr>
              <a:t>2. Hasil Literature Search</a:t>
            </a:r>
          </a:p>
        </p:txBody>
      </p:sp>
      <p:sp>
        <p:nvSpPr>
          <p:cNvPr id="6" name="TextBox 5"/>
          <p:cNvSpPr txBox="1"/>
          <p:nvPr/>
        </p:nvSpPr>
        <p:spPr>
          <a:xfrm>
            <a:off x="274320" y="1536192"/>
            <a:ext cx="8595360" cy="777240"/>
          </a:xfrm>
          <a:prstGeom prst="rect">
            <a:avLst/>
          </a:prstGeom>
          <a:noFill/>
        </p:spPr>
        <p:txBody>
          <a:bodyPr wrap="square" lIns="0" rIns="0" tIns="0" bIns="0">
            <a:spAutoFit/>
          </a:bodyPr>
          <a:lstStyle/>
          <a:p>
            <a:r>
              <a:rPr sz="950" b="0"/>
              <a:t>• Skema 4-class (neutral/happy/sad/negative) — sulit ditemukan precedent di literatur FER konteks online learning. Mapping ini arbitrary, tidak match standard taxonomy.</a:t>
            </a:r>
          </a:p>
          <a:p>
            <a:r>
              <a:rPr sz="950" b="0"/>
              <a:t>• Skema 3-class polarity (positive/neutral/negative) — banyak digunakan, sesuai Russell 1980 circumplex valence dimension. Standard di affective computing.</a:t>
            </a:r>
          </a:p>
        </p:txBody>
      </p:sp>
      <p:sp>
        <p:nvSpPr>
          <p:cNvPr id="7" name="TextBox 6"/>
          <p:cNvSpPr txBox="1"/>
          <p:nvPr/>
        </p:nvSpPr>
        <p:spPr>
          <a:xfrm>
            <a:off x="274320" y="2450592"/>
            <a:ext cx="8595360" cy="274320"/>
          </a:xfrm>
          <a:prstGeom prst="rect">
            <a:avLst/>
          </a:prstGeom>
          <a:noFill/>
        </p:spPr>
        <p:txBody>
          <a:bodyPr wrap="square" lIns="0" rIns="0" tIns="0" bIns="0">
            <a:spAutoFit/>
          </a:bodyPr>
          <a:lstStyle/>
          <a:p>
            <a:r>
              <a:rPr sz="1200" b="1">
                <a:solidFill>
                  <a:srgbClr val="2E5E96"/>
                </a:solidFill>
              </a:rPr>
              <a:t>3. Paper Paling Relevan — Savchenko et al. (2022)</a:t>
            </a:r>
          </a:p>
        </p:txBody>
      </p:sp>
      <p:sp>
        <p:nvSpPr>
          <p:cNvPr id="8" name="TextBox 7"/>
          <p:cNvSpPr txBox="1"/>
          <p:nvPr/>
        </p:nvSpPr>
        <p:spPr>
          <a:xfrm>
            <a:off x="274320" y="2743200"/>
            <a:ext cx="8595360" cy="1280160"/>
          </a:xfrm>
          <a:prstGeom prst="rect">
            <a:avLst/>
          </a:prstGeom>
          <a:noFill/>
        </p:spPr>
        <p:txBody>
          <a:bodyPr wrap="square" lIns="0" rIns="0" tIns="0" bIns="0">
            <a:spAutoFit/>
          </a:bodyPr>
          <a:lstStyle/>
          <a:p>
            <a:r>
              <a:rPr sz="1000" b="1"/>
              <a:t>"Classifying Emotions and Engagement in Online Learning Based on a Single Facial Expression Recognition Neural Network"</a:t>
            </a:r>
          </a:p>
          <a:p>
            <a:r>
              <a:rPr sz="900" b="0"/>
              <a:t>IEEE Transactions on Affective Computing, Vol. 13, No. 4 (2022)</a:t>
            </a:r>
          </a:p>
          <a:p>
            <a:r>
              <a:rPr sz="300" b="0"/>
              <a:t/>
            </a:r>
          </a:p>
          <a:p>
            <a:r>
              <a:rPr sz="950" b="0"/>
              <a:t>• Topik: FER untuk e-learning engagement — persis sama dengan penelitian ini</a:t>
            </a:r>
          </a:p>
          <a:p>
            <a:r>
              <a:rPr sz="950" b="0"/>
              <a:t>• Dataset: VGAF (Video Group Affect)</a:t>
            </a:r>
          </a:p>
          <a:p>
            <a:r>
              <a:rPr sz="950" b="1"/>
              <a:t>• Skema: 3-class polarity (positive / neutral / negative)</a:t>
            </a:r>
          </a:p>
          <a:p>
            <a:r>
              <a:rPr sz="950" b="0"/>
              <a:t>• Justifikasi empiris: menunjukkan 3-class polarity adalah konvensi untuk online learning FER</a:t>
            </a:r>
          </a:p>
        </p:txBody>
      </p:sp>
      <p:sp>
        <p:nvSpPr>
          <p:cNvPr id="9" name="TextBox 8"/>
          <p:cNvSpPr txBox="1"/>
          <p:nvPr/>
        </p:nvSpPr>
        <p:spPr>
          <a:xfrm>
            <a:off x="274320" y="4160520"/>
            <a:ext cx="8595360" cy="274320"/>
          </a:xfrm>
          <a:prstGeom prst="rect">
            <a:avLst/>
          </a:prstGeom>
          <a:noFill/>
        </p:spPr>
        <p:txBody>
          <a:bodyPr wrap="square" lIns="0" rIns="0" tIns="0" bIns="0">
            <a:spAutoFit/>
          </a:bodyPr>
          <a:lstStyle/>
          <a:p>
            <a:r>
              <a:rPr sz="1200" b="1">
                <a:solidFill>
                  <a:srgbClr val="2E5E96"/>
                </a:solidFill>
              </a:rPr>
              <a:t>4. Keputusan: Reframe Paper JITeCS ke 3-Class</a:t>
            </a:r>
          </a:p>
        </p:txBody>
      </p:sp>
      <p:sp>
        <p:nvSpPr>
          <p:cNvPr id="10" name="TextBox 9"/>
          <p:cNvSpPr txBox="1"/>
          <p:nvPr/>
        </p:nvSpPr>
        <p:spPr>
          <a:xfrm>
            <a:off x="274320" y="4462272"/>
            <a:ext cx="8595360" cy="548640"/>
          </a:xfrm>
          <a:prstGeom prst="rect">
            <a:avLst/>
          </a:prstGeom>
          <a:noFill/>
        </p:spPr>
        <p:txBody>
          <a:bodyPr wrap="square" lIns="0" rIns="0" tIns="0" bIns="0">
            <a:spAutoFit/>
          </a:bodyPr>
          <a:lstStyle/>
          <a:p>
            <a:r>
              <a:rPr sz="950" b="1"/>
              <a:t>Mapping:  happy + surprised → positive   |   neutral → neutral   |   sad + angry + fearful + disgusted → negative</a:t>
            </a:r>
          </a:p>
          <a:p>
            <a:r>
              <a:rPr sz="900" b="0"/>
              <a:t>Training ulang dengan label 3-class sudah dijalankan → nb 79 (next slide). Hasil: imbalance 1:14 (vs 7c 1:1138), best Macro F1 0.623 (val-tuned).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36: 3-Class Exploration (Positive/Neutral/Negative, nb 79)</a:t>
            </a:r>
          </a:p>
        </p:txBody>
      </p:sp>
      <p:sp>
        <p:nvSpPr>
          <p:cNvPr id="3" name="TextBox 2"/>
          <p:cNvSpPr txBox="1"/>
          <p:nvPr/>
        </p:nvSpPr>
        <p:spPr>
          <a:xfrm>
            <a:off x="274320" y="457200"/>
            <a:ext cx="8595360" cy="274320"/>
          </a:xfrm>
          <a:prstGeom prst="rect">
            <a:avLst/>
          </a:prstGeom>
          <a:noFill/>
        </p:spPr>
        <p:txBody>
          <a:bodyPr wrap="square" lIns="0" rIns="0" tIns="0" bIns="0">
            <a:spAutoFit/>
          </a:bodyPr>
          <a:lstStyle/>
          <a:p>
            <a:r>
              <a:rPr sz="950" b="0"/>
              <a:t>Mapping 3-class valence (Russell 1980 circumplex): positive=happy+surprised, neutral, negative=sad+angry+fearful+disgusted. Imbalance 1:14 — jauh lebih balanced dari 7-class (1:1138). 9 arch × 3 scenario = 27 configs, val-based selection.</a:t>
            </a:r>
          </a:p>
        </p:txBody>
      </p:sp>
      <p:sp>
        <p:nvSpPr>
          <p:cNvPr id="5" name="TextBox 4"/>
          <p:cNvSpPr txBox="1"/>
          <p:nvPr/>
        </p:nvSpPr>
        <p:spPr>
          <a:xfrm>
            <a:off x="5303520" y="804672"/>
            <a:ext cx="3566160" cy="274320"/>
          </a:xfrm>
          <a:prstGeom prst="rect">
            <a:avLst/>
          </a:prstGeom>
          <a:noFill/>
        </p:spPr>
        <p:txBody>
          <a:bodyPr wrap="square" lIns="0" rIns="0" tIns="0" bIns="0">
            <a:spAutoFit/>
          </a:bodyPr>
          <a:lstStyle/>
          <a:p>
            <a:r>
              <a:rPr sz="1000" b="1"/>
              <a:t>Perbandingan vs scheme lain (val-based)</a:t>
            </a:r>
          </a:p>
        </p:txBody>
      </p:sp>
      <p:graphicFrame>
        <p:nvGraphicFramePr>
          <p:cNvPr id="6" name="Table 5"/>
          <p:cNvGraphicFramePr>
            <a:graphicFrameLocks noGrp="1"/>
          </p:cNvGraphicFramePr>
          <p:nvPr/>
        </p:nvGraphicFramePr>
        <p:xfrm>
          <a:off x="5303520" y="1078992"/>
          <a:ext cx="3566160" cy="1005840"/>
        </p:xfrm>
        <a:graphic>
          <a:graphicData uri="http://schemas.openxmlformats.org/drawingml/2006/table">
            <a:tbl>
              <a:tblPr firstRow="1" bandRow="1">
                <a:tableStyleId>{5C22544A-7EE6-4342-B048-85BDC9FD1C3A}</a:tableStyleId>
              </a:tblPr>
              <a:tblGrid>
                <a:gridCol w="1188720"/>
                <a:gridCol w="1188720"/>
                <a:gridCol w="1188720"/>
              </a:tblGrid>
              <a:tr h="251460">
                <a:tc>
                  <a:txBody>
                    <a:bodyPr/>
                    <a:lstStyle/>
                    <a:p>
                      <a:r>
                        <a:rPr sz="900" b="1"/>
                        <a:t>Scheme</a:t>
                      </a:r>
                    </a:p>
                  </a:txBody>
                  <a:tcPr/>
                </a:tc>
                <a:tc>
                  <a:txBody>
                    <a:bodyPr/>
                    <a:lstStyle/>
                    <a:p>
                      <a:r>
                        <a:rPr sz="900" b="1"/>
                        <a:t>Juara</a:t>
                      </a:r>
                    </a:p>
                  </a:txBody>
                  <a:tcPr/>
                </a:tc>
                <a:tc>
                  <a:txBody>
                    <a:bodyPr/>
                    <a:lstStyle/>
                    <a:p>
                      <a:r>
                        <a:rPr sz="900" b="1"/>
                        <a:t>Test F1</a:t>
                      </a:r>
                    </a:p>
                  </a:txBody>
                  <a:tcPr/>
                </a:tc>
              </a:tr>
              <a:tr h="251460">
                <a:tc>
                  <a:txBody>
                    <a:bodyPr/>
                    <a:lstStyle/>
                    <a:p>
                      <a:r>
                        <a:rPr sz="900" b="0"/>
                        <a:t>7-class</a:t>
                      </a:r>
                    </a:p>
                  </a:txBody>
                  <a:tcPr/>
                </a:tc>
                <a:tc>
                  <a:txBody>
                    <a:bodyPr/>
                    <a:lstStyle/>
                    <a:p>
                      <a:r>
                        <a:rPr sz="900" b="0"/>
                        <a:t>Early Fusion TL B3</a:t>
                      </a:r>
                    </a:p>
                  </a:txBody>
                  <a:tcPr/>
                </a:tc>
                <a:tc>
                  <a:txBody>
                    <a:bodyPr/>
                    <a:lstStyle/>
                    <a:p>
                      <a:r>
                        <a:rPr sz="900" b="0"/>
                        <a:t>0.333</a:t>
                      </a:r>
                    </a:p>
                  </a:txBody>
                  <a:tcPr/>
                </a:tc>
              </a:tr>
              <a:tr h="251460">
                <a:tc>
                  <a:txBody>
                    <a:bodyPr/>
                    <a:lstStyle/>
                    <a:p>
                      <a:r>
                        <a:rPr sz="900" b="1"/>
                        <a:t>3-class ⭐</a:t>
                      </a:r>
                    </a:p>
                  </a:txBody>
                  <a:tcPr/>
                </a:tc>
                <a:tc>
                  <a:txBody>
                    <a:bodyPr/>
                    <a:lstStyle/>
                    <a:p>
                      <a:r>
                        <a:rPr sz="900" b="1"/>
                        <a:t>Late Fusion TL B3</a:t>
                      </a:r>
                    </a:p>
                  </a:txBody>
                  <a:tcPr/>
                </a:tc>
                <a:tc>
                  <a:txBody>
                    <a:bodyPr/>
                    <a:lstStyle/>
                    <a:p>
                      <a:r>
                        <a:rPr sz="900" b="1"/>
                        <a:t>0.637</a:t>
                      </a:r>
                    </a:p>
                  </a:txBody>
                  <a:tcPr/>
                </a:tc>
              </a:tr>
            </a:tbl>
          </a:graphicData>
        </a:graphic>
      </p:graphicFrame>
      <p:sp>
        <p:nvSpPr>
          <p:cNvPr id="7" name="TextBox 6"/>
          <p:cNvSpPr txBox="1"/>
          <p:nvPr/>
        </p:nvSpPr>
        <p:spPr>
          <a:xfrm>
            <a:off x="5303520" y="2194560"/>
            <a:ext cx="3566160" cy="2834640"/>
          </a:xfrm>
          <a:prstGeom prst="rect">
            <a:avLst/>
          </a:prstGeom>
          <a:noFill/>
        </p:spPr>
        <p:txBody>
          <a:bodyPr wrap="square" lIns="0" rIns="0" tIns="0" bIns="0">
            <a:spAutoFit/>
          </a:bodyPr>
          <a:lstStyle/>
          <a:p>
            <a:r>
              <a:rPr sz="1000" b="1"/>
              <a:t>Temuan Kunci (T49-T52)</a:t>
            </a:r>
          </a:p>
          <a:p>
            <a:r>
              <a:rPr sz="300" b="0"/>
              <a:t/>
            </a:r>
          </a:p>
          <a:p>
            <a:r>
              <a:rPr sz="900" b="1"/>
              <a:t>T49: 3-class valence mapping punya literature precedent (Russell 1980)</a:t>
            </a:r>
          </a:p>
          <a:p>
            <a:r>
              <a:rPr sz="850" b="0"/>
              <a:t>Imbalance 1:14 vs 1:1138 di 7-class — jauh lebih balanced untuk evaluasi minoritas.</a:t>
            </a:r>
          </a:p>
          <a:p>
            <a:r>
              <a:rPr sz="400" b="0"/>
              <a:t/>
            </a:r>
          </a:p>
          <a:p>
            <a:r>
              <a:rPr sz="900" b="1"/>
              <a:t>T50: Late Fusion TL B3 juara val-based (0.623)</a:t>
            </a:r>
          </a:p>
          <a:p>
            <a:r>
              <a:rPr sz="850" b="0"/>
              <a:t>Decision-level averaging optimal untuk coarse class granularity.</a:t>
            </a:r>
          </a:p>
          <a:p>
            <a:r>
              <a:rPr sz="400" b="0"/>
              <a:t/>
            </a:r>
          </a:p>
          <a:p>
            <a:r>
              <a:rPr sz="900" b="1"/>
              <a:t>T51: w_best = 0.15-0.30 (lebih balanced)</a:t>
            </a:r>
          </a:p>
          <a:p>
            <a:r>
              <a:rPr sz="850" b="0"/>
              <a:t>Di 3-class, image stream contribute signifikan (tidak FCNN-dominant seperti 7-class).</a:t>
            </a:r>
          </a:p>
          <a:p>
            <a:r>
              <a:rPr sz="400" b="0"/>
              <a:t/>
            </a:r>
          </a:p>
          <a:p>
            <a:r>
              <a:rPr sz="900" b="1"/>
              <a:t>T52: FCNN 3c sangat kompetitif (test=0.634)</a:t>
            </a:r>
          </a:p>
          <a:p>
            <a:r>
              <a:rPr sz="850" b="0"/>
              <a:t>Landmark geometry dominan — 136-d coord vector cukup untuk valence discrimination.</a:t>
            </a:r>
          </a:p>
        </p:txBody>
      </p:sp>
      <p:graphicFrame>
        <p:nvGraphicFramePr>
          <p:cNvPr id="8" name="Table 7"/>
          <p:cNvGraphicFramePr>
            <a:graphicFrameLocks noGrp="1"/>
          </p:cNvGraphicFramePr>
          <p:nvPr/>
        </p:nvGraphicFramePr>
        <p:xfrm>
          <a:off x="274320" y="804672"/>
          <a:ext cx="4480560" cy="3444000"/>
        </p:xfrm>
        <a:graphic>
          <a:graphicData uri="http://schemas.openxmlformats.org/drawingml/2006/table">
            <a:tbl>
              <a:tblPr firstRow="1" bandRow="1">
                <a:tableStyleId>{5C22544A-7EE6-4342-B048-85BDC9FD1C3A}</a:tableStyleId>
              </a:tblPr>
              <a:tblGrid>
                <a:gridCol w="1691640"/>
                <a:gridCol w="594360"/>
                <a:gridCol w="594360"/>
                <a:gridCol w="594360"/>
                <a:gridCol w="594360"/>
                <a:gridCol w="411480"/>
              </a:tblGrid>
              <a:tr h="123000">
                <a:tc>
                  <a:txBody>
                    <a:bodyPr lIns="36000" rIns="36000" tIns="0" bIns="0"/>
                    <a:lstStyle/>
                    <a:p>
                      <a:r>
                        <a:rPr sz="750" b="1">
                          <a:solidFill>
                            <a:srgbClr val="FFFFFF"/>
                          </a:solidFill>
                        </a:rPr>
                        <a:t>Model</a:t>
                      </a:r>
                    </a:p>
                  </a:txBody>
                  <a:tcPr/>
                </a:tc>
                <a:tc>
                  <a:txBody>
                    <a:bodyPr lIns="36000" rIns="36000" tIns="0" bIns="0"/>
                    <a:lstStyle/>
                    <a:p>
                      <a:pPr algn="ctr"/>
                      <a:r>
                        <a:rPr sz="750" b="1">
                          <a:solidFill>
                            <a:srgbClr val="FFFFFF"/>
                          </a:solidFill>
                        </a:rPr>
                        <a:t>Val F1</a:t>
                      </a:r>
                    </a:p>
                  </a:txBody>
                  <a:tcPr/>
                </a:tc>
                <a:tc>
                  <a:txBody>
                    <a:bodyPr lIns="36000" rIns="36000" tIns="0" bIns="0"/>
                    <a:lstStyle/>
                    <a:p>
                      <a:pPr algn="ctr"/>
                      <a:r>
                        <a:rPr sz="750" b="1">
                          <a:solidFill>
                            <a:srgbClr val="FFFFFF"/>
                          </a:solidFill>
                        </a:rPr>
                        <a:t>Micro*</a:t>
                      </a:r>
                    </a:p>
                  </a:txBody>
                  <a:tcPr/>
                </a:tc>
                <a:tc>
                  <a:txBody>
                    <a:bodyPr lIns="36000" rIns="36000" tIns="0" bIns="0"/>
                    <a:lstStyle/>
                    <a:p>
                      <a:pPr algn="ctr"/>
                      <a:r>
                        <a:rPr sz="750" b="1">
                          <a:solidFill>
                            <a:srgbClr val="FFFFFF"/>
                          </a:solidFill>
                        </a:rPr>
                        <a:t>W-F1*</a:t>
                      </a:r>
                    </a:p>
                  </a:txBody>
                  <a:tcPr/>
                </a:tc>
                <a:tc>
                  <a:txBody>
                    <a:bodyPr lIns="36000" rIns="36000" tIns="0" bIns="0"/>
                    <a:lstStyle/>
                    <a:p>
                      <a:pPr algn="ctr"/>
                      <a:r>
                        <a:rPr sz="750" b="1">
                          <a:solidFill>
                            <a:srgbClr val="FFFFFF"/>
                          </a:solidFill>
                        </a:rPr>
                        <a:t>Acc*</a:t>
                      </a:r>
                    </a:p>
                  </a:txBody>
                  <a:tcPr/>
                </a:tc>
                <a:tc>
                  <a:txBody>
                    <a:bodyPr lIns="36000" rIns="36000" tIns="0" bIns="0"/>
                    <a:lstStyle/>
                    <a:p>
                      <a:pPr algn="ctr"/>
                      <a:r>
                        <a:rPr sz="750" b="1">
                          <a:solidFill>
                            <a:srgbClr val="FFFFFF"/>
                          </a:solidFill>
                        </a:rPr>
                        <a:t>w</a:t>
                      </a:r>
                    </a:p>
                  </a:txBody>
                  <a:tcPr/>
                </a:tc>
              </a:tr>
              <a:tr h="123000">
                <a:tc>
                  <a:txBody>
                    <a:bodyPr lIns="36000" rIns="36000" tIns="0" bIns="0"/>
                    <a:lstStyle/>
                    <a:p>
                      <a:r>
                        <a:rPr sz="700" b="0"/>
                        <a:t>FCNN B1</a:t>
                      </a:r>
                    </a:p>
                  </a:txBody>
                  <a:tcPr/>
                </a:tc>
                <a:tc>
                  <a:txBody>
                    <a:bodyPr lIns="36000" rIns="36000" tIns="0" bIns="0"/>
                    <a:lstStyle/>
                    <a:p>
                      <a:pPr algn="ctr"/>
                      <a:r>
                        <a:rPr sz="700" b="0"/>
                        <a:t>0.602</a:t>
                      </a:r>
                    </a:p>
                  </a:txBody>
                  <a:tcPr/>
                </a:tc>
                <a:tc>
                  <a:txBody>
                    <a:bodyPr lIns="36000" rIns="36000" tIns="0" bIns="0"/>
                    <a:lstStyle/>
                    <a:p>
                      <a:pPr algn="ctr"/>
                      <a:r>
                        <a:rPr sz="700" b="0"/>
                        <a:t>0.741</a:t>
                      </a:r>
                    </a:p>
                  </a:txBody>
                  <a:tcPr/>
                </a:tc>
                <a:tc>
                  <a:txBody>
                    <a:bodyPr lIns="36000" rIns="36000" tIns="0" bIns="0"/>
                    <a:lstStyle/>
                    <a:p>
                      <a:pPr algn="ctr"/>
                      <a:r>
                        <a:rPr sz="700" b="0"/>
                        <a:t>0.760</a:t>
                      </a:r>
                    </a:p>
                  </a:txBody>
                  <a:tcPr/>
                </a:tc>
                <a:tc>
                  <a:txBody>
                    <a:bodyPr lIns="36000" rIns="36000" tIns="0" bIns="0"/>
                    <a:lstStyle/>
                    <a:p>
                      <a:pPr algn="ctr"/>
                      <a:r>
                        <a:rPr sz="700" b="0"/>
                        <a:t>0.741</a:t>
                      </a:r>
                    </a:p>
                  </a:txBody>
                  <a:tcPr/>
                </a:tc>
                <a:tc>
                  <a:txBody>
                    <a:bodyPr lIns="36000" rIns="36000" tIns="0" bIns="0"/>
                    <a:lstStyle/>
                    <a:p>
                      <a:pPr algn="ctr"/>
                      <a:r>
                        <a:rPr sz="700" b="0"/>
                        <a:t>—</a:t>
                      </a:r>
                    </a:p>
                  </a:txBody>
                  <a:tcPr/>
                </a:tc>
              </a:tr>
              <a:tr h="123000">
                <a:tc>
                  <a:txBody>
                    <a:bodyPr lIns="36000" rIns="36000" tIns="0" bIns="0"/>
                    <a:lstStyle/>
                    <a:p>
                      <a:r>
                        <a:rPr sz="700" b="0"/>
                        <a:t>FCNN B2</a:t>
                      </a:r>
                    </a:p>
                  </a:txBody>
                  <a:tcPr/>
                </a:tc>
                <a:tc>
                  <a:txBody>
                    <a:bodyPr lIns="36000" rIns="36000" tIns="0" bIns="0"/>
                    <a:lstStyle/>
                    <a:p>
                      <a:pPr algn="ctr"/>
                      <a:r>
                        <a:rPr sz="700" b="0"/>
                        <a:t>0.564</a:t>
                      </a:r>
                    </a:p>
                  </a:txBody>
                  <a:tcPr/>
                </a:tc>
                <a:tc>
                  <a:txBody>
                    <a:bodyPr lIns="36000" rIns="36000" tIns="0" bIns="0"/>
                    <a:lstStyle/>
                    <a:p>
                      <a:pPr algn="ctr"/>
                      <a:r>
                        <a:rPr sz="700" b="0"/>
                        <a:t>0.702</a:t>
                      </a:r>
                    </a:p>
                  </a:txBody>
                  <a:tcPr/>
                </a:tc>
                <a:tc>
                  <a:txBody>
                    <a:bodyPr lIns="36000" rIns="36000" tIns="0" bIns="0"/>
                    <a:lstStyle/>
                    <a:p>
                      <a:pPr algn="ctr"/>
                      <a:r>
                        <a:rPr sz="700" b="0"/>
                        <a:t>0.730</a:t>
                      </a:r>
                    </a:p>
                  </a:txBody>
                  <a:tcPr/>
                </a:tc>
                <a:tc>
                  <a:txBody>
                    <a:bodyPr lIns="36000" rIns="36000" tIns="0" bIns="0"/>
                    <a:lstStyle/>
                    <a:p>
                      <a:pPr algn="ctr"/>
                      <a:r>
                        <a:rPr sz="700" b="0"/>
                        <a:t>0.702</a:t>
                      </a:r>
                    </a:p>
                  </a:txBody>
                  <a:tcPr/>
                </a:tc>
                <a:tc>
                  <a:txBody>
                    <a:bodyPr lIns="36000" rIns="36000" tIns="0" bIns="0"/>
                    <a:lstStyle/>
                    <a:p>
                      <a:pPr algn="ctr"/>
                      <a:r>
                        <a:rPr sz="700" b="0"/>
                        <a:t>—</a:t>
                      </a:r>
                    </a:p>
                  </a:txBody>
                  <a:tcPr/>
                </a:tc>
              </a:tr>
              <a:tr h="123000">
                <a:tc>
                  <a:txBody>
                    <a:bodyPr lIns="36000" rIns="36000" tIns="0" bIns="0"/>
                    <a:lstStyle/>
                    <a:p>
                      <a:r>
                        <a:rPr sz="700" b="0"/>
                        <a:t>FCNN B3</a:t>
                      </a:r>
                    </a:p>
                  </a:txBody>
                  <a:tcPr/>
                </a:tc>
                <a:tc>
                  <a:txBody>
                    <a:bodyPr lIns="36000" rIns="36000" tIns="0" bIns="0"/>
                    <a:lstStyle/>
                    <a:p>
                      <a:pPr algn="ctr"/>
                      <a:r>
                        <a:rPr sz="700" b="0"/>
                        <a:t>0.619</a:t>
                      </a:r>
                    </a:p>
                  </a:txBody>
                  <a:tcPr/>
                </a:tc>
                <a:tc>
                  <a:txBody>
                    <a:bodyPr lIns="36000" rIns="36000" tIns="0" bIns="0"/>
                    <a:lstStyle/>
                    <a:p>
                      <a:pPr algn="ctr"/>
                      <a:r>
                        <a:rPr sz="700" b="0"/>
                        <a:t>0.749</a:t>
                      </a:r>
                    </a:p>
                  </a:txBody>
                  <a:tcPr/>
                </a:tc>
                <a:tc>
                  <a:txBody>
                    <a:bodyPr lIns="36000" rIns="36000" tIns="0" bIns="0"/>
                    <a:lstStyle/>
                    <a:p>
                      <a:pPr algn="ctr"/>
                      <a:r>
                        <a:rPr sz="700" b="0"/>
                        <a:t>0.764</a:t>
                      </a:r>
                    </a:p>
                  </a:txBody>
                  <a:tcPr/>
                </a:tc>
                <a:tc>
                  <a:txBody>
                    <a:bodyPr lIns="36000" rIns="36000" tIns="0" bIns="0"/>
                    <a:lstStyle/>
                    <a:p>
                      <a:pPr algn="ctr"/>
                      <a:r>
                        <a:rPr sz="700" b="0"/>
                        <a:t>0.749</a:t>
                      </a:r>
                    </a:p>
                  </a:txBody>
                  <a:tcPr/>
                </a:tc>
                <a:tc>
                  <a:txBody>
                    <a:bodyPr lIns="36000" rIns="36000" tIns="0" bIns="0"/>
                    <a:lstStyle/>
                    <a:p>
                      <a:pPr algn="ctr"/>
                      <a:r>
                        <a:rPr sz="700" b="0"/>
                        <a:t>—</a:t>
                      </a:r>
                    </a:p>
                  </a:txBody>
                  <a:tcPr/>
                </a:tc>
              </a:tr>
              <a:tr h="123000">
                <a:tc>
                  <a:txBody>
                    <a:bodyPr lIns="36000" rIns="36000" tIns="0" bIns="0"/>
                    <a:lstStyle/>
                    <a:p>
                      <a:r>
                        <a:rPr sz="700" b="0"/>
                        <a:t>CNN scratch B1</a:t>
                      </a:r>
                    </a:p>
                  </a:txBody>
                  <a:tcPr/>
                </a:tc>
                <a:tc>
                  <a:txBody>
                    <a:bodyPr lIns="36000" rIns="36000" tIns="0" bIns="0"/>
                    <a:lstStyle/>
                    <a:p>
                      <a:pPr algn="ctr"/>
                      <a:r>
                        <a:rPr sz="700" b="0"/>
                        <a:t>0.487</a:t>
                      </a:r>
                    </a:p>
                  </a:txBody>
                  <a:tcPr/>
                </a:tc>
                <a:tc>
                  <a:txBody>
                    <a:bodyPr lIns="36000" rIns="36000" tIns="0" bIns="0"/>
                    <a:lstStyle/>
                    <a:p>
                      <a:pPr algn="ctr"/>
                      <a:r>
                        <a:rPr sz="700" b="0"/>
                        <a:t>0.805</a:t>
                      </a:r>
                    </a:p>
                  </a:txBody>
                  <a:tcPr/>
                </a:tc>
                <a:tc>
                  <a:txBody>
                    <a:bodyPr lIns="36000" rIns="36000" tIns="0" bIns="0"/>
                    <a:lstStyle/>
                    <a:p>
                      <a:pPr algn="ctr"/>
                      <a:r>
                        <a:rPr sz="700" b="0"/>
                        <a:t>0.805</a:t>
                      </a:r>
                    </a:p>
                  </a:txBody>
                  <a:tcPr/>
                </a:tc>
                <a:tc>
                  <a:txBody>
                    <a:bodyPr lIns="36000" rIns="36000" tIns="0" bIns="0"/>
                    <a:lstStyle/>
                    <a:p>
                      <a:pPr algn="ctr"/>
                      <a:r>
                        <a:rPr sz="700" b="0"/>
                        <a:t>0.805</a:t>
                      </a:r>
                    </a:p>
                  </a:txBody>
                  <a:tcPr/>
                </a:tc>
                <a:tc>
                  <a:txBody>
                    <a:bodyPr lIns="36000" rIns="36000" tIns="0" bIns="0"/>
                    <a:lstStyle/>
                    <a:p>
                      <a:pPr algn="ctr"/>
                      <a:r>
                        <a:rPr sz="700" b="0"/>
                        <a:t>—</a:t>
                      </a:r>
                    </a:p>
                  </a:txBody>
                  <a:tcPr/>
                </a:tc>
              </a:tr>
              <a:tr h="123000">
                <a:tc>
                  <a:txBody>
                    <a:bodyPr lIns="36000" rIns="36000" tIns="0" bIns="0"/>
                    <a:lstStyle/>
                    <a:p>
                      <a:r>
                        <a:rPr sz="700" b="0"/>
                        <a:t>CNN scratch B2</a:t>
                      </a:r>
                    </a:p>
                  </a:txBody>
                  <a:tcPr/>
                </a:tc>
                <a:tc>
                  <a:txBody>
                    <a:bodyPr lIns="36000" rIns="36000" tIns="0" bIns="0"/>
                    <a:lstStyle/>
                    <a:p>
                      <a:pPr algn="ctr"/>
                      <a:r>
                        <a:rPr sz="700" b="0"/>
                        <a:t>0.448</a:t>
                      </a:r>
                    </a:p>
                  </a:txBody>
                  <a:tcPr/>
                </a:tc>
                <a:tc>
                  <a:txBody>
                    <a:bodyPr lIns="36000" rIns="36000" tIns="0" bIns="0"/>
                    <a:lstStyle/>
                    <a:p>
                      <a:pPr algn="ctr"/>
                      <a:r>
                        <a:rPr sz="700" b="0"/>
                        <a:t>0.576</a:t>
                      </a:r>
                    </a:p>
                  </a:txBody>
                  <a:tcPr/>
                </a:tc>
                <a:tc>
                  <a:txBody>
                    <a:bodyPr lIns="36000" rIns="36000" tIns="0" bIns="0"/>
                    <a:lstStyle/>
                    <a:p>
                      <a:pPr algn="ctr"/>
                      <a:r>
                        <a:rPr sz="700" b="0"/>
                        <a:t>0.611</a:t>
                      </a:r>
                    </a:p>
                  </a:txBody>
                  <a:tcPr/>
                </a:tc>
                <a:tc>
                  <a:txBody>
                    <a:bodyPr lIns="36000" rIns="36000" tIns="0" bIns="0"/>
                    <a:lstStyle/>
                    <a:p>
                      <a:pPr algn="ctr"/>
                      <a:r>
                        <a:rPr sz="700" b="0"/>
                        <a:t>0.576</a:t>
                      </a:r>
                    </a:p>
                  </a:txBody>
                  <a:tcPr/>
                </a:tc>
                <a:tc>
                  <a:txBody>
                    <a:bodyPr lIns="36000" rIns="36000" tIns="0" bIns="0"/>
                    <a:lstStyle/>
                    <a:p>
                      <a:pPr algn="ctr"/>
                      <a:r>
                        <a:rPr sz="700" b="0"/>
                        <a:t>—</a:t>
                      </a:r>
                    </a:p>
                  </a:txBody>
                  <a:tcPr/>
                </a:tc>
              </a:tr>
              <a:tr h="123000">
                <a:tc>
                  <a:txBody>
                    <a:bodyPr lIns="36000" rIns="36000" tIns="0" bIns="0"/>
                    <a:lstStyle/>
                    <a:p>
                      <a:r>
                        <a:rPr sz="700" b="0"/>
                        <a:t>CNN scratch B3</a:t>
                      </a:r>
                    </a:p>
                  </a:txBody>
                  <a:tcPr/>
                </a:tc>
                <a:tc>
                  <a:txBody>
                    <a:bodyPr lIns="36000" rIns="36000" tIns="0" bIns="0"/>
                    <a:lstStyle/>
                    <a:p>
                      <a:pPr algn="ctr"/>
                      <a:r>
                        <a:rPr sz="700" b="0"/>
                        <a:t>0.453</a:t>
                      </a:r>
                    </a:p>
                  </a:txBody>
                  <a:tcPr/>
                </a:tc>
                <a:tc>
                  <a:txBody>
                    <a:bodyPr lIns="36000" rIns="36000" tIns="0" bIns="0"/>
                    <a:lstStyle/>
                    <a:p>
                      <a:pPr algn="ctr"/>
                      <a:r>
                        <a:rPr sz="700" b="0"/>
                        <a:t>0.659</a:t>
                      </a:r>
                    </a:p>
                  </a:txBody>
                  <a:tcPr/>
                </a:tc>
                <a:tc>
                  <a:txBody>
                    <a:bodyPr lIns="36000" rIns="36000" tIns="0" bIns="0"/>
                    <a:lstStyle/>
                    <a:p>
                      <a:pPr algn="ctr"/>
                      <a:r>
                        <a:rPr sz="700" b="0"/>
                        <a:t>0.686</a:t>
                      </a:r>
                    </a:p>
                  </a:txBody>
                  <a:tcPr/>
                </a:tc>
                <a:tc>
                  <a:txBody>
                    <a:bodyPr lIns="36000" rIns="36000" tIns="0" bIns="0"/>
                    <a:lstStyle/>
                    <a:p>
                      <a:pPr algn="ctr"/>
                      <a:r>
                        <a:rPr sz="700" b="0"/>
                        <a:t>0.659</a:t>
                      </a:r>
                    </a:p>
                  </a:txBody>
                  <a:tcPr/>
                </a:tc>
                <a:tc>
                  <a:txBody>
                    <a:bodyPr lIns="36000" rIns="36000" tIns="0" bIns="0"/>
                    <a:lstStyle/>
                    <a:p>
                      <a:pPr algn="ctr"/>
                      <a:r>
                        <a:rPr sz="700" b="0"/>
                        <a:t>—</a:t>
                      </a:r>
                    </a:p>
                  </a:txBody>
                  <a:tcPr/>
                </a:tc>
              </a:tr>
              <a:tr h="123000">
                <a:tc>
                  <a:txBody>
                    <a:bodyPr lIns="36000" rIns="36000" tIns="0" bIns="0"/>
                    <a:lstStyle/>
                    <a:p>
                      <a:r>
                        <a:rPr sz="700" b="0"/>
                        <a:t>CNN TL B1</a:t>
                      </a:r>
                    </a:p>
                  </a:txBody>
                  <a:tcPr/>
                </a:tc>
                <a:tc>
                  <a:txBody>
                    <a:bodyPr lIns="36000" rIns="36000" tIns="0" bIns="0"/>
                    <a:lstStyle/>
                    <a:p>
                      <a:pPr algn="ctr"/>
                      <a:r>
                        <a:rPr sz="700" b="0"/>
                        <a:t>0.493</a:t>
                      </a:r>
                    </a:p>
                  </a:txBody>
                  <a:tcPr/>
                </a:tc>
                <a:tc>
                  <a:txBody>
                    <a:bodyPr lIns="36000" rIns="36000" tIns="0" bIns="0"/>
                    <a:lstStyle/>
                    <a:p>
                      <a:pPr algn="ctr"/>
                      <a:r>
                        <a:rPr sz="700" b="0"/>
                        <a:t>0.791</a:t>
                      </a:r>
                    </a:p>
                  </a:txBody>
                  <a:tcPr/>
                </a:tc>
                <a:tc>
                  <a:txBody>
                    <a:bodyPr lIns="36000" rIns="36000" tIns="0" bIns="0"/>
                    <a:lstStyle/>
                    <a:p>
                      <a:pPr algn="ctr"/>
                      <a:r>
                        <a:rPr sz="700" b="0"/>
                        <a:t>0.800</a:t>
                      </a:r>
                    </a:p>
                  </a:txBody>
                  <a:tcPr/>
                </a:tc>
                <a:tc>
                  <a:txBody>
                    <a:bodyPr lIns="36000" rIns="36000" tIns="0" bIns="0"/>
                    <a:lstStyle/>
                    <a:p>
                      <a:pPr algn="ctr"/>
                      <a:r>
                        <a:rPr sz="700" b="0"/>
                        <a:t>0.791</a:t>
                      </a:r>
                    </a:p>
                  </a:txBody>
                  <a:tcPr/>
                </a:tc>
                <a:tc>
                  <a:txBody>
                    <a:bodyPr lIns="36000" rIns="36000" tIns="0" bIns="0"/>
                    <a:lstStyle/>
                    <a:p>
                      <a:pPr algn="ctr"/>
                      <a:r>
                        <a:rPr sz="700" b="0"/>
                        <a:t>—</a:t>
                      </a:r>
                    </a:p>
                  </a:txBody>
                  <a:tcPr/>
                </a:tc>
              </a:tr>
              <a:tr h="123000">
                <a:tc>
                  <a:txBody>
                    <a:bodyPr lIns="36000" rIns="36000" tIns="0" bIns="0"/>
                    <a:lstStyle/>
                    <a:p>
                      <a:r>
                        <a:rPr sz="700" b="0"/>
                        <a:t>CNN TL B2</a:t>
                      </a:r>
                    </a:p>
                  </a:txBody>
                  <a:tcPr/>
                </a:tc>
                <a:tc>
                  <a:txBody>
                    <a:bodyPr lIns="36000" rIns="36000" tIns="0" bIns="0"/>
                    <a:lstStyle/>
                    <a:p>
                      <a:pPr algn="ctr"/>
                      <a:r>
                        <a:rPr sz="700" b="0"/>
                        <a:t>0.515</a:t>
                      </a:r>
                    </a:p>
                  </a:txBody>
                  <a:tcPr/>
                </a:tc>
                <a:tc>
                  <a:txBody>
                    <a:bodyPr lIns="36000" rIns="36000" tIns="0" bIns="0"/>
                    <a:lstStyle/>
                    <a:p>
                      <a:pPr algn="ctr"/>
                      <a:r>
                        <a:rPr sz="700" b="0"/>
                        <a:t>0.581</a:t>
                      </a:r>
                    </a:p>
                  </a:txBody>
                  <a:tcPr/>
                </a:tc>
                <a:tc>
                  <a:txBody>
                    <a:bodyPr lIns="36000" rIns="36000" tIns="0" bIns="0"/>
                    <a:lstStyle/>
                    <a:p>
                      <a:pPr algn="ctr"/>
                      <a:r>
                        <a:rPr sz="700" b="0"/>
                        <a:t>0.610</a:t>
                      </a:r>
                    </a:p>
                  </a:txBody>
                  <a:tcPr/>
                </a:tc>
                <a:tc>
                  <a:txBody>
                    <a:bodyPr lIns="36000" rIns="36000" tIns="0" bIns="0"/>
                    <a:lstStyle/>
                    <a:p>
                      <a:pPr algn="ctr"/>
                      <a:r>
                        <a:rPr sz="700" b="0"/>
                        <a:t>0.581</a:t>
                      </a:r>
                    </a:p>
                  </a:txBody>
                  <a:tcPr/>
                </a:tc>
                <a:tc>
                  <a:txBody>
                    <a:bodyPr lIns="36000" rIns="36000" tIns="0" bIns="0"/>
                    <a:lstStyle/>
                    <a:p>
                      <a:pPr algn="ctr"/>
                      <a:r>
                        <a:rPr sz="700" b="0"/>
                        <a:t>—</a:t>
                      </a:r>
                    </a:p>
                  </a:txBody>
                  <a:tcPr/>
                </a:tc>
              </a:tr>
              <a:tr h="123000">
                <a:tc>
                  <a:txBody>
                    <a:bodyPr lIns="36000" rIns="36000" tIns="0" bIns="0"/>
                    <a:lstStyle/>
                    <a:p>
                      <a:r>
                        <a:rPr sz="700" b="0"/>
                        <a:t>CNN TL B3</a:t>
                      </a:r>
                    </a:p>
                  </a:txBody>
                  <a:tcPr/>
                </a:tc>
                <a:tc>
                  <a:txBody>
                    <a:bodyPr lIns="36000" rIns="36000" tIns="0" bIns="0"/>
                    <a:lstStyle/>
                    <a:p>
                      <a:pPr algn="ctr"/>
                      <a:r>
                        <a:rPr sz="700" b="0"/>
                        <a:t>0.495</a:t>
                      </a:r>
                    </a:p>
                  </a:txBody>
                  <a:tcPr/>
                </a:tc>
                <a:tc>
                  <a:txBody>
                    <a:bodyPr lIns="36000" rIns="36000" tIns="0" bIns="0"/>
                    <a:lstStyle/>
                    <a:p>
                      <a:pPr algn="ctr"/>
                      <a:r>
                        <a:rPr sz="700" b="0"/>
                        <a:t>0.840</a:t>
                      </a:r>
                    </a:p>
                  </a:txBody>
                  <a:tcPr/>
                </a:tc>
                <a:tc>
                  <a:txBody>
                    <a:bodyPr lIns="36000" rIns="36000" tIns="0" bIns="0"/>
                    <a:lstStyle/>
                    <a:p>
                      <a:pPr algn="ctr"/>
                      <a:r>
                        <a:rPr sz="700" b="0"/>
                        <a:t>0.850</a:t>
                      </a:r>
                    </a:p>
                  </a:txBody>
                  <a:tcPr/>
                </a:tc>
                <a:tc>
                  <a:txBody>
                    <a:bodyPr lIns="36000" rIns="36000" tIns="0" bIns="0"/>
                    <a:lstStyle/>
                    <a:p>
                      <a:pPr algn="ctr"/>
                      <a:r>
                        <a:rPr sz="700" b="0"/>
                        <a:t>0.840</a:t>
                      </a:r>
                    </a:p>
                  </a:txBody>
                  <a:tcPr/>
                </a:tc>
                <a:tc>
                  <a:txBody>
                    <a:bodyPr lIns="36000" rIns="36000" tIns="0" bIns="0"/>
                    <a:lstStyle/>
                    <a:p>
                      <a:pPr algn="ctr"/>
                      <a:r>
                        <a:rPr sz="700" b="0"/>
                        <a:t>—</a:t>
                      </a:r>
                    </a:p>
                  </a:txBody>
                  <a:tcPr/>
                </a:tc>
              </a:tr>
              <a:tr h="123000">
                <a:tc>
                  <a:txBody>
                    <a:bodyPr lIns="36000" rIns="36000" tIns="0" bIns="0"/>
                    <a:lstStyle/>
                    <a:p>
                      <a:r>
                        <a:rPr sz="700" b="0"/>
                        <a:t>Intermediate scratch B1</a:t>
                      </a:r>
                    </a:p>
                  </a:txBody>
                  <a:tcPr/>
                </a:tc>
                <a:tc>
                  <a:txBody>
                    <a:bodyPr lIns="36000" rIns="36000" tIns="0" bIns="0"/>
                    <a:lstStyle/>
                    <a:p>
                      <a:pPr algn="ctr"/>
                      <a:r>
                        <a:rPr sz="700" b="0"/>
                        <a:t>0.567</a:t>
                      </a:r>
                    </a:p>
                  </a:txBody>
                  <a:tcPr/>
                </a:tc>
                <a:tc>
                  <a:txBody>
                    <a:bodyPr lIns="36000" rIns="36000" tIns="0" bIns="0"/>
                    <a:lstStyle/>
                    <a:p>
                      <a:pPr algn="ctr"/>
                      <a:r>
                        <a:rPr sz="700" b="0"/>
                        <a:t>0.802</a:t>
                      </a:r>
                    </a:p>
                  </a:txBody>
                  <a:tcPr/>
                </a:tc>
                <a:tc>
                  <a:txBody>
                    <a:bodyPr lIns="36000" rIns="36000" tIns="0" bIns="0"/>
                    <a:lstStyle/>
                    <a:p>
                      <a:pPr algn="ctr"/>
                      <a:r>
                        <a:rPr sz="700" b="0"/>
                        <a:t>0.801</a:t>
                      </a:r>
                    </a:p>
                  </a:txBody>
                  <a:tcPr/>
                </a:tc>
                <a:tc>
                  <a:txBody>
                    <a:bodyPr lIns="36000" rIns="36000" tIns="0" bIns="0"/>
                    <a:lstStyle/>
                    <a:p>
                      <a:pPr algn="ctr"/>
                      <a:r>
                        <a:rPr sz="700" b="0"/>
                        <a:t>0.802</a:t>
                      </a:r>
                    </a:p>
                  </a:txBody>
                  <a:tcPr/>
                </a:tc>
                <a:tc>
                  <a:txBody>
                    <a:bodyPr lIns="36000" rIns="36000" tIns="0" bIns="0"/>
                    <a:lstStyle/>
                    <a:p>
                      <a:pPr algn="ctr"/>
                      <a:r>
                        <a:rPr sz="700" b="0"/>
                        <a:t>—</a:t>
                      </a:r>
                    </a:p>
                  </a:txBody>
                  <a:tcPr/>
                </a:tc>
              </a:tr>
              <a:tr h="123000">
                <a:tc>
                  <a:txBody>
                    <a:bodyPr lIns="36000" rIns="36000" tIns="0" bIns="0"/>
                    <a:lstStyle/>
                    <a:p>
                      <a:r>
                        <a:rPr sz="700" b="0"/>
                        <a:t>Intermediate scratch B2</a:t>
                      </a:r>
                    </a:p>
                  </a:txBody>
                  <a:tcPr/>
                </a:tc>
                <a:tc>
                  <a:txBody>
                    <a:bodyPr lIns="36000" rIns="36000" tIns="0" bIns="0"/>
                    <a:lstStyle/>
                    <a:p>
                      <a:pPr algn="ctr"/>
                      <a:r>
                        <a:rPr sz="700" b="0"/>
                        <a:t>0.481</a:t>
                      </a:r>
                    </a:p>
                  </a:txBody>
                  <a:tcPr/>
                </a:tc>
                <a:tc>
                  <a:txBody>
                    <a:bodyPr lIns="36000" rIns="36000" tIns="0" bIns="0"/>
                    <a:lstStyle/>
                    <a:p>
                      <a:pPr algn="ctr"/>
                      <a:r>
                        <a:rPr sz="700" b="0"/>
                        <a:t>0.721</a:t>
                      </a:r>
                    </a:p>
                  </a:txBody>
                  <a:tcPr/>
                </a:tc>
                <a:tc>
                  <a:txBody>
                    <a:bodyPr lIns="36000" rIns="36000" tIns="0" bIns="0"/>
                    <a:lstStyle/>
                    <a:p>
                      <a:pPr algn="ctr"/>
                      <a:r>
                        <a:rPr sz="700" b="0"/>
                        <a:t>0.729</a:t>
                      </a:r>
                    </a:p>
                  </a:txBody>
                  <a:tcPr/>
                </a:tc>
                <a:tc>
                  <a:txBody>
                    <a:bodyPr lIns="36000" rIns="36000" tIns="0" bIns="0"/>
                    <a:lstStyle/>
                    <a:p>
                      <a:pPr algn="ctr"/>
                      <a:r>
                        <a:rPr sz="700" b="0"/>
                        <a:t>0.721</a:t>
                      </a:r>
                    </a:p>
                  </a:txBody>
                  <a:tcPr/>
                </a:tc>
                <a:tc>
                  <a:txBody>
                    <a:bodyPr lIns="36000" rIns="36000" tIns="0" bIns="0"/>
                    <a:lstStyle/>
                    <a:p>
                      <a:pPr algn="ctr"/>
                      <a:r>
                        <a:rPr sz="700" b="0"/>
                        <a:t>—</a:t>
                      </a:r>
                    </a:p>
                  </a:txBody>
                  <a:tcPr/>
                </a:tc>
              </a:tr>
              <a:tr h="123000">
                <a:tc>
                  <a:txBody>
                    <a:bodyPr lIns="36000" rIns="36000" tIns="0" bIns="0"/>
                    <a:lstStyle/>
                    <a:p>
                      <a:r>
                        <a:rPr sz="700" b="0"/>
                        <a:t>Intermediate scratch B3</a:t>
                      </a:r>
                    </a:p>
                  </a:txBody>
                  <a:tcPr/>
                </a:tc>
                <a:tc>
                  <a:txBody>
                    <a:bodyPr lIns="36000" rIns="36000" tIns="0" bIns="0"/>
                    <a:lstStyle/>
                    <a:p>
                      <a:pPr algn="ctr"/>
                      <a:r>
                        <a:rPr sz="700" b="0"/>
                        <a:t>0.587</a:t>
                      </a:r>
                    </a:p>
                  </a:txBody>
                  <a:tcPr/>
                </a:tc>
                <a:tc>
                  <a:txBody>
                    <a:bodyPr lIns="36000" rIns="36000" tIns="0" bIns="0"/>
                    <a:lstStyle/>
                    <a:p>
                      <a:pPr algn="ctr"/>
                      <a:r>
                        <a:rPr sz="700" b="0"/>
                        <a:t>0.791</a:t>
                      </a:r>
                    </a:p>
                  </a:txBody>
                  <a:tcPr/>
                </a:tc>
                <a:tc>
                  <a:txBody>
                    <a:bodyPr lIns="36000" rIns="36000" tIns="0" bIns="0"/>
                    <a:lstStyle/>
                    <a:p>
                      <a:pPr algn="ctr"/>
                      <a:r>
                        <a:rPr sz="700" b="0"/>
                        <a:t>0.798</a:t>
                      </a:r>
                    </a:p>
                  </a:txBody>
                  <a:tcPr/>
                </a:tc>
                <a:tc>
                  <a:txBody>
                    <a:bodyPr lIns="36000" rIns="36000" tIns="0" bIns="0"/>
                    <a:lstStyle/>
                    <a:p>
                      <a:pPr algn="ctr"/>
                      <a:r>
                        <a:rPr sz="700" b="0"/>
                        <a:t>0.791</a:t>
                      </a:r>
                    </a:p>
                  </a:txBody>
                  <a:tcPr/>
                </a:tc>
                <a:tc>
                  <a:txBody>
                    <a:bodyPr lIns="36000" rIns="36000" tIns="0" bIns="0"/>
                    <a:lstStyle/>
                    <a:p>
                      <a:pPr algn="ctr"/>
                      <a:r>
                        <a:rPr sz="700" b="0"/>
                        <a:t>—</a:t>
                      </a:r>
                    </a:p>
                  </a:txBody>
                  <a:tcPr/>
                </a:tc>
              </a:tr>
              <a:tr h="123000">
                <a:tc>
                  <a:txBody>
                    <a:bodyPr lIns="36000" rIns="36000" tIns="0" bIns="0"/>
                    <a:lstStyle/>
                    <a:p>
                      <a:r>
                        <a:rPr sz="700" b="0"/>
                        <a:t>Intermediate TL B1</a:t>
                      </a:r>
                    </a:p>
                  </a:txBody>
                  <a:tcPr/>
                </a:tc>
                <a:tc>
                  <a:txBody>
                    <a:bodyPr lIns="36000" rIns="36000" tIns="0" bIns="0"/>
                    <a:lstStyle/>
                    <a:p>
                      <a:pPr algn="ctr"/>
                      <a:r>
                        <a:rPr sz="700" b="0"/>
                        <a:t>0.554</a:t>
                      </a:r>
                    </a:p>
                  </a:txBody>
                  <a:tcPr/>
                </a:tc>
                <a:tc>
                  <a:txBody>
                    <a:bodyPr lIns="36000" rIns="36000" tIns="0" bIns="0"/>
                    <a:lstStyle/>
                    <a:p>
                      <a:pPr algn="ctr"/>
                      <a:r>
                        <a:rPr sz="700" b="0"/>
                        <a:t>0.790</a:t>
                      </a:r>
                    </a:p>
                  </a:txBody>
                  <a:tcPr/>
                </a:tc>
                <a:tc>
                  <a:txBody>
                    <a:bodyPr lIns="36000" rIns="36000" tIns="0" bIns="0"/>
                    <a:lstStyle/>
                    <a:p>
                      <a:pPr algn="ctr"/>
                      <a:r>
                        <a:rPr sz="700" b="0"/>
                        <a:t>0.803</a:t>
                      </a:r>
                    </a:p>
                  </a:txBody>
                  <a:tcPr/>
                </a:tc>
                <a:tc>
                  <a:txBody>
                    <a:bodyPr lIns="36000" rIns="36000" tIns="0" bIns="0"/>
                    <a:lstStyle/>
                    <a:p>
                      <a:pPr algn="ctr"/>
                      <a:r>
                        <a:rPr sz="700" b="0"/>
                        <a:t>0.790</a:t>
                      </a:r>
                    </a:p>
                  </a:txBody>
                  <a:tcPr/>
                </a:tc>
                <a:tc>
                  <a:txBody>
                    <a:bodyPr lIns="36000" rIns="36000" tIns="0" bIns="0"/>
                    <a:lstStyle/>
                    <a:p>
                      <a:pPr algn="ctr"/>
                      <a:r>
                        <a:rPr sz="700" b="0"/>
                        <a:t>—</a:t>
                      </a:r>
                    </a:p>
                  </a:txBody>
                  <a:tcPr/>
                </a:tc>
              </a:tr>
              <a:tr h="123000">
                <a:tc>
                  <a:txBody>
                    <a:bodyPr lIns="36000" rIns="36000" tIns="0" bIns="0"/>
                    <a:lstStyle/>
                    <a:p>
                      <a:r>
                        <a:rPr sz="700" b="0"/>
                        <a:t>Intermediate TL B2</a:t>
                      </a:r>
                    </a:p>
                  </a:txBody>
                  <a:tcPr/>
                </a:tc>
                <a:tc>
                  <a:txBody>
                    <a:bodyPr lIns="36000" rIns="36000" tIns="0" bIns="0"/>
                    <a:lstStyle/>
                    <a:p>
                      <a:pPr algn="ctr"/>
                      <a:r>
                        <a:rPr sz="700" b="0"/>
                        <a:t>0.559</a:t>
                      </a:r>
                    </a:p>
                  </a:txBody>
                  <a:tcPr/>
                </a:tc>
                <a:tc>
                  <a:txBody>
                    <a:bodyPr lIns="36000" rIns="36000" tIns="0" bIns="0"/>
                    <a:lstStyle/>
                    <a:p>
                      <a:pPr algn="ctr"/>
                      <a:r>
                        <a:rPr sz="700" b="0"/>
                        <a:t>0.815</a:t>
                      </a:r>
                    </a:p>
                  </a:txBody>
                  <a:tcPr/>
                </a:tc>
                <a:tc>
                  <a:txBody>
                    <a:bodyPr lIns="36000" rIns="36000" tIns="0" bIns="0"/>
                    <a:lstStyle/>
                    <a:p>
                      <a:pPr algn="ctr"/>
                      <a:r>
                        <a:rPr sz="700" b="0"/>
                        <a:t>0.819</a:t>
                      </a:r>
                    </a:p>
                  </a:txBody>
                  <a:tcPr/>
                </a:tc>
                <a:tc>
                  <a:txBody>
                    <a:bodyPr lIns="36000" rIns="36000" tIns="0" bIns="0"/>
                    <a:lstStyle/>
                    <a:p>
                      <a:pPr algn="ctr"/>
                      <a:r>
                        <a:rPr sz="700" b="0"/>
                        <a:t>0.815</a:t>
                      </a:r>
                    </a:p>
                  </a:txBody>
                  <a:tcPr/>
                </a:tc>
                <a:tc>
                  <a:txBody>
                    <a:bodyPr lIns="36000" rIns="36000" tIns="0" bIns="0"/>
                    <a:lstStyle/>
                    <a:p>
                      <a:pPr algn="ctr"/>
                      <a:r>
                        <a:rPr sz="700" b="0"/>
                        <a:t>—</a:t>
                      </a:r>
                    </a:p>
                  </a:txBody>
                  <a:tcPr/>
                </a:tc>
              </a:tr>
              <a:tr h="123000">
                <a:tc>
                  <a:txBody>
                    <a:bodyPr lIns="36000" rIns="36000" tIns="0" bIns="0"/>
                    <a:lstStyle/>
                    <a:p>
                      <a:r>
                        <a:rPr sz="700" b="0"/>
                        <a:t>Intermediate TL B3</a:t>
                      </a:r>
                    </a:p>
                  </a:txBody>
                  <a:tcPr/>
                </a:tc>
                <a:tc>
                  <a:txBody>
                    <a:bodyPr lIns="36000" rIns="36000" tIns="0" bIns="0"/>
                    <a:lstStyle/>
                    <a:p>
                      <a:pPr algn="ctr"/>
                      <a:r>
                        <a:rPr sz="700" b="0"/>
                        <a:t>0.500</a:t>
                      </a:r>
                    </a:p>
                  </a:txBody>
                  <a:tcPr/>
                </a:tc>
                <a:tc>
                  <a:txBody>
                    <a:bodyPr lIns="36000" rIns="36000" tIns="0" bIns="0"/>
                    <a:lstStyle/>
                    <a:p>
                      <a:pPr algn="ctr"/>
                      <a:r>
                        <a:rPr sz="700" b="0"/>
                        <a:t>0.828</a:t>
                      </a:r>
                    </a:p>
                  </a:txBody>
                  <a:tcPr/>
                </a:tc>
                <a:tc>
                  <a:txBody>
                    <a:bodyPr lIns="36000" rIns="36000" tIns="0" bIns="0"/>
                    <a:lstStyle/>
                    <a:p>
                      <a:pPr algn="ctr"/>
                      <a:r>
                        <a:rPr sz="700" b="0"/>
                        <a:t>0.834</a:t>
                      </a:r>
                    </a:p>
                  </a:txBody>
                  <a:tcPr/>
                </a:tc>
                <a:tc>
                  <a:txBody>
                    <a:bodyPr lIns="36000" rIns="36000" tIns="0" bIns="0"/>
                    <a:lstStyle/>
                    <a:p>
                      <a:pPr algn="ctr"/>
                      <a:r>
                        <a:rPr sz="700" b="0"/>
                        <a:t>0.828</a:t>
                      </a:r>
                    </a:p>
                  </a:txBody>
                  <a:tcPr/>
                </a:tc>
                <a:tc>
                  <a:txBody>
                    <a:bodyPr lIns="36000" rIns="36000" tIns="0" bIns="0"/>
                    <a:lstStyle/>
                    <a:p>
                      <a:pPr algn="ctr"/>
                      <a:r>
                        <a:rPr sz="700" b="0"/>
                        <a:t>—</a:t>
                      </a:r>
                    </a:p>
                  </a:txBody>
                  <a:tcPr/>
                </a:tc>
              </a:tr>
              <a:tr h="123000">
                <a:tc>
                  <a:txBody>
                    <a:bodyPr lIns="36000" rIns="36000" tIns="0" bIns="0"/>
                    <a:lstStyle/>
                    <a:p>
                      <a:r>
                        <a:rPr sz="700" b="0"/>
                        <a:t>Late Fusion scratch B1</a:t>
                      </a:r>
                    </a:p>
                  </a:txBody>
                  <a:tcPr/>
                </a:tc>
                <a:tc>
                  <a:txBody>
                    <a:bodyPr lIns="36000" rIns="36000" tIns="0" bIns="0"/>
                    <a:lstStyle/>
                    <a:p>
                      <a:pPr algn="ctr"/>
                      <a:r>
                        <a:rPr sz="700" b="0"/>
                        <a:t>0.607</a:t>
                      </a:r>
                    </a:p>
                  </a:txBody>
                  <a:tcPr/>
                </a:tc>
                <a:tc>
                  <a:txBody>
                    <a:bodyPr lIns="36000" rIns="36000" tIns="0" bIns="0"/>
                    <a:lstStyle/>
                    <a:p>
                      <a:pPr algn="ctr"/>
                      <a:r>
                        <a:rPr sz="700" b="0"/>
                        <a:t>0.822</a:t>
                      </a:r>
                    </a:p>
                  </a:txBody>
                  <a:tcPr/>
                </a:tc>
                <a:tc>
                  <a:txBody>
                    <a:bodyPr lIns="36000" rIns="36000" tIns="0" bIns="0"/>
                    <a:lstStyle/>
                    <a:p>
                      <a:pPr algn="ctr"/>
                      <a:r>
                        <a:rPr sz="700" b="0"/>
                        <a:t>0.828</a:t>
                      </a:r>
                    </a:p>
                  </a:txBody>
                  <a:tcPr/>
                </a:tc>
                <a:tc>
                  <a:txBody>
                    <a:bodyPr lIns="36000" rIns="36000" tIns="0" bIns="0"/>
                    <a:lstStyle/>
                    <a:p>
                      <a:pPr algn="ctr"/>
                      <a:r>
                        <a:rPr sz="700" b="0"/>
                        <a:t>0.822</a:t>
                      </a:r>
                    </a:p>
                  </a:txBody>
                  <a:tcPr/>
                </a:tc>
                <a:tc>
                  <a:txBody>
                    <a:bodyPr lIns="36000" rIns="36000" tIns="0" bIns="0"/>
                    <a:lstStyle/>
                    <a:p>
                      <a:pPr algn="ctr"/>
                      <a:r>
                        <a:rPr sz="700" b="0"/>
                        <a:t>0.10</a:t>
                      </a:r>
                    </a:p>
                  </a:txBody>
                  <a:tcPr/>
                </a:tc>
              </a:tr>
              <a:tr h="123000">
                <a:tc>
                  <a:txBody>
                    <a:bodyPr lIns="36000" rIns="36000" tIns="0" bIns="0"/>
                    <a:lstStyle/>
                    <a:p>
                      <a:r>
                        <a:rPr sz="700" b="0"/>
                        <a:t>Late Fusion scratch B2</a:t>
                      </a:r>
                    </a:p>
                  </a:txBody>
                  <a:tcPr/>
                </a:tc>
                <a:tc>
                  <a:txBody>
                    <a:bodyPr lIns="36000" rIns="36000" tIns="0" bIns="0"/>
                    <a:lstStyle/>
                    <a:p>
                      <a:pPr algn="ctr"/>
                      <a:r>
                        <a:rPr sz="700" b="0"/>
                        <a:t>0.600</a:t>
                      </a:r>
                    </a:p>
                  </a:txBody>
                  <a:tcPr/>
                </a:tc>
                <a:tc>
                  <a:txBody>
                    <a:bodyPr lIns="36000" rIns="36000" tIns="0" bIns="0"/>
                    <a:lstStyle/>
                    <a:p>
                      <a:pPr algn="ctr"/>
                      <a:r>
                        <a:rPr sz="700" b="0"/>
                        <a:t>0.724</a:t>
                      </a:r>
                    </a:p>
                  </a:txBody>
                  <a:tcPr/>
                </a:tc>
                <a:tc>
                  <a:txBody>
                    <a:bodyPr lIns="36000" rIns="36000" tIns="0" bIns="0"/>
                    <a:lstStyle/>
                    <a:p>
                      <a:pPr algn="ctr"/>
                      <a:r>
                        <a:rPr sz="700" b="0"/>
                        <a:t>0.744</a:t>
                      </a:r>
                    </a:p>
                  </a:txBody>
                  <a:tcPr/>
                </a:tc>
                <a:tc>
                  <a:txBody>
                    <a:bodyPr lIns="36000" rIns="36000" tIns="0" bIns="0"/>
                    <a:lstStyle/>
                    <a:p>
                      <a:pPr algn="ctr"/>
                      <a:r>
                        <a:rPr sz="700" b="0"/>
                        <a:t>0.724</a:t>
                      </a:r>
                    </a:p>
                  </a:txBody>
                  <a:tcPr/>
                </a:tc>
                <a:tc>
                  <a:txBody>
                    <a:bodyPr lIns="36000" rIns="36000" tIns="0" bIns="0"/>
                    <a:lstStyle/>
                    <a:p>
                      <a:pPr algn="ctr"/>
                      <a:r>
                        <a:rPr sz="700" b="0"/>
                        <a:t>0.45</a:t>
                      </a:r>
                    </a:p>
                  </a:txBody>
                  <a:tcPr/>
                </a:tc>
              </a:tr>
              <a:tr h="123000">
                <a:tc>
                  <a:txBody>
                    <a:bodyPr lIns="36000" rIns="36000" tIns="0" bIns="0"/>
                    <a:lstStyle/>
                    <a:p>
                      <a:r>
                        <a:rPr sz="700" b="0"/>
                        <a:t>Late Fusion scratch B3</a:t>
                      </a:r>
                    </a:p>
                  </a:txBody>
                  <a:tcPr/>
                </a:tc>
                <a:tc>
                  <a:txBody>
                    <a:bodyPr lIns="36000" rIns="36000" tIns="0" bIns="0"/>
                    <a:lstStyle/>
                    <a:p>
                      <a:pPr algn="ctr"/>
                      <a:r>
                        <a:rPr sz="700" b="0"/>
                        <a:t>0.609</a:t>
                      </a:r>
                    </a:p>
                  </a:txBody>
                  <a:tcPr/>
                </a:tc>
                <a:tc>
                  <a:txBody>
                    <a:bodyPr lIns="36000" rIns="36000" tIns="0" bIns="0"/>
                    <a:lstStyle/>
                    <a:p>
                      <a:pPr algn="ctr"/>
                      <a:r>
                        <a:rPr sz="700" b="0"/>
                        <a:t>0.682</a:t>
                      </a:r>
                    </a:p>
                  </a:txBody>
                  <a:tcPr/>
                </a:tc>
                <a:tc>
                  <a:txBody>
                    <a:bodyPr lIns="36000" rIns="36000" tIns="0" bIns="0"/>
                    <a:lstStyle/>
                    <a:p>
                      <a:pPr algn="ctr"/>
                      <a:r>
                        <a:rPr sz="700" b="0"/>
                        <a:t>0.706</a:t>
                      </a:r>
                    </a:p>
                  </a:txBody>
                  <a:tcPr/>
                </a:tc>
                <a:tc>
                  <a:txBody>
                    <a:bodyPr lIns="36000" rIns="36000" tIns="0" bIns="0"/>
                    <a:lstStyle/>
                    <a:p>
                      <a:pPr algn="ctr"/>
                      <a:r>
                        <a:rPr sz="700" b="0"/>
                        <a:t>0.682</a:t>
                      </a:r>
                    </a:p>
                  </a:txBody>
                  <a:tcPr/>
                </a:tc>
                <a:tc>
                  <a:txBody>
                    <a:bodyPr lIns="36000" rIns="36000" tIns="0" bIns="0"/>
                    <a:lstStyle/>
                    <a:p>
                      <a:pPr algn="ctr"/>
                      <a:r>
                        <a:rPr sz="700" b="0"/>
                        <a:t>0.25</a:t>
                      </a:r>
                    </a:p>
                  </a:txBody>
                  <a:tcPr/>
                </a:tc>
              </a:tr>
              <a:tr h="123000">
                <a:tc>
                  <a:txBody>
                    <a:bodyPr lIns="36000" rIns="36000" tIns="0" bIns="0"/>
                    <a:lstStyle/>
                    <a:p>
                      <a:r>
                        <a:rPr sz="700" b="0"/>
                        <a:t>Late Fusion TL B1</a:t>
                      </a:r>
                    </a:p>
                  </a:txBody>
                  <a:tcPr/>
                </a:tc>
                <a:tc>
                  <a:txBody>
                    <a:bodyPr lIns="36000" rIns="36000" tIns="0" bIns="0"/>
                    <a:lstStyle/>
                    <a:p>
                      <a:pPr algn="ctr"/>
                      <a:r>
                        <a:rPr sz="700" b="0"/>
                        <a:t>0.609</a:t>
                      </a:r>
                    </a:p>
                  </a:txBody>
                  <a:tcPr/>
                </a:tc>
                <a:tc>
                  <a:txBody>
                    <a:bodyPr lIns="36000" rIns="36000" tIns="0" bIns="0"/>
                    <a:lstStyle/>
                    <a:p>
                      <a:pPr algn="ctr"/>
                      <a:r>
                        <a:rPr sz="700" b="0"/>
                        <a:t>0.797</a:t>
                      </a:r>
                    </a:p>
                  </a:txBody>
                  <a:tcPr/>
                </a:tc>
                <a:tc>
                  <a:txBody>
                    <a:bodyPr lIns="36000" rIns="36000" tIns="0" bIns="0"/>
                    <a:lstStyle/>
                    <a:p>
                      <a:pPr algn="ctr"/>
                      <a:r>
                        <a:rPr sz="700" b="0"/>
                        <a:t>0.813</a:t>
                      </a:r>
                    </a:p>
                  </a:txBody>
                  <a:tcPr/>
                </a:tc>
                <a:tc>
                  <a:txBody>
                    <a:bodyPr lIns="36000" rIns="36000" tIns="0" bIns="0"/>
                    <a:lstStyle/>
                    <a:p>
                      <a:pPr algn="ctr"/>
                      <a:r>
                        <a:rPr sz="700" b="0"/>
                        <a:t>0.797</a:t>
                      </a:r>
                    </a:p>
                  </a:txBody>
                  <a:tcPr/>
                </a:tc>
                <a:tc>
                  <a:txBody>
                    <a:bodyPr lIns="36000" rIns="36000" tIns="0" bIns="0"/>
                    <a:lstStyle/>
                    <a:p>
                      <a:pPr algn="ctr"/>
                      <a:r>
                        <a:rPr sz="700" b="0"/>
                        <a:t>0.25</a:t>
                      </a:r>
                    </a:p>
                  </a:txBody>
                  <a:tcPr/>
                </a:tc>
              </a:tr>
              <a:tr h="123000">
                <a:tc>
                  <a:txBody>
                    <a:bodyPr lIns="36000" rIns="36000" tIns="0" bIns="0"/>
                    <a:lstStyle/>
                    <a:p>
                      <a:r>
                        <a:rPr sz="700" b="0"/>
                        <a:t>Late Fusion TL B2</a:t>
                      </a:r>
                    </a:p>
                  </a:txBody>
                  <a:tcPr/>
                </a:tc>
                <a:tc>
                  <a:txBody>
                    <a:bodyPr lIns="36000" rIns="36000" tIns="0" bIns="0"/>
                    <a:lstStyle/>
                    <a:p>
                      <a:pPr algn="ctr"/>
                      <a:r>
                        <a:rPr sz="700" b="0"/>
                        <a:t>0.591</a:t>
                      </a:r>
                    </a:p>
                  </a:txBody>
                  <a:tcPr/>
                </a:tc>
                <a:tc>
                  <a:txBody>
                    <a:bodyPr lIns="36000" rIns="36000" tIns="0" bIns="0"/>
                    <a:lstStyle/>
                    <a:p>
                      <a:pPr algn="ctr"/>
                      <a:r>
                        <a:rPr sz="700" b="0"/>
                        <a:t>0.774</a:t>
                      </a:r>
                    </a:p>
                  </a:txBody>
                  <a:tcPr/>
                </a:tc>
                <a:tc>
                  <a:txBody>
                    <a:bodyPr lIns="36000" rIns="36000" tIns="0" bIns="0"/>
                    <a:lstStyle/>
                    <a:p>
                      <a:pPr algn="ctr"/>
                      <a:r>
                        <a:rPr sz="700" b="0"/>
                        <a:t>0.788</a:t>
                      </a:r>
                    </a:p>
                  </a:txBody>
                  <a:tcPr/>
                </a:tc>
                <a:tc>
                  <a:txBody>
                    <a:bodyPr lIns="36000" rIns="36000" tIns="0" bIns="0"/>
                    <a:lstStyle/>
                    <a:p>
                      <a:pPr algn="ctr"/>
                      <a:r>
                        <a:rPr sz="700" b="0"/>
                        <a:t>0.774</a:t>
                      </a:r>
                    </a:p>
                  </a:txBody>
                  <a:tcPr/>
                </a:tc>
                <a:tc>
                  <a:txBody>
                    <a:bodyPr lIns="36000" rIns="36000" tIns="0" bIns="0"/>
                    <a:lstStyle/>
                    <a:p>
                      <a:pPr algn="ctr"/>
                      <a:r>
                        <a:rPr sz="700" b="0"/>
                        <a:t>0.30</a:t>
                      </a:r>
                    </a:p>
                  </a:txBody>
                  <a:tcPr/>
                </a:tc>
              </a:tr>
              <a:tr h="123000">
                <a:tc>
                  <a:txBody>
                    <a:bodyPr lIns="36000" rIns="36000" tIns="0" bIns="0"/>
                    <a:lstStyle/>
                    <a:p>
                      <a:r>
                        <a:rPr sz="700" b="1">
                          <a:solidFill>
                            <a:srgbClr val="C84B12"/>
                          </a:solidFill>
                        </a:rPr>
                        <a:t>Late Fusion TL B3 ⭐</a:t>
                      </a:r>
                    </a:p>
                  </a:txBody>
                  <a:tcPr/>
                </a:tc>
                <a:tc>
                  <a:txBody>
                    <a:bodyPr lIns="36000" rIns="36000" tIns="0" bIns="0"/>
                    <a:lstStyle/>
                    <a:p>
                      <a:pPr algn="ctr"/>
                      <a:r>
                        <a:rPr sz="700" b="1">
                          <a:solidFill>
                            <a:srgbClr val="C84B12"/>
                          </a:solidFill>
                        </a:rPr>
                        <a:t>0.623</a:t>
                      </a:r>
                    </a:p>
                  </a:txBody>
                  <a:tcPr/>
                </a:tc>
                <a:tc>
                  <a:txBody>
                    <a:bodyPr lIns="36000" rIns="36000" tIns="0" bIns="0"/>
                    <a:lstStyle/>
                    <a:p>
                      <a:pPr algn="ctr"/>
                      <a:r>
                        <a:rPr sz="700" b="1">
                          <a:solidFill>
                            <a:srgbClr val="C84B12"/>
                          </a:solidFill>
                        </a:rPr>
                        <a:t>0.784</a:t>
                      </a:r>
                    </a:p>
                  </a:txBody>
                  <a:tcPr/>
                </a:tc>
                <a:tc>
                  <a:txBody>
                    <a:bodyPr lIns="36000" rIns="36000" tIns="0" bIns="0"/>
                    <a:lstStyle/>
                    <a:p>
                      <a:pPr algn="ctr"/>
                      <a:r>
                        <a:rPr sz="700" b="1">
                          <a:solidFill>
                            <a:srgbClr val="C84B12"/>
                          </a:solidFill>
                        </a:rPr>
                        <a:t>0.795</a:t>
                      </a:r>
                    </a:p>
                  </a:txBody>
                  <a:tcPr/>
                </a:tc>
                <a:tc>
                  <a:txBody>
                    <a:bodyPr lIns="36000" rIns="36000" tIns="0" bIns="0"/>
                    <a:lstStyle/>
                    <a:p>
                      <a:pPr algn="ctr"/>
                      <a:r>
                        <a:rPr sz="700" b="1">
                          <a:solidFill>
                            <a:srgbClr val="C84B12"/>
                          </a:solidFill>
                        </a:rPr>
                        <a:t>0.784</a:t>
                      </a:r>
                    </a:p>
                  </a:txBody>
                  <a:tcPr/>
                </a:tc>
                <a:tc>
                  <a:txBody>
                    <a:bodyPr lIns="36000" rIns="36000" tIns="0" bIns="0"/>
                    <a:lstStyle/>
                    <a:p>
                      <a:pPr algn="ctr"/>
                      <a:r>
                        <a:rPr sz="700" b="1">
                          <a:solidFill>
                            <a:srgbClr val="C84B12"/>
                          </a:solidFill>
                        </a:rPr>
                        <a:t>0.15</a:t>
                      </a:r>
                    </a:p>
                  </a:txBody>
                  <a:tcPr/>
                </a:tc>
              </a:tr>
              <a:tr h="123000">
                <a:tc>
                  <a:txBody>
                    <a:bodyPr lIns="36000" rIns="36000" tIns="0" bIns="0"/>
                    <a:lstStyle/>
                    <a:p>
                      <a:r>
                        <a:rPr sz="700" b="0"/>
                        <a:t>Early Fusion scratch B1</a:t>
                      </a:r>
                    </a:p>
                  </a:txBody>
                  <a:tcPr/>
                </a:tc>
                <a:tc>
                  <a:txBody>
                    <a:bodyPr lIns="36000" rIns="36000" tIns="0" bIns="0"/>
                    <a:lstStyle/>
                    <a:p>
                      <a:pPr algn="ctr"/>
                      <a:r>
                        <a:rPr sz="700" b="0"/>
                        <a:t>0.522</a:t>
                      </a:r>
                    </a:p>
                  </a:txBody>
                  <a:tcPr/>
                </a:tc>
                <a:tc>
                  <a:txBody>
                    <a:bodyPr lIns="36000" rIns="36000" tIns="0" bIns="0"/>
                    <a:lstStyle/>
                    <a:p>
                      <a:pPr algn="ctr"/>
                      <a:r>
                        <a:rPr sz="700" b="0"/>
                        <a:t>0.743</a:t>
                      </a:r>
                    </a:p>
                  </a:txBody>
                  <a:tcPr/>
                </a:tc>
                <a:tc>
                  <a:txBody>
                    <a:bodyPr lIns="36000" rIns="36000" tIns="0" bIns="0"/>
                    <a:lstStyle/>
                    <a:p>
                      <a:pPr algn="ctr"/>
                      <a:r>
                        <a:rPr sz="700" b="0"/>
                        <a:t>0.743</a:t>
                      </a:r>
                    </a:p>
                  </a:txBody>
                  <a:tcPr/>
                </a:tc>
                <a:tc>
                  <a:txBody>
                    <a:bodyPr lIns="36000" rIns="36000" tIns="0" bIns="0"/>
                    <a:lstStyle/>
                    <a:p>
                      <a:pPr algn="ctr"/>
                      <a:r>
                        <a:rPr sz="700" b="0"/>
                        <a:t>0.743</a:t>
                      </a:r>
                    </a:p>
                  </a:txBody>
                  <a:tcPr/>
                </a:tc>
                <a:tc>
                  <a:txBody>
                    <a:bodyPr lIns="36000" rIns="36000" tIns="0" bIns="0"/>
                    <a:lstStyle/>
                    <a:p>
                      <a:pPr algn="ctr"/>
                      <a:r>
                        <a:rPr sz="700" b="0"/>
                        <a:t>—</a:t>
                      </a:r>
                    </a:p>
                  </a:txBody>
                  <a:tcPr/>
                </a:tc>
              </a:tr>
              <a:tr h="123000">
                <a:tc>
                  <a:txBody>
                    <a:bodyPr lIns="36000" rIns="36000" tIns="0" bIns="0"/>
                    <a:lstStyle/>
                    <a:p>
                      <a:r>
                        <a:rPr sz="700" b="0"/>
                        <a:t>Early Fusion scratch B2</a:t>
                      </a:r>
                    </a:p>
                  </a:txBody>
                  <a:tcPr/>
                </a:tc>
                <a:tc>
                  <a:txBody>
                    <a:bodyPr lIns="36000" rIns="36000" tIns="0" bIns="0"/>
                    <a:lstStyle/>
                    <a:p>
                      <a:pPr algn="ctr"/>
                      <a:r>
                        <a:rPr sz="700" b="0"/>
                        <a:t>0.517</a:t>
                      </a:r>
                    </a:p>
                  </a:txBody>
                  <a:tcPr/>
                </a:tc>
                <a:tc>
                  <a:txBody>
                    <a:bodyPr lIns="36000" rIns="36000" tIns="0" bIns="0"/>
                    <a:lstStyle/>
                    <a:p>
                      <a:pPr algn="ctr"/>
                      <a:r>
                        <a:rPr sz="700" b="0"/>
                        <a:t>0.735</a:t>
                      </a:r>
                    </a:p>
                  </a:txBody>
                  <a:tcPr/>
                </a:tc>
                <a:tc>
                  <a:txBody>
                    <a:bodyPr lIns="36000" rIns="36000" tIns="0" bIns="0"/>
                    <a:lstStyle/>
                    <a:p>
                      <a:pPr algn="ctr"/>
                      <a:r>
                        <a:rPr sz="700" b="0"/>
                        <a:t>0.750</a:t>
                      </a:r>
                    </a:p>
                  </a:txBody>
                  <a:tcPr/>
                </a:tc>
                <a:tc>
                  <a:txBody>
                    <a:bodyPr lIns="36000" rIns="36000" tIns="0" bIns="0"/>
                    <a:lstStyle/>
                    <a:p>
                      <a:pPr algn="ctr"/>
                      <a:r>
                        <a:rPr sz="700" b="0"/>
                        <a:t>0.735</a:t>
                      </a:r>
                    </a:p>
                  </a:txBody>
                  <a:tcPr/>
                </a:tc>
                <a:tc>
                  <a:txBody>
                    <a:bodyPr lIns="36000" rIns="36000" tIns="0" bIns="0"/>
                    <a:lstStyle/>
                    <a:p>
                      <a:pPr algn="ctr"/>
                      <a:r>
                        <a:rPr sz="700" b="0"/>
                        <a:t>—</a:t>
                      </a:r>
                    </a:p>
                  </a:txBody>
                  <a:tcPr/>
                </a:tc>
              </a:tr>
              <a:tr h="123000">
                <a:tc>
                  <a:txBody>
                    <a:bodyPr lIns="36000" rIns="36000" tIns="0" bIns="0"/>
                    <a:lstStyle/>
                    <a:p>
                      <a:r>
                        <a:rPr sz="700" b="0"/>
                        <a:t>Early Fusion scratch B3</a:t>
                      </a:r>
                    </a:p>
                  </a:txBody>
                  <a:tcPr/>
                </a:tc>
                <a:tc>
                  <a:txBody>
                    <a:bodyPr lIns="36000" rIns="36000" tIns="0" bIns="0"/>
                    <a:lstStyle/>
                    <a:p>
                      <a:pPr algn="ctr"/>
                      <a:r>
                        <a:rPr sz="700" b="0"/>
                        <a:t>0.483</a:t>
                      </a:r>
                    </a:p>
                  </a:txBody>
                  <a:tcPr/>
                </a:tc>
                <a:tc>
                  <a:txBody>
                    <a:bodyPr lIns="36000" rIns="36000" tIns="0" bIns="0"/>
                    <a:lstStyle/>
                    <a:p>
                      <a:pPr algn="ctr"/>
                      <a:r>
                        <a:rPr sz="700" b="0"/>
                        <a:t>0.727</a:t>
                      </a:r>
                    </a:p>
                  </a:txBody>
                  <a:tcPr/>
                </a:tc>
                <a:tc>
                  <a:txBody>
                    <a:bodyPr lIns="36000" rIns="36000" tIns="0" bIns="0"/>
                    <a:lstStyle/>
                    <a:p>
                      <a:pPr algn="ctr"/>
                      <a:r>
                        <a:rPr sz="700" b="0"/>
                        <a:t>0.736</a:t>
                      </a:r>
                    </a:p>
                  </a:txBody>
                  <a:tcPr/>
                </a:tc>
                <a:tc>
                  <a:txBody>
                    <a:bodyPr lIns="36000" rIns="36000" tIns="0" bIns="0"/>
                    <a:lstStyle/>
                    <a:p>
                      <a:pPr algn="ctr"/>
                      <a:r>
                        <a:rPr sz="700" b="0"/>
                        <a:t>0.727</a:t>
                      </a:r>
                    </a:p>
                  </a:txBody>
                  <a:tcPr/>
                </a:tc>
                <a:tc>
                  <a:txBody>
                    <a:bodyPr lIns="36000" rIns="36000" tIns="0" bIns="0"/>
                    <a:lstStyle/>
                    <a:p>
                      <a:pPr algn="ctr"/>
                      <a:r>
                        <a:rPr sz="700" b="0"/>
                        <a:t>—</a:t>
                      </a:r>
                    </a:p>
                  </a:txBody>
                  <a:tcPr/>
                </a:tc>
              </a:tr>
              <a:tr h="123000">
                <a:tc>
                  <a:txBody>
                    <a:bodyPr lIns="36000" rIns="36000" tIns="0" bIns="0"/>
                    <a:lstStyle/>
                    <a:p>
                      <a:r>
                        <a:rPr sz="700" b="0"/>
                        <a:t>Early Fusion TL B1</a:t>
                      </a:r>
                    </a:p>
                  </a:txBody>
                  <a:tcPr/>
                </a:tc>
                <a:tc>
                  <a:txBody>
                    <a:bodyPr lIns="36000" rIns="36000" tIns="0" bIns="0"/>
                    <a:lstStyle/>
                    <a:p>
                      <a:pPr algn="ctr"/>
                      <a:r>
                        <a:rPr sz="700" b="0"/>
                        <a:t>0.537</a:t>
                      </a:r>
                    </a:p>
                  </a:txBody>
                  <a:tcPr/>
                </a:tc>
                <a:tc>
                  <a:txBody>
                    <a:bodyPr lIns="36000" rIns="36000" tIns="0" bIns="0"/>
                    <a:lstStyle/>
                    <a:p>
                      <a:pPr algn="ctr"/>
                      <a:r>
                        <a:rPr sz="700" b="0"/>
                        <a:t>0.783</a:t>
                      </a:r>
                    </a:p>
                  </a:txBody>
                  <a:tcPr/>
                </a:tc>
                <a:tc>
                  <a:txBody>
                    <a:bodyPr lIns="36000" rIns="36000" tIns="0" bIns="0"/>
                    <a:lstStyle/>
                    <a:p>
                      <a:pPr algn="ctr"/>
                      <a:r>
                        <a:rPr sz="700" b="0"/>
                        <a:t>0.774</a:t>
                      </a:r>
                    </a:p>
                  </a:txBody>
                  <a:tcPr/>
                </a:tc>
                <a:tc>
                  <a:txBody>
                    <a:bodyPr lIns="36000" rIns="36000" tIns="0" bIns="0"/>
                    <a:lstStyle/>
                    <a:p>
                      <a:pPr algn="ctr"/>
                      <a:r>
                        <a:rPr sz="700" b="0"/>
                        <a:t>0.783</a:t>
                      </a:r>
                    </a:p>
                  </a:txBody>
                  <a:tcPr/>
                </a:tc>
                <a:tc>
                  <a:txBody>
                    <a:bodyPr lIns="36000" rIns="36000" tIns="0" bIns="0"/>
                    <a:lstStyle/>
                    <a:p>
                      <a:pPr algn="ctr"/>
                      <a:r>
                        <a:rPr sz="700" b="0"/>
                        <a:t>—</a:t>
                      </a:r>
                    </a:p>
                  </a:txBody>
                  <a:tcPr/>
                </a:tc>
              </a:tr>
              <a:tr h="123000">
                <a:tc>
                  <a:txBody>
                    <a:bodyPr lIns="36000" rIns="36000" tIns="0" bIns="0"/>
                    <a:lstStyle/>
                    <a:p>
                      <a:r>
                        <a:rPr sz="700" b="0"/>
                        <a:t>Early Fusion TL B2</a:t>
                      </a:r>
                    </a:p>
                  </a:txBody>
                  <a:tcPr/>
                </a:tc>
                <a:tc>
                  <a:txBody>
                    <a:bodyPr lIns="36000" rIns="36000" tIns="0" bIns="0"/>
                    <a:lstStyle/>
                    <a:p>
                      <a:pPr algn="ctr"/>
                      <a:r>
                        <a:rPr sz="700" b="0"/>
                        <a:t>0.504</a:t>
                      </a:r>
                    </a:p>
                  </a:txBody>
                  <a:tcPr/>
                </a:tc>
                <a:tc>
                  <a:txBody>
                    <a:bodyPr lIns="36000" rIns="36000" tIns="0" bIns="0"/>
                    <a:lstStyle/>
                    <a:p>
                      <a:pPr algn="ctr"/>
                      <a:r>
                        <a:rPr sz="700" b="0"/>
                        <a:t>0.650</a:t>
                      </a:r>
                    </a:p>
                  </a:txBody>
                  <a:tcPr/>
                </a:tc>
                <a:tc>
                  <a:txBody>
                    <a:bodyPr lIns="36000" rIns="36000" tIns="0" bIns="0"/>
                    <a:lstStyle/>
                    <a:p>
                      <a:pPr algn="ctr"/>
                      <a:r>
                        <a:rPr sz="700" b="0"/>
                        <a:t>0.676</a:t>
                      </a:r>
                    </a:p>
                  </a:txBody>
                  <a:tcPr/>
                </a:tc>
                <a:tc>
                  <a:txBody>
                    <a:bodyPr lIns="36000" rIns="36000" tIns="0" bIns="0"/>
                    <a:lstStyle/>
                    <a:p>
                      <a:pPr algn="ctr"/>
                      <a:r>
                        <a:rPr sz="700" b="0"/>
                        <a:t>0.650</a:t>
                      </a:r>
                    </a:p>
                  </a:txBody>
                  <a:tcPr/>
                </a:tc>
                <a:tc>
                  <a:txBody>
                    <a:bodyPr lIns="36000" rIns="36000" tIns="0" bIns="0"/>
                    <a:lstStyle/>
                    <a:p>
                      <a:pPr algn="ctr"/>
                      <a:r>
                        <a:rPr sz="700" b="0"/>
                        <a:t>—</a:t>
                      </a:r>
                    </a:p>
                  </a:txBody>
                  <a:tcPr/>
                </a:tc>
              </a:tr>
              <a:tr h="123000">
                <a:tc>
                  <a:txBody>
                    <a:bodyPr lIns="36000" rIns="36000" tIns="0" bIns="0"/>
                    <a:lstStyle/>
                    <a:p>
                      <a:r>
                        <a:rPr sz="700" b="0"/>
                        <a:t>Early Fusion TL B3</a:t>
                      </a:r>
                    </a:p>
                  </a:txBody>
                  <a:tcPr/>
                </a:tc>
                <a:tc>
                  <a:txBody>
                    <a:bodyPr lIns="36000" rIns="36000" tIns="0" bIns="0"/>
                    <a:lstStyle/>
                    <a:p>
                      <a:pPr algn="ctr"/>
                      <a:r>
                        <a:rPr sz="700" b="0"/>
                        <a:t>0.509</a:t>
                      </a:r>
                    </a:p>
                  </a:txBody>
                  <a:tcPr/>
                </a:tc>
                <a:tc>
                  <a:txBody>
                    <a:bodyPr lIns="36000" rIns="36000" tIns="0" bIns="0"/>
                    <a:lstStyle/>
                    <a:p>
                      <a:pPr algn="ctr"/>
                      <a:r>
                        <a:rPr sz="700" b="0"/>
                        <a:t>0.820</a:t>
                      </a:r>
                    </a:p>
                  </a:txBody>
                  <a:tcPr/>
                </a:tc>
                <a:tc>
                  <a:txBody>
                    <a:bodyPr lIns="36000" rIns="36000" tIns="0" bIns="0"/>
                    <a:lstStyle/>
                    <a:p>
                      <a:pPr algn="ctr"/>
                      <a:r>
                        <a:rPr sz="700" b="0"/>
                        <a:t>0.835</a:t>
                      </a:r>
                    </a:p>
                  </a:txBody>
                  <a:tcPr/>
                </a:tc>
                <a:tc>
                  <a:txBody>
                    <a:bodyPr lIns="36000" rIns="36000" tIns="0" bIns="0"/>
                    <a:lstStyle/>
                    <a:p>
                      <a:pPr algn="ctr"/>
                      <a:r>
                        <a:rPr sz="700" b="0"/>
                        <a:t>0.820</a:t>
                      </a:r>
                    </a:p>
                  </a:txBody>
                  <a:tcPr/>
                </a:tc>
                <a:tc>
                  <a:txBody>
                    <a:bodyPr lIns="36000" rIns="36000" tIns="0" bIns="0"/>
                    <a:lstStyle/>
                    <a:p>
                      <a:pPr algn="ctr"/>
                      <a:r>
                        <a:rPr sz="700" b="0"/>
                        <a:t>—</a:t>
                      </a:r>
                    </a:p>
                  </a:txBody>
                  <a:tcPr/>
                </a:tc>
              </a:tr>
            </a:tbl>
          </a:graphicData>
        </a:graphic>
      </p:graphicFrame>
      <p:sp>
        <p:nvSpPr>
          <p:cNvPr id="9" name="TextBox 8"/>
          <p:cNvSpPr txBox="1"/>
          <p:nvPr/>
        </p:nvSpPr>
        <p:spPr>
          <a:xfrm>
            <a:off x="274320" y="4281220"/>
            <a:ext cx="4480560" cy="274320"/>
          </a:xfrm>
          <a:prstGeom prst="rect">
            <a:avLst/>
          </a:prstGeom>
          <a:noFill/>
        </p:spPr>
        <p:txBody>
          <a:bodyPr wrap="square" lIns="0" rIns="0" tIns="0" bIns="0">
            <a:spAutoFit/>
          </a:bodyPr>
          <a:lstStyle/>
          <a:p>
            <a:r>
              <a:rPr sz="650" i="1">
                <a:solidFill>
                  <a:srgbClr val="666666"/>
                </a:solidFill>
              </a:rPr>
              <a:t>* Micro / W-F1 / Acc / w = test set (val-only Micro/W-F1/Acc tidak di-log per config; w_best dipilih val-tuned).</a:t>
            </a:r>
          </a:p>
        </p:txBody>
      </p:sp>
      <p:sp>
        <p:nvSpPr>
          <p:cNvPr id="10" name="TextBox 9"/>
          <p:cNvSpPr txBox="1"/>
          <p:nvPr/>
        </p:nvSpPr>
        <p:spPr>
          <a:xfrm>
            <a:off x="274320" y="4005072"/>
            <a:ext cx="4114800" cy="0"/>
          </a:xfrm>
          <a:prstGeom prst="rect">
            <a:avLst/>
          </a:prstGeom>
          <a:noFill/>
        </p:spPr>
        <p:txBody>
          <a:bodyPr wrap="square" lIns="0" rIns="0" tIns="0" bIns="0">
            <a:spAutoFit/>
          </a:bodyPr>
          <a:lstStyle/>
          <a:p>
            <a:r>
              <a:rPr sz="1000" b="1">
                <a:solidFill>
                  <a:srgbClr val="1F3A5F"/>
                </a:solidFill>
              </a:rPr>
              <a:t>Distribusi Data 3-Class (Primer conf60, 6,795 sampel)</a:t>
            </a:r>
          </a:p>
        </p:txBody>
      </p:sp>
      <p:graphicFrame>
        <p:nvGraphicFramePr>
          <p:cNvPr id="11" name="Table 10"/>
          <p:cNvGraphicFramePr>
            <a:graphicFrameLocks noGrp="1"/>
          </p:cNvGraphicFramePr>
          <p:nvPr/>
        </p:nvGraphicFramePr>
        <p:xfrm>
          <a:off x="274320" y="4251960"/>
          <a:ext cx="4114800" cy="1051560"/>
        </p:xfrm>
        <a:graphic>
          <a:graphicData uri="http://schemas.openxmlformats.org/drawingml/2006/table">
            <a:tbl>
              <a:tblPr firstRow="1" bandRow="1">
                <a:tableStyleId>{5C22544A-7EE6-4342-B048-85BDC9FD1C3A}</a:tableStyleId>
              </a:tblPr>
              <a:tblGrid>
                <a:gridCol w="640080"/>
                <a:gridCol w="731520"/>
                <a:gridCol w="1005840"/>
                <a:gridCol w="1005840"/>
                <a:gridCol w="731520"/>
              </a:tblGrid>
              <a:tr h="210312">
                <a:tc>
                  <a:txBody>
                    <a:bodyPr/>
                    <a:lstStyle/>
                    <a:p>
                      <a:pPr>
                        <a:spcBef>
                          <a:spcPts val="0"/>
                        </a:spcBef>
                        <a:spcAft>
                          <a:spcPts val="0"/>
                        </a:spcAft>
                      </a:pPr>
                      <a:r>
                        <a:rPr sz="750" b="1">
                          <a:solidFill>
                            <a:srgbClr val="FFFFFF"/>
                          </a:solidFill>
                        </a:rPr>
                        <a:t>Split</a:t>
                      </a:r>
                    </a:p>
                  </a:txBody>
                  <a:tcPr>
                    <a:solidFill>
                      <a:srgbClr val="1F3A5F"/>
                    </a:solidFill>
                  </a:tcPr>
                </a:tc>
                <a:tc>
                  <a:txBody>
                    <a:bodyPr/>
                    <a:lstStyle/>
                    <a:p>
                      <a:pPr>
                        <a:spcBef>
                          <a:spcPts val="0"/>
                        </a:spcBef>
                        <a:spcAft>
                          <a:spcPts val="0"/>
                        </a:spcAft>
                      </a:pPr>
                      <a:r>
                        <a:rPr sz="750" b="1">
                          <a:solidFill>
                            <a:srgbClr val="FFFFFF"/>
                          </a:solidFill>
                        </a:rPr>
                        <a:t>Total</a:t>
                      </a:r>
                    </a:p>
                  </a:txBody>
                  <a:tcPr>
                    <a:solidFill>
                      <a:srgbClr val="1F3A5F"/>
                    </a:solidFill>
                  </a:tcPr>
                </a:tc>
                <a:tc>
                  <a:txBody>
                    <a:bodyPr/>
                    <a:lstStyle/>
                    <a:p>
                      <a:pPr>
                        <a:spcBef>
                          <a:spcPts val="0"/>
                        </a:spcBef>
                        <a:spcAft>
                          <a:spcPts val="0"/>
                        </a:spcAft>
                      </a:pPr>
                      <a:r>
                        <a:rPr sz="750" b="1">
                          <a:solidFill>
                            <a:srgbClr val="FFFFFF"/>
                          </a:solidFill>
                        </a:rPr>
                        <a:t>positive</a:t>
                      </a:r>
                    </a:p>
                  </a:txBody>
                  <a:tcPr>
                    <a:solidFill>
                      <a:srgbClr val="1F3A5F"/>
                    </a:solidFill>
                  </a:tcPr>
                </a:tc>
                <a:tc>
                  <a:txBody>
                    <a:bodyPr/>
                    <a:lstStyle/>
                    <a:p>
                      <a:pPr>
                        <a:spcBef>
                          <a:spcPts val="0"/>
                        </a:spcBef>
                        <a:spcAft>
                          <a:spcPts val="0"/>
                        </a:spcAft>
                      </a:pPr>
                      <a:r>
                        <a:rPr sz="750" b="1">
                          <a:solidFill>
                            <a:srgbClr val="FFFFFF"/>
                          </a:solidFill>
                        </a:rPr>
                        <a:t>neutral</a:t>
                      </a:r>
                    </a:p>
                  </a:txBody>
                  <a:tcPr>
                    <a:solidFill>
                      <a:srgbClr val="1F3A5F"/>
                    </a:solidFill>
                  </a:tcPr>
                </a:tc>
                <a:tc>
                  <a:txBody>
                    <a:bodyPr/>
                    <a:lstStyle/>
                    <a:p>
                      <a:pPr>
                        <a:spcBef>
                          <a:spcPts val="0"/>
                        </a:spcBef>
                        <a:spcAft>
                          <a:spcPts val="0"/>
                        </a:spcAft>
                      </a:pPr>
                      <a:r>
                        <a:rPr sz="750" b="1">
                          <a:solidFill>
                            <a:srgbClr val="FFFFFF"/>
                          </a:solidFill>
                        </a:rPr>
                        <a:t>negative</a:t>
                      </a:r>
                    </a:p>
                  </a:txBody>
                  <a:tcPr>
                    <a:solidFill>
                      <a:srgbClr val="1F3A5F"/>
                    </a:solidFill>
                  </a:tcPr>
                </a:tc>
              </a:tr>
              <a:tr h="210312">
                <a:tc>
                  <a:txBody>
                    <a:bodyPr/>
                    <a:lstStyle/>
                    <a:p>
                      <a:pPr>
                        <a:spcBef>
                          <a:spcPts val="0"/>
                        </a:spcBef>
                        <a:spcAft>
                          <a:spcPts val="0"/>
                        </a:spcAft>
                      </a:pPr>
                      <a:r>
                        <a:rPr sz="750" b="0"/>
                        <a:t>Train</a:t>
                      </a:r>
                    </a:p>
                  </a:txBody>
                  <a:tcPr/>
                </a:tc>
                <a:tc>
                  <a:txBody>
                    <a:bodyPr/>
                    <a:lstStyle/>
                    <a:p>
                      <a:pPr>
                        <a:spcBef>
                          <a:spcPts val="0"/>
                        </a:spcBef>
                        <a:spcAft>
                          <a:spcPts val="0"/>
                        </a:spcAft>
                      </a:pPr>
                      <a:r>
                        <a:rPr sz="750" b="0"/>
                        <a:t>5,287</a:t>
                      </a:r>
                    </a:p>
                  </a:txBody>
                  <a:tcPr/>
                </a:tc>
                <a:tc>
                  <a:txBody>
                    <a:bodyPr/>
                    <a:lstStyle/>
                    <a:p>
                      <a:pPr>
                        <a:spcBef>
                          <a:spcPts val="0"/>
                        </a:spcBef>
                        <a:spcAft>
                          <a:spcPts val="0"/>
                        </a:spcAft>
                      </a:pPr>
                      <a:r>
                        <a:rPr sz="750" b="0"/>
                        <a:t>432 (8.2%)</a:t>
                      </a:r>
                    </a:p>
                  </a:txBody>
                  <a:tcPr/>
                </a:tc>
                <a:tc>
                  <a:txBody>
                    <a:bodyPr/>
                    <a:lstStyle/>
                    <a:p>
                      <a:pPr>
                        <a:spcBef>
                          <a:spcPts val="0"/>
                        </a:spcBef>
                        <a:spcAft>
                          <a:spcPts val="0"/>
                        </a:spcAft>
                      </a:pPr>
                      <a:r>
                        <a:rPr sz="750" b="0"/>
                        <a:t>4,526 (85.6%)</a:t>
                      </a:r>
                    </a:p>
                  </a:txBody>
                  <a:tcPr/>
                </a:tc>
                <a:tc>
                  <a:txBody>
                    <a:bodyPr/>
                    <a:lstStyle/>
                    <a:p>
                      <a:pPr>
                        <a:spcBef>
                          <a:spcPts val="0"/>
                        </a:spcBef>
                        <a:spcAft>
                          <a:spcPts val="0"/>
                        </a:spcAft>
                      </a:pPr>
                      <a:r>
                        <a:rPr sz="750" b="0"/>
                        <a:t>329 (6.2%)</a:t>
                      </a:r>
                    </a:p>
                  </a:txBody>
                  <a:tcPr/>
                </a:tc>
              </a:tr>
              <a:tr h="210312">
                <a:tc>
                  <a:txBody>
                    <a:bodyPr/>
                    <a:lstStyle/>
                    <a:p>
                      <a:pPr>
                        <a:spcBef>
                          <a:spcPts val="0"/>
                        </a:spcBef>
                        <a:spcAft>
                          <a:spcPts val="0"/>
                        </a:spcAft>
                      </a:pPr>
                      <a:r>
                        <a:rPr sz="750" b="0"/>
                        <a:t>Val</a:t>
                      </a:r>
                    </a:p>
                  </a:txBody>
                  <a:tcPr/>
                </a:tc>
                <a:tc>
                  <a:txBody>
                    <a:bodyPr/>
                    <a:lstStyle/>
                    <a:p>
                      <a:pPr>
                        <a:spcBef>
                          <a:spcPts val="0"/>
                        </a:spcBef>
                        <a:spcAft>
                          <a:spcPts val="0"/>
                        </a:spcAft>
                      </a:pPr>
                      <a:r>
                        <a:rPr sz="750" b="0"/>
                        <a:t>579</a:t>
                      </a:r>
                    </a:p>
                  </a:txBody>
                  <a:tcPr/>
                </a:tc>
                <a:tc>
                  <a:txBody>
                    <a:bodyPr/>
                    <a:lstStyle/>
                    <a:p>
                      <a:pPr>
                        <a:spcBef>
                          <a:spcPts val="0"/>
                        </a:spcBef>
                        <a:spcAft>
                          <a:spcPts val="0"/>
                        </a:spcAft>
                      </a:pPr>
                      <a:r>
                        <a:rPr sz="750" b="0"/>
                        <a:t>72 (12.4%)</a:t>
                      </a:r>
                    </a:p>
                  </a:txBody>
                  <a:tcPr/>
                </a:tc>
                <a:tc>
                  <a:txBody>
                    <a:bodyPr/>
                    <a:lstStyle/>
                    <a:p>
                      <a:pPr>
                        <a:spcBef>
                          <a:spcPts val="0"/>
                        </a:spcBef>
                        <a:spcAft>
                          <a:spcPts val="0"/>
                        </a:spcAft>
                      </a:pPr>
                      <a:r>
                        <a:rPr sz="750" b="0"/>
                        <a:t>477 (82.4%)</a:t>
                      </a:r>
                    </a:p>
                  </a:txBody>
                  <a:tcPr/>
                </a:tc>
                <a:tc>
                  <a:txBody>
                    <a:bodyPr/>
                    <a:lstStyle/>
                    <a:p>
                      <a:pPr>
                        <a:spcBef>
                          <a:spcPts val="0"/>
                        </a:spcBef>
                        <a:spcAft>
                          <a:spcPts val="0"/>
                        </a:spcAft>
                      </a:pPr>
                      <a:r>
                        <a:rPr sz="750" b="0"/>
                        <a:t>30 (5.2%)</a:t>
                      </a:r>
                    </a:p>
                  </a:txBody>
                  <a:tcPr/>
                </a:tc>
              </a:tr>
              <a:tr h="210312">
                <a:tc>
                  <a:txBody>
                    <a:bodyPr/>
                    <a:lstStyle/>
                    <a:p>
                      <a:pPr>
                        <a:spcBef>
                          <a:spcPts val="0"/>
                        </a:spcBef>
                        <a:spcAft>
                          <a:spcPts val="0"/>
                        </a:spcAft>
                      </a:pPr>
                      <a:r>
                        <a:rPr sz="750" b="0"/>
                        <a:t>Test</a:t>
                      </a:r>
                    </a:p>
                  </a:txBody>
                  <a:tcPr/>
                </a:tc>
                <a:tc>
                  <a:txBody>
                    <a:bodyPr/>
                    <a:lstStyle/>
                    <a:p>
                      <a:pPr>
                        <a:spcBef>
                          <a:spcPts val="0"/>
                        </a:spcBef>
                        <a:spcAft>
                          <a:spcPts val="0"/>
                        </a:spcAft>
                      </a:pPr>
                      <a:r>
                        <a:rPr sz="750" b="0"/>
                        <a:t>929</a:t>
                      </a:r>
                    </a:p>
                  </a:txBody>
                  <a:tcPr/>
                </a:tc>
                <a:tc>
                  <a:txBody>
                    <a:bodyPr/>
                    <a:lstStyle/>
                    <a:p>
                      <a:pPr>
                        <a:spcBef>
                          <a:spcPts val="0"/>
                        </a:spcBef>
                        <a:spcAft>
                          <a:spcPts val="0"/>
                        </a:spcAft>
                      </a:pPr>
                      <a:r>
                        <a:rPr sz="750" b="0"/>
                        <a:t>186 (20.0%)</a:t>
                      </a:r>
                    </a:p>
                  </a:txBody>
                  <a:tcPr/>
                </a:tc>
                <a:tc>
                  <a:txBody>
                    <a:bodyPr/>
                    <a:lstStyle/>
                    <a:p>
                      <a:pPr>
                        <a:spcBef>
                          <a:spcPts val="0"/>
                        </a:spcBef>
                        <a:spcAft>
                          <a:spcPts val="0"/>
                        </a:spcAft>
                      </a:pPr>
                      <a:r>
                        <a:rPr sz="750" b="0"/>
                        <a:t>688 (74.1%)</a:t>
                      </a:r>
                    </a:p>
                  </a:txBody>
                  <a:tcPr/>
                </a:tc>
                <a:tc>
                  <a:txBody>
                    <a:bodyPr/>
                    <a:lstStyle/>
                    <a:p>
                      <a:pPr>
                        <a:spcBef>
                          <a:spcPts val="0"/>
                        </a:spcBef>
                        <a:spcAft>
                          <a:spcPts val="0"/>
                        </a:spcAft>
                      </a:pPr>
                      <a:r>
                        <a:rPr sz="750" b="0"/>
                        <a:t>55 (5.9%)</a:t>
                      </a:r>
                    </a:p>
                  </a:txBody>
                  <a:tcPr/>
                </a:tc>
              </a:tr>
              <a:tr h="210312">
                <a:tc>
                  <a:txBody>
                    <a:bodyPr/>
                    <a:lstStyle/>
                    <a:p>
                      <a:pPr>
                        <a:spcBef>
                          <a:spcPts val="0"/>
                        </a:spcBef>
                        <a:spcAft>
                          <a:spcPts val="0"/>
                        </a:spcAft>
                      </a:pPr>
                      <a:r>
                        <a:rPr sz="750" b="1"/>
                        <a:t>Total</a:t>
                      </a:r>
                    </a:p>
                  </a:txBody>
                  <a:tcPr/>
                </a:tc>
                <a:tc>
                  <a:txBody>
                    <a:bodyPr/>
                    <a:lstStyle/>
                    <a:p>
                      <a:pPr>
                        <a:spcBef>
                          <a:spcPts val="0"/>
                        </a:spcBef>
                        <a:spcAft>
                          <a:spcPts val="0"/>
                        </a:spcAft>
                      </a:pPr>
                      <a:r>
                        <a:rPr sz="750" b="1"/>
                        <a:t>6,795</a:t>
                      </a:r>
                    </a:p>
                  </a:txBody>
                  <a:tcPr/>
                </a:tc>
                <a:tc>
                  <a:txBody>
                    <a:bodyPr/>
                    <a:lstStyle/>
                    <a:p>
                      <a:pPr>
                        <a:spcBef>
                          <a:spcPts val="0"/>
                        </a:spcBef>
                        <a:spcAft>
                          <a:spcPts val="0"/>
                        </a:spcAft>
                      </a:pPr>
                      <a:r>
                        <a:rPr sz="750" b="1"/>
                        <a:t>690 (10.2%)</a:t>
                      </a:r>
                    </a:p>
                  </a:txBody>
                  <a:tcPr/>
                </a:tc>
                <a:tc>
                  <a:txBody>
                    <a:bodyPr/>
                    <a:lstStyle/>
                    <a:p>
                      <a:pPr>
                        <a:spcBef>
                          <a:spcPts val="0"/>
                        </a:spcBef>
                        <a:spcAft>
                          <a:spcPts val="0"/>
                        </a:spcAft>
                      </a:pPr>
                      <a:r>
                        <a:rPr sz="750" b="1"/>
                        <a:t>5,691 (83.8%)</a:t>
                      </a:r>
                    </a:p>
                  </a:txBody>
                  <a:tcPr/>
                </a:tc>
                <a:tc>
                  <a:txBody>
                    <a:bodyPr/>
                    <a:lstStyle/>
                    <a:p>
                      <a:pPr>
                        <a:spcBef>
                          <a:spcPts val="0"/>
                        </a:spcBef>
                        <a:spcAft>
                          <a:spcPts val="0"/>
                        </a:spcAft>
                      </a:pPr>
                      <a:r>
                        <a:rPr sz="750" b="1"/>
                        <a:t>414 (6.1%)</a:t>
                      </a:r>
                    </a:p>
                  </a:txBody>
                  <a:tcPr/>
                </a:tc>
              </a:tr>
            </a:tbl>
          </a:graphicData>
        </a:graphic>
      </p:graphicFrame>
      <p:sp>
        <p:nvSpPr>
          <p:cNvPr id="12" name="TextBox 11"/>
          <p:cNvSpPr txBox="1"/>
          <p:nvPr/>
        </p:nvSpPr>
        <p:spPr>
          <a:xfrm>
            <a:off x="4572000" y="4005072"/>
            <a:ext cx="4297680" cy="0"/>
          </a:xfrm>
          <a:prstGeom prst="rect">
            <a:avLst/>
          </a:prstGeom>
          <a:noFill/>
        </p:spPr>
        <p:txBody>
          <a:bodyPr wrap="square" lIns="0">
            <a:spAutoFit/>
          </a:bodyPr>
          <a:lstStyle/>
          <a:p>
            <a:r>
              <a:rPr sz="1000" b="1"/>
              <a:t>Imbalance Ratio (max/min):</a:t>
            </a:r>
          </a:p>
          <a:p>
            <a:r>
              <a:rPr sz="850" b="0"/>
              <a:t>  7-class:  1,138:1</a:t>
            </a:r>
          </a:p>
          <a:p>
            <a:r>
              <a:rPr sz="850" b="0"/>
              <a:t>  4-class:  62:1</a:t>
            </a:r>
          </a:p>
          <a:p>
            <a:r>
              <a:rPr sz="850" b="1">
                <a:solidFill>
                  <a:srgbClr val="1B7A2B"/>
                </a:solidFill>
              </a:rPr>
              <a:t>  3-class:  14:1  &lt;&lt; jauh lebih balanced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36 (lanjutan): 3-Class Best Model — Late Fusion TL B3</a:t>
            </a:r>
          </a:p>
        </p:txBody>
      </p:sp>
      <p:sp>
        <p:nvSpPr>
          <p:cNvPr id="3" name="TextBox 2"/>
          <p:cNvSpPr txBox="1"/>
          <p:nvPr/>
        </p:nvSpPr>
        <p:spPr>
          <a:xfrm>
            <a:off x="274320" y="457200"/>
            <a:ext cx="8595360" cy="256032"/>
          </a:xfrm>
          <a:prstGeom prst="rect">
            <a:avLst/>
          </a:prstGeom>
          <a:noFill/>
        </p:spPr>
        <p:txBody>
          <a:bodyPr wrap="square" lIns="0" rIns="0" tIns="0" bIns="0">
            <a:spAutoFit/>
          </a:bodyPr>
          <a:lstStyle/>
          <a:p>
            <a:r>
              <a:rPr sz="1000" b="1">
                <a:solidFill>
                  <a:srgbClr val="1F3A5F"/>
                </a:solidFill>
              </a:rPr>
              <a:t>Val Macro = 0.623  |  Test Macro = 0.637  |  Test Acc = 0.784  |  w_best = 0.15</a:t>
            </a:r>
          </a:p>
        </p:txBody>
      </p:sp>
      <p:sp>
        <p:nvSpPr>
          <p:cNvPr id="4" name="TextBox 3"/>
          <p:cNvSpPr txBox="1"/>
          <p:nvPr/>
        </p:nvSpPr>
        <p:spPr>
          <a:xfrm>
            <a:off x="274320" y="804672"/>
            <a:ext cx="3931920" cy="256032"/>
          </a:xfrm>
          <a:prstGeom prst="rect">
            <a:avLst/>
          </a:prstGeom>
          <a:noFill/>
        </p:spPr>
        <p:txBody>
          <a:bodyPr wrap="square" lIns="0" rIns="0" tIns="0" bIns="0">
            <a:spAutoFit/>
          </a:bodyPr>
          <a:lstStyle/>
          <a:p>
            <a:r>
              <a:rPr sz="1000" b="1"/>
              <a:t>Per-Class Metrics</a:t>
            </a:r>
          </a:p>
        </p:txBody>
      </p:sp>
      <p:graphicFrame>
        <p:nvGraphicFramePr>
          <p:cNvPr id="5" name="Table 4"/>
          <p:cNvGraphicFramePr>
            <a:graphicFrameLocks noGrp="1"/>
          </p:cNvGraphicFramePr>
          <p:nvPr/>
        </p:nvGraphicFramePr>
        <p:xfrm>
          <a:off x="274320" y="1078992"/>
          <a:ext cx="3931920" cy="1645920"/>
        </p:xfrm>
        <a:graphic>
          <a:graphicData uri="http://schemas.openxmlformats.org/drawingml/2006/table">
            <a:tbl>
              <a:tblPr firstRow="1" bandRow="1">
                <a:tableStyleId>{5C22544A-7EE6-4342-B048-85BDC9FD1C3A}</a:tableStyleId>
              </a:tblPr>
              <a:tblGrid>
                <a:gridCol w="786384"/>
                <a:gridCol w="786384"/>
                <a:gridCol w="786384"/>
                <a:gridCol w="786384"/>
                <a:gridCol w="786384"/>
              </a:tblGrid>
              <a:tr h="274320">
                <a:tc>
                  <a:txBody>
                    <a:bodyPr/>
                    <a:lstStyle/>
                    <a:p>
                      <a:r>
                        <a:rPr sz="900" b="1"/>
                        <a:t>Class</a:t>
                      </a:r>
                    </a:p>
                  </a:txBody>
                  <a:tcPr/>
                </a:tc>
                <a:tc>
                  <a:txBody>
                    <a:bodyPr/>
                    <a:lstStyle/>
                    <a:p>
                      <a:r>
                        <a:rPr sz="900" b="1"/>
                        <a:t>Prec</a:t>
                      </a:r>
                    </a:p>
                  </a:txBody>
                  <a:tcPr/>
                </a:tc>
                <a:tc>
                  <a:txBody>
                    <a:bodyPr/>
                    <a:lstStyle/>
                    <a:p>
                      <a:r>
                        <a:rPr sz="900" b="1"/>
                        <a:t>Recall</a:t>
                      </a:r>
                    </a:p>
                  </a:txBody>
                  <a:tcPr/>
                </a:tc>
                <a:tc>
                  <a:txBody>
                    <a:bodyPr/>
                    <a:lstStyle/>
                    <a:p>
                      <a:r>
                        <a:rPr sz="900" b="1"/>
                        <a:t>F1</a:t>
                      </a:r>
                    </a:p>
                  </a:txBody>
                  <a:tcPr/>
                </a:tc>
                <a:tc>
                  <a:txBody>
                    <a:bodyPr/>
                    <a:lstStyle/>
                    <a:p>
                      <a:r>
                        <a:rPr sz="900" b="1"/>
                        <a:t>Support</a:t>
                      </a:r>
                    </a:p>
                  </a:txBody>
                  <a:tcPr/>
                </a:tc>
              </a:tr>
              <a:tr h="274320">
                <a:tc>
                  <a:txBody>
                    <a:bodyPr/>
                    <a:lstStyle/>
                    <a:p>
                      <a:r>
                        <a:rPr sz="900" b="0"/>
                        <a:t>positive</a:t>
                      </a:r>
                    </a:p>
                  </a:txBody>
                  <a:tcPr/>
                </a:tc>
                <a:tc>
                  <a:txBody>
                    <a:bodyPr/>
                    <a:lstStyle/>
                    <a:p>
                      <a:r>
                        <a:rPr sz="900" b="0"/>
                        <a:t>0.607</a:t>
                      </a:r>
                    </a:p>
                  </a:txBody>
                  <a:tcPr/>
                </a:tc>
                <a:tc>
                  <a:txBody>
                    <a:bodyPr/>
                    <a:lstStyle/>
                    <a:p>
                      <a:r>
                        <a:rPr sz="900" b="0"/>
                        <a:t>0.930</a:t>
                      </a:r>
                    </a:p>
                  </a:txBody>
                  <a:tcPr/>
                </a:tc>
                <a:tc>
                  <a:txBody>
                    <a:bodyPr/>
                    <a:lstStyle/>
                    <a:p>
                      <a:r>
                        <a:rPr sz="900" b="0"/>
                        <a:t>0.735</a:t>
                      </a:r>
                    </a:p>
                  </a:txBody>
                  <a:tcPr/>
                </a:tc>
                <a:tc>
                  <a:txBody>
                    <a:bodyPr/>
                    <a:lstStyle/>
                    <a:p>
                      <a:r>
                        <a:rPr sz="900" b="0"/>
                        <a:t>186</a:t>
                      </a:r>
                    </a:p>
                  </a:txBody>
                  <a:tcPr/>
                </a:tc>
              </a:tr>
              <a:tr h="274320">
                <a:tc>
                  <a:txBody>
                    <a:bodyPr/>
                    <a:lstStyle/>
                    <a:p>
                      <a:r>
                        <a:rPr sz="900" b="0"/>
                        <a:t>neutral</a:t>
                      </a:r>
                    </a:p>
                  </a:txBody>
                  <a:tcPr/>
                </a:tc>
                <a:tc>
                  <a:txBody>
                    <a:bodyPr/>
                    <a:lstStyle/>
                    <a:p>
                      <a:r>
                        <a:rPr sz="900" b="0"/>
                        <a:t>0.935</a:t>
                      </a:r>
                    </a:p>
                  </a:txBody>
                  <a:tcPr/>
                </a:tc>
                <a:tc>
                  <a:txBody>
                    <a:bodyPr/>
                    <a:lstStyle/>
                    <a:p>
                      <a:r>
                        <a:rPr sz="900" b="0"/>
                        <a:t>0.776</a:t>
                      </a:r>
                    </a:p>
                  </a:txBody>
                  <a:tcPr/>
                </a:tc>
                <a:tc>
                  <a:txBody>
                    <a:bodyPr/>
                    <a:lstStyle/>
                    <a:p>
                      <a:r>
                        <a:rPr sz="900" b="0"/>
                        <a:t>0.848</a:t>
                      </a:r>
                    </a:p>
                  </a:txBody>
                  <a:tcPr/>
                </a:tc>
                <a:tc>
                  <a:txBody>
                    <a:bodyPr/>
                    <a:lstStyle/>
                    <a:p>
                      <a:r>
                        <a:rPr sz="900" b="0"/>
                        <a:t>688</a:t>
                      </a:r>
                    </a:p>
                  </a:txBody>
                  <a:tcPr/>
                </a:tc>
              </a:tr>
              <a:tr h="274320">
                <a:tc>
                  <a:txBody>
                    <a:bodyPr/>
                    <a:lstStyle/>
                    <a:p>
                      <a:r>
                        <a:rPr sz="900" b="0"/>
                        <a:t>negative</a:t>
                      </a:r>
                    </a:p>
                  </a:txBody>
                  <a:tcPr/>
                </a:tc>
                <a:tc>
                  <a:txBody>
                    <a:bodyPr/>
                    <a:lstStyle/>
                    <a:p>
                      <a:r>
                        <a:rPr sz="900" b="0"/>
                        <a:t>0.288</a:t>
                      </a:r>
                    </a:p>
                  </a:txBody>
                  <a:tcPr/>
                </a:tc>
                <a:tc>
                  <a:txBody>
                    <a:bodyPr/>
                    <a:lstStyle/>
                    <a:p>
                      <a:r>
                        <a:rPr sz="900" b="0"/>
                        <a:t>0.382</a:t>
                      </a:r>
                    </a:p>
                  </a:txBody>
                  <a:tcPr/>
                </a:tc>
                <a:tc>
                  <a:txBody>
                    <a:bodyPr/>
                    <a:lstStyle/>
                    <a:p>
                      <a:r>
                        <a:rPr sz="900" b="0"/>
                        <a:t>0.328</a:t>
                      </a:r>
                    </a:p>
                  </a:txBody>
                  <a:tcPr/>
                </a:tc>
                <a:tc>
                  <a:txBody>
                    <a:bodyPr/>
                    <a:lstStyle/>
                    <a:p>
                      <a:r>
                        <a:rPr sz="900" b="0"/>
                        <a:t>55</a:t>
                      </a:r>
                    </a:p>
                  </a:txBody>
                  <a:tcPr/>
                </a:tc>
              </a:tr>
              <a:tr h="274320">
                <a:tc>
                  <a:txBody>
                    <a:bodyPr/>
                    <a:lstStyle/>
                    <a:p>
                      <a:r>
                        <a:rPr sz="900" b="1"/>
                        <a:t>Macro avg</a:t>
                      </a:r>
                    </a:p>
                  </a:txBody>
                  <a:tcPr/>
                </a:tc>
                <a:tc>
                  <a:txBody>
                    <a:bodyPr/>
                    <a:lstStyle/>
                    <a:p>
                      <a:r>
                        <a:rPr sz="900" b="1"/>
                        <a:t>0.610</a:t>
                      </a:r>
                    </a:p>
                  </a:txBody>
                  <a:tcPr/>
                </a:tc>
                <a:tc>
                  <a:txBody>
                    <a:bodyPr/>
                    <a:lstStyle/>
                    <a:p>
                      <a:r>
                        <a:rPr sz="900" b="1"/>
                        <a:t>0.696</a:t>
                      </a:r>
                    </a:p>
                  </a:txBody>
                  <a:tcPr/>
                </a:tc>
                <a:tc>
                  <a:txBody>
                    <a:bodyPr/>
                    <a:lstStyle/>
                    <a:p>
                      <a:r>
                        <a:rPr sz="900" b="1"/>
                        <a:t>0.637</a:t>
                      </a:r>
                    </a:p>
                  </a:txBody>
                  <a:tcPr/>
                </a:tc>
                <a:tc>
                  <a:txBody>
                    <a:bodyPr/>
                    <a:lstStyle/>
                    <a:p>
                      <a:r>
                        <a:rPr sz="900" b="1"/>
                        <a:t>929</a:t>
                      </a:r>
                    </a:p>
                  </a:txBody>
                  <a:tcPr/>
                </a:tc>
              </a:tr>
              <a:tr h="274320">
                <a:tc>
                  <a:txBody>
                    <a:bodyPr/>
                    <a:lstStyle/>
                    <a:p>
                      <a:r>
                        <a:rPr sz="900" b="1"/>
                        <a:t>Weighted avg</a:t>
                      </a:r>
                    </a:p>
                  </a:txBody>
                  <a:tcPr/>
                </a:tc>
                <a:tc>
                  <a:txBody>
                    <a:bodyPr/>
                    <a:lstStyle/>
                    <a:p>
                      <a:r>
                        <a:rPr sz="900" b="1"/>
                        <a:t>0.844</a:t>
                      </a:r>
                    </a:p>
                  </a:txBody>
                  <a:tcPr/>
                </a:tc>
                <a:tc>
                  <a:txBody>
                    <a:bodyPr/>
                    <a:lstStyle/>
                    <a:p>
                      <a:r>
                        <a:rPr sz="900" b="1"/>
                        <a:t>0.784</a:t>
                      </a:r>
                    </a:p>
                  </a:txBody>
                  <a:tcPr/>
                </a:tc>
                <a:tc>
                  <a:txBody>
                    <a:bodyPr/>
                    <a:lstStyle/>
                    <a:p>
                      <a:r>
                        <a:rPr sz="900" b="1"/>
                        <a:t>0.795</a:t>
                      </a:r>
                    </a:p>
                  </a:txBody>
                  <a:tcPr/>
                </a:tc>
                <a:tc>
                  <a:txBody>
                    <a:bodyPr/>
                    <a:lstStyle/>
                    <a:p>
                      <a:r>
                        <a:rPr sz="900" b="1"/>
                        <a:t>929</a:t>
                      </a:r>
                    </a:p>
                  </a:txBody>
                  <a:tcPr/>
                </a:tc>
              </a:tr>
            </a:tbl>
          </a:graphicData>
        </a:graphic>
      </p:graphicFrame>
      <p:pic>
        <p:nvPicPr>
          <p:cNvPr id="6" name="Picture 5" descr="confusion_matrix_3class.png"/>
          <p:cNvPicPr>
            <a:picLocks noChangeAspect="1"/>
          </p:cNvPicPr>
          <p:nvPr/>
        </p:nvPicPr>
        <p:blipFill>
          <a:blip r:embed="rId2"/>
          <a:stretch>
            <a:fillRect/>
          </a:stretch>
        </p:blipFill>
        <p:spPr>
          <a:xfrm>
            <a:off x="4572000" y="822960"/>
            <a:ext cx="4389120" cy="3246120"/>
          </a:xfrm>
          <a:prstGeom prst="rect">
            <a:avLst/>
          </a:prstGeom>
        </p:spPr>
      </p:pic>
      <p:sp>
        <p:nvSpPr>
          <p:cNvPr id="7" name="TextBox 6"/>
          <p:cNvSpPr txBox="1"/>
          <p:nvPr/>
        </p:nvSpPr>
        <p:spPr>
          <a:xfrm>
            <a:off x="274320" y="2926080"/>
            <a:ext cx="3931920" cy="2148840"/>
          </a:xfrm>
          <a:prstGeom prst="rect">
            <a:avLst/>
          </a:prstGeom>
          <a:noFill/>
        </p:spPr>
        <p:txBody>
          <a:bodyPr wrap="square" lIns="0" rIns="0" tIns="0" bIns="0">
            <a:spAutoFit/>
          </a:bodyPr>
          <a:lstStyle/>
          <a:p>
            <a:r>
              <a:rPr sz="1000" b="1"/>
              <a:t>Misclassification Pattern</a:t>
            </a:r>
          </a:p>
          <a:p>
            <a:r>
              <a:rPr sz="300" b="0"/>
              <a:t/>
            </a:r>
          </a:p>
          <a:p>
            <a:r>
              <a:rPr sz="850" b="0"/>
              <a:t>• neutral → positive: 105 (15.3%) — dominant, subtle smile reactions</a:t>
            </a:r>
          </a:p>
          <a:p>
            <a:r>
              <a:rPr sz="850" b="0"/>
              <a:t>• negative → neutral: 27 (49.1% of negative) — frustrasi mild ≈ deep focus</a:t>
            </a:r>
          </a:p>
          <a:p>
            <a:r>
              <a:rPr sz="850" b="0"/>
              <a:t>• neutral → negative: 49 (7.1%)</a:t>
            </a:r>
          </a:p>
          <a:p>
            <a:r>
              <a:rPr sz="850" b="0"/>
              <a:t>• Cross-valence confusion total: 13 (1.4%) — rendah</a:t>
            </a:r>
          </a:p>
          <a:p>
            <a:r>
              <a:rPr sz="400" b="0"/>
              <a:t/>
            </a:r>
          </a:p>
          <a:p>
            <a:r>
              <a:rPr sz="900" b="1"/>
              <a:t>Strong valence discrimination:</a:t>
            </a:r>
          </a:p>
          <a:p>
            <a:r>
              <a:rPr sz="850" b="0"/>
              <a:t>positive ↔ negative confusion hampir nol. Konsisten Russell 1980 — valence dimension paling prominent.</a:t>
            </a:r>
          </a:p>
          <a:p>
            <a:r>
              <a:rPr sz="850" b="0"/>
              <a:t>Negative recall rendah (0.382) karena boundary neutral-negative ambiguous di natural data.</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700" b="1"/>
              <a:t>SLIDE 37: 3-Class Full Grid + Geometric Features (nb 79+81+82)</a:t>
            </a:r>
          </a:p>
        </p:txBody>
      </p:sp>
      <p:sp>
        <p:nvSpPr>
          <p:cNvPr id="3" name="TextBox 2"/>
          <p:cNvSpPr txBox="1"/>
          <p:nvPr/>
        </p:nvSpPr>
        <p:spPr>
          <a:xfrm>
            <a:off x="274320" y="457200"/>
            <a:ext cx="8595360" cy="274320"/>
          </a:xfrm>
          <a:prstGeom prst="rect">
            <a:avLst/>
          </a:prstGeom>
          <a:noFill/>
        </p:spPr>
        <p:txBody>
          <a:bodyPr wrap="square" lIns="0" rIns="0" tIns="0" bIns="0">
            <a:spAutoFit/>
          </a:bodyPr>
          <a:lstStyle/>
          <a:p>
            <a:r>
              <a:rPr sz="950" b="0">
                <a:solidFill>
                  <a:srgbClr val="555555"/>
                </a:solidFill>
              </a:rPr>
              <a:t>Pasca nb 82, 27-config grid 3-class lengkap (mirror 7-class earlier). Top-5 by val didominasi Late Fusion.</a:t>
            </a:r>
          </a:p>
        </p:txBody>
      </p:sp>
      <p:sp>
        <p:nvSpPr>
          <p:cNvPr id="4" name="TextBox 3"/>
          <p:cNvSpPr txBox="1"/>
          <p:nvPr/>
        </p:nvSpPr>
        <p:spPr>
          <a:xfrm>
            <a:off x="274320" y="804672"/>
            <a:ext cx="4206240" cy="256032"/>
          </a:xfrm>
          <a:prstGeom prst="rect">
            <a:avLst/>
          </a:prstGeom>
          <a:noFill/>
        </p:spPr>
        <p:txBody>
          <a:bodyPr wrap="square" lIns="0" rIns="0" tIns="0" bIns="0">
            <a:spAutoFit/>
          </a:bodyPr>
          <a:lstStyle/>
          <a:p>
            <a:r>
              <a:rPr sz="1100" b="1"/>
              <a:t>Top-5 Ranking (val-based, 27 configs)</a:t>
            </a:r>
          </a:p>
        </p:txBody>
      </p:sp>
      <p:graphicFrame>
        <p:nvGraphicFramePr>
          <p:cNvPr id="5" name="Table 4"/>
          <p:cNvGraphicFramePr>
            <a:graphicFrameLocks noGrp="1"/>
          </p:cNvGraphicFramePr>
          <p:nvPr/>
        </p:nvGraphicFramePr>
        <p:xfrm>
          <a:off x="274320" y="1078992"/>
          <a:ext cx="4206240" cy="1691640"/>
        </p:xfrm>
        <a:graphic>
          <a:graphicData uri="http://schemas.openxmlformats.org/drawingml/2006/table">
            <a:tbl>
              <a:tblPr firstRow="1" bandRow="1">
                <a:tableStyleId>{5C22544A-7EE6-4342-B048-85BDC9FD1C3A}</a:tableStyleId>
              </a:tblPr>
              <a:tblGrid>
                <a:gridCol w="1051560"/>
                <a:gridCol w="1051560"/>
                <a:gridCol w="1051560"/>
              </a:tblGrid>
              <a:tr h="281940">
                <a:tc>
                  <a:txBody>
                    <a:bodyPr/>
                    <a:lstStyle/>
                    <a:p>
                      <a:r>
                        <a:rPr sz="900" b="1"/>
                        <a:t>Rank</a:t>
                      </a:r>
                    </a:p>
                  </a:txBody>
                  <a:tcPr/>
                </a:tc>
                <a:tc>
                  <a:txBody>
                    <a:bodyPr/>
                    <a:lstStyle/>
                    <a:p>
                      <a:r>
                        <a:rPr sz="900" b="1"/>
                        <a:t>Config</a:t>
                      </a:r>
                    </a:p>
                  </a:txBody>
                  <a:tcPr/>
                </a:tc>
                <a:tc>
                  <a:txBody>
                    <a:bodyPr/>
                    <a:lstStyle/>
                    <a:p>
                      <a:r>
                        <a:rPr sz="900" b="1"/>
                        <a:t>Val F1</a:t>
                      </a:r>
                    </a:p>
                  </a:txBody>
                  <a:tcPr/>
                </a:tc>
              </a:tr>
              <a:tr h="281940">
                <a:tc>
                  <a:txBody>
                    <a:bodyPr/>
                    <a:lstStyle/>
                    <a:p>
                      <a:r>
                        <a:rPr sz="900" b="1"/>
                        <a:t>1 ⭐</a:t>
                      </a:r>
                    </a:p>
                  </a:txBody>
                  <a:tcPr/>
                </a:tc>
                <a:tc>
                  <a:txBody>
                    <a:bodyPr/>
                    <a:lstStyle/>
                    <a:p>
                      <a:r>
                        <a:rPr sz="900" b="1"/>
                        <a:t>Late Fusion TL B3</a:t>
                      </a:r>
                    </a:p>
                  </a:txBody>
                  <a:tcPr/>
                </a:tc>
                <a:tc>
                  <a:txBody>
                    <a:bodyPr/>
                    <a:lstStyle/>
                    <a:p>
                      <a:r>
                        <a:rPr sz="900" b="1"/>
                        <a:t>0.6229</a:t>
                      </a:r>
                    </a:p>
                  </a:txBody>
                  <a:tcPr/>
                </a:tc>
              </a:tr>
              <a:tr h="281940">
                <a:tc>
                  <a:txBody>
                    <a:bodyPr/>
                    <a:lstStyle/>
                    <a:p>
                      <a:r>
                        <a:rPr sz="900" b="0"/>
                        <a:t>2</a:t>
                      </a:r>
                    </a:p>
                  </a:txBody>
                  <a:tcPr/>
                </a:tc>
                <a:tc>
                  <a:txBody>
                    <a:bodyPr/>
                    <a:lstStyle/>
                    <a:p>
                      <a:r>
                        <a:rPr sz="900" b="0"/>
                        <a:t>Late Fusion TL B1</a:t>
                      </a:r>
                    </a:p>
                  </a:txBody>
                  <a:tcPr/>
                </a:tc>
                <a:tc>
                  <a:txBody>
                    <a:bodyPr/>
                    <a:lstStyle/>
                    <a:p>
                      <a:r>
                        <a:rPr sz="900" b="0"/>
                        <a:t>0.6093</a:t>
                      </a:r>
                    </a:p>
                  </a:txBody>
                  <a:tcPr/>
                </a:tc>
              </a:tr>
              <a:tr h="281940">
                <a:tc>
                  <a:txBody>
                    <a:bodyPr/>
                    <a:lstStyle/>
                    <a:p>
                      <a:r>
                        <a:rPr sz="900" b="0"/>
                        <a:t>3</a:t>
                      </a:r>
                    </a:p>
                  </a:txBody>
                  <a:tcPr/>
                </a:tc>
                <a:tc>
                  <a:txBody>
                    <a:bodyPr/>
                    <a:lstStyle/>
                    <a:p>
                      <a:r>
                        <a:rPr sz="900" b="0"/>
                        <a:t>Late Fusion scratch B3</a:t>
                      </a:r>
                    </a:p>
                  </a:txBody>
                  <a:tcPr/>
                </a:tc>
                <a:tc>
                  <a:txBody>
                    <a:bodyPr/>
                    <a:lstStyle/>
                    <a:p>
                      <a:r>
                        <a:rPr sz="900" b="0"/>
                        <a:t>0.6085</a:t>
                      </a:r>
                    </a:p>
                  </a:txBody>
                  <a:tcPr/>
                </a:tc>
              </a:tr>
              <a:tr h="281940">
                <a:tc>
                  <a:txBody>
                    <a:bodyPr/>
                    <a:lstStyle/>
                    <a:p>
                      <a:r>
                        <a:rPr sz="900" b="0"/>
                        <a:t>4</a:t>
                      </a:r>
                    </a:p>
                  </a:txBody>
                  <a:tcPr/>
                </a:tc>
                <a:tc>
                  <a:txBody>
                    <a:bodyPr/>
                    <a:lstStyle/>
                    <a:p>
                      <a:r>
                        <a:rPr sz="900" b="0"/>
                        <a:t>Late Fusion scratch B1</a:t>
                      </a:r>
                    </a:p>
                  </a:txBody>
                  <a:tcPr/>
                </a:tc>
                <a:tc>
                  <a:txBody>
                    <a:bodyPr/>
                    <a:lstStyle/>
                    <a:p>
                      <a:r>
                        <a:rPr sz="900" b="0"/>
                        <a:t>0.6065</a:t>
                      </a:r>
                    </a:p>
                  </a:txBody>
                  <a:tcPr/>
                </a:tc>
              </a:tr>
              <a:tr h="281940">
                <a:tc>
                  <a:txBody>
                    <a:bodyPr/>
                    <a:lstStyle/>
                    <a:p>
                      <a:r>
                        <a:rPr sz="900" b="0"/>
                        <a:t>5</a:t>
                      </a:r>
                    </a:p>
                  </a:txBody>
                  <a:tcPr/>
                </a:tc>
                <a:tc>
                  <a:txBody>
                    <a:bodyPr/>
                    <a:lstStyle/>
                    <a:p>
                      <a:r>
                        <a:rPr sz="900" b="0"/>
                        <a:t>Late Fusion scratch B2</a:t>
                      </a:r>
                    </a:p>
                  </a:txBody>
                  <a:tcPr/>
                </a:tc>
                <a:tc>
                  <a:txBody>
                    <a:bodyPr/>
                    <a:lstStyle/>
                    <a:p>
                      <a:r>
                        <a:rPr sz="900" b="0"/>
                        <a:t>0.6000</a:t>
                      </a:r>
                    </a:p>
                  </a:txBody>
                  <a:tcPr/>
                </a:tc>
              </a:tr>
            </a:tbl>
          </a:graphicData>
        </a:graphic>
      </p:graphicFrame>
      <p:sp>
        <p:nvSpPr>
          <p:cNvPr id="6" name="TextBox 5"/>
          <p:cNvSpPr txBox="1"/>
          <p:nvPr/>
        </p:nvSpPr>
        <p:spPr>
          <a:xfrm>
            <a:off x="4663440" y="804672"/>
            <a:ext cx="4206240" cy="256032"/>
          </a:xfrm>
          <a:prstGeom prst="rect">
            <a:avLst/>
          </a:prstGeom>
          <a:noFill/>
        </p:spPr>
        <p:txBody>
          <a:bodyPr wrap="square" lIns="0" rIns="0" tIns="0" bIns="0">
            <a:spAutoFit/>
          </a:bodyPr>
          <a:lstStyle/>
          <a:p>
            <a:r>
              <a:rPr sz="1100" b="1"/>
              <a:t>Geometric Features (Liliana 2019, nb 81)</a:t>
            </a:r>
          </a:p>
        </p:txBody>
      </p:sp>
      <p:sp>
        <p:nvSpPr>
          <p:cNvPr id="7" name="TextBox 6"/>
          <p:cNvSpPr txBox="1"/>
          <p:nvPr/>
        </p:nvSpPr>
        <p:spPr>
          <a:xfrm>
            <a:off x="4663440" y="1078992"/>
            <a:ext cx="4206240" cy="274320"/>
          </a:xfrm>
          <a:prstGeom prst="rect">
            <a:avLst/>
          </a:prstGeom>
          <a:noFill/>
        </p:spPr>
        <p:txBody>
          <a:bodyPr wrap="square" lIns="0" rIns="0" tIns="0" bIns="0">
            <a:spAutoFit/>
          </a:bodyPr>
          <a:lstStyle/>
          <a:p>
            <a:r>
              <a:rPr sz="900" b="1">
                <a:solidFill>
                  <a:srgbClr val="A87143"/>
                </a:solidFill>
              </a:rPr>
              <a:t>untuk tesis, bukan paper JITeCS</a:t>
            </a:r>
          </a:p>
        </p:txBody>
      </p:sp>
      <p:graphicFrame>
        <p:nvGraphicFramePr>
          <p:cNvPr id="8" name="Table 7"/>
          <p:cNvGraphicFramePr>
            <a:graphicFrameLocks noGrp="1"/>
          </p:cNvGraphicFramePr>
          <p:nvPr/>
        </p:nvGraphicFramePr>
        <p:xfrm>
          <a:off x="4663440" y="1371600"/>
          <a:ext cx="4206240" cy="1417320"/>
        </p:xfrm>
        <a:graphic>
          <a:graphicData uri="http://schemas.openxmlformats.org/drawingml/2006/table">
            <a:tbl>
              <a:tblPr firstRow="1" bandRow="1">
                <a:tableStyleId>{5C22544A-7EE6-4342-B048-85BDC9FD1C3A}</a:tableStyleId>
              </a:tblPr>
              <a:tblGrid>
                <a:gridCol w="1402080"/>
                <a:gridCol w="1402080"/>
              </a:tblGrid>
              <a:tr h="236220">
                <a:tc>
                  <a:txBody>
                    <a:bodyPr/>
                    <a:lstStyle/>
                    <a:p>
                      <a:r>
                        <a:rPr sz="850" b="1"/>
                        <a:t>Setup</a:t>
                      </a:r>
                    </a:p>
                  </a:txBody>
                  <a:tcPr/>
                </a:tc>
                <a:tc>
                  <a:txBody>
                    <a:bodyPr/>
                    <a:lstStyle/>
                    <a:p>
                      <a:r>
                        <a:rPr sz="850" b="1"/>
                        <a:t>Val F1</a:t>
                      </a:r>
                    </a:p>
                  </a:txBody>
                  <a:tcPr/>
                </a:tc>
              </a:tr>
              <a:tr h="236220">
                <a:tc>
                  <a:txBody>
                    <a:bodyPr/>
                    <a:lstStyle/>
                    <a:p>
                      <a:r>
                        <a:rPr sz="850" b="0"/>
                        <a:t>FCNN_Geometric B1 (20-d)</a:t>
                      </a:r>
                    </a:p>
                  </a:txBody>
                  <a:tcPr/>
                </a:tc>
                <a:tc>
                  <a:txBody>
                    <a:bodyPr/>
                    <a:lstStyle/>
                    <a:p>
                      <a:r>
                        <a:rPr sz="850" b="0"/>
                        <a:t>0.422</a:t>
                      </a:r>
                    </a:p>
                  </a:txBody>
                  <a:tcPr/>
                </a:tc>
              </a:tr>
              <a:tr h="236220">
                <a:tc>
                  <a:txBody>
                    <a:bodyPr/>
                    <a:lstStyle/>
                    <a:p>
                      <a:r>
                        <a:rPr sz="850" b="0"/>
                        <a:t>FCNN_Geometric B3 (20-d)</a:t>
                      </a:r>
                    </a:p>
                  </a:txBody>
                  <a:tcPr/>
                </a:tc>
                <a:tc>
                  <a:txBody>
                    <a:bodyPr/>
                    <a:lstStyle/>
                    <a:p>
                      <a:r>
                        <a:rPr sz="850" b="0"/>
                        <a:t>0.539</a:t>
                      </a:r>
                    </a:p>
                  </a:txBody>
                  <a:tcPr/>
                </a:tc>
              </a:tr>
              <a:tr h="236220">
                <a:tc>
                  <a:txBody>
                    <a:bodyPr/>
                    <a:lstStyle/>
                    <a:p>
                      <a:r>
                        <a:rPr sz="850" b="0"/>
                        <a:t>FCNN_Combined B1 (156-d)</a:t>
                      </a:r>
                    </a:p>
                  </a:txBody>
                  <a:tcPr/>
                </a:tc>
                <a:tc>
                  <a:txBody>
                    <a:bodyPr/>
                    <a:lstStyle/>
                    <a:p>
                      <a:r>
                        <a:rPr sz="850" b="0"/>
                        <a:t>0.536</a:t>
                      </a:r>
                    </a:p>
                  </a:txBody>
                  <a:tcPr/>
                </a:tc>
              </a:tr>
              <a:tr h="236220">
                <a:tc>
                  <a:txBody>
                    <a:bodyPr/>
                    <a:lstStyle/>
                    <a:p>
                      <a:r>
                        <a:rPr sz="850" b="0"/>
                        <a:t>FCNN_Combined B3 (156-d)</a:t>
                      </a:r>
                    </a:p>
                  </a:txBody>
                  <a:tcPr/>
                </a:tc>
                <a:tc>
                  <a:txBody>
                    <a:bodyPr/>
                    <a:lstStyle/>
                    <a:p>
                      <a:r>
                        <a:rPr sz="850" b="0"/>
                        <a:t>0.561</a:t>
                      </a:r>
                    </a:p>
                  </a:txBody>
                  <a:tcPr/>
                </a:tc>
              </a:tr>
              <a:tr h="236220">
                <a:tc>
                  <a:txBody>
                    <a:bodyPr/>
                    <a:lstStyle/>
                    <a:p>
                      <a:r>
                        <a:rPr sz="850" b="0"/>
                        <a:t>LF TL + Combined B3</a:t>
                      </a:r>
                    </a:p>
                  </a:txBody>
                  <a:tcPr/>
                </a:tc>
                <a:tc>
                  <a:txBody>
                    <a:bodyPr/>
                    <a:lstStyle/>
                    <a:p>
                      <a:r>
                        <a:rPr sz="850" b="0"/>
                        <a:t>0.583</a:t>
                      </a:r>
                    </a:p>
                  </a:txBody>
                  <a:tcPr/>
                </a:tc>
              </a:tr>
            </a:tbl>
          </a:graphicData>
        </a:graphic>
      </p:graphicFrame>
      <p:sp>
        <p:nvSpPr>
          <p:cNvPr id="9" name="TextBox 8"/>
          <p:cNvSpPr txBox="1"/>
          <p:nvPr/>
        </p:nvSpPr>
        <p:spPr>
          <a:xfrm>
            <a:off x="4663440" y="2926080"/>
            <a:ext cx="4206240" cy="868680"/>
          </a:xfrm>
          <a:prstGeom prst="rect">
            <a:avLst/>
          </a:prstGeom>
          <a:noFill/>
        </p:spPr>
        <p:txBody>
          <a:bodyPr wrap="square" lIns="0" rIns="0" tIns="0" bIns="0">
            <a:spAutoFit/>
          </a:bodyPr>
          <a:lstStyle/>
          <a:p>
            <a:r>
              <a:rPr sz="850" b="0">
                <a:solidFill>
                  <a:srgbClr val="555555"/>
                </a:solidFill>
              </a:rPr>
              <a:t>Verdict: gagal beat plain LF TL B3 val=0.6229. 20-d GF lossy vs 136-d raw.</a:t>
            </a:r>
          </a:p>
          <a:p>
            <a:r>
              <a:rPr sz="850" b="0">
                <a:solidFill>
                  <a:srgbClr val="555555"/>
                </a:solidFill>
              </a:rPr>
              <a:t>Catatan scope: hanya diuji di 3-class (juara scheme). Extension ke 7-class tidak dilakukan — pattern di 3c sudah negative, compact features kemungkinan lebih buruk di kelas minoritas 7c.</a:t>
            </a:r>
          </a:p>
          <a:p>
            <a:r>
              <a:rPr sz="850" b="0">
                <a:solidFill>
                  <a:srgbClr val="555555"/>
                </a:solidFill>
              </a:rPr>
              <a:t>Tidak masuk paper, log di BAB tesis sebagai negative result eksplorasi.</a:t>
            </a:r>
          </a:p>
        </p:txBody>
      </p:sp>
      <p:sp>
        <p:nvSpPr>
          <p:cNvPr id="10" name="TextBox 9"/>
          <p:cNvSpPr txBox="1"/>
          <p:nvPr/>
        </p:nvSpPr>
        <p:spPr>
          <a:xfrm>
            <a:off x="274320" y="2926080"/>
            <a:ext cx="4206240" cy="2103120"/>
          </a:xfrm>
          <a:prstGeom prst="rect">
            <a:avLst/>
          </a:prstGeom>
          <a:noFill/>
        </p:spPr>
        <p:txBody>
          <a:bodyPr wrap="square" lIns="0" rIns="0" tIns="0" bIns="0">
            <a:spAutoFit/>
          </a:bodyPr>
          <a:lstStyle/>
          <a:p>
            <a:r>
              <a:rPr sz="1000" b="1"/>
              <a:t>Temuan T53-T56 (Konsolidasi)</a:t>
            </a:r>
          </a:p>
          <a:p>
            <a:r>
              <a:rPr sz="300" b="0"/>
              <a:t/>
            </a:r>
          </a:p>
          <a:p>
            <a:r>
              <a:rPr sz="900" b="1"/>
              <a:t>T53: Late Fusion strategi paling robust di 3-class (top-5 by val all LF)</a:t>
            </a:r>
          </a:p>
          <a:p>
            <a:r>
              <a:rPr sz="850" b="0"/>
              <a:t>   Decision-level averaging optimal untuk coarse class granularity.</a:t>
            </a:r>
          </a:p>
          <a:p>
            <a:r>
              <a:rPr sz="300" b="0"/>
              <a:t/>
            </a:r>
          </a:p>
          <a:p>
            <a:r>
              <a:rPr sz="900" b="1"/>
              <a:t>T54: TL &gt; scratch konsisten (LF TL B3 0.623 vs scratch 0.609)</a:t>
            </a:r>
          </a:p>
          <a:p>
            <a:r>
              <a:rPr sz="850" b="0"/>
              <a:t>   Pre-trained ImageNet boost tetap signifikan di ResNet-18.</a:t>
            </a:r>
          </a:p>
          <a:p>
            <a:r>
              <a:rPr sz="300" b="0"/>
              <a:t/>
            </a:r>
          </a:p>
          <a:p>
            <a:r>
              <a:rPr sz="900" b="1"/>
              <a:t>T55: Geometric (Liliana) negative — 20-d lossy</a:t>
            </a:r>
          </a:p>
          <a:p>
            <a:r>
              <a:rPr sz="850" b="0"/>
              <a:t>   Possibly raw FCNN sudah belajar implicit geometric repr.</a:t>
            </a:r>
          </a:p>
          <a:p>
            <a:r>
              <a:rPr sz="300" b="0"/>
              <a:t/>
            </a:r>
          </a:p>
          <a:p>
            <a:r>
              <a:rPr sz="900" b="1"/>
              <a:t>T56: w_best shifts dengan branch input dim (0.15 → 0.70)</a:t>
            </a:r>
          </a:p>
        </p:txBody>
      </p:sp>
      <p:sp>
        <p:nvSpPr>
          <p:cNvPr id="11" name="TextBox 10"/>
          <p:cNvSpPr txBox="1"/>
          <p:nvPr/>
        </p:nvSpPr>
        <p:spPr>
          <a:xfrm>
            <a:off x="274320" y="4617720"/>
            <a:ext cx="8595360" cy="411480"/>
          </a:xfrm>
          <a:prstGeom prst="rect">
            <a:avLst/>
          </a:prstGeom>
          <a:noFill/>
        </p:spPr>
        <p:txBody>
          <a:bodyPr wrap="square" lIns="0" rIns="0" tIns="0" bIns="0">
            <a:spAutoFit/>
          </a:bodyPr>
          <a:lstStyle/>
          <a:p>
            <a:r>
              <a:rPr sz="900" b="1">
                <a:solidFill>
                  <a:srgbClr val="1F3A5F"/>
                </a:solidFill>
              </a:rPr>
              <a:t>Status arahan dosen: 4/4 DONE  (1) GradCAM ✅  (2) Space Alignment ✅ positive  (3) CBAM ✅ negative (slide 38)  (4) Geometric ✅ negative (tesis-only)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700" b="1"/>
              <a:t>SLIDE 38: CBAM Attention — Negative Result (arahan dosen #3, nb 80)</a:t>
            </a:r>
          </a:p>
        </p:txBody>
      </p:sp>
      <p:sp>
        <p:nvSpPr>
          <p:cNvPr id="3" name="TextBox 2"/>
          <p:cNvSpPr txBox="1"/>
          <p:nvPr/>
        </p:nvSpPr>
        <p:spPr>
          <a:xfrm>
            <a:off x="274320" y="457200"/>
            <a:ext cx="8595360" cy="274320"/>
          </a:xfrm>
          <a:prstGeom prst="rect">
            <a:avLst/>
          </a:prstGeom>
          <a:noFill/>
        </p:spPr>
        <p:txBody>
          <a:bodyPr wrap="square" lIns="0" rIns="0" tIns="0" bIns="0">
            <a:spAutoFit/>
          </a:bodyPr>
          <a:lstStyle/>
          <a:p>
            <a:r>
              <a:rPr sz="950" b="0">
                <a:solidFill>
                  <a:srgbClr val="555555"/>
                </a:solidFill>
              </a:rPr>
              <a:t>Test apakah Channel + Spatial Attention (Woo et al. ECCV 2018) bisa boost image stream untuk beat 3-class juara Late Fusion TL B3 val=0.6229.</a:t>
            </a:r>
          </a:p>
        </p:txBody>
      </p:sp>
      <p:sp>
        <p:nvSpPr>
          <p:cNvPr id="4" name="TextBox 3"/>
          <p:cNvSpPr txBox="1"/>
          <p:nvPr/>
        </p:nvSpPr>
        <p:spPr>
          <a:xfrm>
            <a:off x="274320" y="822960"/>
            <a:ext cx="8595360" cy="256032"/>
          </a:xfrm>
          <a:prstGeom prst="rect">
            <a:avLst/>
          </a:prstGeom>
          <a:noFill/>
        </p:spPr>
        <p:txBody>
          <a:bodyPr wrap="square" lIns="0" rIns="0" tIns="0" bIns="0">
            <a:spAutoFit/>
          </a:bodyPr>
          <a:lstStyle/>
          <a:p>
            <a:r>
              <a:rPr sz="1100" b="1"/>
              <a:t>Hasil 4 Configs (val-based)</a:t>
            </a:r>
          </a:p>
        </p:txBody>
      </p:sp>
      <p:graphicFrame>
        <p:nvGraphicFramePr>
          <p:cNvPr id="5" name="Table 4"/>
          <p:cNvGraphicFramePr>
            <a:graphicFrameLocks noGrp="1"/>
          </p:cNvGraphicFramePr>
          <p:nvPr/>
        </p:nvGraphicFramePr>
        <p:xfrm>
          <a:off x="274320" y="1097280"/>
          <a:ext cx="8595360" cy="1325880"/>
        </p:xfrm>
        <a:graphic>
          <a:graphicData uri="http://schemas.openxmlformats.org/drawingml/2006/table">
            <a:tbl>
              <a:tblPr firstRow="1" bandRow="1">
                <a:tableStyleId>{5C22544A-7EE6-4342-B048-85BDC9FD1C3A}</a:tableStyleId>
              </a:tblPr>
              <a:tblGrid>
                <a:gridCol w="1432560"/>
                <a:gridCol w="1432560"/>
                <a:gridCol w="1432560"/>
                <a:gridCol w="1432560"/>
              </a:tblGrid>
              <a:tr h="265176">
                <a:tc>
                  <a:txBody>
                    <a:bodyPr/>
                    <a:lstStyle/>
                    <a:p>
                      <a:r>
                        <a:rPr sz="900" b="1"/>
                        <a:t>Config</a:t>
                      </a:r>
                    </a:p>
                  </a:txBody>
                  <a:tcPr/>
                </a:tc>
                <a:tc>
                  <a:txBody>
                    <a:bodyPr/>
                    <a:lstStyle/>
                    <a:p>
                      <a:r>
                        <a:rPr sz="900" b="1"/>
                        <a:t>Val F1</a:t>
                      </a:r>
                    </a:p>
                  </a:txBody>
                  <a:tcPr/>
                </a:tc>
                <a:tc>
                  <a:txBody>
                    <a:bodyPr/>
                    <a:lstStyle/>
                    <a:p>
                      <a:r>
                        <a:rPr sz="900" b="1"/>
                        <a:t>w</a:t>
                      </a:r>
                    </a:p>
                  </a:txBody>
                  <a:tcPr/>
                </a:tc>
                <a:tc>
                  <a:txBody>
                    <a:bodyPr/>
                    <a:lstStyle/>
                    <a:p>
                      <a:r>
                        <a:rPr sz="900" b="1"/>
                        <a:t>Δ vs plain baseline</a:t>
                      </a:r>
                    </a:p>
                  </a:txBody>
                  <a:tcPr/>
                </a:tc>
              </a:tr>
              <a:tr h="265176">
                <a:tc>
                  <a:txBody>
                    <a:bodyPr/>
                    <a:lstStyle/>
                    <a:p>
                      <a:r>
                        <a:rPr sz="900" b="0"/>
                        <a:t>CNN_TL_CBAM B1</a:t>
                      </a:r>
                    </a:p>
                  </a:txBody>
                  <a:tcPr/>
                </a:tc>
                <a:tc>
                  <a:txBody>
                    <a:bodyPr/>
                    <a:lstStyle/>
                    <a:p>
                      <a:r>
                        <a:rPr sz="900" b="0"/>
                        <a:t>0.411</a:t>
                      </a:r>
                    </a:p>
                  </a:txBody>
                  <a:tcPr/>
                </a:tc>
                <a:tc>
                  <a:txBody>
                    <a:bodyPr/>
                    <a:lstStyle/>
                    <a:p>
                      <a:r>
                        <a:rPr sz="900" b="0"/>
                        <a:t>—</a:t>
                      </a:r>
                    </a:p>
                  </a:txBody>
                  <a:tcPr/>
                </a:tc>
                <a:tc>
                  <a:txBody>
                    <a:bodyPr/>
                    <a:lstStyle/>
                    <a:p>
                      <a:r>
                        <a:rPr sz="900" b="0"/>
                        <a:t>−0.082 val (plain 0.493)</a:t>
                      </a:r>
                    </a:p>
                  </a:txBody>
                  <a:tcPr/>
                </a:tc>
              </a:tr>
              <a:tr h="265176">
                <a:tc>
                  <a:txBody>
                    <a:bodyPr/>
                    <a:lstStyle/>
                    <a:p>
                      <a:r>
                        <a:rPr sz="900" b="0"/>
                        <a:t>CNN_TL_CBAM B3</a:t>
                      </a:r>
                    </a:p>
                  </a:txBody>
                  <a:tcPr/>
                </a:tc>
                <a:tc>
                  <a:txBody>
                    <a:bodyPr/>
                    <a:lstStyle/>
                    <a:p>
                      <a:r>
                        <a:rPr sz="900" b="0"/>
                        <a:t>0.509</a:t>
                      </a:r>
                    </a:p>
                  </a:txBody>
                  <a:tcPr/>
                </a:tc>
                <a:tc>
                  <a:txBody>
                    <a:bodyPr/>
                    <a:lstStyle/>
                    <a:p>
                      <a:r>
                        <a:rPr sz="900" b="0"/>
                        <a:t>—</a:t>
                      </a:r>
                    </a:p>
                  </a:txBody>
                  <a:tcPr/>
                </a:tc>
                <a:tc>
                  <a:txBody>
                    <a:bodyPr/>
                    <a:lstStyle/>
                    <a:p>
                      <a:r>
                        <a:rPr sz="900" b="0"/>
                        <a:t>+0.014 val (plain 0.495) marginal</a:t>
                      </a:r>
                    </a:p>
                  </a:txBody>
                  <a:tcPr/>
                </a:tc>
              </a:tr>
              <a:tr h="265176">
                <a:tc>
                  <a:txBody>
                    <a:bodyPr/>
                    <a:lstStyle/>
                    <a:p>
                      <a:r>
                        <a:rPr sz="900" b="0"/>
                        <a:t>Late Fusion TL CBAM B1</a:t>
                      </a:r>
                    </a:p>
                  </a:txBody>
                  <a:tcPr/>
                </a:tc>
                <a:tc>
                  <a:txBody>
                    <a:bodyPr/>
                    <a:lstStyle/>
                    <a:p>
                      <a:r>
                        <a:rPr sz="900" b="0"/>
                        <a:t>0.600</a:t>
                      </a:r>
                    </a:p>
                  </a:txBody>
                  <a:tcPr/>
                </a:tc>
                <a:tc>
                  <a:txBody>
                    <a:bodyPr/>
                    <a:lstStyle/>
                    <a:p>
                      <a:r>
                        <a:rPr sz="900" b="0"/>
                        <a:t>0.05</a:t>
                      </a:r>
                    </a:p>
                  </a:txBody>
                  <a:tcPr/>
                </a:tc>
                <a:tc>
                  <a:txBody>
                    <a:bodyPr/>
                    <a:lstStyle/>
                    <a:p>
                      <a:r>
                        <a:rPr sz="900" b="0"/>
                        <a:t>−0.009 val (plain 0.609)</a:t>
                      </a:r>
                    </a:p>
                  </a:txBody>
                  <a:tcPr/>
                </a:tc>
              </a:tr>
              <a:tr h="265176">
                <a:tc>
                  <a:txBody>
                    <a:bodyPr/>
                    <a:lstStyle/>
                    <a:p>
                      <a:r>
                        <a:rPr sz="900" b="0"/>
                        <a:t>Late Fusion TL CBAM B3</a:t>
                      </a:r>
                    </a:p>
                  </a:txBody>
                  <a:tcPr/>
                </a:tc>
                <a:tc>
                  <a:txBody>
                    <a:bodyPr/>
                    <a:lstStyle/>
                    <a:p>
                      <a:r>
                        <a:rPr sz="900" b="0"/>
                        <a:t>0.609</a:t>
                      </a:r>
                    </a:p>
                  </a:txBody>
                  <a:tcPr/>
                </a:tc>
                <a:tc>
                  <a:txBody>
                    <a:bodyPr/>
                    <a:lstStyle/>
                    <a:p>
                      <a:r>
                        <a:rPr sz="900" b="0"/>
                        <a:t>0.00</a:t>
                      </a:r>
                    </a:p>
                  </a:txBody>
                  <a:tcPr/>
                </a:tc>
                <a:tc>
                  <a:txBody>
                    <a:bodyPr/>
                    <a:lstStyle/>
                    <a:p>
                      <a:r>
                        <a:rPr sz="900" b="0"/>
                        <a:t>−0.014 val (plain 0.623 ⭐)</a:t>
                      </a:r>
                    </a:p>
                  </a:txBody>
                  <a:tcPr/>
                </a:tc>
              </a:tr>
            </a:tbl>
          </a:graphicData>
        </a:graphic>
      </p:graphicFrame>
      <p:sp>
        <p:nvSpPr>
          <p:cNvPr id="6" name="TextBox 5"/>
          <p:cNvSpPr txBox="1"/>
          <p:nvPr/>
        </p:nvSpPr>
        <p:spPr>
          <a:xfrm>
            <a:off x="274320" y="2542032"/>
            <a:ext cx="8595360" cy="1691640"/>
          </a:xfrm>
          <a:prstGeom prst="rect">
            <a:avLst/>
          </a:prstGeom>
          <a:noFill/>
        </p:spPr>
        <p:txBody>
          <a:bodyPr wrap="square" lIns="0" rIns="0" tIns="0" bIns="0">
            <a:spAutoFit/>
          </a:bodyPr>
          <a:lstStyle/>
          <a:p>
            <a:r>
              <a:rPr sz="1000" b="1"/>
              <a:t>Temuan Kunci:</a:t>
            </a:r>
          </a:p>
          <a:p>
            <a:r>
              <a:rPr sz="300" b="0"/>
              <a:t/>
            </a:r>
          </a:p>
          <a:p>
            <a:r>
              <a:rPr sz="950" b="0"/>
              <a:t>• CBAM tidak beat baseline plain di semua config — best CBAM val 0.609 &lt; plain LF TL B3 val 0.623</a:t>
            </a:r>
          </a:p>
          <a:p>
            <a:r>
              <a:rPr sz="950" b="0"/>
              <a:t>• CNN_TL_CBAM B1 val drop −0.082 — attention merusak learning di setup B1 paling sederhana</a:t>
            </a:r>
          </a:p>
          <a:p>
            <a:r>
              <a:rPr sz="950" b="1"/>
              <a:t>• w_best Late Fusion drop dramatis: 0.25 → 0.05 (B1), 0.15 → 0.00 (B3)</a:t>
            </a:r>
          </a:p>
          <a:p>
            <a:r>
              <a:rPr sz="900" b="0"/>
              <a:t>     Val grid pilih "ignore CBAM CNN branch entirely" → model konfirmasi CBAM CNN tidak berguna</a:t>
            </a:r>
          </a:p>
          <a:p>
            <a:r>
              <a:rPr sz="950" b="0"/>
              <a:t>• Root cause hypothesis: dataset kecil (6,795 train) + natural noise → attention learn spurious features</a:t>
            </a:r>
          </a:p>
          <a:p>
            <a:r>
              <a:rPr sz="950" b="0"/>
              <a:t>• Konsisten dengan GradCAM (nb 73): CNN baseline fokus ke non-emotion region — attention amplify masalah</a:t>
            </a:r>
          </a:p>
        </p:txBody>
      </p:sp>
      <p:sp>
        <p:nvSpPr>
          <p:cNvPr id="7" name="TextBox 6"/>
          <p:cNvSpPr txBox="1"/>
          <p:nvPr/>
        </p:nvSpPr>
        <p:spPr>
          <a:xfrm>
            <a:off x="274320" y="4297680"/>
            <a:ext cx="8595360" cy="777240"/>
          </a:xfrm>
          <a:prstGeom prst="rect">
            <a:avLst/>
          </a:prstGeom>
          <a:noFill/>
        </p:spPr>
        <p:txBody>
          <a:bodyPr wrap="square" lIns="0" rIns="0" tIns="0" bIns="0">
            <a:spAutoFit/>
          </a:bodyPr>
          <a:lstStyle/>
          <a:p>
            <a:r>
              <a:rPr sz="1100" b="1">
                <a:solidFill>
                  <a:srgbClr val="8E4444"/>
                </a:solidFill>
              </a:rPr>
              <a:t>Decision: stop attention eksplorasi</a:t>
            </a:r>
          </a:p>
          <a:p>
            <a:r>
              <a:rPr sz="950" b="0">
                <a:solidFill>
                  <a:srgbClr val="8E4444"/>
                </a:solidFill>
              </a:rPr>
              <a:t>Tidak extend ke Ghost Module / Triplet Attention. Document sebagai negative finding di tesis.</a:t>
            </a:r>
          </a:p>
          <a:p>
            <a:r>
              <a:rPr sz="900" b="0">
                <a:solidFill>
                  <a:srgbClr val="8E4444"/>
                </a:solidFill>
              </a:rPr>
              <a:t>Implikasi paper: Late Fusion TL B3 plain (val 0.6229, test 0.637) tetap juara — confirmed robust.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700" b="1"/>
              <a:t>SLIDE 39: Confidence-Stratified Test Analysis (post-hoc, no retrain)</a:t>
            </a:r>
          </a:p>
        </p:txBody>
      </p:sp>
      <p:sp>
        <p:nvSpPr>
          <p:cNvPr id="3" name="TextBox 2"/>
          <p:cNvSpPr txBox="1"/>
          <p:nvPr/>
        </p:nvSpPr>
        <p:spPr>
          <a:xfrm>
            <a:off x="274320" y="457200"/>
            <a:ext cx="8595360" cy="292608"/>
          </a:xfrm>
          <a:prstGeom prst="rect">
            <a:avLst/>
          </a:prstGeom>
          <a:noFill/>
        </p:spPr>
        <p:txBody>
          <a:bodyPr wrap="square" lIns="0" rIns="0" tIns="0" bIns="0">
            <a:spAutoFit/>
          </a:bodyPr>
          <a:lstStyle/>
          <a:p>
            <a:r>
              <a:rPr sz="950" b="0">
                <a:solidFill>
                  <a:srgbClr val="555555"/>
                </a:solidFill>
              </a:rPr>
              <a:t>Tujuan: separate label-noise effect dari fundamental model limitation. Evaluasi LF TL B3 di test subset stratified by Face API confidence.</a:t>
            </a:r>
          </a:p>
        </p:txBody>
      </p:sp>
      <p:sp>
        <p:nvSpPr>
          <p:cNvPr id="4" name="TextBox 3"/>
          <p:cNvSpPr txBox="1"/>
          <p:nvPr/>
        </p:nvSpPr>
        <p:spPr>
          <a:xfrm>
            <a:off x="274320" y="822960"/>
            <a:ext cx="4023360" cy="256032"/>
          </a:xfrm>
          <a:prstGeom prst="rect">
            <a:avLst/>
          </a:prstGeom>
          <a:noFill/>
        </p:spPr>
        <p:txBody>
          <a:bodyPr wrap="square" lIns="0" rIns="0" tIns="0" bIns="0">
            <a:spAutoFit/>
          </a:bodyPr>
          <a:lstStyle/>
          <a:p>
            <a:r>
              <a:rPr sz="1100" b="1"/>
              <a:t>Hasil per Confidence Threshold</a:t>
            </a:r>
          </a:p>
        </p:txBody>
      </p:sp>
      <p:graphicFrame>
        <p:nvGraphicFramePr>
          <p:cNvPr id="5" name="Table 4"/>
          <p:cNvGraphicFramePr>
            <a:graphicFrameLocks noGrp="1"/>
          </p:cNvGraphicFramePr>
          <p:nvPr/>
        </p:nvGraphicFramePr>
        <p:xfrm>
          <a:off x="274320" y="1097280"/>
          <a:ext cx="4023360" cy="1828800"/>
        </p:xfrm>
        <a:graphic>
          <a:graphicData uri="http://schemas.openxmlformats.org/drawingml/2006/table">
            <a:tbl>
              <a:tblPr firstRow="1" bandRow="1">
                <a:tableStyleId>{5C22544A-7EE6-4342-B048-85BDC9FD1C3A}</a:tableStyleId>
              </a:tblPr>
              <a:tblGrid>
                <a:gridCol w="1005840"/>
                <a:gridCol w="1005840"/>
                <a:gridCol w="1005840"/>
                <a:gridCol w="1005840"/>
              </a:tblGrid>
              <a:tr h="261257">
                <a:tc>
                  <a:txBody>
                    <a:bodyPr/>
                    <a:lstStyle/>
                    <a:p>
                      <a:r>
                        <a:rPr sz="900" b="1"/>
                        <a:t>Threshold</a:t>
                      </a:r>
                    </a:p>
                  </a:txBody>
                  <a:tcPr/>
                </a:tc>
                <a:tc>
                  <a:txBody>
                    <a:bodyPr/>
                    <a:lstStyle/>
                    <a:p>
                      <a:r>
                        <a:rPr sz="900" b="1"/>
                        <a:t>N</a:t>
                      </a:r>
                    </a:p>
                  </a:txBody>
                  <a:tcPr/>
                </a:tc>
                <a:tc>
                  <a:txBody>
                    <a:bodyPr/>
                    <a:lstStyle/>
                    <a:p>
                      <a:r>
                        <a:rPr sz="900" b="1"/>
                        <a:t>Macro F1</a:t>
                      </a:r>
                    </a:p>
                  </a:txBody>
                  <a:tcPr/>
                </a:tc>
                <a:tc>
                  <a:txBody>
                    <a:bodyPr/>
                    <a:lstStyle/>
                    <a:p>
                      <a:r>
                        <a:rPr sz="900" b="1"/>
                        <a:t>Catatan</a:t>
                      </a:r>
                    </a:p>
                  </a:txBody>
                  <a:tcPr/>
                </a:tc>
              </a:tr>
              <a:tr h="261257">
                <a:tc>
                  <a:txBody>
                    <a:bodyPr/>
                    <a:lstStyle/>
                    <a:p>
                      <a:r>
                        <a:rPr sz="900" b="0"/>
                        <a:t>≥0.60 (full)</a:t>
                      </a:r>
                    </a:p>
                  </a:txBody>
                  <a:tcPr/>
                </a:tc>
                <a:tc>
                  <a:txBody>
                    <a:bodyPr/>
                    <a:lstStyle/>
                    <a:p>
                      <a:r>
                        <a:rPr sz="900" b="0"/>
                        <a:t>929</a:t>
                      </a:r>
                    </a:p>
                  </a:txBody>
                  <a:tcPr/>
                </a:tc>
                <a:tc>
                  <a:txBody>
                    <a:bodyPr/>
                    <a:lstStyle/>
                    <a:p>
                      <a:r>
                        <a:rPr sz="900" b="0"/>
                        <a:t>0.637</a:t>
                      </a:r>
                    </a:p>
                  </a:txBody>
                  <a:tcPr/>
                </a:tc>
                <a:tc>
                  <a:txBody>
                    <a:bodyPr/>
                    <a:lstStyle/>
                    <a:p>
                      <a:r>
                        <a:rPr sz="900" b="0"/>
                        <a:t>baseline</a:t>
                      </a:r>
                    </a:p>
                  </a:txBody>
                  <a:tcPr/>
                </a:tc>
              </a:tr>
              <a:tr h="261257">
                <a:tc>
                  <a:txBody>
                    <a:bodyPr/>
                    <a:lstStyle/>
                    <a:p>
                      <a:r>
                        <a:rPr sz="900" b="0"/>
                        <a:t>≥0.70</a:t>
                      </a:r>
                    </a:p>
                  </a:txBody>
                  <a:tcPr/>
                </a:tc>
                <a:tc>
                  <a:txBody>
                    <a:bodyPr/>
                    <a:lstStyle/>
                    <a:p>
                      <a:r>
                        <a:rPr sz="900" b="0"/>
                        <a:t>892</a:t>
                      </a:r>
                    </a:p>
                  </a:txBody>
                  <a:tcPr/>
                </a:tc>
                <a:tc>
                  <a:txBody>
                    <a:bodyPr/>
                    <a:lstStyle/>
                    <a:p>
                      <a:r>
                        <a:rPr sz="900" b="0"/>
                        <a:t>0.642</a:t>
                      </a:r>
                    </a:p>
                  </a:txBody>
                  <a:tcPr/>
                </a:tc>
                <a:tc>
                  <a:txBody>
                    <a:bodyPr/>
                    <a:lstStyle/>
                    <a:p>
                      <a:r>
                        <a:rPr sz="900" b="0"/>
                        <a:t>+0.005</a:t>
                      </a:r>
                    </a:p>
                  </a:txBody>
                  <a:tcPr/>
                </a:tc>
              </a:tr>
              <a:tr h="261257">
                <a:tc>
                  <a:txBody>
                    <a:bodyPr/>
                    <a:lstStyle/>
                    <a:p>
                      <a:r>
                        <a:rPr sz="900" b="0"/>
                        <a:t>≥0.80</a:t>
                      </a:r>
                    </a:p>
                  </a:txBody>
                  <a:tcPr/>
                </a:tc>
                <a:tc>
                  <a:txBody>
                    <a:bodyPr/>
                    <a:lstStyle/>
                    <a:p>
                      <a:r>
                        <a:rPr sz="900" b="0"/>
                        <a:t>846</a:t>
                      </a:r>
                    </a:p>
                  </a:txBody>
                  <a:tcPr/>
                </a:tc>
                <a:tc>
                  <a:txBody>
                    <a:bodyPr/>
                    <a:lstStyle/>
                    <a:p>
                      <a:r>
                        <a:rPr sz="900" b="0"/>
                        <a:t>0.639</a:t>
                      </a:r>
                    </a:p>
                  </a:txBody>
                  <a:tcPr/>
                </a:tc>
                <a:tc>
                  <a:txBody>
                    <a:bodyPr/>
                    <a:lstStyle/>
                    <a:p>
                      <a:r>
                        <a:rPr sz="900" b="0"/>
                        <a:t>flat</a:t>
                      </a:r>
                    </a:p>
                  </a:txBody>
                  <a:tcPr/>
                </a:tc>
              </a:tr>
              <a:tr h="261257">
                <a:tc>
                  <a:txBody>
                    <a:bodyPr/>
                    <a:lstStyle/>
                    <a:p>
                      <a:r>
                        <a:rPr sz="900" b="0"/>
                        <a:t>≥0.90</a:t>
                      </a:r>
                    </a:p>
                  </a:txBody>
                  <a:tcPr/>
                </a:tc>
                <a:tc>
                  <a:txBody>
                    <a:bodyPr/>
                    <a:lstStyle/>
                    <a:p>
                      <a:r>
                        <a:rPr sz="900" b="0"/>
                        <a:t>785</a:t>
                      </a:r>
                    </a:p>
                  </a:txBody>
                  <a:tcPr/>
                </a:tc>
                <a:tc>
                  <a:txBody>
                    <a:bodyPr/>
                    <a:lstStyle/>
                    <a:p>
                      <a:r>
                        <a:rPr sz="900" b="0"/>
                        <a:t>0.645</a:t>
                      </a:r>
                    </a:p>
                  </a:txBody>
                  <a:tcPr/>
                </a:tc>
                <a:tc>
                  <a:txBody>
                    <a:bodyPr/>
                    <a:lstStyle/>
                    <a:p>
                      <a:r>
                        <a:rPr sz="900" b="0"/>
                        <a:t>+0.008 peak</a:t>
                      </a:r>
                    </a:p>
                  </a:txBody>
                  <a:tcPr/>
                </a:tc>
              </a:tr>
              <a:tr h="261257">
                <a:tc>
                  <a:txBody>
                    <a:bodyPr/>
                    <a:lstStyle/>
                    <a:p>
                      <a:r>
                        <a:rPr sz="900" b="0"/>
                        <a:t>≥0.95</a:t>
                      </a:r>
                    </a:p>
                  </a:txBody>
                  <a:tcPr/>
                </a:tc>
                <a:tc>
                  <a:txBody>
                    <a:bodyPr/>
                    <a:lstStyle/>
                    <a:p>
                      <a:r>
                        <a:rPr sz="900" b="0"/>
                        <a:t>724</a:t>
                      </a:r>
                    </a:p>
                  </a:txBody>
                  <a:tcPr/>
                </a:tc>
                <a:tc>
                  <a:txBody>
                    <a:bodyPr/>
                    <a:lstStyle/>
                    <a:p>
                      <a:r>
                        <a:rPr sz="900" b="0"/>
                        <a:t>0.619</a:t>
                      </a:r>
                    </a:p>
                  </a:txBody>
                  <a:tcPr/>
                </a:tc>
                <a:tc>
                  <a:txBody>
                    <a:bodyPr/>
                    <a:lstStyle/>
                    <a:p>
                      <a:r>
                        <a:rPr sz="900" b="0"/>
                        <a:t>turun ⬇</a:t>
                      </a:r>
                    </a:p>
                  </a:txBody>
                  <a:tcPr/>
                </a:tc>
              </a:tr>
              <a:tr h="261258">
                <a:tc>
                  <a:txBody>
                    <a:bodyPr/>
                    <a:lstStyle/>
                    <a:p>
                      <a:r>
                        <a:rPr sz="900" b="0"/>
                        <a:t>≥0.99</a:t>
                      </a:r>
                    </a:p>
                  </a:txBody>
                  <a:tcPr/>
                </a:tc>
                <a:tc>
                  <a:txBody>
                    <a:bodyPr/>
                    <a:lstStyle/>
                    <a:p>
                      <a:r>
                        <a:rPr sz="900" b="0"/>
                        <a:t>631</a:t>
                      </a:r>
                    </a:p>
                  </a:txBody>
                  <a:tcPr/>
                </a:tc>
                <a:tc>
                  <a:txBody>
                    <a:bodyPr/>
                    <a:lstStyle/>
                    <a:p>
                      <a:r>
                        <a:rPr sz="900" b="0"/>
                        <a:t>0.581</a:t>
                      </a:r>
                    </a:p>
                  </a:txBody>
                  <a:tcPr/>
                </a:tc>
                <a:tc>
                  <a:txBody>
                    <a:bodyPr/>
                    <a:lstStyle/>
                    <a:p>
                      <a:r>
                        <a:rPr sz="900" b="0"/>
                        <a:t>turun signifikan ⬇⬇</a:t>
                      </a:r>
                    </a:p>
                  </a:txBody>
                  <a:tcPr/>
                </a:tc>
              </a:tr>
            </a:tbl>
          </a:graphicData>
        </a:graphic>
      </p:graphicFrame>
      <p:pic>
        <p:nvPicPr>
          <p:cNvPr id="6" name="Picture 5" descr="test_macro_f1_by_confidence.png"/>
          <p:cNvPicPr>
            <a:picLocks noChangeAspect="1"/>
          </p:cNvPicPr>
          <p:nvPr/>
        </p:nvPicPr>
        <p:blipFill>
          <a:blip r:embed="rId2"/>
          <a:stretch>
            <a:fillRect/>
          </a:stretch>
        </p:blipFill>
        <p:spPr>
          <a:xfrm>
            <a:off x="4572000" y="1097280"/>
            <a:ext cx="4297680" cy="2011680"/>
          </a:xfrm>
          <a:prstGeom prst="rect">
            <a:avLst/>
          </a:prstGeom>
        </p:spPr>
      </p:pic>
      <p:sp>
        <p:nvSpPr>
          <p:cNvPr id="7" name="TextBox 6"/>
          <p:cNvSpPr txBox="1"/>
          <p:nvPr/>
        </p:nvSpPr>
        <p:spPr>
          <a:xfrm>
            <a:off x="274320" y="3108960"/>
            <a:ext cx="8595360" cy="1097280"/>
          </a:xfrm>
          <a:prstGeom prst="rect">
            <a:avLst/>
          </a:prstGeom>
          <a:noFill/>
        </p:spPr>
        <p:txBody>
          <a:bodyPr wrap="square" lIns="0" rIns="0" tIns="0" bIns="0">
            <a:spAutoFit/>
          </a:bodyPr>
          <a:lstStyle/>
          <a:p>
            <a:r>
              <a:rPr sz="1100" b="1"/>
              <a:t>Interpretasi: Refutes Label-Noise Hypothesis</a:t>
            </a:r>
          </a:p>
          <a:p>
            <a:r>
              <a:rPr sz="300" b="0"/>
              <a:t/>
            </a:r>
          </a:p>
          <a:p>
            <a:r>
              <a:rPr sz="950" b="0"/>
              <a:t>• Macro F1 flat 0.62-0.65 (th 0.60-0.90) lalu DROP di th ≥0.95 — bukan monotonic naik seperti yang diharapkan</a:t>
            </a:r>
          </a:p>
          <a:p>
            <a:r>
              <a:rPr sz="950" b="0"/>
              <a:t>• Negative class F1 collapse 0.328 → 0.071 di conf≥0.99 (sample minority hilang di high-conf subset)</a:t>
            </a:r>
          </a:p>
          <a:p>
            <a:r>
              <a:rPr sz="950" b="0"/>
              <a:t>• Akar masalah: distribution shift (Face API confident di neutral, minority biasanya conf 0.4-0.7)</a:t>
            </a:r>
          </a:p>
        </p:txBody>
      </p:sp>
      <p:sp>
        <p:nvSpPr>
          <p:cNvPr id="8" name="TextBox 7"/>
          <p:cNvSpPr txBox="1"/>
          <p:nvPr/>
        </p:nvSpPr>
        <p:spPr>
          <a:xfrm>
            <a:off x="274320" y="4297680"/>
            <a:ext cx="8595360" cy="777240"/>
          </a:xfrm>
          <a:prstGeom prst="rect">
            <a:avLst/>
          </a:prstGeom>
          <a:noFill/>
        </p:spPr>
        <p:txBody>
          <a:bodyPr wrap="square" lIns="0" rIns="0" tIns="0" bIns="0">
            <a:spAutoFit/>
          </a:bodyPr>
          <a:lstStyle/>
          <a:p>
            <a:r>
              <a:rPr sz="1000" b="1">
                <a:solidFill>
                  <a:srgbClr val="1F3A5F"/>
                </a:solidFill>
              </a:rPr>
              <a:t>Kesimpulan: model limitation = minority class learning under extreme imbalance, BUKAN label noise</a:t>
            </a:r>
          </a:p>
          <a:p>
            <a:r>
              <a:rPr sz="900" b="0">
                <a:solidFill>
                  <a:srgbClr val="1F3A5F"/>
                </a:solidFill>
              </a:rPr>
              <a:t>Validasi conf60 sebagai optimal trade-off (preserve sample sufficiency + minority class viability).</a:t>
            </a:r>
          </a:p>
          <a:p>
            <a:r>
              <a:rPr sz="900" b="0">
                <a:solidFill>
                  <a:srgbClr val="1F3A5F"/>
                </a:solidFill>
              </a:rPr>
              <a:t>Untuk paper Discussion: refute hipotesis label-noise-limited, frame minority class sebagai core challenge.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&amp; Status Eksplorasi Lanjutan (Fokus Arahan Dosen)</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3-class Late Fusion TL B3 = Macro F1 0.623 (val-tuned, nb 79).</a:t>
            </a:r>
          </a:p>
          <a:p>
            <a:r>
              <a:rPr sz="950" b="0"/>
              <a:t>Status 4 arahan dosen + turunan paper. Arahan diprioritaskan.</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Arahan Dosen (4 item)</a:t>
            </a:r>
          </a:p>
          <a:p>
            <a:r>
              <a:rPr sz="300" b="0"/>
              <a:t/>
            </a:r>
          </a:p>
          <a:p>
            <a:r>
              <a:rPr sz="950" b="1"/>
              <a:t>(1) GradCAM ✅ DONE (nb 73) — observational</a:t>
            </a:r>
          </a:p>
          <a:p>
            <a:r>
              <a:rPr sz="950" b="1"/>
              <a:t>(2) Space Alignment ✅ DONE (nb 75)</a:t>
            </a:r>
          </a:p>
          <a:p>
            <a:r>
              <a:rPr sz="850" b="0"/>
              <a:t>   → positive result: CCA top-5 = 0.978, siap paper</a:t>
            </a:r>
          </a:p>
          <a:p>
            <a:r>
              <a:rPr sz="950" b="1"/>
              <a:t>(3) Attention Module (CBAM) 🔄 nb 80 prepared</a:t>
            </a:r>
          </a:p>
          <a:p>
            <a:r>
              <a:rPr sz="850" b="0"/>
              <a:t>   → target beat 3c LF TL B3 (0.623), ~4-5 jam VPS</a:t>
            </a:r>
          </a:p>
          <a:p>
            <a:r>
              <a:rPr sz="950" b="1"/>
              <a:t>(4) Geometric Features (Liliana 2019) ⏳ belum</a:t>
            </a:r>
          </a:p>
          <a:p>
            <a:r>
              <a:rPr sz="850" b="0"/>
              <a:t>   → 20-d GF Table 3, est. 2-3 hari</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Turunan + Eksplorasi Lain</a:t>
            </a:r>
          </a:p>
          <a:p>
            <a:r>
              <a:rPr sz="300" b="0"/>
              <a:t/>
            </a:r>
          </a:p>
          <a:p>
            <a:r>
              <a:rPr sz="900" b="1"/>
              <a:t>Soft Label (nb 71/72/78) ✅ CLOSED — negative result</a:t>
            </a:r>
          </a:p>
          <a:p>
            <a:r>
              <a:rPr sz="300" b="0"/>
              <a:t/>
            </a:r>
          </a:p>
          <a:p>
            <a:r>
              <a:rPr sz="900" b="1"/>
              <a:t>3-Class Exploration (nb 79) ✅ DONE — positive</a:t>
            </a:r>
          </a:p>
          <a:p>
            <a:r>
              <a:rPr sz="850" b="0"/>
              <a:t>   → Late Fusion TL B3 val-based 0.623</a:t>
            </a:r>
          </a:p>
          <a:p>
            <a:r>
              <a:rPr sz="300" b="0"/>
              <a:t/>
            </a:r>
          </a:p>
          <a:p>
            <a:r>
              <a:rPr sz="900" b="1"/>
              <a:t>Pitaloka 2017 GCN Ablation ⏳ belum</a:t>
            </a:r>
          </a:p>
          <a:p>
            <a:r>
              <a:rPr sz="850" b="0"/>
              <a:t>   → quick win 0.5-1 hari</a:t>
            </a:r>
          </a:p>
          <a:p>
            <a:r>
              <a:rPr sz="300" b="0"/>
              <a:t/>
            </a:r>
          </a:p>
          <a:p>
            <a:r>
              <a:rPr sz="900" b="1"/>
              <a:t>Liliana 2019 FEIS Fuzzy Rule ⏳ belum</a:t>
            </a:r>
          </a:p>
          <a:p>
            <a:r>
              <a:rPr sz="850" b="0"/>
              <a:t>   → non-DL baseline, est. 2-3 hari</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Urutan eksekusi rekomendasi:</a:t>
            </a:r>
          </a:p>
          <a:p>
            <a:r>
              <a:rPr sz="300" b="0"/>
              <a:t/>
            </a:r>
          </a:p>
          <a:p>
            <a:r>
              <a:rPr sz="900" b="0"/>
              <a:t>(3) Attention CBAM (nb 80 queued) → (4) Geometric Features → Pitaloka GCN → FEIS. Semua berbasis val-based selection, bandingkan vs 3-class baseline 0.623.</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Apr 2026: 3/4 arahan dosen (1, 2) + 3-class DONE  |  (3) queued (nb 80)  |  (4) + 2 turunan paper belum dimulai  |  Detail: docs/eksplorasi_lanjutan.md, bimbingan_progress.md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a:t>Pertanyaan Bimbingan — Update Paper</a:t>
            </a:r>
          </a:p>
        </p:txBody>
      </p:sp>
      <p:sp>
        <p:nvSpPr>
          <p:cNvPr id="3" name="TextBox 2"/>
          <p:cNvSpPr txBox="1"/>
          <p:nvPr/>
        </p:nvSpPr>
        <p:spPr>
          <a:xfrm>
            <a:off x="274320" y="548640"/>
            <a:ext cx="8595360" cy="320040"/>
          </a:xfrm>
          <a:prstGeom prst="rect">
            <a:avLst/>
          </a:prstGeom>
          <a:noFill/>
        </p:spPr>
        <p:txBody>
          <a:bodyPr wrap="square" lIns="0" rIns="0" tIns="0" bIns="0">
            <a:spAutoFit/>
          </a:bodyPr>
          <a:lstStyle/>
          <a:p>
            <a:r>
              <a:rPr sz="1300" b="1">
                <a:solidFill>
                  <a:srgbClr val="2E5E96"/>
                </a:solidFill>
              </a:rPr>
              <a:t>1. Paper EECCIS 2026 (Accepted)</a:t>
            </a:r>
          </a:p>
        </p:txBody>
      </p:sp>
      <p:sp>
        <p:nvSpPr>
          <p:cNvPr id="4" name="TextBox 3"/>
          <p:cNvSpPr txBox="1"/>
          <p:nvPr/>
        </p:nvSpPr>
        <p:spPr>
          <a:xfrm>
            <a:off x="274320" y="896112"/>
            <a:ext cx="8595360" cy="274320"/>
          </a:xfrm>
          <a:prstGeom prst="rect">
            <a:avLst/>
          </a:prstGeom>
          <a:noFill/>
        </p:spPr>
        <p:txBody>
          <a:bodyPr wrap="square" lIns="0" rIns="0" tIns="0" bIns="0">
            <a:spAutoFit/>
          </a:bodyPr>
          <a:lstStyle/>
          <a:p>
            <a:r>
              <a:rPr sz="1000" b="0"/>
              <a:t>Judul: "Automated Engagement Assessment in Block-Based Programming Using Facial Emotion Recognition"</a:t>
            </a:r>
          </a:p>
        </p:txBody>
      </p:sp>
      <p:sp>
        <p:nvSpPr>
          <p:cNvPr id="5" name="TextBox 4"/>
          <p:cNvSpPr txBox="1"/>
          <p:nvPr/>
        </p:nvSpPr>
        <p:spPr>
          <a:xfrm>
            <a:off x="274320" y="1188720"/>
            <a:ext cx="8595360" cy="1005840"/>
          </a:xfrm>
          <a:prstGeom prst="rect">
            <a:avLst/>
          </a:prstGeom>
          <a:noFill/>
        </p:spPr>
        <p:txBody>
          <a:bodyPr wrap="square" lIns="0" rIns="0" tIns="0" bIns="0">
            <a:spAutoFit/>
          </a:bodyPr>
          <a:lstStyle/>
          <a:p>
            <a:r>
              <a:rPr sz="1000" b="1"/>
              <a:t>Pertanyaan:</a:t>
            </a:r>
          </a:p>
          <a:p>
            <a:r>
              <a:rPr sz="950" b="0"/>
              <a:t>• Langkah-langkah revisi final manuscript — apa yang perlu diperhatikan dari reviewer comments?</a:t>
            </a:r>
          </a:p>
          <a:p>
            <a:r>
              <a:rPr sz="950" b="0"/>
              <a:t>• Proses registrasi konferensi — deadline, author registration, early-bird fee?</a:t>
            </a:r>
          </a:p>
          <a:p>
            <a:r>
              <a:rPr sz="950" b="0"/>
              <a:t>• Mekanisme pengajuan pendanaan untuk biaya konferensi — apakah ada skema dari fakultas/universitas?</a:t>
            </a:r>
          </a:p>
        </p:txBody>
      </p:sp>
      <p:sp>
        <p:nvSpPr>
          <p:cNvPr id="6" name="TextBox 5"/>
          <p:cNvSpPr txBox="1"/>
          <p:nvPr/>
        </p:nvSpPr>
        <p:spPr>
          <a:xfrm>
            <a:off x="274320" y="2331720"/>
            <a:ext cx="8595360" cy="320040"/>
          </a:xfrm>
          <a:prstGeom prst="rect">
            <a:avLst/>
          </a:prstGeom>
          <a:noFill/>
        </p:spPr>
        <p:txBody>
          <a:bodyPr wrap="square" lIns="0" rIns="0" tIns="0" bIns="0">
            <a:spAutoFit/>
          </a:bodyPr>
          <a:lstStyle/>
          <a:p>
            <a:r>
              <a:rPr sz="1300" b="1">
                <a:solidFill>
                  <a:srgbClr val="A87143"/>
                </a:solidFill>
              </a:rPr>
              <a:t>2. Paper JITeCS (Draft)</a:t>
            </a:r>
          </a:p>
        </p:txBody>
      </p:sp>
      <p:sp>
        <p:nvSpPr>
          <p:cNvPr id="7" name="TextBox 6"/>
          <p:cNvSpPr txBox="1"/>
          <p:nvPr/>
        </p:nvSpPr>
        <p:spPr>
          <a:xfrm>
            <a:off x="274320" y="2679192"/>
            <a:ext cx="8595360" cy="274320"/>
          </a:xfrm>
          <a:prstGeom prst="rect">
            <a:avLst/>
          </a:prstGeom>
          <a:noFill/>
        </p:spPr>
        <p:txBody>
          <a:bodyPr wrap="square" lIns="0" rIns="0" tIns="0" bIns="0">
            <a:spAutoFit/>
          </a:bodyPr>
          <a:lstStyle/>
          <a:p>
            <a:r>
              <a:rPr sz="1000" b="0"/>
              <a:t>Status: Draft selesai — tersimpan di folder Publikasi + Google Drive template</a:t>
            </a:r>
          </a:p>
        </p:txBody>
      </p:sp>
      <p:sp>
        <p:nvSpPr>
          <p:cNvPr id="8" name="TextBox 7"/>
          <p:cNvSpPr txBox="1"/>
          <p:nvPr/>
        </p:nvSpPr>
        <p:spPr>
          <a:xfrm>
            <a:off x="274320" y="2971800"/>
            <a:ext cx="8595360" cy="274320"/>
          </a:xfrm>
          <a:prstGeom prst="rect">
            <a:avLst/>
          </a:prstGeom>
          <a:noFill/>
        </p:spPr>
        <p:txBody>
          <a:bodyPr wrap="square" lIns="0" rIns="0" tIns="0" bIns="0">
            <a:spAutoFit/>
          </a:bodyPr>
          <a:lstStyle/>
          <a:p>
            <a:r>
              <a:rPr sz="850" b="0">
                <a:solidFill>
                  <a:srgbClr val="2E5E96"/>
                </a:solidFill>
              </a:rPr>
              <a:t>https://drive.google.com/drive/folders/1tbxb0Vi1AsEuXPxNNkRqECmX24P9Kqfj</a:t>
            </a:r>
          </a:p>
        </p:txBody>
      </p:sp>
      <p:sp>
        <p:nvSpPr>
          <p:cNvPr id="9" name="TextBox 8"/>
          <p:cNvSpPr txBox="1"/>
          <p:nvPr/>
        </p:nvSpPr>
        <p:spPr>
          <a:xfrm>
            <a:off x="274320" y="3291840"/>
            <a:ext cx="8595360" cy="1051560"/>
          </a:xfrm>
          <a:prstGeom prst="rect">
            <a:avLst/>
          </a:prstGeom>
          <a:noFill/>
        </p:spPr>
        <p:txBody>
          <a:bodyPr wrap="square" lIns="0" rIns="0" tIns="0" bIns="0">
            <a:spAutoFit/>
          </a:bodyPr>
          <a:lstStyle/>
          <a:p>
            <a:r>
              <a:rPr sz="1000" b="1"/>
              <a:t>Kendala + pertanyaan:</a:t>
            </a:r>
          </a:p>
          <a:p>
            <a:r>
              <a:rPr sz="950" b="0"/>
              <a:t>• Draft saat ini 14 halaman — melebihi 2 halaman dari batas (12 halaman).</a:t>
            </a:r>
          </a:p>
          <a:p>
            <a:r>
              <a:rPr sz="950" b="0"/>
              <a:t>• Saya belum menemukan bagian yang sebaiknya dipangkas — mohon masukan + review.</a:t>
            </a:r>
          </a:p>
          <a:p>
            <a:r>
              <a:rPr sz="950" b="0"/>
              <a:t>• Apakah ada sesi bimbingan hari ini untuk membahas revisi bersama?</a:t>
            </a:r>
          </a:p>
        </p:txBody>
      </p:sp>
      <p:sp>
        <p:nvSpPr>
          <p:cNvPr id="10" name="TextBox 9"/>
          <p:cNvSpPr txBox="1"/>
          <p:nvPr/>
        </p:nvSpPr>
        <p:spPr>
          <a:xfrm>
            <a:off x="274320" y="4526280"/>
            <a:ext cx="8595360" cy="457200"/>
          </a:xfrm>
          <a:prstGeom prst="rect">
            <a:avLst/>
          </a:prstGeom>
          <a:noFill/>
        </p:spPr>
        <p:txBody>
          <a:bodyPr wrap="square" lIns="0" rIns="0" tIns="0" bIns="0">
            <a:spAutoFit/>
          </a:bodyPr>
          <a:lstStyle/>
          <a:p>
            <a:r>
              <a:rPr sz="1000" b="1">
                <a:solidFill>
                  <a:srgbClr val="555555"/>
                </a:solidFill>
              </a:rPr>
              <a:t>Terima kasih banyak atas bimbingannya, Pak.</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36000" rIns="36000" tIns="18000" bIns="18000">
            <a:spAutoFit/>
          </a:bodyPr>
          <a:lstStyle/>
          <a:p>
            <a:r>
              <a:rPr sz="1800" b="1"/>
              <a:t>Pertanyaan Bimbingan — Scope Eksperimen Tesis</a:t>
            </a:r>
          </a:p>
        </p:txBody>
      </p:sp>
      <p:sp>
        <p:nvSpPr>
          <p:cNvPr id="3" name="TextBox 2"/>
          <p:cNvSpPr txBox="1"/>
          <p:nvPr/>
        </p:nvSpPr>
        <p:spPr>
          <a:xfrm>
            <a:off x="274320" y="475488"/>
            <a:ext cx="8595360" cy="292608"/>
          </a:xfrm>
          <a:prstGeom prst="rect">
            <a:avLst/>
          </a:prstGeom>
          <a:noFill/>
        </p:spPr>
        <p:txBody>
          <a:bodyPr wrap="square" lIns="36000" rIns="36000" tIns="18000" bIns="18000">
            <a:spAutoFit/>
          </a:bodyPr>
          <a:lstStyle/>
          <a:p>
            <a:r>
              <a:rPr sz="1000" b="0">
                <a:solidFill>
                  <a:srgbClr val="2E5E96"/>
                </a:solidFill>
              </a:rPr>
              <a:t>Mohon arahan: dari list eksperimen di bawah, mana yang sebaiknya dibahas di BAB Hasil tesis, dan apakah yang masih partial/pending masih perlu dikejar?</a:t>
            </a:r>
          </a:p>
        </p:txBody>
      </p:sp>
      <p:sp>
        <p:nvSpPr>
          <p:cNvPr id="4" name="TextBox 3"/>
          <p:cNvSpPr txBox="1"/>
          <p:nvPr/>
        </p:nvSpPr>
        <p:spPr>
          <a:xfrm>
            <a:off x="274320" y="841248"/>
            <a:ext cx="4389120" cy="274320"/>
          </a:xfrm>
          <a:prstGeom prst="rect">
            <a:avLst/>
          </a:prstGeom>
          <a:noFill/>
        </p:spPr>
        <p:txBody>
          <a:bodyPr wrap="square" lIns="36000" rIns="36000" tIns="18000" bIns="18000">
            <a:spAutoFit/>
          </a:bodyPr>
          <a:lstStyle/>
          <a:p>
            <a:r>
              <a:rPr sz="1200" b="1">
                <a:solidFill>
                  <a:srgbClr val="1B7A3E"/>
                </a:solidFill>
              </a:rPr>
              <a:t>✅ DONE — Layak Dibahas (15)</a:t>
            </a:r>
          </a:p>
        </p:txBody>
      </p:sp>
      <p:sp>
        <p:nvSpPr>
          <p:cNvPr id="5" name="TextBox 4"/>
          <p:cNvSpPr txBox="1"/>
          <p:nvPr/>
        </p:nvSpPr>
        <p:spPr>
          <a:xfrm>
            <a:off x="274320" y="1115568"/>
            <a:ext cx="4389120" cy="3749039"/>
          </a:xfrm>
          <a:prstGeom prst="rect">
            <a:avLst/>
          </a:prstGeom>
          <a:noFill/>
        </p:spPr>
        <p:txBody>
          <a:bodyPr wrap="square" lIns="36000" rIns="36000" tIns="18000" bIns="18000">
            <a:spAutoFit/>
          </a:bodyPr>
          <a:lstStyle/>
          <a:p>
            <a:r>
              <a:rPr sz="900" b="1"/>
              <a:t>Pipeline + Dataset Primer</a:t>
            </a:r>
          </a:p>
          <a:p>
            <a:r>
              <a:rPr sz="800" b="0"/>
              <a:t>• Preprocessing 224×224, MediaPipe 68-pt landmark, Face API conf≥60%</a:t>
            </a:r>
          </a:p>
          <a:p>
            <a:r>
              <a:rPr sz="800" b="0"/>
              <a:t>• Split per-subject 78/8.5/13.5%, total 6,795 sampel front-only</a:t>
            </a:r>
          </a:p>
          <a:p>
            <a:r>
              <a:rPr sz="900" b="1"/>
              <a:t>Grid 7-class (27 configs, BAB 4)</a:t>
            </a:r>
          </a:p>
          <a:p>
            <a:r>
              <a:rPr sz="800" b="0"/>
              <a:t>• 9 arch × 3 scenario, juara: Early Fusion TL B3 macro=0.333</a:t>
            </a:r>
          </a:p>
          <a:p>
            <a:r>
              <a:rPr sz="900" b="1"/>
              <a:t>Grid 3-class reframe (27 configs, BAB 4) ⭐</a:t>
            </a:r>
          </a:p>
          <a:p>
            <a:r>
              <a:rPr sz="800" b="0"/>
              <a:t>• Russell 1980 valence — juara overall: Late Fusion TL B3 val=0.623</a:t>
            </a:r>
          </a:p>
          <a:p>
            <a:r>
              <a:rPr sz="900" b="1"/>
              <a:t>4-class (archived, narasi reframe)</a:t>
            </a:r>
          </a:p>
          <a:p>
            <a:r>
              <a:rPr sz="800" b="0"/>
              <a:t>• Dijadikan motivasi reframe ke 3-class (literature gap)</a:t>
            </a:r>
          </a:p>
          <a:p>
            <a:r>
              <a:rPr sz="900" b="1"/>
              <a:t>Soft Label Training (negative)</a:t>
            </a:r>
          </a:p>
          <a:p>
            <a:r>
              <a:rPr sz="800" b="0"/>
              <a:t>• nb 71/72/78 — KL-div, BCE, focal — no improvement</a:t>
            </a:r>
          </a:p>
          <a:p>
            <a:r>
              <a:rPr sz="900" b="1"/>
              <a:t>GradCAM Observasi (nb 73)</a:t>
            </a:r>
          </a:p>
          <a:p>
            <a:r>
              <a:rPr sz="900" b="1"/>
              <a:t>Space Alignment / CCA (nb 75) — positive</a:t>
            </a:r>
          </a:p>
          <a:p>
            <a:r>
              <a:rPr sz="800" b="0"/>
              <a:t>• Top-5 alignment = 0.978, image+landmark co-encoded</a:t>
            </a:r>
          </a:p>
          <a:p>
            <a:r>
              <a:rPr sz="900" b="1"/>
              <a:t>Confidence-Stratified Analysis</a:t>
            </a:r>
          </a:p>
          <a:p>
            <a:r>
              <a:rPr sz="800" b="0"/>
              <a:t>• Refutes label-noise hypothesis (slide 39)</a:t>
            </a:r>
          </a:p>
          <a:p>
            <a:r>
              <a:rPr sz="900" b="1"/>
              <a:t>CBAM Attention (nb 80) — negative</a:t>
            </a:r>
          </a:p>
          <a:p>
            <a:r>
              <a:rPr sz="800" b="0"/>
              <a:t>• 4 configs, none beat LF TL B3 val=0.623</a:t>
            </a:r>
          </a:p>
          <a:p>
            <a:r>
              <a:rPr sz="900" b="1"/>
              <a:t>Geometric Features Liliana 2019 (nb 81)</a:t>
            </a:r>
          </a:p>
          <a:p>
            <a:r>
              <a:rPr sz="800" b="0"/>
              <a:t>• 20-d GF — negative, tesis-only (3-class)</a:t>
            </a:r>
          </a:p>
          <a:p>
            <a:r>
              <a:rPr sz="900" b="1"/>
              <a:t>Expert Validation Pak Dephilia</a:t>
            </a:r>
          </a:p>
          <a:p>
            <a:r>
              <a:rPr sz="800" b="0"/>
              <a:t>• 128 entries divalidasi, Cohen's κ=0.45 (moderate)</a:t>
            </a:r>
          </a:p>
          <a:p>
            <a:r>
              <a:rPr sz="900" b="1"/>
              <a:t>Cross-dataset benchmark 7-class</a:t>
            </a:r>
          </a:p>
          <a:p>
            <a:r>
              <a:rPr sz="800" b="0"/>
              <a:t>• RAF-DB, KDEF, cross-dataset to/from Primer</a:t>
            </a:r>
          </a:p>
        </p:txBody>
      </p:sp>
      <p:sp>
        <p:nvSpPr>
          <p:cNvPr id="6" name="TextBox 5"/>
          <p:cNvSpPr txBox="1"/>
          <p:nvPr/>
        </p:nvSpPr>
        <p:spPr>
          <a:xfrm>
            <a:off x="4754880" y="841248"/>
            <a:ext cx="4114800" cy="274320"/>
          </a:xfrm>
          <a:prstGeom prst="rect">
            <a:avLst/>
          </a:prstGeom>
          <a:noFill/>
        </p:spPr>
        <p:txBody>
          <a:bodyPr wrap="square" lIns="36000" rIns="36000" tIns="18000" bIns="18000">
            <a:spAutoFit/>
          </a:bodyPr>
          <a:lstStyle/>
          <a:p>
            <a:r>
              <a:rPr sz="1200" b="1">
                <a:solidFill>
                  <a:srgbClr val="C46B10"/>
                </a:solidFill>
              </a:rPr>
              <a:t>🔄 PARTIAL / Pending VPS (3)</a:t>
            </a:r>
          </a:p>
        </p:txBody>
      </p:sp>
      <p:sp>
        <p:nvSpPr>
          <p:cNvPr id="7" name="TextBox 6"/>
          <p:cNvSpPr txBox="1"/>
          <p:nvPr/>
        </p:nvSpPr>
        <p:spPr>
          <a:xfrm>
            <a:off x="4754880" y="1115568"/>
            <a:ext cx="4114800" cy="1645920"/>
          </a:xfrm>
          <a:prstGeom prst="rect">
            <a:avLst/>
          </a:prstGeom>
          <a:noFill/>
        </p:spPr>
        <p:txBody>
          <a:bodyPr wrap="square" lIns="36000" rIns="36000" tIns="18000" bIns="18000">
            <a:spAutoFit/>
          </a:bodyPr>
          <a:lstStyle/>
          <a:p>
            <a:r>
              <a:rPr sz="900" b="1"/>
              <a:t>3-class Skema 1 benchmark (nb 84)</a:t>
            </a:r>
          </a:p>
          <a:p>
            <a:r>
              <a:rPr sz="800" b="0"/>
              <a:t>• CK+ ✅ + JAFFE ✅ done</a:t>
            </a:r>
          </a:p>
          <a:p>
            <a:r>
              <a:rPr sz="800" b="0">
                <a:solidFill>
                  <a:srgbClr val="C46B10"/>
                </a:solidFill>
              </a:rPr>
              <a:t>• RAF-DB, KDEF — pending VPS recovery</a:t>
            </a:r>
          </a:p>
          <a:p>
            <a:r>
              <a:rPr sz="900" b="1"/>
              <a:t>3-class Skema 2 cross-dataset (nb 85)</a:t>
            </a:r>
          </a:p>
          <a:p>
            <a:r>
              <a:rPr sz="800" b="0">
                <a:solidFill>
                  <a:srgbClr val="C46B10"/>
                </a:solidFill>
              </a:rPr>
              <a:t>• Train Primer 3c → test RAF-DB/KDEF/CK+/JAFFE — pending VPS</a:t>
            </a:r>
          </a:p>
          <a:p>
            <a:r>
              <a:rPr sz="900" b="1"/>
              <a:t>History logging full grid (nb 83)</a:t>
            </a:r>
          </a:p>
          <a:p>
            <a:r>
              <a:rPr sz="800" b="0">
                <a:solidFill>
                  <a:srgbClr val="C46B10"/>
                </a:solidFill>
              </a:rPr>
              <a:t>• Hanya 5 config dilakukan — full 27 belum logged</a:t>
            </a:r>
          </a:p>
        </p:txBody>
      </p:sp>
      <p:sp>
        <p:nvSpPr>
          <p:cNvPr id="8" name="TextBox 7"/>
          <p:cNvSpPr txBox="1"/>
          <p:nvPr/>
        </p:nvSpPr>
        <p:spPr>
          <a:xfrm>
            <a:off x="4754880" y="2788920"/>
            <a:ext cx="4114800" cy="274320"/>
          </a:xfrm>
          <a:prstGeom prst="rect">
            <a:avLst/>
          </a:prstGeom>
          <a:noFill/>
        </p:spPr>
        <p:txBody>
          <a:bodyPr wrap="square" lIns="36000" rIns="36000" tIns="18000" bIns="18000">
            <a:spAutoFit/>
          </a:bodyPr>
          <a:lstStyle/>
          <a:p>
            <a:r>
              <a:rPr sz="1200" b="1">
                <a:solidFill>
                  <a:srgbClr val="B02A2A"/>
                </a:solidFill>
              </a:rPr>
              <a:t>❌ TIDAK MEMUNGKINKAN — Out of Scope (5)</a:t>
            </a:r>
          </a:p>
        </p:txBody>
      </p:sp>
      <p:sp>
        <p:nvSpPr>
          <p:cNvPr id="9" name="TextBox 8"/>
          <p:cNvSpPr txBox="1"/>
          <p:nvPr/>
        </p:nvSpPr>
        <p:spPr>
          <a:xfrm>
            <a:off x="4754880" y="3063240"/>
            <a:ext cx="4114800" cy="1828800"/>
          </a:xfrm>
          <a:prstGeom prst="rect">
            <a:avLst/>
          </a:prstGeom>
          <a:noFill/>
        </p:spPr>
        <p:txBody>
          <a:bodyPr wrap="square" lIns="36000" rIns="36000" tIns="18000" bIns="18000">
            <a:spAutoFit/>
          </a:bodyPr>
          <a:lstStyle/>
          <a:p>
            <a:r>
              <a:rPr sz="900" b="1"/>
              <a:t>Pitaloka 2017 GCN Ablation</a:t>
            </a:r>
          </a:p>
          <a:p>
            <a:r>
              <a:rPr sz="800" b="0"/>
              <a:t>• Tidak dilakukan — alasan: implementasi GCN dari awal (graph construction dari landmark) butuh ≥1 minggu</a:t>
            </a:r>
          </a:p>
          <a:p>
            <a:r>
              <a:rPr sz="900" b="1"/>
              <a:t>Liliana 2019 FEIS Fuzzy Rule</a:t>
            </a:r>
          </a:p>
          <a:p>
            <a:r>
              <a:rPr sz="800" b="0"/>
              <a:t>• Non-DL baseline — manual rule design + tuning, estimasi 2-3 hari + di luar fokus DL</a:t>
            </a:r>
          </a:p>
          <a:p>
            <a:r>
              <a:rPr sz="900" b="1"/>
              <a:t>Ghost / Triplet loss approach</a:t>
            </a:r>
          </a:p>
          <a:p>
            <a:r>
              <a:rPr sz="800" b="0"/>
              <a:t>• Tidak dilakukan — kompleksitas pair sampling + class weight interaksi</a:t>
            </a:r>
          </a:p>
          <a:p>
            <a:r>
              <a:rPr sz="900" b="1"/>
              <a:t>CBAM / Geometric untuk 7-class scheme</a:t>
            </a:r>
          </a:p>
          <a:p>
            <a:r>
              <a:rPr sz="800" b="0"/>
              <a:t>• Hanya diuji di 3-class (juara scheme); pattern negative di 3c → kemungkinan lebih buruk di kelas minoritas 7c</a:t>
            </a:r>
          </a:p>
          <a:p>
            <a:r>
              <a:rPr sz="900" b="1"/>
              <a:t>Multitask learning (valence + arousal)</a:t>
            </a:r>
          </a:p>
          <a:p>
            <a:r>
              <a:rPr sz="800" b="0"/>
              <a:t>• Tidak ada label arousal di Primer dataset (Face API hanya 7 emotion)</a:t>
            </a:r>
          </a:p>
        </p:txBody>
      </p:sp>
      <p:sp>
        <p:nvSpPr>
          <p:cNvPr id="10" name="TextBox 9"/>
          <p:cNvSpPr txBox="1"/>
          <p:nvPr/>
        </p:nvSpPr>
        <p:spPr>
          <a:xfrm>
            <a:off x="274320" y="4846320"/>
            <a:ext cx="8595360" cy="292608"/>
          </a:xfrm>
          <a:prstGeom prst="rect">
            <a:avLst/>
          </a:prstGeom>
          <a:noFill/>
        </p:spPr>
        <p:txBody>
          <a:bodyPr wrap="square" lIns="36000" rIns="36000" tIns="18000" bIns="18000">
            <a:spAutoFit/>
          </a:bodyPr>
          <a:lstStyle/>
          <a:p>
            <a:r>
              <a:rPr sz="900" b="1">
                <a:solidFill>
                  <a:srgbClr val="2E5E96"/>
                </a:solidFill>
              </a:rPr>
              <a:t>Pertanyaan: (1) item DONE mana yang prioritas highlight di tesis? (2) RAF-DB/KDEF 3c benchmark perlu dikejar atau cukup CK+/JAFFE? (3) Dari yang TIDAK MEMUNGKINKAN, ada yang Bapak prioritaskan untuk dipaksakan?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a:t>Update Komunikasi ke Pak Fitra — Submission JITeCS</a:t>
            </a:r>
          </a:p>
        </p:txBody>
      </p:sp>
      <p:sp>
        <p:nvSpPr>
          <p:cNvPr id="3" name="TextBox 2"/>
          <p:cNvSpPr txBox="1"/>
          <p:nvPr/>
        </p:nvSpPr>
        <p:spPr>
          <a:xfrm>
            <a:off x="274320" y="548640"/>
            <a:ext cx="8595360" cy="320040"/>
          </a:xfrm>
          <a:prstGeom prst="rect">
            <a:avLst/>
          </a:prstGeom>
          <a:noFill/>
        </p:spPr>
        <p:txBody>
          <a:bodyPr wrap="square" lIns="0" rIns="0" tIns="0" bIns="0">
            <a:spAutoFit/>
          </a:bodyPr>
          <a:lstStyle/>
          <a:p>
            <a:r>
              <a:rPr sz="1100" b="1">
                <a:solidFill>
                  <a:srgbClr val="2E5E96"/>
                </a:solidFill>
              </a:rPr>
              <a:t>Pesan terkirim ke Pak Fitra (update draft + pertanyaan timeline)</a:t>
            </a:r>
          </a:p>
        </p:txBody>
      </p:sp>
      <p:sp>
        <p:nvSpPr>
          <p:cNvPr id="4" name="TextBox 3"/>
          <p:cNvSpPr txBox="1"/>
          <p:nvPr/>
        </p:nvSpPr>
        <p:spPr>
          <a:xfrm>
            <a:off x="457200" y="914400"/>
            <a:ext cx="8229600" cy="502920"/>
          </a:xfrm>
          <a:prstGeom prst="rect">
            <a:avLst/>
          </a:prstGeom>
          <a:noFill/>
        </p:spPr>
        <p:txBody>
          <a:bodyPr wrap="square" lIns="0" rIns="0" tIns="0" bIns="0">
            <a:spAutoFit/>
          </a:bodyPr>
          <a:lstStyle/>
          <a:p>
            <a:r>
              <a:rPr sz="1050" b="0"/>
              <a:t>Selamat siang, Pak Fitra.</a:t>
            </a:r>
          </a:p>
          <a:p>
            <a:r>
              <a:rPr sz="1050" b="0"/>
              <a:t>Mohon maaf mengganggu waktunya.</a:t>
            </a:r>
          </a:p>
        </p:txBody>
      </p:sp>
      <p:sp>
        <p:nvSpPr>
          <p:cNvPr id="5" name="TextBox 4"/>
          <p:cNvSpPr txBox="1"/>
          <p:nvPr/>
        </p:nvSpPr>
        <p:spPr>
          <a:xfrm>
            <a:off x="457200" y="1508760"/>
            <a:ext cx="8229600" cy="868680"/>
          </a:xfrm>
          <a:prstGeom prst="rect">
            <a:avLst/>
          </a:prstGeom>
          <a:noFill/>
        </p:spPr>
        <p:txBody>
          <a:bodyPr wrap="square" lIns="0" rIns="0" tIns="0" bIns="0">
            <a:spAutoFit/>
          </a:bodyPr>
          <a:lstStyle/>
          <a:p>
            <a:r>
              <a:rPr sz="1050" b="0"/>
              <a:t>Saat ini draft paper untuk submission ke JITeCS sudah saya revisi menjadi versi v0.4. Ada perubahan pada hasil yang dilaporkan, dari sebelumnya 7 class &amp; 4 class menjadi 7 class &amp; 3 class yang sudah disesuaikan dengan literatur. Selain itu, draft ini juga sudah mendapatkan review dan masukan dari Pak Budi.</a:t>
            </a:r>
          </a:p>
        </p:txBody>
      </p:sp>
      <p:sp>
        <p:nvSpPr>
          <p:cNvPr id="6" name="TextBox 5"/>
          <p:cNvSpPr txBox="1"/>
          <p:nvPr/>
        </p:nvSpPr>
        <p:spPr>
          <a:xfrm>
            <a:off x="457200" y="2514600"/>
            <a:ext cx="8229600" cy="292608"/>
          </a:xfrm>
          <a:prstGeom prst="rect">
            <a:avLst/>
          </a:prstGeom>
          <a:noFill/>
        </p:spPr>
        <p:txBody>
          <a:bodyPr wrap="square" lIns="0" rIns="0" tIns="0" bIns="0">
            <a:spAutoFit/>
          </a:bodyPr>
          <a:lstStyle/>
          <a:p>
            <a:r>
              <a:rPr sz="1050" b="0"/>
              <a:t>Untuk file terbaru bisa diakses di drive yang sama berikut pak:</a:t>
            </a:r>
          </a:p>
        </p:txBody>
      </p:sp>
      <p:sp>
        <p:nvSpPr>
          <p:cNvPr id="7" name="TextBox 6"/>
          <p:cNvSpPr txBox="1"/>
          <p:nvPr/>
        </p:nvSpPr>
        <p:spPr>
          <a:xfrm>
            <a:off x="457200" y="2807208"/>
            <a:ext cx="8229600" cy="292608"/>
          </a:xfrm>
          <a:prstGeom prst="rect">
            <a:avLst/>
          </a:prstGeom>
          <a:noFill/>
        </p:spPr>
        <p:txBody>
          <a:bodyPr wrap="square" lIns="0" rIns="0" tIns="0" bIns="0">
            <a:spAutoFit/>
          </a:bodyPr>
          <a:lstStyle/>
          <a:p>
            <a:r>
              <a:rPr sz="900" b="0">
                <a:solidFill>
                  <a:srgbClr val="2E5E96"/>
                </a:solidFill>
              </a:rPr>
              <a:t>https://drive.google.com/drive/folders/1tbxb0Vi1AsEuXPxNNkRqECmX24P9Kqfj?usp=drive_link</a:t>
            </a:r>
          </a:p>
        </p:txBody>
      </p:sp>
      <p:sp>
        <p:nvSpPr>
          <p:cNvPr id="8" name="TextBox 7"/>
          <p:cNvSpPr txBox="1"/>
          <p:nvPr/>
        </p:nvSpPr>
        <p:spPr>
          <a:xfrm>
            <a:off x="457200" y="3246120"/>
            <a:ext cx="8229600" cy="1005840"/>
          </a:xfrm>
          <a:prstGeom prst="rect">
            <a:avLst/>
          </a:prstGeom>
          <a:noFill/>
        </p:spPr>
        <p:txBody>
          <a:bodyPr wrap="square" lIns="0" rIns="0" tIns="0" bIns="0">
            <a:spAutoFit/>
          </a:bodyPr>
          <a:lstStyle/>
          <a:p>
            <a:r>
              <a:rPr sz="1050" b="0"/>
              <a:t>Saya juga ingin menanyakan terkait timeline submission ke JITeCS, karena sebelumnya pada timeline akselerasi yang Bapak sampaikan targetnya tanggal 24 April. Kira-kira untuk draft ini akan dikirim kapan ya Pak? Mohon arahan dari Bapak.</a:t>
            </a:r>
          </a:p>
        </p:txBody>
      </p:sp>
      <p:sp>
        <p:nvSpPr>
          <p:cNvPr id="9" name="TextBox 8"/>
          <p:cNvSpPr txBox="1"/>
          <p:nvPr/>
        </p:nvSpPr>
        <p:spPr>
          <a:xfrm>
            <a:off x="457200" y="4434840"/>
            <a:ext cx="8229600" cy="365760"/>
          </a:xfrm>
          <a:prstGeom prst="rect">
            <a:avLst/>
          </a:prstGeom>
          <a:noFill/>
        </p:spPr>
        <p:txBody>
          <a:bodyPr wrap="square" lIns="0" rIns="0" tIns="0" bIns="0">
            <a:spAutoFit/>
          </a:bodyPr>
          <a:lstStyle/>
          <a:p>
            <a:r>
              <a:rPr sz="1050" b="1">
                <a:solidFill>
                  <a:srgbClr val="555555"/>
                </a:solidFill>
              </a:rPr>
              <a:t>Terima kasih banyak Pak.</a:t>
            </a:r>
          </a:p>
        </p:txBody>
      </p:sp>
      <p:sp>
        <p:nvSpPr>
          <p:cNvPr id="10" name="TextBox 9"/>
          <p:cNvSpPr txBox="1"/>
          <p:nvPr/>
        </p:nvSpPr>
        <p:spPr>
          <a:xfrm>
            <a:off x="274320" y="6263640"/>
            <a:ext cx="8595360" cy="274320"/>
          </a:xfrm>
          <a:prstGeom prst="rect">
            <a:avLst/>
          </a:prstGeom>
          <a:noFill/>
        </p:spPr>
        <p:txBody>
          <a:bodyPr wrap="square" lIns="0" rIns="0" tIns="0" bIns="0">
            <a:spAutoFit/>
          </a:bodyPr>
          <a:lstStyle/>
          <a:p>
            <a:r>
              <a:rPr sz="900" b="0">
                <a:solidFill>
                  <a:srgbClr val="888888"/>
                </a:solidFill>
              </a:rPr>
              <a:t>Status: menunggu balasan Pak Fitra terkait jadwal submission.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20040"/>
          </a:xfrm>
          <a:prstGeom prst="rect">
            <a:avLst/>
          </a:prstGeom>
          <a:noFill/>
        </p:spPr>
        <p:txBody>
          <a:bodyPr wrap="square" lIns="0" rIns="0" tIns="0" bIns="0">
            <a:spAutoFit/>
          </a:bodyPr>
          <a:lstStyle/>
          <a:p>
            <a:r>
              <a:rPr sz="1600" b="1"/>
              <a:t>Tabel Eksplorasi Penelitian (1/2) - Eksperimen Utama</a:t>
            </a:r>
          </a:p>
        </p:txBody>
      </p:sp>
      <p:sp>
        <p:nvSpPr>
          <p:cNvPr id="3" name="TextBox 2"/>
          <p:cNvSpPr txBox="1"/>
          <p:nvPr/>
        </p:nvSpPr>
        <p:spPr>
          <a:xfrm>
            <a:off x="274320" y="384048"/>
            <a:ext cx="8595360" cy="201168"/>
          </a:xfrm>
          <a:prstGeom prst="rect">
            <a:avLst/>
          </a:prstGeom>
          <a:noFill/>
        </p:spPr>
        <p:txBody>
          <a:bodyPr wrap="square" lIns="0" rIns="0" tIns="0" bIns="0">
            <a:spAutoFit/>
          </a:bodyPr>
          <a:lstStyle/>
          <a:p>
            <a:r>
              <a:rPr sz="800" b="0">
                <a:solidFill>
                  <a:srgbClr val="777777"/>
                </a:solidFill>
              </a:rPr>
              <a:t>Total 200+ kombinasi eksperimen | Metrik: Macro F1 (val-based) | GPU: NVIDIA T4</a:t>
            </a:r>
          </a:p>
        </p:txBody>
      </p:sp>
      <p:graphicFrame>
        <p:nvGraphicFramePr>
          <p:cNvPr id="4" name="Table 3"/>
          <p:cNvGraphicFramePr>
            <a:graphicFrameLocks noGrp="1"/>
          </p:cNvGraphicFramePr>
          <p:nvPr/>
        </p:nvGraphicFramePr>
        <p:xfrm>
          <a:off x="137160" y="621792"/>
          <a:ext cx="8869680" cy="4572000"/>
        </p:xfrm>
        <a:graphic>
          <a:graphicData uri="http://schemas.openxmlformats.org/drawingml/2006/table">
            <a:tbl>
              <a:tblPr firstRow="1" bandRow="1">
                <a:tableStyleId>{5C22544A-7EE6-4342-B048-85BDC9FD1C3A}</a:tableStyleId>
              </a:tblPr>
              <a:tblGrid>
                <a:gridCol w="256032"/>
                <a:gridCol w="1554480"/>
                <a:gridCol w="411480"/>
                <a:gridCol w="1463040"/>
                <a:gridCol w="438912"/>
                <a:gridCol w="4745736"/>
              </a:tblGrid>
              <a:tr h="457200">
                <a:tc>
                  <a:txBody>
                    <a:bodyPr/>
                    <a:lstStyle/>
                    <a:p>
                      <a:pPr>
                        <a:spcBef>
                          <a:spcPts val="0"/>
                        </a:spcBef>
                        <a:spcAft>
                          <a:spcPts val="0"/>
                        </a:spcAft>
                      </a:pPr>
                      <a:r>
                        <a:rPr sz="800" b="1">
                          <a:solidFill>
                            <a:srgbClr val="FFFFFF"/>
                          </a:solidFill>
                        </a:rPr>
                        <a:t>#</a:t>
                      </a:r>
                    </a:p>
                  </a:txBody>
                  <a:tcPr>
                    <a:solidFill>
                      <a:srgbClr val="1F3A5F"/>
                    </a:solidFill>
                  </a:tcPr>
                </a:tc>
                <a:tc>
                  <a:txBody>
                    <a:bodyPr/>
                    <a:lstStyle/>
                    <a:p>
                      <a:pPr>
                        <a:spcBef>
                          <a:spcPts val="0"/>
                        </a:spcBef>
                        <a:spcAft>
                          <a:spcPts val="0"/>
                        </a:spcAft>
                      </a:pPr>
                      <a:r>
                        <a:rPr sz="800" b="1">
                          <a:solidFill>
                            <a:srgbClr val="FFFFFF"/>
                          </a:solidFill>
                        </a:rPr>
                        <a:t>Eksplorasi</a:t>
                      </a:r>
                    </a:p>
                  </a:txBody>
                  <a:tcPr>
                    <a:solidFill>
                      <a:srgbClr val="1F3A5F"/>
                    </a:solidFill>
                  </a:tcPr>
                </a:tc>
                <a:tc>
                  <a:txBody>
                    <a:bodyPr/>
                    <a:lstStyle/>
                    <a:p>
                      <a:pPr>
                        <a:spcBef>
                          <a:spcPts val="0"/>
                        </a:spcBef>
                        <a:spcAft>
                          <a:spcPts val="0"/>
                        </a:spcAft>
                      </a:pPr>
                      <a:r>
                        <a:rPr sz="800" b="1">
                          <a:solidFill>
                            <a:srgbClr val="FFFFFF"/>
                          </a:solidFill>
                        </a:rPr>
                        <a:t>Cfgs</a:t>
                      </a:r>
                    </a:p>
                  </a:txBody>
                  <a:tcPr>
                    <a:solidFill>
                      <a:srgbClr val="1F3A5F"/>
                    </a:solidFill>
                  </a:tcPr>
                </a:tc>
                <a:tc>
                  <a:txBody>
                    <a:bodyPr/>
                    <a:lstStyle/>
                    <a:p>
                      <a:pPr>
                        <a:spcBef>
                          <a:spcPts val="0"/>
                        </a:spcBef>
                        <a:spcAft>
                          <a:spcPts val="0"/>
                        </a:spcAft>
                      </a:pPr>
                      <a:r>
                        <a:rPr sz="800" b="1">
                          <a:solidFill>
                            <a:srgbClr val="FFFFFF"/>
                          </a:solidFill>
                        </a:rPr>
                        <a:t>Best Model</a:t>
                      </a:r>
                    </a:p>
                  </a:txBody>
                  <a:tcPr>
                    <a:solidFill>
                      <a:srgbClr val="1F3A5F"/>
                    </a:solidFill>
                  </a:tcPr>
                </a:tc>
                <a:tc>
                  <a:txBody>
                    <a:bodyPr/>
                    <a:lstStyle/>
                    <a:p>
                      <a:pPr>
                        <a:spcBef>
                          <a:spcPts val="0"/>
                        </a:spcBef>
                        <a:spcAft>
                          <a:spcPts val="0"/>
                        </a:spcAft>
                      </a:pPr>
                      <a:r>
                        <a:rPr sz="800" b="1">
                          <a:solidFill>
                            <a:srgbClr val="FFFFFF"/>
                          </a:solidFill>
                        </a:rPr>
                        <a:t>F1</a:t>
                      </a:r>
                    </a:p>
                  </a:txBody>
                  <a:tcPr>
                    <a:solidFill>
                      <a:srgbClr val="1F3A5F"/>
                    </a:solidFill>
                  </a:tcPr>
                </a:tc>
                <a:tc>
                  <a:txBody>
                    <a:bodyPr/>
                    <a:lstStyle/>
                    <a:p>
                      <a:pPr>
                        <a:spcBef>
                          <a:spcPts val="0"/>
                        </a:spcBef>
                        <a:spcAft>
                          <a:spcPts val="0"/>
                        </a:spcAft>
                      </a:pPr>
                      <a:r>
                        <a:rPr sz="800" b="1">
                          <a:solidFill>
                            <a:srgbClr val="FFFFFF"/>
                          </a:solidFill>
                        </a:rPr>
                        <a:t>Temuan Utama</a:t>
                      </a:r>
                    </a:p>
                  </a:txBody>
                  <a:tcPr>
                    <a:solidFill>
                      <a:srgbClr val="1F3A5F"/>
                    </a:solidFill>
                  </a:tcPr>
                </a:tc>
              </a:tr>
              <a:tr h="457200">
                <a:tc>
                  <a:txBody>
                    <a:bodyPr/>
                    <a:lstStyle/>
                    <a:p>
                      <a:pPr>
                        <a:spcBef>
                          <a:spcPts val="0"/>
                        </a:spcBef>
                        <a:spcAft>
                          <a:spcPts val="0"/>
                        </a:spcAft>
                      </a:pPr>
                      <a:r>
                        <a:rPr sz="750" b="0"/>
                        <a:t>1</a:t>
                      </a:r>
                    </a:p>
                  </a:txBody>
                  <a:tcPr/>
                </a:tc>
                <a:tc>
                  <a:txBody>
                    <a:bodyPr/>
                    <a:lstStyle/>
                    <a:p>
                      <a:pPr>
                        <a:spcBef>
                          <a:spcPts val="0"/>
                        </a:spcBef>
                        <a:spcAft>
                          <a:spcPts val="0"/>
                        </a:spcAft>
                      </a:pPr>
                      <a:r>
                        <a:rPr sz="750" b="0"/>
                        <a:t>7-Class From Scratch</a:t>
                      </a:r>
                    </a:p>
                  </a:txBody>
                  <a:tcPr/>
                </a:tc>
                <a:tc>
                  <a:txBody>
                    <a:bodyPr/>
                    <a:lstStyle/>
                    <a:p>
                      <a:pPr>
                        <a:spcBef>
                          <a:spcPts val="0"/>
                        </a:spcBef>
                        <a:spcAft>
                          <a:spcPts val="0"/>
                        </a:spcAft>
                      </a:pPr>
                      <a:r>
                        <a:rPr sz="750" b="0"/>
                        <a:t>12</a:t>
                      </a:r>
                    </a:p>
                  </a:txBody>
                  <a:tcPr/>
                </a:tc>
                <a:tc>
                  <a:txBody>
                    <a:bodyPr/>
                    <a:lstStyle/>
                    <a:p>
                      <a:pPr>
                        <a:spcBef>
                          <a:spcPts val="0"/>
                        </a:spcBef>
                        <a:spcAft>
                          <a:spcPts val="0"/>
                        </a:spcAft>
                      </a:pPr>
                      <a:r>
                        <a:rPr sz="750" b="0"/>
                        <a:t>FCNN B1</a:t>
                      </a:r>
                    </a:p>
                  </a:txBody>
                  <a:tcPr/>
                </a:tc>
                <a:tc>
                  <a:txBody>
                    <a:bodyPr/>
                    <a:lstStyle/>
                    <a:p>
                      <a:pPr>
                        <a:spcBef>
                          <a:spcPts val="0"/>
                        </a:spcBef>
                        <a:spcAft>
                          <a:spcPts val="0"/>
                        </a:spcAft>
                      </a:pPr>
                      <a:r>
                        <a:rPr sz="750" b="0"/>
                        <a:t>0.234</a:t>
                      </a:r>
                    </a:p>
                  </a:txBody>
                  <a:tcPr/>
                </a:tc>
                <a:tc>
                  <a:txBody>
                    <a:bodyPr/>
                    <a:lstStyle/>
                    <a:p>
                      <a:pPr>
                        <a:spcBef>
                          <a:spcPts val="0"/>
                        </a:spcBef>
                        <a:spcAft>
                          <a:spcPts val="0"/>
                        </a:spcAft>
                      </a:pPr>
                      <a:r>
                        <a:rPr sz="750" b="0"/>
                        <a:t>FCNN&gt;CNN. Weights/aug tidak membantu. Kelas minoritas recall 0%.</a:t>
                      </a:r>
                    </a:p>
                  </a:txBody>
                  <a:tcPr/>
                </a:tc>
              </a:tr>
              <a:tr h="457200">
                <a:tc>
                  <a:txBody>
                    <a:bodyPr/>
                    <a:lstStyle/>
                    <a:p>
                      <a:pPr>
                        <a:spcBef>
                          <a:spcPts val="0"/>
                        </a:spcBef>
                        <a:spcAft>
                          <a:spcPts val="0"/>
                        </a:spcAft>
                      </a:pPr>
                      <a:r>
                        <a:rPr sz="750" b="0"/>
                        <a:t>2</a:t>
                      </a:r>
                    </a:p>
                  </a:txBody>
                  <a:tcPr>
                    <a:solidFill>
                      <a:srgbClr val="F5F5F5"/>
                    </a:solidFill>
                  </a:tcPr>
                </a:tc>
                <a:tc>
                  <a:txBody>
                    <a:bodyPr/>
                    <a:lstStyle/>
                    <a:p>
                      <a:pPr>
                        <a:spcBef>
                          <a:spcPts val="0"/>
                        </a:spcBef>
                        <a:spcAft>
                          <a:spcPts val="0"/>
                        </a:spcAft>
                      </a:pPr>
                      <a:r>
                        <a:rPr sz="750" b="0"/>
                        <a:t>4-Class From Scratch</a:t>
                      </a:r>
                    </a:p>
                  </a:txBody>
                  <a:tcPr>
                    <a:solidFill>
                      <a:srgbClr val="F5F5F5"/>
                    </a:solidFill>
                  </a:tcPr>
                </a:tc>
                <a:tc>
                  <a:txBody>
                    <a:bodyPr/>
                    <a:lstStyle/>
                    <a:p>
                      <a:pPr>
                        <a:spcBef>
                          <a:spcPts val="0"/>
                        </a:spcBef>
                        <a:spcAft>
                          <a:spcPts val="0"/>
                        </a:spcAft>
                      </a:pPr>
                      <a:r>
                        <a:rPr sz="750" b="0"/>
                        <a:t>12</a:t>
                      </a:r>
                    </a:p>
                  </a:txBody>
                  <a:tcPr>
                    <a:solidFill>
                      <a:srgbClr val="F5F5F5"/>
                    </a:solidFill>
                  </a:tcPr>
                </a:tc>
                <a:tc>
                  <a:txBody>
                    <a:bodyPr/>
                    <a:lstStyle/>
                    <a:p>
                      <a:pPr>
                        <a:spcBef>
                          <a:spcPts val="0"/>
                        </a:spcBef>
                        <a:spcAft>
                          <a:spcPts val="0"/>
                        </a:spcAft>
                      </a:pPr>
                      <a:r>
                        <a:rPr sz="750" b="0"/>
                        <a:t>FCNN B3</a:t>
                      </a:r>
                    </a:p>
                  </a:txBody>
                  <a:tcPr>
                    <a:solidFill>
                      <a:srgbClr val="F5F5F5"/>
                    </a:solidFill>
                  </a:tcPr>
                </a:tc>
                <a:tc>
                  <a:txBody>
                    <a:bodyPr/>
                    <a:lstStyle/>
                    <a:p>
                      <a:pPr>
                        <a:spcBef>
                          <a:spcPts val="0"/>
                        </a:spcBef>
                        <a:spcAft>
                          <a:spcPts val="0"/>
                        </a:spcAft>
                      </a:pPr>
                      <a:r>
                        <a:rPr sz="750" b="0"/>
                        <a:t>0.394</a:t>
                      </a:r>
                    </a:p>
                  </a:txBody>
                  <a:tcPr>
                    <a:solidFill>
                      <a:srgbClr val="F5F5F5"/>
                    </a:solidFill>
                  </a:tcPr>
                </a:tc>
                <a:tc>
                  <a:txBody>
                    <a:bodyPr/>
                    <a:lstStyle/>
                    <a:p>
                      <a:pPr>
                        <a:spcBef>
                          <a:spcPts val="0"/>
                        </a:spcBef>
                        <a:spcAft>
                          <a:spcPts val="0"/>
                        </a:spcAft>
                      </a:pPr>
                      <a:r>
                        <a:rPr sz="750" b="0"/>
                        <a:t>Merge 4 emosi langka -&gt; negative. F1 +68%. Aug efektif.</a:t>
                      </a:r>
                    </a:p>
                  </a:txBody>
                  <a:tcPr>
                    <a:solidFill>
                      <a:srgbClr val="F5F5F5"/>
                    </a:solidFill>
                  </a:tcPr>
                </a:tc>
              </a:tr>
              <a:tr h="457200">
                <a:tc>
                  <a:txBody>
                    <a:bodyPr/>
                    <a:lstStyle/>
                    <a:p>
                      <a:pPr>
                        <a:spcBef>
                          <a:spcPts val="0"/>
                        </a:spcBef>
                        <a:spcAft>
                          <a:spcPts val="0"/>
                        </a:spcAft>
                      </a:pPr>
                      <a:r>
                        <a:rPr sz="750" b="0"/>
                        <a:t>3</a:t>
                      </a:r>
                    </a:p>
                  </a:txBody>
                  <a:tcPr/>
                </a:tc>
                <a:tc>
                  <a:txBody>
                    <a:bodyPr/>
                    <a:lstStyle/>
                    <a:p>
                      <a:pPr>
                        <a:spcBef>
                          <a:spcPts val="0"/>
                        </a:spcBef>
                        <a:spcAft>
                          <a:spcPts val="0"/>
                        </a:spcAft>
                      </a:pPr>
                      <a:r>
                        <a:rPr sz="750" b="0"/>
                        <a:t>Transfer Learning ResNet18</a:t>
                      </a:r>
                    </a:p>
                  </a:txBody>
                  <a:tcPr/>
                </a:tc>
                <a:tc>
                  <a:txBody>
                    <a:bodyPr/>
                    <a:lstStyle/>
                    <a:p>
                      <a:pPr>
                        <a:spcBef>
                          <a:spcPts val="0"/>
                        </a:spcBef>
                        <a:spcAft>
                          <a:spcPts val="0"/>
                        </a:spcAft>
                      </a:pPr>
                      <a:r>
                        <a:rPr sz="750" b="0"/>
                        <a:t>24</a:t>
                      </a:r>
                    </a:p>
                  </a:txBody>
                  <a:tcPr/>
                </a:tc>
                <a:tc>
                  <a:txBody>
                    <a:bodyPr/>
                    <a:lstStyle/>
                    <a:p>
                      <a:pPr>
                        <a:spcBef>
                          <a:spcPts val="0"/>
                        </a:spcBef>
                        <a:spcAft>
                          <a:spcPts val="0"/>
                        </a:spcAft>
                      </a:pPr>
                      <a:r>
                        <a:rPr sz="750" b="0"/>
                        <a:t>Late Fusion TL 4c B2</a:t>
                      </a:r>
                    </a:p>
                  </a:txBody>
                  <a:tcPr/>
                </a:tc>
                <a:tc>
                  <a:txBody>
                    <a:bodyPr/>
                    <a:lstStyle/>
                    <a:p>
                      <a:pPr>
                        <a:spcBef>
                          <a:spcPts val="0"/>
                        </a:spcBef>
                        <a:spcAft>
                          <a:spcPts val="0"/>
                        </a:spcAft>
                      </a:pPr>
                      <a:r>
                        <a:rPr sz="750" b="0"/>
                        <a:t>0.442</a:t>
                      </a:r>
                    </a:p>
                  </a:txBody>
                  <a:tcPr/>
                </a:tc>
                <a:tc>
                  <a:txBody>
                    <a:bodyPr/>
                    <a:lstStyle/>
                    <a:p>
                      <a:pPr>
                        <a:spcBef>
                          <a:spcPts val="0"/>
                        </a:spcBef>
                        <a:spcAft>
                          <a:spcPts val="0"/>
                        </a:spcAft>
                      </a:pPr>
                      <a:r>
                        <a:rPr sz="750" b="0"/>
                        <a:t>CNN TL +37%. FCNN tidak terpengaruh. Late Fusion best overall.</a:t>
                      </a:r>
                    </a:p>
                  </a:txBody>
                  <a:tcPr/>
                </a:tc>
              </a:tr>
              <a:tr h="457200">
                <a:tc>
                  <a:txBody>
                    <a:bodyPr/>
                    <a:lstStyle/>
                    <a:p>
                      <a:pPr>
                        <a:spcBef>
                          <a:spcPts val="0"/>
                        </a:spcBef>
                        <a:spcAft>
                          <a:spcPts val="0"/>
                        </a:spcAft>
                      </a:pPr>
                      <a:r>
                        <a:rPr sz="750" b="0"/>
                        <a:t>4</a:t>
                      </a:r>
                    </a:p>
                  </a:txBody>
                  <a:tcPr>
                    <a:solidFill>
                      <a:srgbClr val="F5F5F5"/>
                    </a:solidFill>
                  </a:tcPr>
                </a:tc>
                <a:tc>
                  <a:txBody>
                    <a:bodyPr/>
                    <a:lstStyle/>
                    <a:p>
                      <a:pPr>
                        <a:spcBef>
                          <a:spcPts val="0"/>
                        </a:spcBef>
                        <a:spcAft>
                          <a:spcPts val="0"/>
                        </a:spcAft>
                      </a:pPr>
                      <a:r>
                        <a:rPr sz="750" b="0"/>
                        <a:t>Front-Only (konsistensi data)</a:t>
                      </a:r>
                    </a:p>
                  </a:txBody>
                  <a:tcPr>
                    <a:solidFill>
                      <a:srgbClr val="F5F5F5"/>
                    </a:solidFill>
                  </a:tcPr>
                </a:tc>
                <a:tc>
                  <a:txBody>
                    <a:bodyPr/>
                    <a:lstStyle/>
                    <a:p>
                      <a:pPr>
                        <a:spcBef>
                          <a:spcPts val="0"/>
                        </a:spcBef>
                        <a:spcAft>
                          <a:spcPts val="0"/>
                        </a:spcAft>
                      </a:pPr>
                      <a:r>
                        <a:rPr sz="750" b="0"/>
                        <a:t>48</a:t>
                      </a:r>
                    </a:p>
                  </a:txBody>
                  <a:tcPr>
                    <a:solidFill>
                      <a:srgbClr val="F5F5F5"/>
                    </a:solidFill>
                  </a:tcPr>
                </a:tc>
                <a:tc>
                  <a:txBody>
                    <a:bodyPr/>
                    <a:lstStyle/>
                    <a:p>
                      <a:pPr>
                        <a:spcBef>
                          <a:spcPts val="0"/>
                        </a:spcBef>
                        <a:spcAft>
                          <a:spcPts val="0"/>
                        </a:spcAft>
                      </a:pPr>
                      <a:r>
                        <a:rPr sz="750" b="0"/>
                        <a:t>Intermediate TL 4c</a:t>
                      </a:r>
                    </a:p>
                  </a:txBody>
                  <a:tcPr>
                    <a:solidFill>
                      <a:srgbClr val="F5F5F5"/>
                    </a:solidFill>
                  </a:tcPr>
                </a:tc>
                <a:tc>
                  <a:txBody>
                    <a:bodyPr/>
                    <a:lstStyle/>
                    <a:p>
                      <a:pPr>
                        <a:spcBef>
                          <a:spcPts val="0"/>
                        </a:spcBef>
                        <a:spcAft>
                          <a:spcPts val="0"/>
                        </a:spcAft>
                      </a:pPr>
                      <a:r>
                        <a:rPr sz="750" b="0"/>
                        <a:t>0.412</a:t>
                      </a:r>
                    </a:p>
                  </a:txBody>
                  <a:tcPr>
                    <a:solidFill>
                      <a:srgbClr val="F5F5F5"/>
                    </a:solidFill>
                  </a:tcPr>
                </a:tc>
                <a:tc>
                  <a:txBody>
                    <a:bodyPr/>
                    <a:lstStyle/>
                    <a:p>
                      <a:pPr>
                        <a:spcBef>
                          <a:spcPts val="0"/>
                        </a:spcBef>
                        <a:spcAft>
                          <a:spcPts val="0"/>
                        </a:spcAft>
                      </a:pPr>
                      <a:r>
                        <a:rPr sz="750" b="0"/>
                        <a:t>Front-only &gt; front+side (+0.005). Konsistensi &gt; kuantitas.</a:t>
                      </a:r>
                    </a:p>
                  </a:txBody>
                  <a:tcPr>
                    <a:solidFill>
                      <a:srgbClr val="F5F5F5"/>
                    </a:solidFill>
                  </a:tcPr>
                </a:tc>
              </a:tr>
              <a:tr h="457200">
                <a:tc>
                  <a:txBody>
                    <a:bodyPr/>
                    <a:lstStyle/>
                    <a:p>
                      <a:pPr>
                        <a:spcBef>
                          <a:spcPts val="0"/>
                        </a:spcBef>
                        <a:spcAft>
                          <a:spcPts val="0"/>
                        </a:spcAft>
                      </a:pPr>
                      <a:r>
                        <a:rPr sz="750" b="0"/>
                        <a:t>5</a:t>
                      </a:r>
                    </a:p>
                  </a:txBody>
                  <a:tcPr/>
                </a:tc>
                <a:tc>
                  <a:txBody>
                    <a:bodyPr/>
                    <a:lstStyle/>
                    <a:p>
                      <a:pPr>
                        <a:spcBef>
                          <a:spcPts val="0"/>
                        </a:spcBef>
                        <a:spcAft>
                          <a:spcPts val="0"/>
                        </a:spcAft>
                      </a:pPr>
                      <a:r>
                        <a:rPr sz="750" b="0"/>
                        <a:t>Undersampling Neutral</a:t>
                      </a:r>
                    </a:p>
                  </a:txBody>
                  <a:tcPr/>
                </a:tc>
                <a:tc>
                  <a:txBody>
                    <a:bodyPr/>
                    <a:lstStyle/>
                    <a:p>
                      <a:pPr>
                        <a:spcBef>
                          <a:spcPts val="0"/>
                        </a:spcBef>
                        <a:spcAft>
                          <a:spcPts val="0"/>
                        </a:spcAft>
                      </a:pPr>
                      <a:r>
                        <a:rPr sz="750" b="0"/>
                        <a:t>12</a:t>
                      </a:r>
                    </a:p>
                  </a:txBody>
                  <a:tcPr/>
                </a:tc>
                <a:tc>
                  <a:txBody>
                    <a:bodyPr/>
                    <a:lstStyle/>
                    <a:p>
                      <a:pPr>
                        <a:spcBef>
                          <a:spcPts val="0"/>
                        </a:spcBef>
                        <a:spcAft>
                          <a:spcPts val="0"/>
                        </a:spcAft>
                      </a:pPr>
                      <a:r>
                        <a:rPr sz="750" b="0"/>
                        <a:t>Late Fusion Under-660</a:t>
                      </a:r>
                    </a:p>
                  </a:txBody>
                  <a:tcPr/>
                </a:tc>
                <a:tc>
                  <a:txBody>
                    <a:bodyPr/>
                    <a:lstStyle/>
                    <a:p>
                      <a:pPr>
                        <a:spcBef>
                          <a:spcPts val="0"/>
                        </a:spcBef>
                        <a:spcAft>
                          <a:spcPts val="0"/>
                        </a:spcAft>
                      </a:pPr>
                      <a:r>
                        <a:rPr sz="750" b="0"/>
                        <a:t>0.405</a:t>
                      </a:r>
                    </a:p>
                  </a:txBody>
                  <a:tcPr/>
                </a:tc>
                <a:tc>
                  <a:txBody>
                    <a:bodyPr/>
                    <a:lstStyle/>
                    <a:p>
                      <a:pPr>
                        <a:spcBef>
                          <a:spcPts val="0"/>
                        </a:spcBef>
                        <a:spcAft>
                          <a:spcPts val="0"/>
                        </a:spcAft>
                      </a:pPr>
                      <a:r>
                        <a:rPr sz="750" b="0"/>
                        <a:t>Sad F1 +852%. Negative tetap F1=0. Under-114 terlalu agresif.</a:t>
                      </a:r>
                    </a:p>
                  </a:txBody>
                  <a:tcPr/>
                </a:tc>
              </a:tr>
              <a:tr h="457200">
                <a:tc>
                  <a:txBody>
                    <a:bodyPr/>
                    <a:lstStyle/>
                    <a:p>
                      <a:pPr>
                        <a:spcBef>
                          <a:spcPts val="0"/>
                        </a:spcBef>
                        <a:spcAft>
                          <a:spcPts val="0"/>
                        </a:spcAft>
                      </a:pPr>
                      <a:r>
                        <a:rPr sz="750" b="1"/>
                        <a:t>6</a:t>
                      </a:r>
                    </a:p>
                  </a:txBody>
                  <a:tcPr>
                    <a:solidFill>
                      <a:srgbClr val="E8F5E9"/>
                    </a:solidFill>
                  </a:tcPr>
                </a:tc>
                <a:tc>
                  <a:txBody>
                    <a:bodyPr/>
                    <a:lstStyle/>
                    <a:p>
                      <a:pPr>
                        <a:spcBef>
                          <a:spcPts val="0"/>
                        </a:spcBef>
                        <a:spcAft>
                          <a:spcPts val="0"/>
                        </a:spcAft>
                      </a:pPr>
                      <a:r>
                        <a:rPr sz="750" b="1"/>
                        <a:t>Conf60 (BREAKTHROUGH)</a:t>
                      </a:r>
                    </a:p>
                  </a:txBody>
                  <a:tcPr>
                    <a:solidFill>
                      <a:srgbClr val="E8F5E9"/>
                    </a:solidFill>
                  </a:tcPr>
                </a:tc>
                <a:tc>
                  <a:txBody>
                    <a:bodyPr/>
                    <a:lstStyle/>
                    <a:p>
                      <a:pPr>
                        <a:spcBef>
                          <a:spcPts val="0"/>
                        </a:spcBef>
                        <a:spcAft>
                          <a:spcPts val="0"/>
                        </a:spcAft>
                      </a:pPr>
                      <a:r>
                        <a:rPr sz="750" b="1"/>
                        <a:t>36</a:t>
                      </a:r>
                    </a:p>
                  </a:txBody>
                  <a:tcPr>
                    <a:solidFill>
                      <a:srgbClr val="E8F5E9"/>
                    </a:solidFill>
                  </a:tcPr>
                </a:tc>
                <a:tc>
                  <a:txBody>
                    <a:bodyPr/>
                    <a:lstStyle/>
                    <a:p>
                      <a:pPr>
                        <a:spcBef>
                          <a:spcPts val="0"/>
                        </a:spcBef>
                        <a:spcAft>
                          <a:spcPts val="0"/>
                        </a:spcAft>
                      </a:pPr>
                      <a:r>
                        <a:rPr sz="750" b="1"/>
                        <a:t>Late Fusion TL 4c B3</a:t>
                      </a:r>
                    </a:p>
                  </a:txBody>
                  <a:tcPr>
                    <a:solidFill>
                      <a:srgbClr val="E8F5E9"/>
                    </a:solidFill>
                  </a:tcPr>
                </a:tc>
                <a:tc>
                  <a:txBody>
                    <a:bodyPr/>
                    <a:lstStyle/>
                    <a:p>
                      <a:pPr>
                        <a:spcBef>
                          <a:spcPts val="0"/>
                        </a:spcBef>
                        <a:spcAft>
                          <a:spcPts val="0"/>
                        </a:spcAft>
                      </a:pPr>
                      <a:r>
                        <a:rPr sz="750" b="1"/>
                        <a:t>0.567</a:t>
                      </a:r>
                    </a:p>
                  </a:txBody>
                  <a:tcPr>
                    <a:solidFill>
                      <a:srgbClr val="E8F5E9"/>
                    </a:solidFill>
                  </a:tcPr>
                </a:tc>
                <a:tc>
                  <a:txBody>
                    <a:bodyPr/>
                    <a:lstStyle/>
                    <a:p>
                      <a:pPr>
                        <a:spcBef>
                          <a:spcPts val="0"/>
                        </a:spcBef>
                        <a:spcAft>
                          <a:spcPts val="0"/>
                        </a:spcAft>
                      </a:pPr>
                      <a:r>
                        <a:rPr sz="750" b="1"/>
                        <a:t>Hanya 4.2% data dihilangkan, F1 +38%. Label noise = masalah utama.</a:t>
                      </a:r>
                    </a:p>
                  </a:txBody>
                  <a:tcPr>
                    <a:solidFill>
                      <a:srgbClr val="E8F5E9"/>
                    </a:solidFill>
                  </a:tcPr>
                </a:tc>
              </a:tr>
              <a:tr h="457200">
                <a:tc>
                  <a:txBody>
                    <a:bodyPr/>
                    <a:lstStyle/>
                    <a:p>
                      <a:pPr>
                        <a:spcBef>
                          <a:spcPts val="0"/>
                        </a:spcBef>
                        <a:spcAft>
                          <a:spcPts val="0"/>
                        </a:spcAft>
                      </a:pPr>
                      <a:r>
                        <a:rPr sz="750" b="0"/>
                        <a:t>7</a:t>
                      </a:r>
                    </a:p>
                  </a:txBody>
                  <a:tcPr/>
                </a:tc>
                <a:tc>
                  <a:txBody>
                    <a:bodyPr/>
                    <a:lstStyle/>
                    <a:p>
                      <a:pPr>
                        <a:spcBef>
                          <a:spcPts val="0"/>
                        </a:spcBef>
                        <a:spcAft>
                          <a:spcPts val="0"/>
                        </a:spcAft>
                      </a:pPr>
                      <a:r>
                        <a:rPr sz="750" b="0"/>
                        <a:t>Conf60 + Undersampling</a:t>
                      </a:r>
                    </a:p>
                  </a:txBody>
                  <a:tcPr/>
                </a:tc>
                <a:tc>
                  <a:txBody>
                    <a:bodyPr/>
                    <a:lstStyle/>
                    <a:p>
                      <a:pPr>
                        <a:spcBef>
                          <a:spcPts val="0"/>
                        </a:spcBef>
                        <a:spcAft>
                          <a:spcPts val="0"/>
                        </a:spcAft>
                      </a:pPr>
                      <a:r>
                        <a:rPr sz="750" b="0"/>
                        <a:t>3</a:t>
                      </a:r>
                    </a:p>
                  </a:txBody>
                  <a:tcPr/>
                </a:tc>
                <a:tc>
                  <a:txBody>
                    <a:bodyPr/>
                    <a:lstStyle/>
                    <a:p>
                      <a:pPr>
                        <a:spcBef>
                          <a:spcPts val="0"/>
                        </a:spcBef>
                        <a:spcAft>
                          <a:spcPts val="0"/>
                        </a:spcAft>
                      </a:pPr>
                      <a:r>
                        <a:rPr sz="750" b="0"/>
                        <a:t>Late Fusion 4c</a:t>
                      </a:r>
                    </a:p>
                  </a:txBody>
                  <a:tcPr/>
                </a:tc>
                <a:tc>
                  <a:txBody>
                    <a:bodyPr/>
                    <a:lstStyle/>
                    <a:p>
                      <a:pPr>
                        <a:spcBef>
                          <a:spcPts val="0"/>
                        </a:spcBef>
                        <a:spcAft>
                          <a:spcPts val="0"/>
                        </a:spcAft>
                      </a:pPr>
                      <a:r>
                        <a:rPr sz="750" b="0"/>
                        <a:t>0.508</a:t>
                      </a:r>
                    </a:p>
                  </a:txBody>
                  <a:tcPr/>
                </a:tc>
                <a:tc>
                  <a:txBody>
                    <a:bodyPr/>
                    <a:lstStyle/>
                    <a:p>
                      <a:pPr>
                        <a:spcBef>
                          <a:spcPts val="0"/>
                        </a:spcBef>
                        <a:spcAft>
                          <a:spcPts val="0"/>
                        </a:spcAft>
                      </a:pPr>
                      <a:r>
                        <a:rPr sz="750" b="0"/>
                        <a:t>Hanya LF membaik (+9%). Tidak beat Conf60 saja (0.567).</a:t>
                      </a:r>
                    </a:p>
                  </a:txBody>
                  <a:tcPr/>
                </a:tc>
              </a:tr>
              <a:tr h="457200">
                <a:tc>
                  <a:txBody>
                    <a:bodyPr/>
                    <a:lstStyle/>
                    <a:p>
                      <a:pPr>
                        <a:spcBef>
                          <a:spcPts val="0"/>
                        </a:spcBef>
                        <a:spcAft>
                          <a:spcPts val="0"/>
                        </a:spcAft>
                      </a:pPr>
                      <a:r>
                        <a:rPr sz="750" b="0"/>
                        <a:t>8</a:t>
                      </a:r>
                    </a:p>
                  </a:txBody>
                  <a:tcPr>
                    <a:solidFill>
                      <a:srgbClr val="F5F5F5"/>
                    </a:solidFill>
                  </a:tcPr>
                </a:tc>
                <a:tc>
                  <a:txBody>
                    <a:bodyPr/>
                    <a:lstStyle/>
                    <a:p>
                      <a:pPr>
                        <a:spcBef>
                          <a:spcPts val="0"/>
                        </a:spcBef>
                        <a:spcAft>
                          <a:spcPts val="0"/>
                        </a:spcAft>
                      </a:pPr>
                      <a:r>
                        <a:rPr sz="750" b="0"/>
                        <a:t>Evaluasi Robustness: LOSO/CV</a:t>
                      </a:r>
                    </a:p>
                  </a:txBody>
                  <a:tcPr>
                    <a:solidFill>
                      <a:srgbClr val="F5F5F5"/>
                    </a:solidFill>
                  </a:tcPr>
                </a:tc>
                <a:tc>
                  <a:txBody>
                    <a:bodyPr/>
                    <a:lstStyle/>
                    <a:p>
                      <a:pPr>
                        <a:spcBef>
                          <a:spcPts val="0"/>
                        </a:spcBef>
                        <a:spcAft>
                          <a:spcPts val="0"/>
                        </a:spcAft>
                      </a:pPr>
                      <a:r>
                        <a:rPr sz="750" b="0"/>
                        <a:t>-</a:t>
                      </a:r>
                    </a:p>
                  </a:txBody>
                  <a:tcPr>
                    <a:solidFill>
                      <a:srgbClr val="F5F5F5"/>
                    </a:solidFill>
                  </a:tcPr>
                </a:tc>
                <a:tc>
                  <a:txBody>
                    <a:bodyPr/>
                    <a:lstStyle/>
                    <a:p>
                      <a:pPr>
                        <a:spcBef>
                          <a:spcPts val="0"/>
                        </a:spcBef>
                        <a:spcAft>
                          <a:spcPts val="0"/>
                        </a:spcAft>
                      </a:pPr>
                      <a:r>
                        <a:rPr sz="750" b="0"/>
                        <a:t>-</a:t>
                      </a:r>
                    </a:p>
                  </a:txBody>
                  <a:tcPr>
                    <a:solidFill>
                      <a:srgbClr val="F5F5F5"/>
                    </a:solidFill>
                  </a:tcPr>
                </a:tc>
                <a:tc>
                  <a:txBody>
                    <a:bodyPr/>
                    <a:lstStyle/>
                    <a:p>
                      <a:pPr>
                        <a:spcBef>
                          <a:spcPts val="0"/>
                        </a:spcBef>
                        <a:spcAft>
                          <a:spcPts val="0"/>
                        </a:spcAft>
                      </a:pPr>
                      <a:r>
                        <a:rPr sz="750" b="0"/>
                        <a:t>-</a:t>
                      </a:r>
                    </a:p>
                  </a:txBody>
                  <a:tcPr>
                    <a:solidFill>
                      <a:srgbClr val="F5F5F5"/>
                    </a:solidFill>
                  </a:tcPr>
                </a:tc>
                <a:tc>
                  <a:txBody>
                    <a:bodyPr/>
                    <a:lstStyle/>
                    <a:p>
                      <a:pPr>
                        <a:spcBef>
                          <a:spcPts val="0"/>
                        </a:spcBef>
                        <a:spcAft>
                          <a:spcPts val="0"/>
                        </a:spcAft>
                      </a:pPr>
                      <a:r>
                        <a:rPr sz="750" b="0"/>
                        <a:t>Random split +30-47% (leakage). LOSO Intermediate TL: 0.370.</a:t>
                      </a:r>
                    </a:p>
                  </a:txBody>
                  <a:tcPr>
                    <a:solidFill>
                      <a:srgbClr val="F5F5F5"/>
                    </a:solidFill>
                  </a:tcPr>
                </a:tc>
              </a:tr>
              <a:tr h="457200">
                <a:tc>
                  <a:txBody>
                    <a:bodyPr/>
                    <a:lstStyle/>
                    <a:p>
                      <a:pPr>
                        <a:spcBef>
                          <a:spcPts val="0"/>
                        </a:spcBef>
                        <a:spcAft>
                          <a:spcPts val="0"/>
                        </a:spcAft>
                      </a:pPr>
                      <a:r>
                        <a:rPr sz="750" b="0"/>
                        <a:t>9</a:t>
                      </a:r>
                    </a:p>
                  </a:txBody>
                  <a:tcPr/>
                </a:tc>
                <a:tc>
                  <a:txBody>
                    <a:bodyPr/>
                    <a:lstStyle/>
                    <a:p>
                      <a:pPr>
                        <a:spcBef>
                          <a:spcPts val="0"/>
                        </a:spcBef>
                        <a:spcAft>
                          <a:spcPts val="0"/>
                        </a:spcAft>
                      </a:pPr>
                      <a:r>
                        <a:rPr sz="750" b="0"/>
                        <a:t>Benchmark JAFFE &amp; CK+</a:t>
                      </a:r>
                    </a:p>
                  </a:txBody>
                  <a:tcPr/>
                </a:tc>
                <a:tc>
                  <a:txBody>
                    <a:bodyPr/>
                    <a:lstStyle/>
                    <a:p>
                      <a:pPr>
                        <a:spcBef>
                          <a:spcPts val="0"/>
                        </a:spcBef>
                        <a:spcAft>
                          <a:spcPts val="0"/>
                        </a:spcAft>
                      </a:pPr>
                      <a:r>
                        <a:rPr sz="750" b="0"/>
                        <a:t>-</a:t>
                      </a:r>
                    </a:p>
                  </a:txBody>
                  <a:tcPr/>
                </a:tc>
                <a:tc>
                  <a:txBody>
                    <a:bodyPr/>
                    <a:lstStyle/>
                    <a:p>
                      <a:pPr>
                        <a:spcBef>
                          <a:spcPts val="0"/>
                        </a:spcBef>
                        <a:spcAft>
                          <a:spcPts val="0"/>
                        </a:spcAft>
                      </a:pPr>
                      <a:r>
                        <a:rPr sz="750" b="0"/>
                        <a:t>CK+: Int.TL 7c</a:t>
                      </a:r>
                    </a:p>
                  </a:txBody>
                  <a:tcPr/>
                </a:tc>
                <a:tc>
                  <a:txBody>
                    <a:bodyPr/>
                    <a:lstStyle/>
                    <a:p>
                      <a:pPr>
                        <a:spcBef>
                          <a:spcPts val="0"/>
                        </a:spcBef>
                        <a:spcAft>
                          <a:spcPts val="0"/>
                        </a:spcAft>
                      </a:pPr>
                      <a:r>
                        <a:rPr sz="750" b="0"/>
                        <a:t>0.783</a:t>
                      </a:r>
                    </a:p>
                  </a:txBody>
                  <a:tcPr/>
                </a:tc>
                <a:tc>
                  <a:txBody>
                    <a:bodyPr/>
                    <a:lstStyle/>
                    <a:p>
                      <a:pPr>
                        <a:spcBef>
                          <a:spcPts val="0"/>
                        </a:spcBef>
                        <a:spcAft>
                          <a:spcPts val="0"/>
                        </a:spcAft>
                      </a:pPr>
                      <a:r>
                        <a:rPr sz="750" b="0"/>
                        <a:t>Arsitektur bekerja baik di dataset standar. Primer paling challenging.</a:t>
                      </a:r>
                    </a:p>
                  </a:txBody>
                  <a:tcPr/>
                </a:tc>
              </a:tr>
            </a:tbl>
          </a:graphicData>
        </a:graphic>
      </p:graphicFrame>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20040"/>
          </a:xfrm>
          <a:prstGeom prst="rect">
            <a:avLst/>
          </a:prstGeom>
          <a:noFill/>
        </p:spPr>
        <p:txBody>
          <a:bodyPr wrap="square" lIns="0" rIns="0" tIns="0" bIns="0">
            <a:spAutoFit/>
          </a:bodyPr>
          <a:lstStyle/>
          <a:p>
            <a:r>
              <a:rPr sz="1600" b="1"/>
              <a:t>Tabel Eksplorasi Penelitian (2/2) - Ekstensi &amp; Analisis</a:t>
            </a:r>
          </a:p>
        </p:txBody>
      </p:sp>
      <p:graphicFrame>
        <p:nvGraphicFramePr>
          <p:cNvPr id="3" name="Table 2"/>
          <p:cNvGraphicFramePr>
            <a:graphicFrameLocks noGrp="1"/>
          </p:cNvGraphicFramePr>
          <p:nvPr/>
        </p:nvGraphicFramePr>
        <p:xfrm>
          <a:off x="137160" y="621792"/>
          <a:ext cx="8869680" cy="4572000"/>
        </p:xfrm>
        <a:graphic>
          <a:graphicData uri="http://schemas.openxmlformats.org/drawingml/2006/table">
            <a:tbl>
              <a:tblPr firstRow="1" bandRow="1">
                <a:tableStyleId>{5C22544A-7EE6-4342-B048-85BDC9FD1C3A}</a:tableStyleId>
              </a:tblPr>
              <a:tblGrid>
                <a:gridCol w="256032"/>
                <a:gridCol w="1554480"/>
                <a:gridCol w="411480"/>
                <a:gridCol w="1463040"/>
                <a:gridCol w="438912"/>
                <a:gridCol w="4745736"/>
              </a:tblGrid>
              <a:tr h="457200">
                <a:tc>
                  <a:txBody>
                    <a:bodyPr/>
                    <a:lstStyle/>
                    <a:p>
                      <a:pPr>
                        <a:spcBef>
                          <a:spcPts val="0"/>
                        </a:spcBef>
                        <a:spcAft>
                          <a:spcPts val="0"/>
                        </a:spcAft>
                      </a:pPr>
                      <a:r>
                        <a:rPr sz="800" b="1">
                          <a:solidFill>
                            <a:srgbClr val="FFFFFF"/>
                          </a:solidFill>
                        </a:rPr>
                        <a:t>#</a:t>
                      </a:r>
                    </a:p>
                  </a:txBody>
                  <a:tcPr>
                    <a:solidFill>
                      <a:srgbClr val="1F3A5F"/>
                    </a:solidFill>
                  </a:tcPr>
                </a:tc>
                <a:tc>
                  <a:txBody>
                    <a:bodyPr/>
                    <a:lstStyle/>
                    <a:p>
                      <a:pPr>
                        <a:spcBef>
                          <a:spcPts val="0"/>
                        </a:spcBef>
                        <a:spcAft>
                          <a:spcPts val="0"/>
                        </a:spcAft>
                      </a:pPr>
                      <a:r>
                        <a:rPr sz="800" b="1">
                          <a:solidFill>
                            <a:srgbClr val="FFFFFF"/>
                          </a:solidFill>
                        </a:rPr>
                        <a:t>Eksplorasi</a:t>
                      </a:r>
                    </a:p>
                  </a:txBody>
                  <a:tcPr>
                    <a:solidFill>
                      <a:srgbClr val="1F3A5F"/>
                    </a:solidFill>
                  </a:tcPr>
                </a:tc>
                <a:tc>
                  <a:txBody>
                    <a:bodyPr/>
                    <a:lstStyle/>
                    <a:p>
                      <a:pPr>
                        <a:spcBef>
                          <a:spcPts val="0"/>
                        </a:spcBef>
                        <a:spcAft>
                          <a:spcPts val="0"/>
                        </a:spcAft>
                      </a:pPr>
                      <a:r>
                        <a:rPr sz="800" b="1">
                          <a:solidFill>
                            <a:srgbClr val="FFFFFF"/>
                          </a:solidFill>
                        </a:rPr>
                        <a:t>Cfgs</a:t>
                      </a:r>
                    </a:p>
                  </a:txBody>
                  <a:tcPr>
                    <a:solidFill>
                      <a:srgbClr val="1F3A5F"/>
                    </a:solidFill>
                  </a:tcPr>
                </a:tc>
                <a:tc>
                  <a:txBody>
                    <a:bodyPr/>
                    <a:lstStyle/>
                    <a:p>
                      <a:pPr>
                        <a:spcBef>
                          <a:spcPts val="0"/>
                        </a:spcBef>
                        <a:spcAft>
                          <a:spcPts val="0"/>
                        </a:spcAft>
                      </a:pPr>
                      <a:r>
                        <a:rPr sz="800" b="1">
                          <a:solidFill>
                            <a:srgbClr val="FFFFFF"/>
                          </a:solidFill>
                        </a:rPr>
                        <a:t>Best Model</a:t>
                      </a:r>
                    </a:p>
                  </a:txBody>
                  <a:tcPr>
                    <a:solidFill>
                      <a:srgbClr val="1F3A5F"/>
                    </a:solidFill>
                  </a:tcPr>
                </a:tc>
                <a:tc>
                  <a:txBody>
                    <a:bodyPr/>
                    <a:lstStyle/>
                    <a:p>
                      <a:pPr>
                        <a:spcBef>
                          <a:spcPts val="0"/>
                        </a:spcBef>
                        <a:spcAft>
                          <a:spcPts val="0"/>
                        </a:spcAft>
                      </a:pPr>
                      <a:r>
                        <a:rPr sz="800" b="1">
                          <a:solidFill>
                            <a:srgbClr val="FFFFFF"/>
                          </a:solidFill>
                        </a:rPr>
                        <a:t>F1</a:t>
                      </a:r>
                    </a:p>
                  </a:txBody>
                  <a:tcPr>
                    <a:solidFill>
                      <a:srgbClr val="1F3A5F"/>
                    </a:solidFill>
                  </a:tcPr>
                </a:tc>
                <a:tc>
                  <a:txBody>
                    <a:bodyPr/>
                    <a:lstStyle/>
                    <a:p>
                      <a:pPr>
                        <a:spcBef>
                          <a:spcPts val="0"/>
                        </a:spcBef>
                        <a:spcAft>
                          <a:spcPts val="0"/>
                        </a:spcAft>
                      </a:pPr>
                      <a:r>
                        <a:rPr sz="800" b="1">
                          <a:solidFill>
                            <a:srgbClr val="FFFFFF"/>
                          </a:solidFill>
                        </a:rPr>
                        <a:t>Temuan Utama</a:t>
                      </a:r>
                    </a:p>
                  </a:txBody>
                  <a:tcPr>
                    <a:solidFill>
                      <a:srgbClr val="1F3A5F"/>
                    </a:solidFill>
                  </a:tcPr>
                </a:tc>
              </a:tr>
              <a:tr h="457200">
                <a:tc>
                  <a:txBody>
                    <a:bodyPr/>
                    <a:lstStyle/>
                    <a:p>
                      <a:pPr>
                        <a:spcBef>
                          <a:spcPts val="0"/>
                        </a:spcBef>
                        <a:spcAft>
                          <a:spcPts val="0"/>
                        </a:spcAft>
                      </a:pPr>
                      <a:r>
                        <a:rPr sz="750" b="0"/>
                        <a:t>10</a:t>
                      </a:r>
                    </a:p>
                  </a:txBody>
                  <a:tcPr/>
                </a:tc>
                <a:tc>
                  <a:txBody>
                    <a:bodyPr/>
                    <a:lstStyle/>
                    <a:p>
                      <a:pPr>
                        <a:spcBef>
                          <a:spcPts val="0"/>
                        </a:spcBef>
                        <a:spcAft>
                          <a:spcPts val="0"/>
                        </a:spcAft>
                      </a:pPr>
                      <a:r>
                        <a:rPr sz="750" b="0"/>
                        <a:t>Benchmark RAF-DB &amp; KDEF</a:t>
                      </a:r>
                    </a:p>
                  </a:txBody>
                  <a:tcPr/>
                </a:tc>
                <a:tc>
                  <a:txBody>
                    <a:bodyPr/>
                    <a:lstStyle/>
                    <a:p>
                      <a:pPr>
                        <a:spcBef>
                          <a:spcPts val="0"/>
                        </a:spcBef>
                        <a:spcAft>
                          <a:spcPts val="0"/>
                        </a:spcAft>
                      </a:pPr>
                      <a:r>
                        <a:rPr sz="750" b="0"/>
                        <a:t>-</a:t>
                      </a:r>
                    </a:p>
                  </a:txBody>
                  <a:tcPr/>
                </a:tc>
                <a:tc>
                  <a:txBody>
                    <a:bodyPr/>
                    <a:lstStyle/>
                    <a:p>
                      <a:pPr>
                        <a:spcBef>
                          <a:spcPts val="0"/>
                        </a:spcBef>
                        <a:spcAft>
                          <a:spcPts val="0"/>
                        </a:spcAft>
                      </a:pPr>
                      <a:r>
                        <a:rPr sz="750" b="0"/>
                        <a:t>KDEF 4c: Int.TL</a:t>
                      </a:r>
                    </a:p>
                  </a:txBody>
                  <a:tcPr/>
                </a:tc>
                <a:tc>
                  <a:txBody>
                    <a:bodyPr/>
                    <a:lstStyle/>
                    <a:p>
                      <a:pPr>
                        <a:spcBef>
                          <a:spcPts val="0"/>
                        </a:spcBef>
                        <a:spcAft>
                          <a:spcPts val="0"/>
                        </a:spcAft>
                      </a:pPr>
                      <a:r>
                        <a:rPr sz="750" b="0"/>
                        <a:t>0.923</a:t>
                      </a:r>
                    </a:p>
                  </a:txBody>
                  <a:tcPr/>
                </a:tc>
                <a:tc>
                  <a:txBody>
                    <a:bodyPr/>
                    <a:lstStyle/>
                    <a:p>
                      <a:pPr>
                        <a:spcBef>
                          <a:spcPts val="0"/>
                        </a:spcBef>
                        <a:spcAft>
                          <a:spcPts val="0"/>
                        </a:spcAft>
                      </a:pPr>
                      <a:r>
                        <a:rPr sz="750" b="0"/>
                        <a:t>Int.TL konsisten best semua dataset. Gap besar vs Primer.</a:t>
                      </a:r>
                    </a:p>
                  </a:txBody>
                  <a:tcPr/>
                </a:tc>
              </a:tr>
              <a:tr h="457200">
                <a:tc>
                  <a:txBody>
                    <a:bodyPr/>
                    <a:lstStyle/>
                    <a:p>
                      <a:pPr>
                        <a:spcBef>
                          <a:spcPts val="0"/>
                        </a:spcBef>
                        <a:spcAft>
                          <a:spcPts val="0"/>
                        </a:spcAft>
                      </a:pPr>
                      <a:r>
                        <a:rPr sz="750" b="0"/>
                        <a:t>11</a:t>
                      </a:r>
                    </a:p>
                  </a:txBody>
                  <a:tcPr>
                    <a:solidFill>
                      <a:srgbClr val="F5F5F5"/>
                    </a:solidFill>
                  </a:tcPr>
                </a:tc>
                <a:tc>
                  <a:txBody>
                    <a:bodyPr/>
                    <a:lstStyle/>
                    <a:p>
                      <a:pPr>
                        <a:spcBef>
                          <a:spcPts val="0"/>
                        </a:spcBef>
                        <a:spcAft>
                          <a:spcPts val="0"/>
                        </a:spcAft>
                      </a:pPr>
                      <a:r>
                        <a:rPr sz="750" b="0"/>
                        <a:t>Cross-Dataset (Skema 2)</a:t>
                      </a:r>
                    </a:p>
                  </a:txBody>
                  <a:tcPr>
                    <a:solidFill>
                      <a:srgbClr val="F5F5F5"/>
                    </a:solidFill>
                  </a:tcPr>
                </a:tc>
                <a:tc>
                  <a:txBody>
                    <a:bodyPr/>
                    <a:lstStyle/>
                    <a:p>
                      <a:pPr>
                        <a:spcBef>
                          <a:spcPts val="0"/>
                        </a:spcBef>
                        <a:spcAft>
                          <a:spcPts val="0"/>
                        </a:spcAft>
                      </a:pPr>
                      <a:r>
                        <a:rPr sz="750" b="0"/>
                        <a:t>72</a:t>
                      </a:r>
                    </a:p>
                  </a:txBody>
                  <a:tcPr>
                    <a:solidFill>
                      <a:srgbClr val="F5F5F5"/>
                    </a:solidFill>
                  </a:tcPr>
                </a:tc>
                <a:tc>
                  <a:txBody>
                    <a:bodyPr/>
                    <a:lstStyle/>
                    <a:p>
                      <a:pPr>
                        <a:spcBef>
                          <a:spcPts val="0"/>
                        </a:spcBef>
                        <a:spcAft>
                          <a:spcPts val="0"/>
                        </a:spcAft>
                      </a:pPr>
                      <a:r>
                        <a:rPr sz="750" b="0"/>
                        <a:t>CK+ 4c -&gt; CNN B1</a:t>
                      </a:r>
                    </a:p>
                  </a:txBody>
                  <a:tcPr>
                    <a:solidFill>
                      <a:srgbClr val="F5F5F5"/>
                    </a:solidFill>
                  </a:tcPr>
                </a:tc>
                <a:tc>
                  <a:txBody>
                    <a:bodyPr/>
                    <a:lstStyle/>
                    <a:p>
                      <a:pPr>
                        <a:spcBef>
                          <a:spcPts val="0"/>
                        </a:spcBef>
                        <a:spcAft>
                          <a:spcPts val="0"/>
                        </a:spcAft>
                      </a:pPr>
                      <a:r>
                        <a:rPr sz="750" b="0"/>
                        <a:t>0.396</a:t>
                      </a:r>
                    </a:p>
                  </a:txBody>
                  <a:tcPr>
                    <a:solidFill>
                      <a:srgbClr val="F5F5F5"/>
                    </a:solidFill>
                  </a:tcPr>
                </a:tc>
                <a:tc>
                  <a:txBody>
                    <a:bodyPr/>
                    <a:lstStyle/>
                    <a:p>
                      <a:pPr>
                        <a:spcBef>
                          <a:spcPts val="0"/>
                        </a:spcBef>
                        <a:spcAft>
                          <a:spcPts val="0"/>
                        </a:spcAft>
                      </a:pPr>
                      <a:r>
                        <a:rPr sz="750" b="0"/>
                        <a:t>Semua source gagal generalize. RAF-DB paling robust.</a:t>
                      </a:r>
                    </a:p>
                  </a:txBody>
                  <a:tcPr>
                    <a:solidFill>
                      <a:srgbClr val="F5F5F5"/>
                    </a:solidFill>
                  </a:tcPr>
                </a:tc>
              </a:tr>
              <a:tr h="457200">
                <a:tc>
                  <a:txBody>
                    <a:bodyPr/>
                    <a:lstStyle/>
                    <a:p>
                      <a:pPr>
                        <a:spcBef>
                          <a:spcPts val="0"/>
                        </a:spcBef>
                        <a:spcAft>
                          <a:spcPts val="0"/>
                        </a:spcAft>
                      </a:pPr>
                      <a:r>
                        <a:rPr sz="750" b="0"/>
                        <a:t>12</a:t>
                      </a:r>
                    </a:p>
                  </a:txBody>
                  <a:tcPr/>
                </a:tc>
                <a:tc>
                  <a:txBody>
                    <a:bodyPr/>
                    <a:lstStyle/>
                    <a:p>
                      <a:pPr>
                        <a:spcBef>
                          <a:spcPts val="0"/>
                        </a:spcBef>
                        <a:spcAft>
                          <a:spcPts val="0"/>
                        </a:spcAft>
                      </a:pPr>
                      <a:r>
                        <a:rPr sz="750" b="0"/>
                        <a:t>Early Fusion (HAE-Net, arahan)</a:t>
                      </a:r>
                    </a:p>
                  </a:txBody>
                  <a:tcPr/>
                </a:tc>
                <a:tc>
                  <a:txBody>
                    <a:bodyPr/>
                    <a:lstStyle/>
                    <a:p>
                      <a:pPr>
                        <a:spcBef>
                          <a:spcPts val="0"/>
                        </a:spcBef>
                        <a:spcAft>
                          <a:spcPts val="0"/>
                        </a:spcAft>
                      </a:pPr>
                      <a:r>
                        <a:rPr sz="750" b="0"/>
                        <a:t>28</a:t>
                      </a:r>
                    </a:p>
                  </a:txBody>
                  <a:tcPr/>
                </a:tc>
                <a:tc>
                  <a:txBody>
                    <a:bodyPr/>
                    <a:lstStyle/>
                    <a:p>
                      <a:pPr>
                        <a:spcBef>
                          <a:spcPts val="0"/>
                        </a:spcBef>
                        <a:spcAft>
                          <a:spcPts val="0"/>
                        </a:spcAft>
                      </a:pPr>
                      <a:r>
                        <a:rPr sz="750" b="0"/>
                        <a:t>EF TL B3 7c</a:t>
                      </a:r>
                    </a:p>
                  </a:txBody>
                  <a:tcPr/>
                </a:tc>
                <a:tc>
                  <a:txBody>
                    <a:bodyPr/>
                    <a:lstStyle/>
                    <a:p>
                      <a:pPr>
                        <a:spcBef>
                          <a:spcPts val="0"/>
                        </a:spcBef>
                        <a:spcAft>
                          <a:spcPts val="0"/>
                        </a:spcAft>
                      </a:pPr>
                      <a:r>
                        <a:rPr sz="750" b="0"/>
                        <a:t>0.333</a:t>
                      </a:r>
                    </a:p>
                  </a:txBody>
                  <a:tcPr/>
                </a:tc>
                <a:tc>
                  <a:txBody>
                    <a:bodyPr/>
                    <a:lstStyle/>
                    <a:p>
                      <a:pPr>
                        <a:spcBef>
                          <a:spcPts val="0"/>
                        </a:spcBef>
                        <a:spcAft>
                          <a:spcPts val="0"/>
                        </a:spcAft>
                      </a:pPr>
                      <a:r>
                        <a:rPr sz="750" b="0"/>
                        <a:t>Heatmap channel. Best 7c, underperforms 4c. TL collapse JAFFE.</a:t>
                      </a:r>
                    </a:p>
                  </a:txBody>
                  <a:tcPr/>
                </a:tc>
              </a:tr>
              <a:tr h="457200">
                <a:tc>
                  <a:txBody>
                    <a:bodyPr/>
                    <a:lstStyle/>
                    <a:p>
                      <a:pPr>
                        <a:spcBef>
                          <a:spcPts val="0"/>
                        </a:spcBef>
                        <a:spcAft>
                          <a:spcPts val="0"/>
                        </a:spcAft>
                      </a:pPr>
                      <a:r>
                        <a:rPr sz="750" b="1"/>
                        <a:t>13</a:t>
                      </a:r>
                    </a:p>
                  </a:txBody>
                  <a:tcPr>
                    <a:solidFill>
                      <a:srgbClr val="E8F5E9"/>
                    </a:solidFill>
                  </a:tcPr>
                </a:tc>
                <a:tc>
                  <a:txBody>
                    <a:bodyPr/>
                    <a:lstStyle/>
                    <a:p>
                      <a:pPr>
                        <a:spcBef>
                          <a:spcPts val="0"/>
                        </a:spcBef>
                        <a:spcAft>
                          <a:spcPts val="0"/>
                        </a:spcAft>
                      </a:pPr>
                      <a:r>
                        <a:rPr sz="750" b="1"/>
                        <a:t>3-Class Valence + Full Grid</a:t>
                      </a:r>
                    </a:p>
                  </a:txBody>
                  <a:tcPr>
                    <a:solidFill>
                      <a:srgbClr val="E8F5E9"/>
                    </a:solidFill>
                  </a:tcPr>
                </a:tc>
                <a:tc>
                  <a:txBody>
                    <a:bodyPr/>
                    <a:lstStyle/>
                    <a:p>
                      <a:pPr>
                        <a:spcBef>
                          <a:spcPts val="0"/>
                        </a:spcBef>
                        <a:spcAft>
                          <a:spcPts val="0"/>
                        </a:spcAft>
                      </a:pPr>
                      <a:r>
                        <a:rPr sz="750" b="1"/>
                        <a:t>27</a:t>
                      </a:r>
                    </a:p>
                  </a:txBody>
                  <a:tcPr>
                    <a:solidFill>
                      <a:srgbClr val="E8F5E9"/>
                    </a:solidFill>
                  </a:tcPr>
                </a:tc>
                <a:tc>
                  <a:txBody>
                    <a:bodyPr/>
                    <a:lstStyle/>
                    <a:p>
                      <a:pPr>
                        <a:spcBef>
                          <a:spcPts val="0"/>
                        </a:spcBef>
                        <a:spcAft>
                          <a:spcPts val="0"/>
                        </a:spcAft>
                      </a:pPr>
                      <a:r>
                        <a:rPr sz="750" b="1"/>
                        <a:t>Late Fusion TL B3</a:t>
                      </a:r>
                    </a:p>
                  </a:txBody>
                  <a:tcPr>
                    <a:solidFill>
                      <a:srgbClr val="E8F5E9"/>
                    </a:solidFill>
                  </a:tcPr>
                </a:tc>
                <a:tc>
                  <a:txBody>
                    <a:bodyPr/>
                    <a:lstStyle/>
                    <a:p>
                      <a:pPr>
                        <a:spcBef>
                          <a:spcPts val="0"/>
                        </a:spcBef>
                        <a:spcAft>
                          <a:spcPts val="0"/>
                        </a:spcAft>
                      </a:pPr>
                      <a:r>
                        <a:rPr sz="750" b="1"/>
                        <a:t>0.623</a:t>
                      </a:r>
                    </a:p>
                  </a:txBody>
                  <a:tcPr>
                    <a:solidFill>
                      <a:srgbClr val="E8F5E9"/>
                    </a:solidFill>
                  </a:tcPr>
                </a:tc>
                <a:tc>
                  <a:txBody>
                    <a:bodyPr/>
                    <a:lstStyle/>
                    <a:p>
                      <a:pPr>
                        <a:spcBef>
                          <a:spcPts val="0"/>
                        </a:spcBef>
                        <a:spcAft>
                          <a:spcPts val="0"/>
                        </a:spcAft>
                      </a:pPr>
                      <a:r>
                        <a:rPr sz="750" b="1"/>
                        <a:t>Russell 1980. +0.10 dari 4c. Top-5 all LF. TL&gt;scratch. Geometric neg.</a:t>
                      </a:r>
                    </a:p>
                  </a:txBody>
                  <a:tcPr>
                    <a:solidFill>
                      <a:srgbClr val="E8F5E9"/>
                    </a:solidFill>
                  </a:tcPr>
                </a:tc>
              </a:tr>
              <a:tr h="457200">
                <a:tc>
                  <a:txBody>
                    <a:bodyPr/>
                    <a:lstStyle/>
                    <a:p>
                      <a:pPr>
                        <a:spcBef>
                          <a:spcPts val="0"/>
                        </a:spcBef>
                        <a:spcAft>
                          <a:spcPts val="0"/>
                        </a:spcAft>
                      </a:pPr>
                      <a:r>
                        <a:rPr sz="750" b="0"/>
                        <a:t>14</a:t>
                      </a:r>
                    </a:p>
                  </a:txBody>
                  <a:tcPr/>
                </a:tc>
                <a:tc>
                  <a:txBody>
                    <a:bodyPr/>
                    <a:lstStyle/>
                    <a:p>
                      <a:pPr>
                        <a:spcBef>
                          <a:spcPts val="0"/>
                        </a:spcBef>
                        <a:spcAft>
                          <a:spcPts val="0"/>
                        </a:spcAft>
                      </a:pPr>
                      <a:r>
                        <a:rPr sz="750" b="0"/>
                        <a:t>Soft Label Training</a:t>
                      </a:r>
                    </a:p>
                  </a:txBody>
                  <a:tcPr/>
                </a:tc>
                <a:tc>
                  <a:txBody>
                    <a:bodyPr/>
                    <a:lstStyle/>
                    <a:p>
                      <a:pPr>
                        <a:spcBef>
                          <a:spcPts val="0"/>
                        </a:spcBef>
                        <a:spcAft>
                          <a:spcPts val="0"/>
                        </a:spcAft>
                      </a:pPr>
                      <a:r>
                        <a:rPr sz="750" b="0"/>
                        <a:t>12</a:t>
                      </a:r>
                    </a:p>
                  </a:txBody>
                  <a:tcPr/>
                </a:tc>
                <a:tc>
                  <a:txBody>
                    <a:bodyPr/>
                    <a:lstStyle/>
                    <a:p>
                      <a:pPr>
                        <a:spcBef>
                          <a:spcPts val="0"/>
                        </a:spcBef>
                        <a:spcAft>
                          <a:spcPts val="0"/>
                        </a:spcAft>
                      </a:pPr>
                      <a:r>
                        <a:rPr sz="750" b="0"/>
                        <a:t>Negative result</a:t>
                      </a:r>
                    </a:p>
                  </a:txBody>
                  <a:tcPr/>
                </a:tc>
                <a:tc>
                  <a:txBody>
                    <a:bodyPr/>
                    <a:lstStyle/>
                    <a:p>
                      <a:pPr>
                        <a:spcBef>
                          <a:spcPts val="0"/>
                        </a:spcBef>
                        <a:spcAft>
                          <a:spcPts val="0"/>
                        </a:spcAft>
                      </a:pPr>
                      <a:r>
                        <a:rPr sz="750" b="0"/>
                        <a:t>-</a:t>
                      </a:r>
                    </a:p>
                  </a:txBody>
                  <a:tcPr/>
                </a:tc>
                <a:tc>
                  <a:txBody>
                    <a:bodyPr/>
                    <a:lstStyle/>
                    <a:p>
                      <a:pPr>
                        <a:spcBef>
                          <a:spcPts val="0"/>
                        </a:spcBef>
                        <a:spcAft>
                          <a:spcPts val="0"/>
                        </a:spcAft>
                      </a:pPr>
                      <a:r>
                        <a:rPr sz="750" b="0"/>
                        <a:t>Gap &lt; variance. KL-div 0.517 = fluke. Closed.</a:t>
                      </a:r>
                    </a:p>
                  </a:txBody>
                  <a:tcPr/>
                </a:tc>
              </a:tr>
              <a:tr h="457200">
                <a:tc>
                  <a:txBody>
                    <a:bodyPr/>
                    <a:lstStyle/>
                    <a:p>
                      <a:pPr>
                        <a:spcBef>
                          <a:spcPts val="0"/>
                        </a:spcBef>
                        <a:spcAft>
                          <a:spcPts val="0"/>
                        </a:spcAft>
                      </a:pPr>
                      <a:r>
                        <a:rPr sz="750" b="0"/>
                        <a:t>15</a:t>
                      </a:r>
                    </a:p>
                  </a:txBody>
                  <a:tcPr>
                    <a:solidFill>
                      <a:srgbClr val="F5F5F5"/>
                    </a:solidFill>
                  </a:tcPr>
                </a:tc>
                <a:tc>
                  <a:txBody>
                    <a:bodyPr/>
                    <a:lstStyle/>
                    <a:p>
                      <a:pPr>
                        <a:spcBef>
                          <a:spcPts val="0"/>
                        </a:spcBef>
                        <a:spcAft>
                          <a:spcPts val="0"/>
                        </a:spcAft>
                      </a:pPr>
                      <a:r>
                        <a:rPr sz="750" b="0"/>
                        <a:t>GradCAM Visualisasi</a:t>
                      </a:r>
                    </a:p>
                  </a:txBody>
                  <a:tcPr>
                    <a:solidFill>
                      <a:srgbClr val="F5F5F5"/>
                    </a:solidFill>
                  </a:tcPr>
                </a:tc>
                <a:tc>
                  <a:txBody>
                    <a:bodyPr/>
                    <a:lstStyle/>
                    <a:p>
                      <a:pPr>
                        <a:spcBef>
                          <a:spcPts val="0"/>
                        </a:spcBef>
                        <a:spcAft>
                          <a:spcPts val="0"/>
                        </a:spcAft>
                      </a:pPr>
                      <a:r>
                        <a:rPr sz="750" b="0"/>
                        <a:t>2</a:t>
                      </a:r>
                    </a:p>
                  </a:txBody>
                  <a:tcPr>
                    <a:solidFill>
                      <a:srgbClr val="F5F5F5"/>
                    </a:solidFill>
                  </a:tcPr>
                </a:tc>
                <a:tc>
                  <a:txBody>
                    <a:bodyPr/>
                    <a:lstStyle/>
                    <a:p>
                      <a:pPr>
                        <a:spcBef>
                          <a:spcPts val="0"/>
                        </a:spcBef>
                        <a:spcAft>
                          <a:spcPts val="0"/>
                        </a:spcAft>
                      </a:pPr>
                      <a:r>
                        <a:rPr sz="750" b="0"/>
                        <a:t>Observational</a:t>
                      </a:r>
                    </a:p>
                  </a:txBody>
                  <a:tcPr>
                    <a:solidFill>
                      <a:srgbClr val="F5F5F5"/>
                    </a:solidFill>
                  </a:tcPr>
                </a:tc>
                <a:tc>
                  <a:txBody>
                    <a:bodyPr/>
                    <a:lstStyle/>
                    <a:p>
                      <a:pPr>
                        <a:spcBef>
                          <a:spcPts val="0"/>
                        </a:spcBef>
                        <a:spcAft>
                          <a:spcPts val="0"/>
                        </a:spcAft>
                      </a:pPr>
                      <a:r>
                        <a:rPr sz="750" b="0"/>
                        <a:t>-</a:t>
                      </a:r>
                    </a:p>
                  </a:txBody>
                  <a:tcPr>
                    <a:solidFill>
                      <a:srgbClr val="F5F5F5"/>
                    </a:solidFill>
                  </a:tcPr>
                </a:tc>
                <a:tc>
                  <a:txBody>
                    <a:bodyPr/>
                    <a:lstStyle/>
                    <a:p>
                      <a:pPr>
                        <a:spcBef>
                          <a:spcPts val="0"/>
                        </a:spcBef>
                        <a:spcAft>
                          <a:spcPts val="0"/>
                        </a:spcAft>
                      </a:pPr>
                      <a:r>
                        <a:rPr sz="750" b="0"/>
                        <a:t>Int.Fusion image branch fokus mouth-nose. Belum quantitative.</a:t>
                      </a:r>
                    </a:p>
                  </a:txBody>
                  <a:tcPr>
                    <a:solidFill>
                      <a:srgbClr val="F5F5F5"/>
                    </a:solidFill>
                  </a:tcPr>
                </a:tc>
              </a:tr>
              <a:tr h="457200">
                <a:tc>
                  <a:txBody>
                    <a:bodyPr/>
                    <a:lstStyle/>
                    <a:p>
                      <a:pPr>
                        <a:spcBef>
                          <a:spcPts val="0"/>
                        </a:spcBef>
                        <a:spcAft>
                          <a:spcPts val="0"/>
                        </a:spcAft>
                      </a:pPr>
                      <a:r>
                        <a:rPr sz="750" b="0"/>
                        <a:t>16</a:t>
                      </a:r>
                    </a:p>
                  </a:txBody>
                  <a:tcPr/>
                </a:tc>
                <a:tc>
                  <a:txBody>
                    <a:bodyPr/>
                    <a:lstStyle/>
                    <a:p>
                      <a:pPr>
                        <a:spcBef>
                          <a:spcPts val="0"/>
                        </a:spcBef>
                        <a:spcAft>
                          <a:spcPts val="0"/>
                        </a:spcAft>
                      </a:pPr>
                      <a:r>
                        <a:rPr sz="750" b="0"/>
                        <a:t>Space Alignment (CCA)</a:t>
                      </a:r>
                    </a:p>
                  </a:txBody>
                  <a:tcPr/>
                </a:tc>
                <a:tc>
                  <a:txBody>
                    <a:bodyPr/>
                    <a:lstStyle/>
                    <a:p>
                      <a:pPr>
                        <a:spcBef>
                          <a:spcPts val="0"/>
                        </a:spcBef>
                        <a:spcAft>
                          <a:spcPts val="0"/>
                        </a:spcAft>
                      </a:pPr>
                      <a:r>
                        <a:rPr sz="750" b="0"/>
                        <a:t>-</a:t>
                      </a:r>
                    </a:p>
                  </a:txBody>
                  <a:tcPr/>
                </a:tc>
                <a:tc>
                  <a:txBody>
                    <a:bodyPr/>
                    <a:lstStyle/>
                    <a:p>
                      <a:pPr>
                        <a:spcBef>
                          <a:spcPts val="0"/>
                        </a:spcBef>
                        <a:spcAft>
                          <a:spcPts val="0"/>
                        </a:spcAft>
                      </a:pPr>
                      <a:r>
                        <a:rPr sz="750" b="0"/>
                        <a:t>Analytical</a:t>
                      </a:r>
                    </a:p>
                  </a:txBody>
                  <a:tcPr/>
                </a:tc>
                <a:tc>
                  <a:txBody>
                    <a:bodyPr/>
                    <a:lstStyle/>
                    <a:p>
                      <a:pPr>
                        <a:spcBef>
                          <a:spcPts val="0"/>
                        </a:spcBef>
                        <a:spcAft>
                          <a:spcPts val="0"/>
                        </a:spcAft>
                      </a:pPr>
                      <a:r>
                        <a:rPr sz="750" b="0"/>
                        <a:t>-</a:t>
                      </a:r>
                    </a:p>
                  </a:txBody>
                  <a:tcPr/>
                </a:tc>
                <a:tc>
                  <a:txBody>
                    <a:bodyPr/>
                    <a:lstStyle/>
                    <a:p>
                      <a:pPr>
                        <a:spcBef>
                          <a:spcPts val="0"/>
                        </a:spcBef>
                        <a:spcAft>
                          <a:spcPts val="0"/>
                        </a:spcAft>
                      </a:pPr>
                      <a:r>
                        <a:rPr sz="750" b="0"/>
                        <a:t>CCA top-5=0.978, retrieval top-5=95.3%. Positive, paper-ready.</a:t>
                      </a:r>
                    </a:p>
                  </a:txBody>
                  <a:tcPr/>
                </a:tc>
              </a:tr>
              <a:tr h="457200">
                <a:tc>
                  <a:txBody>
                    <a:bodyPr/>
                    <a:lstStyle/>
                    <a:p>
                      <a:pPr>
                        <a:spcBef>
                          <a:spcPts val="0"/>
                        </a:spcBef>
                        <a:spcAft>
                          <a:spcPts val="0"/>
                        </a:spcAft>
                      </a:pPr>
                      <a:r>
                        <a:rPr sz="750" b="0"/>
                        <a:t>17</a:t>
                      </a:r>
                    </a:p>
                  </a:txBody>
                  <a:tcPr>
                    <a:solidFill>
                      <a:srgbClr val="F5F5F5"/>
                    </a:solidFill>
                  </a:tcPr>
                </a:tc>
                <a:tc>
                  <a:txBody>
                    <a:bodyPr/>
                    <a:lstStyle/>
                    <a:p>
                      <a:pPr>
                        <a:spcBef>
                          <a:spcPts val="0"/>
                        </a:spcBef>
                        <a:spcAft>
                          <a:spcPts val="0"/>
                        </a:spcAft>
                      </a:pPr>
                      <a:r>
                        <a:rPr sz="750" b="0"/>
                        <a:t>Attention CBAM</a:t>
                      </a:r>
                    </a:p>
                  </a:txBody>
                  <a:tcPr>
                    <a:solidFill>
                      <a:srgbClr val="F5F5F5"/>
                    </a:solidFill>
                  </a:tcPr>
                </a:tc>
                <a:tc>
                  <a:txBody>
                    <a:bodyPr/>
                    <a:lstStyle/>
                    <a:p>
                      <a:pPr>
                        <a:spcBef>
                          <a:spcPts val="0"/>
                        </a:spcBef>
                        <a:spcAft>
                          <a:spcPts val="0"/>
                        </a:spcAft>
                      </a:pPr>
                      <a:r>
                        <a:rPr sz="750" b="0"/>
                        <a:t>4</a:t>
                      </a:r>
                    </a:p>
                  </a:txBody>
                  <a:tcPr>
                    <a:solidFill>
                      <a:srgbClr val="F5F5F5"/>
                    </a:solidFill>
                  </a:tcPr>
                </a:tc>
                <a:tc>
                  <a:txBody>
                    <a:bodyPr/>
                    <a:lstStyle/>
                    <a:p>
                      <a:pPr>
                        <a:spcBef>
                          <a:spcPts val="0"/>
                        </a:spcBef>
                        <a:spcAft>
                          <a:spcPts val="0"/>
                        </a:spcAft>
                      </a:pPr>
                      <a:r>
                        <a:rPr sz="750" b="0"/>
                        <a:t>Negative result</a:t>
                      </a:r>
                    </a:p>
                  </a:txBody>
                  <a:tcPr>
                    <a:solidFill>
                      <a:srgbClr val="F5F5F5"/>
                    </a:solidFill>
                  </a:tcPr>
                </a:tc>
                <a:tc>
                  <a:txBody>
                    <a:bodyPr/>
                    <a:lstStyle/>
                    <a:p>
                      <a:pPr>
                        <a:spcBef>
                          <a:spcPts val="0"/>
                        </a:spcBef>
                        <a:spcAft>
                          <a:spcPts val="0"/>
                        </a:spcAft>
                      </a:pPr>
                      <a:r>
                        <a:rPr sz="750" b="0"/>
                        <a:t>-</a:t>
                      </a:r>
                    </a:p>
                  </a:txBody>
                  <a:tcPr>
                    <a:solidFill>
                      <a:srgbClr val="F5F5F5"/>
                    </a:solidFill>
                  </a:tcPr>
                </a:tc>
                <a:tc>
                  <a:txBody>
                    <a:bodyPr/>
                    <a:lstStyle/>
                    <a:p>
                      <a:pPr>
                        <a:spcBef>
                          <a:spcPts val="0"/>
                        </a:spcBef>
                        <a:spcAft>
                          <a:spcPts val="0"/>
                        </a:spcAft>
                      </a:pPr>
                      <a:r>
                        <a:rPr sz="750" b="0"/>
                        <a:t>CBAM tidak beat baseline. w_best -&gt; 0 (ignore CNN branch).</a:t>
                      </a:r>
                    </a:p>
                  </a:txBody>
                  <a:tcPr>
                    <a:solidFill>
                      <a:srgbClr val="F5F5F5"/>
                    </a:solidFill>
                  </a:tcPr>
                </a:tc>
              </a:tr>
              <a:tr h="457200">
                <a:tc>
                  <a:txBody>
                    <a:bodyPr/>
                    <a:lstStyle/>
                    <a:p>
                      <a:pPr>
                        <a:spcBef>
                          <a:spcPts val="0"/>
                        </a:spcBef>
                        <a:spcAft>
                          <a:spcPts val="0"/>
                        </a:spcAft>
                      </a:pPr>
                      <a:r>
                        <a:rPr sz="750" b="0"/>
                        <a:t>18</a:t>
                      </a:r>
                    </a:p>
                  </a:txBody>
                  <a:tcPr/>
                </a:tc>
                <a:tc>
                  <a:txBody>
                    <a:bodyPr/>
                    <a:lstStyle/>
                    <a:p>
                      <a:pPr>
                        <a:spcBef>
                          <a:spcPts val="0"/>
                        </a:spcBef>
                        <a:spcAft>
                          <a:spcPts val="0"/>
                        </a:spcAft>
                      </a:pPr>
                      <a:r>
                        <a:rPr sz="750" b="0"/>
                        <a:t>Conf-Stratified Test (post-hoc)</a:t>
                      </a:r>
                    </a:p>
                  </a:txBody>
                  <a:tcPr/>
                </a:tc>
                <a:tc>
                  <a:txBody>
                    <a:bodyPr/>
                    <a:lstStyle/>
                    <a:p>
                      <a:pPr>
                        <a:spcBef>
                          <a:spcPts val="0"/>
                        </a:spcBef>
                        <a:spcAft>
                          <a:spcPts val="0"/>
                        </a:spcAft>
                      </a:pPr>
                      <a:r>
                        <a:rPr sz="750" b="0"/>
                        <a:t>-</a:t>
                      </a:r>
                    </a:p>
                  </a:txBody>
                  <a:tcPr/>
                </a:tc>
                <a:tc>
                  <a:txBody>
                    <a:bodyPr/>
                    <a:lstStyle/>
                    <a:p>
                      <a:pPr>
                        <a:spcBef>
                          <a:spcPts val="0"/>
                        </a:spcBef>
                        <a:spcAft>
                          <a:spcPts val="0"/>
                        </a:spcAft>
                      </a:pPr>
                      <a:r>
                        <a:rPr sz="750" b="0"/>
                        <a:t>Post-hoc</a:t>
                      </a:r>
                    </a:p>
                  </a:txBody>
                  <a:tcPr/>
                </a:tc>
                <a:tc>
                  <a:txBody>
                    <a:bodyPr/>
                    <a:lstStyle/>
                    <a:p>
                      <a:pPr>
                        <a:spcBef>
                          <a:spcPts val="0"/>
                        </a:spcBef>
                        <a:spcAft>
                          <a:spcPts val="0"/>
                        </a:spcAft>
                      </a:pPr>
                      <a:r>
                        <a:rPr sz="750" b="0"/>
                        <a:t>0.645</a:t>
                      </a:r>
                    </a:p>
                  </a:txBody>
                  <a:tcPr/>
                </a:tc>
                <a:tc>
                  <a:txBody>
                    <a:bodyPr/>
                    <a:lstStyle/>
                    <a:p>
                      <a:pPr>
                        <a:spcBef>
                          <a:spcPts val="0"/>
                        </a:spcBef>
                        <a:spcAft>
                          <a:spcPts val="0"/>
                        </a:spcAft>
                      </a:pPr>
                      <a:r>
                        <a:rPr sz="750" b="0"/>
                        <a:t>F1 flat 0.62-0.65 conf 0.6-0.9. Conf60 optimal trade-off.</a:t>
                      </a:r>
                    </a:p>
                  </a:txBody>
                  <a:tcPr/>
                </a:tc>
              </a:tr>
            </a:tbl>
          </a:graphicData>
        </a:graphic>
      </p:graphicFrame>
      <p:sp>
        <p:nvSpPr>
          <p:cNvPr id="4" name="TextBox 3"/>
          <p:cNvSpPr txBox="1"/>
          <p:nvPr/>
        </p:nvSpPr>
        <p:spPr>
          <a:xfrm>
            <a:off x="274320" y="5257800"/>
            <a:ext cx="8595360" cy="182880"/>
          </a:xfrm>
          <a:prstGeom prst="rect">
            <a:avLst/>
          </a:prstGeom>
          <a:noFill/>
        </p:spPr>
        <p:txBody>
          <a:bodyPr wrap="square" lIns="0" rIns="0" tIns="0" bIns="0">
            <a:spAutoFit/>
          </a:bodyPr>
          <a:lstStyle/>
          <a:p>
            <a:r>
              <a:rPr sz="850" b="1">
                <a:solidFill>
                  <a:srgbClr val="1F3A5F"/>
                </a:solidFill>
              </a:rPr>
              <a:t>Perjalanan F1:  0.175 (7c) -&gt; 0.394 (4c) -&gt; 0.412 (TL) -&gt; 0.567 (Conf60) -&gt; 0.623 (3-class LF TL B3)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