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65" r:id="rId115"/>
    <p:sldId id="337" r:id="rId87"/>
    <p:sldId id="392" r:id="rId130"/>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5.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5.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3.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2.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34.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 Eksplorasi Selesai (Negative Result)</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0"/>
              <a:t>Konsolidasi nb 71 (CNN TL) + nb 72 (Late Fusion TL) + nb 78 (Intermediate TL) — 4 loss × 3 arsitektur, hyperparam align (EPOCHS=50, LR=5e-5), selection by val macro.</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Arsitektur</a:t>
                      </a:r>
                    </a:p>
                  </a:txBody>
                  <a:tcPr>
                    <a:solidFill>
                      <a:srgbClr val="1A73E8"/>
                    </a:solidFill>
                  </a:tcPr>
                </a:tc>
                <a:tc>
                  <a:txBody>
                    <a:bodyPr/>
                    <a:lstStyle/>
                    <a:p>
                      <a:pPr algn="ctr"/>
                      <a:r>
                        <a:rPr sz="900" b="1">
                          <a:solidFill>
                            <a:srgbClr val="FFFFFF"/>
                          </a:solidFill>
                        </a:rPr>
                        <a:t>A Hard CE</a:t>
                      </a:r>
                    </a:p>
                  </a:txBody>
                  <a:tcPr>
                    <a:solidFill>
                      <a:srgbClr val="1A73E8"/>
                    </a:solidFill>
                  </a:tcPr>
                </a:tc>
                <a:tc>
                  <a:txBody>
                    <a:bodyPr/>
                    <a:lstStyle/>
                    <a:p>
                      <a:pPr algn="ctr"/>
                      <a:r>
                        <a:rPr sz="900" b="1">
                          <a:solidFill>
                            <a:srgbClr val="FFFFFF"/>
                          </a:solidFill>
                        </a:rPr>
                        <a:t>C KL-div</a:t>
                      </a:r>
                    </a:p>
                  </a:txBody>
                  <a:tcPr>
                    <a:solidFill>
                      <a:srgbClr val="1A73E8"/>
                    </a:solidFill>
                  </a:tcPr>
                </a:tc>
                <a:tc>
                  <a:txBody>
                    <a:bodyPr/>
                    <a:lstStyle/>
                    <a:p>
                      <a:pPr algn="ctr"/>
                      <a:r>
                        <a:rPr sz="900" b="1">
                          <a:solidFill>
                            <a:srgbClr val="FFFFFF"/>
                          </a:solidFill>
                        </a:rPr>
                        <a:t>Kesimpulan</a:t>
                      </a:r>
                    </a:p>
                  </a:txBody>
                  <a:tcPr>
                    <a:solidFill>
                      <a:srgbClr val="1A73E8"/>
                    </a:solidFill>
                  </a:tcPr>
                </a:tc>
              </a:tr>
              <a:tr h="320040">
                <a:tc>
                  <a:txBody>
                    <a:bodyPr/>
                    <a:lstStyle/>
                    <a:p>
                      <a:pPr algn="l"/>
                      <a:r>
                        <a:rPr sz="850" b="1">
                          <a:solidFill>
                            <a:srgbClr val="202020"/>
                          </a:solidFill>
                        </a:rPr>
                        <a:t>CNN TL 4c B1 (nb 71)</a:t>
                      </a:r>
                    </a:p>
                  </a:txBody>
                  <a:tcPr>
                    <a:solidFill>
                      <a:srgbClr val="E8F0FE"/>
                    </a:solidFill>
                  </a:tcPr>
                </a:tc>
                <a:tc>
                  <a:txBody>
                    <a:bodyPr/>
                    <a:lstStyle/>
                    <a:p>
                      <a:pPr algn="ctr"/>
                      <a:r>
                        <a:rPr sz="850" b="0">
                          <a:solidFill>
                            <a:srgbClr val="202020"/>
                          </a:solidFill>
                        </a:rPr>
                        <a:t>0.432</a:t>
                      </a:r>
                    </a:p>
                  </a:txBody>
                  <a:tcPr>
                    <a:solidFill>
                      <a:srgbClr val="E8F0FE"/>
                    </a:solidFill>
                  </a:tcPr>
                </a:tc>
                <a:tc>
                  <a:txBody>
                    <a:bodyPr/>
                    <a:lstStyle/>
                    <a:p>
                      <a:pPr algn="ctr"/>
                      <a:r>
                        <a:rPr sz="850" b="0">
                          <a:solidFill>
                            <a:srgbClr val="202020"/>
                          </a:solidFill>
                        </a:rPr>
                        <a:t>0.427</a:t>
                      </a:r>
                    </a:p>
                  </a:txBody>
                  <a:tcPr>
                    <a:solidFill>
                      <a:srgbClr val="E8F0FE"/>
                    </a:solidFill>
                  </a:tcPr>
                </a:tc>
                <a:tc>
                  <a:txBody>
                    <a:bodyPr/>
                    <a:lstStyle/>
                    <a:p>
                      <a:pPr algn="ctr"/>
                      <a:r>
                        <a:rPr sz="850" b="0">
                          <a:solidFill>
                            <a:srgbClr val="202020"/>
                          </a:solidFill>
                        </a:rPr>
                        <a:t>Tied dalam variance (val N/A)</a:t>
                      </a:r>
                    </a:p>
                  </a:txBody>
                  <a:tcPr>
                    <a:solidFill>
                      <a:srgbClr val="E8F0FE"/>
                    </a:solidFill>
                  </a:tcPr>
                </a:tc>
              </a:tr>
              <a:tr h="320040">
                <a:tc>
                  <a:txBody>
                    <a:bodyPr/>
                    <a:lstStyle/>
                    <a:p>
                      <a:pPr algn="l"/>
                      <a:r>
                        <a:rPr sz="850" b="1">
                          <a:solidFill>
                            <a:srgbClr val="202020"/>
                          </a:solidFill>
                        </a:rPr>
                        <a:t>Late Fusion TL 4c (nb 72)</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0.437</a:t>
                      </a:r>
                    </a:p>
                  </a:txBody>
                  <a:tcPr>
                    <a:solidFill>
                      <a:srgbClr val="FFFFFF"/>
                    </a:solidFill>
                  </a:tcPr>
                </a:tc>
                <a:tc>
                  <a:txBody>
                    <a:bodyPr/>
                    <a:lstStyle/>
                    <a:p>
                      <a:pPr algn="ctr"/>
                      <a:r>
                        <a:rPr sz="850" b="0">
                          <a:solidFill>
                            <a:srgbClr val="202020"/>
                          </a:solidFill>
                        </a:rPr>
                        <a:t>&lt; baseline val-tuned 0.466</a:t>
                      </a:r>
                    </a:p>
                  </a:txBody>
                  <a:tcPr>
                    <a:solidFill>
                      <a:srgbClr val="FFFFFF"/>
                    </a:solidFill>
                  </a:tcPr>
                </a:tc>
              </a:tr>
              <a:tr h="320040">
                <a:tc>
                  <a:txBody>
                    <a:bodyPr/>
                    <a:lstStyle/>
                    <a:p>
                      <a:pPr algn="l"/>
                      <a:r>
                        <a:rPr sz="850" b="1">
                          <a:solidFill>
                            <a:srgbClr val="202020"/>
                          </a:solidFill>
                        </a:rPr>
                        <a:t>Intermediate TL 4c B1 (nb 78)</a:t>
                      </a:r>
                    </a:p>
                  </a:txBody>
                  <a:tcPr>
                    <a:solidFill>
                      <a:srgbClr val="E8F0FE"/>
                    </a:solidFill>
                  </a:tcPr>
                </a:tc>
                <a:tc>
                  <a:txBody>
                    <a:bodyPr/>
                    <a:lstStyle/>
                    <a:p>
                      <a:pPr algn="ctr"/>
                      <a:r>
                        <a:rPr sz="850" b="0">
                          <a:solidFill>
                            <a:srgbClr val="202020"/>
                          </a:solidFill>
                        </a:rPr>
                        <a:t>0.485</a:t>
                      </a:r>
                    </a:p>
                  </a:txBody>
                  <a:tcPr>
                    <a:solidFill>
                      <a:srgbClr val="E8F0FE"/>
                    </a:solidFill>
                  </a:tcPr>
                </a:tc>
                <a:tc>
                  <a:txBody>
                    <a:bodyPr/>
                    <a:lstStyle/>
                    <a:p>
                      <a:pPr algn="ctr"/>
                      <a:r>
                        <a:rPr sz="850" b="0">
                          <a:solidFill>
                            <a:srgbClr val="202020"/>
                          </a:solidFill>
                        </a:rPr>
                        <a:t>0.453</a:t>
                      </a:r>
                    </a:p>
                  </a:txBody>
                  <a:tcPr>
                    <a:solidFill>
                      <a:srgbClr val="E8F0FE"/>
                    </a:solidFill>
                  </a:tcPr>
                </a:tc>
                <a:tc>
                  <a:txBody>
                    <a:bodyPr/>
                    <a:lstStyle/>
                    <a:p>
                      <a:pPr algn="ctr"/>
                      <a:r>
                        <a:rPr sz="850" b="0">
                          <a:solidFill>
                            <a:srgbClr val="202020"/>
                          </a:solidFill>
                        </a:rPr>
                        <a:t>Hard CE juara by val (0.480)</a:t>
                      </a:r>
                    </a:p>
                  </a:txBody>
                  <a:tcPr>
                    <a:solidFill>
                      <a:srgbClr val="E8F0FE"/>
                    </a:solidFill>
                  </a:tcPr>
                </a:tc>
              </a:tr>
              <a:tr h="320040">
                <a:tc>
                  <a:txBody>
                    <a:bodyPr/>
                    <a:lstStyle/>
                    <a:p>
                      <a:pPr algn="l"/>
                      <a:r>
                        <a:rPr sz="850" b="1">
                          <a:solidFill>
                            <a:srgbClr val="202020"/>
                          </a:solidFill>
                        </a:rPr>
                        <a:t>Variance single-seed</a:t>
                      </a:r>
                    </a:p>
                  </a:txBody>
                  <a:tcPr>
                    <a:solidFill>
                      <a:srgbClr val="FFFFFF"/>
                    </a:solidFill>
                  </a:tcPr>
                </a:tc>
                <a:tc>
                  <a:txBody>
                    <a:bodyPr/>
                    <a:lstStyle/>
                    <a:p>
                      <a:pPr algn="ctr"/>
                      <a:r>
                        <a:rPr sz="850" b="0">
                          <a:solidFill>
                            <a:srgbClr val="202020"/>
                          </a:solidFill>
                        </a:rPr>
                        <a:t>±0.05-0.09</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khas DL — multi-seed needed</a:t>
                      </a:r>
                    </a:p>
                  </a:txBody>
                  <a:tcPr>
                    <a:solidFill>
                      <a:srgbClr val="FFFFFF"/>
                    </a:solidFill>
                  </a:tcPr>
                </a:tc>
              </a:tr>
              <a:tr h="320040">
                <a:tc>
                  <a:txBody>
                    <a:bodyPr/>
                    <a:lstStyle/>
                    <a:p>
                      <a:pPr algn="l"/>
                      <a:r>
                        <a:rPr sz="850" b="1">
                          <a:solidFill>
                            <a:srgbClr val="202020"/>
                          </a:solidFill>
                        </a:rPr>
                        <a:t>Hipotesis</a:t>
                      </a:r>
                    </a:p>
                  </a:txBody>
                  <a:tcPr>
                    <a:solidFill>
                      <a:srgbClr val="E6F4EA"/>
                    </a:solidFill>
                  </a:tcPr>
                </a:tc>
                <a:tc>
                  <a:txBody>
                    <a:bodyPr/>
                    <a:lstStyle/>
                    <a:p>
                      <a:pPr algn="ctr"/>
                      <a:r>
                        <a:rPr sz="850" b="0">
                          <a:solidFill>
                            <a:srgbClr val="202020"/>
                          </a:solidFill>
                        </a:rPr>
                        <a:t>Tidak terkonfirmasi</a:t>
                      </a:r>
                    </a:p>
                  </a:txBody>
                  <a:tcPr>
                    <a:solidFill>
                      <a:srgbClr val="E6F4EA"/>
                    </a:solidFill>
                  </a:tcPr>
                </a:tc>
                <a:tc>
                  <a:txBody>
                    <a:bodyPr/>
                    <a:lstStyle/>
                    <a:p>
                      <a:pPr algn="ctr"/>
                      <a:r>
                        <a:rPr sz="850" b="0">
                          <a:solidFill>
                            <a:srgbClr val="202020"/>
                          </a:solidFill>
                        </a:rPr>
                        <a:t>—</a:t>
                      </a:r>
                    </a:p>
                  </a:txBody>
                  <a:tcPr>
                    <a:solidFill>
                      <a:srgbClr val="E6F4EA"/>
                    </a:solidFill>
                  </a:tcPr>
                </a:tc>
                <a:tc>
                  <a:txBody>
                    <a:bodyPr/>
                    <a:lstStyle/>
                    <a:p>
                      <a:pPr algn="ctr"/>
                      <a:r>
                        <a:rPr sz="850" b="0">
                          <a:solidFill>
                            <a:srgbClr val="202020"/>
                          </a:solidFill>
                        </a:rPr>
                        <a:t>STOP eksplorasi</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Konsolidasi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T41: Single-seed variance ±0.05-0.09 — terlalu besar untuk klaim marginal</a:t>
            </a:r>
          </a:p>
          <a:p>
            <a:r>
              <a:rPr sz="900" b="0"/>
              <a:t>Gap antar loss config 0.02-0.03, di bawah variance. Mustahil klaim "soft label menang" tanpa multi-seed (3-5 run minimum).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T42: KL-div juara 0.517 di run sebelumnya adalah fluke</a:t>
            </a:r>
          </a:p>
          <a:p>
            <a:r>
              <a:rPr sz="900" b="0"/>
              <a:t>Re-run dengan setup konsisten kasih KL-div = 0.427 di CNN TL (selisih 0.09 dari run lama) — manifestasi pure seed/convergence variance.</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T43: Soft label tidak transfer ke fusion</a:t>
            </a:r>
          </a:p>
          <a:p>
            <a:r>
              <a:rPr sz="900" b="0"/>
              <a:t>Late Fusion TL gagal (0.432-0.437 vs baseline 0.466). Intermediate TL: Hard CE menang by val. Modality interaction dominates over loss-function nuance.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T44: Status — stop eksplorasi soft label</a:t>
            </a:r>
          </a:p>
          <a:p>
            <a:r>
              <a:rPr sz="900" b="0"/>
              <a:t>Hipotesis tidak terkonfirmasi. Fokus pindah ke Geometric Features (Liliana Table 3) + GCN Preprocessing (Pitaloka 2017) yang potensinya lebih jelas.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800" b="0"/>
              <a:t/>
            </a:r>
          </a:p>
          <a:p>
            <a:r>
              <a:rPr sz="1000" b="1"/>
              <a:t>Catatan — Pemilihan Paper Referensi:</a:t>
            </a:r>
          </a:p>
          <a:p>
            <a:r>
              <a:rPr sz="900" b="0"/>
              <a:t>• Liliana 2019 dipilih karena paper dosen pembimbing (first author)</a:t>
            </a:r>
          </a:p>
          <a:p>
            <a:r>
              <a:rPr sz="900" b="0"/>
              <a:t>  — novelty tesis = direct extension work beliau</a:t>
            </a:r>
          </a:p>
          <a:p>
            <a:r>
              <a:rPr sz="900" b="0"/>
              <a:t>• Pitaloka 2017 dipilih karena ablation preprocessing</a:t>
            </a:r>
          </a:p>
          <a:p>
            <a:r>
              <a:rPr sz="900" b="0"/>
              <a:t>  — quick win, sesuai pipeline saat ini</a:t>
            </a:r>
          </a:p>
          <a:p>
            <a:r>
              <a:rPr sz="900" b="0"/>
              <a:t>• Total 5 eksperimen paper-grounded (A-E), semua sejalan</a:t>
            </a:r>
          </a:p>
          <a:p>
            <a:r>
              <a:rPr sz="900" b="0"/>
              <a:t>  dengan novelty tesis + paper JITeCS.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300" b="0"/>
              <a:t/>
            </a:r>
          </a:p>
          <a:p>
            <a:r>
              <a:rPr sz="900" b="0"/>
              <a:t>Catatan: GradCAM (arahan dosen, terpisah) sudah in-progress via nb 73 untuk qualitative analysis BAB Discussion — bukan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B/C/D/E belum dimulai  |  Detail: docs/eksplorasi_lanjutan.md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