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1" r:id="rId131"/>
    <p:sldId id="390" r:id="rId140"/>
    <p:sldId id="382" r:id="rId132"/>
    <p:sldId id="389" r:id="rId139"/>
    <p:sldId id="383" r:id="rId133"/>
    <p:sldId id="384" r:id="rId134"/>
    <p:sldId id="388" r:id="rId138"/>
    <p:sldId id="385" r:id="rId135"/>
    <p:sldId id="387" r:id="rId137"/>
    <p:sldId id="386" r:id="rId136"/>
    <p:sldId id="391" r:id="rId141"/>
    <p:sldId id="365" r:id="rId115"/>
    <p:sldId id="337" r:id="rId87"/>
    <p:sldId id="392" r:id="rId130"/>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4.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4.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33.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32.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35.xml"/><Relationship Id="rId131" Type="http://schemas.openxmlformats.org/officeDocument/2006/relationships/slide" Target="slides/slide121.xml"/><Relationship Id="rId132" Type="http://schemas.openxmlformats.org/officeDocument/2006/relationships/slide" Target="slides/slide123.xml"/><Relationship Id="rId133" Type="http://schemas.openxmlformats.org/officeDocument/2006/relationships/slide" Target="slides/slide125.xml"/><Relationship Id="rId134" Type="http://schemas.openxmlformats.org/officeDocument/2006/relationships/slide" Target="slides/slide126.xml"/><Relationship Id="rId135" Type="http://schemas.openxmlformats.org/officeDocument/2006/relationships/slide" Target="slides/slide128.xml"/><Relationship Id="rId136" Type="http://schemas.openxmlformats.org/officeDocument/2006/relationships/slide" Target="slides/slide130.xml"/><Relationship Id="rId137" Type="http://schemas.openxmlformats.org/officeDocument/2006/relationships/slide" Target="slides/slide129.xml"/><Relationship Id="rId138" Type="http://schemas.openxmlformats.org/officeDocument/2006/relationships/slide" Target="slides/slide127.xml"/><Relationship Id="rId139" Type="http://schemas.openxmlformats.org/officeDocument/2006/relationships/slide" Target="slides/slide124.xml"/><Relationship Id="rId140" Type="http://schemas.openxmlformats.org/officeDocument/2006/relationships/slide" Target="slides/slide122.xml"/><Relationship Id="rId141" Type="http://schemas.openxmlformats.org/officeDocument/2006/relationships/slide" Target="slides/slide1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 ★</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 ★</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0.270 (scratch B1)</a:t>
                      </a:r>
                    </a:p>
                  </a:txBody>
                  <a:tcPr>
                    <a:solidFill>
                      <a:srgbClr val="E6F4EA"/>
                    </a:solidFill>
                  </a:tcPr>
                </a:tc>
                <a:tc>
                  <a:txBody>
                    <a:bodyPr/>
                    <a:lstStyle/>
                    <a:p>
                      <a:pPr algn="ctr"/>
                      <a:r>
                        <a:rPr sz="850" b="0">
                          <a:solidFill>
                            <a:srgbClr val="202020"/>
                          </a:solidFill>
                        </a:rPr>
                        <a:t>0.479 (scratch B2)</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32: Early Fusion TL B3 tembus best di 7-class (0.333)</a:t>
            </a:r>
          </a:p>
          <a:p>
            <a:r>
              <a:rPr sz="900" b="0"/>
              <a:t>Melampaui Intermediate TL B3 (0.292) dan Late Fusion scratch B1 (0.270, val-tuned). Kombinasi heatmap channel + class weights + augmentasi + TL bekerja sinergis untuk skenario kelas banyak + imbalance ekstrem.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35: Ranking fusion strategy berbeda per granularitas kelas (val-tuned)</a:t>
            </a:r>
          </a:p>
          <a:p>
            <a:r>
              <a:rPr sz="900" b="0"/>
              <a:t>7-class: Early TL B3 (0.333) &gt; Intermediate TL B3 (0.292) &gt; Late Fusion scratch B1 (0.270). 4-class: Intermediate TL B3 (0.521) &gt; Late Fusion scratch B2 (0.479) &gt; Early TL B1 (0.471). Early Fusion juara di high-granularity, Intermediate juara di low-granularity.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0.246</a:t>
                      </a:r>
                    </a:p>
                  </a:txBody>
                  <a:tcPr>
                    <a:solidFill>
                      <a:srgbClr val="E8F0FE"/>
                    </a:solidFill>
                  </a:tcPr>
                </a:tc>
                <a:tc>
                  <a:txBody>
                    <a:bodyPr/>
                    <a:lstStyle/>
                    <a:p>
                      <a:pPr algn="ctr"/>
                      <a:r>
                        <a:rPr sz="750" b="0">
                          <a:solidFill>
                            <a:srgbClr val="202020"/>
                          </a:solidFill>
                        </a:rPr>
                        <a:t>0.794</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0.253</a:t>
                      </a:r>
                    </a:p>
                  </a:txBody>
                  <a:tcPr>
                    <a:solidFill>
                      <a:srgbClr val="E8F0FE"/>
                    </a:solidFill>
                  </a:tcPr>
                </a:tc>
                <a:tc>
                  <a:txBody>
                    <a:bodyPr/>
                    <a:lstStyle/>
                    <a:p>
                      <a:pPr algn="ctr"/>
                      <a:r>
                        <a:rPr sz="750" b="0">
                          <a:solidFill>
                            <a:srgbClr val="202020"/>
                          </a:solidFill>
                        </a:rPr>
                        <a:t>0.713</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0.713</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0.457</a:t>
                      </a:r>
                    </a:p>
                  </a:txBody>
                  <a:tcPr>
                    <a:solidFill>
                      <a:srgbClr val="E8F0FE"/>
                    </a:solidFill>
                  </a:tcPr>
                </a:tc>
                <a:tc>
                  <a:txBody>
                    <a:bodyPr/>
                    <a:lstStyle/>
                    <a:p>
                      <a:pPr algn="ctr"/>
                      <a:r>
                        <a:rPr sz="750" b="0">
                          <a:solidFill>
                            <a:srgbClr val="202020"/>
                          </a:solidFill>
                        </a:rPr>
                        <a:t>0.822</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0.822</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0.471</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(Eksplorasi Liliana 2019-inspired, nb 71)</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100" b="0"/>
              <a:t>4 Loss Variants — CNN TL 4-class B1 Baseline (isolate efek loss function)</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Config</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320040">
                <a:tc>
                  <a:txBody>
                    <a:bodyPr/>
                    <a:lstStyle/>
                    <a:p>
                      <a:pPr algn="l"/>
                      <a:r>
                        <a:rPr sz="850" b="1">
                          <a:solidFill>
                            <a:srgbClr val="202020"/>
                          </a:solidFill>
                        </a:rPr>
                        <a:t>A. Hard CE (baseline)</a:t>
                      </a:r>
                    </a:p>
                  </a:txBody>
                  <a:tcPr>
                    <a:solidFill>
                      <a:srgbClr val="E8F0FE"/>
                    </a:solidFill>
                  </a:tcPr>
                </a:tc>
                <a:tc>
                  <a:txBody>
                    <a:bodyPr/>
                    <a:lstStyle/>
                    <a:p>
                      <a:pPr algn="ctr"/>
                      <a:r>
                        <a:rPr sz="850" b="0">
                          <a:solidFill>
                            <a:srgbClr val="202020"/>
                          </a:solidFill>
                        </a:rPr>
                        <a:t>0.4269</a:t>
                      </a:r>
                    </a:p>
                  </a:txBody>
                  <a:tcPr>
                    <a:solidFill>
                      <a:srgbClr val="E8F0FE"/>
                    </a:solidFill>
                  </a:tcPr>
                </a:tc>
                <a:tc>
                  <a:txBody>
                    <a:bodyPr/>
                    <a:lstStyle/>
                    <a:p>
                      <a:pPr algn="ctr"/>
                      <a:r>
                        <a:rPr sz="850" b="0">
                          <a:solidFill>
                            <a:srgbClr val="202020"/>
                          </a:solidFill>
                        </a:rPr>
                        <a:t>0.6986</a:t>
                      </a:r>
                    </a:p>
                  </a:txBody>
                  <a:tcPr>
                    <a:solidFill>
                      <a:srgbClr val="E8F0FE"/>
                    </a:solidFill>
                  </a:tcPr>
                </a:tc>
                <a:tc>
                  <a:txBody>
                    <a:bodyPr/>
                    <a:lstStyle/>
                    <a:p>
                      <a:pPr algn="ctr"/>
                      <a:r>
                        <a:rPr sz="850" b="0">
                          <a:solidFill>
                            <a:srgbClr val="202020"/>
                          </a:solidFill>
                        </a:rPr>
                        <a:t>0.7155</a:t>
                      </a:r>
                    </a:p>
                  </a:txBody>
                  <a:tcPr>
                    <a:solidFill>
                      <a:srgbClr val="E8F0FE"/>
                    </a:solidFill>
                  </a:tcPr>
                </a:tc>
              </a:tr>
              <a:tr h="320040">
                <a:tc>
                  <a:txBody>
                    <a:bodyPr/>
                    <a:lstStyle/>
                    <a:p>
                      <a:pPr algn="l"/>
                      <a:r>
                        <a:rPr sz="850" b="1">
                          <a:solidFill>
                            <a:srgbClr val="202020"/>
                          </a:solidFill>
                        </a:rPr>
                        <a:t>B. Soft CE</a:t>
                      </a:r>
                    </a:p>
                  </a:txBody>
                  <a:tcPr>
                    <a:solidFill>
                      <a:srgbClr val="FFFFFF"/>
                    </a:solidFill>
                  </a:tcPr>
                </a:tc>
                <a:tc>
                  <a:txBody>
                    <a:bodyPr/>
                    <a:lstStyle/>
                    <a:p>
                      <a:pPr algn="ctr"/>
                      <a:r>
                        <a:rPr sz="850" b="0">
                          <a:solidFill>
                            <a:srgbClr val="202020"/>
                          </a:solidFill>
                        </a:rPr>
                        <a:t>0.4667</a:t>
                      </a:r>
                    </a:p>
                  </a:txBody>
                  <a:tcPr>
                    <a:solidFill>
                      <a:srgbClr val="FFFFFF"/>
                    </a:solidFill>
                  </a:tcPr>
                </a:tc>
                <a:tc>
                  <a:txBody>
                    <a:bodyPr/>
                    <a:lstStyle/>
                    <a:p>
                      <a:pPr algn="ctr"/>
                      <a:r>
                        <a:rPr sz="850" b="0">
                          <a:solidFill>
                            <a:srgbClr val="202020"/>
                          </a:solidFill>
                        </a:rPr>
                        <a:t>0.8407</a:t>
                      </a:r>
                    </a:p>
                  </a:txBody>
                  <a:tcPr>
                    <a:solidFill>
                      <a:srgbClr val="FFFFFF"/>
                    </a:solidFill>
                  </a:tcPr>
                </a:tc>
                <a:tc>
                  <a:txBody>
                    <a:bodyPr/>
                    <a:lstStyle/>
                    <a:p>
                      <a:pPr algn="ctr"/>
                      <a:r>
                        <a:rPr sz="850" b="0">
                          <a:solidFill>
                            <a:srgbClr val="202020"/>
                          </a:solidFill>
                        </a:rPr>
                        <a:t>0.8281</a:t>
                      </a:r>
                    </a:p>
                  </a:txBody>
                  <a:tcPr>
                    <a:solidFill>
                      <a:srgbClr val="FFFFFF"/>
                    </a:solidFill>
                  </a:tcPr>
                </a:tc>
              </a:tr>
              <a:tr h="320040">
                <a:tc>
                  <a:txBody>
                    <a:bodyPr/>
                    <a:lstStyle/>
                    <a:p>
                      <a:pPr algn="l"/>
                      <a:r>
                        <a:rPr sz="850" b="1">
                          <a:solidFill>
                            <a:srgbClr val="202020"/>
                          </a:solidFill>
                        </a:rPr>
                        <a:t>C. KL-divergence  ⭐</a:t>
                      </a:r>
                    </a:p>
                  </a:txBody>
                  <a:tcPr>
                    <a:solidFill>
                      <a:srgbClr val="E8F0FE"/>
                    </a:solidFill>
                  </a:tcPr>
                </a:tc>
                <a:tc>
                  <a:txBody>
                    <a:bodyPr/>
                    <a:lstStyle/>
                    <a:p>
                      <a:pPr algn="ctr"/>
                      <a:r>
                        <a:rPr sz="850" b="0">
                          <a:solidFill>
                            <a:srgbClr val="202020"/>
                          </a:solidFill>
                        </a:rPr>
                        <a:t>0.5170</a:t>
                      </a:r>
                    </a:p>
                  </a:txBody>
                  <a:tcPr>
                    <a:solidFill>
                      <a:srgbClr val="E8F0FE"/>
                    </a:solidFill>
                  </a:tcPr>
                </a:tc>
                <a:tc>
                  <a:txBody>
                    <a:bodyPr/>
                    <a:lstStyle/>
                    <a:p>
                      <a:pPr algn="ctr"/>
                      <a:r>
                        <a:rPr sz="850" b="0">
                          <a:solidFill>
                            <a:srgbClr val="202020"/>
                          </a:solidFill>
                        </a:rPr>
                        <a:t>0.8213</a:t>
                      </a:r>
                    </a:p>
                  </a:txBody>
                  <a:tcPr>
                    <a:solidFill>
                      <a:srgbClr val="E8F0FE"/>
                    </a:solidFill>
                  </a:tcPr>
                </a:tc>
                <a:tc>
                  <a:txBody>
                    <a:bodyPr/>
                    <a:lstStyle/>
                    <a:p>
                      <a:pPr algn="ctr"/>
                      <a:r>
                        <a:rPr sz="850" b="0">
                          <a:solidFill>
                            <a:srgbClr val="202020"/>
                          </a:solidFill>
                        </a:rPr>
                        <a:t>0.8258</a:t>
                      </a:r>
                    </a:p>
                  </a:txBody>
                  <a:tcPr>
                    <a:solidFill>
                      <a:srgbClr val="E8F0FE"/>
                    </a:solidFill>
                  </a:tcPr>
                </a:tc>
              </a:tr>
              <a:tr h="320040">
                <a:tc>
                  <a:txBody>
                    <a:bodyPr/>
                    <a:lstStyle/>
                    <a:p>
                      <a:pPr algn="l"/>
                      <a:r>
                        <a:rPr sz="850" b="1">
                          <a:solidFill>
                            <a:srgbClr val="202020"/>
                          </a:solidFill>
                        </a:rPr>
                        <a:t>D. Label Smoothing (ε=0.1)</a:t>
                      </a:r>
                    </a:p>
                  </a:txBody>
                  <a:tcPr>
                    <a:solidFill>
                      <a:srgbClr val="FFFFFF"/>
                    </a:solidFill>
                  </a:tcPr>
                </a:tc>
                <a:tc>
                  <a:txBody>
                    <a:bodyPr/>
                    <a:lstStyle/>
                    <a:p>
                      <a:pPr algn="ctr"/>
                      <a:r>
                        <a:rPr sz="850" b="0">
                          <a:solidFill>
                            <a:srgbClr val="202020"/>
                          </a:solidFill>
                        </a:rPr>
                        <a:t>0.4418</a:t>
                      </a:r>
                    </a:p>
                  </a:txBody>
                  <a:tcPr>
                    <a:solidFill>
                      <a:srgbClr val="FFFFFF"/>
                    </a:solidFill>
                  </a:tcPr>
                </a:tc>
                <a:tc>
                  <a:txBody>
                    <a:bodyPr/>
                    <a:lstStyle/>
                    <a:p>
                      <a:pPr algn="ctr"/>
                      <a:r>
                        <a:rPr sz="850" b="0">
                          <a:solidFill>
                            <a:srgbClr val="202020"/>
                          </a:solidFill>
                        </a:rPr>
                        <a:t>0.8202</a:t>
                      </a:r>
                    </a:p>
                  </a:txBody>
                  <a:tcPr>
                    <a:solidFill>
                      <a:srgbClr val="FFFFFF"/>
                    </a:solidFill>
                  </a:tcPr>
                </a:tc>
                <a:tc>
                  <a:txBody>
                    <a:bodyPr/>
                    <a:lstStyle/>
                    <a:p>
                      <a:pPr algn="ctr"/>
                      <a:r>
                        <a:rPr sz="850" b="0">
                          <a:solidFill>
                            <a:srgbClr val="202020"/>
                          </a:solidFill>
                        </a:rPr>
                        <a:t>0.8089</a:t>
                      </a:r>
                    </a:p>
                  </a:txBody>
                  <a:tcPr>
                    <a:solidFill>
                      <a:srgbClr val="FFFFFF"/>
                    </a:solidFill>
                  </a:tcPr>
                </a:tc>
              </a:tr>
              <a:tr h="320040">
                <a:tc>
                  <a:txBody>
                    <a:bodyPr/>
                    <a:lstStyle/>
                    <a:p>
                      <a:pPr algn="l"/>
                      <a:r>
                        <a:rPr sz="850" b="1">
                          <a:solidFill>
                            <a:srgbClr val="202020"/>
                          </a:solidFill>
                        </a:rPr>
                        <a:t>Ref: CNN TL 4c B1 hard (nb 54) = 0.456</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41: KL-divergence soft label beat Hard CE +0.090 Macro F1</a:t>
            </a:r>
          </a:p>
          <a:p>
            <a:r>
              <a:rPr sz="900" b="0"/>
              <a:t>CNN TL 4c: 0.427 (hard) → 0.517 (KL-div). Signifikan. Konsisten hipotesis Liliana 2019: natural emotion recognition diuntungkan target fuzzy/distribusional.</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Temuan 42: Hierarki efektivitas — KL &gt; Soft CE &gt; Label Smoothing &gt; Hard CE</a:t>
            </a:r>
          </a:p>
          <a:p>
            <a:r>
              <a:rPr sz="900" b="0"/>
              <a:t>KL (Face API real) &gt; Soft CE (sama distribusi, beda loss) &gt; Label Smoothing (artificial ε=0.1) &gt; Hard CE. Menunjukkan distribusi Face API membawa sinyal real, bukan sekadar regularisasi.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Temuan 43: KL-div converge epoch 1 — perlu verifikasi</a:t>
            </a:r>
          </a:p>
          <a:p>
            <a:r>
              <a:rPr sz="900" b="0"/>
              <a:t>best_epoch = 1 (stale 15 epoch lalu early stop). Perlu cek training history + multi-seed run untuk pastikan bukan fluke.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44: Soft label bump accuracy 0.70 → 0.84</a:t>
            </a:r>
          </a:p>
          <a:p>
            <a:r>
              <a:rPr sz="900" b="0"/>
              <a:t>Hard CE acc 0.70 vs Soft CE acc 0.84. Model tidak selalu prediksi neutral dengan soft target — lebih "aware" kelas lain. Next: nb 72 extend ke Late Fusion TL 4c B3.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i="0"/>
              <a:t>SLIDE 34: GradCAM Observasi Awal (Eksplorasi, nb 73)</a:t>
            </a:r>
          </a:p>
        </p:txBody>
      </p:sp>
      <p:sp>
        <p:nvSpPr>
          <p:cNvPr id="3" name="TextBox 2"/>
          <p:cNvSpPr txBox="1"/>
          <p:nvPr/>
        </p:nvSpPr>
        <p:spPr>
          <a:xfrm>
            <a:off x="274320" y="475488"/>
            <a:ext cx="8595360" cy="256032"/>
          </a:xfrm>
          <a:prstGeom prst="rect">
            <a:avLst/>
          </a:prstGeom>
          <a:noFill/>
        </p:spPr>
        <p:txBody>
          <a:bodyPr wrap="square" lIns="0" rIns="0" tIns="0" bIns="0">
            <a:spAutoFit/>
          </a:bodyPr>
          <a:lstStyle/>
          <a:p>
            <a:r>
              <a:rPr sz="950" b="0" i="1">
                <a:solidFill>
                  <a:srgbClr val="555555"/>
                </a:solidFill>
              </a:rPr>
              <a:t>Visualisasi region citra paling berpengaruh per prediksi kelas — bandingkan 2 model di 8 sampel (2 per kelas × 4 kelas).</a:t>
            </a:r>
          </a:p>
        </p:txBody>
      </p:sp>
      <p:pic>
        <p:nvPicPr>
          <p:cNvPr id="4" name="Picture 3" descr="cnn_tl_4c_b1_baseline.png"/>
          <p:cNvPicPr>
            <a:picLocks noChangeAspect="1"/>
          </p:cNvPicPr>
          <p:nvPr/>
        </p:nvPicPr>
        <p:blipFill>
          <a:blip r:embed="rId2"/>
          <a:stretch>
            <a:fillRect/>
          </a:stretch>
        </p:blipFill>
        <p:spPr>
          <a:xfrm>
            <a:off x="228600" y="822960"/>
            <a:ext cx="4206240" cy="2176272"/>
          </a:xfrm>
          <a:prstGeom prst="rect">
            <a:avLst/>
          </a:prstGeom>
        </p:spPr>
      </p:pic>
      <p:sp>
        <p:nvSpPr>
          <p:cNvPr id="5" name="TextBox 4"/>
          <p:cNvSpPr txBox="1"/>
          <p:nvPr/>
        </p:nvSpPr>
        <p:spPr>
          <a:xfrm>
            <a:off x="228600" y="2999232"/>
            <a:ext cx="4206240" cy="228600"/>
          </a:xfrm>
          <a:prstGeom prst="rect">
            <a:avLst/>
          </a:prstGeom>
          <a:noFill/>
        </p:spPr>
        <p:txBody>
          <a:bodyPr wrap="square" lIns="0" rIns="0" tIns="0" bIns="0">
            <a:spAutoFit/>
          </a:bodyPr>
          <a:lstStyle/>
          <a:p>
            <a:r>
              <a:rPr sz="900" b="1" i="0"/>
              <a:t>CNN TL 4c B1 (single-modal, Macro F1 = 0.456)</a:t>
            </a:r>
          </a:p>
        </p:txBody>
      </p:sp>
      <p:pic>
        <p:nvPicPr>
          <p:cNvPr id="6" name="Picture 5" descr="intermediate_tl_4c_b3_img_branch.png"/>
          <p:cNvPicPr>
            <a:picLocks noChangeAspect="1"/>
          </p:cNvPicPr>
          <p:nvPr/>
        </p:nvPicPr>
        <p:blipFill>
          <a:blip r:embed="rId3"/>
          <a:stretch>
            <a:fillRect/>
          </a:stretch>
        </p:blipFill>
        <p:spPr>
          <a:xfrm>
            <a:off x="4709160" y="822960"/>
            <a:ext cx="4206240" cy="2176272"/>
          </a:xfrm>
          <a:prstGeom prst="rect">
            <a:avLst/>
          </a:prstGeom>
        </p:spPr>
      </p:pic>
      <p:sp>
        <p:nvSpPr>
          <p:cNvPr id="7" name="TextBox 6"/>
          <p:cNvSpPr txBox="1"/>
          <p:nvPr/>
        </p:nvSpPr>
        <p:spPr>
          <a:xfrm>
            <a:off x="4709160" y="2999232"/>
            <a:ext cx="4206240" cy="228600"/>
          </a:xfrm>
          <a:prstGeom prst="rect">
            <a:avLst/>
          </a:prstGeom>
          <a:noFill/>
        </p:spPr>
        <p:txBody>
          <a:bodyPr wrap="square" lIns="0" rIns="0" tIns="0" bIns="0">
            <a:spAutoFit/>
          </a:bodyPr>
          <a:lstStyle/>
          <a:p>
            <a:r>
              <a:rPr sz="900" b="1" i="0"/>
              <a:t>Intermediate TL 4c B3 image branch (juara val-tuned, Macro F1 = 0.521)</a:t>
            </a:r>
          </a:p>
        </p:txBody>
      </p:sp>
      <p:sp>
        <p:nvSpPr>
          <p:cNvPr id="8" name="TextBox 7"/>
          <p:cNvSpPr txBox="1"/>
          <p:nvPr/>
        </p:nvSpPr>
        <p:spPr>
          <a:xfrm>
            <a:off x="274320" y="3310128"/>
            <a:ext cx="8595360" cy="731520"/>
          </a:xfrm>
          <a:prstGeom prst="rect">
            <a:avLst/>
          </a:prstGeom>
          <a:noFill/>
        </p:spPr>
        <p:txBody>
          <a:bodyPr wrap="square" lIns="0" rIns="0" tIns="0" bIns="0">
            <a:spAutoFit/>
          </a:bodyPr>
          <a:lstStyle/>
          <a:p>
            <a:r>
              <a:rPr sz="950" b="0" i="0"/>
              <a:t>Observasi qualitative: CNN baseline → fokus tersebar ke non-emosi region (aksesori, tangan, pundak, background). Intermediate TL image branch → fokus konsisten di mouth-nose region di 8/8 sampel, bahkan saat occlusion (tangan menutup mulut).</a:t>
            </a:r>
          </a:p>
        </p:txBody>
      </p:sp>
      <p:sp>
        <p:nvSpPr>
          <p:cNvPr id="9" name="TextBox 8"/>
          <p:cNvSpPr txBox="1"/>
          <p:nvPr/>
        </p:nvSpPr>
        <p:spPr>
          <a:xfrm>
            <a:off x="274320" y="4069080"/>
            <a:ext cx="8595360" cy="1005840"/>
          </a:xfrm>
          <a:prstGeom prst="rect">
            <a:avLst/>
          </a:prstGeom>
          <a:noFill/>
        </p:spPr>
        <p:txBody>
          <a:bodyPr wrap="square" lIns="0" rIns="0" tIns="0" bIns="0">
            <a:spAutoFit/>
          </a:bodyPr>
          <a:lstStyle/>
          <a:p>
            <a:r>
              <a:rPr sz="850" b="0" i="1">
                <a:solidFill>
                  <a:srgbClr val="555555"/>
                </a:solidFill>
              </a:rPr>
              <a:t>Keterbatasan metodologi (penting): (1) hanya 2 sampel/kelas — representativeness rendah; (2) single seed — variance antar run belum diketahui; (3) qualitative only — belum ada quantitative measure (mis. mean activation di mouth bounding box ≥50 sampel/kelas); (4) belum ada baseline sanity check (random-init model). Observasi awal ini belum cukup untuk klaim general — bukan finding paper/tesis, sekadar eksplorasi.</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Eksperimen Lanjutan — Paper-Grounded Experiments</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Intermediate TL 4-class B3 = Macro F1 0.521 (val-tuned proper).</a:t>
            </a:r>
          </a:p>
          <a:p>
            <a:r>
              <a:rPr sz="950" b="0"/>
              <a:t>Tiap eksperimen dirancang berbasis paper referensi — metodologi jelas, reproducible, dan langsung terhubung ke literatur.</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Liliana et al. (2019) — Cognitive Processing (Springer)</a:t>
            </a:r>
          </a:p>
          <a:p>
            <a:r>
              <a:rPr sz="850" b="0"/>
              <a:t>"Fuzzy emotion: a natural approach to automatic facial expression recognition"  [first author = dosen pembimbing]</a:t>
            </a:r>
          </a:p>
          <a:p>
            <a:r>
              <a:rPr sz="300" b="0"/>
              <a:t/>
            </a:r>
          </a:p>
          <a:p>
            <a:r>
              <a:rPr sz="950" b="1"/>
              <a:t>(A) Soft Label Training  ✅ DONE</a:t>
            </a:r>
          </a:p>
          <a:p>
            <a:r>
              <a:rPr sz="900" b="0"/>
              <a:t>   → Face API distribusi 7-dim sebagai soft target (fuzzy emotion concept)</a:t>
            </a:r>
          </a:p>
          <a:p>
            <a:r>
              <a:rPr sz="900" b="0"/>
              <a:t>   → nb 71 (CNN TL): KL-div 0.517 vs Hard 0.427 (+0.090)</a:t>
            </a:r>
          </a:p>
          <a:p>
            <a:r>
              <a:rPr sz="900" b="0"/>
              <a:t>   → nb 72 (Late Fusion TL): 0.437 — gagal transfer ke weighted softmax</a:t>
            </a:r>
          </a:p>
          <a:p>
            <a:r>
              <a:rPr sz="900" b="0"/>
              <a:t>   → nb 78 (Intermediate TL): queued — joint training + soft target</a:t>
            </a:r>
          </a:p>
          <a:p>
            <a:r>
              <a:rPr sz="300" b="0"/>
              <a:t/>
            </a:r>
          </a:p>
          <a:p>
            <a:r>
              <a:rPr sz="950" b="1"/>
              <a:t>(B) Geometric Features (Table 3 paper)</a:t>
            </a:r>
          </a:p>
          <a:p>
            <a:r>
              <a:rPr sz="900" b="0"/>
              <a:t>   → 10 komponen facial × 2 metrik (eccentricity + dist ratio) = 20-d GF</a:t>
            </a:r>
          </a:p>
          <a:p>
            <a:r>
              <a:rPr sz="900" b="0"/>
              <a:t>   → FCNN_geom (20-d) vs FCNN raw (136-d) — test interpretability</a:t>
            </a:r>
          </a:p>
          <a:p>
            <a:r>
              <a:rPr sz="300" b="0"/>
              <a:t/>
            </a:r>
          </a:p>
          <a:p>
            <a:r>
              <a:rPr sz="950" b="1"/>
              <a:t>(C) Geometric + Soft Label Combined  ★★★★★</a:t>
            </a:r>
          </a:p>
          <a:p>
            <a:r>
              <a:rPr sz="900" b="0"/>
              <a:t>   → Double-extension: 20-d GF + fuzzy soft target (kombinasi A + B)</a:t>
            </a:r>
          </a:p>
          <a:p>
            <a:r>
              <a:rPr sz="900" b="0"/>
              <a:t>   → Novelty tertinggi — direct follow-up dari paper dosen</a:t>
            </a:r>
          </a:p>
          <a:p>
            <a:r>
              <a:rPr sz="300" b="0"/>
              <a:t/>
            </a:r>
          </a:p>
          <a:p>
            <a:r>
              <a:rPr sz="950" b="1"/>
              <a:t>(D) FEIS Fuzzy Rule-Based (replikasi)</a:t>
            </a:r>
          </a:p>
          <a:p>
            <a:r>
              <a:rPr sz="900" b="0"/>
              <a:t>   → Mamdani inference, 6 emotion engines — non-DL baseline</a:t>
            </a:r>
          </a:p>
          <a:p>
            <a:r>
              <a:rPr sz="900" b="0"/>
              <a:t>   → Bandingkan vs DL: apakah rule-based lebih robust di natural data?</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Pitaloka et al. (2017)</a:t>
            </a:r>
          </a:p>
          <a:p>
            <a:r>
              <a:rPr sz="850" b="0"/>
              <a:t>"Enhancing CNN with Preprocessing Stage in Automatic Emotion Recognition"</a:t>
            </a:r>
          </a:p>
          <a:p>
            <a:r>
              <a:rPr sz="300" b="0"/>
              <a:t/>
            </a:r>
          </a:p>
          <a:p>
            <a:r>
              <a:rPr sz="950" b="1"/>
              <a:t>(E) GCN Preprocessing Ablation</a:t>
            </a:r>
          </a:p>
          <a:p>
            <a:r>
              <a:rPr sz="900" b="0"/>
              <a:t>   → Paper menunjukkan Global Contrast Normalization &gt; min-max</a:t>
            </a:r>
          </a:p>
          <a:p>
            <a:r>
              <a:rPr sz="900" b="0"/>
              <a:t>   → Ablation: {min-max, GCN, HistEq} × CNN TL best baseline</a:t>
            </a:r>
          </a:p>
          <a:p>
            <a:r>
              <a:rPr sz="900" b="0"/>
              <a:t>   → Quick win: 0.5-1 hari, terukur langsung vs baseline 0.521</a:t>
            </a:r>
          </a:p>
          <a:p>
            <a:r>
              <a:rPr sz="800" b="0"/>
              <a:t/>
            </a:r>
          </a:p>
          <a:p>
            <a:r>
              <a:rPr sz="1000" b="1"/>
              <a:t>Catatan — Pemilihan Paper Referensi:</a:t>
            </a:r>
          </a:p>
          <a:p>
            <a:r>
              <a:rPr sz="900" b="0"/>
              <a:t>• Liliana 2019 dipilih karena paper dosen pembimbing (first author)</a:t>
            </a:r>
          </a:p>
          <a:p>
            <a:r>
              <a:rPr sz="900" b="0"/>
              <a:t>  — novelty tesis = direct extension work beliau</a:t>
            </a:r>
          </a:p>
          <a:p>
            <a:r>
              <a:rPr sz="900" b="0"/>
              <a:t>• Pitaloka 2017 dipilih karena ablation preprocessing</a:t>
            </a:r>
          </a:p>
          <a:p>
            <a:r>
              <a:rPr sz="900" b="0"/>
              <a:t>  — quick win, sesuai pipeline saat ini</a:t>
            </a:r>
          </a:p>
          <a:p>
            <a:r>
              <a:rPr sz="900" b="0"/>
              <a:t>• Total 5 eksperimen paper-grounded (A-E), semua sejalan</a:t>
            </a:r>
          </a:p>
          <a:p>
            <a:r>
              <a:rPr sz="900" b="0"/>
              <a:t>  dengan novelty tesis + paper JITeCS.</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Prioritas berdasarkan paper-grounding + novelty:</a:t>
            </a:r>
          </a:p>
          <a:p>
            <a:r>
              <a:rPr sz="300" b="0"/>
              <a:t/>
            </a:r>
          </a:p>
          <a:p>
            <a:r>
              <a:rPr sz="950" b="0"/>
              <a:t>• Liliana family (A-D): direct extension paper dosen → novelty tertinggi untuk tesis + potensi paper follow-up</a:t>
            </a:r>
          </a:p>
          <a:p>
            <a:r>
              <a:rPr sz="950" b="0"/>
              <a:t>• Pitaloka (E): ablation terukur, quick win — memperkuat preprocessing choice di paper JITeCS</a:t>
            </a:r>
          </a:p>
          <a:p>
            <a:r>
              <a:rPr sz="300" b="0"/>
              <a:t/>
            </a:r>
          </a:p>
          <a:p>
            <a:r>
              <a:rPr sz="900" b="0"/>
              <a:t>Catatan: GradCAM (arahan dosen, terpisah) sudah in-progress via nb 73 untuk qualitative analysis BAB Discussion — bukan push SOTA.</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per Apr 2026: A DONE (nb 71/72) + nb 78 queued  |  B/C/D/E belum dimulai  |  Detail: docs/eksplorasi_lanjutan.md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a:t>Pertanyaan Bimbingan — Update Paper</a:t>
            </a:r>
          </a:p>
        </p:txBody>
      </p:sp>
      <p:sp>
        <p:nvSpPr>
          <p:cNvPr id="3" name="TextBox 2"/>
          <p:cNvSpPr txBox="1"/>
          <p:nvPr/>
        </p:nvSpPr>
        <p:spPr>
          <a:xfrm>
            <a:off x="274320" y="548640"/>
            <a:ext cx="8595360" cy="320040"/>
          </a:xfrm>
          <a:prstGeom prst="rect">
            <a:avLst/>
          </a:prstGeom>
          <a:noFill/>
        </p:spPr>
        <p:txBody>
          <a:bodyPr wrap="square" lIns="0" rIns="0" tIns="0" bIns="0">
            <a:spAutoFit/>
          </a:bodyPr>
          <a:lstStyle/>
          <a:p>
            <a:r>
              <a:rPr sz="1300" b="1">
                <a:solidFill>
                  <a:srgbClr val="2E5E96"/>
                </a:solidFill>
              </a:rPr>
              <a:t>1. Paper EECCIS 2026 (Accepted)</a:t>
            </a:r>
          </a:p>
        </p:txBody>
      </p:sp>
      <p:sp>
        <p:nvSpPr>
          <p:cNvPr id="4" name="TextBox 3"/>
          <p:cNvSpPr txBox="1"/>
          <p:nvPr/>
        </p:nvSpPr>
        <p:spPr>
          <a:xfrm>
            <a:off x="274320" y="896112"/>
            <a:ext cx="8595360" cy="274320"/>
          </a:xfrm>
          <a:prstGeom prst="rect">
            <a:avLst/>
          </a:prstGeom>
          <a:noFill/>
        </p:spPr>
        <p:txBody>
          <a:bodyPr wrap="square" lIns="0" rIns="0" tIns="0" bIns="0">
            <a:spAutoFit/>
          </a:bodyPr>
          <a:lstStyle/>
          <a:p>
            <a:r>
              <a:rPr sz="1000" b="0"/>
              <a:t>Judul: "Automated Engagement Assessment in Block-Based Programming Using Facial Emotion Recognition"</a:t>
            </a:r>
          </a:p>
        </p:txBody>
      </p:sp>
      <p:sp>
        <p:nvSpPr>
          <p:cNvPr id="5" name="TextBox 4"/>
          <p:cNvSpPr txBox="1"/>
          <p:nvPr/>
        </p:nvSpPr>
        <p:spPr>
          <a:xfrm>
            <a:off x="274320" y="1188720"/>
            <a:ext cx="8595360" cy="1005840"/>
          </a:xfrm>
          <a:prstGeom prst="rect">
            <a:avLst/>
          </a:prstGeom>
          <a:noFill/>
        </p:spPr>
        <p:txBody>
          <a:bodyPr wrap="square" lIns="0" rIns="0" tIns="0" bIns="0">
            <a:spAutoFit/>
          </a:bodyPr>
          <a:lstStyle/>
          <a:p>
            <a:r>
              <a:rPr sz="1000" b="1"/>
              <a:t>Pertanyaan:</a:t>
            </a:r>
          </a:p>
          <a:p>
            <a:r>
              <a:rPr sz="950" b="0"/>
              <a:t>• Langkah-langkah revisi final manuscript — apa yang perlu diperhatikan dari reviewer comments?</a:t>
            </a:r>
          </a:p>
          <a:p>
            <a:r>
              <a:rPr sz="950" b="0"/>
              <a:t>• Proses registrasi konferensi — deadline, author registration, early-bird fee?</a:t>
            </a:r>
          </a:p>
          <a:p>
            <a:r>
              <a:rPr sz="950" b="0"/>
              <a:t>• Mekanisme pengajuan pendanaan untuk biaya konferensi — apakah ada skema dari fakultas/universitas?</a:t>
            </a:r>
          </a:p>
        </p:txBody>
      </p:sp>
      <p:sp>
        <p:nvSpPr>
          <p:cNvPr id="6" name="TextBox 5"/>
          <p:cNvSpPr txBox="1"/>
          <p:nvPr/>
        </p:nvSpPr>
        <p:spPr>
          <a:xfrm>
            <a:off x="274320" y="2331720"/>
            <a:ext cx="8595360" cy="320040"/>
          </a:xfrm>
          <a:prstGeom prst="rect">
            <a:avLst/>
          </a:prstGeom>
          <a:noFill/>
        </p:spPr>
        <p:txBody>
          <a:bodyPr wrap="square" lIns="0" rIns="0" tIns="0" bIns="0">
            <a:spAutoFit/>
          </a:bodyPr>
          <a:lstStyle/>
          <a:p>
            <a:r>
              <a:rPr sz="1300" b="1">
                <a:solidFill>
                  <a:srgbClr val="A87143"/>
                </a:solidFill>
              </a:rPr>
              <a:t>2. Paper JITeCS (Draft)</a:t>
            </a:r>
          </a:p>
        </p:txBody>
      </p:sp>
      <p:sp>
        <p:nvSpPr>
          <p:cNvPr id="7" name="TextBox 6"/>
          <p:cNvSpPr txBox="1"/>
          <p:nvPr/>
        </p:nvSpPr>
        <p:spPr>
          <a:xfrm>
            <a:off x="274320" y="2679192"/>
            <a:ext cx="8595360" cy="274320"/>
          </a:xfrm>
          <a:prstGeom prst="rect">
            <a:avLst/>
          </a:prstGeom>
          <a:noFill/>
        </p:spPr>
        <p:txBody>
          <a:bodyPr wrap="square" lIns="0" rIns="0" tIns="0" bIns="0">
            <a:spAutoFit/>
          </a:bodyPr>
          <a:lstStyle/>
          <a:p>
            <a:r>
              <a:rPr sz="1000" b="0"/>
              <a:t>Status: Draft selesai — tersimpan di folder Publikasi + Google Drive template</a:t>
            </a:r>
          </a:p>
        </p:txBody>
      </p:sp>
      <p:sp>
        <p:nvSpPr>
          <p:cNvPr id="8" name="TextBox 7"/>
          <p:cNvSpPr txBox="1"/>
          <p:nvPr/>
        </p:nvSpPr>
        <p:spPr>
          <a:xfrm>
            <a:off x="274320" y="2971800"/>
            <a:ext cx="8595360" cy="274320"/>
          </a:xfrm>
          <a:prstGeom prst="rect">
            <a:avLst/>
          </a:prstGeom>
          <a:noFill/>
        </p:spPr>
        <p:txBody>
          <a:bodyPr wrap="square" lIns="0" rIns="0" tIns="0" bIns="0">
            <a:spAutoFit/>
          </a:bodyPr>
          <a:lstStyle/>
          <a:p>
            <a:r>
              <a:rPr sz="850" b="0">
                <a:solidFill>
                  <a:srgbClr val="2E5E96"/>
                </a:solidFill>
              </a:rPr>
              <a:t>https://drive.google.com/drive/folders/1tbxb0Vi1AsEuXPxNNkRqECmX24P9Kqfj</a:t>
            </a:r>
          </a:p>
        </p:txBody>
      </p:sp>
      <p:sp>
        <p:nvSpPr>
          <p:cNvPr id="9" name="TextBox 8"/>
          <p:cNvSpPr txBox="1"/>
          <p:nvPr/>
        </p:nvSpPr>
        <p:spPr>
          <a:xfrm>
            <a:off x="274320" y="3291840"/>
            <a:ext cx="8595360" cy="1051560"/>
          </a:xfrm>
          <a:prstGeom prst="rect">
            <a:avLst/>
          </a:prstGeom>
          <a:noFill/>
        </p:spPr>
        <p:txBody>
          <a:bodyPr wrap="square" lIns="0" rIns="0" tIns="0" bIns="0">
            <a:spAutoFit/>
          </a:bodyPr>
          <a:lstStyle/>
          <a:p>
            <a:r>
              <a:rPr sz="1000" b="1"/>
              <a:t>Kendala + pertanyaan:</a:t>
            </a:r>
          </a:p>
          <a:p>
            <a:r>
              <a:rPr sz="950" b="0"/>
              <a:t>• Draft saat ini 14 halaman — melebihi 2 halaman dari batas (12 halaman).</a:t>
            </a:r>
          </a:p>
          <a:p>
            <a:r>
              <a:rPr sz="950" b="0"/>
              <a:t>• Saya belum menemukan bagian yang sebaiknya dipangkas — mohon masukan + review.</a:t>
            </a:r>
          </a:p>
          <a:p>
            <a:r>
              <a:rPr sz="950" b="0"/>
              <a:t>• Apakah ada sesi bimbingan hari ini untuk membahas revisi bersama?</a:t>
            </a:r>
          </a:p>
        </p:txBody>
      </p:sp>
      <p:sp>
        <p:nvSpPr>
          <p:cNvPr id="10" name="TextBox 9"/>
          <p:cNvSpPr txBox="1"/>
          <p:nvPr/>
        </p:nvSpPr>
        <p:spPr>
          <a:xfrm>
            <a:off x="274320" y="4526280"/>
            <a:ext cx="8595360" cy="457200"/>
          </a:xfrm>
          <a:prstGeom prst="rect">
            <a:avLst/>
          </a:prstGeom>
          <a:noFill/>
        </p:spPr>
        <p:txBody>
          <a:bodyPr wrap="square" lIns="0" rIns="0" tIns="0" bIns="0">
            <a:spAutoFit/>
          </a:bodyPr>
          <a:lstStyle/>
          <a:p>
            <a:r>
              <a:rPr sz="1000" b="1">
                <a:solidFill>
                  <a:srgbClr val="555555"/>
                </a:solidFill>
              </a:rPr>
              <a:t>Terima kasih banyak atas bimbingannya, Pak.</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