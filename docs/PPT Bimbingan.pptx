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78" r:id="rId128"/>
    <p:sldId id="379" r:id="rId129"/>
    <p:sldId id="380" r:id="rId130"/>
    <p:sldId id="381" r:id="rId131"/>
    <p:sldId id="382" r:id="rId132"/>
    <p:sldId id="383" r:id="rId133"/>
    <p:sldId id="384" r:id="rId134"/>
    <p:sldId id="385" r:id="rId135"/>
    <p:sldId id="386" r:id="rId136"/>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30.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30.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29.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28.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21.xml"/><Relationship Id="rId131" Type="http://schemas.openxmlformats.org/officeDocument/2006/relationships/slide" Target="slides/slide122.xml"/><Relationship Id="rId132" Type="http://schemas.openxmlformats.org/officeDocument/2006/relationships/slide" Target="slides/slide123.xml"/><Relationship Id="rId133" Type="http://schemas.openxmlformats.org/officeDocument/2006/relationships/slide" Target="slides/slide124.xml"/><Relationship Id="rId134" Type="http://schemas.openxmlformats.org/officeDocument/2006/relationships/slide" Target="slides/slide125.xml"/><Relationship Id="rId135" Type="http://schemas.openxmlformats.org/officeDocument/2006/relationships/slide" Target="slides/slide126.xml"/><Relationship Id="rId136" Type="http://schemas.openxmlformats.org/officeDocument/2006/relationships/slide" Target="slides/slide1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0.333</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0.521</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Intermediate TL 4-class B3 = 0.521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0.521 (val-tuned proper) (+26%)</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Intermediate TL B3</a:t>
                      </a:r>
                    </a:p>
                  </a:txBody>
                  <a:tcPr>
                    <a:solidFill>
                      <a:srgbClr val="E8F0FE"/>
                    </a:solidFill>
                  </a:tcPr>
                </a:tc>
                <a:tc>
                  <a:txBody>
                    <a:bodyPr/>
                    <a:lstStyle/>
                    <a:p>
                      <a:pPr algn="l"/>
                      <a:r>
                        <a:rPr sz="850" b="1">
                          <a:solidFill>
                            <a:srgbClr val="202020"/>
                          </a:solidFill>
                        </a:rPr>
                        <a:t>0.521</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Intermediate TL 4c B3</a:t>
                      </a:r>
                    </a:p>
                  </a:txBody>
                  <a:tcPr>
                    <a:solidFill>
                      <a:srgbClr val="C6EFCE"/>
                    </a:solidFill>
                  </a:tcPr>
                </a:tc>
                <a:tc>
                  <a:txBody>
                    <a:bodyPr/>
                    <a:lstStyle/>
                    <a:p>
                      <a:pPr algn="ctr"/>
                      <a:r>
                        <a:rPr sz="950" b="1">
                          <a:solidFill>
                            <a:srgbClr val="202020"/>
                          </a:solidFill>
                        </a:rPr>
                        <a:t>0.521</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Intermediate TL 4-class B3 conf60 = 0.521 (val-tuned)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0.521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Tahap 6 — Early Fusion (Arahan Dosen)</a:t>
            </a:r>
          </a:p>
        </p:txBody>
      </p:sp>
      <p:sp>
        <p:nvSpPr>
          <p:cNvPr id="4" name="TextBox 3"/>
          <p:cNvSpPr txBox="1"/>
          <p:nvPr/>
        </p:nvSpPr>
        <p:spPr>
          <a:xfrm>
            <a:off x="274320" y="530352"/>
            <a:ext cx="8595360" cy="914400"/>
          </a:xfrm>
          <a:prstGeom prst="rect">
            <a:avLst/>
          </a:prstGeom>
          <a:solidFill>
            <a:srgbClr val="E8F0FE"/>
          </a:solidFill>
        </p:spPr>
        <p:txBody>
          <a:bodyPr wrap="square">
            <a:spAutoFit/>
          </a:bodyPr>
          <a:lstStyle/>
          <a:p>
            <a:pPr algn="l"/>
            <a:r>
              <a:rPr sz="1000" b="1" i="0">
                <a:solidFill>
                  <a:srgbClr val="1A73E8"/>
                </a:solidFill>
              </a:rPr>
              <a:t>Motivasi &amp; Arsitektur</a:t>
            </a:r>
          </a:p>
          <a:p>
            <a:pPr algn="l"/>
            <a:r>
              <a:rPr sz="850" b="0" i="0">
                <a:solidFill>
                  <a:srgbClr val="202020"/>
                </a:solidFill>
              </a:rPr>
              <a:t>• Dosen meminta Early Fusion: landmark "ditempel" ke gambar</a:t>
            </a:r>
          </a:p>
          <a:p>
            <a:pPr algn="l"/>
            <a:r>
              <a:rPr sz="850" b="0" i="0">
                <a:solidFill>
                  <a:srgbClr val="202020"/>
                </a:solidFill>
              </a:rPr>
              <a:t>• Pendekatan: HAE-Net (Wu et al., MMM 2020) — landmark → Gaussian heatmap 224×224 → concat sebagai channel ke-4 citra RGB</a:t>
            </a:r>
          </a:p>
          <a:p>
            <a:pPr algn="l"/>
            <a:r>
              <a:rPr sz="850" b="0" i="0">
                <a:solidFill>
                  <a:srgbClr val="202020"/>
                </a:solidFill>
              </a:rPr>
              <a:t>• Fusi terjadi di level input (0%), bukan feature level (Intermediate) atau decision level (Late)</a:t>
            </a:r>
          </a:p>
        </p:txBody>
      </p:sp>
      <p:sp>
        <p:nvSpPr>
          <p:cNvPr id="5" name="TextBox 4"/>
          <p:cNvSpPr txBox="1"/>
          <p:nvPr/>
        </p:nvSpPr>
        <p:spPr>
          <a:xfrm>
            <a:off x="274320" y="1508760"/>
            <a:ext cx="8595360" cy="868680"/>
          </a:xfrm>
          <a:prstGeom prst="rect">
            <a:avLst/>
          </a:prstGeom>
          <a:solidFill>
            <a:srgbClr val="FEF7E0"/>
          </a:solidFill>
        </p:spPr>
        <p:txBody>
          <a:bodyPr wrap="square">
            <a:spAutoFit/>
          </a:bodyPr>
          <a:lstStyle/>
          <a:p>
            <a:pPr algn="l"/>
            <a:r>
              <a:rPr sz="1000" b="1" i="0">
                <a:solidFill>
                  <a:srgbClr val="B06800"/>
                </a:solidFill>
              </a:rPr>
              <a:t>Detail Implementasi</a:t>
            </a:r>
          </a:p>
          <a:p>
            <a:pPr algn="l"/>
            <a:r>
              <a:rPr sz="850" b="0" i="0">
                <a:solidFill>
                  <a:srgbClr val="202020"/>
                </a:solidFill>
              </a:rPr>
              <a:t>• Input: Image 224×224×3 + Heatmap 224×224×1 → 224×224×4</a:t>
            </a:r>
          </a:p>
          <a:p>
            <a:pPr algn="l"/>
            <a:r>
              <a:rPr sz="850" b="0" i="0">
                <a:solidFill>
                  <a:srgbClr val="202020"/>
                </a:solidFill>
              </a:rPr>
              <a:t>• Heatmap: 68 landmark → Gaussian blob σ=3px → element-wise max aggregation → single channel [0,1]</a:t>
            </a:r>
          </a:p>
          <a:p>
            <a:pPr algn="l"/>
            <a:r>
              <a:rPr sz="850" b="0" i="0">
                <a:solidFill>
                  <a:srgbClr val="202020"/>
                </a:solidFill>
              </a:rPr>
              <a:t>• TL variant: ResNet18 Conv2d pertama 3→4 channel, weight RGB di-copy, channel ke-4 di-init dari mean RGB</a:t>
            </a:r>
          </a:p>
        </p:txBody>
      </p:sp>
      <p:sp>
        <p:nvSpPr>
          <p:cNvPr id="6" name="TextBox 5"/>
          <p:cNvSpPr txBox="1"/>
          <p:nvPr/>
        </p:nvSpPr>
        <p:spPr>
          <a:xfrm>
            <a:off x="274320" y="2514600"/>
            <a:ext cx="4206240" cy="228600"/>
          </a:xfrm>
          <a:prstGeom prst="rect">
            <a:avLst/>
          </a:prstGeom>
          <a:noFill/>
        </p:spPr>
        <p:txBody>
          <a:bodyPr wrap="none">
            <a:spAutoFit/>
          </a:bodyPr>
          <a:lstStyle/>
          <a:p>
            <a:pPr algn="l"/>
            <a:r>
              <a:rPr sz="1000" b="1" i="0">
                <a:solidFill>
                  <a:srgbClr val="1A73E8"/>
                </a:solidFill>
              </a:rPr>
              <a:t>Hasil Early Fusion conf60 — 7-Class</a:t>
            </a:r>
          </a:p>
        </p:txBody>
      </p:sp>
      <p:graphicFrame>
        <p:nvGraphicFramePr>
          <p:cNvPr id="7" name="Table 6"/>
          <p:cNvGraphicFramePr>
            <a:graphicFrameLocks noGrp="1"/>
          </p:cNvGraphicFramePr>
          <p:nvPr/>
        </p:nvGraphicFramePr>
        <p:xfrm>
          <a:off x="2743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0.246</a:t>
                      </a:r>
                    </a:p>
                  </a:txBody>
                  <a:tcPr>
                    <a:solidFill>
                      <a:srgbClr val="E8F0FE"/>
                    </a:solidFill>
                  </a:tcPr>
                </a:tc>
                <a:tc>
                  <a:txBody>
                    <a:bodyPr/>
                    <a:lstStyle/>
                    <a:p>
                      <a:pPr algn="ctr"/>
                      <a:r>
                        <a:rPr sz="800" b="0">
                          <a:solidFill>
                            <a:srgbClr val="202020"/>
                          </a:solidFill>
                        </a:rPr>
                        <a:t>0.794</a:t>
                      </a:r>
                    </a:p>
                  </a:txBody>
                  <a:tcPr>
                    <a:solidFill>
                      <a:srgbClr val="E8F0FE"/>
                    </a:solidFill>
                  </a:tcPr>
                </a:tc>
                <a:tc>
                  <a:txBody>
                    <a:bodyPr/>
                    <a:lstStyle/>
                    <a:p>
                      <a:pPr algn="ctr"/>
                      <a:r>
                        <a:rPr sz="800" b="0">
                          <a:solidFill>
                            <a:srgbClr val="202020"/>
                          </a:solidFill>
                        </a:rPr>
                        <a:t>0.786</a:t>
                      </a:r>
                    </a:p>
                  </a:txBody>
                  <a:tcPr>
                    <a:solidFill>
                      <a:srgbClr val="E8F0FE"/>
                    </a:solidFill>
                  </a:tcPr>
                </a:tc>
                <a:tc>
                  <a:txBody>
                    <a:bodyPr/>
                    <a:lstStyle/>
                    <a:p>
                      <a:pPr algn="ctr"/>
                      <a:r>
                        <a:rPr sz="800" b="0">
                          <a:solidFill>
                            <a:srgbClr val="202020"/>
                          </a:solidFill>
                        </a:rPr>
                        <a:t>0.794</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0.205</a:t>
                      </a:r>
                    </a:p>
                  </a:txBody>
                  <a:tcPr>
                    <a:solidFill>
                      <a:srgbClr val="FFFFFF"/>
                    </a:solidFill>
                  </a:tcPr>
                </a:tc>
                <a:tc>
                  <a:txBody>
                    <a:bodyPr/>
                    <a:lstStyle/>
                    <a:p>
                      <a:pPr algn="ctr"/>
                      <a:r>
                        <a:rPr sz="800" b="0">
                          <a:solidFill>
                            <a:srgbClr val="202020"/>
                          </a:solidFill>
                        </a:rPr>
                        <a:t>0.520</a:t>
                      </a:r>
                    </a:p>
                  </a:txBody>
                  <a:tcPr>
                    <a:solidFill>
                      <a:srgbClr val="FFFFFF"/>
                    </a:solidFill>
                  </a:tcPr>
                </a:tc>
                <a:tc>
                  <a:txBody>
                    <a:bodyPr/>
                    <a:lstStyle/>
                    <a:p>
                      <a:pPr algn="ctr"/>
                      <a:r>
                        <a:rPr sz="800" b="0">
                          <a:solidFill>
                            <a:srgbClr val="202020"/>
                          </a:solidFill>
                        </a:rPr>
                        <a:t>0.552</a:t>
                      </a:r>
                    </a:p>
                  </a:txBody>
                  <a:tcPr>
                    <a:solidFill>
                      <a:srgbClr val="FFFFFF"/>
                    </a:solidFill>
                  </a:tcPr>
                </a:tc>
                <a:tc>
                  <a:txBody>
                    <a:bodyPr/>
                    <a:lstStyle/>
                    <a:p>
                      <a:pPr algn="ctr"/>
                      <a:r>
                        <a:rPr sz="800" b="0">
                          <a:solidFill>
                            <a:srgbClr val="202020"/>
                          </a:solidFill>
                        </a:rPr>
                        <a:t>0.520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0.264</a:t>
                      </a:r>
                    </a:p>
                  </a:txBody>
                  <a:tcPr>
                    <a:solidFill>
                      <a:srgbClr val="E8F0FE"/>
                    </a:solidFill>
                  </a:tcPr>
                </a:tc>
                <a:tc>
                  <a:txBody>
                    <a:bodyPr/>
                    <a:lstStyle/>
                    <a:p>
                      <a:pPr algn="ctr"/>
                      <a:r>
                        <a:rPr sz="800" b="0">
                          <a:solidFill>
                            <a:srgbClr val="202020"/>
                          </a:solidFill>
                        </a:rPr>
                        <a:t>0.680</a:t>
                      </a:r>
                    </a:p>
                  </a:txBody>
                  <a:tcPr>
                    <a:solidFill>
                      <a:srgbClr val="E8F0FE"/>
                    </a:solidFill>
                  </a:tcPr>
                </a:tc>
                <a:tc>
                  <a:txBody>
                    <a:bodyPr/>
                    <a:lstStyle/>
                    <a:p>
                      <a:pPr algn="ctr"/>
                      <a:r>
                        <a:rPr sz="800" b="0">
                          <a:solidFill>
                            <a:srgbClr val="202020"/>
                          </a:solidFill>
                        </a:rPr>
                        <a:t>0.726</a:t>
                      </a:r>
                    </a:p>
                  </a:txBody>
                  <a:tcPr>
                    <a:solidFill>
                      <a:srgbClr val="E8F0FE"/>
                    </a:solidFill>
                  </a:tcPr>
                </a:tc>
                <a:tc>
                  <a:txBody>
                    <a:bodyPr/>
                    <a:lstStyle/>
                    <a:p>
                      <a:pPr algn="ctr"/>
                      <a:r>
                        <a:rPr sz="800" b="0">
                          <a:solidFill>
                            <a:srgbClr val="202020"/>
                          </a:solidFill>
                        </a:rPr>
                        <a:t>0.680</a:t>
                      </a:r>
                    </a:p>
                  </a:txBody>
                  <a:tcPr>
                    <a:solidFill>
                      <a:srgbClr val="E8F0FE"/>
                    </a:solidFill>
                  </a:tcPr>
                </a:tc>
              </a:tr>
              <a:tr h="306977">
                <a:tc>
                  <a:txBody>
                    <a:bodyPr/>
                    <a:lstStyle/>
                    <a:p>
                      <a:pPr algn="l"/>
                      <a:r>
                        <a:rPr sz="800" b="1">
                          <a:solidFill>
                            <a:srgbClr val="202020"/>
                          </a:solidFill>
                        </a:rPr>
                        <a:t>EF TL B1</a:t>
                      </a:r>
                    </a:p>
                  </a:txBody>
                  <a:tcPr>
                    <a:solidFill>
                      <a:srgbClr val="FFFFFF"/>
                    </a:solidFill>
                  </a:tcPr>
                </a:tc>
                <a:tc>
                  <a:txBody>
                    <a:bodyPr/>
                    <a:lstStyle/>
                    <a:p>
                      <a:pPr algn="ctr"/>
                      <a:r>
                        <a:rPr sz="800" b="0">
                          <a:solidFill>
                            <a:srgbClr val="202020"/>
                          </a:solidFill>
                        </a:rPr>
                        <a:t>0.253</a:t>
                      </a:r>
                    </a:p>
                  </a:txBody>
                  <a:tcPr>
                    <a:solidFill>
                      <a:srgbClr val="FFFFFF"/>
                    </a:solidFill>
                  </a:tcPr>
                </a:tc>
                <a:tc>
                  <a:txBody>
                    <a:bodyPr/>
                    <a:lstStyle/>
                    <a:p>
                      <a:pPr algn="ctr"/>
                      <a:r>
                        <a:rPr sz="800" b="0">
                          <a:solidFill>
                            <a:srgbClr val="202020"/>
                          </a:solidFill>
                        </a:rPr>
                        <a:t>0.713</a:t>
                      </a:r>
                    </a:p>
                  </a:txBody>
                  <a:tcPr>
                    <a:solidFill>
                      <a:srgbClr val="FFFFFF"/>
                    </a:solidFill>
                  </a:tcPr>
                </a:tc>
                <a:tc>
                  <a:txBody>
                    <a:bodyPr/>
                    <a:lstStyle/>
                    <a:p>
                      <a:pPr algn="ctr"/>
                      <a:r>
                        <a:rPr sz="800" b="0">
                          <a:solidFill>
                            <a:srgbClr val="202020"/>
                          </a:solidFill>
                        </a:rPr>
                        <a:t>0.722</a:t>
                      </a:r>
                    </a:p>
                  </a:txBody>
                  <a:tcPr>
                    <a:solidFill>
                      <a:srgbClr val="FFFFFF"/>
                    </a:solidFill>
                  </a:tcPr>
                </a:tc>
                <a:tc>
                  <a:txBody>
                    <a:bodyPr/>
                    <a:lstStyle/>
                    <a:p>
                      <a:pPr algn="ctr"/>
                      <a:r>
                        <a:rPr sz="800" b="0">
                          <a:solidFill>
                            <a:srgbClr val="202020"/>
                          </a:solidFill>
                        </a:rPr>
                        <a:t>0.713</a:t>
                      </a:r>
                    </a:p>
                  </a:txBody>
                  <a:tcPr>
                    <a:solidFill>
                      <a:srgbClr val="FFFFFF"/>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0.247</a:t>
                      </a:r>
                    </a:p>
                  </a:txBody>
                  <a:tcPr>
                    <a:solidFill>
                      <a:srgbClr val="E8F0FE"/>
                    </a:solidFill>
                  </a:tcPr>
                </a:tc>
                <a:tc>
                  <a:txBody>
                    <a:bodyPr/>
                    <a:lstStyle/>
                    <a:p>
                      <a:pPr algn="ctr"/>
                      <a:r>
                        <a:rPr sz="800" b="0">
                          <a:solidFill>
                            <a:srgbClr val="202020"/>
                          </a:solidFill>
                        </a:rPr>
                        <a:t>0.636</a:t>
                      </a:r>
                    </a:p>
                  </a:txBody>
                  <a:tcPr>
                    <a:solidFill>
                      <a:srgbClr val="E8F0FE"/>
                    </a:solidFill>
                  </a:tcPr>
                </a:tc>
                <a:tc>
                  <a:txBody>
                    <a:bodyPr/>
                    <a:lstStyle/>
                    <a:p>
                      <a:pPr algn="ctr"/>
                      <a:r>
                        <a:rPr sz="800" b="0">
                          <a:solidFill>
                            <a:srgbClr val="202020"/>
                          </a:solidFill>
                        </a:rPr>
                        <a:t>0.663</a:t>
                      </a:r>
                    </a:p>
                  </a:txBody>
                  <a:tcPr>
                    <a:solidFill>
                      <a:srgbClr val="E8F0FE"/>
                    </a:solidFill>
                  </a:tcPr>
                </a:tc>
                <a:tc>
                  <a:txBody>
                    <a:bodyPr/>
                    <a:lstStyle/>
                    <a:p>
                      <a:pPr algn="ctr"/>
                      <a:r>
                        <a:rPr sz="800" b="0">
                          <a:solidFill>
                            <a:srgbClr val="202020"/>
                          </a:solidFill>
                        </a:rPr>
                        <a:t>0.636</a:t>
                      </a:r>
                    </a:p>
                  </a:txBody>
                  <a:tcPr>
                    <a:solidFill>
                      <a:srgbClr val="E8F0FE"/>
                    </a:solidFill>
                  </a:tcPr>
                </a:tc>
              </a:tr>
              <a:tr h="306978">
                <a:tc>
                  <a:txBody>
                    <a:bodyPr/>
                    <a:lstStyle/>
                    <a:p>
                      <a:pPr algn="l"/>
                      <a:r>
                        <a:rPr sz="800" b="1">
                          <a:solidFill>
                            <a:srgbClr val="202020"/>
                          </a:solidFill>
                        </a:rPr>
                        <a:t>EF TL B3</a:t>
                      </a:r>
                    </a:p>
                  </a:txBody>
                  <a:tcPr>
                    <a:solidFill>
                      <a:srgbClr val="E6F4EA"/>
                    </a:solidFill>
                  </a:tcPr>
                </a:tc>
                <a:tc>
                  <a:txBody>
                    <a:bodyPr/>
                    <a:lstStyle/>
                    <a:p>
                      <a:pPr algn="ctr"/>
                      <a:r>
                        <a:rPr sz="800" b="0">
                          <a:solidFill>
                            <a:srgbClr val="202020"/>
                          </a:solidFill>
                        </a:rPr>
                        <a:t>0.333</a:t>
                      </a:r>
                    </a:p>
                  </a:txBody>
                  <a:tcPr>
                    <a:solidFill>
                      <a:srgbClr val="E6F4EA"/>
                    </a:solidFill>
                  </a:tcPr>
                </a:tc>
                <a:tc>
                  <a:txBody>
                    <a:bodyPr/>
                    <a:lstStyle/>
                    <a:p>
                      <a:pPr algn="ctr"/>
                      <a:r>
                        <a:rPr sz="800" b="0">
                          <a:solidFill>
                            <a:srgbClr val="202020"/>
                          </a:solidFill>
                        </a:rPr>
                        <a:t>0.753</a:t>
                      </a:r>
                    </a:p>
                  </a:txBody>
                  <a:tcPr>
                    <a:solidFill>
                      <a:srgbClr val="E6F4EA"/>
                    </a:solidFill>
                  </a:tcPr>
                </a:tc>
                <a:tc>
                  <a:txBody>
                    <a:bodyPr/>
                    <a:lstStyle/>
                    <a:p>
                      <a:pPr algn="ctr"/>
                      <a:r>
                        <a:rPr sz="800" b="0">
                          <a:solidFill>
                            <a:srgbClr val="202020"/>
                          </a:solidFill>
                        </a:rPr>
                        <a:t>0.773</a:t>
                      </a:r>
                    </a:p>
                  </a:txBody>
                  <a:tcPr>
                    <a:solidFill>
                      <a:srgbClr val="E6F4EA"/>
                    </a:solidFill>
                  </a:tcPr>
                </a:tc>
                <a:tc>
                  <a:txBody>
                    <a:bodyPr/>
                    <a:lstStyle/>
                    <a:p>
                      <a:pPr algn="ctr"/>
                      <a:r>
                        <a:rPr sz="800" b="0">
                          <a:solidFill>
                            <a:srgbClr val="202020"/>
                          </a:solidFill>
                        </a:rPr>
                        <a:t>0.753</a:t>
                      </a:r>
                    </a:p>
                  </a:txBody>
                  <a:tcPr>
                    <a:solidFill>
                      <a:srgbClr val="E6F4EA"/>
                    </a:solidFill>
                  </a:tcPr>
                </a:tc>
              </a:tr>
            </a:tbl>
          </a:graphicData>
        </a:graphic>
      </p:graphicFrame>
      <p:sp>
        <p:nvSpPr>
          <p:cNvPr id="8" name="TextBox 7"/>
          <p:cNvSpPr txBox="1"/>
          <p:nvPr/>
        </p:nvSpPr>
        <p:spPr>
          <a:xfrm>
            <a:off x="4617720" y="2514600"/>
            <a:ext cx="4206240" cy="228600"/>
          </a:xfrm>
          <a:prstGeom prst="rect">
            <a:avLst/>
          </a:prstGeom>
          <a:noFill/>
        </p:spPr>
        <p:txBody>
          <a:bodyPr wrap="none">
            <a:spAutoFit/>
          </a:bodyPr>
          <a:lstStyle/>
          <a:p>
            <a:pPr algn="l"/>
            <a:r>
              <a:rPr sz="1000" b="1" i="0">
                <a:solidFill>
                  <a:srgbClr val="1A73E8"/>
                </a:solidFill>
              </a:rPr>
              <a:t>Hasil Early Fusion conf60 — 4-Class</a:t>
            </a:r>
          </a:p>
        </p:txBody>
      </p:sp>
      <p:graphicFrame>
        <p:nvGraphicFramePr>
          <p:cNvPr id="9" name="Table 8"/>
          <p:cNvGraphicFramePr>
            <a:graphicFrameLocks noGrp="1"/>
          </p:cNvGraphicFramePr>
          <p:nvPr/>
        </p:nvGraphicFramePr>
        <p:xfrm>
          <a:off x="4617720" y="2788920"/>
          <a:ext cx="4206235" cy="2148840"/>
        </p:xfrm>
        <a:graphic>
          <a:graphicData uri="http://schemas.openxmlformats.org/drawingml/2006/table">
            <a:tbl>
              <a:tblPr firstRow="1" bandRow="1"/>
              <a:tblGrid>
                <a:gridCol w="1402079"/>
                <a:gridCol w="701039"/>
                <a:gridCol w="701039"/>
                <a:gridCol w="701039"/>
                <a:gridCol w="701039"/>
              </a:tblGrid>
              <a:tr h="306977">
                <a:tc>
                  <a:txBody>
                    <a:bodyPr/>
                    <a:lstStyle/>
                    <a:p>
                      <a:pPr algn="ctr"/>
                      <a:r>
                        <a:rPr sz="850" b="1">
                          <a:solidFill>
                            <a:srgbClr val="FFFFFF"/>
                          </a:solidFill>
                        </a:rPr>
                        <a:t>Config</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6977">
                <a:tc>
                  <a:txBody>
                    <a:bodyPr/>
                    <a:lstStyle/>
                    <a:p>
                      <a:pPr algn="l"/>
                      <a:r>
                        <a:rPr sz="800" b="1">
                          <a:solidFill>
                            <a:srgbClr val="202020"/>
                          </a:solidFill>
                        </a:rPr>
                        <a:t>EF B1</a:t>
                      </a:r>
                    </a:p>
                  </a:txBody>
                  <a:tcPr>
                    <a:solidFill>
                      <a:srgbClr val="E8F0FE"/>
                    </a:solidFill>
                  </a:tcPr>
                </a:tc>
                <a:tc>
                  <a:txBody>
                    <a:bodyPr/>
                    <a:lstStyle/>
                    <a:p>
                      <a:pPr algn="ctr"/>
                      <a:r>
                        <a:rPr sz="800" b="0">
                          <a:solidFill>
                            <a:srgbClr val="202020"/>
                          </a:solidFill>
                        </a:rPr>
                        <a:t>0.457</a:t>
                      </a:r>
                    </a:p>
                  </a:txBody>
                  <a:tcPr>
                    <a:solidFill>
                      <a:srgbClr val="E8F0FE"/>
                    </a:solidFill>
                  </a:tcPr>
                </a:tc>
                <a:tc>
                  <a:txBody>
                    <a:bodyPr/>
                    <a:lstStyle/>
                    <a:p>
                      <a:pPr algn="ctr"/>
                      <a:r>
                        <a:rPr sz="800" b="0">
                          <a:solidFill>
                            <a:srgbClr val="202020"/>
                          </a:solidFill>
                        </a:rPr>
                        <a:t>0.822</a:t>
                      </a:r>
                    </a:p>
                  </a:txBody>
                  <a:tcPr>
                    <a:solidFill>
                      <a:srgbClr val="E8F0FE"/>
                    </a:solidFill>
                  </a:tcPr>
                </a:tc>
                <a:tc>
                  <a:txBody>
                    <a:bodyPr/>
                    <a:lstStyle/>
                    <a:p>
                      <a:pPr algn="ctr"/>
                      <a:r>
                        <a:rPr sz="800" b="0">
                          <a:solidFill>
                            <a:srgbClr val="202020"/>
                          </a:solidFill>
                        </a:rPr>
                        <a:t>0.816</a:t>
                      </a:r>
                    </a:p>
                  </a:txBody>
                  <a:tcPr>
                    <a:solidFill>
                      <a:srgbClr val="E8F0FE"/>
                    </a:solidFill>
                  </a:tcPr>
                </a:tc>
                <a:tc>
                  <a:txBody>
                    <a:bodyPr/>
                    <a:lstStyle/>
                    <a:p>
                      <a:pPr algn="ctr"/>
                      <a:r>
                        <a:rPr sz="800" b="0">
                          <a:solidFill>
                            <a:srgbClr val="202020"/>
                          </a:solidFill>
                        </a:rPr>
                        <a:t>0.822</a:t>
                      </a:r>
                    </a:p>
                  </a:txBody>
                  <a:tcPr>
                    <a:solidFill>
                      <a:srgbClr val="E8F0FE"/>
                    </a:solidFill>
                  </a:tcPr>
                </a:tc>
              </a:tr>
              <a:tr h="306977">
                <a:tc>
                  <a:txBody>
                    <a:bodyPr/>
                    <a:lstStyle/>
                    <a:p>
                      <a:pPr algn="l"/>
                      <a:r>
                        <a:rPr sz="800" b="1">
                          <a:solidFill>
                            <a:srgbClr val="202020"/>
                          </a:solidFill>
                        </a:rPr>
                        <a:t>EF B2</a:t>
                      </a:r>
                    </a:p>
                  </a:txBody>
                  <a:tcPr>
                    <a:solidFill>
                      <a:srgbClr val="FFFFFF"/>
                    </a:solidFill>
                  </a:tcPr>
                </a:tc>
                <a:tc>
                  <a:txBody>
                    <a:bodyPr/>
                    <a:lstStyle/>
                    <a:p>
                      <a:pPr algn="ctr"/>
                      <a:r>
                        <a:rPr sz="800" b="0">
                          <a:solidFill>
                            <a:srgbClr val="202020"/>
                          </a:solidFill>
                        </a:rPr>
                        <a:t>0.427</a:t>
                      </a:r>
                    </a:p>
                  </a:txBody>
                  <a:tcPr>
                    <a:solidFill>
                      <a:srgbClr val="FFFFFF"/>
                    </a:solidFill>
                  </a:tcPr>
                </a:tc>
                <a:tc>
                  <a:txBody>
                    <a:bodyPr/>
                    <a:lstStyle/>
                    <a:p>
                      <a:pPr algn="ctr"/>
                      <a:r>
                        <a:rPr sz="800" b="0">
                          <a:solidFill>
                            <a:srgbClr val="202020"/>
                          </a:solidFill>
                        </a:rPr>
                        <a:t>0.690</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0.690</a:t>
                      </a:r>
                    </a:p>
                  </a:txBody>
                  <a:tcPr>
                    <a:solidFill>
                      <a:srgbClr val="FFFFFF"/>
                    </a:solidFill>
                  </a:tcPr>
                </a:tc>
              </a:tr>
              <a:tr h="306977">
                <a:tc>
                  <a:txBody>
                    <a:bodyPr/>
                    <a:lstStyle/>
                    <a:p>
                      <a:pPr algn="l"/>
                      <a:r>
                        <a:rPr sz="800" b="1">
                          <a:solidFill>
                            <a:srgbClr val="202020"/>
                          </a:solidFill>
                        </a:rPr>
                        <a:t>EF B3</a:t>
                      </a:r>
                    </a:p>
                  </a:txBody>
                  <a:tcPr>
                    <a:solidFill>
                      <a:srgbClr val="E8F0FE"/>
                    </a:solidFill>
                  </a:tcPr>
                </a:tc>
                <a:tc>
                  <a:txBody>
                    <a:bodyPr/>
                    <a:lstStyle/>
                    <a:p>
                      <a:pPr algn="ctr"/>
                      <a:r>
                        <a:rPr sz="800" b="0">
                          <a:solidFill>
                            <a:srgbClr val="202020"/>
                          </a:solidFill>
                        </a:rPr>
                        <a:t>0.427</a:t>
                      </a:r>
                    </a:p>
                  </a:txBody>
                  <a:tcPr>
                    <a:solidFill>
                      <a:srgbClr val="E8F0FE"/>
                    </a:solidFill>
                  </a:tcPr>
                </a:tc>
                <a:tc>
                  <a:txBody>
                    <a:bodyPr/>
                    <a:lstStyle/>
                    <a:p>
                      <a:pPr algn="ctr"/>
                      <a:r>
                        <a:rPr sz="800" b="0">
                          <a:solidFill>
                            <a:srgbClr val="202020"/>
                          </a:solidFill>
                        </a:rPr>
                        <a:t>0.728</a:t>
                      </a:r>
                    </a:p>
                  </a:txBody>
                  <a:tcPr>
                    <a:solidFill>
                      <a:srgbClr val="E8F0FE"/>
                    </a:solidFill>
                  </a:tcPr>
                </a:tc>
                <a:tc>
                  <a:txBody>
                    <a:bodyPr/>
                    <a:lstStyle/>
                    <a:p>
                      <a:pPr algn="ctr"/>
                      <a:r>
                        <a:rPr sz="800" b="0">
                          <a:solidFill>
                            <a:srgbClr val="202020"/>
                          </a:solidFill>
                        </a:rPr>
                        <a:t>0.752</a:t>
                      </a:r>
                    </a:p>
                  </a:txBody>
                  <a:tcPr>
                    <a:solidFill>
                      <a:srgbClr val="E8F0FE"/>
                    </a:solidFill>
                  </a:tcPr>
                </a:tc>
                <a:tc>
                  <a:txBody>
                    <a:bodyPr/>
                    <a:lstStyle/>
                    <a:p>
                      <a:pPr algn="ctr"/>
                      <a:r>
                        <a:rPr sz="800" b="0">
                          <a:solidFill>
                            <a:srgbClr val="202020"/>
                          </a:solidFill>
                        </a:rPr>
                        <a:t>0.728</a:t>
                      </a:r>
                    </a:p>
                  </a:txBody>
                  <a:tcPr>
                    <a:solidFill>
                      <a:srgbClr val="E8F0FE"/>
                    </a:solidFill>
                  </a:tcPr>
                </a:tc>
              </a:tr>
              <a:tr h="306977">
                <a:tc>
                  <a:txBody>
                    <a:bodyPr/>
                    <a:lstStyle/>
                    <a:p>
                      <a:pPr algn="l"/>
                      <a:r>
                        <a:rPr sz="800" b="1">
                          <a:solidFill>
                            <a:srgbClr val="202020"/>
                          </a:solidFill>
                        </a:rPr>
                        <a:t>EF TL B1</a:t>
                      </a:r>
                    </a:p>
                  </a:txBody>
                  <a:tcPr>
                    <a:solidFill>
                      <a:srgbClr val="E6F4EA"/>
                    </a:solidFill>
                  </a:tcPr>
                </a:tc>
                <a:tc>
                  <a:txBody>
                    <a:bodyPr/>
                    <a:lstStyle/>
                    <a:p>
                      <a:pPr algn="ctr"/>
                      <a:r>
                        <a:rPr sz="800" b="0">
                          <a:solidFill>
                            <a:srgbClr val="202020"/>
                          </a:solidFill>
                        </a:rPr>
                        <a:t>0.471</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c>
                  <a:txBody>
                    <a:bodyPr/>
                    <a:lstStyle/>
                    <a:p>
                      <a:pPr algn="ctr"/>
                      <a:r>
                        <a:rPr sz="800" b="0">
                          <a:solidFill>
                            <a:srgbClr val="202020"/>
                          </a:solidFill>
                        </a:rPr>
                        <a:t>0.770</a:t>
                      </a:r>
                    </a:p>
                  </a:txBody>
                  <a:tcPr>
                    <a:solidFill>
                      <a:srgbClr val="E6F4EA"/>
                    </a:solidFill>
                  </a:tcPr>
                </a:tc>
              </a:tr>
              <a:tr h="306977">
                <a:tc>
                  <a:txBody>
                    <a:bodyPr/>
                    <a:lstStyle/>
                    <a:p>
                      <a:pPr algn="l"/>
                      <a:r>
                        <a:rPr sz="800" b="1">
                          <a:solidFill>
                            <a:srgbClr val="202020"/>
                          </a:solidFill>
                        </a:rPr>
                        <a:t>EF TL B2</a:t>
                      </a:r>
                    </a:p>
                  </a:txBody>
                  <a:tcPr>
                    <a:solidFill>
                      <a:srgbClr val="E8F0FE"/>
                    </a:solidFill>
                  </a:tcPr>
                </a:tc>
                <a:tc>
                  <a:txBody>
                    <a:bodyPr/>
                    <a:lstStyle/>
                    <a:p>
                      <a:pPr algn="ctr"/>
                      <a:r>
                        <a:rPr sz="800" b="0">
                          <a:solidFill>
                            <a:srgbClr val="202020"/>
                          </a:solidFill>
                        </a:rPr>
                        <a:t>0.424</a:t>
                      </a:r>
                    </a:p>
                  </a:txBody>
                  <a:tcPr>
                    <a:solidFill>
                      <a:srgbClr val="E8F0FE"/>
                    </a:solidFill>
                  </a:tcPr>
                </a:tc>
                <a:tc>
                  <a:txBody>
                    <a:bodyPr/>
                    <a:lstStyle/>
                    <a:p>
                      <a:pPr algn="ctr"/>
                      <a:r>
                        <a:rPr sz="800" b="0">
                          <a:solidFill>
                            <a:srgbClr val="202020"/>
                          </a:solidFill>
                        </a:rPr>
                        <a:t>0.642</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0.642</a:t>
                      </a:r>
                    </a:p>
                  </a:txBody>
                  <a:tcPr>
                    <a:solidFill>
                      <a:srgbClr val="E8F0FE"/>
                    </a:solidFill>
                  </a:tcPr>
                </a:tc>
              </a:tr>
              <a:tr h="306978">
                <a:tc>
                  <a:txBody>
                    <a:bodyPr/>
                    <a:lstStyle/>
                    <a:p>
                      <a:pPr algn="l"/>
                      <a:r>
                        <a:rPr sz="800" b="1">
                          <a:solidFill>
                            <a:srgbClr val="202020"/>
                          </a:solidFill>
                        </a:rPr>
                        <a:t>EF TL B3</a:t>
                      </a:r>
                    </a:p>
                  </a:txBody>
                  <a:tcPr>
                    <a:solidFill>
                      <a:srgbClr val="FFFFFF"/>
                    </a:solidFill>
                  </a:tcPr>
                </a:tc>
                <a:tc>
                  <a:txBody>
                    <a:bodyPr/>
                    <a:lstStyle/>
                    <a:p>
                      <a:pPr algn="ctr"/>
                      <a:r>
                        <a:rPr sz="800" b="0">
                          <a:solidFill>
                            <a:srgbClr val="202020"/>
                          </a:solidFill>
                        </a:rPr>
                        <a:t>0.433</a:t>
                      </a:r>
                    </a:p>
                  </a:txBody>
                  <a:tcPr>
                    <a:solidFill>
                      <a:srgbClr val="FFFFFF"/>
                    </a:solidFill>
                  </a:tcPr>
                </a:tc>
                <a:tc>
                  <a:txBody>
                    <a:bodyPr/>
                    <a:lstStyle/>
                    <a:p>
                      <a:pPr algn="ctr"/>
                      <a:r>
                        <a:rPr sz="800" b="0">
                          <a:solidFill>
                            <a:srgbClr val="202020"/>
                          </a:solidFill>
                        </a:rPr>
                        <a:t>0.678</a:t>
                      </a:r>
                    </a:p>
                  </a:txBody>
                  <a:tcPr>
                    <a:solidFill>
                      <a:srgbClr val="FFFFFF"/>
                    </a:solidFill>
                  </a:tcPr>
                </a:tc>
                <a:tc>
                  <a:txBody>
                    <a:bodyPr/>
                    <a:lstStyle/>
                    <a:p>
                      <a:pPr algn="ctr"/>
                      <a:r>
                        <a:rPr sz="800" b="0">
                          <a:solidFill>
                            <a:srgbClr val="202020"/>
                          </a:solidFill>
                        </a:rPr>
                        <a:t>0.709</a:t>
                      </a:r>
                    </a:p>
                  </a:txBody>
                  <a:tcPr>
                    <a:solidFill>
                      <a:srgbClr val="FFFFFF"/>
                    </a:solidFill>
                  </a:tcPr>
                </a:tc>
                <a:tc>
                  <a:txBody>
                    <a:bodyPr/>
                    <a:lstStyle/>
                    <a:p>
                      <a:pPr algn="ctr"/>
                      <a:r>
                        <a:rPr sz="800" b="0">
                          <a:solidFill>
                            <a:srgbClr val="202020"/>
                          </a:solidFill>
                        </a:rPr>
                        <a:t>0.678</a:t>
                      </a:r>
                    </a:p>
                  </a:txBody>
                  <a:tcPr>
                    <a:solidFill>
                      <a:srgbClr val="FFFFFF"/>
                    </a:solidFill>
                  </a:tcPr>
                </a:tc>
              </a:tr>
            </a:tbl>
          </a:graphicData>
        </a:graphic>
      </p:graphicFrame>
      <p:sp>
        <p:nvSpPr>
          <p:cNvPr id="10" name="TextBox 9"/>
          <p:cNvSpPr txBox="1"/>
          <p:nvPr/>
        </p:nvSpPr>
        <p:spPr>
          <a:xfrm>
            <a:off x="274320" y="5029200"/>
            <a:ext cx="8595360" cy="640080"/>
          </a:xfrm>
          <a:prstGeom prst="rect">
            <a:avLst/>
          </a:prstGeom>
          <a:solidFill>
            <a:srgbClr val="E6F4EA"/>
          </a:solidFill>
        </p:spPr>
        <p:txBody>
          <a:bodyPr wrap="square">
            <a:spAutoFit/>
          </a:bodyPr>
          <a:lstStyle/>
          <a:p>
            <a:pPr algn="l"/>
            <a:r>
              <a:rPr sz="1000" b="1" i="0">
                <a:solidFill>
                  <a:srgbClr val="0F9D58"/>
                </a:solidFill>
              </a:rPr>
              <a:t>Best Early Fusion: 7c = EF TL B3 (0.333) | 4c = EF TL B1 (0.471)</a:t>
            </a:r>
          </a:p>
          <a:p>
            <a:pPr algn="l"/>
            <a:r>
              <a:rPr sz="900" b="0" i="0">
                <a:solidFill>
                  <a:srgbClr val="202020"/>
                </a:solidFill>
              </a:rPr>
              <a:t>12 config (6 per kelas) × nb 64 — semua metrik Macro/Micro/Weighted F1 + Accuracy.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30 (lanjutan): Perbandingan Fusion Strategy &amp; Temuan</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000" b="1" i="0">
                <a:solidFill>
                  <a:srgbClr val="1A73E8"/>
                </a:solidFill>
              </a:rPr>
              <a:t>Perbandingan 5 Fusion Strategy di Primer conf60 (Best per Arsitektur)</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Fusion Strategy</a:t>
                      </a:r>
                    </a:p>
                  </a:txBody>
                  <a:tcPr>
                    <a:solidFill>
                      <a:srgbClr val="1A73E8"/>
                    </a:solidFill>
                  </a:tcPr>
                </a:tc>
                <a:tc>
                  <a:txBody>
                    <a:bodyPr/>
                    <a:lstStyle/>
                    <a:p>
                      <a:pPr algn="ctr"/>
                      <a:r>
                        <a:rPr sz="900" b="1">
                          <a:solidFill>
                            <a:srgbClr val="FFFFFF"/>
                          </a:solidFill>
                        </a:rPr>
                        <a:t>Best 7c Macro F1</a:t>
                      </a:r>
                    </a:p>
                  </a:txBody>
                  <a:tcPr>
                    <a:solidFill>
                      <a:srgbClr val="1A73E8"/>
                    </a:solidFill>
                  </a:tcPr>
                </a:tc>
                <a:tc>
                  <a:txBody>
                    <a:bodyPr/>
                    <a:lstStyle/>
                    <a:p>
                      <a:pPr algn="ctr"/>
                      <a:r>
                        <a:rPr sz="900" b="1">
                          <a:solidFill>
                            <a:srgbClr val="FFFFFF"/>
                          </a:solidFill>
                        </a:rPr>
                        <a:t>Best 4c Macro F1</a:t>
                      </a:r>
                    </a:p>
                  </a:txBody>
                  <a:tcPr>
                    <a:solidFill>
                      <a:srgbClr val="1A73E8"/>
                    </a:solidFill>
                  </a:tcPr>
                </a:tc>
                <a:tc>
                  <a:txBody>
                    <a:bodyPr/>
                    <a:lstStyle/>
                    <a:p>
                      <a:pPr algn="ctr"/>
                      <a:r>
                        <a:rPr sz="900" b="1">
                          <a:solidFill>
                            <a:srgbClr val="FFFFFF"/>
                          </a:solidFill>
                        </a:rPr>
                        <a:t>Fusion Point</a:t>
                      </a:r>
                    </a:p>
                  </a:txBody>
                  <a:tcPr>
                    <a:solidFill>
                      <a:srgbClr val="1A73E8"/>
                    </a:solidFill>
                  </a:tcPr>
                </a:tc>
              </a:tr>
              <a:tr h="320040">
                <a:tc>
                  <a:txBody>
                    <a:bodyPr/>
                    <a:lstStyle/>
                    <a:p>
                      <a:pPr algn="l"/>
                      <a:r>
                        <a:rPr sz="850" b="1">
                          <a:solidFill>
                            <a:srgbClr val="202020"/>
                          </a:solidFill>
                        </a:rPr>
                        <a:t>Single CNN (TL)</a:t>
                      </a:r>
                    </a:p>
                  </a:txBody>
                  <a:tcPr>
                    <a:solidFill>
                      <a:srgbClr val="E8F0FE"/>
                    </a:solidFill>
                  </a:tcPr>
                </a:tc>
                <a:tc>
                  <a:txBody>
                    <a:bodyPr/>
                    <a:lstStyle/>
                    <a:p>
                      <a:pPr algn="ctr"/>
                      <a:r>
                        <a:rPr sz="850" b="0">
                          <a:solidFill>
                            <a:srgbClr val="202020"/>
                          </a:solidFill>
                        </a:rPr>
                        <a:t>0.273 (B1)</a:t>
                      </a:r>
                    </a:p>
                  </a:txBody>
                  <a:tcPr>
                    <a:solidFill>
                      <a:srgbClr val="E8F0FE"/>
                    </a:solidFill>
                  </a:tcPr>
                </a:tc>
                <a:tc>
                  <a:txBody>
                    <a:bodyPr/>
                    <a:lstStyle/>
                    <a:p>
                      <a:pPr algn="ctr"/>
                      <a:r>
                        <a:rPr sz="850" b="0">
                          <a:solidFill>
                            <a:srgbClr val="202020"/>
                          </a:solidFill>
                        </a:rPr>
                        <a:t>0.507 (B3)</a:t>
                      </a:r>
                    </a:p>
                  </a:txBody>
                  <a:tcPr>
                    <a:solidFill>
                      <a:srgbClr val="E8F0FE"/>
                    </a:solidFill>
                  </a:tcPr>
                </a:tc>
                <a:tc>
                  <a:txBody>
                    <a:bodyPr/>
                    <a:lstStyle/>
                    <a:p>
                      <a:pPr algn="ctr"/>
                      <a:r>
                        <a:rPr sz="850" b="0">
                          <a:solidFill>
                            <a:srgbClr val="202020"/>
                          </a:solidFill>
                        </a:rPr>
                        <a:t>— (single modal)</a:t>
                      </a:r>
                    </a:p>
                  </a:txBody>
                  <a:tcPr>
                    <a:solidFill>
                      <a:srgbClr val="E8F0FE"/>
                    </a:solidFill>
                  </a:tcPr>
                </a:tc>
              </a:tr>
              <a:tr h="320040">
                <a:tc>
                  <a:txBody>
                    <a:bodyPr/>
                    <a:lstStyle/>
                    <a:p>
                      <a:pPr algn="l"/>
                      <a:r>
                        <a:rPr sz="850" b="1">
                          <a:solidFill>
                            <a:srgbClr val="202020"/>
                          </a:solidFill>
                        </a:rPr>
                        <a:t>Single FCNN</a:t>
                      </a:r>
                    </a:p>
                  </a:txBody>
                  <a:tcPr>
                    <a:solidFill>
                      <a:srgbClr val="FFFFFF"/>
                    </a:solidFill>
                  </a:tcPr>
                </a:tc>
                <a:tc>
                  <a:txBody>
                    <a:bodyPr/>
                    <a:lstStyle/>
                    <a:p>
                      <a:pPr algn="ctr"/>
                      <a:r>
                        <a:rPr sz="850" b="0">
                          <a:solidFill>
                            <a:srgbClr val="202020"/>
                          </a:solidFill>
                        </a:rPr>
                        <a:t>0.244 (B2)</a:t>
                      </a:r>
                    </a:p>
                  </a:txBody>
                  <a:tcPr>
                    <a:solidFill>
                      <a:srgbClr val="FFFFFF"/>
                    </a:solidFill>
                  </a:tcPr>
                </a:tc>
                <a:tc>
                  <a:txBody>
                    <a:bodyPr/>
                    <a:lstStyle/>
                    <a:p>
                      <a:pPr algn="ctr"/>
                      <a:r>
                        <a:rPr sz="850" b="0">
                          <a:solidFill>
                            <a:srgbClr val="202020"/>
                          </a:solidFill>
                        </a:rPr>
                        <a:t>0.459 (B2)</a:t>
                      </a:r>
                    </a:p>
                  </a:txBody>
                  <a:tcPr>
                    <a:solidFill>
                      <a:srgbClr val="FFFFFF"/>
                    </a:solidFill>
                  </a:tcPr>
                </a:tc>
                <a:tc>
                  <a:txBody>
                    <a:bodyPr/>
                    <a:lstStyle/>
                    <a:p>
                      <a:pPr algn="ctr"/>
                      <a:r>
                        <a:rPr sz="850" b="0">
                          <a:solidFill>
                            <a:srgbClr val="202020"/>
                          </a:solidFill>
                        </a:rPr>
                        <a:t>— (single modal)</a:t>
                      </a:r>
                    </a:p>
                  </a:txBody>
                  <a:tcPr>
                    <a:solidFill>
                      <a:srgbClr val="FFFFFF"/>
                    </a:solidFill>
                  </a:tcPr>
                </a:tc>
              </a:tr>
              <a:tr h="320040">
                <a:tc>
                  <a:txBody>
                    <a:bodyPr/>
                    <a:lstStyle/>
                    <a:p>
                      <a:pPr algn="l"/>
                      <a:r>
                        <a:rPr sz="850" b="1">
                          <a:solidFill>
                            <a:srgbClr val="202020"/>
                          </a:solidFill>
                        </a:rPr>
                        <a:t>Early Fusion (HAE-Net)</a:t>
                      </a:r>
                    </a:p>
                  </a:txBody>
                  <a:tcPr>
                    <a:solidFill>
                      <a:srgbClr val="E8F0FE"/>
                    </a:solidFill>
                  </a:tcPr>
                </a:tc>
                <a:tc>
                  <a:txBody>
                    <a:bodyPr/>
                    <a:lstStyle/>
                    <a:p>
                      <a:pPr algn="ctr"/>
                      <a:r>
                        <a:rPr sz="850" b="0">
                          <a:solidFill>
                            <a:srgbClr val="202020"/>
                          </a:solidFill>
                        </a:rPr>
                        <a:t>0.333 (TL B3)</a:t>
                      </a:r>
                    </a:p>
                  </a:txBody>
                  <a:tcPr>
                    <a:solidFill>
                      <a:srgbClr val="E8F0FE"/>
                    </a:solidFill>
                  </a:tcPr>
                </a:tc>
                <a:tc>
                  <a:txBody>
                    <a:bodyPr/>
                    <a:lstStyle/>
                    <a:p>
                      <a:pPr algn="ctr"/>
                      <a:r>
                        <a:rPr sz="850" b="0">
                          <a:solidFill>
                            <a:srgbClr val="202020"/>
                          </a:solidFill>
                        </a:rPr>
                        <a:t>0.471 (TL B1)</a:t>
                      </a:r>
                    </a:p>
                  </a:txBody>
                  <a:tcPr>
                    <a:solidFill>
                      <a:srgbClr val="E8F0FE"/>
                    </a:solidFill>
                  </a:tcPr>
                </a:tc>
                <a:tc>
                  <a:txBody>
                    <a:bodyPr/>
                    <a:lstStyle/>
                    <a:p>
                      <a:pPr algn="ctr"/>
                      <a:r>
                        <a:rPr sz="850" b="0">
                          <a:solidFill>
                            <a:srgbClr val="202020"/>
                          </a:solidFill>
                        </a:rPr>
                        <a:t>Input (0%)</a:t>
                      </a:r>
                    </a:p>
                  </a:txBody>
                  <a:tcPr>
                    <a:solidFill>
                      <a:srgbClr val="E8F0FE"/>
                    </a:solidFill>
                  </a:tcPr>
                </a:tc>
              </a:tr>
              <a:tr h="320040">
                <a:tc>
                  <a:txBody>
                    <a:bodyPr/>
                    <a:lstStyle/>
                    <a:p>
                      <a:pPr algn="l"/>
                      <a:r>
                        <a:rPr sz="850" b="1">
                          <a:solidFill>
                            <a:srgbClr val="202020"/>
                          </a:solidFill>
                        </a:rPr>
                        <a:t>Intermediate Fusion</a:t>
                      </a:r>
                    </a:p>
                  </a:txBody>
                  <a:tcPr>
                    <a:solidFill>
                      <a:srgbClr val="FFFFFF"/>
                    </a:solidFill>
                  </a:tcPr>
                </a:tc>
                <a:tc>
                  <a:txBody>
                    <a:bodyPr/>
                    <a:lstStyle/>
                    <a:p>
                      <a:pPr algn="ctr"/>
                      <a:r>
                        <a:rPr sz="850" b="0">
                          <a:solidFill>
                            <a:srgbClr val="202020"/>
                          </a:solidFill>
                        </a:rPr>
                        <a:t>0.292 (TL B3)</a:t>
                      </a:r>
                    </a:p>
                  </a:txBody>
                  <a:tcPr>
                    <a:solidFill>
                      <a:srgbClr val="FFFFFF"/>
                    </a:solidFill>
                  </a:tcPr>
                </a:tc>
                <a:tc>
                  <a:txBody>
                    <a:bodyPr/>
                    <a:lstStyle/>
                    <a:p>
                      <a:pPr algn="ctr"/>
                      <a:r>
                        <a:rPr sz="850" b="0">
                          <a:solidFill>
                            <a:srgbClr val="202020"/>
                          </a:solidFill>
                        </a:rPr>
                        <a:t>0.521 (TL B3)</a:t>
                      </a:r>
                    </a:p>
                  </a:txBody>
                  <a:tcPr>
                    <a:solidFill>
                      <a:srgbClr val="FFFFFF"/>
                    </a:solidFill>
                  </a:tcPr>
                </a:tc>
                <a:tc>
                  <a:txBody>
                    <a:bodyPr/>
                    <a:lstStyle/>
                    <a:p>
                      <a:pPr algn="ctr"/>
                      <a:r>
                        <a:rPr sz="850" b="0">
                          <a:solidFill>
                            <a:srgbClr val="202020"/>
                          </a:solidFill>
                        </a:rPr>
                        <a:t>Feature (~50%)</a:t>
                      </a:r>
                    </a:p>
                  </a:txBody>
                  <a:tcPr>
                    <a:solidFill>
                      <a:srgbClr val="FFFFFF"/>
                    </a:solidFill>
                  </a:tcPr>
                </a:tc>
              </a:tr>
              <a:tr h="320040">
                <a:tc>
                  <a:txBody>
                    <a:bodyPr/>
                    <a:lstStyle/>
                    <a:p>
                      <a:pPr algn="l"/>
                      <a:r>
                        <a:rPr sz="850" b="1">
                          <a:solidFill>
                            <a:srgbClr val="202020"/>
                          </a:solidFill>
                        </a:rPr>
                        <a:t>Late Fusion</a:t>
                      </a:r>
                    </a:p>
                  </a:txBody>
                  <a:tcPr>
                    <a:solidFill>
                      <a:srgbClr val="E6F4EA"/>
                    </a:solidFill>
                  </a:tcPr>
                </a:tc>
                <a:tc>
                  <a:txBody>
                    <a:bodyPr/>
                    <a:lstStyle/>
                    <a:p>
                      <a:pPr algn="ctr"/>
                      <a:r>
                        <a:rPr sz="850" b="0">
                          <a:solidFill>
                            <a:srgbClr val="202020"/>
                          </a:solidFill>
                        </a:rPr>
                        <a:t>0.333 (Early TL B3)</a:t>
                      </a:r>
                    </a:p>
                  </a:txBody>
                  <a:tcPr>
                    <a:solidFill>
                      <a:srgbClr val="E6F4EA"/>
                    </a:solidFill>
                  </a:tcPr>
                </a:tc>
                <a:tc>
                  <a:txBody>
                    <a:bodyPr/>
                    <a:lstStyle/>
                    <a:p>
                      <a:pPr algn="ctr"/>
                      <a:r>
                        <a:rPr sz="850" b="0">
                          <a:solidFill>
                            <a:srgbClr val="202020"/>
                          </a:solidFill>
                        </a:rPr>
                        <a:t>0.521 (Inter TL B3) ★</a:t>
                      </a:r>
                    </a:p>
                  </a:txBody>
                  <a:tcPr>
                    <a:solidFill>
                      <a:srgbClr val="E6F4EA"/>
                    </a:solidFill>
                  </a:tcPr>
                </a:tc>
                <a:tc>
                  <a:txBody>
                    <a:bodyPr/>
                    <a:lstStyle/>
                    <a:p>
                      <a:pPr algn="ctr"/>
                      <a:r>
                        <a:rPr sz="850" b="0">
                          <a:solidFill>
                            <a:srgbClr val="202020"/>
                          </a:solidFill>
                        </a:rPr>
                        <a:t>Decision (~95%)</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100" b="1" i="0">
                <a:solidFill>
                  <a:srgbClr val="202020"/>
                </a:solidFill>
              </a:rPr>
              <a:t>Temuan (32-35)</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00" b="1" i="0">
                <a:solidFill>
                  <a:srgbClr val="0F9D58"/>
                </a:solidFill>
              </a:rPr>
              <a:t>Temuan 32: Early Fusion TL B3 tembus best di 7-class (0.333)</a:t>
            </a:r>
          </a:p>
          <a:p>
            <a:pPr algn="l"/>
            <a:r>
              <a:rPr sz="850" b="0" i="0">
                <a:solidFill>
                  <a:srgbClr val="202020"/>
                </a:solidFill>
              </a:rPr>
              <a:t>Melampaui Intermediate TL B3 (0.292) dan Late Fusion TL B1 (0.301). Kombinasi heatmap channel + class weights + augmentation + TL bekerja sinergis untuk 7-class.</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00" b="1" i="0">
                <a:solidFill>
                  <a:srgbClr val="B06800"/>
                </a:solidFill>
              </a:rPr>
              <a:t>Temuan 33: Early Fusion 4-class underperforms (0.471 vs 0.521 Intermediate TL)</a:t>
            </a:r>
          </a:p>
          <a:p>
            <a:pPr algn="l"/>
            <a:r>
              <a:rPr sz="850" b="0" i="0">
                <a:solidFill>
                  <a:srgbClr val="202020"/>
                </a:solidFill>
              </a:rPr>
              <a:t>Heatmap sparse (mostly zeros) kurang informatif ketika class granularity dikurangi; fusion di level feature/decision lebih optimal untuk kasus ini.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00" b="1" i="0">
                <a:solidFill>
                  <a:srgbClr val="D93C3C"/>
                </a:solidFill>
              </a:rPr>
              <a:t>Temuan 34: B2 class weights merugikan Early Fusion konsisten</a:t>
            </a:r>
          </a:p>
          <a:p>
            <a:pPr algn="l"/>
            <a:r>
              <a:rPr sz="850" b="0" i="0">
                <a:solidFill>
                  <a:srgbClr val="202020"/>
                </a:solidFill>
              </a:rPr>
              <a:t>B2 drop accuracy ~30% vs B1 di semua Early Fusion config. Re-weighting loss merusak learning saat input 4-channel concat. Intermediate/Late Fusion tetap stabil dengan B2.</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00" b="1" i="0">
                <a:solidFill>
                  <a:srgbClr val="1A73E8"/>
                </a:solidFill>
              </a:rPr>
              <a:t>Temuan 35: Ranking fusion strategy berbeda per granularitas kelas</a:t>
            </a:r>
          </a:p>
          <a:p>
            <a:pPr algn="l"/>
            <a:r>
              <a:rPr sz="850" b="0" i="0">
                <a:solidFill>
                  <a:srgbClr val="202020"/>
                </a:solidFill>
              </a:rPr>
              <a:t>7-class: Early TL B3 &gt; Late TL B1 &gt; Intermediate TL B3.  4-class: Late TL B3 &gt; Intermediate TL B3 &gt; Early TL B1.  Tidak ada single strategy dominan — pemilihan tergantung konteks task.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31: Cross-Dataset Evaluation Lengkap (Skema 2)</a:t>
            </a:r>
          </a:p>
        </p:txBody>
      </p:sp>
      <p:sp>
        <p:nvSpPr>
          <p:cNvPr id="4" name="TextBox 3"/>
          <p:cNvSpPr txBox="1"/>
          <p:nvPr/>
        </p:nvSpPr>
        <p:spPr>
          <a:xfrm>
            <a:off x="274320" y="548640"/>
            <a:ext cx="8595360" cy="502920"/>
          </a:xfrm>
          <a:prstGeom prst="rect">
            <a:avLst/>
          </a:prstGeom>
          <a:solidFill>
            <a:srgbClr val="E8F0FE"/>
          </a:solidFill>
        </p:spPr>
        <p:txBody>
          <a:bodyPr wrap="square">
            <a:spAutoFit/>
          </a:bodyPr>
          <a:lstStyle/>
          <a:p>
            <a:pPr algn="l"/>
            <a:r>
              <a:rPr sz="950" b="1" i="0">
                <a:solidFill>
                  <a:srgbClr val="1A73E8"/>
                </a:solidFill>
              </a:rPr>
              <a:t>Train di public FER benchmark → Test di Primer conf60 (929 imgs)</a:t>
            </a:r>
          </a:p>
          <a:p>
            <a:pPr algn="l"/>
            <a:r>
              <a:rPr sz="850" b="0" i="0">
                <a:solidFill>
                  <a:srgbClr val="202020"/>
                </a:solidFill>
              </a:rPr>
              <a:t>Melengkapi Skema 2: CK+/JAFFE/RAF-DB/KDEF × 7c/4c × 6 arsitektur. Sebelumnya hanya CK+ → Primer 7c yang ditabulasi lengkap.</a:t>
            </a:r>
          </a:p>
        </p:txBody>
      </p:sp>
      <p:sp>
        <p:nvSpPr>
          <p:cNvPr id="5" name="TextBox 4"/>
          <p:cNvSpPr txBox="1"/>
          <p:nvPr/>
        </p:nvSpPr>
        <p:spPr>
          <a:xfrm>
            <a:off x="274320" y="1143000"/>
            <a:ext cx="8595360" cy="228600"/>
          </a:xfrm>
          <a:prstGeom prst="rect">
            <a:avLst/>
          </a:prstGeom>
          <a:noFill/>
        </p:spPr>
        <p:txBody>
          <a:bodyPr wrap="none">
            <a:spAutoFit/>
          </a:bodyPr>
          <a:lstStyle/>
          <a:p>
            <a:pPr algn="l"/>
            <a:r>
              <a:rPr sz="1000" b="1" i="0">
                <a:solidFill>
                  <a:srgbClr val="1A73E8"/>
                </a:solidFill>
              </a:rPr>
              <a:t>Best Model per Source Dataset → Primer conf60</a:t>
            </a:r>
          </a:p>
        </p:txBody>
      </p:sp>
      <p:graphicFrame>
        <p:nvGraphicFramePr>
          <p:cNvPr id="6" name="Table 5"/>
          <p:cNvGraphicFramePr>
            <a:graphicFrameLocks noGrp="1"/>
          </p:cNvGraphicFramePr>
          <p:nvPr/>
        </p:nvGraphicFramePr>
        <p:xfrm>
          <a:off x="274320" y="1417320"/>
          <a:ext cx="8595360" cy="2560320"/>
        </p:xfrm>
        <a:graphic>
          <a:graphicData uri="http://schemas.openxmlformats.org/drawingml/2006/table">
            <a:tbl>
              <a:tblPr firstRow="1" bandRow="1"/>
              <a:tblGrid>
                <a:gridCol w="1504188"/>
                <a:gridCol w="2148840"/>
                <a:gridCol w="1181862"/>
                <a:gridCol w="1396746"/>
                <a:gridCol w="1181862"/>
                <a:gridCol w="1181862"/>
              </a:tblGrid>
              <a:tr h="284480">
                <a:tc>
                  <a:txBody>
                    <a:bodyPr/>
                    <a:lstStyle/>
                    <a:p>
                      <a:pPr algn="ctr"/>
                      <a:r>
                        <a:rPr sz="900" b="1">
                          <a:solidFill>
                            <a:srgbClr val="FFFFFF"/>
                          </a:solidFill>
                        </a:rPr>
                        <a:t>Source</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Acc</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284480">
                <a:tc>
                  <a:txBody>
                    <a:bodyPr/>
                    <a:lstStyle/>
                    <a:p>
                      <a:pPr algn="l"/>
                      <a:r>
                        <a:rPr sz="850" b="1">
                          <a:solidFill>
                            <a:srgbClr val="202020"/>
                          </a:solidFill>
                        </a:rPr>
                        <a:t>CK+ 7c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0.194</a:t>
                      </a:r>
                    </a:p>
                  </a:txBody>
                  <a:tcPr>
                    <a:solidFill>
                      <a:srgbClr val="E8F0FE"/>
                    </a:solidFill>
                  </a:tcPr>
                </a:tc>
                <a:tc>
                  <a:txBody>
                    <a:bodyPr/>
                    <a:lstStyle/>
                    <a:p>
                      <a:pPr algn="ctr"/>
                      <a:r>
                        <a:rPr sz="850" b="0">
                          <a:solidFill>
                            <a:srgbClr val="202020"/>
                          </a:solidFill>
                        </a:rPr>
                        <a:t>0.773</a:t>
                      </a:r>
                    </a:p>
                  </a:txBody>
                  <a:tcPr>
                    <a:solidFill>
                      <a:srgbClr val="E8F0FE"/>
                    </a:solidFill>
                  </a:tcPr>
                </a:tc>
                <a:tc>
                  <a:txBody>
                    <a:bodyPr/>
                    <a:lstStyle/>
                    <a:p>
                      <a:pPr algn="ctr"/>
                      <a:r>
                        <a:rPr sz="850" b="0">
                          <a:solidFill>
                            <a:srgbClr val="202020"/>
                          </a:solidFill>
                        </a:rPr>
                        <a:t>0.739</a:t>
                      </a:r>
                    </a:p>
                  </a:txBody>
                  <a:tcPr>
                    <a:solidFill>
                      <a:srgbClr val="E8F0FE"/>
                    </a:solidFill>
                  </a:tcPr>
                </a:tc>
              </a:tr>
              <a:tr h="284480">
                <a:tc>
                  <a:txBody>
                    <a:bodyPr/>
                    <a:lstStyle/>
                    <a:p>
                      <a:pPr algn="l"/>
                      <a:r>
                        <a:rPr sz="850" b="1">
                          <a:solidFill>
                            <a:srgbClr val="202020"/>
                          </a:solidFill>
                        </a:rPr>
                        <a:t>CK+ 4c</a:t>
                      </a:r>
                    </a:p>
                  </a:txBody>
                  <a:tcPr>
                    <a:solidFill>
                      <a:srgbClr val="E6F4EA"/>
                    </a:solidFill>
                  </a:tcPr>
                </a:tc>
                <a:tc>
                  <a:txBody>
                    <a:bodyPr/>
                    <a:lstStyle/>
                    <a:p>
                      <a:pPr algn="ctr"/>
                      <a:r>
                        <a:rPr sz="850" b="0">
                          <a:solidFill>
                            <a:srgbClr val="202020"/>
                          </a:solidFill>
                        </a:rPr>
                        <a:t>CNN</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0.396 ★</a:t>
                      </a:r>
                    </a:p>
                  </a:txBody>
                  <a:tcPr>
                    <a:solidFill>
                      <a:srgbClr val="E6F4EA"/>
                    </a:solidFill>
                  </a:tcPr>
                </a:tc>
                <a:tc>
                  <a:txBody>
                    <a:bodyPr/>
                    <a:lstStyle/>
                    <a:p>
                      <a:pPr algn="ctr"/>
                      <a:r>
                        <a:rPr sz="850" b="0">
                          <a:solidFill>
                            <a:srgbClr val="202020"/>
                          </a:solidFill>
                        </a:rPr>
                        <a:t>0.642</a:t>
                      </a:r>
                    </a:p>
                  </a:txBody>
                  <a:tcPr>
                    <a:solidFill>
                      <a:srgbClr val="E6F4EA"/>
                    </a:solidFill>
                  </a:tcPr>
                </a:tc>
                <a:tc>
                  <a:txBody>
                    <a:bodyPr/>
                    <a:lstStyle/>
                    <a:p>
                      <a:pPr algn="ctr"/>
                      <a:r>
                        <a:rPr sz="850" b="0">
                          <a:solidFill>
                            <a:srgbClr val="202020"/>
                          </a:solidFill>
                        </a:rPr>
                        <a:t>0.703</a:t>
                      </a:r>
                    </a:p>
                  </a:txBody>
                  <a:tcPr>
                    <a:solidFill>
                      <a:srgbClr val="E6F4EA"/>
                    </a:solidFill>
                  </a:tcPr>
                </a:tc>
              </a:tr>
              <a:tr h="284480">
                <a:tc>
                  <a:txBody>
                    <a:bodyPr/>
                    <a:lstStyle/>
                    <a:p>
                      <a:pPr algn="l"/>
                      <a:r>
                        <a:rPr sz="850" b="1">
                          <a:solidFill>
                            <a:srgbClr val="202020"/>
                          </a:solidFill>
                        </a:rPr>
                        <a:t>JAFFE 7c</a:t>
                      </a:r>
                    </a:p>
                  </a:txBody>
                  <a:tcPr>
                    <a:solidFill>
                      <a:srgbClr val="E8F0FE"/>
                    </a:solidFill>
                  </a:tcPr>
                </a:tc>
                <a:tc>
                  <a:txBody>
                    <a:bodyPr/>
                    <a:lstStyle/>
                    <a:p>
                      <a:pPr algn="ctr"/>
                      <a:r>
                        <a:rPr sz="850" b="0">
                          <a:solidFill>
                            <a:srgbClr val="202020"/>
                          </a:solidFill>
                        </a:rPr>
                        <a:t>Late Fusion</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0.040</a:t>
                      </a:r>
                    </a:p>
                  </a:txBody>
                  <a:tcPr>
                    <a:solidFill>
                      <a:srgbClr val="E8F0FE"/>
                    </a:solidFill>
                  </a:tcPr>
                </a:tc>
                <a:tc>
                  <a:txBody>
                    <a:bodyPr/>
                    <a:lstStyle/>
                    <a:p>
                      <a:pPr algn="ctr"/>
                      <a:r>
                        <a:rPr sz="850" b="0">
                          <a:solidFill>
                            <a:srgbClr val="202020"/>
                          </a:solidFill>
                        </a:rPr>
                        <a:t>0.081</a:t>
                      </a:r>
                    </a:p>
                  </a:txBody>
                  <a:tcPr>
                    <a:solidFill>
                      <a:srgbClr val="E8F0FE"/>
                    </a:solidFill>
                  </a:tcPr>
                </a:tc>
                <a:tc>
                  <a:txBody>
                    <a:bodyPr/>
                    <a:lstStyle/>
                    <a:p>
                      <a:pPr algn="ctr"/>
                      <a:r>
                        <a:rPr sz="850" b="0">
                          <a:solidFill>
                            <a:srgbClr val="202020"/>
                          </a:solidFill>
                        </a:rPr>
                        <a:t>0.054</a:t>
                      </a:r>
                    </a:p>
                  </a:txBody>
                  <a:tcPr>
                    <a:solidFill>
                      <a:srgbClr val="E8F0FE"/>
                    </a:solidFill>
                  </a:tcPr>
                </a:tc>
              </a:tr>
              <a:tr h="284480">
                <a:tc>
                  <a:txBody>
                    <a:bodyPr/>
                    <a:lstStyle/>
                    <a:p>
                      <a:pPr algn="l"/>
                      <a:r>
                        <a:rPr sz="850" b="1">
                          <a:solidFill>
                            <a:srgbClr val="202020"/>
                          </a:solidFill>
                        </a:rPr>
                        <a:t>JAFFE 4c</a:t>
                      </a:r>
                    </a:p>
                  </a:txBody>
                  <a:tcPr>
                    <a:solidFill>
                      <a:srgbClr val="FFFFFF"/>
                    </a:solidFill>
                  </a:tcPr>
                </a:tc>
                <a:tc>
                  <a:txBody>
                    <a:bodyPr/>
                    <a:lstStyle/>
                    <a:p>
                      <a:pPr algn="ctr"/>
                      <a:r>
                        <a:rPr sz="850" b="0">
                          <a:solidFill>
                            <a:srgbClr val="202020"/>
                          </a:solidFill>
                        </a:rPr>
                        <a:t>Intermediate TL</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0.093</a:t>
                      </a:r>
                    </a:p>
                  </a:txBody>
                  <a:tcPr>
                    <a:solidFill>
                      <a:srgbClr val="FFFFFF"/>
                    </a:solidFill>
                  </a:tcPr>
                </a:tc>
                <a:tc>
                  <a:txBody>
                    <a:bodyPr/>
                    <a:lstStyle/>
                    <a:p>
                      <a:pPr algn="ctr"/>
                      <a:r>
                        <a:rPr sz="850" b="0">
                          <a:solidFill>
                            <a:srgbClr val="202020"/>
                          </a:solidFill>
                        </a:rPr>
                        <a:t>0.160</a:t>
                      </a:r>
                    </a:p>
                  </a:txBody>
                  <a:tcPr>
                    <a:solidFill>
                      <a:srgbClr val="FFFFFF"/>
                    </a:solidFill>
                  </a:tcPr>
                </a:tc>
                <a:tc>
                  <a:txBody>
                    <a:bodyPr/>
                    <a:lstStyle/>
                    <a:p>
                      <a:pPr algn="ctr"/>
                      <a:r>
                        <a:rPr sz="850" b="0">
                          <a:solidFill>
                            <a:srgbClr val="202020"/>
                          </a:solidFill>
                        </a:rPr>
                        <a:t>0.073</a:t>
                      </a:r>
                    </a:p>
                  </a:txBody>
                  <a:tcPr>
                    <a:solidFill>
                      <a:srgbClr val="FFFFFF"/>
                    </a:solidFill>
                  </a:tcPr>
                </a:tc>
              </a:tr>
              <a:tr h="284480">
                <a:tc>
                  <a:txBody>
                    <a:bodyPr/>
                    <a:lstStyle/>
                    <a:p>
                      <a:pPr algn="l"/>
                      <a:r>
                        <a:rPr sz="850" b="1">
                          <a:solidFill>
                            <a:srgbClr val="202020"/>
                          </a:solidFill>
                        </a:rPr>
                        <a:t>RAF-DB 7c</a:t>
                      </a:r>
                    </a:p>
                  </a:txBody>
                  <a:tcPr>
                    <a:solidFill>
                      <a:srgbClr val="E8F0FE"/>
                    </a:solidFill>
                  </a:tcPr>
                </a:tc>
                <a:tc>
                  <a:txBody>
                    <a:bodyPr/>
                    <a:lstStyle/>
                    <a:p>
                      <a:pPr algn="ctr"/>
                      <a:r>
                        <a:rPr sz="850" b="0">
                          <a:solidFill>
                            <a:srgbClr val="202020"/>
                          </a:solidFill>
                        </a:rPr>
                        <a:t>FCNN</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0.183</a:t>
                      </a:r>
                    </a:p>
                  </a:txBody>
                  <a:tcPr>
                    <a:solidFill>
                      <a:srgbClr val="E8F0FE"/>
                    </a:solidFill>
                  </a:tcPr>
                </a:tc>
                <a:tc>
                  <a:txBody>
                    <a:bodyPr/>
                    <a:lstStyle/>
                    <a:p>
                      <a:pPr algn="ctr"/>
                      <a:r>
                        <a:rPr sz="850" b="0">
                          <a:solidFill>
                            <a:srgbClr val="202020"/>
                          </a:solidFill>
                        </a:rPr>
                        <a:t>0.640</a:t>
                      </a:r>
                    </a:p>
                  </a:txBody>
                  <a:tcPr>
                    <a:solidFill>
                      <a:srgbClr val="E8F0FE"/>
                    </a:solidFill>
                  </a:tcPr>
                </a:tc>
                <a:tc>
                  <a:txBody>
                    <a:bodyPr/>
                    <a:lstStyle/>
                    <a:p>
                      <a:pPr algn="ctr"/>
                      <a:r>
                        <a:rPr sz="850" b="0">
                          <a:solidFill>
                            <a:srgbClr val="202020"/>
                          </a:solidFill>
                        </a:rPr>
                        <a:t>0.672</a:t>
                      </a:r>
                    </a:p>
                  </a:txBody>
                  <a:tcPr>
                    <a:solidFill>
                      <a:srgbClr val="E8F0FE"/>
                    </a:solidFill>
                  </a:tcPr>
                </a:tc>
              </a:tr>
              <a:tr h="284480">
                <a:tc>
                  <a:txBody>
                    <a:bodyPr/>
                    <a:lstStyle/>
                    <a:p>
                      <a:pPr algn="l"/>
                      <a:r>
                        <a:rPr sz="850" b="1">
                          <a:solidFill>
                            <a:srgbClr val="202020"/>
                          </a:solidFill>
                        </a:rPr>
                        <a:t>RAF-DB 4c</a:t>
                      </a:r>
                    </a:p>
                  </a:txBody>
                  <a:tcPr>
                    <a:solidFill>
                      <a:srgbClr val="E6F4EA"/>
                    </a:solidFill>
                  </a:tcPr>
                </a:tc>
                <a:tc>
                  <a:txBody>
                    <a:bodyPr/>
                    <a:lstStyle/>
                    <a:p>
                      <a:pPr algn="ctr"/>
                      <a:r>
                        <a:rPr sz="850" b="0">
                          <a:solidFill>
                            <a:srgbClr val="202020"/>
                          </a:solidFill>
                        </a:rPr>
                        <a:t>Intermediate</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0.269</a:t>
                      </a:r>
                    </a:p>
                  </a:txBody>
                  <a:tcPr>
                    <a:solidFill>
                      <a:srgbClr val="E6F4EA"/>
                    </a:solidFill>
                  </a:tcPr>
                </a:tc>
                <a:tc>
                  <a:txBody>
                    <a:bodyPr/>
                    <a:lstStyle/>
                    <a:p>
                      <a:pPr algn="ctr"/>
                      <a:r>
                        <a:rPr sz="850" b="0">
                          <a:solidFill>
                            <a:srgbClr val="202020"/>
                          </a:solidFill>
                        </a:rPr>
                        <a:t>0.551</a:t>
                      </a:r>
                    </a:p>
                  </a:txBody>
                  <a:tcPr>
                    <a:solidFill>
                      <a:srgbClr val="E6F4EA"/>
                    </a:solidFill>
                  </a:tcPr>
                </a:tc>
                <a:tc>
                  <a:txBody>
                    <a:bodyPr/>
                    <a:lstStyle/>
                    <a:p>
                      <a:pPr algn="ctr"/>
                      <a:r>
                        <a:rPr sz="850" b="0">
                          <a:solidFill>
                            <a:srgbClr val="202020"/>
                          </a:solidFill>
                        </a:rPr>
                        <a:t>0.594</a:t>
                      </a:r>
                    </a:p>
                  </a:txBody>
                  <a:tcPr>
                    <a:solidFill>
                      <a:srgbClr val="E6F4EA"/>
                    </a:solidFill>
                  </a:tcPr>
                </a:tc>
              </a:tr>
              <a:tr h="284480">
                <a:tc>
                  <a:txBody>
                    <a:bodyPr/>
                    <a:lstStyle/>
                    <a:p>
                      <a:pPr algn="l"/>
                      <a:r>
                        <a:rPr sz="850" b="1">
                          <a:solidFill>
                            <a:srgbClr val="202020"/>
                          </a:solidFill>
                        </a:rPr>
                        <a:t>KDEF 7c</a:t>
                      </a:r>
                    </a:p>
                  </a:txBody>
                  <a:tcPr>
                    <a:solidFill>
                      <a:srgbClr val="E8F0FE"/>
                    </a:solidFill>
                  </a:tcPr>
                </a:tc>
                <a:tc>
                  <a:txBody>
                    <a:bodyPr/>
                    <a:lstStyle/>
                    <a:p>
                      <a:pPr algn="ctr"/>
                      <a:r>
                        <a:rPr sz="850" b="0">
                          <a:solidFill>
                            <a:srgbClr val="202020"/>
                          </a:solidFill>
                        </a:rPr>
                        <a:t>CNN TL</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0.038</a:t>
                      </a:r>
                    </a:p>
                  </a:txBody>
                  <a:tcPr>
                    <a:solidFill>
                      <a:srgbClr val="E8F0FE"/>
                    </a:solidFill>
                  </a:tcPr>
                </a:tc>
                <a:tc>
                  <a:txBody>
                    <a:bodyPr/>
                    <a:lstStyle/>
                    <a:p>
                      <a:pPr algn="ctr"/>
                      <a:r>
                        <a:rPr sz="850" b="0">
                          <a:solidFill>
                            <a:srgbClr val="202020"/>
                          </a:solidFill>
                        </a:rPr>
                        <a:t>0.053</a:t>
                      </a:r>
                    </a:p>
                  </a:txBody>
                  <a:tcPr>
                    <a:solidFill>
                      <a:srgbClr val="E8F0FE"/>
                    </a:solidFill>
                  </a:tcPr>
                </a:tc>
                <a:tc>
                  <a:txBody>
                    <a:bodyPr/>
                    <a:lstStyle/>
                    <a:p>
                      <a:pPr algn="ctr"/>
                      <a:r>
                        <a:rPr sz="850" b="0">
                          <a:solidFill>
                            <a:srgbClr val="202020"/>
                          </a:solidFill>
                        </a:rPr>
                        <a:t>0.036</a:t>
                      </a:r>
                    </a:p>
                  </a:txBody>
                  <a:tcPr>
                    <a:solidFill>
                      <a:srgbClr val="E8F0FE"/>
                    </a:solidFill>
                  </a:tcPr>
                </a:tc>
              </a:tr>
              <a:tr h="284480">
                <a:tc>
                  <a:txBody>
                    <a:bodyPr/>
                    <a:lstStyle/>
                    <a:p>
                      <a:pPr algn="l"/>
                      <a:r>
                        <a:rPr sz="850" b="1">
                          <a:solidFill>
                            <a:srgbClr val="202020"/>
                          </a:solidFill>
                        </a:rPr>
                        <a:t>KDEF 4c</a:t>
                      </a:r>
                    </a:p>
                  </a:txBody>
                  <a:tcPr>
                    <a:solidFill>
                      <a:srgbClr val="FFFFFF"/>
                    </a:solidFill>
                  </a:tcPr>
                </a:tc>
                <a:tc>
                  <a:txBody>
                    <a:bodyPr/>
                    <a:lstStyle/>
                    <a:p>
                      <a:pPr algn="ctr"/>
                      <a:r>
                        <a:rPr sz="850" b="0">
                          <a:solidFill>
                            <a:srgbClr val="202020"/>
                          </a:solidFill>
                        </a:rPr>
                        <a:t>CNN</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0.079</a:t>
                      </a:r>
                    </a:p>
                  </a:txBody>
                  <a:tcPr>
                    <a:solidFill>
                      <a:srgbClr val="FFFFFF"/>
                    </a:solidFill>
                  </a:tcPr>
                </a:tc>
                <a:tc>
                  <a:txBody>
                    <a:bodyPr/>
                    <a:lstStyle/>
                    <a:p>
                      <a:pPr algn="ctr"/>
                      <a:r>
                        <a:rPr sz="850" b="0">
                          <a:solidFill>
                            <a:srgbClr val="202020"/>
                          </a:solidFill>
                        </a:rPr>
                        <a:t>0.067</a:t>
                      </a:r>
                    </a:p>
                  </a:txBody>
                  <a:tcPr>
                    <a:solidFill>
                      <a:srgbClr val="FFFFFF"/>
                    </a:solidFill>
                  </a:tcPr>
                </a:tc>
                <a:tc>
                  <a:txBody>
                    <a:bodyPr/>
                    <a:lstStyle/>
                    <a:p>
                      <a:pPr algn="ctr"/>
                      <a:r>
                        <a:rPr sz="850" b="0">
                          <a:solidFill>
                            <a:srgbClr val="202020"/>
                          </a:solidFill>
                        </a:rPr>
                        <a:t>0.078</a:t>
                      </a:r>
                    </a:p>
                  </a:txBody>
                  <a:tcPr>
                    <a:solidFill>
                      <a:srgbClr val="FFFFFF"/>
                    </a:solidFill>
                  </a:tcPr>
                </a:tc>
              </a:tr>
            </a:tbl>
          </a:graphicData>
        </a:graphic>
      </p:graphicFrame>
      <p:sp>
        <p:nvSpPr>
          <p:cNvPr id="7" name="TextBox 6"/>
          <p:cNvSpPr txBox="1"/>
          <p:nvPr/>
        </p:nvSpPr>
        <p:spPr>
          <a:xfrm>
            <a:off x="274320" y="4114800"/>
            <a:ext cx="8595360" cy="274320"/>
          </a:xfrm>
          <a:prstGeom prst="rect">
            <a:avLst/>
          </a:prstGeom>
          <a:noFill/>
        </p:spPr>
        <p:txBody>
          <a:bodyPr wrap="none">
            <a:spAutoFit/>
          </a:bodyPr>
          <a:lstStyle/>
          <a:p>
            <a:pPr algn="l"/>
            <a:r>
              <a:rPr sz="1100" b="1" i="0">
                <a:solidFill>
                  <a:srgbClr val="202020"/>
                </a:solidFill>
              </a:rPr>
              <a:t>Temuan (36-40)</a:t>
            </a:r>
          </a:p>
        </p:txBody>
      </p:sp>
      <p:sp>
        <p:nvSpPr>
          <p:cNvPr id="8" name="TextBox 7"/>
          <p:cNvSpPr txBox="1"/>
          <p:nvPr/>
        </p:nvSpPr>
        <p:spPr>
          <a:xfrm>
            <a:off x="274320" y="4407408"/>
            <a:ext cx="4206240" cy="1463040"/>
          </a:xfrm>
          <a:prstGeom prst="rect">
            <a:avLst/>
          </a:prstGeom>
          <a:solidFill>
            <a:srgbClr val="FCE8E6"/>
          </a:solidFill>
        </p:spPr>
        <p:txBody>
          <a:bodyPr wrap="square">
            <a:spAutoFit/>
          </a:bodyPr>
          <a:lstStyle/>
          <a:p>
            <a:pPr algn="l"/>
            <a:r>
              <a:rPr sz="900" b="1" i="0">
                <a:solidFill>
                  <a:srgbClr val="D93C3C"/>
                </a:solidFill>
              </a:rPr>
              <a:t>T36: Semua source gagal generalize</a:t>
            </a:r>
          </a:p>
          <a:p>
            <a:pPr algn="l"/>
            <a:r>
              <a:rPr sz="800" b="0" i="0">
                <a:solidFill>
                  <a:srgbClr val="202020"/>
                </a:solidFill>
              </a:rPr>
              <a:t>Best cross hanya 0.396 (CK+ 4c → Primer dengan CNN B1). Vs Primer self-training best 0.521 — gap -0.17.</a:t>
            </a:r>
          </a:p>
          <a:p>
            <a:pPr algn="l"/>
            <a:r>
              <a:rPr sz="900" b="1" i="0">
                <a:solidFill>
                  <a:srgbClr val="D93C3C"/>
                </a:solidFill>
              </a:rPr>
              <a:t>
T39: JAFFE/KDEF → Primer catastrophic</a:t>
            </a:r>
          </a:p>
          <a:p>
            <a:pPr algn="l"/>
            <a:r>
              <a:rPr sz="800" b="0" i="0">
                <a:solidFill>
                  <a:srgbClr val="202020"/>
                </a:solidFill>
              </a:rPr>
              <a:t>JAFFE &lt; 10% acc. KDEF 5-7% acc. Lab-posed dataset tidak transferable sama sekali ke natural.</a:t>
            </a:r>
          </a:p>
        </p:txBody>
      </p:sp>
      <p:sp>
        <p:nvSpPr>
          <p:cNvPr id="9" name="TextBox 8"/>
          <p:cNvSpPr txBox="1"/>
          <p:nvPr/>
        </p:nvSpPr>
        <p:spPr>
          <a:xfrm>
            <a:off x="4617720" y="4407408"/>
            <a:ext cx="4206240" cy="1463040"/>
          </a:xfrm>
          <a:prstGeom prst="rect">
            <a:avLst/>
          </a:prstGeom>
          <a:solidFill>
            <a:srgbClr val="E6F4EA"/>
          </a:solidFill>
        </p:spPr>
        <p:txBody>
          <a:bodyPr wrap="square">
            <a:spAutoFit/>
          </a:bodyPr>
          <a:lstStyle/>
          <a:p>
            <a:pPr algn="l"/>
            <a:r>
              <a:rPr sz="900" b="1" i="0">
                <a:solidFill>
                  <a:srgbClr val="0F9D58"/>
                </a:solidFill>
              </a:rPr>
              <a:t>T38: Landmark &gt; Visual untuk domain shift</a:t>
            </a:r>
          </a:p>
          <a:p>
            <a:pPr algn="l"/>
            <a:r>
              <a:rPr sz="800" b="0" i="0">
                <a:solidFill>
                  <a:srgbClr val="202020"/>
                </a:solidFill>
              </a:rPr>
              <a:t>FCNN (landmark-only) best di CK+ 7c dan RAF-DB 7c → Primer. Landmark geometry lebih tahan domain shift.</a:t>
            </a:r>
          </a:p>
          <a:p>
            <a:pPr algn="l"/>
            <a:r>
              <a:rPr sz="900" b="1" i="0">
                <a:solidFill>
                  <a:srgbClr val="0F9D58"/>
                </a:solidFill>
              </a:rPr>
              <a:t>
T40: Justifikasi tesis &amp; paper kuat</a:t>
            </a:r>
          </a:p>
          <a:p>
            <a:pPr algn="l"/>
            <a:r>
              <a:rPr sz="800" b="0" i="0">
                <a:solidFill>
                  <a:srgbClr val="202020"/>
                </a:solidFill>
              </a:rPr>
              <a:t>Transfer learning dari public FER tidak viable untuk natural programming. Solusi: Primer self-training + conf60 + fusion + aug.</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Skema 1 Lengkap — CK+ &amp; JAFFE (+ Late Fusion TL)</a:t>
            </a:r>
          </a:p>
        </p:txBody>
      </p:sp>
      <p:sp>
        <p:nvSpPr>
          <p:cNvPr id="4" name="TextBox 3"/>
          <p:cNvSpPr txBox="1"/>
          <p:nvPr/>
        </p:nvSpPr>
        <p:spPr>
          <a:xfrm>
            <a:off x="274320" y="530352"/>
            <a:ext cx="8595360" cy="411480"/>
          </a:xfrm>
          <a:prstGeom prst="rect">
            <a:avLst/>
          </a:prstGeom>
          <a:solidFill>
            <a:srgbClr val="FEF7E0"/>
          </a:solidFill>
        </p:spPr>
        <p:txBody>
          <a:bodyPr wrap="square">
            <a:spAutoFit/>
          </a:bodyPr>
          <a:lstStyle/>
          <a:p>
            <a:pPr algn="l"/>
            <a:r>
              <a:rPr sz="900" b="1" i="0">
                <a:solidFill>
                  <a:srgbClr val="B06800"/>
                </a:solidFill>
              </a:rPr>
              <a:t>Instruksi dosen: semua 7 model (termasuk Late Fusion TL) × semua metrik Macro/Micro/W-F1/Acc.</a:t>
            </a:r>
          </a:p>
        </p:txBody>
      </p:sp>
      <p:sp>
        <p:nvSpPr>
          <p:cNvPr id="5" name="TextBox 4"/>
          <p:cNvSpPr txBox="1"/>
          <p:nvPr/>
        </p:nvSpPr>
        <p:spPr>
          <a:xfrm>
            <a:off x="274320" y="987552"/>
            <a:ext cx="4206240" cy="201168"/>
          </a:xfrm>
          <a:prstGeom prst="rect">
            <a:avLst/>
          </a:prstGeom>
          <a:noFill/>
        </p:spPr>
        <p:txBody>
          <a:bodyPr wrap="none">
            <a:spAutoFit/>
          </a:bodyPr>
          <a:lstStyle/>
          <a:p>
            <a:pPr algn="l"/>
            <a:r>
              <a:rPr sz="950" b="1" i="0">
                <a:solidFill>
                  <a:srgbClr val="1A73E8"/>
                </a:solidFill>
              </a:rPr>
              <a:t>CK+ 7-Class</a:t>
            </a:r>
          </a:p>
        </p:txBody>
      </p:sp>
      <p:graphicFrame>
        <p:nvGraphicFramePr>
          <p:cNvPr id="6" name="Table 5"/>
          <p:cNvGraphicFramePr>
            <a:graphicFrameLocks noGrp="1"/>
          </p:cNvGraphicFramePr>
          <p:nvPr/>
        </p:nvGraphicFramePr>
        <p:xfrm>
          <a:off x="2743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0.461</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0.659</a:t>
                      </a:r>
                    </a:p>
                  </a:txBody>
                  <a:tcPr>
                    <a:solidFill>
                      <a:srgbClr val="E8F0FE"/>
                    </a:solidFill>
                  </a:tcPr>
                </a:tc>
                <a:tc>
                  <a:txBody>
                    <a:bodyPr/>
                    <a:lstStyle/>
                    <a:p>
                      <a:pPr algn="ctr"/>
                      <a:r>
                        <a:rPr sz="750" b="0">
                          <a:solidFill>
                            <a:srgbClr val="202020"/>
                          </a:solidFill>
                        </a:rPr>
                        <a:t>0.729</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0.395</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0.614</a:t>
                      </a:r>
                    </a:p>
                  </a:txBody>
                  <a:tcPr>
                    <a:solidFill>
                      <a:srgbClr val="FFFFFF"/>
                    </a:solidFill>
                  </a:tcPr>
                </a:tc>
                <a:tc>
                  <a:txBody>
                    <a:bodyPr/>
                    <a:lstStyle/>
                    <a:p>
                      <a:pPr algn="ctr"/>
                      <a:r>
                        <a:rPr sz="750" b="0">
                          <a:solidFill>
                            <a:srgbClr val="202020"/>
                          </a:solidFill>
                        </a:rPr>
                        <a:t>0.678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0.316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0.585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0.913</a:t>
                      </a:r>
                    </a:p>
                  </a:txBody>
                  <a:tcPr>
                    <a:solidFill>
                      <a:srgbClr val="E6F4EA"/>
                    </a:solidFill>
                  </a:tcPr>
                </a:tc>
                <a:tc>
                  <a:txBody>
                    <a:bodyPr/>
                    <a:lstStyle/>
                    <a:p>
                      <a:pPr algn="ctr"/>
                      <a:r>
                        <a:rPr sz="750" b="0">
                          <a:solidFill>
                            <a:srgbClr val="202020"/>
                          </a:solidFill>
                        </a:rPr>
                        <a:t>0.949</a:t>
                      </a:r>
                    </a:p>
                  </a:txBody>
                  <a:tcPr>
                    <a:solidFill>
                      <a:srgbClr val="E6F4EA"/>
                    </a:solidFill>
                  </a:tcPr>
                </a:tc>
                <a:tc>
                  <a:txBody>
                    <a:bodyPr/>
                    <a:lstStyle/>
                    <a:p>
                      <a:pPr algn="ctr"/>
                      <a:r>
                        <a:rPr sz="750" b="0">
                          <a:solidFill>
                            <a:srgbClr val="202020"/>
                          </a:solidFill>
                        </a:rPr>
                        <a:t>0.946</a:t>
                      </a:r>
                    </a:p>
                  </a:txBody>
                  <a:tcPr>
                    <a:solidFill>
                      <a:srgbClr val="E6F4EA"/>
                    </a:solidFill>
                  </a:tcPr>
                </a:tc>
                <a:tc>
                  <a:txBody>
                    <a:bodyPr/>
                    <a:lstStyle/>
                    <a:p>
                      <a:pPr algn="ctr"/>
                      <a:r>
                        <a:rPr sz="750" b="0">
                          <a:solidFill>
                            <a:srgbClr val="202020"/>
                          </a:solidFill>
                        </a:rPr>
                        <a:t>0.949</a:t>
                      </a:r>
                    </a:p>
                  </a:txBody>
                  <a:tcPr>
                    <a:solidFill>
                      <a:srgbClr val="E6F4EA"/>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0.833</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0.886</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0.494</a:t>
                      </a:r>
                    </a:p>
                  </a:txBody>
                  <a:tcPr>
                    <a:solidFill>
                      <a:srgbClr val="FFFFFF"/>
                    </a:solidFill>
                  </a:tcPr>
                </a:tc>
                <a:tc>
                  <a:txBody>
                    <a:bodyPr/>
                    <a:lstStyle/>
                    <a:p>
                      <a:pPr algn="ctr"/>
                      <a:r>
                        <a:rPr sz="750" b="0">
                          <a:solidFill>
                            <a:srgbClr val="202020"/>
                          </a:solidFill>
                        </a:rPr>
                        <a:t>0.780</a:t>
                      </a:r>
                    </a:p>
                  </a:txBody>
                  <a:tcPr>
                    <a:solidFill>
                      <a:srgbClr val="FFFFFF"/>
                    </a:solidFill>
                  </a:tcPr>
                </a:tc>
                <a:tc>
                  <a:txBody>
                    <a:bodyPr/>
                    <a:lstStyle/>
                    <a:p>
                      <a:pPr algn="ctr"/>
                      <a:r>
                        <a:rPr sz="750" b="0">
                          <a:solidFill>
                            <a:srgbClr val="202020"/>
                          </a:solidFill>
                        </a:rPr>
                        <a:t>0.691</a:t>
                      </a:r>
                    </a:p>
                  </a:txBody>
                  <a:tcPr>
                    <a:solidFill>
                      <a:srgbClr val="FFFFFF"/>
                    </a:solidFill>
                  </a:tcPr>
                </a:tc>
                <a:tc>
                  <a:txBody>
                    <a:bodyPr/>
                    <a:lstStyle/>
                    <a:p>
                      <a:pPr algn="ctr"/>
                      <a:r>
                        <a:rPr sz="750" b="0">
                          <a:solidFill>
                            <a:srgbClr val="202020"/>
                          </a:solidFill>
                        </a:rPr>
                        <a:t>0.780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0.835</a:t>
                      </a:r>
                    </a:p>
                  </a:txBody>
                  <a:tcPr>
                    <a:solidFill>
                      <a:srgbClr val="E8F0FE"/>
                    </a:solidFill>
                  </a:tcPr>
                </a:tc>
                <a:tc>
                  <a:txBody>
                    <a:bodyPr/>
                    <a:lstStyle/>
                    <a:p>
                      <a:pPr algn="ctr"/>
                      <a:r>
                        <a:rPr sz="750" b="0">
                          <a:solidFill>
                            <a:srgbClr val="202020"/>
                          </a:solidFill>
                        </a:rPr>
                        <a:t>0.881</a:t>
                      </a:r>
                    </a:p>
                  </a:txBody>
                  <a:tcPr>
                    <a:solidFill>
                      <a:srgbClr val="E8F0FE"/>
                    </a:solidFill>
                  </a:tcPr>
                </a:tc>
                <a:tc>
                  <a:txBody>
                    <a:bodyPr/>
                    <a:lstStyle/>
                    <a:p>
                      <a:pPr algn="ctr"/>
                      <a:r>
                        <a:rPr sz="750" b="0">
                          <a:solidFill>
                            <a:srgbClr val="202020"/>
                          </a:solidFill>
                        </a:rPr>
                        <a:t>0.890</a:t>
                      </a:r>
                    </a:p>
                  </a:txBody>
                  <a:tcPr>
                    <a:solidFill>
                      <a:srgbClr val="E8F0FE"/>
                    </a:solidFill>
                  </a:tcPr>
                </a:tc>
                <a:tc>
                  <a:txBody>
                    <a:bodyPr/>
                    <a:lstStyle/>
                    <a:p>
                      <a:pPr algn="ctr"/>
                      <a:r>
                        <a:rPr sz="750" b="0">
                          <a:solidFill>
                            <a:srgbClr val="202020"/>
                          </a:solidFill>
                        </a:rPr>
                        <a:t>0.881</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0.446</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0.665</a:t>
                      </a:r>
                    </a:p>
                  </a:txBody>
                  <a:tcPr>
                    <a:solidFill>
                      <a:srgbClr val="E8F0FE"/>
                    </a:solidFill>
                  </a:tcPr>
                </a:tc>
                <a:tc>
                  <a:txBody>
                    <a:bodyPr/>
                    <a:lstStyle/>
                    <a:p>
                      <a:pPr algn="ctr"/>
                      <a:r>
                        <a:rPr sz="750" b="0">
                          <a:solidFill>
                            <a:srgbClr val="202020"/>
                          </a:solidFill>
                        </a:rPr>
                        <a:t>0.695</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0.762</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c>
                  <a:txBody>
                    <a:bodyPr/>
                    <a:lstStyle/>
                    <a:p>
                      <a:pPr algn="ctr"/>
                      <a:r>
                        <a:rPr sz="750" b="0">
                          <a:solidFill>
                            <a:srgbClr val="202020"/>
                          </a:solidFill>
                        </a:rPr>
                        <a:t>0.847</a:t>
                      </a:r>
                    </a:p>
                  </a:txBody>
                  <a:tcPr>
                    <a:solidFill>
                      <a:srgbClr val="E8F0FE"/>
                    </a:solidFill>
                  </a:tcPr>
                </a:tc>
              </a:tr>
            </a:tbl>
          </a:graphicData>
        </a:graphic>
      </p:graphicFrame>
      <p:sp>
        <p:nvSpPr>
          <p:cNvPr id="7" name="TextBox 6"/>
          <p:cNvSpPr txBox="1"/>
          <p:nvPr/>
        </p:nvSpPr>
        <p:spPr>
          <a:xfrm>
            <a:off x="4617720" y="987552"/>
            <a:ext cx="4206240" cy="201168"/>
          </a:xfrm>
          <a:prstGeom prst="rect">
            <a:avLst/>
          </a:prstGeom>
          <a:noFill/>
        </p:spPr>
        <p:txBody>
          <a:bodyPr wrap="none">
            <a:spAutoFit/>
          </a:bodyPr>
          <a:lstStyle/>
          <a:p>
            <a:pPr algn="l"/>
            <a:r>
              <a:rPr sz="950" b="1" i="0">
                <a:solidFill>
                  <a:srgbClr val="1A73E8"/>
                </a:solidFill>
              </a:rPr>
              <a:t>CK+ 4-Class</a:t>
            </a:r>
          </a:p>
        </p:txBody>
      </p:sp>
      <p:graphicFrame>
        <p:nvGraphicFramePr>
          <p:cNvPr id="8" name="Table 7"/>
          <p:cNvGraphicFramePr>
            <a:graphicFrameLocks noGrp="1"/>
          </p:cNvGraphicFramePr>
          <p:nvPr/>
        </p:nvGraphicFramePr>
        <p:xfrm>
          <a:off x="4617720" y="1207008"/>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0.645</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0.790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0.592</a:t>
                      </a:r>
                    </a:p>
                  </a:txBody>
                  <a:tcPr>
                    <a:solidFill>
                      <a:srgbClr val="FFFFFF"/>
                    </a:solidFill>
                  </a:tcPr>
                </a:tc>
                <a:tc>
                  <a:txBody>
                    <a:bodyPr/>
                    <a:lstStyle/>
                    <a:p>
                      <a:pPr algn="ctr"/>
                      <a:r>
                        <a:rPr sz="750" b="0">
                          <a:solidFill>
                            <a:srgbClr val="202020"/>
                          </a:solidFill>
                        </a:rPr>
                        <a:t>0.758</a:t>
                      </a:r>
                    </a:p>
                  </a:txBody>
                  <a:tcPr>
                    <a:solidFill>
                      <a:srgbClr val="FFFFFF"/>
                    </a:solidFill>
                  </a:tcPr>
                </a:tc>
                <a:tc>
                  <a:txBody>
                    <a:bodyPr/>
                    <a:lstStyle/>
                    <a:p>
                      <a:pPr algn="ctr"/>
                      <a:r>
                        <a:rPr sz="750" b="0">
                          <a:solidFill>
                            <a:srgbClr val="202020"/>
                          </a:solidFill>
                        </a:rPr>
                        <a:t>0.740</a:t>
                      </a:r>
                    </a:p>
                  </a:txBody>
                  <a:tcPr>
                    <a:solidFill>
                      <a:srgbClr val="FFFFFF"/>
                    </a:solidFill>
                  </a:tcPr>
                </a:tc>
                <a:tc>
                  <a:txBody>
                    <a:bodyPr/>
                    <a:lstStyle/>
                    <a:p>
                      <a:pPr algn="ctr"/>
                      <a:r>
                        <a:rPr sz="750" b="0">
                          <a:solidFill>
                            <a:srgbClr val="202020"/>
                          </a:solidFill>
                        </a:rPr>
                        <a:t>0.758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0.567</a:t>
                      </a:r>
                    </a:p>
                  </a:txBody>
                  <a:tcPr>
                    <a:solidFill>
                      <a:srgbClr val="E8F0FE"/>
                    </a:solidFill>
                  </a:tcPr>
                </a:tc>
                <a:tc>
                  <a:txBody>
                    <a:bodyPr/>
                    <a:lstStyle/>
                    <a:p>
                      <a:pPr algn="ctr"/>
                      <a:r>
                        <a:rPr sz="750" b="0">
                          <a:solidFill>
                            <a:srgbClr val="202020"/>
                          </a:solidFill>
                        </a:rPr>
                        <a:t>0.758</a:t>
                      </a:r>
                    </a:p>
                  </a:txBody>
                  <a:tcPr>
                    <a:solidFill>
                      <a:srgbClr val="E8F0FE"/>
                    </a:solidFill>
                  </a:tcPr>
                </a:tc>
                <a:tc>
                  <a:txBody>
                    <a:bodyPr/>
                    <a:lstStyle/>
                    <a:p>
                      <a:pPr algn="ctr"/>
                      <a:r>
                        <a:rPr sz="750" b="0">
                          <a:solidFill>
                            <a:srgbClr val="202020"/>
                          </a:solidFill>
                        </a:rPr>
                        <a:t>0.740</a:t>
                      </a:r>
                    </a:p>
                  </a:txBody>
                  <a:tcPr>
                    <a:solidFill>
                      <a:srgbClr val="E8F0FE"/>
                    </a:solidFill>
                  </a:tcPr>
                </a:tc>
                <a:tc>
                  <a:txBody>
                    <a:bodyPr/>
                    <a:lstStyle/>
                    <a:p>
                      <a:pPr algn="ctr"/>
                      <a:r>
                        <a:rPr sz="750" b="0">
                          <a:solidFill>
                            <a:srgbClr val="202020"/>
                          </a:solidFill>
                        </a:rPr>
                        <a:t>0.758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0.675</a:t>
                      </a:r>
                    </a:p>
                  </a:txBody>
                  <a:tcPr>
                    <a:solidFill>
                      <a:srgbClr val="FFFFFF"/>
                    </a:solidFill>
                  </a:tcPr>
                </a:tc>
                <a:tc>
                  <a:txBody>
                    <a:bodyPr/>
                    <a:lstStyle/>
                    <a:p>
                      <a:pPr algn="ctr"/>
                      <a:r>
                        <a:rPr sz="750" b="0">
                          <a:solidFill>
                            <a:srgbClr val="202020"/>
                          </a:solidFill>
                        </a:rPr>
                        <a:t>0.903</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0.903</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0.837</a:t>
                      </a:r>
                    </a:p>
                  </a:txBody>
                  <a:tcPr>
                    <a:solidFill>
                      <a:srgbClr val="E6F4EA"/>
                    </a:solidFill>
                  </a:tcPr>
                </a:tc>
                <a:tc>
                  <a:txBody>
                    <a:bodyPr/>
                    <a:lstStyle/>
                    <a:p>
                      <a:pPr algn="ctr"/>
                      <a:r>
                        <a:rPr sz="750" b="0">
                          <a:solidFill>
                            <a:srgbClr val="202020"/>
                          </a:solidFill>
                        </a:rPr>
                        <a:t>0.903</a:t>
                      </a:r>
                    </a:p>
                  </a:txBody>
                  <a:tcPr>
                    <a:solidFill>
                      <a:srgbClr val="E6F4EA"/>
                    </a:solidFill>
                  </a:tcPr>
                </a:tc>
                <a:tc>
                  <a:txBody>
                    <a:bodyPr/>
                    <a:lstStyle/>
                    <a:p>
                      <a:pPr algn="ctr"/>
                      <a:r>
                        <a:rPr sz="750" b="0">
                          <a:solidFill>
                            <a:srgbClr val="202020"/>
                          </a:solidFill>
                        </a:rPr>
                        <a:t>0.902</a:t>
                      </a:r>
                    </a:p>
                  </a:txBody>
                  <a:tcPr>
                    <a:solidFill>
                      <a:srgbClr val="E6F4EA"/>
                    </a:solidFill>
                  </a:tcPr>
                </a:tc>
                <a:tc>
                  <a:txBody>
                    <a:bodyPr/>
                    <a:lstStyle/>
                    <a:p>
                      <a:pPr algn="ctr"/>
                      <a:r>
                        <a:rPr sz="750" b="0">
                          <a:solidFill>
                            <a:srgbClr val="202020"/>
                          </a:solidFill>
                        </a:rPr>
                        <a:t>0.903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0.537</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0.681</a:t>
                      </a:r>
                    </a:p>
                  </a:txBody>
                  <a:tcPr>
                    <a:solidFill>
                      <a:srgbClr val="FFFFFF"/>
                    </a:solidFill>
                  </a:tcPr>
                </a:tc>
                <a:tc>
                  <a:txBody>
                    <a:bodyPr/>
                    <a:lstStyle/>
                    <a:p>
                      <a:pPr algn="ctr"/>
                      <a:r>
                        <a:rPr sz="750" b="0">
                          <a:solidFill>
                            <a:srgbClr val="202020"/>
                          </a:solidFill>
                        </a:rPr>
                        <a:t>0.694</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0.604</a:t>
                      </a:r>
                    </a:p>
                  </a:txBody>
                  <a:tcPr>
                    <a:solidFill>
                      <a:srgbClr val="E8F0FE"/>
                    </a:solidFill>
                  </a:tcPr>
                </a:tc>
                <a:tc>
                  <a:txBody>
                    <a:bodyPr/>
                    <a:lstStyle/>
                    <a:p>
                      <a:pPr algn="ctr"/>
                      <a:r>
                        <a:rPr sz="750" b="0">
                          <a:solidFill>
                            <a:srgbClr val="202020"/>
                          </a:solidFill>
                        </a:rPr>
                        <a:t>0.806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0.806</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0.507</a:t>
                      </a:r>
                    </a:p>
                  </a:txBody>
                  <a:tcPr>
                    <a:solidFill>
                      <a:srgbClr val="E8F0FE"/>
                    </a:solidFill>
                  </a:tcPr>
                </a:tc>
                <a:tc>
                  <a:txBody>
                    <a:bodyPr/>
                    <a:lstStyle/>
                    <a:p>
                      <a:pPr algn="ctr"/>
                      <a:r>
                        <a:rPr sz="750" b="0">
                          <a:solidFill>
                            <a:srgbClr val="202020"/>
                          </a:solidFill>
                        </a:rPr>
                        <a:t>0.694</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0.694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0.871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0.871</a:t>
                      </a:r>
                    </a:p>
                  </a:txBody>
                  <a:tcPr>
                    <a:solidFill>
                      <a:srgbClr val="E8F0FE"/>
                    </a:solidFill>
                  </a:tcPr>
                </a:tc>
              </a:tr>
            </a:tbl>
          </a:graphicData>
        </a:graphic>
      </p:graphicFrame>
      <p:sp>
        <p:nvSpPr>
          <p:cNvPr id="9" name="TextBox 8"/>
          <p:cNvSpPr txBox="1"/>
          <p:nvPr/>
        </p:nvSpPr>
        <p:spPr>
          <a:xfrm>
            <a:off x="274320" y="3584448"/>
            <a:ext cx="4206240" cy="201168"/>
          </a:xfrm>
          <a:prstGeom prst="rect">
            <a:avLst/>
          </a:prstGeom>
          <a:noFill/>
        </p:spPr>
        <p:txBody>
          <a:bodyPr wrap="none">
            <a:spAutoFit/>
          </a:bodyPr>
          <a:lstStyle/>
          <a:p>
            <a:pPr algn="l"/>
            <a:r>
              <a:rPr sz="950" b="1" i="0">
                <a:solidFill>
                  <a:srgbClr val="1A73E8"/>
                </a:solidFill>
              </a:rPr>
              <a:t>JAFFE 7-Class</a:t>
            </a:r>
          </a:p>
        </p:txBody>
      </p:sp>
      <p:graphicFrame>
        <p:nvGraphicFramePr>
          <p:cNvPr id="10" name="Table 9"/>
          <p:cNvGraphicFramePr>
            <a:graphicFrameLocks noGrp="1"/>
          </p:cNvGraphicFramePr>
          <p:nvPr/>
        </p:nvGraphicFramePr>
        <p:xfrm>
          <a:off x="2743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0.304</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0.319</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0.209</a:t>
                      </a:r>
                    </a:p>
                  </a:txBody>
                  <a:tcPr>
                    <a:solidFill>
                      <a:srgbClr val="FFFFFF"/>
                    </a:solidFill>
                  </a:tcPr>
                </a:tc>
                <a:tc>
                  <a:txBody>
                    <a:bodyPr/>
                    <a:lstStyle/>
                    <a:p>
                      <a:pPr algn="ctr"/>
                      <a:r>
                        <a:rPr sz="750" b="0">
                          <a:solidFill>
                            <a:srgbClr val="202020"/>
                          </a:solidFill>
                        </a:rPr>
                        <a:t>0.250</a:t>
                      </a:r>
                    </a:p>
                  </a:txBody>
                  <a:tcPr>
                    <a:solidFill>
                      <a:srgbClr val="FFFFFF"/>
                    </a:solidFill>
                  </a:tcPr>
                </a:tc>
                <a:tc>
                  <a:txBody>
                    <a:bodyPr/>
                    <a:lstStyle/>
                    <a:p>
                      <a:pPr algn="ctr"/>
                      <a:r>
                        <a:rPr sz="750" b="0">
                          <a:solidFill>
                            <a:srgbClr val="202020"/>
                          </a:solidFill>
                        </a:rPr>
                        <a:t>0.169</a:t>
                      </a:r>
                    </a:p>
                  </a:txBody>
                  <a:tcPr>
                    <a:solidFill>
                      <a:srgbClr val="FFFFFF"/>
                    </a:solidFill>
                  </a:tcPr>
                </a:tc>
                <a:tc>
                  <a:txBody>
                    <a:bodyPr/>
                    <a:lstStyle/>
                    <a:p>
                      <a:pPr algn="ctr"/>
                      <a:r>
                        <a:rPr sz="750" b="0">
                          <a:solidFill>
                            <a:srgbClr val="202020"/>
                          </a:solidFill>
                        </a:rPr>
                        <a:t>0.250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0.039</a:t>
                      </a:r>
                    </a:p>
                  </a:txBody>
                  <a:tcPr>
                    <a:solidFill>
                      <a:srgbClr val="E8F0FE"/>
                    </a:solidFill>
                  </a:tcPr>
                </a:tc>
                <a:tc>
                  <a:txBody>
                    <a:bodyPr/>
                    <a:lstStyle/>
                    <a:p>
                      <a:pPr algn="ctr"/>
                      <a:r>
                        <a:rPr sz="750" b="0">
                          <a:solidFill>
                            <a:srgbClr val="202020"/>
                          </a:solidFill>
                        </a:rPr>
                        <a:t>0.150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0.464</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0.437</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0.447</a:t>
                      </a:r>
                    </a:p>
                  </a:txBody>
                  <a:tcPr>
                    <a:solidFill>
                      <a:srgbClr val="E8F0FE"/>
                    </a:solidFill>
                  </a:tcPr>
                </a:tc>
                <a:tc>
                  <a:txBody>
                    <a:bodyPr/>
                    <a:lstStyle/>
                    <a:p>
                      <a:pPr algn="ctr"/>
                      <a:r>
                        <a:rPr sz="750" b="0">
                          <a:solidFill>
                            <a:srgbClr val="202020"/>
                          </a:solidFill>
                        </a:rPr>
                        <a:t>0.450</a:t>
                      </a:r>
                    </a:p>
                  </a:txBody>
                  <a:tcPr>
                    <a:solidFill>
                      <a:srgbClr val="E8F0FE"/>
                    </a:solidFill>
                  </a:tcPr>
                </a:tc>
                <a:tc>
                  <a:txBody>
                    <a:bodyPr/>
                    <a:lstStyle/>
                    <a:p>
                      <a:pPr algn="ctr"/>
                      <a:r>
                        <a:rPr sz="750" b="0">
                          <a:solidFill>
                            <a:srgbClr val="202020"/>
                          </a:solidFill>
                        </a:rPr>
                        <a:t>0.420</a:t>
                      </a:r>
                    </a:p>
                  </a:txBody>
                  <a:tcPr>
                    <a:solidFill>
                      <a:srgbClr val="E8F0FE"/>
                    </a:solidFill>
                  </a:tcPr>
                </a:tc>
                <a:tc>
                  <a:txBody>
                    <a:bodyPr/>
                    <a:lstStyle/>
                    <a:p>
                      <a:pPr algn="ctr"/>
                      <a:r>
                        <a:rPr sz="750" b="0">
                          <a:solidFill>
                            <a:srgbClr val="202020"/>
                          </a:solidFill>
                        </a:rPr>
                        <a:t>0.450</a:t>
                      </a:r>
                    </a:p>
                  </a:txBody>
                  <a:tcPr>
                    <a:solidFill>
                      <a:srgbClr val="E8F0FE"/>
                    </a:solidFill>
                  </a:tcPr>
                </a:tc>
              </a:tr>
              <a:tr h="285750">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0.314</a:t>
                      </a:r>
                    </a:p>
                  </a:txBody>
                  <a:tcPr>
                    <a:solidFill>
                      <a:srgbClr val="E6F4EA"/>
                    </a:solidFill>
                  </a:tcPr>
                </a:tc>
                <a:tc>
                  <a:txBody>
                    <a:bodyPr/>
                    <a:lstStyle/>
                    <a:p>
                      <a:pPr algn="ctr"/>
                      <a:r>
                        <a:rPr sz="750" b="0">
                          <a:solidFill>
                            <a:srgbClr val="202020"/>
                          </a:solidFill>
                        </a:rPr>
                        <a:t>0.400</a:t>
                      </a:r>
                    </a:p>
                  </a:txBody>
                  <a:tcPr>
                    <a:solidFill>
                      <a:srgbClr val="E6F4EA"/>
                    </a:solidFill>
                  </a:tcPr>
                </a:tc>
                <a:tc>
                  <a:txBody>
                    <a:bodyPr/>
                    <a:lstStyle/>
                    <a:p>
                      <a:pPr algn="ctr"/>
                      <a:r>
                        <a:rPr sz="750" b="0">
                          <a:solidFill>
                            <a:srgbClr val="202020"/>
                          </a:solidFill>
                        </a:rPr>
                        <a:t>0.290</a:t>
                      </a:r>
                    </a:p>
                  </a:txBody>
                  <a:tcPr>
                    <a:solidFill>
                      <a:srgbClr val="E6F4EA"/>
                    </a:solidFill>
                  </a:tcPr>
                </a:tc>
                <a:tc>
                  <a:txBody>
                    <a:bodyPr/>
                    <a:lstStyle/>
                    <a:p>
                      <a:pPr algn="ctr"/>
                      <a:r>
                        <a:rPr sz="750" b="0">
                          <a:solidFill>
                            <a:srgbClr val="202020"/>
                          </a:solidFill>
                        </a:rPr>
                        <a:t>0.400</a:t>
                      </a:r>
                    </a:p>
                  </a:txBody>
                  <a:tcPr>
                    <a:solidFill>
                      <a:srgbClr val="E6F4EA"/>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0.146</a:t>
                      </a:r>
                    </a:p>
                  </a:txBody>
                  <a:tcPr>
                    <a:solidFill>
                      <a:srgbClr val="E8F0FE"/>
                    </a:solidFill>
                  </a:tcPr>
                </a:tc>
                <a:tc>
                  <a:txBody>
                    <a:bodyPr/>
                    <a:lstStyle/>
                    <a:p>
                      <a:pPr algn="ctr"/>
                      <a:r>
                        <a:rPr sz="750" b="0">
                          <a:solidFill>
                            <a:srgbClr val="202020"/>
                          </a:solidFill>
                        </a:rPr>
                        <a:t>0.200</a:t>
                      </a:r>
                    </a:p>
                  </a:txBody>
                  <a:tcPr>
                    <a:solidFill>
                      <a:srgbClr val="E8F0FE"/>
                    </a:solidFill>
                  </a:tcPr>
                </a:tc>
                <a:tc>
                  <a:txBody>
                    <a:bodyPr/>
                    <a:lstStyle/>
                    <a:p>
                      <a:pPr algn="ctr"/>
                      <a:r>
                        <a:rPr sz="750" b="0">
                          <a:solidFill>
                            <a:srgbClr val="202020"/>
                          </a:solidFill>
                        </a:rPr>
                        <a:t>0.120</a:t>
                      </a:r>
                    </a:p>
                  </a:txBody>
                  <a:tcPr>
                    <a:solidFill>
                      <a:srgbClr val="E8F0FE"/>
                    </a:solidFill>
                  </a:tcPr>
                </a:tc>
                <a:tc>
                  <a:txBody>
                    <a:bodyPr/>
                    <a:lstStyle/>
                    <a:p>
                      <a:pPr algn="ctr"/>
                      <a:r>
                        <a:rPr sz="750" b="0">
                          <a:solidFill>
                            <a:srgbClr val="202020"/>
                          </a:solidFill>
                        </a:rPr>
                        <a:t>0.200</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0.286</a:t>
                      </a:r>
                    </a:p>
                  </a:txBody>
                  <a:tcPr>
                    <a:solidFill>
                      <a:srgbClr val="E8F0FE"/>
                    </a:solidFill>
                  </a:tcPr>
                </a:tc>
                <a:tc>
                  <a:txBody>
                    <a:bodyPr/>
                    <a:lstStyle/>
                    <a:p>
                      <a:pPr algn="ctr"/>
                      <a:r>
                        <a:rPr sz="750" b="0">
                          <a:solidFill>
                            <a:srgbClr val="202020"/>
                          </a:solidFill>
                        </a:rPr>
                        <a:t>0.350</a:t>
                      </a:r>
                    </a:p>
                  </a:txBody>
                  <a:tcPr>
                    <a:solidFill>
                      <a:srgbClr val="E8F0FE"/>
                    </a:solidFill>
                  </a:tcPr>
                </a:tc>
                <a:tc>
                  <a:txBody>
                    <a:bodyPr/>
                    <a:lstStyle/>
                    <a:p>
                      <a:pPr algn="ctr"/>
                      <a:r>
                        <a:rPr sz="750" b="0">
                          <a:solidFill>
                            <a:srgbClr val="202020"/>
                          </a:solidFill>
                        </a:rPr>
                        <a:t>0.267</a:t>
                      </a:r>
                    </a:p>
                  </a:txBody>
                  <a:tcPr>
                    <a:solidFill>
                      <a:srgbClr val="E8F0FE"/>
                    </a:solidFill>
                  </a:tcPr>
                </a:tc>
                <a:tc>
                  <a:txBody>
                    <a:bodyPr/>
                    <a:lstStyle/>
                    <a:p>
                      <a:pPr algn="ctr"/>
                      <a:r>
                        <a:rPr sz="750" b="0">
                          <a:solidFill>
                            <a:srgbClr val="202020"/>
                          </a:solidFill>
                        </a:rPr>
                        <a:t>0.350</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0.041</a:t>
                      </a:r>
                    </a:p>
                  </a:txBody>
                  <a:tcPr>
                    <a:solidFill>
                      <a:srgbClr val="E8F0FE"/>
                    </a:solidFill>
                  </a:tcPr>
                </a:tc>
                <a:tc>
                  <a:txBody>
                    <a:bodyPr/>
                    <a:lstStyle/>
                    <a:p>
                      <a:pPr algn="ctr"/>
                      <a:r>
                        <a:rPr sz="750" b="0">
                          <a:solidFill>
                            <a:srgbClr val="202020"/>
                          </a:solidFill>
                        </a:rPr>
                        <a:t>0.150</a:t>
                      </a:r>
                    </a:p>
                  </a:txBody>
                  <a:tcPr>
                    <a:solidFill>
                      <a:srgbClr val="E8F0FE"/>
                    </a:solidFill>
                  </a:tcPr>
                </a:tc>
                <a:tc>
                  <a:txBody>
                    <a:bodyPr/>
                    <a:lstStyle/>
                    <a:p>
                      <a:pPr algn="ctr"/>
                      <a:r>
                        <a:rPr sz="750" b="0">
                          <a:solidFill>
                            <a:srgbClr val="202020"/>
                          </a:solidFill>
                        </a:rPr>
                        <a:t>0.043</a:t>
                      </a:r>
                    </a:p>
                  </a:txBody>
                  <a:tcPr>
                    <a:solidFill>
                      <a:srgbClr val="E8F0FE"/>
                    </a:solidFill>
                  </a:tcPr>
                </a:tc>
                <a:tc>
                  <a:txBody>
                    <a:bodyPr/>
                    <a:lstStyle/>
                    <a:p>
                      <a:pPr algn="ctr"/>
                      <a:r>
                        <a:rPr sz="750" b="0">
                          <a:solidFill>
                            <a:srgbClr val="202020"/>
                          </a:solidFill>
                        </a:rPr>
                        <a:t>0.150</a:t>
                      </a:r>
                    </a:p>
                  </a:txBody>
                  <a:tcPr>
                    <a:solidFill>
                      <a:srgbClr val="E8F0FE"/>
                    </a:solidFill>
                  </a:tcPr>
                </a:tc>
              </a:tr>
            </a:tbl>
          </a:graphicData>
        </a:graphic>
      </p:graphicFrame>
      <p:sp>
        <p:nvSpPr>
          <p:cNvPr id="11" name="TextBox 10"/>
          <p:cNvSpPr txBox="1"/>
          <p:nvPr/>
        </p:nvSpPr>
        <p:spPr>
          <a:xfrm>
            <a:off x="4617720" y="3584448"/>
            <a:ext cx="4206240" cy="201168"/>
          </a:xfrm>
          <a:prstGeom prst="rect">
            <a:avLst/>
          </a:prstGeom>
          <a:noFill/>
        </p:spPr>
        <p:txBody>
          <a:bodyPr wrap="none">
            <a:spAutoFit/>
          </a:bodyPr>
          <a:lstStyle/>
          <a:p>
            <a:pPr algn="l"/>
            <a:r>
              <a:rPr sz="950" b="1" i="0">
                <a:solidFill>
                  <a:srgbClr val="1A73E8"/>
                </a:solidFill>
              </a:rPr>
              <a:t>JAFFE 4-Class</a:t>
            </a:r>
          </a:p>
        </p:txBody>
      </p:sp>
      <p:graphicFrame>
        <p:nvGraphicFramePr>
          <p:cNvPr id="12" name="Table 11"/>
          <p:cNvGraphicFramePr>
            <a:graphicFrameLocks noGrp="1"/>
          </p:cNvGraphicFramePr>
          <p:nvPr/>
        </p:nvGraphicFramePr>
        <p:xfrm>
          <a:off x="4617720" y="3803904"/>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0.438</a:t>
                      </a:r>
                    </a:p>
                  </a:txBody>
                  <a:tcPr>
                    <a:solidFill>
                      <a:srgbClr val="FFFFFF"/>
                    </a:solidFill>
                  </a:tcPr>
                </a:tc>
                <a:tc>
                  <a:txBody>
                    <a:bodyPr/>
                    <a:lstStyle/>
                    <a:p>
                      <a:pPr algn="ctr"/>
                      <a:r>
                        <a:rPr sz="750" b="0">
                          <a:solidFill>
                            <a:srgbClr val="202020"/>
                          </a:solidFill>
                        </a:rPr>
                        <a:t>0.550</a:t>
                      </a:r>
                    </a:p>
                  </a:txBody>
                  <a:tcPr>
                    <a:solidFill>
                      <a:srgbClr val="FFFFFF"/>
                    </a:solidFill>
                  </a:tcPr>
                </a:tc>
                <a:tc>
                  <a:txBody>
                    <a:bodyPr/>
                    <a:lstStyle/>
                    <a:p>
                      <a:pPr algn="ctr"/>
                      <a:r>
                        <a:rPr sz="750" b="0">
                          <a:solidFill>
                            <a:srgbClr val="202020"/>
                          </a:solidFill>
                        </a:rPr>
                        <a:t>0.530</a:t>
                      </a:r>
                    </a:p>
                  </a:txBody>
                  <a:tcPr>
                    <a:solidFill>
                      <a:srgbClr val="FFFFFF"/>
                    </a:solidFill>
                  </a:tcPr>
                </a:tc>
                <a:tc>
                  <a:txBody>
                    <a:bodyPr/>
                    <a:lstStyle/>
                    <a:p>
                      <a:pPr algn="ctr"/>
                      <a:r>
                        <a:rPr sz="750" b="0">
                          <a:solidFill>
                            <a:srgbClr val="202020"/>
                          </a:solidFill>
                        </a:rPr>
                        <a:t>0.550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0.177</a:t>
                      </a:r>
                    </a:p>
                  </a:txBody>
                  <a:tcPr>
                    <a:solidFill>
                      <a:srgbClr val="E8F0FE"/>
                    </a:solidFill>
                  </a:tcPr>
                </a:tc>
                <a:tc>
                  <a:txBody>
                    <a:bodyPr/>
                    <a:lstStyle/>
                    <a:p>
                      <a:pPr algn="ctr"/>
                      <a:r>
                        <a:rPr sz="750" b="0">
                          <a:solidFill>
                            <a:srgbClr val="202020"/>
                          </a:solidFill>
                        </a:rPr>
                        <a:t>0.550</a:t>
                      </a:r>
                    </a:p>
                  </a:txBody>
                  <a:tcPr>
                    <a:solidFill>
                      <a:srgbClr val="E8F0FE"/>
                    </a:solidFill>
                  </a:tcPr>
                </a:tc>
                <a:tc>
                  <a:txBody>
                    <a:bodyPr/>
                    <a:lstStyle/>
                    <a:p>
                      <a:pPr algn="ctr"/>
                      <a:r>
                        <a:rPr sz="750" b="0">
                          <a:solidFill>
                            <a:srgbClr val="202020"/>
                          </a:solidFill>
                        </a:rPr>
                        <a:t>0.390</a:t>
                      </a:r>
                    </a:p>
                  </a:txBody>
                  <a:tcPr>
                    <a:solidFill>
                      <a:srgbClr val="E8F0FE"/>
                    </a:solidFill>
                  </a:tcPr>
                </a:tc>
                <a:tc>
                  <a:txBody>
                    <a:bodyPr/>
                    <a:lstStyle/>
                    <a:p>
                      <a:pPr algn="ctr"/>
                      <a:r>
                        <a:rPr sz="750" b="0">
                          <a:solidFill>
                            <a:srgbClr val="202020"/>
                          </a:solidFill>
                        </a:rPr>
                        <a:t>0.550</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0.329</a:t>
                      </a:r>
                    </a:p>
                  </a:txBody>
                  <a:tcPr>
                    <a:solidFill>
                      <a:srgbClr val="FFFFFF"/>
                    </a:solidFill>
                  </a:tcPr>
                </a:tc>
                <a:tc>
                  <a:txBody>
                    <a:bodyPr/>
                    <a:lstStyle/>
                    <a:p>
                      <a:pPr algn="ctr"/>
                      <a:r>
                        <a:rPr sz="750" b="0">
                          <a:solidFill>
                            <a:srgbClr val="202020"/>
                          </a:solidFill>
                        </a:rPr>
                        <a:t>0.500</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0.500</a:t>
                      </a:r>
                    </a:p>
                  </a:txBody>
                  <a:tcPr>
                    <a:solidFill>
                      <a:srgbClr val="FFFFFF"/>
                    </a:solidFill>
                  </a:tcPr>
                </a:tc>
              </a:tr>
              <a:tr h="285750">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0.375</a:t>
                      </a:r>
                    </a:p>
                  </a:txBody>
                  <a:tcPr>
                    <a:solidFill>
                      <a:srgbClr val="E8F0FE"/>
                    </a:solidFill>
                  </a:tcPr>
                </a:tc>
                <a:tc>
                  <a:txBody>
                    <a:bodyPr/>
                    <a:lstStyle/>
                    <a:p>
                      <a:pPr algn="ctr"/>
                      <a:r>
                        <a:rPr sz="750" b="0">
                          <a:solidFill>
                            <a:srgbClr val="202020"/>
                          </a:solidFill>
                        </a:rPr>
                        <a:t>0.650</a:t>
                      </a:r>
                    </a:p>
                  </a:txBody>
                  <a:tcPr>
                    <a:solidFill>
                      <a:srgbClr val="E8F0FE"/>
                    </a:solidFill>
                  </a:tcPr>
                </a:tc>
                <a:tc>
                  <a:txBody>
                    <a:bodyPr/>
                    <a:lstStyle/>
                    <a:p>
                      <a:pPr algn="ctr"/>
                      <a:r>
                        <a:rPr sz="750" b="0">
                          <a:solidFill>
                            <a:srgbClr val="202020"/>
                          </a:solidFill>
                        </a:rPr>
                        <a:t>0.558</a:t>
                      </a:r>
                    </a:p>
                  </a:txBody>
                  <a:tcPr>
                    <a:solidFill>
                      <a:srgbClr val="E8F0FE"/>
                    </a:solidFill>
                  </a:tcPr>
                </a:tc>
                <a:tc>
                  <a:txBody>
                    <a:bodyPr/>
                    <a:lstStyle/>
                    <a:p>
                      <a:pPr algn="ctr"/>
                      <a:r>
                        <a:rPr sz="750" b="0">
                          <a:solidFill>
                            <a:srgbClr val="202020"/>
                          </a:solidFill>
                        </a:rPr>
                        <a:t>0.650</a:t>
                      </a:r>
                    </a:p>
                  </a:txBody>
                  <a:tcPr>
                    <a:solidFill>
                      <a:srgbClr val="E8F0FE"/>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0.492</a:t>
                      </a:r>
                    </a:p>
                  </a:txBody>
                  <a:tcPr>
                    <a:solidFill>
                      <a:srgbClr val="FFFFFF"/>
                    </a:solidFill>
                  </a:tcPr>
                </a:tc>
                <a:tc>
                  <a:txBody>
                    <a:bodyPr/>
                    <a:lstStyle/>
                    <a:p>
                      <a:pPr algn="ctr"/>
                      <a:r>
                        <a:rPr sz="750" b="0">
                          <a:solidFill>
                            <a:srgbClr val="202020"/>
                          </a:solidFill>
                        </a:rPr>
                        <a:t>0.650</a:t>
                      </a:r>
                    </a:p>
                  </a:txBody>
                  <a:tcPr>
                    <a:solidFill>
                      <a:srgbClr val="FFFFFF"/>
                    </a:solidFill>
                  </a:tcPr>
                </a:tc>
                <a:tc>
                  <a:txBody>
                    <a:bodyPr/>
                    <a:lstStyle/>
                    <a:p>
                      <a:pPr algn="ctr"/>
                      <a:r>
                        <a:rPr sz="750" b="0">
                          <a:solidFill>
                            <a:srgbClr val="202020"/>
                          </a:solidFill>
                        </a:rPr>
                        <a:t>0.615</a:t>
                      </a:r>
                    </a:p>
                  </a:txBody>
                  <a:tcPr>
                    <a:solidFill>
                      <a:srgbClr val="FFFFFF"/>
                    </a:solidFill>
                  </a:tcPr>
                </a:tc>
                <a:tc>
                  <a:txBody>
                    <a:bodyPr/>
                    <a:lstStyle/>
                    <a:p>
                      <a:pPr algn="ctr"/>
                      <a:r>
                        <a:rPr sz="750" b="0">
                          <a:solidFill>
                            <a:srgbClr val="202020"/>
                          </a:solidFill>
                        </a:rPr>
                        <a:t>0.650</a:t>
                      </a:r>
                    </a:p>
                  </a:txBody>
                  <a:tcPr>
                    <a:solidFill>
                      <a:srgbClr val="FFFFFF"/>
                    </a:solidFill>
                  </a:tcPr>
                </a:tc>
              </a:tr>
              <a:tr h="285750">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0.492</a:t>
                      </a:r>
                    </a:p>
                  </a:txBody>
                  <a:tcPr>
                    <a:solidFill>
                      <a:srgbClr val="E6F4EA"/>
                    </a:solidFill>
                  </a:tcPr>
                </a:tc>
                <a:tc>
                  <a:txBody>
                    <a:bodyPr/>
                    <a:lstStyle/>
                    <a:p>
                      <a:pPr algn="ctr"/>
                      <a:r>
                        <a:rPr sz="750" b="0">
                          <a:solidFill>
                            <a:srgbClr val="202020"/>
                          </a:solidFill>
                        </a:rPr>
                        <a:t>0.650</a:t>
                      </a:r>
                    </a:p>
                  </a:txBody>
                  <a:tcPr>
                    <a:solidFill>
                      <a:srgbClr val="E6F4EA"/>
                    </a:solidFill>
                  </a:tcPr>
                </a:tc>
                <a:tc>
                  <a:txBody>
                    <a:bodyPr/>
                    <a:lstStyle/>
                    <a:p>
                      <a:pPr algn="ctr"/>
                      <a:r>
                        <a:rPr sz="750" b="0">
                          <a:solidFill>
                            <a:srgbClr val="202020"/>
                          </a:solidFill>
                        </a:rPr>
                        <a:t>0.615</a:t>
                      </a:r>
                    </a:p>
                  </a:txBody>
                  <a:tcPr>
                    <a:solidFill>
                      <a:srgbClr val="E6F4EA"/>
                    </a:solidFill>
                  </a:tcPr>
                </a:tc>
                <a:tc>
                  <a:txBody>
                    <a:bodyPr/>
                    <a:lstStyle/>
                    <a:p>
                      <a:pPr algn="ctr"/>
                      <a:r>
                        <a:rPr sz="750" b="0">
                          <a:solidFill>
                            <a:srgbClr val="202020"/>
                          </a:solidFill>
                        </a:rPr>
                        <a:t>0.650</a:t>
                      </a:r>
                    </a:p>
                  </a:txBody>
                  <a:tcPr>
                    <a:solidFill>
                      <a:srgbClr val="E6F4EA"/>
                    </a:solidFill>
                  </a:tcPr>
                </a:tc>
              </a:tr>
              <a:tr h="285750">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0.177</a:t>
                      </a:r>
                    </a:p>
                  </a:txBody>
                  <a:tcPr>
                    <a:solidFill>
                      <a:srgbClr val="E6F4EA"/>
                    </a:solidFill>
                  </a:tcPr>
                </a:tc>
                <a:tc>
                  <a:txBody>
                    <a:bodyPr/>
                    <a:lstStyle/>
                    <a:p>
                      <a:pPr algn="ctr"/>
                      <a:r>
                        <a:rPr sz="750" b="0">
                          <a:solidFill>
                            <a:srgbClr val="202020"/>
                          </a:solidFill>
                        </a:rPr>
                        <a:t>0.550</a:t>
                      </a:r>
                    </a:p>
                  </a:txBody>
                  <a:tcPr>
                    <a:solidFill>
                      <a:srgbClr val="E6F4EA"/>
                    </a:solidFill>
                  </a:tcPr>
                </a:tc>
                <a:tc>
                  <a:txBody>
                    <a:bodyPr/>
                    <a:lstStyle/>
                    <a:p>
                      <a:pPr algn="ctr"/>
                      <a:r>
                        <a:rPr sz="750" b="0">
                          <a:solidFill>
                            <a:srgbClr val="202020"/>
                          </a:solidFill>
                        </a:rPr>
                        <a:t>0.390</a:t>
                      </a:r>
                    </a:p>
                  </a:txBody>
                  <a:tcPr>
                    <a:solidFill>
                      <a:srgbClr val="E6F4EA"/>
                    </a:solidFill>
                  </a:tcPr>
                </a:tc>
                <a:tc>
                  <a:txBody>
                    <a:bodyPr/>
                    <a:lstStyle/>
                    <a:p>
                      <a:pPr algn="ctr"/>
                      <a:r>
                        <a:rPr sz="750" b="0">
                          <a:solidFill>
                            <a:srgbClr val="202020"/>
                          </a:solidFill>
                        </a:rPr>
                        <a:t>0.550</a:t>
                      </a:r>
                    </a:p>
                  </a:txBody>
                  <a:tcPr>
                    <a:solidFill>
                      <a:srgbClr val="E6F4EA"/>
                    </a:solidFill>
                  </a:tcPr>
                </a:tc>
              </a:tr>
              <a:tr h="285750">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0.352</a:t>
                      </a:r>
                    </a:p>
                  </a:txBody>
                  <a:tcPr>
                    <a:solidFill>
                      <a:srgbClr val="E6F4EA"/>
                    </a:solidFill>
                  </a:tcPr>
                </a:tc>
                <a:tc>
                  <a:txBody>
                    <a:bodyPr/>
                    <a:lstStyle/>
                    <a:p>
                      <a:pPr algn="ctr"/>
                      <a:r>
                        <a:rPr sz="750" b="0">
                          <a:solidFill>
                            <a:srgbClr val="202020"/>
                          </a:solidFill>
                        </a:rPr>
                        <a:t>0.600</a:t>
                      </a:r>
                    </a:p>
                  </a:txBody>
                  <a:tcPr>
                    <a:solidFill>
                      <a:srgbClr val="E6F4EA"/>
                    </a:solidFill>
                  </a:tcPr>
                </a:tc>
                <a:tc>
                  <a:txBody>
                    <a:bodyPr/>
                    <a:lstStyle/>
                    <a:p>
                      <a:pPr algn="ctr"/>
                      <a:r>
                        <a:rPr sz="750" b="0">
                          <a:solidFill>
                            <a:srgbClr val="202020"/>
                          </a:solidFill>
                        </a:rPr>
                        <a:t>0.507</a:t>
                      </a:r>
                    </a:p>
                  </a:txBody>
                  <a:tcPr>
                    <a:solidFill>
                      <a:srgbClr val="E6F4EA"/>
                    </a:solidFill>
                  </a:tcPr>
                </a:tc>
                <a:tc>
                  <a:txBody>
                    <a:bodyPr/>
                    <a:lstStyle/>
                    <a:p>
                      <a:pPr algn="ctr"/>
                      <a:r>
                        <a:rPr sz="750" b="0">
                          <a:solidFill>
                            <a:srgbClr val="202020"/>
                          </a:solidFill>
                        </a:rPr>
                        <a:t>0.600</a:t>
                      </a:r>
                    </a:p>
                  </a:txBody>
                  <a:tcPr>
                    <a:solidFill>
                      <a:srgbClr val="E6F4EA"/>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RAF-DB &amp; KDEF</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7-Class</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0.729</a:t>
                      </a:r>
                    </a:p>
                  </a:txBody>
                  <a:tcPr>
                    <a:solidFill>
                      <a:srgbClr val="E8F0FE"/>
                    </a:solidFill>
                  </a:tcPr>
                </a:tc>
                <a:tc>
                  <a:txBody>
                    <a:bodyPr/>
                    <a:lstStyle/>
                    <a:p>
                      <a:pPr algn="ctr"/>
                      <a:r>
                        <a:rPr sz="750" b="0">
                          <a:solidFill>
                            <a:srgbClr val="202020"/>
                          </a:solidFill>
                        </a:rPr>
                        <a:t>0.815</a:t>
                      </a:r>
                    </a:p>
                  </a:txBody>
                  <a:tcPr>
                    <a:solidFill>
                      <a:srgbClr val="E8F0FE"/>
                    </a:solidFill>
                  </a:tcPr>
                </a:tc>
                <a:tc>
                  <a:txBody>
                    <a:bodyPr/>
                    <a:lstStyle/>
                    <a:p>
                      <a:pPr algn="ctr"/>
                      <a:r>
                        <a:rPr sz="750" b="0">
                          <a:solidFill>
                            <a:srgbClr val="202020"/>
                          </a:solidFill>
                        </a:rPr>
                        <a:t>0.813</a:t>
                      </a:r>
                    </a:p>
                  </a:txBody>
                  <a:tcPr>
                    <a:solidFill>
                      <a:srgbClr val="E8F0FE"/>
                    </a:solidFill>
                  </a:tcPr>
                </a:tc>
                <a:tc>
                  <a:txBody>
                    <a:bodyPr/>
                    <a:lstStyle/>
                    <a:p>
                      <a:pPr algn="ctr"/>
                      <a:r>
                        <a:rPr sz="750" b="0">
                          <a:solidFill>
                            <a:srgbClr val="202020"/>
                          </a:solidFill>
                        </a:rPr>
                        <a:t>0.815</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0.578</a:t>
                      </a:r>
                    </a:p>
                  </a:txBody>
                  <a:tcPr>
                    <a:solidFill>
                      <a:srgbClr val="FFFFFF"/>
                    </a:solidFill>
                  </a:tcPr>
                </a:tc>
                <a:tc>
                  <a:txBody>
                    <a:bodyPr/>
                    <a:lstStyle/>
                    <a:p>
                      <a:pPr algn="ctr"/>
                      <a:r>
                        <a:rPr sz="750" b="0">
                          <a:solidFill>
                            <a:srgbClr val="202020"/>
                          </a:solidFill>
                        </a:rPr>
                        <a:t>0.714</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0.714</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0.696</a:t>
                      </a:r>
                    </a:p>
                  </a:txBody>
                  <a:tcPr>
                    <a:solidFill>
                      <a:srgbClr val="E8F0FE"/>
                    </a:solidFill>
                  </a:tcPr>
                </a:tc>
                <a:tc>
                  <a:txBody>
                    <a:bodyPr/>
                    <a:lstStyle/>
                    <a:p>
                      <a:pPr algn="ctr"/>
                      <a:r>
                        <a:rPr sz="750" b="0">
                          <a:solidFill>
                            <a:srgbClr val="202020"/>
                          </a:solidFill>
                        </a:rPr>
                        <a:t>0.785</a:t>
                      </a:r>
                    </a:p>
                  </a:txBody>
                  <a:tcPr>
                    <a:solidFill>
                      <a:srgbClr val="E8F0FE"/>
                    </a:solidFill>
                  </a:tcPr>
                </a:tc>
                <a:tc>
                  <a:txBody>
                    <a:bodyPr/>
                    <a:lstStyle/>
                    <a:p>
                      <a:pPr algn="ctr"/>
                      <a:r>
                        <a:rPr sz="750" b="0">
                          <a:solidFill>
                            <a:srgbClr val="202020"/>
                          </a:solidFill>
                        </a:rPr>
                        <a:t>0.783</a:t>
                      </a:r>
                    </a:p>
                  </a:txBody>
                  <a:tcPr>
                    <a:solidFill>
                      <a:srgbClr val="E8F0FE"/>
                    </a:solidFill>
                  </a:tcPr>
                </a:tc>
                <a:tc>
                  <a:txBody>
                    <a:bodyPr/>
                    <a:lstStyle/>
                    <a:p>
                      <a:pPr algn="ctr"/>
                      <a:r>
                        <a:rPr sz="750" b="0">
                          <a:solidFill>
                            <a:srgbClr val="202020"/>
                          </a:solidFill>
                        </a:rPr>
                        <a:t>0.785</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0.741</a:t>
                      </a:r>
                    </a:p>
                  </a:txBody>
                  <a:tcPr>
                    <a:solidFill>
                      <a:srgbClr val="FFFFFF"/>
                    </a:solidFill>
                  </a:tcPr>
                </a:tc>
                <a:tc>
                  <a:txBody>
                    <a:bodyPr/>
                    <a:lstStyle/>
                    <a:p>
                      <a:pPr algn="ctr"/>
                      <a:r>
                        <a:rPr sz="750" b="0">
                          <a:solidFill>
                            <a:srgbClr val="202020"/>
                          </a:solidFill>
                        </a:rPr>
                        <a:t>0.830</a:t>
                      </a:r>
                    </a:p>
                  </a:txBody>
                  <a:tcPr>
                    <a:solidFill>
                      <a:srgbClr val="FFFFFF"/>
                    </a:solidFill>
                  </a:tcPr>
                </a:tc>
                <a:tc>
                  <a:txBody>
                    <a:bodyPr/>
                    <a:lstStyle/>
                    <a:p>
                      <a:pPr algn="ctr"/>
                      <a:r>
                        <a:rPr sz="750" b="0">
                          <a:solidFill>
                            <a:srgbClr val="202020"/>
                          </a:solidFill>
                        </a:rPr>
                        <a:t>0.826</a:t>
                      </a:r>
                    </a:p>
                  </a:txBody>
                  <a:tcPr>
                    <a:solidFill>
                      <a:srgbClr val="FFFFFF"/>
                    </a:solidFill>
                  </a:tcPr>
                </a:tc>
                <a:tc>
                  <a:txBody>
                    <a:bodyPr/>
                    <a:lstStyle/>
                    <a:p>
                      <a:pPr algn="ctr"/>
                      <a:r>
                        <a:rPr sz="750" b="0">
                          <a:solidFill>
                            <a:srgbClr val="202020"/>
                          </a:solidFill>
                        </a:rPr>
                        <a:t>0.830</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0.744</a:t>
                      </a:r>
                    </a:p>
                  </a:txBody>
                  <a:tcPr>
                    <a:solidFill>
                      <a:srgbClr val="E6F4EA"/>
                    </a:solidFill>
                  </a:tcPr>
                </a:tc>
                <a:tc>
                  <a:txBody>
                    <a:bodyPr/>
                    <a:lstStyle/>
                    <a:p>
                      <a:pPr algn="ctr"/>
                      <a:r>
                        <a:rPr sz="750" b="0">
                          <a:solidFill>
                            <a:srgbClr val="202020"/>
                          </a:solidFill>
                        </a:rPr>
                        <a:t>0.833</a:t>
                      </a:r>
                    </a:p>
                  </a:txBody>
                  <a:tcPr>
                    <a:solidFill>
                      <a:srgbClr val="E6F4EA"/>
                    </a:solidFill>
                  </a:tcPr>
                </a:tc>
                <a:tc>
                  <a:txBody>
                    <a:bodyPr/>
                    <a:lstStyle/>
                    <a:p>
                      <a:pPr algn="ctr"/>
                      <a:r>
                        <a:rPr sz="750" b="0">
                          <a:solidFill>
                            <a:srgbClr val="202020"/>
                          </a:solidFill>
                        </a:rPr>
                        <a:t>0.832</a:t>
                      </a:r>
                    </a:p>
                  </a:txBody>
                  <a:tcPr>
                    <a:solidFill>
                      <a:srgbClr val="E6F4EA"/>
                    </a:solidFill>
                  </a:tcPr>
                </a:tc>
                <a:tc>
                  <a:txBody>
                    <a:bodyPr/>
                    <a:lstStyle/>
                    <a:p>
                      <a:pPr algn="ctr"/>
                      <a:r>
                        <a:rPr sz="750" b="0">
                          <a:solidFill>
                            <a:srgbClr val="202020"/>
                          </a:solidFill>
                        </a:rPr>
                        <a:t>0.833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0.719</a:t>
                      </a:r>
                    </a:p>
                  </a:txBody>
                  <a:tcPr>
                    <a:solidFill>
                      <a:srgbClr val="FFFFFF"/>
                    </a:solidFill>
                  </a:tcPr>
                </a:tc>
                <a:tc>
                  <a:txBody>
                    <a:bodyPr/>
                    <a:lstStyle/>
                    <a:p>
                      <a:pPr algn="ctr"/>
                      <a:r>
                        <a:rPr sz="750" b="0">
                          <a:solidFill>
                            <a:srgbClr val="202020"/>
                          </a:solidFill>
                        </a:rPr>
                        <a:t>0.809</a:t>
                      </a:r>
                    </a:p>
                  </a:txBody>
                  <a:tcPr>
                    <a:solidFill>
                      <a:srgbClr val="FFFFFF"/>
                    </a:solidFill>
                  </a:tcPr>
                </a:tc>
                <a:tc>
                  <a:txBody>
                    <a:bodyPr/>
                    <a:lstStyle/>
                    <a:p>
                      <a:pPr algn="ctr"/>
                      <a:r>
                        <a:rPr sz="750" b="0">
                          <a:solidFill>
                            <a:srgbClr val="202020"/>
                          </a:solidFill>
                        </a:rPr>
                        <a:t>0.805</a:t>
                      </a:r>
                    </a:p>
                  </a:txBody>
                  <a:tcPr>
                    <a:solidFill>
                      <a:srgbClr val="FFFFFF"/>
                    </a:solidFill>
                  </a:tcPr>
                </a:tc>
                <a:tc>
                  <a:txBody>
                    <a:bodyPr/>
                    <a:lstStyle/>
                    <a:p>
                      <a:pPr algn="ctr"/>
                      <a:r>
                        <a:rPr sz="750" b="0">
                          <a:solidFill>
                            <a:srgbClr val="202020"/>
                          </a:solidFill>
                        </a:rPr>
                        <a:t>0.809</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0.735</a:t>
                      </a:r>
                    </a:p>
                  </a:txBody>
                  <a:tcPr>
                    <a:solidFill>
                      <a:srgbClr val="E8F0FE"/>
                    </a:solidFill>
                  </a:tcPr>
                </a:tc>
                <a:tc>
                  <a:txBody>
                    <a:bodyPr/>
                    <a:lstStyle/>
                    <a:p>
                      <a:pPr algn="ctr"/>
                      <a:r>
                        <a:rPr sz="750" b="0">
                          <a:solidFill>
                            <a:srgbClr val="202020"/>
                          </a:solidFill>
                        </a:rPr>
                        <a:t>0.829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0.710</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0.804</a:t>
                      </a:r>
                    </a:p>
                  </a:txBody>
                  <a:tcPr>
                    <a:solidFill>
                      <a:srgbClr val="E8F0FE"/>
                    </a:solidFill>
                  </a:tcPr>
                </a:tc>
                <a:tc>
                  <a:txBody>
                    <a:bodyPr/>
                    <a:lstStyle/>
                    <a:p>
                      <a:pPr algn="ctr"/>
                      <a:r>
                        <a:rPr sz="750" b="0">
                          <a:solidFill>
                            <a:srgbClr val="202020"/>
                          </a:solidFill>
                        </a:rPr>
                        <a:t>0.808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0.786</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4-Class</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0.808</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c>
                  <a:txBody>
                    <a:bodyPr/>
                    <a:lstStyle/>
                    <a:p>
                      <a:pPr algn="ctr"/>
                      <a:r>
                        <a:rPr sz="750" b="0">
                          <a:solidFill>
                            <a:srgbClr val="202020"/>
                          </a:solidFill>
                        </a:rPr>
                        <a:t>0.830</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0.694</a:t>
                      </a:r>
                    </a:p>
                  </a:txBody>
                  <a:tcPr>
                    <a:solidFill>
                      <a:srgbClr val="FFFFFF"/>
                    </a:solidFill>
                  </a:tcPr>
                </a:tc>
                <a:tc>
                  <a:txBody>
                    <a:bodyPr/>
                    <a:lstStyle/>
                    <a:p>
                      <a:pPr algn="ctr"/>
                      <a:r>
                        <a:rPr sz="750" b="0">
                          <a:solidFill>
                            <a:srgbClr val="202020"/>
                          </a:solidFill>
                        </a:rPr>
                        <a:t>0.728</a:t>
                      </a:r>
                    </a:p>
                  </a:txBody>
                  <a:tcPr>
                    <a:solidFill>
                      <a:srgbClr val="FFFFFF"/>
                    </a:solidFill>
                  </a:tcPr>
                </a:tc>
                <a:tc>
                  <a:txBody>
                    <a:bodyPr/>
                    <a:lstStyle/>
                    <a:p>
                      <a:pPr algn="ctr"/>
                      <a:r>
                        <a:rPr sz="750" b="0">
                          <a:solidFill>
                            <a:srgbClr val="202020"/>
                          </a:solidFill>
                        </a:rPr>
                        <a:t>0.729</a:t>
                      </a:r>
                    </a:p>
                  </a:txBody>
                  <a:tcPr>
                    <a:solidFill>
                      <a:srgbClr val="FFFFFF"/>
                    </a:solidFill>
                  </a:tcPr>
                </a:tc>
                <a:tc>
                  <a:txBody>
                    <a:bodyPr/>
                    <a:lstStyle/>
                    <a:p>
                      <a:pPr algn="ctr"/>
                      <a:r>
                        <a:rPr sz="750" b="0">
                          <a:solidFill>
                            <a:srgbClr val="202020"/>
                          </a:solidFill>
                        </a:rPr>
                        <a:t>0.728</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0.827</a:t>
                      </a:r>
                    </a:p>
                  </a:txBody>
                  <a:tcPr>
                    <a:solidFill>
                      <a:srgbClr val="FFFFFF"/>
                    </a:solidFill>
                  </a:tcPr>
                </a:tc>
                <a:tc>
                  <a:txBody>
                    <a:bodyPr/>
                    <a:lstStyle/>
                    <a:p>
                      <a:pPr algn="ctr"/>
                      <a:r>
                        <a:rPr sz="750" b="0">
                          <a:solidFill>
                            <a:srgbClr val="202020"/>
                          </a:solidFill>
                        </a:rPr>
                        <a:t>0.845</a:t>
                      </a:r>
                    </a:p>
                  </a:txBody>
                  <a:tcPr>
                    <a:solidFill>
                      <a:srgbClr val="FFFFFF"/>
                    </a:solidFill>
                  </a:tcPr>
                </a:tc>
                <a:tc>
                  <a:txBody>
                    <a:bodyPr/>
                    <a:lstStyle/>
                    <a:p>
                      <a:pPr algn="ctr"/>
                      <a:r>
                        <a:rPr sz="750" b="0">
                          <a:solidFill>
                            <a:srgbClr val="202020"/>
                          </a:solidFill>
                        </a:rPr>
                        <a:t>0.846</a:t>
                      </a:r>
                    </a:p>
                  </a:txBody>
                  <a:tcPr>
                    <a:solidFill>
                      <a:srgbClr val="FFFFFF"/>
                    </a:solidFill>
                  </a:tcPr>
                </a:tc>
                <a:tc>
                  <a:txBody>
                    <a:bodyPr/>
                    <a:lstStyle/>
                    <a:p>
                      <a:pPr algn="ctr"/>
                      <a:r>
                        <a:rPr sz="750" b="0">
                          <a:solidFill>
                            <a:srgbClr val="202020"/>
                          </a:solidFill>
                        </a:rPr>
                        <a:t>0.845</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0.836</a:t>
                      </a:r>
                    </a:p>
                  </a:txBody>
                  <a:tcPr>
                    <a:solidFill>
                      <a:srgbClr val="E6F4EA"/>
                    </a:solidFill>
                  </a:tcPr>
                </a:tc>
                <a:tc>
                  <a:txBody>
                    <a:bodyPr/>
                    <a:lstStyle/>
                    <a:p>
                      <a:pPr algn="ctr"/>
                      <a:r>
                        <a:rPr sz="750" b="0">
                          <a:solidFill>
                            <a:srgbClr val="202020"/>
                          </a:solidFill>
                        </a:rPr>
                        <a:t>0.853</a:t>
                      </a:r>
                    </a:p>
                  </a:txBody>
                  <a:tcPr>
                    <a:solidFill>
                      <a:srgbClr val="E6F4EA"/>
                    </a:solidFill>
                  </a:tcPr>
                </a:tc>
                <a:tc>
                  <a:txBody>
                    <a:bodyPr/>
                    <a:lstStyle/>
                    <a:p>
                      <a:pPr algn="ctr"/>
                      <a:r>
                        <a:rPr sz="750" b="0">
                          <a:solidFill>
                            <a:srgbClr val="202020"/>
                          </a:solidFill>
                        </a:rPr>
                        <a:t>0.855</a:t>
                      </a:r>
                    </a:p>
                  </a:txBody>
                  <a:tcPr>
                    <a:solidFill>
                      <a:srgbClr val="E6F4EA"/>
                    </a:solidFill>
                  </a:tcPr>
                </a:tc>
                <a:tc>
                  <a:txBody>
                    <a:bodyPr/>
                    <a:lstStyle/>
                    <a:p>
                      <a:pPr algn="ctr"/>
                      <a:r>
                        <a:rPr sz="750" b="0">
                          <a:solidFill>
                            <a:srgbClr val="202020"/>
                          </a:solidFill>
                        </a:rPr>
                        <a:t>0.853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0.842</a:t>
                      </a:r>
                    </a:p>
                  </a:txBody>
                  <a:tcPr>
                    <a:solidFill>
                      <a:srgbClr val="FFFFFF"/>
                    </a:solidFill>
                  </a:tcPr>
                </a:tc>
                <a:tc>
                  <a:txBody>
                    <a:bodyPr/>
                    <a:lstStyle/>
                    <a:p>
                      <a:pPr algn="ctr"/>
                      <a:r>
                        <a:rPr sz="750" b="0">
                          <a:solidFill>
                            <a:srgbClr val="202020"/>
                          </a:solidFill>
                        </a:rPr>
                        <a:t>0.841</a:t>
                      </a:r>
                    </a:p>
                  </a:txBody>
                  <a:tcPr>
                    <a:solidFill>
                      <a:srgbClr val="FFFFFF"/>
                    </a:solidFill>
                  </a:tcPr>
                </a:tc>
                <a:tc>
                  <a:txBody>
                    <a:bodyPr/>
                    <a:lstStyle/>
                    <a:p>
                      <a:pPr algn="ctr"/>
                      <a:r>
                        <a:rPr sz="750" b="0">
                          <a:solidFill>
                            <a:srgbClr val="202020"/>
                          </a:solidFill>
                        </a:rPr>
                        <a:t>0.842</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0.832</a:t>
                      </a:r>
                    </a:p>
                  </a:txBody>
                  <a:tcPr>
                    <a:solidFill>
                      <a:srgbClr val="E8F0FE"/>
                    </a:solidFill>
                  </a:tcPr>
                </a:tc>
                <a:tc>
                  <a:txBody>
                    <a:bodyPr/>
                    <a:lstStyle/>
                    <a:p>
                      <a:pPr algn="ctr"/>
                      <a:r>
                        <a:rPr sz="750" b="0">
                          <a:solidFill>
                            <a:srgbClr val="202020"/>
                          </a:solidFill>
                        </a:rPr>
                        <a:t>0.849</a:t>
                      </a:r>
                    </a:p>
                  </a:txBody>
                  <a:tcPr>
                    <a:solidFill>
                      <a:srgbClr val="E8F0FE"/>
                    </a:solidFill>
                  </a:tcPr>
                </a:tc>
                <a:tc>
                  <a:txBody>
                    <a:bodyPr/>
                    <a:lstStyle/>
                    <a:p>
                      <a:pPr algn="ctr"/>
                      <a:r>
                        <a:rPr sz="750" b="0">
                          <a:solidFill>
                            <a:srgbClr val="202020"/>
                          </a:solidFill>
                        </a:rPr>
                        <a:t>0.850</a:t>
                      </a:r>
                    </a:p>
                  </a:txBody>
                  <a:tcPr>
                    <a:solidFill>
                      <a:srgbClr val="E8F0FE"/>
                    </a:solidFill>
                  </a:tcPr>
                </a:tc>
                <a:tc>
                  <a:txBody>
                    <a:bodyPr/>
                    <a:lstStyle/>
                    <a:p>
                      <a:pPr algn="ctr"/>
                      <a:r>
                        <a:rPr sz="750" b="0">
                          <a:solidFill>
                            <a:srgbClr val="202020"/>
                          </a:solidFill>
                        </a:rPr>
                        <a:t>0.849</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0.792</a:t>
                      </a:r>
                    </a:p>
                  </a:txBody>
                  <a:tcPr>
                    <a:solidFill>
                      <a:srgbClr val="E8F0FE"/>
                    </a:solidFill>
                  </a:tcPr>
                </a:tc>
                <a:tc>
                  <a:txBody>
                    <a:bodyPr/>
                    <a:lstStyle/>
                    <a:p>
                      <a:pPr algn="ctr"/>
                      <a:r>
                        <a:rPr sz="750" b="0">
                          <a:solidFill>
                            <a:srgbClr val="202020"/>
                          </a:solidFill>
                        </a:rPr>
                        <a:t>0.818</a:t>
                      </a:r>
                    </a:p>
                  </a:txBody>
                  <a:tcPr>
                    <a:solidFill>
                      <a:srgbClr val="E8F0FE"/>
                    </a:solidFill>
                  </a:tcPr>
                </a:tc>
                <a:tc>
                  <a:txBody>
                    <a:bodyPr/>
                    <a:lstStyle/>
                    <a:p>
                      <a:pPr algn="ctr"/>
                      <a:r>
                        <a:rPr sz="750" b="0">
                          <a:solidFill>
                            <a:srgbClr val="202020"/>
                          </a:solidFill>
                        </a:rPr>
                        <a:t>0.819</a:t>
                      </a:r>
                    </a:p>
                  </a:txBody>
                  <a:tcPr>
                    <a:solidFill>
                      <a:srgbClr val="E8F0FE"/>
                    </a:solidFill>
                  </a:tcPr>
                </a:tc>
                <a:tc>
                  <a:txBody>
                    <a:bodyPr/>
                    <a:lstStyle/>
                    <a:p>
                      <a:pPr algn="ctr"/>
                      <a:r>
                        <a:rPr sz="750" b="0">
                          <a:solidFill>
                            <a:srgbClr val="202020"/>
                          </a:solidFill>
                        </a:rPr>
                        <a:t>0.818</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c>
                  <a:txBody>
                    <a:bodyPr/>
                    <a:lstStyle/>
                    <a:p>
                      <a:pPr algn="ctr"/>
                      <a:r>
                        <a:rPr sz="750" b="0">
                          <a:solidFill>
                            <a:srgbClr val="202020"/>
                          </a:solidFill>
                        </a:rPr>
                        <a:t>0.823</a:t>
                      </a:r>
                    </a:p>
                  </a:txBody>
                  <a:tcPr>
                    <a:solidFill>
                      <a:srgbClr val="E8F0FE"/>
                    </a:solidFill>
                  </a:tcPr>
                </a:tc>
              </a:tr>
            </a:tbl>
          </a:graphicData>
        </a:graphic>
      </p:graphicFrame>
      <p:sp>
        <p:nvSpPr>
          <p:cNvPr id="8" name="TextBox 7"/>
          <p:cNvSpPr txBox="1"/>
          <p:nvPr/>
        </p:nvSpPr>
        <p:spPr>
          <a:xfrm>
            <a:off x="274320" y="3145536"/>
            <a:ext cx="4206240" cy="201168"/>
          </a:xfrm>
          <a:prstGeom prst="rect">
            <a:avLst/>
          </a:prstGeom>
          <a:noFill/>
        </p:spPr>
        <p:txBody>
          <a:bodyPr wrap="none">
            <a:spAutoFit/>
          </a:bodyPr>
          <a:lstStyle/>
          <a:p>
            <a:pPr algn="l"/>
            <a:r>
              <a:rPr sz="950" b="1" i="0">
                <a:solidFill>
                  <a:srgbClr val="1A73E8"/>
                </a:solidFill>
              </a:rPr>
              <a:t>KDEF 7-Class</a:t>
            </a:r>
          </a:p>
        </p:txBody>
      </p:sp>
      <p:graphicFrame>
        <p:nvGraphicFramePr>
          <p:cNvPr id="9" name="Table 8"/>
          <p:cNvGraphicFramePr>
            <a:graphicFrameLocks noGrp="1"/>
          </p:cNvGraphicFramePr>
          <p:nvPr/>
        </p:nvGraphicFramePr>
        <p:xfrm>
          <a:off x="2743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c>
                  <a:txBody>
                    <a:bodyPr/>
                    <a:lstStyle/>
                    <a:p>
                      <a:pPr algn="ctr"/>
                      <a:r>
                        <a:rPr sz="750" b="0">
                          <a:solidFill>
                            <a:srgbClr val="202020"/>
                          </a:solidFill>
                        </a:rPr>
                        <a:t>0.798</a:t>
                      </a:r>
                    </a:p>
                  </a:txBody>
                  <a:tcPr>
                    <a:solidFill>
                      <a:srgbClr val="E8F0FE"/>
                    </a:solidFill>
                  </a:tcPr>
                </a:tc>
                <a:tc>
                  <a:txBody>
                    <a:bodyPr/>
                    <a:lstStyle/>
                    <a:p>
                      <a:pPr algn="ctr"/>
                      <a:r>
                        <a:rPr sz="750" b="0">
                          <a:solidFill>
                            <a:srgbClr val="202020"/>
                          </a:solidFill>
                        </a:rPr>
                        <a:t>0.801</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0.666</a:t>
                      </a:r>
                    </a:p>
                  </a:txBody>
                  <a:tcPr>
                    <a:solidFill>
                      <a:srgbClr val="FFFFFF"/>
                    </a:solidFill>
                  </a:tcPr>
                </a:tc>
                <a:tc>
                  <a:txBody>
                    <a:bodyPr/>
                    <a:lstStyle/>
                    <a:p>
                      <a:pPr algn="ctr"/>
                      <a:r>
                        <a:rPr sz="750" b="0">
                          <a:solidFill>
                            <a:srgbClr val="202020"/>
                          </a:solidFill>
                        </a:rPr>
                        <a:t>0.680</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0.680</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0.671</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0.668</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c>
                  <a:txBody>
                    <a:bodyPr/>
                    <a:lstStyle/>
                    <a:p>
                      <a:pPr algn="ctr"/>
                      <a:r>
                        <a:rPr sz="750" b="0">
                          <a:solidFill>
                            <a:srgbClr val="202020"/>
                          </a:solidFill>
                        </a:rPr>
                        <a:t>0.833</a:t>
                      </a:r>
                    </a:p>
                  </a:txBody>
                  <a:tcPr>
                    <a:solidFill>
                      <a:srgbClr val="FFFFFF"/>
                    </a:solidFill>
                  </a:tcPr>
                </a:tc>
                <a:tc>
                  <a:txBody>
                    <a:bodyPr/>
                    <a:lstStyle/>
                    <a:p>
                      <a:pPr algn="ctr"/>
                      <a:r>
                        <a:rPr sz="750" b="0">
                          <a:solidFill>
                            <a:srgbClr val="202020"/>
                          </a:solidFill>
                        </a:rPr>
                        <a:t>0.831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c>
                  <a:txBody>
                    <a:bodyPr/>
                    <a:lstStyle/>
                    <a:p>
                      <a:pPr algn="ctr"/>
                      <a:r>
                        <a:rPr sz="750" b="0">
                          <a:solidFill>
                            <a:srgbClr val="202020"/>
                          </a:solidFill>
                        </a:rPr>
                        <a:t>0.843</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0.776</a:t>
                      </a:r>
                    </a:p>
                  </a:txBody>
                  <a:tcPr>
                    <a:solidFill>
                      <a:srgbClr val="FFFFFF"/>
                    </a:solidFill>
                  </a:tcPr>
                </a:tc>
                <a:tc>
                  <a:txBody>
                    <a:bodyPr/>
                    <a:lstStyle/>
                    <a:p>
                      <a:pPr algn="ctr"/>
                      <a:r>
                        <a:rPr sz="750" b="0">
                          <a:solidFill>
                            <a:srgbClr val="202020"/>
                          </a:solidFill>
                        </a:rPr>
                        <a:t>0.777</a:t>
                      </a:r>
                    </a:p>
                  </a:txBody>
                  <a:tcPr>
                    <a:solidFill>
                      <a:srgbClr val="FFFFFF"/>
                    </a:solidFill>
                  </a:tcPr>
                </a:tc>
                <a:tc>
                  <a:txBody>
                    <a:bodyPr/>
                    <a:lstStyle/>
                    <a:p>
                      <a:pPr algn="ctr"/>
                      <a:r>
                        <a:rPr sz="750" b="0">
                          <a:solidFill>
                            <a:srgbClr val="202020"/>
                          </a:solidFill>
                        </a:rPr>
                        <a:t>0.775</a:t>
                      </a:r>
                    </a:p>
                  </a:txBody>
                  <a:tcPr>
                    <a:solidFill>
                      <a:srgbClr val="FFFFFF"/>
                    </a:solidFill>
                  </a:tcPr>
                </a:tc>
                <a:tc>
                  <a:txBody>
                    <a:bodyPr/>
                    <a:lstStyle/>
                    <a:p>
                      <a:pPr algn="ctr"/>
                      <a:r>
                        <a:rPr sz="750" b="0">
                          <a:solidFill>
                            <a:srgbClr val="202020"/>
                          </a:solidFill>
                        </a:rPr>
                        <a:t>0.777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c>
                  <a:txBody>
                    <a:bodyPr/>
                    <a:lstStyle/>
                    <a:p>
                      <a:pPr algn="ctr"/>
                      <a:r>
                        <a:rPr sz="750" b="0">
                          <a:solidFill>
                            <a:srgbClr val="202020"/>
                          </a:solidFill>
                        </a:rPr>
                        <a:t>0.836</a:t>
                      </a:r>
                    </a:p>
                  </a:txBody>
                  <a:tcPr>
                    <a:solidFill>
                      <a:srgbClr val="E8F0FE"/>
                    </a:solidFill>
                  </a:tcPr>
                </a:tc>
                <a:tc>
                  <a:txBody>
                    <a:bodyPr/>
                    <a:lstStyle/>
                    <a:p>
                      <a:pPr algn="ctr"/>
                      <a:r>
                        <a:rPr sz="750" b="0">
                          <a:solidFill>
                            <a:srgbClr val="202020"/>
                          </a:solidFill>
                        </a:rPr>
                        <a:t>0.834</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0.667</a:t>
                      </a:r>
                    </a:p>
                  </a:txBody>
                  <a:tcPr>
                    <a:solidFill>
                      <a:srgbClr val="E8F0FE"/>
                    </a:solidFill>
                  </a:tcPr>
                </a:tc>
                <a:tc>
                  <a:txBody>
                    <a:bodyPr/>
                    <a:lstStyle/>
                    <a:p>
                      <a:pPr algn="ctr"/>
                      <a:r>
                        <a:rPr sz="750" b="0">
                          <a:solidFill>
                            <a:srgbClr val="202020"/>
                          </a:solidFill>
                        </a:rPr>
                        <a:t>0.674</a:t>
                      </a:r>
                    </a:p>
                  </a:txBody>
                  <a:tcPr>
                    <a:solidFill>
                      <a:srgbClr val="E8F0FE"/>
                    </a:solidFill>
                  </a:tcPr>
                </a:tc>
                <a:tc>
                  <a:txBody>
                    <a:bodyPr/>
                    <a:lstStyle/>
                    <a:p>
                      <a:pPr algn="ctr"/>
                      <a:r>
                        <a:rPr sz="750" b="0">
                          <a:solidFill>
                            <a:srgbClr val="202020"/>
                          </a:solidFill>
                        </a:rPr>
                        <a:t>0.663</a:t>
                      </a:r>
                    </a:p>
                  </a:txBody>
                  <a:tcPr>
                    <a:solidFill>
                      <a:srgbClr val="E8F0FE"/>
                    </a:solidFill>
                  </a:tcPr>
                </a:tc>
                <a:tc>
                  <a:txBody>
                    <a:bodyPr/>
                    <a:lstStyle/>
                    <a:p>
                      <a:pPr algn="ctr"/>
                      <a:r>
                        <a:rPr sz="750" b="0">
                          <a:solidFill>
                            <a:srgbClr val="202020"/>
                          </a:solidFill>
                        </a:rPr>
                        <a:t>0.674</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0.797</a:t>
                      </a:r>
                    </a:p>
                  </a:txBody>
                  <a:tcPr>
                    <a:solidFill>
                      <a:srgbClr val="E8F0FE"/>
                    </a:solidFill>
                  </a:tcPr>
                </a:tc>
                <a:tc>
                  <a:txBody>
                    <a:bodyPr/>
                    <a:lstStyle/>
                    <a:p>
                      <a:pPr algn="ctr"/>
                      <a:r>
                        <a:rPr sz="750" b="0">
                          <a:solidFill>
                            <a:srgbClr val="202020"/>
                          </a:solidFill>
                        </a:rPr>
                        <a:t>0.795</a:t>
                      </a:r>
                    </a:p>
                  </a:txBody>
                  <a:tcPr>
                    <a:solidFill>
                      <a:srgbClr val="E8F0FE"/>
                    </a:solidFill>
                  </a:tcPr>
                </a:tc>
              </a:tr>
            </a:tbl>
          </a:graphicData>
        </a:graphic>
      </p:graphicFrame>
      <p:sp>
        <p:nvSpPr>
          <p:cNvPr id="10" name="TextBox 9"/>
          <p:cNvSpPr txBox="1"/>
          <p:nvPr/>
        </p:nvSpPr>
        <p:spPr>
          <a:xfrm>
            <a:off x="4617720" y="3145536"/>
            <a:ext cx="4206240" cy="201168"/>
          </a:xfrm>
          <a:prstGeom prst="rect">
            <a:avLst/>
          </a:prstGeom>
          <a:noFill/>
        </p:spPr>
        <p:txBody>
          <a:bodyPr wrap="none">
            <a:spAutoFit/>
          </a:bodyPr>
          <a:lstStyle/>
          <a:p>
            <a:pPr algn="l"/>
            <a:r>
              <a:rPr sz="950" b="1" i="0">
                <a:solidFill>
                  <a:srgbClr val="1A73E8"/>
                </a:solidFill>
              </a:rPr>
              <a:t>KDEF 4-Class</a:t>
            </a:r>
          </a:p>
        </p:txBody>
      </p:sp>
      <p:graphicFrame>
        <p:nvGraphicFramePr>
          <p:cNvPr id="11" name="Table 10"/>
          <p:cNvGraphicFramePr>
            <a:graphicFrameLocks noGrp="1"/>
          </p:cNvGraphicFramePr>
          <p:nvPr/>
        </p:nvGraphicFramePr>
        <p:xfrm>
          <a:off x="4617720" y="3364992"/>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0.841</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c>
                  <a:txBody>
                    <a:bodyPr/>
                    <a:lstStyle/>
                    <a:p>
                      <a:pPr algn="ctr"/>
                      <a:r>
                        <a:rPr sz="750" b="0">
                          <a:solidFill>
                            <a:srgbClr val="202020"/>
                          </a:solidFill>
                        </a:rPr>
                        <a:t>0.872</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0.678</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0.776</a:t>
                      </a:r>
                    </a:p>
                  </a:txBody>
                  <a:tcPr>
                    <a:solidFill>
                      <a:srgbClr val="E8F0FE"/>
                    </a:solidFill>
                  </a:tcPr>
                </a:tc>
                <a:tc>
                  <a:txBody>
                    <a:bodyPr/>
                    <a:lstStyle/>
                    <a:p>
                      <a:pPr algn="ctr"/>
                      <a:r>
                        <a:rPr sz="750" b="0">
                          <a:solidFill>
                            <a:srgbClr val="202020"/>
                          </a:solidFill>
                        </a:rPr>
                        <a:t>0.831</a:t>
                      </a:r>
                    </a:p>
                  </a:txBody>
                  <a:tcPr>
                    <a:solidFill>
                      <a:srgbClr val="E8F0FE"/>
                    </a:solidFill>
                  </a:tcPr>
                </a:tc>
                <a:tc>
                  <a:txBody>
                    <a:bodyPr/>
                    <a:lstStyle/>
                    <a:p>
                      <a:pPr algn="ctr"/>
                      <a:r>
                        <a:rPr sz="750" b="0">
                          <a:solidFill>
                            <a:srgbClr val="202020"/>
                          </a:solidFill>
                        </a:rPr>
                        <a:t>0.828</a:t>
                      </a:r>
                    </a:p>
                  </a:txBody>
                  <a:tcPr>
                    <a:solidFill>
                      <a:srgbClr val="E8F0FE"/>
                    </a:solidFill>
                  </a:tcPr>
                </a:tc>
                <a:tc>
                  <a:txBody>
                    <a:bodyPr/>
                    <a:lstStyle/>
                    <a:p>
                      <a:pPr algn="ctr"/>
                      <a:r>
                        <a:rPr sz="750" b="0">
                          <a:solidFill>
                            <a:srgbClr val="202020"/>
                          </a:solidFill>
                        </a:rPr>
                        <a:t>0.831</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0.918</a:t>
                      </a:r>
                    </a:p>
                  </a:txBody>
                  <a:tcPr>
                    <a:solidFill>
                      <a:srgbClr val="FFFFFF"/>
                    </a:solidFill>
                  </a:tcPr>
                </a:tc>
                <a:tc>
                  <a:txBody>
                    <a:bodyPr/>
                    <a:lstStyle/>
                    <a:p>
                      <a:pPr algn="ctr"/>
                      <a:r>
                        <a:rPr sz="750" b="0">
                          <a:solidFill>
                            <a:srgbClr val="202020"/>
                          </a:solidFill>
                        </a:rPr>
                        <a:t>0.929</a:t>
                      </a:r>
                    </a:p>
                  </a:txBody>
                  <a:tcPr>
                    <a:solidFill>
                      <a:srgbClr val="FFFFFF"/>
                    </a:solidFill>
                  </a:tcPr>
                </a:tc>
                <a:tc>
                  <a:txBody>
                    <a:bodyPr/>
                    <a:lstStyle/>
                    <a:p>
                      <a:pPr algn="ctr"/>
                      <a:r>
                        <a:rPr sz="750" b="0">
                          <a:solidFill>
                            <a:srgbClr val="202020"/>
                          </a:solidFill>
                        </a:rPr>
                        <a:t>0.928</a:t>
                      </a:r>
                    </a:p>
                  </a:txBody>
                  <a:tcPr>
                    <a:solidFill>
                      <a:srgbClr val="FFFFFF"/>
                    </a:solidFill>
                  </a:tcPr>
                </a:tc>
                <a:tc>
                  <a:txBody>
                    <a:bodyPr/>
                    <a:lstStyle/>
                    <a:p>
                      <a:pPr algn="ctr"/>
                      <a:r>
                        <a:rPr sz="750" b="0">
                          <a:solidFill>
                            <a:srgbClr val="202020"/>
                          </a:solidFill>
                        </a:rPr>
                        <a:t>0.929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0.923</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c>
                  <a:txBody>
                    <a:bodyPr/>
                    <a:lstStyle/>
                    <a:p>
                      <a:pPr algn="ctr"/>
                      <a:r>
                        <a:rPr sz="750" b="0">
                          <a:solidFill>
                            <a:srgbClr val="202020"/>
                          </a:solidFill>
                        </a:rPr>
                        <a:t>0.929</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0.859</a:t>
                      </a:r>
                    </a:p>
                  </a:txBody>
                  <a:tcPr>
                    <a:solidFill>
                      <a:srgbClr val="FFFFFF"/>
                    </a:solidFill>
                  </a:tcPr>
                </a:tc>
                <a:tc>
                  <a:txBody>
                    <a:bodyPr/>
                    <a:lstStyle/>
                    <a:p>
                      <a:pPr algn="ctr"/>
                      <a:r>
                        <a:rPr sz="750" b="0">
                          <a:solidFill>
                            <a:srgbClr val="202020"/>
                          </a:solidFill>
                        </a:rPr>
                        <a:t>0.890</a:t>
                      </a:r>
                    </a:p>
                  </a:txBody>
                  <a:tcPr>
                    <a:solidFill>
                      <a:srgbClr val="FFFFFF"/>
                    </a:solidFill>
                  </a:tcPr>
                </a:tc>
                <a:tc>
                  <a:txBody>
                    <a:bodyPr/>
                    <a:lstStyle/>
                    <a:p>
                      <a:pPr algn="ctr"/>
                      <a:r>
                        <a:rPr sz="750" b="0">
                          <a:solidFill>
                            <a:srgbClr val="202020"/>
                          </a:solidFill>
                        </a:rPr>
                        <a:t>0.888</a:t>
                      </a:r>
                    </a:p>
                  </a:txBody>
                  <a:tcPr>
                    <a:solidFill>
                      <a:srgbClr val="FFFFFF"/>
                    </a:solidFill>
                  </a:tcPr>
                </a:tc>
                <a:tc>
                  <a:txBody>
                    <a:bodyPr/>
                    <a:lstStyle/>
                    <a:p>
                      <a:pPr algn="ctr"/>
                      <a:r>
                        <a:rPr sz="750" b="0">
                          <a:solidFill>
                            <a:srgbClr val="202020"/>
                          </a:solidFill>
                        </a:rPr>
                        <a:t>0.890</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0.920</a:t>
                      </a:r>
                    </a:p>
                  </a:txBody>
                  <a:tcPr>
                    <a:solidFill>
                      <a:srgbClr val="E8F0FE"/>
                    </a:solidFill>
                  </a:tcPr>
                </a:tc>
                <a:tc>
                  <a:txBody>
                    <a:bodyPr/>
                    <a:lstStyle/>
                    <a:p>
                      <a:pPr algn="ctr"/>
                      <a:r>
                        <a:rPr sz="750" b="0">
                          <a:solidFill>
                            <a:srgbClr val="202020"/>
                          </a:solidFill>
                        </a:rPr>
                        <a:t>0.932</a:t>
                      </a:r>
                    </a:p>
                  </a:txBody>
                  <a:tcPr>
                    <a:solidFill>
                      <a:srgbClr val="E8F0FE"/>
                    </a:solidFill>
                  </a:tcPr>
                </a:tc>
                <a:tc>
                  <a:txBody>
                    <a:bodyPr/>
                    <a:lstStyle/>
                    <a:p>
                      <a:pPr algn="ctr"/>
                      <a:r>
                        <a:rPr sz="750" b="0">
                          <a:solidFill>
                            <a:srgbClr val="202020"/>
                          </a:solidFill>
                        </a:rPr>
                        <a:t>0.930</a:t>
                      </a:r>
                    </a:p>
                  </a:txBody>
                  <a:tcPr>
                    <a:solidFill>
                      <a:srgbClr val="E8F0FE"/>
                    </a:solidFill>
                  </a:tcPr>
                </a:tc>
                <a:tc>
                  <a:txBody>
                    <a:bodyPr/>
                    <a:lstStyle/>
                    <a:p>
                      <a:pPr algn="ctr"/>
                      <a:r>
                        <a:rPr sz="750" b="0">
                          <a:solidFill>
                            <a:srgbClr val="202020"/>
                          </a:solidFill>
                        </a:rPr>
                        <a:t>0.932</a:t>
                      </a:r>
                    </a:p>
                  </a:txBody>
                  <a:tcPr>
                    <a:solidFill>
                      <a:srgbClr val="E8F0FE"/>
                    </a:solidFill>
                  </a:tcPr>
                </a:tc>
              </a:tr>
              <a:tr h="285750">
                <a:tc>
                  <a:txBody>
                    <a:bodyPr/>
                    <a:lstStyle/>
                    <a:p>
                      <a:pPr algn="l"/>
                      <a:r>
                        <a:rPr sz="750" b="1">
                          <a:solidFill>
                            <a:srgbClr val="202020"/>
                          </a:solidFill>
                        </a:rPr>
                        <a:t>Early Fusion</a:t>
                      </a:r>
                    </a:p>
                  </a:txBody>
                  <a:tcPr>
                    <a:solidFill>
                      <a:srgbClr val="E8F0FE"/>
                    </a:solidFill>
                  </a:tcPr>
                </a:tc>
                <a:tc>
                  <a:txBody>
                    <a:bodyPr/>
                    <a:lstStyle/>
                    <a:p>
                      <a:pPr algn="ctr"/>
                      <a:r>
                        <a:rPr sz="750" b="0">
                          <a:solidFill>
                            <a:srgbClr val="202020"/>
                          </a:solidFill>
                        </a:rPr>
                        <a:t>0.693</a:t>
                      </a:r>
                    </a:p>
                  </a:txBody>
                  <a:tcPr>
                    <a:solidFill>
                      <a:srgbClr val="E8F0FE"/>
                    </a:solidFill>
                  </a:tcPr>
                </a:tc>
                <a:tc>
                  <a:txBody>
                    <a:bodyPr/>
                    <a:lstStyle/>
                    <a:p>
                      <a:pPr algn="ctr"/>
                      <a:r>
                        <a:rPr sz="750" b="0">
                          <a:solidFill>
                            <a:srgbClr val="202020"/>
                          </a:solidFill>
                        </a:rPr>
                        <a:t>0.763</a:t>
                      </a:r>
                    </a:p>
                  </a:txBody>
                  <a:tcPr>
                    <a:solidFill>
                      <a:srgbClr val="E8F0FE"/>
                    </a:solidFill>
                  </a:tcPr>
                </a:tc>
                <a:tc>
                  <a:txBody>
                    <a:bodyPr/>
                    <a:lstStyle/>
                    <a:p>
                      <a:pPr algn="ctr"/>
                      <a:r>
                        <a:rPr sz="750" b="0">
                          <a:solidFill>
                            <a:srgbClr val="202020"/>
                          </a:solidFill>
                        </a:rPr>
                        <a:t>0.764</a:t>
                      </a:r>
                    </a:p>
                  </a:txBody>
                  <a:tcPr>
                    <a:solidFill>
                      <a:srgbClr val="E8F0FE"/>
                    </a:solidFill>
                  </a:tcPr>
                </a:tc>
                <a:tc>
                  <a:txBody>
                    <a:bodyPr/>
                    <a:lstStyle/>
                    <a:p>
                      <a:pPr algn="ctr"/>
                      <a:r>
                        <a:rPr sz="750" b="0">
                          <a:solidFill>
                            <a:srgbClr val="202020"/>
                          </a:solidFill>
                        </a:rPr>
                        <a:t>0.763</a:t>
                      </a:r>
                    </a:p>
                  </a:txBody>
                  <a:tcPr>
                    <a:solidFill>
                      <a:srgbClr val="E8F0FE"/>
                    </a:solidFill>
                  </a:tcPr>
                </a:tc>
              </a:tr>
              <a:tr h="285750">
                <a:tc>
                  <a:txBody>
                    <a:bodyPr/>
                    <a:lstStyle/>
                    <a:p>
                      <a:pPr algn="l"/>
                      <a:r>
                        <a:rPr sz="750" b="1">
                          <a:solidFill>
                            <a:srgbClr val="202020"/>
                          </a:solidFill>
                        </a:rPr>
                        <a:t>Early Fusion TL</a:t>
                      </a:r>
                    </a:p>
                  </a:txBody>
                  <a:tcPr>
                    <a:solidFill>
                      <a:srgbClr val="E8F0FE"/>
                    </a:solidFill>
                  </a:tcPr>
                </a:tc>
                <a:tc>
                  <a:txBody>
                    <a:bodyPr/>
                    <a:lstStyle/>
                    <a:p>
                      <a:pPr algn="ctr"/>
                      <a:r>
                        <a:rPr sz="750" b="0">
                          <a:solidFill>
                            <a:srgbClr val="202020"/>
                          </a:solidFill>
                        </a:rPr>
                        <a:t>0.816</a:t>
                      </a:r>
                    </a:p>
                  </a:txBody>
                  <a:tcPr>
                    <a:solidFill>
                      <a:srgbClr val="E8F0FE"/>
                    </a:solidFill>
                  </a:tcPr>
                </a:tc>
                <a:tc>
                  <a:txBody>
                    <a:bodyPr/>
                    <a:lstStyle/>
                    <a:p>
                      <a:pPr algn="ctr"/>
                      <a:r>
                        <a:rPr sz="750" b="0">
                          <a:solidFill>
                            <a:srgbClr val="202020"/>
                          </a:solidFill>
                        </a:rPr>
                        <a:t>0.855</a:t>
                      </a:r>
                    </a:p>
                  </a:txBody>
                  <a:tcPr>
                    <a:solidFill>
                      <a:srgbClr val="E8F0FE"/>
                    </a:solidFill>
                  </a:tcPr>
                </a:tc>
                <a:tc>
                  <a:txBody>
                    <a:bodyPr/>
                    <a:lstStyle/>
                    <a:p>
                      <a:pPr algn="ctr"/>
                      <a:r>
                        <a:rPr sz="750" b="0">
                          <a:solidFill>
                            <a:srgbClr val="202020"/>
                          </a:solidFill>
                        </a:rPr>
                        <a:t>0.854</a:t>
                      </a:r>
                    </a:p>
                  </a:txBody>
                  <a:tcPr>
                    <a:solidFill>
                      <a:srgbClr val="E8F0FE"/>
                    </a:solidFill>
                  </a:tcPr>
                </a:tc>
                <a:tc>
                  <a:txBody>
                    <a:bodyPr/>
                    <a:lstStyle/>
                    <a:p>
                      <a:pPr algn="ctr"/>
                      <a:r>
                        <a:rPr sz="750" b="0">
                          <a:solidFill>
                            <a:srgbClr val="202020"/>
                          </a:solidFill>
                        </a:rPr>
                        <a:t>0.855</a:t>
                      </a:r>
                    </a:p>
                  </a:txBody>
                  <a:tcPr>
                    <a:solidFill>
                      <a:srgbClr val="E8F0FE"/>
                    </a:solidFill>
                  </a:tcPr>
                </a:tc>
              </a:tr>
            </a:tbl>
          </a:graphicData>
        </a:graphic>
      </p:graphicFrame>
      <p:sp>
        <p:nvSpPr>
          <p:cNvPr id="12" name="TextBox 11"/>
          <p:cNvSpPr txBox="1"/>
          <p:nvPr/>
        </p:nvSpPr>
        <p:spPr>
          <a:xfrm>
            <a:off x="274320" y="5715000"/>
            <a:ext cx="8595360" cy="365760"/>
          </a:xfrm>
          <a:prstGeom prst="rect">
            <a:avLst/>
          </a:prstGeom>
          <a:solidFill>
            <a:srgbClr val="E6F4EA"/>
          </a:solidFill>
        </p:spPr>
        <p:txBody>
          <a:bodyPr wrap="square">
            <a:spAutoFit/>
          </a:bodyPr>
          <a:lstStyle/>
          <a:p>
            <a:pPr algn="l"/>
            <a:r>
              <a:rPr sz="900" b="1" i="0">
                <a:solidFill>
                  <a:srgbClr val="0F9D58"/>
                </a:solidFill>
              </a:rPr>
              <a:t>Pola konsisten: Intermediate TL unggul di RAF-DB/KDEF 4c. Late Fusion TL kompetitif (selisih &lt;0.01).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1 Lengkap — Primer (+ Summary)</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Primer 7-Class (conf60, B1 baseline)</a:t>
            </a:r>
          </a:p>
        </p:txBody>
      </p:sp>
      <p:graphicFrame>
        <p:nvGraphicFramePr>
          <p:cNvPr id="5" name="Table 4"/>
          <p:cNvGraphicFramePr>
            <a:graphicFrameLocks noGrp="1"/>
          </p:cNvGraphicFramePr>
          <p:nvPr/>
        </p:nvGraphicFramePr>
        <p:xfrm>
          <a:off x="2743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0.270</a:t>
                      </a:r>
                    </a:p>
                  </a:txBody>
                  <a:tcPr>
                    <a:solidFill>
                      <a:srgbClr val="E8F0FE"/>
                    </a:solidFill>
                  </a:tcPr>
                </a:tc>
                <a:tc>
                  <a:txBody>
                    <a:bodyPr/>
                    <a:lstStyle/>
                    <a:p>
                      <a:pPr algn="ctr"/>
                      <a:r>
                        <a:rPr sz="750" b="0">
                          <a:solidFill>
                            <a:srgbClr val="202020"/>
                          </a:solidFill>
                        </a:rPr>
                        <a:t>0.787</a:t>
                      </a:r>
                    </a:p>
                  </a:txBody>
                  <a:tcPr>
                    <a:solidFill>
                      <a:srgbClr val="E8F0FE"/>
                    </a:solidFill>
                  </a:tcPr>
                </a:tc>
                <a:tc>
                  <a:txBody>
                    <a:bodyPr/>
                    <a:lstStyle/>
                    <a:p>
                      <a:pPr algn="ctr"/>
                      <a:r>
                        <a:rPr sz="750" b="0">
                          <a:solidFill>
                            <a:srgbClr val="202020"/>
                          </a:solidFill>
                        </a:rPr>
                        <a:t>0.795</a:t>
                      </a:r>
                    </a:p>
                  </a:txBody>
                  <a:tcPr>
                    <a:solidFill>
                      <a:srgbClr val="E8F0FE"/>
                    </a:solidFill>
                  </a:tcPr>
                </a:tc>
                <a:tc>
                  <a:txBody>
                    <a:bodyPr/>
                    <a:lstStyle/>
                    <a:p>
                      <a:pPr algn="ctr"/>
                      <a:r>
                        <a:rPr sz="750" b="0">
                          <a:solidFill>
                            <a:srgbClr val="202020"/>
                          </a:solidFill>
                        </a:rPr>
                        <a:t>0.787</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0.261</a:t>
                      </a:r>
                    </a:p>
                  </a:txBody>
                  <a:tcPr>
                    <a:solidFill>
                      <a:srgbClr val="FFFFFF"/>
                    </a:solidFill>
                  </a:tcPr>
                </a:tc>
                <a:tc>
                  <a:txBody>
                    <a:bodyPr/>
                    <a:lstStyle/>
                    <a:p>
                      <a:pPr algn="ctr"/>
                      <a:r>
                        <a:rPr sz="750" b="0">
                          <a:solidFill>
                            <a:srgbClr val="202020"/>
                          </a:solidFill>
                        </a:rPr>
                        <a:t>0.766</a:t>
                      </a:r>
                    </a:p>
                  </a:txBody>
                  <a:tcPr>
                    <a:solidFill>
                      <a:srgbClr val="FFFFFF"/>
                    </a:solidFill>
                  </a:tcPr>
                </a:tc>
                <a:tc>
                  <a:txBody>
                    <a:bodyPr/>
                    <a:lstStyle/>
                    <a:p>
                      <a:pPr algn="ctr"/>
                      <a:r>
                        <a:rPr sz="750" b="0">
                          <a:solidFill>
                            <a:srgbClr val="202020"/>
                          </a:solidFill>
                        </a:rPr>
                        <a:t>0.792</a:t>
                      </a:r>
                    </a:p>
                  </a:txBody>
                  <a:tcPr>
                    <a:solidFill>
                      <a:srgbClr val="FFFFFF"/>
                    </a:solidFill>
                  </a:tcPr>
                </a:tc>
                <a:tc>
                  <a:txBody>
                    <a:bodyPr/>
                    <a:lstStyle/>
                    <a:p>
                      <a:pPr algn="ctr"/>
                      <a:r>
                        <a:rPr sz="750" b="0">
                          <a:solidFill>
                            <a:srgbClr val="202020"/>
                          </a:solidFill>
                        </a:rPr>
                        <a:t>0.766</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0.260</a:t>
                      </a:r>
                    </a:p>
                  </a:txBody>
                  <a:tcPr>
                    <a:solidFill>
                      <a:srgbClr val="E8F0FE"/>
                    </a:solidFill>
                  </a:tcPr>
                </a:tc>
                <a:tc>
                  <a:txBody>
                    <a:bodyPr/>
                    <a:lstStyle/>
                    <a:p>
                      <a:pPr algn="ctr"/>
                      <a:r>
                        <a:rPr sz="750" b="0">
                          <a:solidFill>
                            <a:srgbClr val="202020"/>
                          </a:solidFill>
                        </a:rPr>
                        <a:t>0.799</a:t>
                      </a:r>
                    </a:p>
                  </a:txBody>
                  <a:tcPr>
                    <a:solidFill>
                      <a:srgbClr val="E8F0FE"/>
                    </a:solidFill>
                  </a:tcPr>
                </a:tc>
                <a:tc>
                  <a:txBody>
                    <a:bodyPr/>
                    <a:lstStyle/>
                    <a:p>
                      <a:pPr algn="ctr"/>
                      <a:r>
                        <a:rPr sz="750" b="0">
                          <a:solidFill>
                            <a:srgbClr val="202020"/>
                          </a:solidFill>
                        </a:rPr>
                        <a:t>0.793</a:t>
                      </a:r>
                    </a:p>
                  </a:txBody>
                  <a:tcPr>
                    <a:solidFill>
                      <a:srgbClr val="E8F0FE"/>
                    </a:solidFill>
                  </a:tcPr>
                </a:tc>
                <a:tc>
                  <a:txBody>
                    <a:bodyPr/>
                    <a:lstStyle/>
                    <a:p>
                      <a:pPr algn="ctr"/>
                      <a:r>
                        <a:rPr sz="750" b="0">
                          <a:solidFill>
                            <a:srgbClr val="202020"/>
                          </a:solidFill>
                        </a:rPr>
                        <a:t>0.799</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0.819</a:t>
                      </a:r>
                    </a:p>
                  </a:txBody>
                  <a:tcPr>
                    <a:solidFill>
                      <a:srgbClr val="FFFFFF"/>
                    </a:solidFill>
                  </a:tcPr>
                </a:tc>
                <a:tc>
                  <a:txBody>
                    <a:bodyPr/>
                    <a:lstStyle/>
                    <a:p>
                      <a:pPr algn="ctr"/>
                      <a:r>
                        <a:rPr sz="750" b="0">
                          <a:solidFill>
                            <a:srgbClr val="202020"/>
                          </a:solidFill>
                        </a:rPr>
                        <a:t>0.814</a:t>
                      </a:r>
                    </a:p>
                  </a:txBody>
                  <a:tcPr>
                    <a:solidFill>
                      <a:srgbClr val="FFFFFF"/>
                    </a:solidFill>
                  </a:tcPr>
                </a:tc>
                <a:tc>
                  <a:txBody>
                    <a:bodyPr/>
                    <a:lstStyle/>
                    <a:p>
                      <a:pPr algn="ctr"/>
                      <a:r>
                        <a:rPr sz="750" b="0">
                          <a:solidFill>
                            <a:srgbClr val="202020"/>
                          </a:solidFill>
                        </a:rPr>
                        <a:t>0.819</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0.292</a:t>
                      </a:r>
                    </a:p>
                  </a:txBody>
                  <a:tcPr>
                    <a:solidFill>
                      <a:srgbClr val="E6F4EA"/>
                    </a:solidFill>
                  </a:tcPr>
                </a:tc>
                <a:tc>
                  <a:txBody>
                    <a:bodyPr/>
                    <a:lstStyle/>
                    <a:p>
                      <a:pPr algn="ctr"/>
                      <a:r>
                        <a:rPr sz="750" b="0">
                          <a:solidFill>
                            <a:srgbClr val="202020"/>
                          </a:solidFill>
                        </a:rPr>
                        <a:t>0.808</a:t>
                      </a:r>
                    </a:p>
                  </a:txBody>
                  <a:tcPr>
                    <a:solidFill>
                      <a:srgbClr val="E6F4EA"/>
                    </a:solidFill>
                  </a:tcPr>
                </a:tc>
                <a:tc>
                  <a:txBody>
                    <a:bodyPr/>
                    <a:lstStyle/>
                    <a:p>
                      <a:pPr algn="ctr"/>
                      <a:r>
                        <a:rPr sz="750" b="0">
                          <a:solidFill>
                            <a:srgbClr val="202020"/>
                          </a:solidFill>
                        </a:rPr>
                        <a:t>0.819</a:t>
                      </a:r>
                    </a:p>
                  </a:txBody>
                  <a:tcPr>
                    <a:solidFill>
                      <a:srgbClr val="E6F4EA"/>
                    </a:solidFill>
                  </a:tcPr>
                </a:tc>
                <a:tc>
                  <a:txBody>
                    <a:bodyPr/>
                    <a:lstStyle/>
                    <a:p>
                      <a:pPr algn="ctr"/>
                      <a:r>
                        <a:rPr sz="750" b="0">
                          <a:solidFill>
                            <a:srgbClr val="202020"/>
                          </a:solidFill>
                        </a:rPr>
                        <a:t>0.808</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0.270</a:t>
                      </a:r>
                    </a:p>
                  </a:txBody>
                  <a:tcPr>
                    <a:solidFill>
                      <a:srgbClr val="FFFFFF"/>
                    </a:solidFill>
                  </a:tcPr>
                </a:tc>
                <a:tc>
                  <a:txBody>
                    <a:bodyPr/>
                    <a:lstStyle/>
                    <a:p>
                      <a:pPr algn="ctr"/>
                      <a:r>
                        <a:rPr sz="750" b="0">
                          <a:solidFill>
                            <a:srgbClr val="202020"/>
                          </a:solidFill>
                        </a:rPr>
                        <a:t>0.816</a:t>
                      </a:r>
                    </a:p>
                  </a:txBody>
                  <a:tcPr>
                    <a:solidFill>
                      <a:srgbClr val="FFFFFF"/>
                    </a:solidFill>
                  </a:tcPr>
                </a:tc>
                <a:tc>
                  <a:txBody>
                    <a:bodyPr/>
                    <a:lstStyle/>
                    <a:p>
                      <a:pPr algn="ctr"/>
                      <a:r>
                        <a:rPr sz="750" b="0">
                          <a:solidFill>
                            <a:srgbClr val="202020"/>
                          </a:solidFill>
                        </a:rPr>
                        <a:t>0.812</a:t>
                      </a:r>
                    </a:p>
                  </a:txBody>
                  <a:tcPr>
                    <a:solidFill>
                      <a:srgbClr val="FFFFFF"/>
                    </a:solidFill>
                  </a:tcPr>
                </a:tc>
                <a:tc>
                  <a:txBody>
                    <a:bodyPr/>
                    <a:lstStyle/>
                    <a:p>
                      <a:pPr algn="ctr"/>
                      <a:r>
                        <a:rPr sz="750" b="0">
                          <a:solidFill>
                            <a:srgbClr val="202020"/>
                          </a:solidFill>
                        </a:rPr>
                        <a:t>0.816</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0.790</a:t>
                      </a:r>
                    </a:p>
                  </a:txBody>
                  <a:tcPr>
                    <a:solidFill>
                      <a:srgbClr val="E8F0FE"/>
                    </a:solidFill>
                  </a:tcPr>
                </a:tc>
                <a:tc>
                  <a:txBody>
                    <a:bodyPr/>
                    <a:lstStyle/>
                    <a:p>
                      <a:pPr algn="ctr"/>
                      <a:r>
                        <a:rPr sz="750" b="0">
                          <a:solidFill>
                            <a:srgbClr val="202020"/>
                          </a:solidFill>
                        </a:rPr>
                        <a:t>0.784</a:t>
                      </a:r>
                    </a:p>
                  </a:txBody>
                  <a:tcPr>
                    <a:solidFill>
                      <a:srgbClr val="E8F0FE"/>
                    </a:solidFill>
                  </a:tcPr>
                </a:tc>
                <a:tc>
                  <a:txBody>
                    <a:bodyPr/>
                    <a:lstStyle/>
                    <a:p>
                      <a:pPr algn="ctr"/>
                      <a:r>
                        <a:rPr sz="750" b="0">
                          <a:solidFill>
                            <a:srgbClr val="202020"/>
                          </a:solidFill>
                        </a:rPr>
                        <a:t>0.790</a:t>
                      </a:r>
                    </a:p>
                  </a:txBody>
                  <a:tcPr>
                    <a:solidFill>
                      <a:srgbClr val="E8F0FE"/>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Primer 4-Class (conf60, B1 baseline)</a:t>
            </a:r>
          </a:p>
        </p:txBody>
      </p:sp>
      <p:graphicFrame>
        <p:nvGraphicFramePr>
          <p:cNvPr id="7" name="Table 6"/>
          <p:cNvGraphicFramePr>
            <a:graphicFrameLocks noGrp="1"/>
          </p:cNvGraphicFramePr>
          <p:nvPr/>
        </p:nvGraphicFramePr>
        <p:xfrm>
          <a:off x="4617720" y="768096"/>
          <a:ext cx="4206237" cy="2286000"/>
        </p:xfrm>
        <a:graphic>
          <a:graphicData uri="http://schemas.openxmlformats.org/drawingml/2006/table">
            <a:tbl>
              <a:tblPr firstRow="1" bandRow="1"/>
              <a:tblGrid>
                <a:gridCol w="1521405"/>
                <a:gridCol w="671208"/>
                <a:gridCol w="671208"/>
                <a:gridCol w="671208"/>
                <a:gridCol w="671208"/>
              </a:tblGrid>
              <a:tr h="285750">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5750">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0.476</a:t>
                      </a:r>
                    </a:p>
                  </a:txBody>
                  <a:tcPr>
                    <a:solidFill>
                      <a:srgbClr val="E8F0FE"/>
                    </a:solidFill>
                  </a:tcPr>
                </a:tc>
                <a:tc>
                  <a:txBody>
                    <a:bodyPr/>
                    <a:lstStyle/>
                    <a:p>
                      <a:pPr algn="ctr"/>
                      <a:r>
                        <a:rPr sz="750" b="0">
                          <a:solidFill>
                            <a:srgbClr val="202020"/>
                          </a:solidFill>
                        </a:rPr>
                        <a:t>0.803</a:t>
                      </a:r>
                    </a:p>
                  </a:txBody>
                  <a:tcPr>
                    <a:solidFill>
                      <a:srgbClr val="E8F0FE"/>
                    </a:solidFill>
                  </a:tcPr>
                </a:tc>
                <a:tc>
                  <a:txBody>
                    <a:bodyPr/>
                    <a:lstStyle/>
                    <a:p>
                      <a:pPr algn="ctr"/>
                      <a:r>
                        <a:rPr sz="750" b="0">
                          <a:solidFill>
                            <a:srgbClr val="202020"/>
                          </a:solidFill>
                        </a:rPr>
                        <a:t>0.802</a:t>
                      </a:r>
                    </a:p>
                  </a:txBody>
                  <a:tcPr>
                    <a:solidFill>
                      <a:srgbClr val="E8F0FE"/>
                    </a:solidFill>
                  </a:tcPr>
                </a:tc>
                <a:tc>
                  <a:txBody>
                    <a:bodyPr/>
                    <a:lstStyle/>
                    <a:p>
                      <a:pPr algn="ctr"/>
                      <a:r>
                        <a:rPr sz="750" b="0">
                          <a:solidFill>
                            <a:srgbClr val="202020"/>
                          </a:solidFill>
                        </a:rPr>
                        <a:t>0.803</a:t>
                      </a:r>
                    </a:p>
                  </a:txBody>
                  <a:tcPr>
                    <a:solidFill>
                      <a:srgbClr val="E8F0FE"/>
                    </a:solidFill>
                  </a:tcPr>
                </a:tc>
              </a:tr>
              <a:tr h="285750">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0.763</a:t>
                      </a:r>
                    </a:p>
                  </a:txBody>
                  <a:tcPr>
                    <a:solidFill>
                      <a:srgbClr val="FFFFFF"/>
                    </a:solidFill>
                  </a:tcPr>
                </a:tc>
                <a:tc>
                  <a:txBody>
                    <a:bodyPr/>
                    <a:lstStyle/>
                    <a:p>
                      <a:pPr algn="ctr"/>
                      <a:r>
                        <a:rPr sz="750" b="0">
                          <a:solidFill>
                            <a:srgbClr val="202020"/>
                          </a:solidFill>
                        </a:rPr>
                        <a:t>0.774</a:t>
                      </a:r>
                    </a:p>
                  </a:txBody>
                  <a:tcPr>
                    <a:solidFill>
                      <a:srgbClr val="FFFFFF"/>
                    </a:solidFill>
                  </a:tcPr>
                </a:tc>
                <a:tc>
                  <a:txBody>
                    <a:bodyPr/>
                    <a:lstStyle/>
                    <a:p>
                      <a:pPr algn="ctr"/>
                      <a:r>
                        <a:rPr sz="750" b="0">
                          <a:solidFill>
                            <a:srgbClr val="202020"/>
                          </a:solidFill>
                        </a:rPr>
                        <a:t>0.763</a:t>
                      </a:r>
                    </a:p>
                  </a:txBody>
                  <a:tcPr>
                    <a:solidFill>
                      <a:srgbClr val="FFFFFF"/>
                    </a:solidFill>
                  </a:tcPr>
                </a:tc>
              </a:tr>
              <a:tr h="285750">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0.444</a:t>
                      </a:r>
                    </a:p>
                  </a:txBody>
                  <a:tcPr>
                    <a:solidFill>
                      <a:srgbClr val="E8F0FE"/>
                    </a:solidFill>
                  </a:tcPr>
                </a:tc>
                <a:tc>
                  <a:txBody>
                    <a:bodyPr/>
                    <a:lstStyle/>
                    <a:p>
                      <a:pPr algn="ctr"/>
                      <a:r>
                        <a:rPr sz="750" b="0">
                          <a:solidFill>
                            <a:srgbClr val="202020"/>
                          </a:solidFill>
                        </a:rPr>
                        <a:t>0.727</a:t>
                      </a:r>
                    </a:p>
                  </a:txBody>
                  <a:tcPr>
                    <a:solidFill>
                      <a:srgbClr val="E8F0FE"/>
                    </a:solidFill>
                  </a:tcPr>
                </a:tc>
                <a:tc>
                  <a:txBody>
                    <a:bodyPr/>
                    <a:lstStyle/>
                    <a:p>
                      <a:pPr algn="ctr"/>
                      <a:r>
                        <a:rPr sz="750" b="0">
                          <a:solidFill>
                            <a:srgbClr val="202020"/>
                          </a:solidFill>
                        </a:rPr>
                        <a:t>0.753</a:t>
                      </a:r>
                    </a:p>
                  </a:txBody>
                  <a:tcPr>
                    <a:solidFill>
                      <a:srgbClr val="E8F0FE"/>
                    </a:solidFill>
                  </a:tcPr>
                </a:tc>
                <a:tc>
                  <a:txBody>
                    <a:bodyPr/>
                    <a:lstStyle/>
                    <a:p>
                      <a:pPr algn="ctr"/>
                      <a:r>
                        <a:rPr sz="750" b="0">
                          <a:solidFill>
                            <a:srgbClr val="202020"/>
                          </a:solidFill>
                        </a:rPr>
                        <a:t>0.727</a:t>
                      </a:r>
                    </a:p>
                  </a:txBody>
                  <a:tcPr>
                    <a:solidFill>
                      <a:srgbClr val="E8F0FE"/>
                    </a:solidFill>
                  </a:tcPr>
                </a:tc>
              </a:tr>
              <a:tr h="285750">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0.378</a:t>
                      </a:r>
                    </a:p>
                  </a:txBody>
                  <a:tcPr>
                    <a:solidFill>
                      <a:srgbClr val="FFFFFF"/>
                    </a:solidFill>
                  </a:tcPr>
                </a:tc>
                <a:tc>
                  <a:txBody>
                    <a:bodyPr/>
                    <a:lstStyle/>
                    <a:p>
                      <a:pPr algn="ctr"/>
                      <a:r>
                        <a:rPr sz="750" b="0">
                          <a:solidFill>
                            <a:srgbClr val="202020"/>
                          </a:solidFill>
                        </a:rPr>
                        <a:t>0.721</a:t>
                      </a:r>
                    </a:p>
                  </a:txBody>
                  <a:tcPr>
                    <a:solidFill>
                      <a:srgbClr val="FFFFFF"/>
                    </a:solidFill>
                  </a:tcPr>
                </a:tc>
                <a:tc>
                  <a:txBody>
                    <a:bodyPr/>
                    <a:lstStyle/>
                    <a:p>
                      <a:pPr algn="ctr"/>
                      <a:r>
                        <a:rPr sz="750" b="0">
                          <a:solidFill>
                            <a:srgbClr val="202020"/>
                          </a:solidFill>
                        </a:rPr>
                        <a:t>0.682</a:t>
                      </a:r>
                    </a:p>
                  </a:txBody>
                  <a:tcPr>
                    <a:solidFill>
                      <a:srgbClr val="FFFFFF"/>
                    </a:solidFill>
                  </a:tcPr>
                </a:tc>
                <a:tc>
                  <a:txBody>
                    <a:bodyPr/>
                    <a:lstStyle/>
                    <a:p>
                      <a:pPr algn="ctr"/>
                      <a:r>
                        <a:rPr sz="750" b="0">
                          <a:solidFill>
                            <a:srgbClr val="202020"/>
                          </a:solidFill>
                        </a:rPr>
                        <a:t>0.721</a:t>
                      </a:r>
                    </a:p>
                  </a:txBody>
                  <a:tcPr>
                    <a:solidFill>
                      <a:srgbClr val="FFFFFF"/>
                    </a:solidFill>
                  </a:tcPr>
                </a:tc>
              </a:tr>
              <a:tr h="285750">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0.482</a:t>
                      </a:r>
                    </a:p>
                  </a:txBody>
                  <a:tcPr>
                    <a:solidFill>
                      <a:srgbClr val="E6F4EA"/>
                    </a:solidFill>
                  </a:tcPr>
                </a:tc>
                <a:tc>
                  <a:txBody>
                    <a:bodyPr/>
                    <a:lstStyle/>
                    <a:p>
                      <a:pPr algn="ctr"/>
                      <a:r>
                        <a:rPr sz="750" b="0">
                          <a:solidFill>
                            <a:srgbClr val="202020"/>
                          </a:solidFill>
                        </a:rPr>
                        <a:t>0.780</a:t>
                      </a:r>
                    </a:p>
                  </a:txBody>
                  <a:tcPr>
                    <a:solidFill>
                      <a:srgbClr val="E6F4EA"/>
                    </a:solidFill>
                  </a:tcPr>
                </a:tc>
                <a:tc>
                  <a:txBody>
                    <a:bodyPr/>
                    <a:lstStyle/>
                    <a:p>
                      <a:pPr algn="ctr"/>
                      <a:r>
                        <a:rPr sz="750" b="0">
                          <a:solidFill>
                            <a:srgbClr val="202020"/>
                          </a:solidFill>
                        </a:rPr>
                        <a:t>0.790</a:t>
                      </a:r>
                    </a:p>
                  </a:txBody>
                  <a:tcPr>
                    <a:solidFill>
                      <a:srgbClr val="E6F4EA"/>
                    </a:solidFill>
                  </a:tcPr>
                </a:tc>
                <a:tc>
                  <a:txBody>
                    <a:bodyPr/>
                    <a:lstStyle/>
                    <a:p>
                      <a:pPr algn="ctr"/>
                      <a:r>
                        <a:rPr sz="750" b="0">
                          <a:solidFill>
                            <a:srgbClr val="202020"/>
                          </a:solidFill>
                        </a:rPr>
                        <a:t>0.780</a:t>
                      </a:r>
                    </a:p>
                  </a:txBody>
                  <a:tcPr>
                    <a:solidFill>
                      <a:srgbClr val="E6F4EA"/>
                    </a:solidFill>
                  </a:tcPr>
                </a:tc>
              </a:tr>
              <a:tr h="285750">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0.474</a:t>
                      </a:r>
                    </a:p>
                  </a:txBody>
                  <a:tcPr>
                    <a:solidFill>
                      <a:srgbClr val="FFFFFF"/>
                    </a:solidFill>
                  </a:tcPr>
                </a:tc>
                <a:tc>
                  <a:txBody>
                    <a:bodyPr/>
                    <a:lstStyle/>
                    <a:p>
                      <a:pPr algn="ctr"/>
                      <a:r>
                        <a:rPr sz="750" b="0">
                          <a:solidFill>
                            <a:srgbClr val="202020"/>
                          </a:solidFill>
                        </a:rPr>
                        <a:t>0.807</a:t>
                      </a:r>
                    </a:p>
                  </a:txBody>
                  <a:tcPr>
                    <a:solidFill>
                      <a:srgbClr val="FFFFFF"/>
                    </a:solidFill>
                  </a:tcPr>
                </a:tc>
                <a:tc>
                  <a:txBody>
                    <a:bodyPr/>
                    <a:lstStyle/>
                    <a:p>
                      <a:pPr algn="ctr"/>
                      <a:r>
                        <a:rPr sz="750" b="0">
                          <a:solidFill>
                            <a:srgbClr val="202020"/>
                          </a:solidFill>
                        </a:rPr>
                        <a:t>0.815</a:t>
                      </a:r>
                    </a:p>
                  </a:txBody>
                  <a:tcPr>
                    <a:solidFill>
                      <a:srgbClr val="FFFFFF"/>
                    </a:solidFill>
                  </a:tcPr>
                </a:tc>
                <a:tc>
                  <a:txBody>
                    <a:bodyPr/>
                    <a:lstStyle/>
                    <a:p>
                      <a:pPr algn="ctr"/>
                      <a:r>
                        <a:rPr sz="750" b="0">
                          <a:solidFill>
                            <a:srgbClr val="202020"/>
                          </a:solidFill>
                        </a:rPr>
                        <a:t>0.807</a:t>
                      </a:r>
                    </a:p>
                  </a:txBody>
                  <a:tcPr>
                    <a:solidFill>
                      <a:srgbClr val="FFFFFF"/>
                    </a:solidFill>
                  </a:tcPr>
                </a:tc>
              </a:tr>
              <a:tr h="285750">
                <a:tc>
                  <a:txBody>
                    <a:bodyPr/>
                    <a:lstStyle/>
                    <a:p>
                      <a:pPr algn="l"/>
                      <a:r>
                        <a:rPr sz="750" b="1">
                          <a:solidFill>
                            <a:srgbClr val="202020"/>
                          </a:solidFill>
                        </a:rPr>
                        <a:t>Late Fusion TL</a:t>
                      </a:r>
                    </a:p>
                  </a:txBody>
                  <a:tcPr>
                    <a:solidFill>
                      <a:srgbClr val="E8F0FE"/>
                    </a:solidFill>
                  </a:tcPr>
                </a:tc>
                <a:tc>
                  <a:txBody>
                    <a:bodyPr/>
                    <a:lstStyle/>
                    <a:p>
                      <a:pPr algn="ctr"/>
                      <a:r>
                        <a:rPr sz="750" b="0">
                          <a:solidFill>
                            <a:srgbClr val="202020"/>
                          </a:solidFill>
                        </a:rPr>
                        <a:t>0.422</a:t>
                      </a:r>
                    </a:p>
                  </a:txBody>
                  <a:tcPr>
                    <a:solidFill>
                      <a:srgbClr val="E8F0FE"/>
                    </a:solidFill>
                  </a:tcPr>
                </a:tc>
                <a:tc>
                  <a:txBody>
                    <a:bodyPr/>
                    <a:lstStyle/>
                    <a:p>
                      <a:pPr algn="ctr"/>
                      <a:r>
                        <a:rPr sz="750" b="0">
                          <a:solidFill>
                            <a:srgbClr val="202020"/>
                          </a:solidFill>
                        </a:rPr>
                        <a:t>0.695</a:t>
                      </a:r>
                    </a:p>
                  </a:txBody>
                  <a:tcPr>
                    <a:solidFill>
                      <a:srgbClr val="E8F0FE"/>
                    </a:solidFill>
                  </a:tcPr>
                </a:tc>
                <a:tc>
                  <a:txBody>
                    <a:bodyPr/>
                    <a:lstStyle/>
                    <a:p>
                      <a:pPr algn="ctr"/>
                      <a:r>
                        <a:rPr sz="750" b="0">
                          <a:solidFill>
                            <a:srgbClr val="202020"/>
                          </a:solidFill>
                        </a:rPr>
                        <a:t>0.722</a:t>
                      </a:r>
                    </a:p>
                  </a:txBody>
                  <a:tcPr>
                    <a:solidFill>
                      <a:srgbClr val="E8F0FE"/>
                    </a:solidFill>
                  </a:tcPr>
                </a:tc>
                <a:tc>
                  <a:txBody>
                    <a:bodyPr/>
                    <a:lstStyle/>
                    <a:p>
                      <a:pPr algn="ctr"/>
                      <a:r>
                        <a:rPr sz="750" b="0">
                          <a:solidFill>
                            <a:srgbClr val="202020"/>
                          </a:solidFill>
                        </a:rPr>
                        <a:t>0.695</a:t>
                      </a:r>
                    </a:p>
                  </a:txBody>
                  <a:tcPr>
                    <a:solidFill>
                      <a:srgbClr val="E8F0FE"/>
                    </a:solidFill>
                  </a:tcPr>
                </a:tc>
              </a:tr>
            </a:tbl>
          </a:graphicData>
        </a:graphic>
      </p:graphicFrame>
      <p:sp>
        <p:nvSpPr>
          <p:cNvPr id="8" name="TextBox 7"/>
          <p:cNvSpPr txBox="1"/>
          <p:nvPr/>
        </p:nvSpPr>
        <p:spPr>
          <a:xfrm>
            <a:off x="274320" y="3154680"/>
            <a:ext cx="8595360" cy="457200"/>
          </a:xfrm>
          <a:prstGeom prst="rect">
            <a:avLst/>
          </a:prstGeom>
          <a:solidFill>
            <a:srgbClr val="FEF7E0"/>
          </a:solidFill>
        </p:spPr>
        <p:txBody>
          <a:bodyPr wrap="square">
            <a:spAutoFit/>
          </a:bodyPr>
          <a:lstStyle/>
          <a:p>
            <a:pPr algn="l"/>
            <a:r>
              <a:rPr sz="900" b="1" i="0">
                <a:solidFill>
                  <a:srgbClr val="B06800"/>
                </a:solidFill>
              </a:rPr>
              <a:t>Catatan Primer: tabel di atas B1 (baseline) saja untuk apple-to-apple vs benchmark publik.</a:t>
            </a:r>
          </a:p>
          <a:p>
            <a:pPr algn="l"/>
            <a:r>
              <a:rPr sz="900" b="0" i="0">
                <a:solidFill>
                  <a:srgbClr val="202020"/>
                </a:solidFill>
              </a:rPr>
              <a:t>Best Primer keseluruhan (dengan B3 + TL + augmentation) = Intermediate TL 4c B3 = 0.521.</a:t>
            </a:r>
          </a:p>
        </p:txBody>
      </p:sp>
      <p:sp>
        <p:nvSpPr>
          <p:cNvPr id="9" name="TextBox 8"/>
          <p:cNvSpPr txBox="1"/>
          <p:nvPr/>
        </p:nvSpPr>
        <p:spPr>
          <a:xfrm>
            <a:off x="274320" y="3703320"/>
            <a:ext cx="8595360" cy="274320"/>
          </a:xfrm>
          <a:prstGeom prst="rect">
            <a:avLst/>
          </a:prstGeom>
          <a:noFill/>
        </p:spPr>
        <p:txBody>
          <a:bodyPr wrap="none">
            <a:spAutoFit/>
          </a:bodyPr>
          <a:lstStyle/>
          <a:p>
            <a:pPr algn="l"/>
            <a:r>
              <a:rPr sz="1100" b="1" i="0">
                <a:solidFill>
                  <a:srgbClr val="202020"/>
                </a:solidFill>
              </a:rPr>
              <a:t>Summary Temuan Skema 1</a:t>
            </a:r>
          </a:p>
        </p:txBody>
      </p:sp>
      <p:sp>
        <p:nvSpPr>
          <p:cNvPr id="10" name="TextBox 9"/>
          <p:cNvSpPr txBox="1"/>
          <p:nvPr/>
        </p:nvSpPr>
        <p:spPr>
          <a:xfrm>
            <a:off x="274320" y="4023360"/>
            <a:ext cx="8595360" cy="2286000"/>
          </a:xfrm>
          <a:prstGeom prst="rect">
            <a:avLst/>
          </a:prstGeom>
          <a:solidFill>
            <a:srgbClr val="E8F0FE"/>
          </a:solidFill>
        </p:spPr>
        <p:txBody>
          <a:bodyPr wrap="square">
            <a:spAutoFit/>
          </a:bodyPr>
          <a:lstStyle/>
          <a:p>
            <a:pPr algn="l"/>
            <a:r>
              <a:rPr sz="900" b="0" i="0">
                <a:solidFill>
                  <a:srgbClr val="202020"/>
                </a:solidFill>
              </a:rPr>
              <a:t>• Intermediate TL dominan di RAF-DB 7c/4c, KDEF 7c/4c, Primer 7c/4c, CK+ 4c</a:t>
            </a:r>
          </a:p>
          <a:p>
            <a:pPr algn="l"/>
            <a:r>
              <a:rPr sz="900" b="0" i="0">
                <a:solidFill>
                  <a:srgbClr val="202020"/>
                </a:solidFill>
              </a:rPr>
              <a:t>• CK+ 7c → CNN TL terbaik (0.913) | JAFFE → Late Fusion atau Late Fusion TL (dataset kecil)</a:t>
            </a:r>
          </a:p>
          <a:p>
            <a:pPr algn="l"/>
            <a:r>
              <a:rPr sz="900" b="0" i="0">
                <a:solidFill>
                  <a:srgbClr val="202020"/>
                </a:solidFill>
              </a:rPr>
              <a:t>• Late Fusion TL (baru, nb 65): kompetitif di RAF-DB/KDEF/Primer, tapi kolaps di CK+ 7c (0.835 vs 0.913) dan JAFFE 7c (0.146)</a:t>
            </a:r>
          </a:p>
          <a:p>
            <a:pPr algn="l"/>
            <a:r>
              <a:rPr sz="900" b="0" i="0">
                <a:solidFill>
                  <a:srgbClr val="202020"/>
                </a:solidFill>
              </a:rPr>
              <a:t>• Primer paling challenging: best Primer 4c (val-tuned) = 0.521 (Intermediate TL, B1)</a:t>
            </a:r>
          </a:p>
          <a:p>
            <a:pPr algn="l"/>
            <a:r>
              <a:rPr sz="900" b="0" i="0">
                <a:solidFill>
                  <a:srgbClr val="202020"/>
                </a:solidFill>
              </a:rPr>
              <a:t>• vs benchmark: RAF-DB 4c = 0.836 | KDEF 4c = 0.923 | CK+ 4c = 0.837</a:t>
            </a:r>
          </a:p>
          <a:p>
            <a:pPr algn="l"/>
            <a:r>
              <a:rPr sz="900" b="1" i="0">
                <a:solidFill>
                  <a:srgbClr val="0F9D58"/>
                </a:solidFill>
              </a:rPr>
              <a:t>• Gap ~0.35-0.45 menegaskan: arsitektur bekerja, Primer memang sulit karena natural + imbalance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CK+ &amp; JAFFE → Primer</a:t>
            </a:r>
          </a:p>
        </p:txBody>
      </p:sp>
      <p:sp>
        <p:nvSpPr>
          <p:cNvPr id="4" name="TextBox 3"/>
          <p:cNvSpPr txBox="1"/>
          <p:nvPr/>
        </p:nvSpPr>
        <p:spPr>
          <a:xfrm>
            <a:off x="274320" y="548640"/>
            <a:ext cx="8595360" cy="365760"/>
          </a:xfrm>
          <a:prstGeom prst="rect">
            <a:avLst/>
          </a:prstGeom>
          <a:solidFill>
            <a:srgbClr val="E8F0FE"/>
          </a:solidFill>
        </p:spPr>
        <p:txBody>
          <a:bodyPr wrap="square">
            <a:spAutoFit/>
          </a:bodyPr>
          <a:lstStyle/>
          <a:p>
            <a:pPr algn="l"/>
            <a:r>
              <a:rPr sz="850" b="0" i="0">
                <a:solidFill>
                  <a:srgbClr val="202020"/>
                </a:solidFill>
              </a:rPr>
              <a:t>6 model × 3 metrik per combo. Late Fusion TL belum (butuh checkpoint FCNN+CNN_TL matching).</a:t>
            </a:r>
          </a:p>
        </p:txBody>
      </p:sp>
      <p:sp>
        <p:nvSpPr>
          <p:cNvPr id="5" name="TextBox 4"/>
          <p:cNvSpPr txBox="1"/>
          <p:nvPr/>
        </p:nvSpPr>
        <p:spPr>
          <a:xfrm>
            <a:off x="274320" y="960120"/>
            <a:ext cx="4206240" cy="201168"/>
          </a:xfrm>
          <a:prstGeom prst="rect">
            <a:avLst/>
          </a:prstGeom>
          <a:noFill/>
        </p:spPr>
        <p:txBody>
          <a:bodyPr wrap="none">
            <a:spAutoFit/>
          </a:bodyPr>
          <a:lstStyle/>
          <a:p>
            <a:pPr algn="l"/>
            <a:r>
              <a:rPr sz="950" b="1" i="0">
                <a:solidFill>
                  <a:srgbClr val="1A73E8"/>
                </a:solidFill>
              </a:rPr>
              <a:t>CK+ → Primer (7-Class)</a:t>
            </a:r>
          </a:p>
        </p:txBody>
      </p:sp>
      <p:graphicFrame>
        <p:nvGraphicFramePr>
          <p:cNvPr id="6" name="Table 5"/>
          <p:cNvGraphicFramePr>
            <a:graphicFrameLocks noGrp="1"/>
          </p:cNvGraphicFramePr>
          <p:nvPr/>
        </p:nvGraphicFramePr>
        <p:xfrm>
          <a:off x="2743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0.127</a:t>
                      </a:r>
                    </a:p>
                  </a:txBody>
                  <a:tcPr>
                    <a:solidFill>
                      <a:srgbClr val="E8F0FE"/>
                    </a:solidFill>
                  </a:tcPr>
                </a:tc>
                <a:tc>
                  <a:txBody>
                    <a:bodyPr/>
                    <a:lstStyle/>
                    <a:p>
                      <a:pPr algn="ctr"/>
                      <a:r>
                        <a:rPr sz="750" b="0">
                          <a:solidFill>
                            <a:srgbClr val="202020"/>
                          </a:solidFill>
                        </a:rPr>
                        <a:t>0.719</a:t>
                      </a:r>
                    </a:p>
                  </a:txBody>
                  <a:tcPr>
                    <a:solidFill>
                      <a:srgbClr val="E8F0FE"/>
                    </a:solidFill>
                  </a:tcPr>
                </a:tc>
                <a:tc>
                  <a:txBody>
                    <a:bodyPr/>
                    <a:lstStyle/>
                    <a:p>
                      <a:pPr algn="ctr"/>
                      <a:r>
                        <a:rPr sz="750" b="0">
                          <a:solidFill>
                            <a:srgbClr val="202020"/>
                          </a:solidFill>
                        </a:rPr>
                        <a:t>0.635</a:t>
                      </a:r>
                    </a:p>
                  </a:txBody>
                  <a:tcPr>
                    <a:solidFill>
                      <a:srgbClr val="E8F0FE"/>
                    </a:solidFill>
                  </a:tcPr>
                </a:tc>
                <a:tc>
                  <a:txBody>
                    <a:bodyPr/>
                    <a:lstStyle/>
                    <a:p>
                      <a:pPr algn="ctr"/>
                      <a:r>
                        <a:rPr sz="750" b="0">
                          <a:solidFill>
                            <a:srgbClr val="202020"/>
                          </a:solidFill>
                        </a:rPr>
                        <a:t>0.719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0.194</a:t>
                      </a:r>
                    </a:p>
                  </a:txBody>
                  <a:tcPr>
                    <a:solidFill>
                      <a:srgbClr val="E6F4EA"/>
                    </a:solidFill>
                  </a:tcPr>
                </a:tc>
                <a:tc>
                  <a:txBody>
                    <a:bodyPr/>
                    <a:lstStyle/>
                    <a:p>
                      <a:pPr algn="ctr"/>
                      <a:r>
                        <a:rPr sz="750" b="0">
                          <a:solidFill>
                            <a:srgbClr val="202020"/>
                          </a:solidFill>
                        </a:rPr>
                        <a:t>0.773</a:t>
                      </a:r>
                    </a:p>
                  </a:txBody>
                  <a:tcPr>
                    <a:solidFill>
                      <a:srgbClr val="E6F4EA"/>
                    </a:solidFill>
                  </a:tcPr>
                </a:tc>
                <a:tc>
                  <a:txBody>
                    <a:bodyPr/>
                    <a:lstStyle/>
                    <a:p>
                      <a:pPr algn="ctr"/>
                      <a:r>
                        <a:rPr sz="750" b="0">
                          <a:solidFill>
                            <a:srgbClr val="202020"/>
                          </a:solidFill>
                        </a:rPr>
                        <a:t>0.739</a:t>
                      </a:r>
                    </a:p>
                  </a:txBody>
                  <a:tcPr>
                    <a:solidFill>
                      <a:srgbClr val="E6F4EA"/>
                    </a:solidFill>
                  </a:tcPr>
                </a:tc>
                <a:tc>
                  <a:txBody>
                    <a:bodyPr/>
                    <a:lstStyle/>
                    <a:p>
                      <a:pPr algn="ctr"/>
                      <a:r>
                        <a:rPr sz="750" b="0">
                          <a:solidFill>
                            <a:srgbClr val="202020"/>
                          </a:solidFill>
                        </a:rPr>
                        <a:t>0.773</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0.153</a:t>
                      </a:r>
                    </a:p>
                  </a:txBody>
                  <a:tcPr>
                    <a:solidFill>
                      <a:srgbClr val="E8F0FE"/>
                    </a:solidFill>
                  </a:tcPr>
                </a:tc>
                <a:tc>
                  <a:txBody>
                    <a:bodyPr/>
                    <a:lstStyle/>
                    <a:p>
                      <a:pPr algn="ctr"/>
                      <a:r>
                        <a:rPr sz="750" b="0">
                          <a:solidFill>
                            <a:srgbClr val="202020"/>
                          </a:solidFill>
                        </a:rPr>
                        <a:t>0.536</a:t>
                      </a:r>
                    </a:p>
                  </a:txBody>
                  <a:tcPr>
                    <a:solidFill>
                      <a:srgbClr val="E8F0FE"/>
                    </a:solidFill>
                  </a:tcPr>
                </a:tc>
                <a:tc>
                  <a:txBody>
                    <a:bodyPr/>
                    <a:lstStyle/>
                    <a:p>
                      <a:pPr algn="ctr"/>
                      <a:r>
                        <a:rPr sz="750" b="0">
                          <a:solidFill>
                            <a:srgbClr val="202020"/>
                          </a:solidFill>
                        </a:rPr>
                        <a:t>0.593</a:t>
                      </a:r>
                    </a:p>
                  </a:txBody>
                  <a:tcPr>
                    <a:solidFill>
                      <a:srgbClr val="E8F0FE"/>
                    </a:solidFill>
                  </a:tcPr>
                </a:tc>
                <a:tc>
                  <a:txBody>
                    <a:bodyPr/>
                    <a:lstStyle/>
                    <a:p>
                      <a:pPr algn="ctr"/>
                      <a:r>
                        <a:rPr sz="750" b="0">
                          <a:solidFill>
                            <a:srgbClr val="202020"/>
                          </a:solidFill>
                        </a:rPr>
                        <a:t>0.536</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0.163</a:t>
                      </a:r>
                    </a:p>
                  </a:txBody>
                  <a:tcPr>
                    <a:solidFill>
                      <a:srgbClr val="FFFFFF"/>
                    </a:solidFill>
                  </a:tcPr>
                </a:tc>
                <a:tc>
                  <a:txBody>
                    <a:bodyPr/>
                    <a:lstStyle/>
                    <a:p>
                      <a:pPr algn="ctr"/>
                      <a:r>
                        <a:rPr sz="750" b="0">
                          <a:solidFill>
                            <a:srgbClr val="202020"/>
                          </a:solidFill>
                        </a:rPr>
                        <a:t>0.670</a:t>
                      </a:r>
                    </a:p>
                  </a:txBody>
                  <a:tcPr>
                    <a:solidFill>
                      <a:srgbClr val="FFFFFF"/>
                    </a:solidFill>
                  </a:tcPr>
                </a:tc>
                <a:tc>
                  <a:txBody>
                    <a:bodyPr/>
                    <a:lstStyle/>
                    <a:p>
                      <a:pPr algn="ctr"/>
                      <a:r>
                        <a:rPr sz="750" b="0">
                          <a:solidFill>
                            <a:srgbClr val="202020"/>
                          </a:solidFill>
                        </a:rPr>
                        <a:t>0.701</a:t>
                      </a:r>
                    </a:p>
                  </a:txBody>
                  <a:tcPr>
                    <a:solidFill>
                      <a:srgbClr val="FFFFFF"/>
                    </a:solidFill>
                  </a:tcPr>
                </a:tc>
                <a:tc>
                  <a:txBody>
                    <a:bodyPr/>
                    <a:lstStyle/>
                    <a:p>
                      <a:pPr algn="ctr"/>
                      <a:r>
                        <a:rPr sz="750" b="0">
                          <a:solidFill>
                            <a:srgbClr val="202020"/>
                          </a:solidFill>
                        </a:rPr>
                        <a:t>0.670</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0.103</a:t>
                      </a:r>
                    </a:p>
                  </a:txBody>
                  <a:tcPr>
                    <a:solidFill>
                      <a:srgbClr val="E8F0FE"/>
                    </a:solidFill>
                  </a:tcPr>
                </a:tc>
                <a:tc>
                  <a:txBody>
                    <a:bodyPr/>
                    <a:lstStyle/>
                    <a:p>
                      <a:pPr algn="ctr"/>
                      <a:r>
                        <a:rPr sz="750" b="0">
                          <a:solidFill>
                            <a:srgbClr val="202020"/>
                          </a:solidFill>
                        </a:rPr>
                        <a:t>0.152</a:t>
                      </a:r>
                    </a:p>
                  </a:txBody>
                  <a:tcPr>
                    <a:solidFill>
                      <a:srgbClr val="E8F0FE"/>
                    </a:solidFill>
                  </a:tcPr>
                </a:tc>
                <a:tc>
                  <a:txBody>
                    <a:bodyPr/>
                    <a:lstStyle/>
                    <a:p>
                      <a:pPr algn="ctr"/>
                      <a:r>
                        <a:rPr sz="750" b="0">
                          <a:solidFill>
                            <a:srgbClr val="202020"/>
                          </a:solidFill>
                        </a:rPr>
                        <a:t>0.238</a:t>
                      </a:r>
                    </a:p>
                  </a:txBody>
                  <a:tcPr>
                    <a:solidFill>
                      <a:srgbClr val="E8F0FE"/>
                    </a:solidFill>
                  </a:tcPr>
                </a:tc>
                <a:tc>
                  <a:txBody>
                    <a:bodyPr/>
                    <a:lstStyle/>
                    <a:p>
                      <a:pPr algn="ctr"/>
                      <a:r>
                        <a:rPr sz="750" b="0">
                          <a:solidFill>
                            <a:srgbClr val="202020"/>
                          </a:solidFill>
                        </a:rPr>
                        <a:t>0.152</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0.160</a:t>
                      </a:r>
                    </a:p>
                  </a:txBody>
                  <a:tcPr>
                    <a:solidFill>
                      <a:srgbClr val="FFFFFF"/>
                    </a:solidFill>
                  </a:tcPr>
                </a:tc>
                <a:tc>
                  <a:txBody>
                    <a:bodyPr/>
                    <a:lstStyle/>
                    <a:p>
                      <a:pPr algn="ctr"/>
                      <a:r>
                        <a:rPr sz="750" b="0">
                          <a:solidFill>
                            <a:srgbClr val="202020"/>
                          </a:solidFill>
                        </a:rPr>
                        <a:t>0.529</a:t>
                      </a:r>
                    </a:p>
                  </a:txBody>
                  <a:tcPr>
                    <a:solidFill>
                      <a:srgbClr val="FFFFFF"/>
                    </a:solidFill>
                  </a:tcPr>
                </a:tc>
                <a:tc>
                  <a:txBody>
                    <a:bodyPr/>
                    <a:lstStyle/>
                    <a:p>
                      <a:pPr algn="ctr"/>
                      <a:r>
                        <a:rPr sz="750" b="0">
                          <a:solidFill>
                            <a:srgbClr val="202020"/>
                          </a:solidFill>
                        </a:rPr>
                        <a:t>0.580</a:t>
                      </a:r>
                    </a:p>
                  </a:txBody>
                  <a:tcPr>
                    <a:solidFill>
                      <a:srgbClr val="FFFFFF"/>
                    </a:solidFill>
                  </a:tcPr>
                </a:tc>
                <a:tc>
                  <a:txBody>
                    <a:bodyPr/>
                    <a:lstStyle/>
                    <a:p>
                      <a:pPr algn="ctr"/>
                      <a:r>
                        <a:rPr sz="750" b="0">
                          <a:solidFill>
                            <a:srgbClr val="202020"/>
                          </a:solidFill>
                        </a:rPr>
                        <a:t>0.529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0.125</a:t>
                      </a:r>
                    </a:p>
                  </a:txBody>
                  <a:tcPr>
                    <a:solidFill>
                      <a:srgbClr val="FFFFFF"/>
                    </a:solidFill>
                  </a:tcPr>
                </a:tc>
                <a:tc>
                  <a:txBody>
                    <a:bodyPr/>
                    <a:lstStyle/>
                    <a:p>
                      <a:pPr algn="ctr"/>
                      <a:r>
                        <a:rPr sz="750" b="0">
                          <a:solidFill>
                            <a:srgbClr val="202020"/>
                          </a:solidFill>
                        </a:rPr>
                        <a:t>0.686</a:t>
                      </a:r>
                    </a:p>
                  </a:txBody>
                  <a:tcPr>
                    <a:solidFill>
                      <a:srgbClr val="FFFFFF"/>
                    </a:solidFill>
                  </a:tcPr>
                </a:tc>
                <a:tc>
                  <a:txBody>
                    <a:bodyPr/>
                    <a:lstStyle/>
                    <a:p>
                      <a:pPr algn="ctr"/>
                      <a:r>
                        <a:rPr sz="750" b="0">
                          <a:solidFill>
                            <a:srgbClr val="202020"/>
                          </a:solidFill>
                        </a:rPr>
                        <a:t>0.638</a:t>
                      </a:r>
                    </a:p>
                  </a:txBody>
                  <a:tcPr>
                    <a:solidFill>
                      <a:srgbClr val="FFFFFF"/>
                    </a:solidFill>
                  </a:tcPr>
                </a:tc>
                <a:tc>
                  <a:txBody>
                    <a:bodyPr/>
                    <a:lstStyle/>
                    <a:p>
                      <a:pPr algn="ctr"/>
                      <a:r>
                        <a:rPr sz="750" b="0">
                          <a:solidFill>
                            <a:srgbClr val="202020"/>
                          </a:solidFill>
                        </a:rPr>
                        <a:t>0.686</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0.179</a:t>
                      </a:r>
                    </a:p>
                  </a:txBody>
                  <a:tcPr>
                    <a:solidFill>
                      <a:srgbClr val="FFFFFF"/>
                    </a:solidFill>
                  </a:tcPr>
                </a:tc>
                <a:tc>
                  <a:txBody>
                    <a:bodyPr/>
                    <a:lstStyle/>
                    <a:p>
                      <a:pPr algn="ctr"/>
                      <a:r>
                        <a:rPr sz="750" b="0">
                          <a:solidFill>
                            <a:srgbClr val="202020"/>
                          </a:solidFill>
                        </a:rPr>
                        <a:t>0.705</a:t>
                      </a:r>
                    </a:p>
                  </a:txBody>
                  <a:tcPr>
                    <a:solidFill>
                      <a:srgbClr val="FFFFFF"/>
                    </a:solidFill>
                  </a:tcPr>
                </a:tc>
                <a:tc>
                  <a:txBody>
                    <a:bodyPr/>
                    <a:lstStyle/>
                    <a:p>
                      <a:pPr algn="ctr"/>
                      <a:r>
                        <a:rPr sz="750" b="0">
                          <a:solidFill>
                            <a:srgbClr val="202020"/>
                          </a:solidFill>
                        </a:rPr>
                        <a:t>0.676</a:t>
                      </a:r>
                    </a:p>
                  </a:txBody>
                  <a:tcPr>
                    <a:solidFill>
                      <a:srgbClr val="FFFFFF"/>
                    </a:solidFill>
                  </a:tcPr>
                </a:tc>
                <a:tc>
                  <a:txBody>
                    <a:bodyPr/>
                    <a:lstStyle/>
                    <a:p>
                      <a:pPr algn="ctr"/>
                      <a:r>
                        <a:rPr sz="750" b="0">
                          <a:solidFill>
                            <a:srgbClr val="202020"/>
                          </a:solidFill>
                        </a:rPr>
                        <a:t>0.705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0.247</a:t>
                      </a:r>
                    </a:p>
                  </a:txBody>
                  <a:tcPr>
                    <a:solidFill>
                      <a:srgbClr val="FFFFFF"/>
                    </a:solidFill>
                  </a:tcPr>
                </a:tc>
                <a:tc>
                  <a:txBody>
                    <a:bodyPr/>
                    <a:lstStyle/>
                    <a:p>
                      <a:pPr algn="ctr"/>
                      <a:r>
                        <a:rPr sz="750" b="0">
                          <a:solidFill>
                            <a:srgbClr val="202020"/>
                          </a:solidFill>
                        </a:rPr>
                        <a:t>0.703</a:t>
                      </a:r>
                    </a:p>
                  </a:txBody>
                  <a:tcPr>
                    <a:solidFill>
                      <a:srgbClr val="FFFFFF"/>
                    </a:solidFill>
                  </a:tcPr>
                </a:tc>
                <a:tc>
                  <a:txBody>
                    <a:bodyPr/>
                    <a:lstStyle/>
                    <a:p>
                      <a:pPr algn="ctr"/>
                      <a:r>
                        <a:rPr sz="750" b="0">
                          <a:solidFill>
                            <a:srgbClr val="202020"/>
                          </a:solidFill>
                        </a:rPr>
                        <a:t>0.726</a:t>
                      </a:r>
                    </a:p>
                  </a:txBody>
                  <a:tcPr>
                    <a:solidFill>
                      <a:srgbClr val="FFFFFF"/>
                    </a:solidFill>
                  </a:tcPr>
                </a:tc>
                <a:tc>
                  <a:txBody>
                    <a:bodyPr/>
                    <a:lstStyle/>
                    <a:p>
                      <a:pPr algn="ctr"/>
                      <a:r>
                        <a:rPr sz="750" b="0">
                          <a:solidFill>
                            <a:srgbClr val="202020"/>
                          </a:solidFill>
                        </a:rPr>
                        <a:t>0.703</a:t>
                      </a:r>
                    </a:p>
                  </a:txBody>
                  <a:tcPr>
                    <a:solidFill>
                      <a:srgbClr val="FFFFFF"/>
                    </a:solidFill>
                  </a:tcPr>
                </a:tc>
              </a:tr>
            </a:tbl>
          </a:graphicData>
        </a:graphic>
      </p:graphicFrame>
      <p:sp>
        <p:nvSpPr>
          <p:cNvPr id="7" name="TextBox 6"/>
          <p:cNvSpPr txBox="1"/>
          <p:nvPr/>
        </p:nvSpPr>
        <p:spPr>
          <a:xfrm>
            <a:off x="4617720" y="960120"/>
            <a:ext cx="4206240" cy="201168"/>
          </a:xfrm>
          <a:prstGeom prst="rect">
            <a:avLst/>
          </a:prstGeom>
          <a:noFill/>
        </p:spPr>
        <p:txBody>
          <a:bodyPr wrap="none">
            <a:spAutoFit/>
          </a:bodyPr>
          <a:lstStyle/>
          <a:p>
            <a:pPr algn="l"/>
            <a:r>
              <a:rPr sz="950" b="1" i="0">
                <a:solidFill>
                  <a:srgbClr val="1A73E8"/>
                </a:solidFill>
              </a:rPr>
              <a:t>CK+ → Primer (4-Class)</a:t>
            </a:r>
          </a:p>
        </p:txBody>
      </p:sp>
      <p:graphicFrame>
        <p:nvGraphicFramePr>
          <p:cNvPr id="8" name="Table 7"/>
          <p:cNvGraphicFramePr>
            <a:graphicFrameLocks noGrp="1"/>
          </p:cNvGraphicFramePr>
          <p:nvPr/>
        </p:nvGraphicFramePr>
        <p:xfrm>
          <a:off x="4617720" y="1188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0.396</a:t>
                      </a:r>
                    </a:p>
                  </a:txBody>
                  <a:tcPr>
                    <a:solidFill>
                      <a:srgbClr val="E6F4EA"/>
                    </a:solidFill>
                  </a:tcPr>
                </a:tc>
                <a:tc>
                  <a:txBody>
                    <a:bodyPr/>
                    <a:lstStyle/>
                    <a:p>
                      <a:pPr algn="ctr"/>
                      <a:r>
                        <a:rPr sz="750" b="0">
                          <a:solidFill>
                            <a:srgbClr val="202020"/>
                          </a:solidFill>
                        </a:rPr>
                        <a:t>0.642</a:t>
                      </a:r>
                    </a:p>
                  </a:txBody>
                  <a:tcPr>
                    <a:solidFill>
                      <a:srgbClr val="E6F4EA"/>
                    </a:solidFill>
                  </a:tcPr>
                </a:tc>
                <a:tc>
                  <a:txBody>
                    <a:bodyPr/>
                    <a:lstStyle/>
                    <a:p>
                      <a:pPr algn="ctr"/>
                      <a:r>
                        <a:rPr sz="750" b="0">
                          <a:solidFill>
                            <a:srgbClr val="202020"/>
                          </a:solidFill>
                        </a:rPr>
                        <a:t>0.703</a:t>
                      </a:r>
                    </a:p>
                  </a:txBody>
                  <a:tcPr>
                    <a:solidFill>
                      <a:srgbClr val="E6F4EA"/>
                    </a:solidFill>
                  </a:tcPr>
                </a:tc>
                <a:tc>
                  <a:txBody>
                    <a:bodyPr/>
                    <a:lstStyle/>
                    <a:p>
                      <a:pPr algn="ctr"/>
                      <a:r>
                        <a:rPr sz="750" b="0">
                          <a:solidFill>
                            <a:srgbClr val="202020"/>
                          </a:solidFill>
                        </a:rPr>
                        <a:t>0.642</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0.072</a:t>
                      </a:r>
                    </a:p>
                  </a:txBody>
                  <a:tcPr>
                    <a:solidFill>
                      <a:srgbClr val="FFFFFF"/>
                    </a:solidFill>
                  </a:tcPr>
                </a:tc>
                <a:tc>
                  <a:txBody>
                    <a:bodyPr/>
                    <a:lstStyle/>
                    <a:p>
                      <a:pPr algn="ctr"/>
                      <a:r>
                        <a:rPr sz="750" b="0">
                          <a:solidFill>
                            <a:srgbClr val="202020"/>
                          </a:solidFill>
                        </a:rPr>
                        <a:t>0.102</a:t>
                      </a:r>
                    </a:p>
                  </a:txBody>
                  <a:tcPr>
                    <a:solidFill>
                      <a:srgbClr val="FFFFFF"/>
                    </a:solidFill>
                  </a:tcPr>
                </a:tc>
                <a:tc>
                  <a:txBody>
                    <a:bodyPr/>
                    <a:lstStyle/>
                    <a:p>
                      <a:pPr algn="ctr"/>
                      <a:r>
                        <a:rPr sz="750" b="0">
                          <a:solidFill>
                            <a:srgbClr val="202020"/>
                          </a:solidFill>
                        </a:rPr>
                        <a:t>0.093</a:t>
                      </a:r>
                    </a:p>
                  </a:txBody>
                  <a:tcPr>
                    <a:solidFill>
                      <a:srgbClr val="FFFFFF"/>
                    </a:solidFill>
                  </a:tcPr>
                </a:tc>
                <a:tc>
                  <a:txBody>
                    <a:bodyPr/>
                    <a:lstStyle/>
                    <a:p>
                      <a:pPr algn="ctr"/>
                      <a:r>
                        <a:rPr sz="750" b="0">
                          <a:solidFill>
                            <a:srgbClr val="202020"/>
                          </a:solidFill>
                        </a:rPr>
                        <a:t>0.102</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0.186</a:t>
                      </a:r>
                    </a:p>
                  </a:txBody>
                  <a:tcPr>
                    <a:solidFill>
                      <a:srgbClr val="E8F0FE"/>
                    </a:solidFill>
                  </a:tcPr>
                </a:tc>
                <a:tc>
                  <a:txBody>
                    <a:bodyPr/>
                    <a:lstStyle/>
                    <a:p>
                      <a:pPr algn="ctr"/>
                      <a:r>
                        <a:rPr sz="750" b="0">
                          <a:solidFill>
                            <a:srgbClr val="202020"/>
                          </a:solidFill>
                        </a:rPr>
                        <a:t>0.465</a:t>
                      </a:r>
                    </a:p>
                  </a:txBody>
                  <a:tcPr>
                    <a:solidFill>
                      <a:srgbClr val="E8F0FE"/>
                    </a:solidFill>
                  </a:tcPr>
                </a:tc>
                <a:tc>
                  <a:txBody>
                    <a:bodyPr/>
                    <a:lstStyle/>
                    <a:p>
                      <a:pPr algn="ctr"/>
                      <a:r>
                        <a:rPr sz="750" b="0">
                          <a:solidFill>
                            <a:srgbClr val="202020"/>
                          </a:solidFill>
                        </a:rPr>
                        <a:t>0.532</a:t>
                      </a:r>
                    </a:p>
                  </a:txBody>
                  <a:tcPr>
                    <a:solidFill>
                      <a:srgbClr val="E8F0FE"/>
                    </a:solidFill>
                  </a:tcPr>
                </a:tc>
                <a:tc>
                  <a:txBody>
                    <a:bodyPr/>
                    <a:lstStyle/>
                    <a:p>
                      <a:pPr algn="ctr"/>
                      <a:r>
                        <a:rPr sz="750" b="0">
                          <a:solidFill>
                            <a:srgbClr val="202020"/>
                          </a:solidFill>
                        </a:rPr>
                        <a:t>0.465</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0.258</a:t>
                      </a:r>
                    </a:p>
                  </a:txBody>
                  <a:tcPr>
                    <a:solidFill>
                      <a:srgbClr val="FFFFFF"/>
                    </a:solidFill>
                  </a:tcPr>
                </a:tc>
                <a:tc>
                  <a:txBody>
                    <a:bodyPr/>
                    <a:lstStyle/>
                    <a:p>
                      <a:pPr algn="ctr"/>
                      <a:r>
                        <a:rPr sz="750" b="0">
                          <a:solidFill>
                            <a:srgbClr val="202020"/>
                          </a:solidFill>
                        </a:rPr>
                        <a:t>0.386</a:t>
                      </a:r>
                    </a:p>
                  </a:txBody>
                  <a:tcPr>
                    <a:solidFill>
                      <a:srgbClr val="FFFFFF"/>
                    </a:solidFill>
                  </a:tcPr>
                </a:tc>
                <a:tc>
                  <a:txBody>
                    <a:bodyPr/>
                    <a:lstStyle/>
                    <a:p>
                      <a:pPr algn="ctr"/>
                      <a:r>
                        <a:rPr sz="750" b="0">
                          <a:solidFill>
                            <a:srgbClr val="202020"/>
                          </a:solidFill>
                        </a:rPr>
                        <a:t>0.527</a:t>
                      </a:r>
                    </a:p>
                  </a:txBody>
                  <a:tcPr>
                    <a:solidFill>
                      <a:srgbClr val="FFFFFF"/>
                    </a:solidFill>
                  </a:tcPr>
                </a:tc>
                <a:tc>
                  <a:txBody>
                    <a:bodyPr/>
                    <a:lstStyle/>
                    <a:p>
                      <a:pPr algn="ctr"/>
                      <a:r>
                        <a:rPr sz="750" b="0">
                          <a:solidFill>
                            <a:srgbClr val="202020"/>
                          </a:solidFill>
                        </a:rPr>
                        <a:t>0.386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0.202</a:t>
                      </a:r>
                    </a:p>
                  </a:txBody>
                  <a:tcPr>
                    <a:solidFill>
                      <a:srgbClr val="E8F0FE"/>
                    </a:solidFill>
                  </a:tcPr>
                </a:tc>
                <a:tc>
                  <a:txBody>
                    <a:bodyPr/>
                    <a:lstStyle/>
                    <a:p>
                      <a:pPr algn="ctr"/>
                      <a:r>
                        <a:rPr sz="750" b="0">
                          <a:solidFill>
                            <a:srgbClr val="202020"/>
                          </a:solidFill>
                        </a:rPr>
                        <a:t>0.271</a:t>
                      </a:r>
                    </a:p>
                  </a:txBody>
                  <a:tcPr>
                    <a:solidFill>
                      <a:srgbClr val="E8F0FE"/>
                    </a:solidFill>
                  </a:tcPr>
                </a:tc>
                <a:tc>
                  <a:txBody>
                    <a:bodyPr/>
                    <a:lstStyle/>
                    <a:p>
                      <a:pPr algn="ctr"/>
                      <a:r>
                        <a:rPr sz="750" b="0">
                          <a:solidFill>
                            <a:srgbClr val="202020"/>
                          </a:solidFill>
                        </a:rPr>
                        <a:t>0.381</a:t>
                      </a:r>
                    </a:p>
                  </a:txBody>
                  <a:tcPr>
                    <a:solidFill>
                      <a:srgbClr val="E8F0FE"/>
                    </a:solidFill>
                  </a:tcPr>
                </a:tc>
                <a:tc>
                  <a:txBody>
                    <a:bodyPr/>
                    <a:lstStyle/>
                    <a:p>
                      <a:pPr algn="ctr"/>
                      <a:r>
                        <a:rPr sz="750" b="0">
                          <a:solidFill>
                            <a:srgbClr val="202020"/>
                          </a:solidFill>
                        </a:rPr>
                        <a:t>0.271</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0.245</a:t>
                      </a:r>
                    </a:p>
                  </a:txBody>
                  <a:tcPr>
                    <a:solidFill>
                      <a:srgbClr val="FFFFFF"/>
                    </a:solidFill>
                  </a:tcPr>
                </a:tc>
                <a:tc>
                  <a:txBody>
                    <a:bodyPr/>
                    <a:lstStyle/>
                    <a:p>
                      <a:pPr algn="ctr"/>
                      <a:r>
                        <a:rPr sz="750" b="0">
                          <a:solidFill>
                            <a:srgbClr val="202020"/>
                          </a:solidFill>
                        </a:rPr>
                        <a:t>0.489</a:t>
                      </a:r>
                    </a:p>
                  </a:txBody>
                  <a:tcPr>
                    <a:solidFill>
                      <a:srgbClr val="FFFFFF"/>
                    </a:solidFill>
                  </a:tcPr>
                </a:tc>
                <a:tc>
                  <a:txBody>
                    <a:bodyPr/>
                    <a:lstStyle/>
                    <a:p>
                      <a:pPr algn="ctr"/>
                      <a:r>
                        <a:rPr sz="750" b="0">
                          <a:solidFill>
                            <a:srgbClr val="202020"/>
                          </a:solidFill>
                        </a:rPr>
                        <a:t>0.556</a:t>
                      </a:r>
                    </a:p>
                  </a:txBody>
                  <a:tcPr>
                    <a:solidFill>
                      <a:srgbClr val="FFFFFF"/>
                    </a:solidFill>
                  </a:tcPr>
                </a:tc>
                <a:tc>
                  <a:txBody>
                    <a:bodyPr/>
                    <a:lstStyle/>
                    <a:p>
                      <a:pPr algn="ctr"/>
                      <a:r>
                        <a:rPr sz="750" b="0">
                          <a:solidFill>
                            <a:srgbClr val="202020"/>
                          </a:solidFill>
                        </a:rPr>
                        <a:t>0.489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0.207</a:t>
                      </a:r>
                    </a:p>
                  </a:txBody>
                  <a:tcPr>
                    <a:solidFill>
                      <a:srgbClr val="FFFFFF"/>
                    </a:solidFill>
                  </a:tcPr>
                </a:tc>
                <a:tc>
                  <a:txBody>
                    <a:bodyPr/>
                    <a:lstStyle/>
                    <a:p>
                      <a:pPr algn="ctr"/>
                      <a:r>
                        <a:rPr sz="750" b="0">
                          <a:solidFill>
                            <a:srgbClr val="202020"/>
                          </a:solidFill>
                        </a:rPr>
                        <a:t>0.577</a:t>
                      </a:r>
                    </a:p>
                  </a:txBody>
                  <a:tcPr>
                    <a:solidFill>
                      <a:srgbClr val="FFFFFF"/>
                    </a:solidFill>
                  </a:tcPr>
                </a:tc>
                <a:tc>
                  <a:txBody>
                    <a:bodyPr/>
                    <a:lstStyle/>
                    <a:p>
                      <a:pPr algn="ctr"/>
                      <a:r>
                        <a:rPr sz="750" b="0">
                          <a:solidFill>
                            <a:srgbClr val="202020"/>
                          </a:solidFill>
                        </a:rPr>
                        <a:t>0.582</a:t>
                      </a:r>
                    </a:p>
                  </a:txBody>
                  <a:tcPr>
                    <a:solidFill>
                      <a:srgbClr val="FFFFFF"/>
                    </a:solidFill>
                  </a:tcPr>
                </a:tc>
                <a:tc>
                  <a:txBody>
                    <a:bodyPr/>
                    <a:lstStyle/>
                    <a:p>
                      <a:pPr algn="ctr"/>
                      <a:r>
                        <a:rPr sz="750" b="0">
                          <a:solidFill>
                            <a:srgbClr val="202020"/>
                          </a:solidFill>
                        </a:rPr>
                        <a:t>0.577</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0.194</a:t>
                      </a:r>
                    </a:p>
                  </a:txBody>
                  <a:tcPr>
                    <a:solidFill>
                      <a:srgbClr val="FFFFFF"/>
                    </a:solidFill>
                  </a:tcPr>
                </a:tc>
                <a:tc>
                  <a:txBody>
                    <a:bodyPr/>
                    <a:lstStyle/>
                    <a:p>
                      <a:pPr algn="ctr"/>
                      <a:r>
                        <a:rPr sz="750" b="0">
                          <a:solidFill>
                            <a:srgbClr val="202020"/>
                          </a:solidFill>
                        </a:rPr>
                        <a:t>0.288</a:t>
                      </a:r>
                    </a:p>
                  </a:txBody>
                  <a:tcPr>
                    <a:solidFill>
                      <a:srgbClr val="FFFFFF"/>
                    </a:solidFill>
                  </a:tcPr>
                </a:tc>
                <a:tc>
                  <a:txBody>
                    <a:bodyPr/>
                    <a:lstStyle/>
                    <a:p>
                      <a:pPr algn="ctr"/>
                      <a:r>
                        <a:rPr sz="750" b="0">
                          <a:solidFill>
                            <a:srgbClr val="202020"/>
                          </a:solidFill>
                        </a:rPr>
                        <a:t>0.194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0.141</a:t>
                      </a:r>
                    </a:p>
                  </a:txBody>
                  <a:tcPr>
                    <a:solidFill>
                      <a:srgbClr val="FFFFFF"/>
                    </a:solidFill>
                  </a:tcPr>
                </a:tc>
                <a:tc>
                  <a:txBody>
                    <a:bodyPr/>
                    <a:lstStyle/>
                    <a:p>
                      <a:pPr algn="ctr"/>
                      <a:r>
                        <a:rPr sz="750" b="0">
                          <a:solidFill>
                            <a:srgbClr val="202020"/>
                          </a:solidFill>
                        </a:rPr>
                        <a:t>0.182</a:t>
                      </a:r>
                    </a:p>
                  </a:txBody>
                  <a:tcPr>
                    <a:solidFill>
                      <a:srgbClr val="FFFFFF"/>
                    </a:solidFill>
                  </a:tcPr>
                </a:tc>
                <a:tc>
                  <a:txBody>
                    <a:bodyPr/>
                    <a:lstStyle/>
                    <a:p>
                      <a:pPr algn="ctr"/>
                      <a:r>
                        <a:rPr sz="750" b="0">
                          <a:solidFill>
                            <a:srgbClr val="202020"/>
                          </a:solidFill>
                        </a:rPr>
                        <a:t>0.281</a:t>
                      </a:r>
                    </a:p>
                  </a:txBody>
                  <a:tcPr>
                    <a:solidFill>
                      <a:srgbClr val="FFFFFF"/>
                    </a:solidFill>
                  </a:tcPr>
                </a:tc>
                <a:tc>
                  <a:txBody>
                    <a:bodyPr/>
                    <a:lstStyle/>
                    <a:p>
                      <a:pPr algn="ctr"/>
                      <a:r>
                        <a:rPr sz="750" b="0">
                          <a:solidFill>
                            <a:srgbClr val="202020"/>
                          </a:solidFill>
                        </a:rPr>
                        <a:t>0.182</a:t>
                      </a:r>
                    </a:p>
                  </a:txBody>
                  <a:tcPr>
                    <a:solidFill>
                      <a:srgbClr val="FFFFFF"/>
                    </a:solidFill>
                  </a:tcPr>
                </a:tc>
              </a:tr>
            </a:tbl>
          </a:graphicData>
        </a:graphic>
      </p:graphicFrame>
      <p:sp>
        <p:nvSpPr>
          <p:cNvPr id="9" name="TextBox 8"/>
          <p:cNvSpPr txBox="1"/>
          <p:nvPr/>
        </p:nvSpPr>
        <p:spPr>
          <a:xfrm>
            <a:off x="274320" y="3246120"/>
            <a:ext cx="4206240" cy="201168"/>
          </a:xfrm>
          <a:prstGeom prst="rect">
            <a:avLst/>
          </a:prstGeom>
          <a:noFill/>
        </p:spPr>
        <p:txBody>
          <a:bodyPr wrap="none">
            <a:spAutoFit/>
          </a:bodyPr>
          <a:lstStyle/>
          <a:p>
            <a:pPr algn="l"/>
            <a:r>
              <a:rPr sz="950" b="1" i="0">
                <a:solidFill>
                  <a:srgbClr val="1A73E8"/>
                </a:solidFill>
              </a:rPr>
              <a:t>JAFFE → Primer (7-Class)</a:t>
            </a:r>
          </a:p>
        </p:txBody>
      </p:sp>
      <p:graphicFrame>
        <p:nvGraphicFramePr>
          <p:cNvPr id="10" name="Table 9"/>
          <p:cNvGraphicFramePr>
            <a:graphicFrameLocks noGrp="1"/>
          </p:cNvGraphicFramePr>
          <p:nvPr/>
        </p:nvGraphicFramePr>
        <p:xfrm>
          <a:off x="2743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0.001</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0.002</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0.018</a:t>
                      </a:r>
                    </a:p>
                  </a:txBody>
                  <a:tcPr>
                    <a:solidFill>
                      <a:srgbClr val="FFFFFF"/>
                    </a:solidFill>
                  </a:tcPr>
                </a:tc>
                <a:tc>
                  <a:txBody>
                    <a:bodyPr/>
                    <a:lstStyle/>
                    <a:p>
                      <a:pPr algn="ctr"/>
                      <a:r>
                        <a:rPr sz="750" b="0">
                          <a:solidFill>
                            <a:srgbClr val="202020"/>
                          </a:solidFill>
                        </a:rPr>
                        <a:t>0.013</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0.017</a:t>
                      </a:r>
                    </a:p>
                  </a:txBody>
                  <a:tcPr>
                    <a:solidFill>
                      <a:srgbClr val="E8F0FE"/>
                    </a:solidFill>
                  </a:tcPr>
                </a:tc>
                <a:tc>
                  <a:txBody>
                    <a:bodyPr/>
                    <a:lstStyle/>
                    <a:p>
                      <a:pPr algn="ctr"/>
                      <a:r>
                        <a:rPr sz="750" b="0">
                          <a:solidFill>
                            <a:srgbClr val="202020"/>
                          </a:solidFill>
                        </a:rPr>
                        <a:t>0.014</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0.014</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0.006</a:t>
                      </a:r>
                    </a:p>
                  </a:txBody>
                  <a:tcPr>
                    <a:solidFill>
                      <a:srgbClr val="FFFFFF"/>
                    </a:solidFill>
                  </a:tcPr>
                </a:tc>
                <a:tc>
                  <a:txBody>
                    <a:bodyPr/>
                    <a:lstStyle/>
                    <a:p>
                      <a:pPr algn="ctr"/>
                      <a:r>
                        <a:rPr sz="750" b="0">
                          <a:solidFill>
                            <a:srgbClr val="202020"/>
                          </a:solidFill>
                        </a:rPr>
                        <a:t>0.054</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0.028</a:t>
                      </a:r>
                    </a:p>
                  </a:txBody>
                  <a:tcPr>
                    <a:solidFill>
                      <a:srgbClr val="E8F0FE"/>
                    </a:solidFill>
                  </a:tcPr>
                </a:tc>
                <a:tc>
                  <a:txBody>
                    <a:bodyPr/>
                    <a:lstStyle/>
                    <a:p>
                      <a:pPr algn="ctr"/>
                      <a:r>
                        <a:rPr sz="750" b="0">
                          <a:solidFill>
                            <a:srgbClr val="202020"/>
                          </a:solidFill>
                        </a:rPr>
                        <a:t>0.045</a:t>
                      </a:r>
                    </a:p>
                  </a:txBody>
                  <a:tcPr>
                    <a:solidFill>
                      <a:srgbClr val="E8F0FE"/>
                    </a:solidFill>
                  </a:tcPr>
                </a:tc>
                <a:tc>
                  <a:txBody>
                    <a:bodyPr/>
                    <a:lstStyle/>
                    <a:p>
                      <a:pPr algn="ctr"/>
                      <a:r>
                        <a:rPr sz="750" b="0">
                          <a:solidFill>
                            <a:srgbClr val="202020"/>
                          </a:solidFill>
                        </a:rPr>
                        <a:t>0.028</a:t>
                      </a:r>
                    </a:p>
                  </a:txBody>
                  <a:tcPr>
                    <a:solidFill>
                      <a:srgbClr val="E8F0FE"/>
                    </a:solidFill>
                  </a:tcPr>
                </a:tc>
              </a:tr>
              <a:tr h="287388">
                <a:tc>
                  <a:txBody>
                    <a:bodyPr/>
                    <a:lstStyle/>
                    <a:p>
                      <a:pPr algn="l"/>
                      <a:r>
                        <a:rPr sz="750" b="1">
                          <a:solidFill>
                            <a:srgbClr val="202020"/>
                          </a:solidFill>
                        </a:rPr>
                        <a:t>Late Fusion</a:t>
                      </a:r>
                    </a:p>
                  </a:txBody>
                  <a:tcPr>
                    <a:solidFill>
                      <a:srgbClr val="E6F4EA"/>
                    </a:solidFill>
                  </a:tcPr>
                </a:tc>
                <a:tc>
                  <a:txBody>
                    <a:bodyPr/>
                    <a:lstStyle/>
                    <a:p>
                      <a:pPr algn="ctr"/>
                      <a:r>
                        <a:rPr sz="750" b="0">
                          <a:solidFill>
                            <a:srgbClr val="202020"/>
                          </a:solidFill>
                        </a:rPr>
                        <a:t>0.040</a:t>
                      </a:r>
                    </a:p>
                  </a:txBody>
                  <a:tcPr>
                    <a:solidFill>
                      <a:srgbClr val="E6F4EA"/>
                    </a:solidFill>
                  </a:tcPr>
                </a:tc>
                <a:tc>
                  <a:txBody>
                    <a:bodyPr/>
                    <a:lstStyle/>
                    <a:p>
                      <a:pPr algn="ctr"/>
                      <a:r>
                        <a:rPr sz="750" b="0">
                          <a:solidFill>
                            <a:srgbClr val="202020"/>
                          </a:solidFill>
                        </a:rPr>
                        <a:t>0.081</a:t>
                      </a:r>
                    </a:p>
                  </a:txBody>
                  <a:tcPr>
                    <a:solidFill>
                      <a:srgbClr val="E6F4EA"/>
                    </a:solidFill>
                  </a:tcPr>
                </a:tc>
                <a:tc>
                  <a:txBody>
                    <a:bodyPr/>
                    <a:lstStyle/>
                    <a:p>
                      <a:pPr algn="ctr"/>
                      <a:r>
                        <a:rPr sz="750" b="0">
                          <a:solidFill>
                            <a:srgbClr val="202020"/>
                          </a:solidFill>
                        </a:rPr>
                        <a:t>0.054</a:t>
                      </a:r>
                    </a:p>
                  </a:txBody>
                  <a:tcPr>
                    <a:solidFill>
                      <a:srgbClr val="E6F4EA"/>
                    </a:solidFill>
                  </a:tcPr>
                </a:tc>
                <a:tc>
                  <a:txBody>
                    <a:bodyPr/>
                    <a:lstStyle/>
                    <a:p>
                      <a:pPr algn="ctr"/>
                      <a:r>
                        <a:rPr sz="750" b="0">
                          <a:solidFill>
                            <a:srgbClr val="202020"/>
                          </a:solidFill>
                        </a:rPr>
                        <a:t>0.081</a:t>
                      </a:r>
                    </a:p>
                  </a:txBody>
                  <a:tcPr>
                    <a:solidFill>
                      <a:srgbClr val="E6F4EA"/>
                    </a:solidFill>
                  </a:tcPr>
                </a:tc>
              </a:tr>
              <a:tr h="287388">
                <a:tc>
                  <a:txBody>
                    <a:bodyPr/>
                    <a:lstStyle/>
                    <a:p>
                      <a:pPr algn="l"/>
                      <a:r>
                        <a:rPr sz="750" b="1">
                          <a:solidFill>
                            <a:srgbClr val="202020"/>
                          </a:solidFill>
                        </a:rPr>
                        <a:t>Early Fusion</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c>
                  <a:txBody>
                    <a:bodyPr/>
                    <a:lstStyle/>
                    <a:p>
                      <a:pPr algn="ctr"/>
                      <a:r>
                        <a:rPr sz="750" b="0">
                          <a:solidFill>
                            <a:srgbClr val="202020"/>
                          </a:solidFill>
                        </a:rPr>
                        <a:t>0.026</a:t>
                      </a:r>
                    </a:p>
                  </a:txBody>
                  <a:tcPr>
                    <a:solidFill>
                      <a:srgbClr val="E6F4EA"/>
                    </a:solidFill>
                  </a:tcPr>
                </a:tc>
                <a:tc>
                  <a:txBody>
                    <a:bodyPr/>
                    <a:lstStyle/>
                    <a:p>
                      <a:pPr algn="ctr"/>
                      <a:r>
                        <a:rPr sz="750" b="0">
                          <a:solidFill>
                            <a:srgbClr val="202020"/>
                          </a:solidFill>
                        </a:rPr>
                        <a:t>0.032</a:t>
                      </a:r>
                    </a:p>
                  </a:txBody>
                  <a:tcPr>
                    <a:solidFill>
                      <a:srgbClr val="E6F4EA"/>
                    </a:solidFill>
                  </a:tcPr>
                </a:tc>
              </a:tr>
              <a:tr h="287388">
                <a:tc>
                  <a:txBody>
                    <a:bodyPr/>
                    <a:lstStyle/>
                    <a:p>
                      <a:pPr algn="l"/>
                      <a:r>
                        <a:rPr sz="750" b="1">
                          <a:solidFill>
                            <a:srgbClr val="202020"/>
                          </a:solidFill>
                        </a:rPr>
                        <a:t>Early Fusion TL</a:t>
                      </a:r>
                    </a:p>
                  </a:txBody>
                  <a:tcPr>
                    <a:solidFill>
                      <a:srgbClr val="E6F4EA"/>
                    </a:solidFill>
                  </a:tcPr>
                </a:tc>
                <a:tc>
                  <a:txBody>
                    <a:bodyPr/>
                    <a:lstStyle/>
                    <a:p>
                      <a:pPr algn="ctr"/>
                      <a:r>
                        <a:rPr sz="750" b="0">
                          <a:solidFill>
                            <a:srgbClr val="202020"/>
                          </a:solidFill>
                        </a:rPr>
                        <a:t>0.001</a:t>
                      </a:r>
                    </a:p>
                  </a:txBody>
                  <a:tcPr>
                    <a:solidFill>
                      <a:srgbClr val="E6F4EA"/>
                    </a:solidFill>
                  </a:tcPr>
                </a:tc>
                <a:tc>
                  <a:txBody>
                    <a:bodyPr/>
                    <a:lstStyle/>
                    <a:p>
                      <a:pPr algn="ctr"/>
                      <a:r>
                        <a:rPr sz="750" b="0">
                          <a:solidFill>
                            <a:srgbClr val="202020"/>
                          </a:solidFill>
                        </a:rPr>
                        <a:t>0.002</a:t>
                      </a:r>
                    </a:p>
                  </a:txBody>
                  <a:tcPr>
                    <a:solidFill>
                      <a:srgbClr val="E6F4EA"/>
                    </a:solidFill>
                  </a:tcPr>
                </a:tc>
                <a:tc>
                  <a:txBody>
                    <a:bodyPr/>
                    <a:lstStyle/>
                    <a:p>
                      <a:pPr algn="ctr"/>
                      <a:r>
                        <a:rPr sz="750" b="0">
                          <a:solidFill>
                            <a:srgbClr val="202020"/>
                          </a:solidFill>
                        </a:rPr>
                        <a:t>0.000</a:t>
                      </a:r>
                    </a:p>
                  </a:txBody>
                  <a:tcPr>
                    <a:solidFill>
                      <a:srgbClr val="E6F4EA"/>
                    </a:solidFill>
                  </a:tcPr>
                </a:tc>
                <a:tc>
                  <a:txBody>
                    <a:bodyPr/>
                    <a:lstStyle/>
                    <a:p>
                      <a:pPr algn="ctr"/>
                      <a:r>
                        <a:rPr sz="750" b="0">
                          <a:solidFill>
                            <a:srgbClr val="202020"/>
                          </a:solidFill>
                        </a:rPr>
                        <a:t>0.002</a:t>
                      </a:r>
                    </a:p>
                  </a:txBody>
                  <a:tcPr>
                    <a:solidFill>
                      <a:srgbClr val="E6F4EA"/>
                    </a:solidFill>
                  </a:tcPr>
                </a:tc>
              </a:tr>
              <a:tr h="287388">
                <a:tc>
                  <a:txBody>
                    <a:bodyPr/>
                    <a:lstStyle/>
                    <a:p>
                      <a:pPr algn="l"/>
                      <a:r>
                        <a:rPr sz="750" b="1">
                          <a:solidFill>
                            <a:srgbClr val="202020"/>
                          </a:solidFill>
                        </a:rPr>
                        <a:t>Late Fusion TL</a:t>
                      </a:r>
                    </a:p>
                  </a:txBody>
                  <a:tcPr>
                    <a:solidFill>
                      <a:srgbClr val="E6F4EA"/>
                    </a:solidFill>
                  </a:tcPr>
                </a:tc>
                <a:tc>
                  <a:txBody>
                    <a:bodyPr/>
                    <a:lstStyle/>
                    <a:p>
                      <a:pPr algn="ctr"/>
                      <a:r>
                        <a:rPr sz="750" b="0">
                          <a:solidFill>
                            <a:srgbClr val="202020"/>
                          </a:solidFill>
                        </a:rPr>
                        <a:t>0.050</a:t>
                      </a:r>
                    </a:p>
                  </a:txBody>
                  <a:tcPr>
                    <a:solidFill>
                      <a:srgbClr val="E6F4EA"/>
                    </a:solidFill>
                  </a:tcPr>
                </a:tc>
                <a:tc>
                  <a:txBody>
                    <a:bodyPr/>
                    <a:lstStyle/>
                    <a:p>
                      <a:pPr algn="ctr"/>
                      <a:r>
                        <a:rPr sz="750" b="0">
                          <a:solidFill>
                            <a:srgbClr val="202020"/>
                          </a:solidFill>
                        </a:rPr>
                        <a:t>0.118</a:t>
                      </a:r>
                    </a:p>
                  </a:txBody>
                  <a:tcPr>
                    <a:solidFill>
                      <a:srgbClr val="E6F4EA"/>
                    </a:solidFill>
                  </a:tcPr>
                </a:tc>
                <a:tc>
                  <a:txBody>
                    <a:bodyPr/>
                    <a:lstStyle/>
                    <a:p>
                      <a:pPr algn="ctr"/>
                      <a:r>
                        <a:rPr sz="750" b="0">
                          <a:solidFill>
                            <a:srgbClr val="202020"/>
                          </a:solidFill>
                        </a:rPr>
                        <a:t>0.192</a:t>
                      </a:r>
                    </a:p>
                  </a:txBody>
                  <a:tcPr>
                    <a:solidFill>
                      <a:srgbClr val="E6F4EA"/>
                    </a:solidFill>
                  </a:tcPr>
                </a:tc>
                <a:tc>
                  <a:txBody>
                    <a:bodyPr/>
                    <a:lstStyle/>
                    <a:p>
                      <a:pPr algn="ctr"/>
                      <a:r>
                        <a:rPr sz="750" b="0">
                          <a:solidFill>
                            <a:srgbClr val="202020"/>
                          </a:solidFill>
                        </a:rPr>
                        <a:t>0.118</a:t>
                      </a:r>
                    </a:p>
                  </a:txBody>
                  <a:tcPr>
                    <a:solidFill>
                      <a:srgbClr val="E6F4EA"/>
                    </a:solidFill>
                  </a:tcPr>
                </a:tc>
              </a:tr>
            </a:tbl>
          </a:graphicData>
        </a:graphic>
      </p:graphicFrame>
      <p:sp>
        <p:nvSpPr>
          <p:cNvPr id="11" name="TextBox 10"/>
          <p:cNvSpPr txBox="1"/>
          <p:nvPr/>
        </p:nvSpPr>
        <p:spPr>
          <a:xfrm>
            <a:off x="4617720" y="3246120"/>
            <a:ext cx="4206240" cy="201168"/>
          </a:xfrm>
          <a:prstGeom prst="rect">
            <a:avLst/>
          </a:prstGeom>
          <a:noFill/>
        </p:spPr>
        <p:txBody>
          <a:bodyPr wrap="none">
            <a:spAutoFit/>
          </a:bodyPr>
          <a:lstStyle/>
          <a:p>
            <a:pPr algn="l"/>
            <a:r>
              <a:rPr sz="950" b="1" i="0">
                <a:solidFill>
                  <a:srgbClr val="1A73E8"/>
                </a:solidFill>
              </a:rPr>
              <a:t>JAFFE → Primer (4-Class)</a:t>
            </a:r>
          </a:p>
        </p:txBody>
      </p:sp>
      <p:graphicFrame>
        <p:nvGraphicFramePr>
          <p:cNvPr id="12" name="Table 11"/>
          <p:cNvGraphicFramePr>
            <a:graphicFrameLocks noGrp="1"/>
          </p:cNvGraphicFramePr>
          <p:nvPr/>
        </p:nvGraphicFramePr>
        <p:xfrm>
          <a:off x="4617720" y="3474720"/>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0.004</a:t>
                      </a:r>
                    </a:p>
                  </a:txBody>
                  <a:tcPr>
                    <a:solidFill>
                      <a:srgbClr val="E8F0FE"/>
                    </a:solidFill>
                  </a:tcPr>
                </a:tc>
                <a:tc>
                  <a:txBody>
                    <a:bodyPr/>
                    <a:lstStyle/>
                    <a:p>
                      <a:pPr algn="ctr"/>
                      <a:r>
                        <a:rPr sz="750" b="0">
                          <a:solidFill>
                            <a:srgbClr val="202020"/>
                          </a:solidFill>
                        </a:rPr>
                        <a:t>0.009</a:t>
                      </a:r>
                    </a:p>
                  </a:txBody>
                  <a:tcPr>
                    <a:solidFill>
                      <a:srgbClr val="E8F0FE"/>
                    </a:solidFill>
                  </a:tcPr>
                </a:tc>
                <a:tc>
                  <a:txBody>
                    <a:bodyPr/>
                    <a:lstStyle/>
                    <a:p>
                      <a:pPr algn="ctr"/>
                      <a:r>
                        <a:rPr sz="750" b="0">
                          <a:solidFill>
                            <a:srgbClr val="202020"/>
                          </a:solidFill>
                        </a:rPr>
                        <a:t>0.000</a:t>
                      </a:r>
                    </a:p>
                  </a:txBody>
                  <a:tcPr>
                    <a:solidFill>
                      <a:srgbClr val="E8F0FE"/>
                    </a:solidFill>
                  </a:tcPr>
                </a:tc>
                <a:tc>
                  <a:txBody>
                    <a:bodyPr/>
                    <a:lstStyle/>
                    <a:p>
                      <a:pPr algn="ctr"/>
                      <a:r>
                        <a:rPr sz="750" b="0">
                          <a:solidFill>
                            <a:srgbClr val="202020"/>
                          </a:solidFill>
                        </a:rPr>
                        <a:t>0.009</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0.005</a:t>
                      </a:r>
                    </a:p>
                  </a:txBody>
                  <a:tcPr>
                    <a:solidFill>
                      <a:srgbClr val="E8F0FE"/>
                    </a:solidFill>
                  </a:tcPr>
                </a:tc>
                <a:tc>
                  <a:txBody>
                    <a:bodyPr/>
                    <a:lstStyle/>
                    <a:p>
                      <a:pPr algn="ctr"/>
                      <a:r>
                        <a:rPr sz="750" b="0">
                          <a:solidFill>
                            <a:srgbClr val="202020"/>
                          </a:solidFill>
                        </a:rPr>
                        <a:t>0.010</a:t>
                      </a:r>
                    </a:p>
                  </a:txBody>
                  <a:tcPr>
                    <a:solidFill>
                      <a:srgbClr val="E8F0FE"/>
                    </a:solidFill>
                  </a:tcPr>
                </a:tc>
                <a:tc>
                  <a:txBody>
                    <a:bodyPr/>
                    <a:lstStyle/>
                    <a:p>
                      <a:pPr algn="ctr"/>
                      <a:r>
                        <a:rPr sz="750" b="0">
                          <a:solidFill>
                            <a:srgbClr val="202020"/>
                          </a:solidFill>
                        </a:rPr>
                        <a:t>0.002</a:t>
                      </a:r>
                    </a:p>
                  </a:txBody>
                  <a:tcPr>
                    <a:solidFill>
                      <a:srgbClr val="E8F0FE"/>
                    </a:solidFill>
                  </a:tcPr>
                </a:tc>
                <a:tc>
                  <a:txBody>
                    <a:bodyPr/>
                    <a:lstStyle/>
                    <a:p>
                      <a:pPr algn="ctr"/>
                      <a:r>
                        <a:rPr sz="750" b="0">
                          <a:solidFill>
                            <a:srgbClr val="202020"/>
                          </a:solidFill>
                        </a:rPr>
                        <a:t>0.010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 TL</a:t>
                      </a:r>
                    </a:p>
                  </a:txBody>
                  <a:tcPr>
                    <a:solidFill>
                      <a:srgbClr val="E6F4EA"/>
                    </a:solidFill>
                  </a:tcPr>
                </a:tc>
                <a:tc>
                  <a:txBody>
                    <a:bodyPr/>
                    <a:lstStyle/>
                    <a:p>
                      <a:pPr algn="ctr"/>
                      <a:r>
                        <a:rPr sz="750" b="0">
                          <a:solidFill>
                            <a:srgbClr val="202020"/>
                          </a:solidFill>
                        </a:rPr>
                        <a:t>0.093</a:t>
                      </a:r>
                    </a:p>
                  </a:txBody>
                  <a:tcPr>
                    <a:solidFill>
                      <a:srgbClr val="E6F4EA"/>
                    </a:solidFill>
                  </a:tcPr>
                </a:tc>
                <a:tc>
                  <a:txBody>
                    <a:bodyPr/>
                    <a:lstStyle/>
                    <a:p>
                      <a:pPr algn="ctr"/>
                      <a:r>
                        <a:rPr sz="750" b="0">
                          <a:solidFill>
                            <a:srgbClr val="202020"/>
                          </a:solidFill>
                        </a:rPr>
                        <a:t>0.160</a:t>
                      </a:r>
                    </a:p>
                  </a:txBody>
                  <a:tcPr>
                    <a:solidFill>
                      <a:srgbClr val="E6F4EA"/>
                    </a:solidFill>
                  </a:tcPr>
                </a:tc>
                <a:tc>
                  <a:txBody>
                    <a:bodyPr/>
                    <a:lstStyle/>
                    <a:p>
                      <a:pPr algn="ctr"/>
                      <a:r>
                        <a:rPr sz="750" b="0">
                          <a:solidFill>
                            <a:srgbClr val="202020"/>
                          </a:solidFill>
                        </a:rPr>
                        <a:t>0.073</a:t>
                      </a:r>
                    </a:p>
                  </a:txBody>
                  <a:tcPr>
                    <a:solidFill>
                      <a:srgbClr val="E6F4EA"/>
                    </a:solidFill>
                  </a:tcPr>
                </a:tc>
                <a:tc>
                  <a:txBody>
                    <a:bodyPr/>
                    <a:lstStyle/>
                    <a:p>
                      <a:pPr algn="ctr"/>
                      <a:r>
                        <a:rPr sz="750" b="0">
                          <a:solidFill>
                            <a:srgbClr val="202020"/>
                          </a:solidFill>
                        </a:rPr>
                        <a:t>0.160</a:t>
                      </a:r>
                    </a:p>
                  </a:txBody>
                  <a:tcPr>
                    <a:solidFill>
                      <a:srgbClr val="E6F4EA"/>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0.002</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0.013</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0.013</a:t>
                      </a:r>
                    </a:p>
                  </a:txBody>
                  <a:tcPr>
                    <a:solidFill>
                      <a:srgbClr val="FFFFFF"/>
                    </a:solidFill>
                  </a:tcPr>
                </a:tc>
              </a:tr>
            </a:tbl>
          </a:graphicData>
        </a:graphic>
      </p:graphicFrame>
      <p:sp>
        <p:nvSpPr>
          <p:cNvPr id="13" name="TextBox 12"/>
          <p:cNvSpPr txBox="1"/>
          <p:nvPr/>
        </p:nvSpPr>
        <p:spPr>
          <a:xfrm>
            <a:off x="274320" y="5577840"/>
            <a:ext cx="8595360" cy="548640"/>
          </a:xfrm>
          <a:prstGeom prst="rect">
            <a:avLst/>
          </a:prstGeom>
          <a:solidFill>
            <a:srgbClr val="FCE8E6"/>
          </a:solidFill>
        </p:spPr>
        <p:txBody>
          <a:bodyPr wrap="square">
            <a:spAutoFit/>
          </a:bodyPr>
          <a:lstStyle/>
          <a:p>
            <a:pPr algn="l"/>
            <a:r>
              <a:rPr sz="900" b="1" i="0">
                <a:solidFill>
                  <a:srgbClr val="D93C3C"/>
                </a:solidFill>
              </a:rPr>
              <a:t>CK+ 4c → Primer dengan CNN B1 = 0.396 (satu-satunya combo &gt; 0.30). JAFFE total collapse di semua combo (&lt;0.10 Macro F1).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32 (lanjutan): Skema 2 Cross-Dataset — RAF-DB &amp; KDEF → Primer</a:t>
            </a:r>
          </a:p>
        </p:txBody>
      </p:sp>
      <p:sp>
        <p:nvSpPr>
          <p:cNvPr id="4" name="TextBox 3"/>
          <p:cNvSpPr txBox="1"/>
          <p:nvPr/>
        </p:nvSpPr>
        <p:spPr>
          <a:xfrm>
            <a:off x="274320" y="548640"/>
            <a:ext cx="4206240" cy="201168"/>
          </a:xfrm>
          <a:prstGeom prst="rect">
            <a:avLst/>
          </a:prstGeom>
          <a:noFill/>
        </p:spPr>
        <p:txBody>
          <a:bodyPr wrap="none">
            <a:spAutoFit/>
          </a:bodyPr>
          <a:lstStyle/>
          <a:p>
            <a:pPr algn="l"/>
            <a:r>
              <a:rPr sz="950" b="1" i="0">
                <a:solidFill>
                  <a:srgbClr val="1A73E8"/>
                </a:solidFill>
              </a:rPr>
              <a:t>RAF-DB → Primer (7-Class)</a:t>
            </a:r>
          </a:p>
        </p:txBody>
      </p:sp>
      <p:graphicFrame>
        <p:nvGraphicFramePr>
          <p:cNvPr id="5" name="Table 4"/>
          <p:cNvGraphicFramePr>
            <a:graphicFrameLocks noGrp="1"/>
          </p:cNvGraphicFramePr>
          <p:nvPr/>
        </p:nvGraphicFramePr>
        <p:xfrm>
          <a:off x="2743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0.099</a:t>
                      </a:r>
                    </a:p>
                  </a:txBody>
                  <a:tcPr>
                    <a:solidFill>
                      <a:srgbClr val="E8F0FE"/>
                    </a:solidFill>
                  </a:tcPr>
                </a:tc>
                <a:tc>
                  <a:txBody>
                    <a:bodyPr/>
                    <a:lstStyle/>
                    <a:p>
                      <a:pPr algn="ctr"/>
                      <a:r>
                        <a:rPr sz="750" b="0">
                          <a:solidFill>
                            <a:srgbClr val="202020"/>
                          </a:solidFill>
                        </a:rPr>
                        <a:t>0.132</a:t>
                      </a:r>
                    </a:p>
                  </a:txBody>
                  <a:tcPr>
                    <a:solidFill>
                      <a:srgbClr val="E8F0FE"/>
                    </a:solidFill>
                  </a:tcPr>
                </a:tc>
                <a:tc>
                  <a:txBody>
                    <a:bodyPr/>
                    <a:lstStyle/>
                    <a:p>
                      <a:pPr algn="ctr"/>
                      <a:r>
                        <a:rPr sz="750" b="0">
                          <a:solidFill>
                            <a:srgbClr val="202020"/>
                          </a:solidFill>
                        </a:rPr>
                        <a:t>0.099</a:t>
                      </a:r>
                    </a:p>
                  </a:txBody>
                  <a:tcPr>
                    <a:solidFill>
                      <a:srgbClr val="E8F0FE"/>
                    </a:solidFill>
                  </a:tcPr>
                </a:tc>
              </a:tr>
              <a:tr h="287382">
                <a:tc>
                  <a:txBody>
                    <a:bodyPr/>
                    <a:lstStyle/>
                    <a:p>
                      <a:pPr algn="l"/>
                      <a:r>
                        <a:rPr sz="750" b="1">
                          <a:solidFill>
                            <a:srgbClr val="202020"/>
                          </a:solidFill>
                        </a:rPr>
                        <a:t>FCNN</a:t>
                      </a:r>
                    </a:p>
                  </a:txBody>
                  <a:tcPr>
                    <a:solidFill>
                      <a:srgbClr val="E6F4EA"/>
                    </a:solidFill>
                  </a:tcPr>
                </a:tc>
                <a:tc>
                  <a:txBody>
                    <a:bodyPr/>
                    <a:lstStyle/>
                    <a:p>
                      <a:pPr algn="ctr"/>
                      <a:r>
                        <a:rPr sz="750" b="0">
                          <a:solidFill>
                            <a:srgbClr val="202020"/>
                          </a:solidFill>
                        </a:rPr>
                        <a:t>0.183</a:t>
                      </a:r>
                    </a:p>
                  </a:txBody>
                  <a:tcPr>
                    <a:solidFill>
                      <a:srgbClr val="E6F4EA"/>
                    </a:solidFill>
                  </a:tcPr>
                </a:tc>
                <a:tc>
                  <a:txBody>
                    <a:bodyPr/>
                    <a:lstStyle/>
                    <a:p>
                      <a:pPr algn="ctr"/>
                      <a:r>
                        <a:rPr sz="750" b="0">
                          <a:solidFill>
                            <a:srgbClr val="202020"/>
                          </a:solidFill>
                        </a:rPr>
                        <a:t>0.640</a:t>
                      </a:r>
                    </a:p>
                  </a:txBody>
                  <a:tcPr>
                    <a:solidFill>
                      <a:srgbClr val="E6F4EA"/>
                    </a:solidFill>
                  </a:tcPr>
                </a:tc>
                <a:tc>
                  <a:txBody>
                    <a:bodyPr/>
                    <a:lstStyle/>
                    <a:p>
                      <a:pPr algn="ctr"/>
                      <a:r>
                        <a:rPr sz="750" b="0">
                          <a:solidFill>
                            <a:srgbClr val="202020"/>
                          </a:solidFill>
                        </a:rPr>
                        <a:t>0.672</a:t>
                      </a:r>
                    </a:p>
                  </a:txBody>
                  <a:tcPr>
                    <a:solidFill>
                      <a:srgbClr val="E6F4EA"/>
                    </a:solidFill>
                  </a:tcPr>
                </a:tc>
                <a:tc>
                  <a:txBody>
                    <a:bodyPr/>
                    <a:lstStyle/>
                    <a:p>
                      <a:pPr algn="ctr"/>
                      <a:r>
                        <a:rPr sz="750" b="0">
                          <a:solidFill>
                            <a:srgbClr val="202020"/>
                          </a:solidFill>
                        </a:rPr>
                        <a:t>0.640</a:t>
                      </a:r>
                    </a:p>
                  </a:txBody>
                  <a:tcPr>
                    <a:solidFill>
                      <a:srgbClr val="E6F4EA"/>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0.109</a:t>
                      </a:r>
                    </a:p>
                  </a:txBody>
                  <a:tcPr>
                    <a:solidFill>
                      <a:srgbClr val="E8F0FE"/>
                    </a:solidFill>
                  </a:tcPr>
                </a:tc>
                <a:tc>
                  <a:txBody>
                    <a:bodyPr/>
                    <a:lstStyle/>
                    <a:p>
                      <a:pPr algn="ctr"/>
                      <a:r>
                        <a:rPr sz="750" b="0">
                          <a:solidFill>
                            <a:srgbClr val="202020"/>
                          </a:solidFill>
                        </a:rPr>
                        <a:t>0.237</a:t>
                      </a:r>
                    </a:p>
                  </a:txBody>
                  <a:tcPr>
                    <a:solidFill>
                      <a:srgbClr val="E8F0FE"/>
                    </a:solidFill>
                  </a:tcPr>
                </a:tc>
                <a:tc>
                  <a:txBody>
                    <a:bodyPr/>
                    <a:lstStyle/>
                    <a:p>
                      <a:pPr algn="ctr"/>
                      <a:r>
                        <a:rPr sz="750" b="0">
                          <a:solidFill>
                            <a:srgbClr val="202020"/>
                          </a:solidFill>
                        </a:rPr>
                        <a:t>0.287</a:t>
                      </a:r>
                    </a:p>
                  </a:txBody>
                  <a:tcPr>
                    <a:solidFill>
                      <a:srgbClr val="E8F0FE"/>
                    </a:solidFill>
                  </a:tcPr>
                </a:tc>
                <a:tc>
                  <a:txBody>
                    <a:bodyPr/>
                    <a:lstStyle/>
                    <a:p>
                      <a:pPr algn="ctr"/>
                      <a:r>
                        <a:rPr sz="750" b="0">
                          <a:solidFill>
                            <a:srgbClr val="202020"/>
                          </a:solidFill>
                        </a:rPr>
                        <a:t>0.237</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0.175</a:t>
                      </a:r>
                    </a:p>
                  </a:txBody>
                  <a:tcPr>
                    <a:solidFill>
                      <a:srgbClr val="FFFFFF"/>
                    </a:solidFill>
                  </a:tcPr>
                </a:tc>
                <a:tc>
                  <a:txBody>
                    <a:bodyPr/>
                    <a:lstStyle/>
                    <a:p>
                      <a:pPr algn="ctr"/>
                      <a:r>
                        <a:rPr sz="750" b="0">
                          <a:solidFill>
                            <a:srgbClr val="202020"/>
                          </a:solidFill>
                        </a:rPr>
                        <a:t>0.545</a:t>
                      </a:r>
                    </a:p>
                  </a:txBody>
                  <a:tcPr>
                    <a:solidFill>
                      <a:srgbClr val="FFFFFF"/>
                    </a:solidFill>
                  </a:tcPr>
                </a:tc>
                <a:tc>
                  <a:txBody>
                    <a:bodyPr/>
                    <a:lstStyle/>
                    <a:p>
                      <a:pPr algn="ctr"/>
                      <a:r>
                        <a:rPr sz="750" b="0">
                          <a:solidFill>
                            <a:srgbClr val="202020"/>
                          </a:solidFill>
                        </a:rPr>
                        <a:t>0.611</a:t>
                      </a:r>
                    </a:p>
                  </a:txBody>
                  <a:tcPr>
                    <a:solidFill>
                      <a:srgbClr val="FFFFFF"/>
                    </a:solidFill>
                  </a:tcPr>
                </a:tc>
                <a:tc>
                  <a:txBody>
                    <a:bodyPr/>
                    <a:lstStyle/>
                    <a:p>
                      <a:pPr algn="ctr"/>
                      <a:r>
                        <a:rPr sz="750" b="0">
                          <a:solidFill>
                            <a:srgbClr val="202020"/>
                          </a:solidFill>
                        </a:rPr>
                        <a:t>0.545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0.180</a:t>
                      </a:r>
                    </a:p>
                  </a:txBody>
                  <a:tcPr>
                    <a:solidFill>
                      <a:srgbClr val="E8F0FE"/>
                    </a:solidFill>
                  </a:tcPr>
                </a:tc>
                <a:tc>
                  <a:txBody>
                    <a:bodyPr/>
                    <a:lstStyle/>
                    <a:p>
                      <a:pPr algn="ctr"/>
                      <a:r>
                        <a:rPr sz="750" b="0">
                          <a:solidFill>
                            <a:srgbClr val="202020"/>
                          </a:solidFill>
                        </a:rPr>
                        <a:t>0.479</a:t>
                      </a:r>
                    </a:p>
                  </a:txBody>
                  <a:tcPr>
                    <a:solidFill>
                      <a:srgbClr val="E8F0FE"/>
                    </a:solidFill>
                  </a:tcPr>
                </a:tc>
                <a:tc>
                  <a:txBody>
                    <a:bodyPr/>
                    <a:lstStyle/>
                    <a:p>
                      <a:pPr algn="ctr"/>
                      <a:r>
                        <a:rPr sz="750" b="0">
                          <a:solidFill>
                            <a:srgbClr val="202020"/>
                          </a:solidFill>
                        </a:rPr>
                        <a:t>0.562</a:t>
                      </a:r>
                    </a:p>
                  </a:txBody>
                  <a:tcPr>
                    <a:solidFill>
                      <a:srgbClr val="E8F0FE"/>
                    </a:solidFill>
                  </a:tcPr>
                </a:tc>
                <a:tc>
                  <a:txBody>
                    <a:bodyPr/>
                    <a:lstStyle/>
                    <a:p>
                      <a:pPr algn="ctr"/>
                      <a:r>
                        <a:rPr sz="750" b="0">
                          <a:solidFill>
                            <a:srgbClr val="202020"/>
                          </a:solidFill>
                        </a:rPr>
                        <a:t>0.479</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0.091</a:t>
                      </a:r>
                    </a:p>
                  </a:txBody>
                  <a:tcPr>
                    <a:solidFill>
                      <a:srgbClr val="FFFFFF"/>
                    </a:solidFill>
                  </a:tcPr>
                </a:tc>
                <a:tc>
                  <a:txBody>
                    <a:bodyPr/>
                    <a:lstStyle/>
                    <a:p>
                      <a:pPr algn="ctr"/>
                      <a:r>
                        <a:rPr sz="750" b="0">
                          <a:solidFill>
                            <a:srgbClr val="202020"/>
                          </a:solidFill>
                        </a:rPr>
                        <a:t>0.166</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0.166</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0.142</a:t>
                      </a:r>
                    </a:p>
                  </a:txBody>
                  <a:tcPr>
                    <a:solidFill>
                      <a:srgbClr val="FFFFFF"/>
                    </a:solidFill>
                  </a:tcPr>
                </a:tc>
                <a:tc>
                  <a:txBody>
                    <a:bodyPr/>
                    <a:lstStyle/>
                    <a:p>
                      <a:pPr algn="ctr"/>
                      <a:r>
                        <a:rPr sz="750" b="0">
                          <a:solidFill>
                            <a:srgbClr val="202020"/>
                          </a:solidFill>
                        </a:rPr>
                        <a:t>0.365</a:t>
                      </a:r>
                    </a:p>
                  </a:txBody>
                  <a:tcPr>
                    <a:solidFill>
                      <a:srgbClr val="FFFFFF"/>
                    </a:solidFill>
                  </a:tcPr>
                </a:tc>
                <a:tc>
                  <a:txBody>
                    <a:bodyPr/>
                    <a:lstStyle/>
                    <a:p>
                      <a:pPr algn="ctr"/>
                      <a:r>
                        <a:rPr sz="750" b="0">
                          <a:solidFill>
                            <a:srgbClr val="202020"/>
                          </a:solidFill>
                        </a:rPr>
                        <a:t>0.476</a:t>
                      </a:r>
                    </a:p>
                  </a:txBody>
                  <a:tcPr>
                    <a:solidFill>
                      <a:srgbClr val="FFFFFF"/>
                    </a:solidFill>
                  </a:tcPr>
                </a:tc>
                <a:tc>
                  <a:txBody>
                    <a:bodyPr/>
                    <a:lstStyle/>
                    <a:p>
                      <a:pPr algn="ctr"/>
                      <a:r>
                        <a:rPr sz="750" b="0">
                          <a:solidFill>
                            <a:srgbClr val="202020"/>
                          </a:solidFill>
                        </a:rPr>
                        <a:t>0.365</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0.157</a:t>
                      </a:r>
                    </a:p>
                  </a:txBody>
                  <a:tcPr>
                    <a:solidFill>
                      <a:srgbClr val="FFFFFF"/>
                    </a:solidFill>
                  </a:tcPr>
                </a:tc>
                <a:tc>
                  <a:txBody>
                    <a:bodyPr/>
                    <a:lstStyle/>
                    <a:p>
                      <a:pPr algn="ctr"/>
                      <a:r>
                        <a:rPr sz="750" b="0">
                          <a:solidFill>
                            <a:srgbClr val="202020"/>
                          </a:solidFill>
                        </a:rPr>
                        <a:t>0.685</a:t>
                      </a:r>
                    </a:p>
                  </a:txBody>
                  <a:tcPr>
                    <a:solidFill>
                      <a:srgbClr val="FFFFFF"/>
                    </a:solidFill>
                  </a:tcPr>
                </a:tc>
                <a:tc>
                  <a:txBody>
                    <a:bodyPr/>
                    <a:lstStyle/>
                    <a:p>
                      <a:pPr algn="ctr"/>
                      <a:r>
                        <a:rPr sz="750" b="0">
                          <a:solidFill>
                            <a:srgbClr val="202020"/>
                          </a:solidFill>
                        </a:rPr>
                        <a:t>0.663</a:t>
                      </a:r>
                    </a:p>
                  </a:txBody>
                  <a:tcPr>
                    <a:solidFill>
                      <a:srgbClr val="FFFFFF"/>
                    </a:solidFill>
                  </a:tcPr>
                </a:tc>
                <a:tc>
                  <a:txBody>
                    <a:bodyPr/>
                    <a:lstStyle/>
                    <a:p>
                      <a:pPr algn="ctr"/>
                      <a:r>
                        <a:rPr sz="750" b="0">
                          <a:solidFill>
                            <a:srgbClr val="202020"/>
                          </a:solidFill>
                        </a:rPr>
                        <a:t>0.685</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0.153</a:t>
                      </a:r>
                    </a:p>
                  </a:txBody>
                  <a:tcPr>
                    <a:solidFill>
                      <a:srgbClr val="FFFFFF"/>
                    </a:solidFill>
                  </a:tcPr>
                </a:tc>
                <a:tc>
                  <a:txBody>
                    <a:bodyPr/>
                    <a:lstStyle/>
                    <a:p>
                      <a:pPr algn="ctr"/>
                      <a:r>
                        <a:rPr sz="750" b="0">
                          <a:solidFill>
                            <a:srgbClr val="202020"/>
                          </a:solidFill>
                        </a:rPr>
                        <a:t>0.483</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0.483</a:t>
                      </a:r>
                    </a:p>
                  </a:txBody>
                  <a:tcPr>
                    <a:solidFill>
                      <a:srgbClr val="FFFFFF"/>
                    </a:solidFill>
                  </a:tcPr>
                </a:tc>
              </a:tr>
            </a:tbl>
          </a:graphicData>
        </a:graphic>
      </p:graphicFrame>
      <p:sp>
        <p:nvSpPr>
          <p:cNvPr id="6" name="TextBox 5"/>
          <p:cNvSpPr txBox="1"/>
          <p:nvPr/>
        </p:nvSpPr>
        <p:spPr>
          <a:xfrm>
            <a:off x="4617720" y="548640"/>
            <a:ext cx="4206240" cy="201168"/>
          </a:xfrm>
          <a:prstGeom prst="rect">
            <a:avLst/>
          </a:prstGeom>
          <a:noFill/>
        </p:spPr>
        <p:txBody>
          <a:bodyPr wrap="none">
            <a:spAutoFit/>
          </a:bodyPr>
          <a:lstStyle/>
          <a:p>
            <a:pPr algn="l"/>
            <a:r>
              <a:rPr sz="950" b="1" i="0">
                <a:solidFill>
                  <a:srgbClr val="1A73E8"/>
                </a:solidFill>
              </a:rPr>
              <a:t>RAF-DB → Primer (4-Class)</a:t>
            </a:r>
          </a:p>
        </p:txBody>
      </p:sp>
      <p:graphicFrame>
        <p:nvGraphicFramePr>
          <p:cNvPr id="7" name="Table 6"/>
          <p:cNvGraphicFramePr>
            <a:graphicFrameLocks noGrp="1"/>
          </p:cNvGraphicFramePr>
          <p:nvPr/>
        </p:nvGraphicFramePr>
        <p:xfrm>
          <a:off x="4617720" y="768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0.026</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0.264</a:t>
                      </a:r>
                    </a:p>
                  </a:txBody>
                  <a:tcPr>
                    <a:solidFill>
                      <a:srgbClr val="FFFFFF"/>
                    </a:solidFill>
                  </a:tcPr>
                </a:tc>
                <a:tc>
                  <a:txBody>
                    <a:bodyPr/>
                    <a:lstStyle/>
                    <a:p>
                      <a:pPr algn="ctr"/>
                      <a:r>
                        <a:rPr sz="750" b="0">
                          <a:solidFill>
                            <a:srgbClr val="202020"/>
                          </a:solidFill>
                        </a:rPr>
                        <a:t>0.487</a:t>
                      </a:r>
                    </a:p>
                  </a:txBody>
                  <a:tcPr>
                    <a:solidFill>
                      <a:srgbClr val="FFFFFF"/>
                    </a:solidFill>
                  </a:tcPr>
                </a:tc>
                <a:tc>
                  <a:txBody>
                    <a:bodyPr/>
                    <a:lstStyle/>
                    <a:p>
                      <a:pPr algn="ctr"/>
                      <a:r>
                        <a:rPr sz="750" b="0">
                          <a:solidFill>
                            <a:srgbClr val="202020"/>
                          </a:solidFill>
                        </a:rPr>
                        <a:t>0.553</a:t>
                      </a:r>
                    </a:p>
                  </a:txBody>
                  <a:tcPr>
                    <a:solidFill>
                      <a:srgbClr val="FFFFFF"/>
                    </a:solidFill>
                  </a:tcPr>
                </a:tc>
                <a:tc>
                  <a:txBody>
                    <a:bodyPr/>
                    <a:lstStyle/>
                    <a:p>
                      <a:pPr algn="ctr"/>
                      <a:r>
                        <a:rPr sz="750" b="0">
                          <a:solidFill>
                            <a:srgbClr val="202020"/>
                          </a:solidFill>
                        </a:rPr>
                        <a:t>0.487</a:t>
                      </a:r>
                    </a:p>
                  </a:txBody>
                  <a:tcPr>
                    <a:solidFill>
                      <a:srgbClr val="FFFFFF"/>
                    </a:solidFill>
                  </a:tcPr>
                </a:tc>
              </a:tr>
              <a:tr h="287382">
                <a:tc>
                  <a:txBody>
                    <a:bodyPr/>
                    <a:lstStyle/>
                    <a:p>
                      <a:pPr algn="l"/>
                      <a:r>
                        <a:rPr sz="750" b="1">
                          <a:solidFill>
                            <a:srgbClr val="202020"/>
                          </a:solidFill>
                        </a:rPr>
                        <a:t>Intermediate</a:t>
                      </a:r>
                    </a:p>
                  </a:txBody>
                  <a:tcPr>
                    <a:solidFill>
                      <a:srgbClr val="E6F4EA"/>
                    </a:solidFill>
                  </a:tcPr>
                </a:tc>
                <a:tc>
                  <a:txBody>
                    <a:bodyPr/>
                    <a:lstStyle/>
                    <a:p>
                      <a:pPr algn="ctr"/>
                      <a:r>
                        <a:rPr sz="750" b="0">
                          <a:solidFill>
                            <a:srgbClr val="202020"/>
                          </a:solidFill>
                        </a:rPr>
                        <a:t>0.269</a:t>
                      </a:r>
                    </a:p>
                  </a:txBody>
                  <a:tcPr>
                    <a:solidFill>
                      <a:srgbClr val="E6F4EA"/>
                    </a:solidFill>
                  </a:tcPr>
                </a:tc>
                <a:tc>
                  <a:txBody>
                    <a:bodyPr/>
                    <a:lstStyle/>
                    <a:p>
                      <a:pPr algn="ctr"/>
                      <a:r>
                        <a:rPr sz="750" b="0">
                          <a:solidFill>
                            <a:srgbClr val="202020"/>
                          </a:solidFill>
                        </a:rPr>
                        <a:t>0.551</a:t>
                      </a:r>
                    </a:p>
                  </a:txBody>
                  <a:tcPr>
                    <a:solidFill>
                      <a:srgbClr val="E6F4EA"/>
                    </a:solidFill>
                  </a:tcPr>
                </a:tc>
                <a:tc>
                  <a:txBody>
                    <a:bodyPr/>
                    <a:lstStyle/>
                    <a:p>
                      <a:pPr algn="ctr"/>
                      <a:r>
                        <a:rPr sz="750" b="0">
                          <a:solidFill>
                            <a:srgbClr val="202020"/>
                          </a:solidFill>
                        </a:rPr>
                        <a:t>0.594</a:t>
                      </a:r>
                    </a:p>
                  </a:txBody>
                  <a:tcPr>
                    <a:solidFill>
                      <a:srgbClr val="E6F4EA"/>
                    </a:solidFill>
                  </a:tcPr>
                </a:tc>
                <a:tc>
                  <a:txBody>
                    <a:bodyPr/>
                    <a:lstStyle/>
                    <a:p>
                      <a:pPr algn="ctr"/>
                      <a:r>
                        <a:rPr sz="750" b="0">
                          <a:solidFill>
                            <a:srgbClr val="202020"/>
                          </a:solidFill>
                        </a:rPr>
                        <a:t>0.551</a:t>
                      </a:r>
                    </a:p>
                  </a:txBody>
                  <a:tcPr>
                    <a:solidFill>
                      <a:srgbClr val="E6F4EA"/>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0.206</a:t>
                      </a:r>
                    </a:p>
                  </a:txBody>
                  <a:tcPr>
                    <a:solidFill>
                      <a:srgbClr val="FFFFFF"/>
                    </a:solidFill>
                  </a:tcPr>
                </a:tc>
                <a:tc>
                  <a:txBody>
                    <a:bodyPr/>
                    <a:lstStyle/>
                    <a:p>
                      <a:pPr algn="ctr"/>
                      <a:r>
                        <a:rPr sz="750" b="0">
                          <a:solidFill>
                            <a:srgbClr val="202020"/>
                          </a:solidFill>
                        </a:rPr>
                        <a:t>0.256</a:t>
                      </a:r>
                    </a:p>
                  </a:txBody>
                  <a:tcPr>
                    <a:solidFill>
                      <a:srgbClr val="FFFFFF"/>
                    </a:solidFill>
                  </a:tcPr>
                </a:tc>
                <a:tc>
                  <a:txBody>
                    <a:bodyPr/>
                    <a:lstStyle/>
                    <a:p>
                      <a:pPr algn="ctr"/>
                      <a:r>
                        <a:rPr sz="750" b="0">
                          <a:solidFill>
                            <a:srgbClr val="202020"/>
                          </a:solidFill>
                        </a:rPr>
                        <a:t>0.357</a:t>
                      </a:r>
                    </a:p>
                  </a:txBody>
                  <a:tcPr>
                    <a:solidFill>
                      <a:srgbClr val="FFFFFF"/>
                    </a:solidFill>
                  </a:tcPr>
                </a:tc>
                <a:tc>
                  <a:txBody>
                    <a:bodyPr/>
                    <a:lstStyle/>
                    <a:p>
                      <a:pPr algn="ctr"/>
                      <a:r>
                        <a:rPr sz="750" b="0">
                          <a:solidFill>
                            <a:srgbClr val="202020"/>
                          </a:solidFill>
                        </a:rPr>
                        <a:t>0.256</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0.179</a:t>
                      </a:r>
                    </a:p>
                  </a:txBody>
                  <a:tcPr>
                    <a:solidFill>
                      <a:srgbClr val="E8F0FE"/>
                    </a:solidFill>
                  </a:tcPr>
                </a:tc>
                <a:tc>
                  <a:txBody>
                    <a:bodyPr/>
                    <a:lstStyle/>
                    <a:p>
                      <a:pPr algn="ctr"/>
                      <a:r>
                        <a:rPr sz="750" b="0">
                          <a:solidFill>
                            <a:srgbClr val="202020"/>
                          </a:solidFill>
                        </a:rPr>
                        <a:t>0.306</a:t>
                      </a:r>
                    </a:p>
                  </a:txBody>
                  <a:tcPr>
                    <a:solidFill>
                      <a:srgbClr val="E8F0FE"/>
                    </a:solidFill>
                  </a:tcPr>
                </a:tc>
                <a:tc>
                  <a:txBody>
                    <a:bodyPr/>
                    <a:lstStyle/>
                    <a:p>
                      <a:pPr algn="ctr"/>
                      <a:r>
                        <a:rPr sz="750" b="0">
                          <a:solidFill>
                            <a:srgbClr val="202020"/>
                          </a:solidFill>
                        </a:rPr>
                        <a:t>0.363</a:t>
                      </a:r>
                    </a:p>
                  </a:txBody>
                  <a:tcPr>
                    <a:solidFill>
                      <a:srgbClr val="E8F0FE"/>
                    </a:solidFill>
                  </a:tcPr>
                </a:tc>
                <a:tc>
                  <a:txBody>
                    <a:bodyPr/>
                    <a:lstStyle/>
                    <a:p>
                      <a:pPr algn="ctr"/>
                      <a:r>
                        <a:rPr sz="750" b="0">
                          <a:solidFill>
                            <a:srgbClr val="202020"/>
                          </a:solidFill>
                        </a:rPr>
                        <a:t>0.306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0.170</a:t>
                      </a:r>
                    </a:p>
                  </a:txBody>
                  <a:tcPr>
                    <a:solidFill>
                      <a:srgbClr val="FFFFFF"/>
                    </a:solidFill>
                  </a:tcPr>
                </a:tc>
                <a:tc>
                  <a:txBody>
                    <a:bodyPr/>
                    <a:lstStyle/>
                    <a:p>
                      <a:pPr algn="ctr"/>
                      <a:r>
                        <a:rPr sz="750" b="0">
                          <a:solidFill>
                            <a:srgbClr val="202020"/>
                          </a:solidFill>
                        </a:rPr>
                        <a:t>0.137</a:t>
                      </a:r>
                    </a:p>
                  </a:txBody>
                  <a:tcPr>
                    <a:solidFill>
                      <a:srgbClr val="FFFFFF"/>
                    </a:solidFill>
                  </a:tcPr>
                </a:tc>
                <a:tc>
                  <a:txBody>
                    <a:bodyPr/>
                    <a:lstStyle/>
                    <a:p>
                      <a:pPr algn="ctr"/>
                      <a:r>
                        <a:rPr sz="750" b="0">
                          <a:solidFill>
                            <a:srgbClr val="202020"/>
                          </a:solidFill>
                        </a:rPr>
                        <a:t>0.147</a:t>
                      </a:r>
                    </a:p>
                  </a:txBody>
                  <a:tcPr>
                    <a:solidFill>
                      <a:srgbClr val="FFFFFF"/>
                    </a:solidFill>
                  </a:tcPr>
                </a:tc>
                <a:tc>
                  <a:txBody>
                    <a:bodyPr/>
                    <a:lstStyle/>
                    <a:p>
                      <a:pPr algn="ctr"/>
                      <a:r>
                        <a:rPr sz="750" b="0">
                          <a:solidFill>
                            <a:srgbClr val="202020"/>
                          </a:solidFill>
                        </a:rPr>
                        <a:t>0.137</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0.227</a:t>
                      </a:r>
                    </a:p>
                  </a:txBody>
                  <a:tcPr>
                    <a:solidFill>
                      <a:srgbClr val="FFFFFF"/>
                    </a:solidFill>
                  </a:tcPr>
                </a:tc>
                <a:tc>
                  <a:txBody>
                    <a:bodyPr/>
                    <a:lstStyle/>
                    <a:p>
                      <a:pPr algn="ctr"/>
                      <a:r>
                        <a:rPr sz="750" b="0">
                          <a:solidFill>
                            <a:srgbClr val="202020"/>
                          </a:solidFill>
                        </a:rPr>
                        <a:t>0.404</a:t>
                      </a:r>
                    </a:p>
                  </a:txBody>
                  <a:tcPr>
                    <a:solidFill>
                      <a:srgbClr val="FFFFFF"/>
                    </a:solidFill>
                  </a:tcPr>
                </a:tc>
                <a:tc>
                  <a:txBody>
                    <a:bodyPr/>
                    <a:lstStyle/>
                    <a:p>
                      <a:pPr algn="ctr"/>
                      <a:r>
                        <a:rPr sz="750" b="0">
                          <a:solidFill>
                            <a:srgbClr val="202020"/>
                          </a:solidFill>
                        </a:rPr>
                        <a:t>0.485</a:t>
                      </a:r>
                    </a:p>
                  </a:txBody>
                  <a:tcPr>
                    <a:solidFill>
                      <a:srgbClr val="FFFFFF"/>
                    </a:solidFill>
                  </a:tcPr>
                </a:tc>
                <a:tc>
                  <a:txBody>
                    <a:bodyPr/>
                    <a:lstStyle/>
                    <a:p>
                      <a:pPr algn="ctr"/>
                      <a:r>
                        <a:rPr sz="750" b="0">
                          <a:solidFill>
                            <a:srgbClr val="202020"/>
                          </a:solidFill>
                        </a:rPr>
                        <a:t>0.404</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0.311</a:t>
                      </a:r>
                    </a:p>
                  </a:txBody>
                  <a:tcPr>
                    <a:solidFill>
                      <a:srgbClr val="FFFFFF"/>
                    </a:solidFill>
                  </a:tcPr>
                </a:tc>
                <a:tc>
                  <a:txBody>
                    <a:bodyPr/>
                    <a:lstStyle/>
                    <a:p>
                      <a:pPr algn="ctr"/>
                      <a:r>
                        <a:rPr sz="750" b="0">
                          <a:solidFill>
                            <a:srgbClr val="202020"/>
                          </a:solidFill>
                        </a:rPr>
                        <a:t>0.477</a:t>
                      </a:r>
                    </a:p>
                  </a:txBody>
                  <a:tcPr>
                    <a:solidFill>
                      <a:srgbClr val="FFFFFF"/>
                    </a:solidFill>
                  </a:tcPr>
                </a:tc>
                <a:tc>
                  <a:txBody>
                    <a:bodyPr/>
                    <a:lstStyle/>
                    <a:p>
                      <a:pPr algn="ctr"/>
                      <a:r>
                        <a:rPr sz="750" b="0">
                          <a:solidFill>
                            <a:srgbClr val="202020"/>
                          </a:solidFill>
                        </a:rPr>
                        <a:t>0.575</a:t>
                      </a:r>
                    </a:p>
                  </a:txBody>
                  <a:tcPr>
                    <a:solidFill>
                      <a:srgbClr val="FFFFFF"/>
                    </a:solidFill>
                  </a:tcPr>
                </a:tc>
                <a:tc>
                  <a:txBody>
                    <a:bodyPr/>
                    <a:lstStyle/>
                    <a:p>
                      <a:pPr algn="ctr"/>
                      <a:r>
                        <a:rPr sz="750" b="0">
                          <a:solidFill>
                            <a:srgbClr val="202020"/>
                          </a:solidFill>
                        </a:rPr>
                        <a:t>0.477</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0.212</a:t>
                      </a:r>
                    </a:p>
                  </a:txBody>
                  <a:tcPr>
                    <a:solidFill>
                      <a:srgbClr val="FFFFFF"/>
                    </a:solidFill>
                  </a:tcPr>
                </a:tc>
                <a:tc>
                  <a:txBody>
                    <a:bodyPr/>
                    <a:lstStyle/>
                    <a:p>
                      <a:pPr algn="ctr"/>
                      <a:r>
                        <a:rPr sz="750" b="0">
                          <a:solidFill>
                            <a:srgbClr val="202020"/>
                          </a:solidFill>
                        </a:rPr>
                        <a:t>0.459</a:t>
                      </a:r>
                    </a:p>
                  </a:txBody>
                  <a:tcPr>
                    <a:solidFill>
                      <a:srgbClr val="FFFFFF"/>
                    </a:solidFill>
                  </a:tcPr>
                </a:tc>
                <a:tc>
                  <a:txBody>
                    <a:bodyPr/>
                    <a:lstStyle/>
                    <a:p>
                      <a:pPr algn="ctr"/>
                      <a:r>
                        <a:rPr sz="750" b="0">
                          <a:solidFill>
                            <a:srgbClr val="202020"/>
                          </a:solidFill>
                        </a:rPr>
                        <a:t>0.517</a:t>
                      </a:r>
                    </a:p>
                  </a:txBody>
                  <a:tcPr>
                    <a:solidFill>
                      <a:srgbClr val="FFFFFF"/>
                    </a:solidFill>
                  </a:tcPr>
                </a:tc>
                <a:tc>
                  <a:txBody>
                    <a:bodyPr/>
                    <a:lstStyle/>
                    <a:p>
                      <a:pPr algn="ctr"/>
                      <a:r>
                        <a:rPr sz="750" b="0">
                          <a:solidFill>
                            <a:srgbClr val="202020"/>
                          </a:solidFill>
                        </a:rPr>
                        <a:t>0.459</a:t>
                      </a:r>
                    </a:p>
                  </a:txBody>
                  <a:tcPr>
                    <a:solidFill>
                      <a:srgbClr val="FFFFFF"/>
                    </a:solidFill>
                  </a:tcPr>
                </a:tc>
              </a:tr>
            </a:tbl>
          </a:graphicData>
        </a:graphic>
      </p:graphicFrame>
      <p:sp>
        <p:nvSpPr>
          <p:cNvPr id="8" name="TextBox 7"/>
          <p:cNvSpPr txBox="1"/>
          <p:nvPr/>
        </p:nvSpPr>
        <p:spPr>
          <a:xfrm>
            <a:off x="274320" y="2834640"/>
            <a:ext cx="4206240" cy="201168"/>
          </a:xfrm>
          <a:prstGeom prst="rect">
            <a:avLst/>
          </a:prstGeom>
          <a:noFill/>
        </p:spPr>
        <p:txBody>
          <a:bodyPr wrap="none">
            <a:spAutoFit/>
          </a:bodyPr>
          <a:lstStyle/>
          <a:p>
            <a:pPr algn="l"/>
            <a:r>
              <a:rPr sz="950" b="1" i="0">
                <a:solidFill>
                  <a:srgbClr val="1A73E8"/>
                </a:solidFill>
              </a:rPr>
              <a:t>KDEF → Primer (7-Class)</a:t>
            </a:r>
          </a:p>
        </p:txBody>
      </p:sp>
      <p:graphicFrame>
        <p:nvGraphicFramePr>
          <p:cNvPr id="9" name="Table 8"/>
          <p:cNvGraphicFramePr>
            <a:graphicFrameLocks noGrp="1"/>
          </p:cNvGraphicFramePr>
          <p:nvPr/>
        </p:nvGraphicFramePr>
        <p:xfrm>
          <a:off x="2743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c>
                  <a:txBody>
                    <a:bodyPr/>
                    <a:lstStyle/>
                    <a:p>
                      <a:pPr algn="ctr"/>
                      <a:r>
                        <a:rPr sz="750" b="0">
                          <a:solidFill>
                            <a:srgbClr val="202020"/>
                          </a:solidFill>
                        </a:rPr>
                        <a:t>0.024</a:t>
                      </a:r>
                    </a:p>
                  </a:txBody>
                  <a:tcPr>
                    <a:solidFill>
                      <a:srgbClr val="E8F0FE"/>
                    </a:solidFill>
                  </a:tcPr>
                </a:tc>
                <a:tc>
                  <a:txBody>
                    <a:bodyPr/>
                    <a:lstStyle/>
                    <a:p>
                      <a:pPr algn="ctr"/>
                      <a:r>
                        <a:rPr sz="750" b="0">
                          <a:solidFill>
                            <a:srgbClr val="202020"/>
                          </a:solidFill>
                        </a:rPr>
                        <a:t>0.040</a:t>
                      </a:r>
                    </a:p>
                  </a:txBody>
                  <a:tcPr>
                    <a:solidFill>
                      <a:srgbClr val="E8F0FE"/>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0.008</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0.036</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0.026</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E6F4EA"/>
                    </a:solidFill>
                  </a:tcPr>
                </a:tc>
                <a:tc>
                  <a:txBody>
                    <a:bodyPr/>
                    <a:lstStyle/>
                    <a:p>
                      <a:pPr algn="ctr"/>
                      <a:r>
                        <a:rPr sz="750" b="0">
                          <a:solidFill>
                            <a:srgbClr val="202020"/>
                          </a:solidFill>
                        </a:rPr>
                        <a:t>0.038</a:t>
                      </a:r>
                    </a:p>
                  </a:txBody>
                  <a:tcPr>
                    <a:solidFill>
                      <a:srgbClr val="E6F4EA"/>
                    </a:solidFill>
                  </a:tcPr>
                </a:tc>
                <a:tc>
                  <a:txBody>
                    <a:bodyPr/>
                    <a:lstStyle/>
                    <a:p>
                      <a:pPr algn="ctr"/>
                      <a:r>
                        <a:rPr sz="750" b="0">
                          <a:solidFill>
                            <a:srgbClr val="202020"/>
                          </a:solidFill>
                        </a:rPr>
                        <a:t>0.053</a:t>
                      </a:r>
                    </a:p>
                  </a:txBody>
                  <a:tcPr>
                    <a:solidFill>
                      <a:srgbClr val="E6F4EA"/>
                    </a:solidFill>
                  </a:tcPr>
                </a:tc>
                <a:tc>
                  <a:txBody>
                    <a:bodyPr/>
                    <a:lstStyle/>
                    <a:p>
                      <a:pPr algn="ctr"/>
                      <a:r>
                        <a:rPr sz="750" b="0">
                          <a:solidFill>
                            <a:srgbClr val="202020"/>
                          </a:solidFill>
                        </a:rPr>
                        <a:t>0.036</a:t>
                      </a:r>
                    </a:p>
                  </a:txBody>
                  <a:tcPr>
                    <a:solidFill>
                      <a:srgbClr val="E6F4EA"/>
                    </a:solidFill>
                  </a:tcPr>
                </a:tc>
                <a:tc>
                  <a:txBody>
                    <a:bodyPr/>
                    <a:lstStyle/>
                    <a:p>
                      <a:pPr algn="ctr"/>
                      <a:r>
                        <a:rPr sz="750" b="0">
                          <a:solidFill>
                            <a:srgbClr val="202020"/>
                          </a:solidFill>
                        </a:rPr>
                        <a:t>0.053</a:t>
                      </a:r>
                    </a:p>
                  </a:txBody>
                  <a:tcPr>
                    <a:solidFill>
                      <a:srgbClr val="E6F4EA"/>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0.034</a:t>
                      </a:r>
                    </a:p>
                  </a:txBody>
                  <a:tcPr>
                    <a:solidFill>
                      <a:srgbClr val="E8F0FE"/>
                    </a:solidFill>
                  </a:tcPr>
                </a:tc>
                <a:tc>
                  <a:txBody>
                    <a:bodyPr/>
                    <a:lstStyle/>
                    <a:p>
                      <a:pPr algn="ctr"/>
                      <a:r>
                        <a:rPr sz="750" b="0">
                          <a:solidFill>
                            <a:srgbClr val="202020"/>
                          </a:solidFill>
                        </a:rPr>
                        <a:t>0.056</a:t>
                      </a:r>
                    </a:p>
                  </a:txBody>
                  <a:tcPr>
                    <a:solidFill>
                      <a:srgbClr val="E8F0FE"/>
                    </a:solidFill>
                  </a:tcPr>
                </a:tc>
                <a:tc>
                  <a:txBody>
                    <a:bodyPr/>
                    <a:lstStyle/>
                    <a:p>
                      <a:pPr algn="ctr"/>
                      <a:r>
                        <a:rPr sz="750" b="0">
                          <a:solidFill>
                            <a:srgbClr val="202020"/>
                          </a:solidFill>
                        </a:rPr>
                        <a:t>0.023</a:t>
                      </a:r>
                    </a:p>
                  </a:txBody>
                  <a:tcPr>
                    <a:solidFill>
                      <a:srgbClr val="E8F0FE"/>
                    </a:solidFill>
                  </a:tcPr>
                </a:tc>
                <a:tc>
                  <a:txBody>
                    <a:bodyPr/>
                    <a:lstStyle/>
                    <a:p>
                      <a:pPr algn="ctr"/>
                      <a:r>
                        <a:rPr sz="750" b="0">
                          <a:solidFill>
                            <a:srgbClr val="202020"/>
                          </a:solidFill>
                        </a:rPr>
                        <a:t>0.056</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0.015</a:t>
                      </a:r>
                    </a:p>
                  </a:txBody>
                  <a:tcPr>
                    <a:solidFill>
                      <a:srgbClr val="FFFFFF"/>
                    </a:solidFill>
                  </a:tcPr>
                </a:tc>
                <a:tc>
                  <a:txBody>
                    <a:bodyPr/>
                    <a:lstStyle/>
                    <a:p>
                      <a:pPr algn="ctr"/>
                      <a:r>
                        <a:rPr sz="750" b="0">
                          <a:solidFill>
                            <a:srgbClr val="202020"/>
                          </a:solidFill>
                        </a:rPr>
                        <a:t>0.008</a:t>
                      </a:r>
                    </a:p>
                  </a:txBody>
                  <a:tcPr>
                    <a:solidFill>
                      <a:srgbClr val="FFFFFF"/>
                    </a:solidFill>
                  </a:tcPr>
                </a:tc>
                <a:tc>
                  <a:txBody>
                    <a:bodyPr/>
                    <a:lstStyle/>
                    <a:p>
                      <a:pPr algn="ctr"/>
                      <a:r>
                        <a:rPr sz="750" b="0">
                          <a:solidFill>
                            <a:srgbClr val="202020"/>
                          </a:solidFill>
                        </a:rPr>
                        <a:t>0.005</a:t>
                      </a:r>
                    </a:p>
                  </a:txBody>
                  <a:tcPr>
                    <a:solidFill>
                      <a:srgbClr val="FFFFFF"/>
                    </a:solidFill>
                  </a:tcPr>
                </a:tc>
                <a:tc>
                  <a:txBody>
                    <a:bodyPr/>
                    <a:lstStyle/>
                    <a:p>
                      <a:pPr algn="ctr"/>
                      <a:r>
                        <a:rPr sz="750" b="0">
                          <a:solidFill>
                            <a:srgbClr val="202020"/>
                          </a:solidFill>
                        </a:rPr>
                        <a:t>0.008</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0.007</a:t>
                      </a:r>
                    </a:p>
                  </a:txBody>
                  <a:tcPr>
                    <a:solidFill>
                      <a:srgbClr val="FFFFFF"/>
                    </a:solidFill>
                  </a:tcPr>
                </a:tc>
                <a:tc>
                  <a:txBody>
                    <a:bodyPr/>
                    <a:lstStyle/>
                    <a:p>
                      <a:pPr algn="ctr"/>
                      <a:r>
                        <a:rPr sz="750" b="0">
                          <a:solidFill>
                            <a:srgbClr val="202020"/>
                          </a:solidFill>
                        </a:rPr>
                        <a:t>0.010</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0.010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0.029</a:t>
                      </a:r>
                    </a:p>
                  </a:txBody>
                  <a:tcPr>
                    <a:solidFill>
                      <a:srgbClr val="FFFFFF"/>
                    </a:solidFill>
                  </a:tcPr>
                </a:tc>
                <a:tc>
                  <a:txBody>
                    <a:bodyPr/>
                    <a:lstStyle/>
                    <a:p>
                      <a:pPr algn="ctr"/>
                      <a:r>
                        <a:rPr sz="750" b="0">
                          <a:solidFill>
                            <a:srgbClr val="202020"/>
                          </a:solidFill>
                        </a:rPr>
                        <a:t>0.054</a:t>
                      </a:r>
                    </a:p>
                  </a:txBody>
                  <a:tcPr>
                    <a:solidFill>
                      <a:srgbClr val="FFFFFF"/>
                    </a:solidFill>
                  </a:tcPr>
                </a:tc>
                <a:tc>
                  <a:txBody>
                    <a:bodyPr/>
                    <a:lstStyle/>
                    <a:p>
                      <a:pPr algn="ctr"/>
                      <a:r>
                        <a:rPr sz="750" b="0">
                          <a:solidFill>
                            <a:srgbClr val="202020"/>
                          </a:solidFill>
                        </a:rPr>
                        <a:t>0.097</a:t>
                      </a:r>
                    </a:p>
                  </a:txBody>
                  <a:tcPr>
                    <a:solidFill>
                      <a:srgbClr val="FFFFFF"/>
                    </a:solidFill>
                  </a:tcPr>
                </a:tc>
                <a:tc>
                  <a:txBody>
                    <a:bodyPr/>
                    <a:lstStyle/>
                    <a:p>
                      <a:pPr algn="ctr"/>
                      <a:r>
                        <a:rPr sz="750" b="0">
                          <a:solidFill>
                            <a:srgbClr val="202020"/>
                          </a:solidFill>
                        </a:rPr>
                        <a:t>0.054</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0.055</a:t>
                      </a:r>
                    </a:p>
                  </a:txBody>
                  <a:tcPr>
                    <a:solidFill>
                      <a:srgbClr val="FFFFFF"/>
                    </a:solidFill>
                  </a:tcPr>
                </a:tc>
                <a:tc>
                  <a:txBody>
                    <a:bodyPr/>
                    <a:lstStyle/>
                    <a:p>
                      <a:pPr algn="ctr"/>
                      <a:r>
                        <a:rPr sz="750" b="0">
                          <a:solidFill>
                            <a:srgbClr val="202020"/>
                          </a:solidFill>
                        </a:rPr>
                        <a:t>0.078</a:t>
                      </a:r>
                    </a:p>
                  </a:txBody>
                  <a:tcPr>
                    <a:solidFill>
                      <a:srgbClr val="FFFFFF"/>
                    </a:solidFill>
                  </a:tcPr>
                </a:tc>
                <a:tc>
                  <a:txBody>
                    <a:bodyPr/>
                    <a:lstStyle/>
                    <a:p>
                      <a:pPr algn="ctr"/>
                      <a:r>
                        <a:rPr sz="750" b="0">
                          <a:solidFill>
                            <a:srgbClr val="202020"/>
                          </a:solidFill>
                        </a:rPr>
                        <a:t>0.063</a:t>
                      </a:r>
                    </a:p>
                  </a:txBody>
                  <a:tcPr>
                    <a:solidFill>
                      <a:srgbClr val="FFFFFF"/>
                    </a:solidFill>
                  </a:tcPr>
                </a:tc>
                <a:tc>
                  <a:txBody>
                    <a:bodyPr/>
                    <a:lstStyle/>
                    <a:p>
                      <a:pPr algn="ctr"/>
                      <a:r>
                        <a:rPr sz="750" b="0">
                          <a:solidFill>
                            <a:srgbClr val="202020"/>
                          </a:solidFill>
                        </a:rPr>
                        <a:t>0.078</a:t>
                      </a:r>
                    </a:p>
                  </a:txBody>
                  <a:tcPr>
                    <a:solidFill>
                      <a:srgbClr val="FFFFFF"/>
                    </a:solidFill>
                  </a:tcPr>
                </a:tc>
              </a:tr>
            </a:tbl>
          </a:graphicData>
        </a:graphic>
      </p:graphicFrame>
      <p:sp>
        <p:nvSpPr>
          <p:cNvPr id="10" name="TextBox 9"/>
          <p:cNvSpPr txBox="1"/>
          <p:nvPr/>
        </p:nvSpPr>
        <p:spPr>
          <a:xfrm>
            <a:off x="4617720" y="2834640"/>
            <a:ext cx="4206240" cy="201168"/>
          </a:xfrm>
          <a:prstGeom prst="rect">
            <a:avLst/>
          </a:prstGeom>
          <a:noFill/>
        </p:spPr>
        <p:txBody>
          <a:bodyPr wrap="none">
            <a:spAutoFit/>
          </a:bodyPr>
          <a:lstStyle/>
          <a:p>
            <a:pPr algn="l"/>
            <a:r>
              <a:rPr sz="950" b="1" i="0">
                <a:solidFill>
                  <a:srgbClr val="1A73E8"/>
                </a:solidFill>
              </a:rPr>
              <a:t>KDEF → Primer (4-Class)</a:t>
            </a:r>
          </a:p>
        </p:txBody>
      </p:sp>
      <p:graphicFrame>
        <p:nvGraphicFramePr>
          <p:cNvPr id="11" name="Table 10"/>
          <p:cNvGraphicFramePr>
            <a:graphicFrameLocks noGrp="1"/>
          </p:cNvGraphicFramePr>
          <p:nvPr/>
        </p:nvGraphicFramePr>
        <p:xfrm>
          <a:off x="4617720" y="3054096"/>
          <a:ext cx="4206237" cy="2011680"/>
        </p:xfrm>
        <a:graphic>
          <a:graphicData uri="http://schemas.openxmlformats.org/drawingml/2006/table">
            <a:tbl>
              <a:tblPr firstRow="1" bandRow="1"/>
              <a:tblGrid>
                <a:gridCol w="1521405"/>
                <a:gridCol w="671208"/>
                <a:gridCol w="671208"/>
                <a:gridCol w="671208"/>
                <a:gridCol w="671208"/>
              </a:tblGrid>
              <a:tr h="287382">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287382">
                <a:tc>
                  <a:txBody>
                    <a:bodyPr/>
                    <a:lstStyle/>
                    <a:p>
                      <a:pPr algn="l"/>
                      <a:r>
                        <a:rPr sz="750" b="1">
                          <a:solidFill>
                            <a:srgbClr val="202020"/>
                          </a:solidFill>
                        </a:rPr>
                        <a:t>CNN</a:t>
                      </a:r>
                    </a:p>
                  </a:txBody>
                  <a:tcPr>
                    <a:solidFill>
                      <a:srgbClr val="E6F4EA"/>
                    </a:solidFill>
                  </a:tcPr>
                </a:tc>
                <a:tc>
                  <a:txBody>
                    <a:bodyPr/>
                    <a:lstStyle/>
                    <a:p>
                      <a:pPr algn="ctr"/>
                      <a:r>
                        <a:rPr sz="750" b="0">
                          <a:solidFill>
                            <a:srgbClr val="202020"/>
                          </a:solidFill>
                        </a:rPr>
                        <a:t>0.079</a:t>
                      </a:r>
                    </a:p>
                  </a:txBody>
                  <a:tcPr>
                    <a:solidFill>
                      <a:srgbClr val="E6F4EA"/>
                    </a:solidFill>
                  </a:tcPr>
                </a:tc>
                <a:tc>
                  <a:txBody>
                    <a:bodyPr/>
                    <a:lstStyle/>
                    <a:p>
                      <a:pPr algn="ctr"/>
                      <a:r>
                        <a:rPr sz="750" b="0">
                          <a:solidFill>
                            <a:srgbClr val="202020"/>
                          </a:solidFill>
                        </a:rPr>
                        <a:t>0.067</a:t>
                      </a:r>
                    </a:p>
                  </a:txBody>
                  <a:tcPr>
                    <a:solidFill>
                      <a:srgbClr val="E6F4EA"/>
                    </a:solidFill>
                  </a:tcPr>
                </a:tc>
                <a:tc>
                  <a:txBody>
                    <a:bodyPr/>
                    <a:lstStyle/>
                    <a:p>
                      <a:pPr algn="ctr"/>
                      <a:r>
                        <a:rPr sz="750" b="0">
                          <a:solidFill>
                            <a:srgbClr val="202020"/>
                          </a:solidFill>
                        </a:rPr>
                        <a:t>0.078</a:t>
                      </a:r>
                    </a:p>
                  </a:txBody>
                  <a:tcPr>
                    <a:solidFill>
                      <a:srgbClr val="E6F4EA"/>
                    </a:solidFill>
                  </a:tcPr>
                </a:tc>
                <a:tc>
                  <a:txBody>
                    <a:bodyPr/>
                    <a:lstStyle/>
                    <a:p>
                      <a:pPr algn="ctr"/>
                      <a:r>
                        <a:rPr sz="750" b="0">
                          <a:solidFill>
                            <a:srgbClr val="202020"/>
                          </a:solidFill>
                        </a:rPr>
                        <a:t>0.067</a:t>
                      </a:r>
                    </a:p>
                  </a:txBody>
                  <a:tcPr>
                    <a:solidFill>
                      <a:srgbClr val="E6F4EA"/>
                    </a:solidFill>
                  </a:tcPr>
                </a:tc>
              </a:tr>
              <a:tr h="287382">
                <a:tc>
                  <a:txBody>
                    <a:bodyPr/>
                    <a:lstStyle/>
                    <a:p>
                      <a:pPr algn="l"/>
                      <a:r>
                        <a:rPr sz="750" b="1">
                          <a:solidFill>
                            <a:srgbClr val="202020"/>
                          </a:solidFill>
                        </a:rPr>
                        <a:t>FCNN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2">
                <a:tc>
                  <a:txBody>
                    <a:bodyPr/>
                    <a:lstStyle/>
                    <a:p>
                      <a:pPr algn="l"/>
                      <a:r>
                        <a:rPr sz="750" b="1">
                          <a:solidFill>
                            <a:srgbClr val="202020"/>
                          </a:solidFill>
                        </a:rPr>
                        <a:t>Intermediate</a:t>
                      </a:r>
                    </a:p>
                  </a:txBody>
                  <a:tcPr>
                    <a:solidFill>
                      <a:srgbClr val="E8F0FE"/>
                    </a:solidFill>
                  </a:tcPr>
                </a:tc>
                <a:tc>
                  <a:txBody>
                    <a:bodyPr/>
                    <a:lstStyle/>
                    <a:p>
                      <a:pPr algn="ctr"/>
                      <a:r>
                        <a:rPr sz="750" b="0">
                          <a:solidFill>
                            <a:srgbClr val="202020"/>
                          </a:solidFill>
                        </a:rPr>
                        <a:t>0.037</a:t>
                      </a:r>
                    </a:p>
                  </a:txBody>
                  <a:tcPr>
                    <a:solidFill>
                      <a:srgbClr val="E8F0FE"/>
                    </a:solidFill>
                  </a:tcPr>
                </a:tc>
                <a:tc>
                  <a:txBody>
                    <a:bodyPr/>
                    <a:lstStyle/>
                    <a:p>
                      <a:pPr algn="ctr"/>
                      <a:r>
                        <a:rPr sz="750" b="0">
                          <a:solidFill>
                            <a:srgbClr val="202020"/>
                          </a:solidFill>
                        </a:rPr>
                        <a:t>0.020</a:t>
                      </a:r>
                    </a:p>
                  </a:txBody>
                  <a:tcPr>
                    <a:solidFill>
                      <a:srgbClr val="E8F0FE"/>
                    </a:solidFill>
                  </a:tcPr>
                </a:tc>
                <a:tc>
                  <a:txBody>
                    <a:bodyPr/>
                    <a:lstStyle/>
                    <a:p>
                      <a:pPr algn="ctr"/>
                      <a:r>
                        <a:rPr sz="750" b="0">
                          <a:solidFill>
                            <a:srgbClr val="202020"/>
                          </a:solidFill>
                        </a:rPr>
                        <a:t>0.021</a:t>
                      </a:r>
                    </a:p>
                  </a:txBody>
                  <a:tcPr>
                    <a:solidFill>
                      <a:srgbClr val="E8F0FE"/>
                    </a:solidFill>
                  </a:tcPr>
                </a:tc>
                <a:tc>
                  <a:txBody>
                    <a:bodyPr/>
                    <a:lstStyle/>
                    <a:p>
                      <a:pPr algn="ctr"/>
                      <a:r>
                        <a:rPr sz="750" b="0">
                          <a:solidFill>
                            <a:srgbClr val="202020"/>
                          </a:solidFill>
                        </a:rPr>
                        <a:t>0.020</a:t>
                      </a:r>
                    </a:p>
                  </a:txBody>
                  <a:tcPr>
                    <a:solidFill>
                      <a:srgbClr val="E8F0FE"/>
                    </a:solidFill>
                  </a:tcPr>
                </a:tc>
              </a:tr>
              <a:tr h="287382">
                <a:tc>
                  <a:txBody>
                    <a:bodyPr/>
                    <a:lstStyle/>
                    <a:p>
                      <a:pPr algn="l"/>
                      <a:r>
                        <a:rPr sz="750" b="1">
                          <a:solidFill>
                            <a:srgbClr val="202020"/>
                          </a:solidFill>
                        </a:rPr>
                        <a:t>CNN TL</a:t>
                      </a:r>
                    </a:p>
                  </a:txBody>
                  <a:tcPr>
                    <a:solidFill>
                      <a:srgbClr val="FFFFFF"/>
                    </a:solidFill>
                  </a:tcPr>
                </a:tc>
                <a:tc>
                  <a:txBody>
                    <a:bodyPr/>
                    <a:lstStyle/>
                    <a:p>
                      <a:pPr algn="ctr"/>
                      <a:r>
                        <a:rPr sz="750" b="0">
                          <a:solidFill>
                            <a:srgbClr val="202020"/>
                          </a:solidFill>
                        </a:rPr>
                        <a:t>0.068</a:t>
                      </a:r>
                    </a:p>
                  </a:txBody>
                  <a:tcPr>
                    <a:solidFill>
                      <a:srgbClr val="FFFFFF"/>
                    </a:solidFill>
                  </a:tcPr>
                </a:tc>
                <a:tc>
                  <a:txBody>
                    <a:bodyPr/>
                    <a:lstStyle/>
                    <a:p>
                      <a:pPr algn="ctr"/>
                      <a:r>
                        <a:rPr sz="750" b="0">
                          <a:solidFill>
                            <a:srgbClr val="202020"/>
                          </a:solidFill>
                        </a:rPr>
                        <a:t>0.045</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0.045</a:t>
                      </a:r>
                    </a:p>
                  </a:txBody>
                  <a:tcPr>
                    <a:solidFill>
                      <a:srgbClr val="FFFFFF"/>
                    </a:solidFill>
                  </a:tcPr>
                </a:tc>
              </a:tr>
              <a:tr h="287382">
                <a:tc>
                  <a:txBody>
                    <a:bodyPr/>
                    <a:lstStyle/>
                    <a:p>
                      <a:pPr algn="l"/>
                      <a:r>
                        <a:rPr sz="750" b="1">
                          <a:solidFill>
                            <a:srgbClr val="202020"/>
                          </a:solidFill>
                        </a:rPr>
                        <a:t>Intermediate TL</a:t>
                      </a:r>
                    </a:p>
                  </a:txBody>
                  <a:tcPr>
                    <a:solidFill>
                      <a:srgbClr val="E8F0FE"/>
                    </a:solidFill>
                  </a:tcPr>
                </a:tc>
                <a:tc>
                  <a:txBody>
                    <a:bodyPr/>
                    <a:lstStyle/>
                    <a:p>
                      <a:pPr algn="ctr"/>
                      <a:r>
                        <a:rPr sz="750" b="0">
                          <a:solidFill>
                            <a:srgbClr val="202020"/>
                          </a:solidFill>
                        </a:rPr>
                        <a:t>0.076</a:t>
                      </a:r>
                    </a:p>
                  </a:txBody>
                  <a:tcPr>
                    <a:solidFill>
                      <a:srgbClr val="E8F0FE"/>
                    </a:solidFill>
                  </a:tcPr>
                </a:tc>
                <a:tc>
                  <a:txBody>
                    <a:bodyPr/>
                    <a:lstStyle/>
                    <a:p>
                      <a:pPr algn="ctr"/>
                      <a:r>
                        <a:rPr sz="750" b="0">
                          <a:solidFill>
                            <a:srgbClr val="202020"/>
                          </a:solidFill>
                        </a:rPr>
                        <a:t>0.054</a:t>
                      </a:r>
                    </a:p>
                  </a:txBody>
                  <a:tcPr>
                    <a:solidFill>
                      <a:srgbClr val="E8F0FE"/>
                    </a:solidFill>
                  </a:tcPr>
                </a:tc>
                <a:tc>
                  <a:txBody>
                    <a:bodyPr/>
                    <a:lstStyle/>
                    <a:p>
                      <a:pPr algn="ctr"/>
                      <a:r>
                        <a:rPr sz="750" b="0">
                          <a:solidFill>
                            <a:srgbClr val="202020"/>
                          </a:solidFill>
                        </a:rPr>
                        <a:t>0.030</a:t>
                      </a:r>
                    </a:p>
                  </a:txBody>
                  <a:tcPr>
                    <a:solidFill>
                      <a:srgbClr val="E8F0FE"/>
                    </a:solidFill>
                  </a:tcPr>
                </a:tc>
                <a:tc>
                  <a:txBody>
                    <a:bodyPr/>
                    <a:lstStyle/>
                    <a:p>
                      <a:pPr algn="ctr"/>
                      <a:r>
                        <a:rPr sz="750" b="0">
                          <a:solidFill>
                            <a:srgbClr val="202020"/>
                          </a:solidFill>
                        </a:rPr>
                        <a:t>0.054</a:t>
                      </a:r>
                    </a:p>
                  </a:txBody>
                  <a:tcPr>
                    <a:solidFill>
                      <a:srgbClr val="E8F0FE"/>
                    </a:solidFill>
                  </a:tcPr>
                </a:tc>
              </a:tr>
              <a:tr h="287388">
                <a:tc>
                  <a:txBody>
                    <a:bodyPr/>
                    <a:lstStyle/>
                    <a:p>
                      <a:pPr algn="l"/>
                      <a:r>
                        <a:rPr sz="750" b="1">
                          <a:solidFill>
                            <a:srgbClr val="202020"/>
                          </a:solidFill>
                        </a:rPr>
                        <a:t>Late Fusion</a:t>
                      </a:r>
                    </a:p>
                  </a:txBody>
                  <a:tcPr>
                    <a:solidFill>
                      <a:srgbClr val="FFFFFF"/>
                    </a:solidFill>
                  </a:tcPr>
                </a:tc>
                <a:tc>
                  <a:txBody>
                    <a:bodyPr/>
                    <a:lstStyle/>
                    <a:p>
                      <a:pPr algn="ctr"/>
                      <a:r>
                        <a:rPr sz="750" b="0">
                          <a:solidFill>
                            <a:srgbClr val="202020"/>
                          </a:solidFill>
                        </a:rPr>
                        <a:t>0.004</a:t>
                      </a:r>
                    </a:p>
                  </a:txBody>
                  <a:tcPr>
                    <a:solidFill>
                      <a:srgbClr val="FFFFFF"/>
                    </a:solidFill>
                  </a:tcPr>
                </a:tc>
                <a:tc>
                  <a:txBody>
                    <a:bodyPr/>
                    <a:lstStyle/>
                    <a:p>
                      <a:pPr algn="ctr"/>
                      <a:r>
                        <a:rPr sz="750" b="0">
                          <a:solidFill>
                            <a:srgbClr val="202020"/>
                          </a:solidFill>
                        </a:rPr>
                        <a:t>0.009</a:t>
                      </a:r>
                    </a:p>
                  </a:txBody>
                  <a:tcPr>
                    <a:solidFill>
                      <a:srgbClr val="FFFFFF"/>
                    </a:solidFill>
                  </a:tcPr>
                </a:tc>
                <a:tc>
                  <a:txBody>
                    <a:bodyPr/>
                    <a:lstStyle/>
                    <a:p>
                      <a:pPr algn="ctr"/>
                      <a:r>
                        <a:rPr sz="750" b="0">
                          <a:solidFill>
                            <a:srgbClr val="202020"/>
                          </a:solidFill>
                        </a:rPr>
                        <a:t>0.000</a:t>
                      </a:r>
                    </a:p>
                  </a:txBody>
                  <a:tcPr>
                    <a:solidFill>
                      <a:srgbClr val="FFFFFF"/>
                    </a:solidFill>
                  </a:tcPr>
                </a:tc>
                <a:tc>
                  <a:txBody>
                    <a:bodyPr/>
                    <a:lstStyle/>
                    <a:p>
                      <a:pPr algn="ctr"/>
                      <a:r>
                        <a:rPr sz="750" b="0">
                          <a:solidFill>
                            <a:srgbClr val="202020"/>
                          </a:solidFill>
                        </a:rPr>
                        <a:t>0.009</a:t>
                      </a:r>
                    </a:p>
                  </a:txBody>
                  <a:tcPr>
                    <a:solidFill>
                      <a:srgbClr val="FFFFFF"/>
                    </a:solidFill>
                  </a:tcPr>
                </a:tc>
              </a:tr>
              <a:tr h="287388">
                <a:tc>
                  <a:txBody>
                    <a:bodyPr/>
                    <a:lstStyle/>
                    <a:p>
                      <a:pPr algn="l"/>
                      <a:r>
                        <a:rPr sz="750" b="1">
                          <a:solidFill>
                            <a:srgbClr val="202020"/>
                          </a:solidFill>
                        </a:rPr>
                        <a:t>Early Fusion</a:t>
                      </a:r>
                    </a:p>
                  </a:txBody>
                  <a:tcPr>
                    <a:solidFill>
                      <a:srgbClr val="FFFFFF"/>
                    </a:solidFill>
                  </a:tcPr>
                </a:tc>
                <a:tc>
                  <a:txBody>
                    <a:bodyPr/>
                    <a:lstStyle/>
                    <a:p>
                      <a:pPr algn="ctr"/>
                      <a:r>
                        <a:rPr sz="750" b="0">
                          <a:solidFill>
                            <a:srgbClr val="202020"/>
                          </a:solidFill>
                        </a:rPr>
                        <a:t>0.039</a:t>
                      </a:r>
                    </a:p>
                  </a:txBody>
                  <a:tcPr>
                    <a:solidFill>
                      <a:srgbClr val="FFFFFF"/>
                    </a:solidFill>
                  </a:tcPr>
                </a:tc>
                <a:tc>
                  <a:txBody>
                    <a:bodyPr/>
                    <a:lstStyle/>
                    <a:p>
                      <a:pPr algn="ctr"/>
                      <a:r>
                        <a:rPr sz="750" b="0">
                          <a:solidFill>
                            <a:srgbClr val="202020"/>
                          </a:solidFill>
                        </a:rPr>
                        <a:t>0.040</a:t>
                      </a:r>
                    </a:p>
                  </a:txBody>
                  <a:tcPr>
                    <a:solidFill>
                      <a:srgbClr val="FFFFFF"/>
                    </a:solidFill>
                  </a:tcPr>
                </a:tc>
                <a:tc>
                  <a:txBody>
                    <a:bodyPr/>
                    <a:lstStyle/>
                    <a:p>
                      <a:pPr algn="ctr"/>
                      <a:r>
                        <a:rPr sz="750" b="0">
                          <a:solidFill>
                            <a:srgbClr val="202020"/>
                          </a:solidFill>
                        </a:rPr>
                        <a:t>0.023</a:t>
                      </a:r>
                    </a:p>
                  </a:txBody>
                  <a:tcPr>
                    <a:solidFill>
                      <a:srgbClr val="FFFFFF"/>
                    </a:solidFill>
                  </a:tcPr>
                </a:tc>
                <a:tc>
                  <a:txBody>
                    <a:bodyPr/>
                    <a:lstStyle/>
                    <a:p>
                      <a:pPr algn="ctr"/>
                      <a:r>
                        <a:rPr sz="750" b="0">
                          <a:solidFill>
                            <a:srgbClr val="202020"/>
                          </a:solidFill>
                        </a:rPr>
                        <a:t>0.040</a:t>
                      </a:r>
                    </a:p>
                  </a:txBody>
                  <a:tcPr>
                    <a:solidFill>
                      <a:srgbClr val="FFFFFF"/>
                    </a:solidFill>
                  </a:tcPr>
                </a:tc>
              </a:tr>
              <a:tr h="287388">
                <a:tc>
                  <a:txBody>
                    <a:bodyPr/>
                    <a:lstStyle/>
                    <a:p>
                      <a:pPr algn="l"/>
                      <a:r>
                        <a:rPr sz="750" b="1">
                          <a:solidFill>
                            <a:srgbClr val="202020"/>
                          </a:solidFill>
                        </a:rPr>
                        <a:t>Early Fusion TL</a:t>
                      </a:r>
                    </a:p>
                  </a:txBody>
                  <a:tcPr>
                    <a:solidFill>
                      <a:srgbClr val="FFFFFF"/>
                    </a:solidFill>
                  </a:tcPr>
                </a:tc>
                <a:tc>
                  <a:txBody>
                    <a:bodyPr/>
                    <a:lstStyle/>
                    <a:p>
                      <a:pPr algn="ctr"/>
                      <a:r>
                        <a:rPr sz="750" b="0">
                          <a:solidFill>
                            <a:srgbClr val="202020"/>
                          </a:solidFill>
                        </a:rPr>
                        <a:t>0.104</a:t>
                      </a:r>
                    </a:p>
                  </a:txBody>
                  <a:tcPr>
                    <a:solidFill>
                      <a:srgbClr val="FFFFFF"/>
                    </a:solidFill>
                  </a:tcPr>
                </a:tc>
                <a:tc>
                  <a:txBody>
                    <a:bodyPr/>
                    <a:lstStyle/>
                    <a:p>
                      <a:pPr algn="ctr"/>
                      <a:r>
                        <a:rPr sz="750" b="0">
                          <a:solidFill>
                            <a:srgbClr val="202020"/>
                          </a:solidFill>
                        </a:rPr>
                        <a:t>0.101</a:t>
                      </a:r>
                    </a:p>
                  </a:txBody>
                  <a:tcPr>
                    <a:solidFill>
                      <a:srgbClr val="FFFFFF"/>
                    </a:solidFill>
                  </a:tcPr>
                </a:tc>
                <a:tc>
                  <a:txBody>
                    <a:bodyPr/>
                    <a:lstStyle/>
                    <a:p>
                      <a:pPr algn="ctr"/>
                      <a:r>
                        <a:rPr sz="750" b="0">
                          <a:solidFill>
                            <a:srgbClr val="202020"/>
                          </a:solidFill>
                        </a:rPr>
                        <a:t>0.152</a:t>
                      </a:r>
                    </a:p>
                  </a:txBody>
                  <a:tcPr>
                    <a:solidFill>
                      <a:srgbClr val="FFFFFF"/>
                    </a:solidFill>
                  </a:tcPr>
                </a:tc>
                <a:tc>
                  <a:txBody>
                    <a:bodyPr/>
                    <a:lstStyle/>
                    <a:p>
                      <a:pPr algn="ctr"/>
                      <a:r>
                        <a:rPr sz="750" b="0">
                          <a:solidFill>
                            <a:srgbClr val="202020"/>
                          </a:solidFill>
                        </a:rPr>
                        <a:t>0.101</a:t>
                      </a:r>
                    </a:p>
                  </a:txBody>
                  <a:tcPr>
                    <a:solidFill>
                      <a:srgbClr val="FFFFFF"/>
                    </a:solidFill>
                  </a:tcPr>
                </a:tc>
              </a:tr>
              <a:tr h="287388">
                <a:tc>
                  <a:txBody>
                    <a:bodyPr/>
                    <a:lstStyle/>
                    <a:p>
                      <a:pPr algn="l"/>
                      <a:r>
                        <a:rPr sz="750" b="1">
                          <a:solidFill>
                            <a:srgbClr val="202020"/>
                          </a:solidFill>
                        </a:rPr>
                        <a:t>Late Fusion TL</a:t>
                      </a:r>
                    </a:p>
                  </a:txBody>
                  <a:tcPr>
                    <a:solidFill>
                      <a:srgbClr val="FFFFFF"/>
                    </a:solidFill>
                  </a:tcPr>
                </a:tc>
                <a:tc>
                  <a:txBody>
                    <a:bodyPr/>
                    <a:lstStyle/>
                    <a:p>
                      <a:pPr algn="ctr"/>
                      <a:r>
                        <a:rPr sz="750" b="0">
                          <a:solidFill>
                            <a:srgbClr val="202020"/>
                          </a:solidFill>
                        </a:rPr>
                        <a:t>0.017</a:t>
                      </a:r>
                    </a:p>
                  </a:txBody>
                  <a:tcPr>
                    <a:solidFill>
                      <a:srgbClr val="FFFFFF"/>
                    </a:solidFill>
                  </a:tcPr>
                </a:tc>
                <a:tc>
                  <a:txBody>
                    <a:bodyPr/>
                    <a:lstStyle/>
                    <a:p>
                      <a:pPr algn="ctr"/>
                      <a:r>
                        <a:rPr sz="750" b="0">
                          <a:solidFill>
                            <a:srgbClr val="202020"/>
                          </a:solidFill>
                        </a:rPr>
                        <a:t>0.011</a:t>
                      </a:r>
                    </a:p>
                  </a:txBody>
                  <a:tcPr>
                    <a:solidFill>
                      <a:srgbClr val="FFFFFF"/>
                    </a:solidFill>
                  </a:tcPr>
                </a:tc>
                <a:tc>
                  <a:txBody>
                    <a:bodyPr/>
                    <a:lstStyle/>
                    <a:p>
                      <a:pPr algn="ctr"/>
                      <a:r>
                        <a:rPr sz="750" b="0">
                          <a:solidFill>
                            <a:srgbClr val="202020"/>
                          </a:solidFill>
                        </a:rPr>
                        <a:t>0.003</a:t>
                      </a:r>
                    </a:p>
                  </a:txBody>
                  <a:tcPr>
                    <a:solidFill>
                      <a:srgbClr val="FFFFFF"/>
                    </a:solidFill>
                  </a:tcPr>
                </a:tc>
                <a:tc>
                  <a:txBody>
                    <a:bodyPr/>
                    <a:lstStyle/>
                    <a:p>
                      <a:pPr algn="ctr"/>
                      <a:r>
                        <a:rPr sz="750" b="0">
                          <a:solidFill>
                            <a:srgbClr val="202020"/>
                          </a:solidFill>
                        </a:rPr>
                        <a:t>0.011</a:t>
                      </a:r>
                    </a:p>
                  </a:txBody>
                  <a:tcPr>
                    <a:solidFill>
                      <a:srgbClr val="FFFFFF"/>
                    </a:solidFill>
                  </a:tcPr>
                </a:tc>
              </a:tr>
            </a:tbl>
          </a:graphicData>
        </a:graphic>
      </p:graphicFrame>
      <p:sp>
        <p:nvSpPr>
          <p:cNvPr id="12" name="TextBox 11"/>
          <p:cNvSpPr txBox="1"/>
          <p:nvPr/>
        </p:nvSpPr>
        <p:spPr>
          <a:xfrm>
            <a:off x="274320" y="5120640"/>
            <a:ext cx="8595360" cy="1097280"/>
          </a:xfrm>
          <a:prstGeom prst="rect">
            <a:avLst/>
          </a:prstGeom>
          <a:solidFill>
            <a:srgbClr val="E6F4EA"/>
          </a:solidFill>
        </p:spPr>
        <p:txBody>
          <a:bodyPr wrap="square">
            <a:spAutoFit/>
          </a:bodyPr>
          <a:lstStyle/>
          <a:p>
            <a:pPr algn="l"/>
            <a:r>
              <a:rPr sz="1000" b="1" i="0">
                <a:solidFill>
                  <a:srgbClr val="0F9D58"/>
                </a:solidFill>
              </a:rPr>
              <a:t>Kesimpulan Skema 2</a:t>
            </a:r>
          </a:p>
          <a:p>
            <a:pPr algn="l"/>
            <a:r>
              <a:rPr sz="850" b="0" i="0">
                <a:solidFill>
                  <a:srgbClr val="202020"/>
                </a:solidFill>
              </a:rPr>
              <a:t>• RAF-DB 4c paling robust untuk transfer (best 0.269 via Intermediate) — masih jauh dari Primer self (0.521, val-tuned)</a:t>
            </a:r>
          </a:p>
          <a:p>
            <a:pPr algn="l"/>
            <a:r>
              <a:rPr sz="850" b="0" i="0">
                <a:solidFill>
                  <a:srgbClr val="202020"/>
                </a:solidFill>
              </a:rPr>
              <a:t>• KDEF → Primer catastrophic (&lt;0.08 Macro F1 semua combo) — lab high-quality tidak transfer ke natural</a:t>
            </a:r>
          </a:p>
          <a:p>
            <a:pPr algn="l"/>
            <a:r>
              <a:rPr sz="850" b="0" i="0">
                <a:solidFill>
                  <a:srgbClr val="202020"/>
                </a:solidFill>
              </a:rPr>
              <a:t>• FCNN (landmark) / Intermediate Fusion paling tahan domain shift; CNN murni paling rentan</a:t>
            </a:r>
          </a:p>
          <a:p>
            <a:pPr algn="l"/>
            <a:r>
              <a:rPr sz="850" b="1" i="0">
                <a:solidFill>
                  <a:srgbClr val="0F9D58"/>
                </a:solidFill>
              </a:rPr>
              <a:t>• Justifikasi kuat: Primer self-training + conf60 + fusion + augmentation lebih baik daripada TL dari public</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800" b="1"/>
              <a:t>SLIDE 33: Soft Label Training (Eksplorasi Liliana 2019-inspired, nb 71)</a:t>
            </a:r>
          </a:p>
        </p:txBody>
      </p:sp>
      <p:sp>
        <p:nvSpPr>
          <p:cNvPr id="4" name="TextBox 3"/>
          <p:cNvSpPr txBox="1"/>
          <p:nvPr/>
        </p:nvSpPr>
        <p:spPr>
          <a:xfrm>
            <a:off x="274320" y="548640"/>
            <a:ext cx="8595360" cy="228600"/>
          </a:xfrm>
          <a:prstGeom prst="rect">
            <a:avLst/>
          </a:prstGeom>
          <a:noFill/>
        </p:spPr>
        <p:txBody>
          <a:bodyPr wrap="none">
            <a:spAutoFit/>
          </a:bodyPr>
          <a:lstStyle/>
          <a:p>
            <a:pPr algn="l"/>
            <a:r>
              <a:rPr sz="1100" b="0"/>
              <a:t>4 Loss Variants — CNN TL 4-class B1 Baseline (isolate efek loss function)</a:t>
            </a:r>
          </a:p>
        </p:txBody>
      </p:sp>
      <p:graphicFrame>
        <p:nvGraphicFramePr>
          <p:cNvPr id="5" name="Table 4"/>
          <p:cNvGraphicFramePr>
            <a:graphicFrameLocks noGrp="1"/>
          </p:cNvGraphicFramePr>
          <p:nvPr/>
        </p:nvGraphicFramePr>
        <p:xfrm>
          <a:off x="274320" y="822960"/>
          <a:ext cx="8595358" cy="1920240"/>
        </p:xfrm>
        <a:graphic>
          <a:graphicData uri="http://schemas.openxmlformats.org/drawingml/2006/table">
            <a:tbl>
              <a:tblPr firstRow="1" bandRow="1"/>
              <a:tblGrid>
                <a:gridCol w="2865120"/>
                <a:gridCol w="1833676"/>
                <a:gridCol w="1833676"/>
                <a:gridCol w="2062886"/>
              </a:tblGrid>
              <a:tr h="320040">
                <a:tc>
                  <a:txBody>
                    <a:bodyPr/>
                    <a:lstStyle/>
                    <a:p>
                      <a:pPr algn="ctr"/>
                      <a:r>
                        <a:rPr sz="900" b="1">
                          <a:solidFill>
                            <a:srgbClr val="FFFFFF"/>
                          </a:solidFill>
                        </a:rPr>
                        <a:t>Config</a:t>
                      </a:r>
                    </a:p>
                  </a:txBody>
                  <a:tcPr>
                    <a:solidFill>
                      <a:srgbClr val="1A73E8"/>
                    </a:solidFill>
                  </a:tcPr>
                </a:tc>
                <a:tc>
                  <a:txBody>
                    <a:bodyPr/>
                    <a:lstStyle/>
                    <a:p>
                      <a:pPr algn="ctr"/>
                      <a:r>
                        <a:rPr sz="900" b="1">
                          <a:solidFill>
                            <a:srgbClr val="FFFFFF"/>
                          </a:solidFill>
                        </a:rPr>
                        <a:t>Macro F1</a:t>
                      </a:r>
                    </a:p>
                  </a:txBody>
                  <a:tcPr>
                    <a:solidFill>
                      <a:srgbClr val="1A73E8"/>
                    </a:solidFill>
                  </a:tcPr>
                </a:tc>
                <a:tc>
                  <a:txBody>
                    <a:bodyPr/>
                    <a:lstStyle/>
                    <a:p>
                      <a:pPr algn="ctr"/>
                      <a:r>
                        <a:rPr sz="900" b="1">
                          <a:solidFill>
                            <a:srgbClr val="FFFFFF"/>
                          </a:solidFill>
                        </a:rPr>
                        <a:t>Micro F1</a:t>
                      </a:r>
                    </a:p>
                  </a:txBody>
                  <a:tcPr>
                    <a:solidFill>
                      <a:srgbClr val="1A73E8"/>
                    </a:solidFill>
                  </a:tcPr>
                </a:tc>
                <a:tc>
                  <a:txBody>
                    <a:bodyPr/>
                    <a:lstStyle/>
                    <a:p>
                      <a:pPr algn="ctr"/>
                      <a:r>
                        <a:rPr sz="900" b="1">
                          <a:solidFill>
                            <a:srgbClr val="FFFFFF"/>
                          </a:solidFill>
                        </a:rPr>
                        <a:t>W-F1</a:t>
                      </a:r>
                    </a:p>
                  </a:txBody>
                  <a:tcPr>
                    <a:solidFill>
                      <a:srgbClr val="1A73E8"/>
                    </a:solidFill>
                  </a:tcPr>
                </a:tc>
              </a:tr>
              <a:tr h="320040">
                <a:tc>
                  <a:txBody>
                    <a:bodyPr/>
                    <a:lstStyle/>
                    <a:p>
                      <a:pPr algn="l"/>
                      <a:r>
                        <a:rPr sz="850" b="1">
                          <a:solidFill>
                            <a:srgbClr val="202020"/>
                          </a:solidFill>
                        </a:rPr>
                        <a:t>A. Hard CE (baseline)</a:t>
                      </a:r>
                    </a:p>
                  </a:txBody>
                  <a:tcPr>
                    <a:solidFill>
                      <a:srgbClr val="E8F0FE"/>
                    </a:solidFill>
                  </a:tcPr>
                </a:tc>
                <a:tc>
                  <a:txBody>
                    <a:bodyPr/>
                    <a:lstStyle/>
                    <a:p>
                      <a:pPr algn="ctr"/>
                      <a:r>
                        <a:rPr sz="850" b="0">
                          <a:solidFill>
                            <a:srgbClr val="202020"/>
                          </a:solidFill>
                        </a:rPr>
                        <a:t>0.4269</a:t>
                      </a:r>
                    </a:p>
                  </a:txBody>
                  <a:tcPr>
                    <a:solidFill>
                      <a:srgbClr val="E8F0FE"/>
                    </a:solidFill>
                  </a:tcPr>
                </a:tc>
                <a:tc>
                  <a:txBody>
                    <a:bodyPr/>
                    <a:lstStyle/>
                    <a:p>
                      <a:pPr algn="ctr"/>
                      <a:r>
                        <a:rPr sz="850" b="0">
                          <a:solidFill>
                            <a:srgbClr val="202020"/>
                          </a:solidFill>
                        </a:rPr>
                        <a:t>0.6986</a:t>
                      </a:r>
                    </a:p>
                  </a:txBody>
                  <a:tcPr>
                    <a:solidFill>
                      <a:srgbClr val="E8F0FE"/>
                    </a:solidFill>
                  </a:tcPr>
                </a:tc>
                <a:tc>
                  <a:txBody>
                    <a:bodyPr/>
                    <a:lstStyle/>
                    <a:p>
                      <a:pPr algn="ctr"/>
                      <a:r>
                        <a:rPr sz="850" b="0">
                          <a:solidFill>
                            <a:srgbClr val="202020"/>
                          </a:solidFill>
                        </a:rPr>
                        <a:t>0.7155</a:t>
                      </a:r>
                    </a:p>
                  </a:txBody>
                  <a:tcPr>
                    <a:solidFill>
                      <a:srgbClr val="E8F0FE"/>
                    </a:solidFill>
                  </a:tcPr>
                </a:tc>
              </a:tr>
              <a:tr h="320040">
                <a:tc>
                  <a:txBody>
                    <a:bodyPr/>
                    <a:lstStyle/>
                    <a:p>
                      <a:pPr algn="l"/>
                      <a:r>
                        <a:rPr sz="850" b="1">
                          <a:solidFill>
                            <a:srgbClr val="202020"/>
                          </a:solidFill>
                        </a:rPr>
                        <a:t>B. Soft CE</a:t>
                      </a:r>
                    </a:p>
                  </a:txBody>
                  <a:tcPr>
                    <a:solidFill>
                      <a:srgbClr val="FFFFFF"/>
                    </a:solidFill>
                  </a:tcPr>
                </a:tc>
                <a:tc>
                  <a:txBody>
                    <a:bodyPr/>
                    <a:lstStyle/>
                    <a:p>
                      <a:pPr algn="ctr"/>
                      <a:r>
                        <a:rPr sz="850" b="0">
                          <a:solidFill>
                            <a:srgbClr val="202020"/>
                          </a:solidFill>
                        </a:rPr>
                        <a:t>0.4667</a:t>
                      </a:r>
                    </a:p>
                  </a:txBody>
                  <a:tcPr>
                    <a:solidFill>
                      <a:srgbClr val="FFFFFF"/>
                    </a:solidFill>
                  </a:tcPr>
                </a:tc>
                <a:tc>
                  <a:txBody>
                    <a:bodyPr/>
                    <a:lstStyle/>
                    <a:p>
                      <a:pPr algn="ctr"/>
                      <a:r>
                        <a:rPr sz="850" b="0">
                          <a:solidFill>
                            <a:srgbClr val="202020"/>
                          </a:solidFill>
                        </a:rPr>
                        <a:t>0.8407</a:t>
                      </a:r>
                    </a:p>
                  </a:txBody>
                  <a:tcPr>
                    <a:solidFill>
                      <a:srgbClr val="FFFFFF"/>
                    </a:solidFill>
                  </a:tcPr>
                </a:tc>
                <a:tc>
                  <a:txBody>
                    <a:bodyPr/>
                    <a:lstStyle/>
                    <a:p>
                      <a:pPr algn="ctr"/>
                      <a:r>
                        <a:rPr sz="850" b="0">
                          <a:solidFill>
                            <a:srgbClr val="202020"/>
                          </a:solidFill>
                        </a:rPr>
                        <a:t>0.8281</a:t>
                      </a:r>
                    </a:p>
                  </a:txBody>
                  <a:tcPr>
                    <a:solidFill>
                      <a:srgbClr val="FFFFFF"/>
                    </a:solidFill>
                  </a:tcPr>
                </a:tc>
              </a:tr>
              <a:tr h="320040">
                <a:tc>
                  <a:txBody>
                    <a:bodyPr/>
                    <a:lstStyle/>
                    <a:p>
                      <a:pPr algn="l"/>
                      <a:r>
                        <a:rPr sz="850" b="1">
                          <a:solidFill>
                            <a:srgbClr val="202020"/>
                          </a:solidFill>
                        </a:rPr>
                        <a:t>C. KL-divergence  ⭐</a:t>
                      </a:r>
                    </a:p>
                  </a:txBody>
                  <a:tcPr>
                    <a:solidFill>
                      <a:srgbClr val="E8F0FE"/>
                    </a:solidFill>
                  </a:tcPr>
                </a:tc>
                <a:tc>
                  <a:txBody>
                    <a:bodyPr/>
                    <a:lstStyle/>
                    <a:p>
                      <a:pPr algn="ctr"/>
                      <a:r>
                        <a:rPr sz="850" b="0">
                          <a:solidFill>
                            <a:srgbClr val="202020"/>
                          </a:solidFill>
                        </a:rPr>
                        <a:t>0.5170</a:t>
                      </a:r>
                    </a:p>
                  </a:txBody>
                  <a:tcPr>
                    <a:solidFill>
                      <a:srgbClr val="E8F0FE"/>
                    </a:solidFill>
                  </a:tcPr>
                </a:tc>
                <a:tc>
                  <a:txBody>
                    <a:bodyPr/>
                    <a:lstStyle/>
                    <a:p>
                      <a:pPr algn="ctr"/>
                      <a:r>
                        <a:rPr sz="850" b="0">
                          <a:solidFill>
                            <a:srgbClr val="202020"/>
                          </a:solidFill>
                        </a:rPr>
                        <a:t>0.8213</a:t>
                      </a:r>
                    </a:p>
                  </a:txBody>
                  <a:tcPr>
                    <a:solidFill>
                      <a:srgbClr val="E8F0FE"/>
                    </a:solidFill>
                  </a:tcPr>
                </a:tc>
                <a:tc>
                  <a:txBody>
                    <a:bodyPr/>
                    <a:lstStyle/>
                    <a:p>
                      <a:pPr algn="ctr"/>
                      <a:r>
                        <a:rPr sz="850" b="0">
                          <a:solidFill>
                            <a:srgbClr val="202020"/>
                          </a:solidFill>
                        </a:rPr>
                        <a:t>0.8258</a:t>
                      </a:r>
                    </a:p>
                  </a:txBody>
                  <a:tcPr>
                    <a:solidFill>
                      <a:srgbClr val="E8F0FE"/>
                    </a:solidFill>
                  </a:tcPr>
                </a:tc>
              </a:tr>
              <a:tr h="320040">
                <a:tc>
                  <a:txBody>
                    <a:bodyPr/>
                    <a:lstStyle/>
                    <a:p>
                      <a:pPr algn="l"/>
                      <a:r>
                        <a:rPr sz="850" b="1">
                          <a:solidFill>
                            <a:srgbClr val="202020"/>
                          </a:solidFill>
                        </a:rPr>
                        <a:t>D. Label Smoothing (ε=0.1)</a:t>
                      </a:r>
                    </a:p>
                  </a:txBody>
                  <a:tcPr>
                    <a:solidFill>
                      <a:srgbClr val="FFFFFF"/>
                    </a:solidFill>
                  </a:tcPr>
                </a:tc>
                <a:tc>
                  <a:txBody>
                    <a:bodyPr/>
                    <a:lstStyle/>
                    <a:p>
                      <a:pPr algn="ctr"/>
                      <a:r>
                        <a:rPr sz="850" b="0">
                          <a:solidFill>
                            <a:srgbClr val="202020"/>
                          </a:solidFill>
                        </a:rPr>
                        <a:t>0.4418</a:t>
                      </a:r>
                    </a:p>
                  </a:txBody>
                  <a:tcPr>
                    <a:solidFill>
                      <a:srgbClr val="FFFFFF"/>
                    </a:solidFill>
                  </a:tcPr>
                </a:tc>
                <a:tc>
                  <a:txBody>
                    <a:bodyPr/>
                    <a:lstStyle/>
                    <a:p>
                      <a:pPr algn="ctr"/>
                      <a:r>
                        <a:rPr sz="850" b="0">
                          <a:solidFill>
                            <a:srgbClr val="202020"/>
                          </a:solidFill>
                        </a:rPr>
                        <a:t>0.8202</a:t>
                      </a:r>
                    </a:p>
                  </a:txBody>
                  <a:tcPr>
                    <a:solidFill>
                      <a:srgbClr val="FFFFFF"/>
                    </a:solidFill>
                  </a:tcPr>
                </a:tc>
                <a:tc>
                  <a:txBody>
                    <a:bodyPr/>
                    <a:lstStyle/>
                    <a:p>
                      <a:pPr algn="ctr"/>
                      <a:r>
                        <a:rPr sz="850" b="0">
                          <a:solidFill>
                            <a:srgbClr val="202020"/>
                          </a:solidFill>
                        </a:rPr>
                        <a:t>0.8089</a:t>
                      </a:r>
                    </a:p>
                  </a:txBody>
                  <a:tcPr>
                    <a:solidFill>
                      <a:srgbClr val="FFFFFF"/>
                    </a:solidFill>
                  </a:tcPr>
                </a:tc>
              </a:tr>
              <a:tr h="320040">
                <a:tc>
                  <a:txBody>
                    <a:bodyPr/>
                    <a:lstStyle/>
                    <a:p>
                      <a:pPr algn="l"/>
                      <a:r>
                        <a:rPr sz="850" b="1">
                          <a:solidFill>
                            <a:srgbClr val="202020"/>
                          </a:solidFill>
                        </a:rPr>
                        <a:t>Ref: CNN TL 4c B1 hard (nb 54) = 0.456</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c>
                  <a:txBody>
                    <a:bodyPr/>
                    <a:lstStyle/>
                    <a:p>
                      <a:pPr algn="ctr"/>
                      <a:r>
                        <a:rPr sz="850" b="0">
                          <a:solidFill>
                            <a:srgbClr val="202020"/>
                          </a:solidFill>
                        </a:rPr>
                        <a:t/>
                      </a:r>
                    </a:p>
                  </a:txBody>
                  <a:tcPr>
                    <a:solidFill>
                      <a:srgbClr val="E6F4EA"/>
                    </a:solidFill>
                  </a:tcPr>
                </a:tc>
              </a:tr>
            </a:tbl>
          </a:graphicData>
        </a:graphic>
      </p:graphicFrame>
      <p:sp>
        <p:nvSpPr>
          <p:cNvPr id="6" name="TextBox 5"/>
          <p:cNvSpPr txBox="1"/>
          <p:nvPr/>
        </p:nvSpPr>
        <p:spPr>
          <a:xfrm>
            <a:off x="274320" y="2880360"/>
            <a:ext cx="8595360" cy="274320"/>
          </a:xfrm>
          <a:prstGeom prst="rect">
            <a:avLst/>
          </a:prstGeom>
          <a:noFill/>
        </p:spPr>
        <p:txBody>
          <a:bodyPr wrap="none">
            <a:spAutoFit/>
          </a:bodyPr>
          <a:lstStyle/>
          <a:p>
            <a:pPr algn="l"/>
            <a:r>
              <a:rPr sz="1200" b="1"/>
              <a:t>Temuan (41-44)</a:t>
            </a:r>
          </a:p>
        </p:txBody>
      </p:sp>
      <p:sp>
        <p:nvSpPr>
          <p:cNvPr id="7" name="TextBox 6"/>
          <p:cNvSpPr txBox="1"/>
          <p:nvPr/>
        </p:nvSpPr>
        <p:spPr>
          <a:xfrm>
            <a:off x="274320" y="3200400"/>
            <a:ext cx="8595360" cy="658368"/>
          </a:xfrm>
          <a:prstGeom prst="rect">
            <a:avLst/>
          </a:prstGeom>
          <a:solidFill>
            <a:srgbClr val="E6F4EA"/>
          </a:solidFill>
        </p:spPr>
        <p:txBody>
          <a:bodyPr wrap="square">
            <a:spAutoFit/>
          </a:bodyPr>
          <a:lstStyle/>
          <a:p>
            <a:pPr algn="l"/>
            <a:r>
              <a:rPr sz="950" b="1"/>
              <a:t>Temuan 41: KL-divergence soft label beat Hard CE +0.090 Macro F1</a:t>
            </a:r>
          </a:p>
          <a:p>
            <a:r>
              <a:rPr sz="900" b="0"/>
              <a:t>CNN TL 4c: 0.427 (hard) → 0.517 (KL-div). Signifikan. Konsisten hipotesis Liliana 2019: natural emotion recognition diuntungkan target fuzzy/distribusional.</a:t>
            </a:r>
          </a:p>
        </p:txBody>
      </p:sp>
      <p:sp>
        <p:nvSpPr>
          <p:cNvPr id="8" name="TextBox 7"/>
          <p:cNvSpPr txBox="1"/>
          <p:nvPr/>
        </p:nvSpPr>
        <p:spPr>
          <a:xfrm>
            <a:off x="274320" y="3931920"/>
            <a:ext cx="8595360" cy="594360"/>
          </a:xfrm>
          <a:prstGeom prst="rect">
            <a:avLst/>
          </a:prstGeom>
          <a:solidFill>
            <a:srgbClr val="FEF7E0"/>
          </a:solidFill>
        </p:spPr>
        <p:txBody>
          <a:bodyPr wrap="square">
            <a:spAutoFit/>
          </a:bodyPr>
          <a:lstStyle/>
          <a:p>
            <a:pPr algn="l"/>
            <a:r>
              <a:rPr sz="950" b="1"/>
              <a:t>Temuan 42: Hierarki efektivitas — KL &gt; Soft CE &gt; Label Smoothing &gt; Hard CE</a:t>
            </a:r>
          </a:p>
          <a:p>
            <a:r>
              <a:rPr sz="900" b="0"/>
              <a:t>KL (Face API real) &gt; Soft CE (sama distribusi, beda loss) &gt; Label Smoothing (artificial ε=0.1) &gt; Hard CE. Menunjukkan distribusi Face API membawa sinyal real, bukan sekadar regularisasi.</a:t>
            </a:r>
          </a:p>
        </p:txBody>
      </p:sp>
      <p:sp>
        <p:nvSpPr>
          <p:cNvPr id="9" name="TextBox 8"/>
          <p:cNvSpPr txBox="1"/>
          <p:nvPr/>
        </p:nvSpPr>
        <p:spPr>
          <a:xfrm>
            <a:off x="274320" y="4590288"/>
            <a:ext cx="8595360" cy="594360"/>
          </a:xfrm>
          <a:prstGeom prst="rect">
            <a:avLst/>
          </a:prstGeom>
          <a:solidFill>
            <a:srgbClr val="FCE8E6"/>
          </a:solidFill>
        </p:spPr>
        <p:txBody>
          <a:bodyPr wrap="square">
            <a:spAutoFit/>
          </a:bodyPr>
          <a:lstStyle/>
          <a:p>
            <a:pPr algn="l"/>
            <a:r>
              <a:rPr sz="950" b="1"/>
              <a:t>Temuan 43: KL-div converge epoch 1 — perlu verifikasi</a:t>
            </a:r>
          </a:p>
          <a:p>
            <a:r>
              <a:rPr sz="900" b="0"/>
              <a:t>best_epoch = 1 (stale 15 epoch lalu early stop). Perlu cek training history + multi-seed run untuk pastikan bukan fluke.</a:t>
            </a:r>
          </a:p>
        </p:txBody>
      </p:sp>
      <p:sp>
        <p:nvSpPr>
          <p:cNvPr id="10" name="TextBox 9"/>
          <p:cNvSpPr txBox="1"/>
          <p:nvPr/>
        </p:nvSpPr>
        <p:spPr>
          <a:xfrm>
            <a:off x="274320" y="5248656"/>
            <a:ext cx="8595360" cy="594360"/>
          </a:xfrm>
          <a:prstGeom prst="rect">
            <a:avLst/>
          </a:prstGeom>
          <a:solidFill>
            <a:srgbClr val="E8F0FE"/>
          </a:solidFill>
        </p:spPr>
        <p:txBody>
          <a:bodyPr wrap="square">
            <a:spAutoFit/>
          </a:bodyPr>
          <a:lstStyle/>
          <a:p>
            <a:pPr algn="l"/>
            <a:r>
              <a:rPr sz="950" b="1"/>
              <a:t>Temuan 44: Soft label bump accuracy 0.70 → 0.84</a:t>
            </a:r>
          </a:p>
          <a:p>
            <a:r>
              <a:rPr sz="900" b="0"/>
              <a:t>Hard CE acc 0.70 vs Soft CE acc 0.84. Model tidak selalu prediksi neutral dengan soft target — lebih "aware" kelas lain. Next: nb 72 extend ke Late Fusion TL 4c B3.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a:t>Rencana Eksperimen Lanjutan — Paper-Grounded Experiments</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a:t>Best saat ini: Intermediate TL 4-class B3 = Macro F1 0.521 (val-tuned proper).</a:t>
            </a:r>
          </a:p>
          <a:p>
            <a:r>
              <a:rPr sz="950" b="0"/>
              <a:t>Tiap eksperimen dirancang berbasis paper referensi — metodologi jelas, reproducible, dan langsung terhubung ke literatur.</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a:t>Liliana et al. (2019) — Cognitive Processing (Springer)</a:t>
            </a:r>
          </a:p>
          <a:p>
            <a:r>
              <a:rPr sz="850" b="0"/>
              <a:t>"Fuzzy emotion: a natural approach to automatic facial expression recognition"  [first author = dosen pembimbing]</a:t>
            </a:r>
          </a:p>
          <a:p>
            <a:r>
              <a:rPr sz="300" b="0"/>
              <a:t/>
            </a:r>
          </a:p>
          <a:p>
            <a:r>
              <a:rPr sz="950" b="1"/>
              <a:t>(A) Soft Label Training  ✅ DONE</a:t>
            </a:r>
          </a:p>
          <a:p>
            <a:r>
              <a:rPr sz="900" b="0"/>
              <a:t>   → Face API distribusi 7-dim sebagai soft target (fuzzy emotion concept)</a:t>
            </a:r>
          </a:p>
          <a:p>
            <a:r>
              <a:rPr sz="900" b="0"/>
              <a:t>   → nb 71 (CNN TL): KL-div 0.517 vs Hard 0.427 (+0.090)</a:t>
            </a:r>
          </a:p>
          <a:p>
            <a:r>
              <a:rPr sz="900" b="0"/>
              <a:t>   → nb 72 (Late Fusion TL): 0.437 — gagal transfer ke weighted softmax</a:t>
            </a:r>
          </a:p>
          <a:p>
            <a:r>
              <a:rPr sz="900" b="0"/>
              <a:t>   → nb 78 (Intermediate TL): queued — joint training + soft target</a:t>
            </a:r>
          </a:p>
          <a:p>
            <a:r>
              <a:rPr sz="300" b="0"/>
              <a:t/>
            </a:r>
          </a:p>
          <a:p>
            <a:r>
              <a:rPr sz="950" b="1"/>
              <a:t>(B) Geometric Features (Table 3 paper)</a:t>
            </a:r>
          </a:p>
          <a:p>
            <a:r>
              <a:rPr sz="900" b="0"/>
              <a:t>   → 10 komponen facial × 2 metrik (eccentricity + dist ratio) = 20-d GF</a:t>
            </a:r>
          </a:p>
          <a:p>
            <a:r>
              <a:rPr sz="900" b="0"/>
              <a:t>   → FCNN_geom (20-d) vs FCNN raw (136-d) — test interpretability</a:t>
            </a:r>
          </a:p>
          <a:p>
            <a:r>
              <a:rPr sz="300" b="0"/>
              <a:t/>
            </a:r>
          </a:p>
          <a:p>
            <a:r>
              <a:rPr sz="950" b="1"/>
              <a:t>(C) Geometric + Soft Label Combined  ★★★★★</a:t>
            </a:r>
          </a:p>
          <a:p>
            <a:r>
              <a:rPr sz="900" b="0"/>
              <a:t>   → Double-extension: 20-d GF + fuzzy soft target (kombinasi A + B)</a:t>
            </a:r>
          </a:p>
          <a:p>
            <a:r>
              <a:rPr sz="900" b="0"/>
              <a:t>   → Novelty tertinggi — direct follow-up dari paper dosen</a:t>
            </a:r>
          </a:p>
          <a:p>
            <a:r>
              <a:rPr sz="300" b="0"/>
              <a:t/>
            </a:r>
          </a:p>
          <a:p>
            <a:r>
              <a:rPr sz="950" b="1"/>
              <a:t>(D) FEIS Fuzzy Rule-Based (replikasi)</a:t>
            </a:r>
          </a:p>
          <a:p>
            <a:r>
              <a:rPr sz="900" b="0"/>
              <a:t>   → Mamdani inference, 6 emotion engines — non-DL baseline</a:t>
            </a:r>
          </a:p>
          <a:p>
            <a:r>
              <a:rPr sz="900" b="0"/>
              <a:t>   → Bandingkan vs DL: apakah rule-based lebih robust di natural data?</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a:t>Pitaloka et al. (2017)</a:t>
            </a:r>
          </a:p>
          <a:p>
            <a:r>
              <a:rPr sz="850" b="0"/>
              <a:t>"Enhancing CNN with Preprocessing Stage in Automatic Emotion Recognition"</a:t>
            </a:r>
          </a:p>
          <a:p>
            <a:r>
              <a:rPr sz="300" b="0"/>
              <a:t/>
            </a:r>
          </a:p>
          <a:p>
            <a:r>
              <a:rPr sz="950" b="1"/>
              <a:t>(E) GCN Preprocessing Ablation</a:t>
            </a:r>
          </a:p>
          <a:p>
            <a:r>
              <a:rPr sz="900" b="0"/>
              <a:t>   → Paper menunjukkan Global Contrast Normalization &gt; min-max</a:t>
            </a:r>
          </a:p>
          <a:p>
            <a:r>
              <a:rPr sz="900" b="0"/>
              <a:t>   → Ablation: {min-max, GCN, HistEq} × CNN TL best baseline</a:t>
            </a:r>
          </a:p>
          <a:p>
            <a:r>
              <a:rPr sz="900" b="0"/>
              <a:t>   → Quick win: 0.5-1 hari, terukur langsung vs baseline 0.521</a:t>
            </a:r>
          </a:p>
          <a:p>
            <a:r>
              <a:rPr sz="600" b="0"/>
              <a:t/>
            </a:r>
          </a:p>
          <a:p>
            <a:r>
              <a:rPr sz="1100" b="1"/>
              <a:t>Selvaraju et al. (2017) — Grad-CAM</a:t>
            </a:r>
          </a:p>
          <a:p>
            <a:r>
              <a:rPr sz="850" b="0"/>
              <a:t>"Visual Explanations from Deep Networks via Gradient-based Localization"</a:t>
            </a:r>
          </a:p>
          <a:p>
            <a:r>
              <a:rPr sz="300" b="0"/>
              <a:t/>
            </a:r>
          </a:p>
          <a:p>
            <a:r>
              <a:rPr sz="950" b="1"/>
              <a:t>(F) GradCAM Visualization  🔄 IN-PROGRESS</a:t>
            </a:r>
          </a:p>
          <a:p>
            <a:r>
              <a:rPr sz="900" b="0"/>
              <a:t>   → Qualitative analysis: fokus model per kelas (eye/mouth/brow)</a:t>
            </a:r>
          </a:p>
          <a:p>
            <a:r>
              <a:rPr sz="900" b="0"/>
              <a:t>   → nb 73 scaffolded; run di VPS → docs/figures/gradcam/*.png</a:t>
            </a:r>
          </a:p>
          <a:p>
            <a:r>
              <a:rPr sz="900" b="0"/>
              <a:t>   → Supporting figure untuk BAB Discussion tesis</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a:t>Prioritas berdasarkan paper-grounding + novelty:</a:t>
            </a:r>
          </a:p>
          <a:p>
            <a:r>
              <a:rPr sz="300" b="0"/>
              <a:t/>
            </a:r>
          </a:p>
          <a:p>
            <a:r>
              <a:rPr sz="950" b="0"/>
              <a:t>• Liliana family (A-D): direct extension paper dosen → novelty tertinggi untuk tesis + potensi paper follow-up</a:t>
            </a:r>
          </a:p>
          <a:p>
            <a:r>
              <a:rPr sz="950" b="0"/>
              <a:t>• Pitaloka (E): ablation terukur, quick win — memperkuat preprocessing choice di paper JITeCS</a:t>
            </a:r>
          </a:p>
          <a:p>
            <a:r>
              <a:rPr sz="950" b="0"/>
              <a:t>• Selvaraju (F): visual explanation — complementary untuk BAB Discussion, tidak push SOTA</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00" b="1"/>
              <a:t>Status per Apr 2026: A DONE (nb 71/72) + nb 78 queued  |  F in-progress (nb 73)  |  B/C/D/E belum dimulai  |  Detail: docs/eksplorasi_lanjutan.md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Apakah multimodal fusion outperforms single-modality?</a:t>
                      </a:r>
                    </a:p>
                  </a:txBody>
                  <a:tcPr>
                    <a:solidFill>
                      <a:srgbClr val="E8F0FE"/>
                    </a:solidFill>
                  </a:tcPr>
                </a:tc>
                <a:tc>
                  <a:txBody>
                    <a:bodyPr/>
                    <a:lstStyle/>
                    <a:p>
                      <a:pPr algn="ctr"/>
                      <a:r>
                        <a:rPr sz="900">
                          <a:solidFill>
                            <a:srgbClr val="202020"/>
                          </a:solidFill>
                        </a:rPr>
                        <a:t>Ya. Best fusion (Intermediate TL 4c B3 = 0.521) &gt; best single-modal (CNN TL 4c B3 = 0.507, FCNN 4c B2 = 0.459). Gain moderat ~+0.01-0.06 Macro F1.</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Strategi fusion mana yang terbaik (Early / Intermediate / Late)?</a:t>
                      </a:r>
                    </a:p>
                  </a:txBody>
                  <a:tcPr>
                    <a:solidFill>
                      <a:srgbClr val="FFFFFF"/>
                    </a:solidFill>
                  </a:tcPr>
                </a:tc>
                <a:tc>
                  <a:txBody>
                    <a:bodyPr/>
                    <a:lstStyle/>
                    <a:p>
                      <a:pPr algn="ctr"/>
                      <a:r>
                        <a:rPr sz="900">
                          <a:solidFill>
                            <a:srgbClr val="202020"/>
                          </a:solidFill>
                        </a:rPr>
                        <a:t>4-class: Intermediate TL (0.521) &gt; Late Fusion scratch B2 (0.479) ≈ Early Fusion TL (0.471). 7-class: Early Fusion TL B3 (0.333) &gt; Intermediate TL (0.292). Val-tuned proper, no leakage.</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Transfer Learning effectiveness?</a:t>
                      </a:r>
                    </a:p>
                  </a:txBody>
                  <a:tcPr>
                    <a:solidFill>
                      <a:srgbClr val="E8F0FE"/>
                    </a:solidFill>
                  </a:tcPr>
                </a:tc>
                <a:tc>
                  <a:txBody>
                    <a:bodyPr/>
                    <a:lstStyle/>
                    <a:p>
                      <a:pPr algn="ctr"/>
                      <a:r>
                        <a:rPr sz="900">
                          <a:solidFill>
                            <a:srgbClr val="202020"/>
                          </a:solidFill>
                        </a:rPr>
                        <a:t>TL konsisten unggul (Intermediate TL vs scratch: +0.127 B3 4c). Gain Late Fusion marginal post val-tuning karena w ≈ 0 pilih FCNN-only. Best 4c val-tuned: Intermediate TL &gt; Late Fusion.</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Best overall bergeser: Late Fusion TL (0.567 test-tuned) → Intermediate TL (0.521 val-tuned)</a:t>
                      </a:r>
                    </a:p>
                  </a:txBody>
                  <a:tcPr>
                    <a:solidFill>
                      <a:srgbClr val="E8F0FE"/>
                    </a:solidFill>
                  </a:tcPr>
                </a:tc>
                <a:tc>
                  <a:txBody>
                    <a:bodyPr/>
                    <a:lstStyle/>
                    <a:p>
                      <a:pPr algn="ctr"/>
                      <a:r>
                        <a:rPr sz="900">
                          <a:solidFill>
                            <a:srgbClr val="202020"/>
                          </a:solidFill>
                        </a:rPr>
                        <a:t>Fix test-set leakage di Late Fusion grid-search w. Mohon konfirmasi narasi paper: pakai angka val-tuned proper (0.521) atau report both dengan caveat?</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Soft Label Training (nb 71) — KL-divergence +0.09 Macro F1</a:t>
                      </a:r>
                    </a:p>
                  </a:txBody>
                  <a:tcPr>
                    <a:solidFill>
                      <a:srgbClr val="FFFFFF"/>
                    </a:solidFill>
                  </a:tcPr>
                </a:tc>
                <a:tc>
                  <a:txBody>
                    <a:bodyPr/>
                    <a:lstStyle/>
                    <a:p>
                      <a:pPr algn="ctr"/>
                      <a:r>
                        <a:rPr sz="900">
                          <a:solidFill>
                            <a:srgbClr val="202020"/>
                          </a:solidFill>
                        </a:rPr>
                        <a:t>Hasil promising di CNN TL single (0.427 → 0.517). Lanjut ke nb 72 (Late Fusion + soft label + B3) untuk coba beat 0.521? Atau cukup dicantumkan sebagai eksplorasi?</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Eksplorasi lanjutan: GradCAM, Space Alignment, Attention (CBAM/Ghost/Triplet), Geometric Features (Liliana)</a:t>
                      </a:r>
                    </a:p>
                  </a:txBody>
                  <a:tcPr>
                    <a:solidFill>
                      <a:srgbClr val="E8F0FE"/>
                    </a:solidFill>
                  </a:tcPr>
                </a:tc>
                <a:tc>
                  <a:txBody>
                    <a:bodyPr/>
                    <a:lstStyle/>
                    <a:p>
                      <a:pPr algn="ctr"/>
                      <a:r>
                        <a:rPr sz="900">
                          <a:solidFill>
                            <a:srgbClr val="202020"/>
                          </a:solidFill>
                        </a:rPr>
                        <a:t>Prioritas mana yang diambil dulu untuk BAB eksperimen tesis? 4-6 item dalam ~2-3 minggu, atau fokus 1-2 item lebih dalam?</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Scope paper JITeCS vs tesis</a:t>
                      </a:r>
                    </a:p>
                  </a:txBody>
                  <a:tcPr>
                    <a:solidFill>
                      <a:srgbClr val="FFFFFF"/>
                    </a:solidFill>
                  </a:tcPr>
                </a:tc>
                <a:tc>
                  <a:txBody>
                    <a:bodyPr/>
                    <a:lstStyle/>
                    <a:p>
                      <a:pPr algn="ctr"/>
                      <a:r>
                        <a:rPr sz="900">
                          <a:solidFill>
                            <a:srgbClr val="202020"/>
                          </a:solidFill>
                        </a:rPr>
                        <a:t>Paper fokus Primer conf60 (5 fusion strategy + TL + imbalance). Eksplorasi lanjutan (8 item) masuk ke tesis saja, bukan paper?</a:t>
                      </a:r>
                    </a:p>
                  </a:txBody>
                  <a:tcPr>
                    <a:solidFill>
                      <a:srgbClr val="FFFFFF"/>
                    </a:solidFill>
                  </a:tcPr>
                </a:tc>
              </a:tr>
            </a:tbl>
          </a:graphicData>
        </a:graphic>
      </p:graphicFrame>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