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0" r:id="rId130"/>
    <p:sldId id="381" r:id="rId131"/>
    <p:sldId id="382" r:id="rId132"/>
    <p:sldId id="383" r:id="rId133"/>
    <p:sldId id="384" r:id="rId134"/>
    <p:sldId id="385" r:id="rId135"/>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2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29.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28.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27.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21.xml"/><Relationship Id="rId131" Type="http://schemas.openxmlformats.org/officeDocument/2006/relationships/slide" Target="slides/slide122.xml"/><Relationship Id="rId132" Type="http://schemas.openxmlformats.org/officeDocument/2006/relationships/slide" Target="slides/slide123.xml"/><Relationship Id="rId133" Type="http://schemas.openxmlformats.org/officeDocument/2006/relationships/slide" Target="slides/slide124.xml"/><Relationship Id="rId134" Type="http://schemas.openxmlformats.org/officeDocument/2006/relationships/slide" Target="slides/slide125.xml"/><Relationship Id="rId135"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0.333 (Early TL B3)</a:t>
                      </a:r>
                    </a:p>
                  </a:txBody>
                  <a:tcPr>
                    <a:solidFill>
                      <a:srgbClr val="E6F4EA"/>
                    </a:solidFill>
                  </a:tcPr>
                </a:tc>
                <a:tc>
                  <a:txBody>
                    <a:bodyPr/>
                    <a:lstStyle/>
                    <a:p>
                      <a:pPr algn="ctr"/>
                      <a:r>
                        <a:rPr sz="850" b="0">
                          <a:solidFill>
                            <a:srgbClr val="202020"/>
                          </a:solidFill>
                        </a:rPr>
                        <a:t>0.521 (Inter TL B3) ★</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00" b="1" i="0">
                <a:solidFill>
                  <a:srgbClr val="0F9D58"/>
                </a:solidFill>
              </a:rPr>
              <a:t>Temuan 32: Early Fusion TL B3 tembus best di 7-class (0.333)</a:t>
            </a:r>
          </a:p>
          <a:p>
            <a:pPr algn="l"/>
            <a:r>
              <a:rPr sz="850" b="0" i="0">
                <a:solidFill>
                  <a:srgbClr val="202020"/>
                </a:solidFill>
              </a:rPr>
              <a:t>Melampaui Intermediate TL B3 (0.292) dan Late Fusion TL B1 (0.301). Kombinasi heatmap channel + class weights + augmentation + TL bekerja sinergis untuk 7-class.</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00" b="1" i="0">
                <a:solidFill>
                  <a:srgbClr val="1A73E8"/>
                </a:solidFill>
              </a:rPr>
              <a:t>Temuan 35: Ranking fusion strategy berbeda per granularitas kelas</a:t>
            </a:r>
          </a:p>
          <a:p>
            <a:pPr algn="l"/>
            <a:r>
              <a:rPr sz="850" b="0" i="0">
                <a:solidFill>
                  <a:srgbClr val="202020"/>
                </a:solidFill>
              </a:rPr>
              <a:t>7-class: Early TL B3 &gt; Late TL B1 &gt; Intermediate TL B3.  4-class: Late TL B3 &gt; Intermediate TL B3 &gt; Early TL B1.  Tidak ada single strategy dominan — pemilihan tergantung konteks task.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31: Cross-Dataset Evaluation Lengkap (Skema 2)</a:t>
            </a:r>
          </a:p>
        </p:txBody>
      </p:sp>
      <p:sp>
        <p:nvSpPr>
          <p:cNvPr id="4" name="TextBox 3"/>
          <p:cNvSpPr txBox="1"/>
          <p:nvPr/>
        </p:nvSpPr>
        <p:spPr>
          <a:xfrm>
            <a:off x="274320" y="548640"/>
            <a:ext cx="8595360" cy="502920"/>
          </a:xfrm>
          <a:prstGeom prst="rect">
            <a:avLst/>
          </a:prstGeom>
          <a:solidFill>
            <a:srgbClr val="E8F0FE"/>
          </a:solidFill>
        </p:spPr>
        <p:txBody>
          <a:bodyPr wrap="square">
            <a:spAutoFit/>
          </a:bodyPr>
          <a:lstStyle/>
          <a:p>
            <a:pPr algn="l"/>
            <a:r>
              <a:rPr sz="950" b="1" i="0">
                <a:solidFill>
                  <a:srgbClr val="1A73E8"/>
                </a:solidFill>
              </a:rPr>
              <a:t>Train di public FER benchmark → Test di Primer conf60 (929 imgs)</a:t>
            </a:r>
          </a:p>
          <a:p>
            <a:pPr algn="l"/>
            <a:r>
              <a:rPr sz="850" b="0" i="0">
                <a:solidFill>
                  <a:srgbClr val="202020"/>
                </a:solidFill>
              </a:rPr>
              <a:t>Melengkapi Skema 2: CK+/JAFFE/RAF-DB/KDEF × 7c/4c × 6 arsitektur. Sebelumnya hanya CK+ → Primer 7c yang ditabulasi lengkap.</a:t>
            </a:r>
          </a:p>
        </p:txBody>
      </p:sp>
      <p:sp>
        <p:nvSpPr>
          <p:cNvPr id="5" name="TextBox 4"/>
          <p:cNvSpPr txBox="1"/>
          <p:nvPr/>
        </p:nvSpPr>
        <p:spPr>
          <a:xfrm>
            <a:off x="274320" y="1143000"/>
            <a:ext cx="8595360" cy="228600"/>
          </a:xfrm>
          <a:prstGeom prst="rect">
            <a:avLst/>
          </a:prstGeom>
          <a:noFill/>
        </p:spPr>
        <p:txBody>
          <a:bodyPr wrap="none">
            <a:spAutoFit/>
          </a:bodyPr>
          <a:lstStyle/>
          <a:p>
            <a:pPr algn="l"/>
            <a:r>
              <a:rPr sz="1000" b="1" i="0">
                <a:solidFill>
                  <a:srgbClr val="1A73E8"/>
                </a:solidFill>
              </a:rPr>
              <a:t>Best Model per Source Dataset → Primer conf60</a:t>
            </a:r>
          </a:p>
        </p:txBody>
      </p:sp>
      <p:graphicFrame>
        <p:nvGraphicFramePr>
          <p:cNvPr id="6" name="Table 5"/>
          <p:cNvGraphicFramePr>
            <a:graphicFrameLocks noGrp="1"/>
          </p:cNvGraphicFramePr>
          <p:nvPr/>
        </p:nvGraphicFramePr>
        <p:xfrm>
          <a:off x="274320" y="1417320"/>
          <a:ext cx="8595360" cy="2560320"/>
        </p:xfrm>
        <a:graphic>
          <a:graphicData uri="http://schemas.openxmlformats.org/drawingml/2006/table">
            <a:tbl>
              <a:tblPr firstRow="1" bandRow="1"/>
              <a:tblGrid>
                <a:gridCol w="1504188"/>
                <a:gridCol w="2148840"/>
                <a:gridCol w="1181862"/>
                <a:gridCol w="1396746"/>
                <a:gridCol w="1181862"/>
                <a:gridCol w="1181862"/>
              </a:tblGrid>
              <a:tr h="284480">
                <a:tc>
                  <a:txBody>
                    <a:bodyPr/>
                    <a:lstStyle/>
                    <a:p>
                      <a:pPr algn="ctr"/>
                      <a:r>
                        <a:rPr sz="900" b="1">
                          <a:solidFill>
                            <a:srgbClr val="FFFFFF"/>
                          </a:solidFill>
                        </a:rPr>
                        <a:t>Source</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Acc</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284480">
                <a:tc>
                  <a:txBody>
                    <a:bodyPr/>
                    <a:lstStyle/>
                    <a:p>
                      <a:pPr algn="l"/>
                      <a:r>
                        <a:rPr sz="850" b="1">
                          <a:solidFill>
                            <a:srgbClr val="202020"/>
                          </a:solidFill>
                        </a:rPr>
                        <a:t>CK+ 7c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0.194</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0.739</a:t>
                      </a:r>
                    </a:p>
                  </a:txBody>
                  <a:tcPr>
                    <a:solidFill>
                      <a:srgbClr val="E8F0FE"/>
                    </a:solidFill>
                  </a:tcPr>
                </a:tc>
              </a:tr>
              <a:tr h="284480">
                <a:tc>
                  <a:txBody>
                    <a:bodyPr/>
                    <a:lstStyle/>
                    <a:p>
                      <a:pPr algn="l"/>
                      <a:r>
                        <a:rPr sz="850" b="1">
                          <a:solidFill>
                            <a:srgbClr val="202020"/>
                          </a:solidFill>
                        </a:rPr>
                        <a:t>CK+ 4c</a:t>
                      </a:r>
                    </a:p>
                  </a:txBody>
                  <a:tcPr>
                    <a:solidFill>
                      <a:srgbClr val="E6F4EA"/>
                    </a:solidFill>
                  </a:tcPr>
                </a:tc>
                <a:tc>
                  <a:txBody>
                    <a:bodyPr/>
                    <a:lstStyle/>
                    <a:p>
                      <a:pPr algn="ctr"/>
                      <a:r>
                        <a:rPr sz="850" b="0">
                          <a:solidFill>
                            <a:srgbClr val="202020"/>
                          </a:solidFill>
                        </a:rPr>
                        <a:t>CNN</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0.396 ★</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0.703</a:t>
                      </a:r>
                    </a:p>
                  </a:txBody>
                  <a:tcPr>
                    <a:solidFill>
                      <a:srgbClr val="E6F4EA"/>
                    </a:solidFill>
                  </a:tcPr>
                </a:tc>
              </a:tr>
              <a:tr h="284480">
                <a:tc>
                  <a:txBody>
                    <a:bodyPr/>
                    <a:lstStyle/>
                    <a:p>
                      <a:pPr algn="l"/>
                      <a:r>
                        <a:rPr sz="850" b="1">
                          <a:solidFill>
                            <a:srgbClr val="202020"/>
                          </a:solidFill>
                        </a:rPr>
                        <a:t>JAFFE 7c</a:t>
                      </a:r>
                    </a:p>
                  </a:txBody>
                  <a:tcPr>
                    <a:solidFill>
                      <a:srgbClr val="E8F0FE"/>
                    </a:solidFill>
                  </a:tcPr>
                </a:tc>
                <a:tc>
                  <a:txBody>
                    <a:bodyPr/>
                    <a:lstStyle/>
                    <a:p>
                      <a:pPr algn="ctr"/>
                      <a:r>
                        <a:rPr sz="850" b="0">
                          <a:solidFill>
                            <a:srgbClr val="202020"/>
                          </a:solidFill>
                        </a:rPr>
                        <a:t>Late Fusion</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0.040</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0.054</a:t>
                      </a:r>
                    </a:p>
                  </a:txBody>
                  <a:tcPr>
                    <a:solidFill>
                      <a:srgbClr val="E8F0FE"/>
                    </a:solidFill>
                  </a:tcPr>
                </a:tc>
              </a:tr>
              <a:tr h="284480">
                <a:tc>
                  <a:txBody>
                    <a:bodyPr/>
                    <a:lstStyle/>
                    <a:p>
                      <a:pPr algn="l"/>
                      <a:r>
                        <a:rPr sz="850" b="1">
                          <a:solidFill>
                            <a:srgbClr val="202020"/>
                          </a:solidFill>
                        </a:rPr>
                        <a:t>JAFFE 4c</a:t>
                      </a:r>
                    </a:p>
                  </a:txBody>
                  <a:tcPr>
                    <a:solidFill>
                      <a:srgbClr val="FFFFFF"/>
                    </a:solidFill>
                  </a:tcPr>
                </a:tc>
                <a:tc>
                  <a:txBody>
                    <a:bodyPr/>
                    <a:lstStyle/>
                    <a:p>
                      <a:pPr algn="ctr"/>
                      <a:r>
                        <a:rPr sz="850" b="0">
                          <a:solidFill>
                            <a:srgbClr val="202020"/>
                          </a:solidFill>
                        </a:rPr>
                        <a:t>Intermediate TL</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0.093</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0.073</a:t>
                      </a:r>
                    </a:p>
                  </a:txBody>
                  <a:tcPr>
                    <a:solidFill>
                      <a:srgbClr val="FFFFFF"/>
                    </a:solidFill>
                  </a:tcPr>
                </a:tc>
              </a:tr>
              <a:tr h="284480">
                <a:tc>
                  <a:txBody>
                    <a:bodyPr/>
                    <a:lstStyle/>
                    <a:p>
                      <a:pPr algn="l"/>
                      <a:r>
                        <a:rPr sz="850" b="1">
                          <a:solidFill>
                            <a:srgbClr val="202020"/>
                          </a:solidFill>
                        </a:rPr>
                        <a:t>RAF-DB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0.183</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0.672</a:t>
                      </a:r>
                    </a:p>
                  </a:txBody>
                  <a:tcPr>
                    <a:solidFill>
                      <a:srgbClr val="E8F0FE"/>
                    </a:solidFill>
                  </a:tcPr>
                </a:tc>
              </a:tr>
              <a:tr h="284480">
                <a:tc>
                  <a:txBody>
                    <a:bodyPr/>
                    <a:lstStyle/>
                    <a:p>
                      <a:pPr algn="l"/>
                      <a:r>
                        <a:rPr sz="850" b="1">
                          <a:solidFill>
                            <a:srgbClr val="202020"/>
                          </a:solidFill>
                        </a:rPr>
                        <a:t>RAF-DB 4c</a:t>
                      </a:r>
                    </a:p>
                  </a:txBody>
                  <a:tcPr>
                    <a:solidFill>
                      <a:srgbClr val="E6F4EA"/>
                    </a:solidFill>
                  </a:tcPr>
                </a:tc>
                <a:tc>
                  <a:txBody>
                    <a:bodyPr/>
                    <a:lstStyle/>
                    <a:p>
                      <a:pPr algn="ctr"/>
                      <a:r>
                        <a:rPr sz="850" b="0">
                          <a:solidFill>
                            <a:srgbClr val="202020"/>
                          </a:solidFill>
                        </a:rPr>
                        <a:t>Intermediate</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0.269</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0.594</a:t>
                      </a:r>
                    </a:p>
                  </a:txBody>
                  <a:tcPr>
                    <a:solidFill>
                      <a:srgbClr val="E6F4EA"/>
                    </a:solidFill>
                  </a:tcPr>
                </a:tc>
              </a:tr>
              <a:tr h="284480">
                <a:tc>
                  <a:txBody>
                    <a:bodyPr/>
                    <a:lstStyle/>
                    <a:p>
                      <a:pPr algn="l"/>
                      <a:r>
                        <a:rPr sz="850" b="1">
                          <a:solidFill>
                            <a:srgbClr val="202020"/>
                          </a:solidFill>
                        </a:rPr>
                        <a:t>KDEF 7c</a:t>
                      </a:r>
                    </a:p>
                  </a:txBody>
                  <a:tcPr>
                    <a:solidFill>
                      <a:srgbClr val="E8F0FE"/>
                    </a:solidFill>
                  </a:tcPr>
                </a:tc>
                <a:tc>
                  <a:txBody>
                    <a:bodyPr/>
                    <a:lstStyle/>
                    <a:p>
                      <a:pPr algn="ctr"/>
                      <a:r>
                        <a:rPr sz="850" b="0">
                          <a:solidFill>
                            <a:srgbClr val="202020"/>
                          </a:solidFill>
                        </a:rPr>
                        <a:t>CNN TL</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0.038</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0.036</a:t>
                      </a:r>
                    </a:p>
                  </a:txBody>
                  <a:tcPr>
                    <a:solidFill>
                      <a:srgbClr val="E8F0FE"/>
                    </a:solidFill>
                  </a:tcPr>
                </a:tc>
              </a:tr>
              <a:tr h="284480">
                <a:tc>
                  <a:txBody>
                    <a:bodyPr/>
                    <a:lstStyle/>
                    <a:p>
                      <a:pPr algn="l"/>
                      <a:r>
                        <a:rPr sz="850" b="1">
                          <a:solidFill>
                            <a:srgbClr val="202020"/>
                          </a:solidFill>
                        </a:rPr>
                        <a:t>KDEF 4c</a:t>
                      </a:r>
                    </a:p>
                  </a:txBody>
                  <a:tcPr>
                    <a:solidFill>
                      <a:srgbClr val="FFFFFF"/>
                    </a:solidFill>
                  </a:tcPr>
                </a:tc>
                <a:tc>
                  <a:txBody>
                    <a:bodyPr/>
                    <a:lstStyle/>
                    <a:p>
                      <a:pPr algn="ctr"/>
                      <a:r>
                        <a:rPr sz="850" b="0">
                          <a:solidFill>
                            <a:srgbClr val="202020"/>
                          </a:solidFill>
                        </a:rPr>
                        <a:t>CNN</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0.079</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0.078</a:t>
                      </a:r>
                    </a:p>
                  </a:txBody>
                  <a:tcPr>
                    <a:solidFill>
                      <a:srgbClr val="FFFFFF"/>
                    </a:solidFill>
                  </a:tcPr>
                </a:tc>
              </a:tr>
            </a:tbl>
          </a:graphicData>
        </a:graphic>
      </p:graphicFrame>
      <p:sp>
        <p:nvSpPr>
          <p:cNvPr id="7" name="TextBox 6"/>
          <p:cNvSpPr txBox="1"/>
          <p:nvPr/>
        </p:nvSpPr>
        <p:spPr>
          <a:xfrm>
            <a:off x="274320" y="4114800"/>
            <a:ext cx="8595360" cy="274320"/>
          </a:xfrm>
          <a:prstGeom prst="rect">
            <a:avLst/>
          </a:prstGeom>
          <a:noFill/>
        </p:spPr>
        <p:txBody>
          <a:bodyPr wrap="none">
            <a:spAutoFit/>
          </a:bodyPr>
          <a:lstStyle/>
          <a:p>
            <a:pPr algn="l"/>
            <a:r>
              <a:rPr sz="1100" b="1" i="0">
                <a:solidFill>
                  <a:srgbClr val="202020"/>
                </a:solidFill>
              </a:rPr>
              <a:t>Temuan (36-40)</a:t>
            </a:r>
          </a:p>
        </p:txBody>
      </p:sp>
      <p:sp>
        <p:nvSpPr>
          <p:cNvPr id="8" name="TextBox 7"/>
          <p:cNvSpPr txBox="1"/>
          <p:nvPr/>
        </p:nvSpPr>
        <p:spPr>
          <a:xfrm>
            <a:off x="274320" y="4407408"/>
            <a:ext cx="4206240" cy="1463040"/>
          </a:xfrm>
          <a:prstGeom prst="rect">
            <a:avLst/>
          </a:prstGeom>
          <a:solidFill>
            <a:srgbClr val="FCE8E6"/>
          </a:solidFill>
        </p:spPr>
        <p:txBody>
          <a:bodyPr wrap="square">
            <a:spAutoFit/>
          </a:bodyPr>
          <a:lstStyle/>
          <a:p>
            <a:pPr algn="l"/>
            <a:r>
              <a:rPr sz="900" b="1" i="0">
                <a:solidFill>
                  <a:srgbClr val="D93C3C"/>
                </a:solidFill>
              </a:rPr>
              <a:t>T36: Semua source gagal generalize</a:t>
            </a:r>
          </a:p>
          <a:p>
            <a:pPr algn="l"/>
            <a:r>
              <a:rPr sz="800" b="0" i="0">
                <a:solidFill>
                  <a:srgbClr val="202020"/>
                </a:solidFill>
              </a:rPr>
              <a:t>Best cross hanya 0.396 (CK+ 4c → Primer dengan CNN B1). Vs Primer self-training best 0.521 — gap -0.17.</a:t>
            </a:r>
          </a:p>
          <a:p>
            <a:pPr algn="l"/>
            <a:r>
              <a:rPr sz="900" b="1" i="0">
                <a:solidFill>
                  <a:srgbClr val="D93C3C"/>
                </a:solidFill>
              </a:rPr>
              <a:t>
T39: JAFFE/KDEF → Primer catastrophic</a:t>
            </a:r>
          </a:p>
          <a:p>
            <a:pPr algn="l"/>
            <a:r>
              <a:rPr sz="800" b="0" i="0">
                <a:solidFill>
                  <a:srgbClr val="202020"/>
                </a:solidFill>
              </a:rPr>
              <a:t>JAFFE &lt; 10% acc. KDEF 5-7% acc. Lab-posed dataset tidak transferable sama sekali ke natural.</a:t>
            </a:r>
          </a:p>
        </p:txBody>
      </p:sp>
      <p:sp>
        <p:nvSpPr>
          <p:cNvPr id="9" name="TextBox 8"/>
          <p:cNvSpPr txBox="1"/>
          <p:nvPr/>
        </p:nvSpPr>
        <p:spPr>
          <a:xfrm>
            <a:off x="4617720" y="4407408"/>
            <a:ext cx="4206240" cy="1463040"/>
          </a:xfrm>
          <a:prstGeom prst="rect">
            <a:avLst/>
          </a:prstGeom>
          <a:solidFill>
            <a:srgbClr val="E6F4EA"/>
          </a:solidFill>
        </p:spPr>
        <p:txBody>
          <a:bodyPr wrap="square">
            <a:spAutoFit/>
          </a:bodyPr>
          <a:lstStyle/>
          <a:p>
            <a:pPr algn="l"/>
            <a:r>
              <a:rPr sz="900" b="1" i="0">
                <a:solidFill>
                  <a:srgbClr val="0F9D58"/>
                </a:solidFill>
              </a:rPr>
              <a:t>T38: Landmark &gt; Visual untuk domain shift</a:t>
            </a:r>
          </a:p>
          <a:p>
            <a:pPr algn="l"/>
            <a:r>
              <a:rPr sz="800" b="0" i="0">
                <a:solidFill>
                  <a:srgbClr val="202020"/>
                </a:solidFill>
              </a:rPr>
              <a:t>FCNN (landmark-only) best di CK+ 7c dan RAF-DB 7c → Primer. Landmark geometry lebih tahan domain shift.</a:t>
            </a:r>
          </a:p>
          <a:p>
            <a:pPr algn="l"/>
            <a:r>
              <a:rPr sz="900" b="1" i="0">
                <a:solidFill>
                  <a:srgbClr val="0F9D58"/>
                </a:solidFill>
              </a:rPr>
              <a:t>
T40: Justifikasi tesis &amp; paper kuat</a:t>
            </a:r>
          </a:p>
          <a:p>
            <a:pPr algn="l"/>
            <a:r>
              <a:rPr sz="800" b="0" i="0">
                <a:solidFill>
                  <a:srgbClr val="202020"/>
                </a:solidFill>
              </a:rPr>
              <a:t>Transfer learning dari public FER tidak viable untuk natural programming. Solusi: Primer self-training + conf60 + fusion + aug.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&amp; JAFFE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0.498</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bl>
          </a:graphicData>
        </a:graphic>
      </p:graphicFrame>
      <p:sp>
        <p:nvSpPr>
          <p:cNvPr id="9" name="TextBox 8"/>
          <p:cNvSpPr txBox="1"/>
          <p:nvPr/>
        </p:nvSpPr>
        <p:spPr>
          <a:xfrm>
            <a:off x="274320" y="3584448"/>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0.545</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0.522</a:t>
                      </a:r>
                    </a:p>
                  </a:txBody>
                  <a:tcPr>
                    <a:solidFill>
                      <a:srgbClr val="E6F4EA"/>
                    </a:solidFill>
                  </a:tcPr>
                </a:tc>
                <a:tc>
                  <a:txBody>
                    <a:bodyPr/>
                    <a:lstStyle/>
                    <a:p>
                      <a:pPr algn="ctr"/>
                      <a:r>
                        <a:rPr sz="750" b="0">
                          <a:solidFill>
                            <a:srgbClr val="202020"/>
                          </a:solidFill>
                        </a:rPr>
                        <a:t>0.600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bl>
          </a:graphicData>
        </a:graphic>
      </p:graphicFrame>
      <p:sp>
        <p:nvSpPr>
          <p:cNvPr id="11" name="TextBox 10"/>
          <p:cNvSpPr txBox="1"/>
          <p:nvPr/>
        </p:nvSpPr>
        <p:spPr>
          <a:xfrm>
            <a:off x="4617720" y="3584448"/>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0.396</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0.552</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 &amp; KDEF</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bl>
          </a:graphicData>
        </a:graphic>
      </p:graphicFrame>
      <p:sp>
        <p:nvSpPr>
          <p:cNvPr id="8" name="TextBox 7"/>
          <p:cNvSpPr txBox="1"/>
          <p:nvPr/>
        </p:nvSpPr>
        <p:spPr>
          <a:xfrm>
            <a:off x="274320" y="3145536"/>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bl>
          </a:graphicData>
        </a:graphic>
      </p:graphicFrame>
      <p:sp>
        <p:nvSpPr>
          <p:cNvPr id="10" name="TextBox 9"/>
          <p:cNvSpPr txBox="1"/>
          <p:nvPr/>
        </p:nvSpPr>
        <p:spPr>
          <a:xfrm>
            <a:off x="4617720" y="3145536"/>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CK+ &amp;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bl>
          </a:graphicData>
        </a:graphic>
      </p:graphicFrame>
      <p:sp>
        <p:nvSpPr>
          <p:cNvPr id="9" name="TextBox 8"/>
          <p:cNvSpPr txBox="1"/>
          <p:nvPr/>
        </p:nvSpPr>
        <p:spPr>
          <a:xfrm>
            <a:off x="274320" y="3246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bl>
          </a:graphicData>
        </a:graphic>
      </p:graphicFrame>
      <p:sp>
        <p:nvSpPr>
          <p:cNvPr id="11" name="TextBox 10"/>
          <p:cNvSpPr txBox="1"/>
          <p:nvPr/>
        </p:nvSpPr>
        <p:spPr>
          <a:xfrm>
            <a:off x="4617720" y="3246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RAF-DB &amp; KDEF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bl>
          </a:graphicData>
        </a:graphic>
      </p:graphicFrame>
      <p:sp>
        <p:nvSpPr>
          <p:cNvPr id="8" name="TextBox 7"/>
          <p:cNvSpPr txBox="1"/>
          <p:nvPr/>
        </p:nvSpPr>
        <p:spPr>
          <a:xfrm>
            <a:off x="274320" y="2834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bl>
          </a:graphicData>
        </a:graphic>
      </p:graphicFrame>
      <p:sp>
        <p:nvSpPr>
          <p:cNvPr id="10" name="TextBox 9"/>
          <p:cNvSpPr txBox="1"/>
          <p:nvPr/>
        </p:nvSpPr>
        <p:spPr>
          <a:xfrm>
            <a:off x="4617720" y="2834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