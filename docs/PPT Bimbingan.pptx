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6" r:id="rId66"/>
    <p:sldId id="317" r:id="rId67"/>
    <p:sldId id="318" r:id="rId68"/>
    <p:sldId id="319" r:id="rId69"/>
    <p:sldId id="320" r:id="rId70"/>
    <p:sldId id="321" r:id="rId71"/>
    <p:sldId id="354" r:id="rId104"/>
    <p:sldId id="322" r:id="rId72"/>
    <p:sldId id="344" r:id="rId94"/>
    <p:sldId id="323" r:id="rId73"/>
    <p:sldId id="324" r:id="rId74"/>
    <p:sldId id="339" r:id="rId89"/>
    <p:sldId id="325" r:id="rId75"/>
    <p:sldId id="326" r:id="rId76"/>
    <p:sldId id="327" r:id="rId77"/>
    <p:sldId id="328" r:id="rId78"/>
    <p:sldId id="340" r:id="rId90"/>
    <p:sldId id="342" r:id="rId88"/>
    <p:sldId id="329" r:id="rId79"/>
    <p:sldId id="330" r:id="rId80"/>
    <p:sldId id="331" r:id="rId92"/>
    <p:sldId id="332" r:id="rId82"/>
    <p:sldId id="341" r:id="rId91"/>
    <p:sldId id="343" r:id="rId93"/>
    <p:sldId id="333" r:id="rId83"/>
    <p:sldId id="334" r:id="rId84"/>
    <p:sldId id="335" r:id="rId85"/>
    <p:sldId id="336" r:id="rId86"/>
    <p:sldId id="345" r:id="rId95"/>
    <p:sldId id="346" r:id="rId96"/>
    <p:sldId id="347" r:id="rId97"/>
    <p:sldId id="351" r:id="rId101"/>
    <p:sldId id="350" r:id="rId100"/>
    <p:sldId id="352" r:id="rId102"/>
    <p:sldId id="353" r:id="rId103"/>
    <p:sldId id="349" r:id="rId99"/>
    <p:sldId id="348" r:id="rId98"/>
    <p:sldId id="358" r:id="rId108"/>
    <p:sldId id="359" r:id="rId109"/>
    <p:sldId id="360" r:id="rId110"/>
    <p:sldId id="361" r:id="rId111"/>
    <p:sldId id="362" r:id="rId112"/>
    <p:sldId id="355" r:id="rId105"/>
    <p:sldId id="356" r:id="rId106"/>
    <p:sldId id="357" r:id="rId107"/>
    <p:sldId id="377" r:id="rId127"/>
    <p:sldId id="374" r:id="rId124"/>
    <p:sldId id="375" r:id="rId125"/>
    <p:sldId id="376" r:id="rId126"/>
    <p:sldId id="363" r:id="rId113"/>
    <p:sldId id="364" r:id="rId114"/>
    <p:sldId id="366" r:id="rId116"/>
    <p:sldId id="367" r:id="rId117"/>
    <p:sldId id="368" r:id="rId118"/>
    <p:sldId id="369" r:id="rId119"/>
    <p:sldId id="370" r:id="rId120"/>
    <p:sldId id="371" r:id="rId121"/>
    <p:sldId id="372" r:id="rId122"/>
    <p:sldId id="373" r:id="rId123"/>
    <p:sldId id="378" r:id="rId128"/>
    <p:sldId id="379" r:id="rId129"/>
    <p:sldId id="381" r:id="rId131"/>
    <p:sldId id="390" r:id="rId140"/>
    <p:sldId id="382" r:id="rId132"/>
    <p:sldId id="389" r:id="rId139"/>
    <p:sldId id="383" r:id="rId133"/>
    <p:sldId id="384" r:id="rId134"/>
    <p:sldId id="388" r:id="rId138"/>
    <p:sldId id="385" r:id="rId135"/>
    <p:sldId id="387" r:id="rId137"/>
    <p:sldId id="386" r:id="rId136"/>
    <p:sldId id="391" r:id="rId141"/>
    <p:sldId id="393" r:id="rId142"/>
    <p:sldId id="394" r:id="rId143"/>
    <p:sldId id="395" r:id="rId144"/>
    <p:sldId id="365" r:id="rId115"/>
    <p:sldId id="337" r:id="rId87"/>
    <p:sldId id="392" r:id="rId130"/>
    <p:sldId id="338"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138.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7.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138.xml"/><Relationship Id="rId82" Type="http://schemas.openxmlformats.org/officeDocument/2006/relationships/slide" Target="slides/slide81.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136.xml"/><Relationship Id="rId88" Type="http://schemas.openxmlformats.org/officeDocument/2006/relationships/slide" Target="slides/slide77.xml"/><Relationship Id="rId89" Type="http://schemas.openxmlformats.org/officeDocument/2006/relationships/slide" Target="slides/slide71.xml"/><Relationship Id="rId90" Type="http://schemas.openxmlformats.org/officeDocument/2006/relationships/slide" Target="slides/slide76.xml"/><Relationship Id="rId91" Type="http://schemas.openxmlformats.org/officeDocument/2006/relationships/slide" Target="slides/slide82.xml"/><Relationship Id="rId92" Type="http://schemas.openxmlformats.org/officeDocument/2006/relationships/slide" Target="slides/slide80.xml"/><Relationship Id="rId93" Type="http://schemas.openxmlformats.org/officeDocument/2006/relationships/slide" Target="slides/slide83.xml"/><Relationship Id="rId94" Type="http://schemas.openxmlformats.org/officeDocument/2006/relationships/slide" Target="slides/slide68.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6.xml"/><Relationship Id="rId99" Type="http://schemas.openxmlformats.org/officeDocument/2006/relationships/slide" Target="slides/slide95.xml"/><Relationship Id="rId100" Type="http://schemas.openxmlformats.org/officeDocument/2006/relationships/slide" Target="slides/slide92.xml"/><Relationship Id="rId101" Type="http://schemas.openxmlformats.org/officeDocument/2006/relationships/slide" Target="slides/slide91.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66.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35.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06.xml"/><Relationship Id="rId125" Type="http://schemas.openxmlformats.org/officeDocument/2006/relationships/slide" Target="slides/slide107.xml"/><Relationship Id="rId126" Type="http://schemas.openxmlformats.org/officeDocument/2006/relationships/slide" Target="slides/slide108.xml"/><Relationship Id="rId127" Type="http://schemas.openxmlformats.org/officeDocument/2006/relationships/slide" Target="slides/slide105.xml"/><Relationship Id="rId128" Type="http://schemas.openxmlformats.org/officeDocument/2006/relationships/slide" Target="slides/slide119.xml"/><Relationship Id="rId129" Type="http://schemas.openxmlformats.org/officeDocument/2006/relationships/slide" Target="slides/slide120.xml"/><Relationship Id="rId130" Type="http://schemas.openxmlformats.org/officeDocument/2006/relationships/slide" Target="slides/slide137.xml"/><Relationship Id="rId131" Type="http://schemas.openxmlformats.org/officeDocument/2006/relationships/slide" Target="slides/slide121.xml"/><Relationship Id="rId132" Type="http://schemas.openxmlformats.org/officeDocument/2006/relationships/slide" Target="slides/slide123.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8.xml"/><Relationship Id="rId136" Type="http://schemas.openxmlformats.org/officeDocument/2006/relationships/slide" Target="slides/slide130.xml"/><Relationship Id="rId137" Type="http://schemas.openxmlformats.org/officeDocument/2006/relationships/slide" Target="slides/slide129.xml"/><Relationship Id="rId138" Type="http://schemas.openxmlformats.org/officeDocument/2006/relationships/slide" Target="slides/slide127.xml"/><Relationship Id="rId139" Type="http://schemas.openxmlformats.org/officeDocument/2006/relationships/slide" Target="slides/slide124.xml"/><Relationship Id="rId140" Type="http://schemas.openxmlformats.org/officeDocument/2006/relationships/slide" Target="slides/slide122.xml"/><Relationship Id="rId141" Type="http://schemas.openxmlformats.org/officeDocument/2006/relationships/slide" Target="slides/slide131.xml"/><Relationship Id="rId142" Type="http://schemas.openxmlformats.org/officeDocument/2006/relationships/slide" Target="slides/slide132.xml"/><Relationship Id="rId143" Type="http://schemas.openxmlformats.org/officeDocument/2006/relationships/slide" Target="slides/slide133.xml"/><Relationship Id="rId144" Type="http://schemas.openxmlformats.org/officeDocument/2006/relationships/slide" Target="slides/slide1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bb749a845d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bb749a845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bb749a845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bb749a845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b749a845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b749a845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b749a845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bb749a845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ab79028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ab79028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3ab790283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3ab790283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3ab790283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3ab790283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ab790283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ab790283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db21574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db21574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db21574c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db21574c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3db21574c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3db21574c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07ab50b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07ab50b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07ab50b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07ab50b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25b6f03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25b6f03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25b6f033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25b6f033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3e12aa0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43e12aa0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3e12aa01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43e12aa01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ef9a598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4ef9a598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ef9a5980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ef9a5980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ef9a5980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ef9a5980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4ef9a5980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4ef9a5980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500a690d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500a690d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00a690d2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00a690d2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64e99a5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564e99a5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64e99a57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64e99a57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bfca3e42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bfca3e42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bfca3e42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bfca3e42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bfca3e42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bfca3e4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bfca3e42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bfca3e42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bfca3e42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5bfca3e42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bfca3e42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5bfca3e42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bfca3e42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5bfca3e42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5bfca3e42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5bfca3e42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bfca3e42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5bfca3e42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7989862d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7989862d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989862d9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989862d9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2770343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2770343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827703433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827703433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9c4d936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89c4d936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9c4d936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9c4d936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89c4d9369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89c4d9369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9c4d9369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89c4d9369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83cd94b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83cd94b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83cd94b7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83cd94b7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079bf44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a079bf44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079bf44a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079bf44a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6405087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a6405087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6405087d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a6405087d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a573afa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a573afa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a573afa6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a573afa6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9bd83a2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9bd83a2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9bd83a22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c9bd83a22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c9bd83a22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c9bd83a22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9bd83a22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9bd83a22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9bd83a22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c9bd83a22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c9bd83a22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c9bd83a22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64ea1ee322f5c2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64ea1ee322f5c2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64ea1ee322f5c2d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64ea1ee322f5c2d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overleaf.com/project/6743ed79968eae885f51e19e" TargetMode="External"/><Relationship Id="rId4" Type="http://schemas.openxmlformats.org/officeDocument/2006/relationships/hyperlink" Target="https://www.overleaf.com/project/673aea91bdbc86f5a8943a6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s.ub.ac.id/pembimbingtesismilkom" TargetMode="External"/><Relationship Id="rId4" Type="http://schemas.openxmlformats.org/officeDocument/2006/relationships/hyperlink" Target="https://docs.google.com/document/d/1cp9b218_7sdOXRL9j4d0YuFljWNL_Ji2/edit?usp=drive_link&amp;ouid=106492765874169808495&amp;rtpof=true&amp;sd=tru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bi-learn.com/2025-conference/call-for-papers" TargetMode="External"/><Relationship Id="rId4" Type="http://schemas.openxmlformats.org/officeDocument/2006/relationships/image" Target="../media/image11.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69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GB" sz="3500"/>
              <a:t>Tesis</a:t>
            </a:r>
            <a:endParaRPr sz="3500"/>
          </a:p>
        </p:txBody>
      </p:sp>
      <p:sp>
        <p:nvSpPr>
          <p:cNvPr id="55" name="Google Shape;55;p13"/>
          <p:cNvSpPr txBox="1"/>
          <p:nvPr>
            <p:ph idx="1" type="subTitle"/>
          </p:nvPr>
        </p:nvSpPr>
        <p:spPr>
          <a:xfrm>
            <a:off x="311700" y="40124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300"/>
              <a:t>Angkatan 2024</a:t>
            </a:r>
            <a:endParaRPr sz="2300"/>
          </a:p>
        </p:txBody>
      </p:sp>
      <p:sp>
        <p:nvSpPr>
          <p:cNvPr id="56" name="Google Shape;56;p13"/>
          <p:cNvSpPr txBox="1"/>
          <p:nvPr>
            <p:ph type="ctrTitle"/>
          </p:nvPr>
        </p:nvSpPr>
        <p:spPr>
          <a:xfrm>
            <a:off x="311700" y="2468650"/>
            <a:ext cx="8520600" cy="1444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sz="3900"/>
              <a:t>Integrasi Pola Interaksi Dan Emotional Detection Untuk Analisis Computational Thinking Mahasiswa Pada Platform Block-Based Programming</a:t>
            </a:r>
            <a:endParaRPr sz="3900"/>
          </a:p>
        </p:txBody>
      </p:sp>
      <p:sp>
        <p:nvSpPr>
          <p:cNvPr id="57" name="Google Shape;57;p13"/>
          <p:cNvSpPr txBox="1"/>
          <p:nvPr>
            <p:ph type="ctrTitle"/>
          </p:nvPr>
        </p:nvSpPr>
        <p:spPr>
          <a:xfrm>
            <a:off x="311700" y="0"/>
            <a:ext cx="8520600" cy="43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GB" sz="1700"/>
              <a:t>Affective Computing Research Interest Group</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21/02/2025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Publikasi untuk skripsi dari Pak Fajar tidak ke </a:t>
            </a:r>
            <a:r>
              <a:rPr lang="en-GB"/>
              <a:t>Ubiquitous Learning:</a:t>
            </a:r>
            <a:br>
              <a:rPr lang="en-GB"/>
            </a:br>
            <a:r>
              <a:rPr lang="en-GB" u="sng">
                <a:solidFill>
                  <a:schemeClr val="hlink"/>
                </a:solidFill>
                <a:hlinkClick r:id="rId3"/>
              </a:rPr>
              <a:t>https://www.overleaf.com/project/6743ed79968eae885f51e19e</a:t>
            </a:r>
            <a:r>
              <a:rPr lang="en-GB"/>
              <a:t> </a:t>
            </a:r>
            <a:endParaRPr/>
          </a:p>
          <a:p>
            <a:pPr indent="-342900" lvl="0" marL="457200" rtl="0" algn="l">
              <a:spcBef>
                <a:spcPts val="0"/>
              </a:spcBef>
              <a:spcAft>
                <a:spcPts val="0"/>
              </a:spcAft>
              <a:buSzPts val="1800"/>
              <a:buChar char="❏"/>
            </a:pPr>
            <a:r>
              <a:rPr lang="en-GB"/>
              <a:t>Publikasi SLR:</a:t>
            </a:r>
            <a:br>
              <a:rPr lang="en-GB"/>
            </a:br>
            <a:r>
              <a:rPr lang="en-GB" u="sng">
                <a:solidFill>
                  <a:schemeClr val="hlink"/>
                </a:solidFill>
                <a:hlinkClick r:id="rId4"/>
              </a:rPr>
              <a:t>https://www.overleaf.com/project/673aea91bdbc86f5a8943a60</a:t>
            </a:r>
            <a:r>
              <a:rPr lang="en-GB"/>
              <a:t> </a:t>
            </a:r>
            <a:endParaRPr/>
          </a:p>
          <a:p>
            <a:pPr indent="-342900" lvl="0" marL="457200" rtl="0" algn="l">
              <a:spcBef>
                <a:spcPts val="0"/>
              </a:spcBef>
              <a:spcAft>
                <a:spcPts val="0"/>
              </a:spcAft>
              <a:buSzPts val="1800"/>
              <a:buChar char="❏"/>
            </a:pPr>
            <a:r>
              <a:rPr lang="en-GB"/>
              <a:t>Tujuan publikasi kedua paper tersebut</a:t>
            </a:r>
            <a:endParaRPr/>
          </a:p>
          <a:p>
            <a:pPr indent="-342900" lvl="0" marL="457200" rtl="0" algn="l">
              <a:spcBef>
                <a:spcPts val="0"/>
              </a:spcBef>
              <a:spcAft>
                <a:spcPts val="0"/>
              </a:spcAft>
              <a:buSzPts val="1800"/>
              <a:buChar char="❏"/>
            </a:pPr>
            <a:r>
              <a:rPr lang="en-GB"/>
              <a:t>Pelaksanaan ICOMIT 25-26 Agustus 2025, berarti apakah terhitung masuk di Semester Ganjil 2025/2026 ?</a:t>
            </a:r>
            <a:br>
              <a:rPr lang="en-GB"/>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Proposal Tesis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Dari Akademik sudah mengumumkan penentuan Dosen Pembimbing 2 yaitu Pak Dr. Eng. Budi Darma Setiawan, S.Kom., M.Cs.</a:t>
            </a:r>
            <a:endParaRPr/>
          </a:p>
          <a:p>
            <a:pPr indent="-342900" lvl="0" marL="457200" rtl="0" algn="l">
              <a:spcBef>
                <a:spcPts val="0"/>
              </a:spcBef>
              <a:spcAft>
                <a:spcPts val="0"/>
              </a:spcAft>
              <a:buSzPts val="1800"/>
              <a:buChar char="❏"/>
            </a:pPr>
            <a:r>
              <a:rPr lang="en-GB"/>
              <a:t>Pengisian form kesediaan menjadi dosen pembimbing:</a:t>
            </a:r>
            <a:br>
              <a:rPr lang="en-GB"/>
            </a:br>
            <a:r>
              <a:rPr lang="en-GB" u="sng">
                <a:solidFill>
                  <a:schemeClr val="hlink"/>
                </a:solidFill>
                <a:hlinkClick r:id="rId3"/>
              </a:rPr>
              <a:t>https://s.ub.ac.id/pembimbingtesismilkom</a:t>
            </a:r>
            <a:r>
              <a:rPr lang="en-GB"/>
              <a:t> </a:t>
            </a:r>
            <a:endParaRPr/>
          </a:p>
          <a:p>
            <a:pPr indent="-342900" lvl="0" marL="457200" rtl="0" algn="l">
              <a:spcBef>
                <a:spcPts val="0"/>
              </a:spcBef>
              <a:spcAft>
                <a:spcPts val="0"/>
              </a:spcAft>
              <a:buSzPts val="1800"/>
              <a:buChar char="❏"/>
            </a:pPr>
            <a:r>
              <a:rPr lang="en-GB"/>
              <a:t>Sudah terdapat rancangan Proposal yang dikerjakan waktu mata kuliah </a:t>
            </a:r>
            <a:r>
              <a:rPr lang="en-GB"/>
              <a:t>Metodologi Penelitian dan Penulisan Karya Ilmiah:</a:t>
            </a:r>
            <a:br>
              <a:rPr lang="en-GB"/>
            </a:br>
            <a:r>
              <a:rPr lang="en-GB" u="sng">
                <a:solidFill>
                  <a:schemeClr val="hlink"/>
                </a:solidFill>
                <a:hlinkClick r:id="rId4"/>
              </a:rPr>
              <a:t>https://docs.google.com/document/d/1cp9b218_7sdOXRL9j4d0YuFljWNL_Ji2/edit?usp=drive_link&amp;ouid=106492765874169808495&amp;rtpof=true&amp;sd=true</a:t>
            </a:r>
            <a:r>
              <a:rPr lang="en-GB"/>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28/02/2025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Berdasarkan arahan sebelumnya untuk Publikasi Skripsi ke Ubi-learn</a:t>
            </a:r>
            <a:endParaRPr/>
          </a:p>
          <a:p>
            <a:pPr indent="-342900" lvl="0" marL="457200" rtl="0" algn="l">
              <a:spcBef>
                <a:spcPts val="0"/>
              </a:spcBef>
              <a:spcAft>
                <a:spcPts val="0"/>
              </a:spcAft>
              <a:buSzPts val="1800"/>
              <a:buChar char="❏"/>
            </a:pPr>
            <a:r>
              <a:rPr lang="en-GB"/>
              <a:t>Informasi dari website </a:t>
            </a:r>
            <a:r>
              <a:rPr lang="en-GB" u="sng">
                <a:solidFill>
                  <a:schemeClr val="hlink"/>
                </a:solidFill>
                <a:hlinkClick r:id="rId3"/>
              </a:rPr>
              <a:t>https://ubi-learn.com/2025-conference/call-for-papers</a:t>
            </a:r>
            <a:r>
              <a:rPr lang="en-GB"/>
              <a:t> </a:t>
            </a:r>
            <a:endParaRPr/>
          </a:p>
          <a:p>
            <a:pPr indent="-342900" lvl="0" marL="457200" rtl="0" algn="l">
              <a:spcBef>
                <a:spcPts val="0"/>
              </a:spcBef>
              <a:spcAft>
                <a:spcPts val="0"/>
              </a:spcAft>
              <a:buSzPts val="1800"/>
              <a:buChar char="❏"/>
            </a:pPr>
            <a:br>
              <a:rPr lang="en-GB"/>
            </a:br>
            <a:endParaRPr/>
          </a:p>
        </p:txBody>
      </p:sp>
      <p:pic>
        <p:nvPicPr>
          <p:cNvPr id="86" name="Google Shape;86;p18"/>
          <p:cNvPicPr preferRelativeResize="0"/>
          <p:nvPr/>
        </p:nvPicPr>
        <p:blipFill>
          <a:blip r:embed="rId4">
            <a:alphaModFix/>
          </a:blip>
          <a:stretch>
            <a:fillRect/>
          </a:stretch>
        </p:blipFill>
        <p:spPr>
          <a:xfrm>
            <a:off x="858900" y="1896700"/>
            <a:ext cx="4719450" cy="1573150"/>
          </a:xfrm>
          <a:prstGeom prst="rect">
            <a:avLst/>
          </a:prstGeom>
          <a:noFill/>
          <a:ln>
            <a:noFill/>
          </a:ln>
        </p:spPr>
      </p:pic>
      <p:pic>
        <p:nvPicPr>
          <p:cNvPr id="87" name="Google Shape;87;p18"/>
          <p:cNvPicPr preferRelativeResize="0"/>
          <p:nvPr/>
        </p:nvPicPr>
        <p:blipFill>
          <a:blip r:embed="rId5">
            <a:alphaModFix/>
          </a:blip>
          <a:stretch>
            <a:fillRect/>
          </a:stretch>
        </p:blipFill>
        <p:spPr>
          <a:xfrm>
            <a:off x="858900" y="3549750"/>
            <a:ext cx="2994449" cy="141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Aplikasi e-Block</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Telah menambahkan fitur logging pengerjaan challenge</a:t>
            </a:r>
            <a:endParaRPr/>
          </a:p>
          <a:p>
            <a:pPr indent="-342900" lvl="0" marL="457200" rtl="0" algn="l">
              <a:spcBef>
                <a:spcPts val="0"/>
              </a:spcBef>
              <a:spcAft>
                <a:spcPts val="0"/>
              </a:spcAft>
              <a:buSzPts val="1800"/>
              <a:buChar char="❏"/>
            </a:pPr>
            <a:r>
              <a:rPr lang="en-GB"/>
              <a:t>Pengimplementasian FaceApi.js masih belum dilakukan</a:t>
            </a:r>
            <a:endParaRPr/>
          </a:p>
          <a:p>
            <a:pPr indent="-342900" lvl="0" marL="457200" rtl="0" algn="l">
              <a:spcBef>
                <a:spcPts val="0"/>
              </a:spcBef>
              <a:spcAft>
                <a:spcPts val="0"/>
              </a:spcAft>
              <a:buSzPts val="1800"/>
              <a:buChar char="❏"/>
            </a:pPr>
            <a:r>
              <a:rPr lang="en-GB"/>
              <a:t>Demonstrasi fitur baru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Proposal Tesis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Judul yang saya ajukan:</a:t>
            </a:r>
            <a:br>
              <a:rPr lang="en-GB"/>
            </a:br>
            <a:r>
              <a:rPr lang="en-GB"/>
              <a:t>Integrasi Pola Interaksi Dan Emotional Detection Berbasis Machine Learning Untuk Analisis Computational Thinking Mahasiswa Pada Platform Block-Based Programming</a:t>
            </a:r>
            <a:endParaRPr/>
          </a:p>
          <a:p>
            <a:pPr indent="-342900" lvl="0" marL="457200" rtl="0" algn="l">
              <a:spcBef>
                <a:spcPts val="0"/>
              </a:spcBef>
              <a:spcAft>
                <a:spcPts val="0"/>
              </a:spcAft>
              <a:buSzPts val="1800"/>
              <a:buChar char="❏"/>
            </a:pPr>
            <a:r>
              <a:rPr lang="en-GB"/>
              <a:t>Konsep Awal Penelitian:	</a:t>
            </a:r>
            <a:endParaRPr/>
          </a:p>
          <a:p>
            <a:pPr indent="-317500" lvl="1" marL="914400" rtl="0" algn="l">
              <a:spcBef>
                <a:spcPts val="0"/>
              </a:spcBef>
              <a:spcAft>
                <a:spcPts val="0"/>
              </a:spcAft>
              <a:buSzPts val="1400"/>
              <a:buChar char="❏"/>
            </a:pPr>
            <a:r>
              <a:rPr lang="en-GB"/>
              <a:t>Analisis Pola Interaksi</a:t>
            </a:r>
            <a:endParaRPr/>
          </a:p>
          <a:p>
            <a:pPr indent="-317500" lvl="2" marL="1371600" rtl="0" algn="l">
              <a:spcBef>
                <a:spcPts val="0"/>
              </a:spcBef>
              <a:spcAft>
                <a:spcPts val="0"/>
              </a:spcAft>
              <a:buSzPts val="1400"/>
              <a:buChar char="❏"/>
            </a:pPr>
            <a:r>
              <a:rPr lang="en-GB"/>
              <a:t>Rekam Jejak Aktivitas Mahasiswa pada Platform e-Block berupa urutan manipulasi blok algoritma</a:t>
            </a:r>
            <a:endParaRPr/>
          </a:p>
          <a:p>
            <a:pPr indent="-317500" lvl="1" marL="914400" marR="0" rtl="0" algn="l">
              <a:lnSpc>
                <a:spcPct val="115000"/>
              </a:lnSpc>
              <a:spcBef>
                <a:spcPts val="0"/>
              </a:spcBef>
              <a:spcAft>
                <a:spcPts val="0"/>
              </a:spcAft>
              <a:buSzPts val="1400"/>
              <a:buChar char="❏"/>
            </a:pPr>
            <a:r>
              <a:rPr lang="en-GB" sz="1400"/>
              <a:t>Deteksi</a:t>
            </a:r>
            <a:r>
              <a:rPr lang="en-GB"/>
              <a:t> Emosional</a:t>
            </a:r>
            <a:endParaRPr/>
          </a:p>
          <a:p>
            <a:pPr indent="-317500" lvl="2" marL="1371600" marR="0" rtl="0" algn="l">
              <a:lnSpc>
                <a:spcPct val="115000"/>
              </a:lnSpc>
              <a:spcBef>
                <a:spcPts val="0"/>
              </a:spcBef>
              <a:spcAft>
                <a:spcPts val="0"/>
              </a:spcAft>
              <a:buSzPts val="1400"/>
              <a:buChar char="❏"/>
            </a:pPr>
            <a:r>
              <a:rPr lang="en-GB"/>
              <a:t>Menggunakan FaceAPI.js untuk Analisis Ekspresi Wajah untuk 7 status emosi</a:t>
            </a:r>
            <a:endParaRPr/>
          </a:p>
          <a:p>
            <a:pPr indent="-342900" lvl="0" marL="457200" marR="0" rtl="0" algn="l">
              <a:lnSpc>
                <a:spcPct val="115000"/>
              </a:lnSpc>
              <a:spcBef>
                <a:spcPts val="0"/>
              </a:spcBef>
              <a:spcAft>
                <a:spcPts val="0"/>
              </a:spcAft>
              <a:buSzPts val="1800"/>
              <a:buChar char="❏"/>
            </a:pPr>
            <a:r>
              <a:rPr lang="en-GB"/>
              <a:t>Tujuan</a:t>
            </a:r>
            <a:r>
              <a:rPr lang="en-GB" sz="1400"/>
              <a:t>: Pengembangan Model Machine Learning. Menganalisis Korelasi Antara:</a:t>
            </a:r>
            <a:endParaRPr sz="1400"/>
          </a:p>
          <a:p>
            <a:pPr indent="-317500" lvl="1" marL="914400" marR="0" rtl="0" algn="l">
              <a:lnSpc>
                <a:spcPct val="115000"/>
              </a:lnSpc>
              <a:spcBef>
                <a:spcPts val="0"/>
              </a:spcBef>
              <a:spcAft>
                <a:spcPts val="0"/>
              </a:spcAft>
              <a:buSzPts val="1400"/>
              <a:buChar char="❏"/>
            </a:pPr>
            <a:r>
              <a:rPr lang="en-GB" sz="1400"/>
              <a:t>Pola Interaksi</a:t>
            </a:r>
            <a:endParaRPr/>
          </a:p>
          <a:p>
            <a:pPr indent="-317500" lvl="1" marL="914400" marR="0" rtl="0" algn="l">
              <a:lnSpc>
                <a:spcPct val="115000"/>
              </a:lnSpc>
              <a:spcBef>
                <a:spcPts val="0"/>
              </a:spcBef>
              <a:spcAft>
                <a:spcPts val="0"/>
              </a:spcAft>
              <a:buSzPts val="1400"/>
              <a:buChar char="❏"/>
            </a:pPr>
            <a:r>
              <a:rPr lang="en-GB" sz="1400"/>
              <a:t>Respons Emosional</a:t>
            </a:r>
            <a:endParaRPr/>
          </a:p>
          <a:p>
            <a:pPr indent="-317500" lvl="1" marL="914400" marR="0" rtl="0" algn="l">
              <a:lnSpc>
                <a:spcPct val="115000"/>
              </a:lnSpc>
              <a:spcBef>
                <a:spcPts val="0"/>
              </a:spcBef>
              <a:spcAft>
                <a:spcPts val="0"/>
              </a:spcAft>
              <a:buSzPts val="1400"/>
              <a:buChar char="❏"/>
            </a:pPr>
            <a:r>
              <a:rPr lang="en-GB" sz="1400"/>
              <a:t>Kemampuan Computational Thinking</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Proposal Tesis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Teknik Analisis Data</a:t>
            </a:r>
            <a:endParaRPr/>
          </a:p>
          <a:p>
            <a:pPr indent="-317500" lvl="1" marL="914400" rtl="0" algn="l">
              <a:spcBef>
                <a:spcPts val="0"/>
              </a:spcBef>
              <a:spcAft>
                <a:spcPts val="0"/>
              </a:spcAft>
              <a:buSzPts val="1400"/>
              <a:buChar char="❏"/>
            </a:pPr>
            <a:r>
              <a:rPr lang="en-GB"/>
              <a:t>Sequential Pattern Mining</a:t>
            </a:r>
            <a:endParaRPr/>
          </a:p>
          <a:p>
            <a:pPr indent="-317500" lvl="2" marL="1371600" rtl="0" algn="l">
              <a:spcBef>
                <a:spcPts val="0"/>
              </a:spcBef>
              <a:spcAft>
                <a:spcPts val="0"/>
              </a:spcAft>
              <a:buSzPts val="1400"/>
              <a:buChar char="❏"/>
            </a:pPr>
            <a:r>
              <a:rPr lang="en-GB"/>
              <a:t>Identifikasi Pola Temporal</a:t>
            </a:r>
            <a:endParaRPr/>
          </a:p>
          <a:p>
            <a:pPr indent="-317500" lvl="2" marL="1371600" rtl="0" algn="l">
              <a:spcBef>
                <a:spcPts val="0"/>
              </a:spcBef>
              <a:spcAft>
                <a:spcPts val="0"/>
              </a:spcAft>
              <a:buSzPts val="1400"/>
              <a:buChar char="❏"/>
            </a:pPr>
            <a:r>
              <a:rPr lang="en-GB"/>
              <a:t>Analisis Urutan Aktivitas dan Emosi</a:t>
            </a:r>
            <a:endParaRPr/>
          </a:p>
          <a:p>
            <a:pPr indent="-317500" lvl="1" marL="914400" rtl="0" algn="l">
              <a:spcBef>
                <a:spcPts val="0"/>
              </a:spcBef>
              <a:spcAft>
                <a:spcPts val="0"/>
              </a:spcAft>
              <a:buSzPts val="1400"/>
              <a:buChar char="❏"/>
            </a:pPr>
            <a:r>
              <a:rPr lang="en-GB"/>
              <a:t>Clustering Non-Supervised</a:t>
            </a:r>
            <a:endParaRPr/>
          </a:p>
          <a:p>
            <a:pPr indent="-317500" lvl="2" marL="1371600" rtl="0" algn="l">
              <a:spcBef>
                <a:spcPts val="0"/>
              </a:spcBef>
              <a:spcAft>
                <a:spcPts val="0"/>
              </a:spcAft>
              <a:buSzPts val="1400"/>
              <a:buChar char="❏"/>
            </a:pPr>
            <a:r>
              <a:rPr lang="en-GB"/>
              <a:t>Pengelompokan Mahasiswa Berdasarkan Pola Interaksi</a:t>
            </a:r>
            <a:endParaRPr/>
          </a:p>
          <a:p>
            <a:pPr indent="-317500" lvl="1" marL="914400" rtl="0" algn="l">
              <a:spcBef>
                <a:spcPts val="0"/>
              </a:spcBef>
              <a:spcAft>
                <a:spcPts val="0"/>
              </a:spcAft>
              <a:buSzPts val="1400"/>
              <a:buChar char="❏"/>
            </a:pPr>
            <a:r>
              <a:rPr lang="en-GB"/>
              <a:t>Klasifikasi Supervised</a:t>
            </a:r>
            <a:endParaRPr/>
          </a:p>
          <a:p>
            <a:pPr indent="-317500" lvl="2" marL="1371600" rtl="0" algn="l">
              <a:spcBef>
                <a:spcPts val="0"/>
              </a:spcBef>
              <a:spcAft>
                <a:spcPts val="0"/>
              </a:spcAft>
              <a:buSzPts val="1400"/>
              <a:buChar char="❏"/>
            </a:pPr>
            <a:r>
              <a:rPr lang="en-GB"/>
              <a:t>Prediksi Kemampuan Computational Thinking</a:t>
            </a:r>
            <a:endParaRPr/>
          </a:p>
          <a:p>
            <a:pPr indent="-317500" lvl="1" marL="914400" marR="0" rtl="0" algn="l">
              <a:lnSpc>
                <a:spcPct val="115000"/>
              </a:lnSpc>
              <a:spcBef>
                <a:spcPts val="0"/>
              </a:spcBef>
              <a:spcAft>
                <a:spcPts val="0"/>
              </a:spcAft>
              <a:buSzPts val="1400"/>
              <a:buChar char="❏"/>
            </a:pPr>
            <a:r>
              <a:rPr lang="en-GB"/>
              <a:t>Analisis Regresi Multivariat</a:t>
            </a:r>
            <a:endParaRPr/>
          </a:p>
          <a:p>
            <a:pPr indent="-317500" lvl="2" marL="1371600" marR="0" rtl="0" algn="l">
              <a:lnSpc>
                <a:spcPct val="115000"/>
              </a:lnSpc>
              <a:spcBef>
                <a:spcPts val="0"/>
              </a:spcBef>
              <a:spcAft>
                <a:spcPts val="0"/>
              </a:spcAft>
              <a:buSzPts val="1400"/>
              <a:buChar char="❏"/>
            </a:pPr>
            <a:r>
              <a:rPr lang="en-GB"/>
              <a:t>Menentukan Hubungan Kompleks Antarvariabel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07/03/2025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Dari Pak Fajar menyarankan jika tidak ada conference dalam waktu dekat bisa coba di submit ke Jurnal</a:t>
            </a:r>
            <a:endParaRPr/>
          </a:p>
          <a:p>
            <a:pPr indent="-342900" lvl="0" marL="457200" rtl="0" algn="l">
              <a:spcBef>
                <a:spcPts val="0"/>
              </a:spcBef>
              <a:spcAft>
                <a:spcPts val="0"/>
              </a:spcAft>
              <a:buSzPts val="1800"/>
              <a:buChar char="❏"/>
            </a:pPr>
            <a:r>
              <a:rPr lang="en-GB"/>
              <a:t>Jurnal yang direkomendasikan Pak Fajar</a:t>
            </a:r>
            <a:endParaRPr/>
          </a:p>
          <a:p>
            <a:pPr indent="-317500" lvl="1" marL="914400" rtl="0" algn="l">
              <a:spcBef>
                <a:spcPts val="0"/>
              </a:spcBef>
              <a:spcAft>
                <a:spcPts val="0"/>
              </a:spcAft>
              <a:buSzPts val="1400"/>
              <a:buChar char="❏"/>
            </a:pPr>
            <a:r>
              <a:rPr lang="en-GB"/>
              <a:t>Kinetik UMM</a:t>
            </a:r>
            <a:endParaRPr/>
          </a:p>
          <a:p>
            <a:pPr indent="-317500" lvl="1" marL="914400" rtl="0" algn="l">
              <a:spcBef>
                <a:spcPts val="0"/>
              </a:spcBef>
              <a:spcAft>
                <a:spcPts val="0"/>
              </a:spcAft>
              <a:buSzPts val="1400"/>
              <a:buChar char="❏"/>
            </a:pPr>
            <a:r>
              <a:rPr lang="en-GB"/>
              <a:t>Intensif UNP Kediri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Aplikasi e-Block</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Sedang mengintegrasikan </a:t>
            </a:r>
            <a:r>
              <a:rPr lang="en-GB"/>
              <a:t>FaceApi</a:t>
            </a:r>
            <a:r>
              <a:rPr lang="en-GB"/>
              <a:t>.js ke dalam challenge</a:t>
            </a:r>
            <a:endParaRPr/>
          </a:p>
          <a:p>
            <a:pPr indent="-342900" lvl="0" marL="457200" rtl="0" algn="l">
              <a:spcBef>
                <a:spcPts val="0"/>
              </a:spcBef>
              <a:spcAft>
                <a:spcPts val="0"/>
              </a:spcAft>
              <a:buSzPts val="1800"/>
              <a:buChar char="❏"/>
            </a:pPr>
            <a:r>
              <a:rPr lang="en-GB"/>
              <a:t>Masih terkendala data emosi nya masih belum bisa terekam</a:t>
            </a:r>
            <a:endParaRPr/>
          </a:p>
          <a:p>
            <a:pPr indent="-342900" lvl="0" marL="457200" rtl="0" algn="l">
              <a:spcBef>
                <a:spcPts val="0"/>
              </a:spcBef>
              <a:spcAft>
                <a:spcPts val="0"/>
              </a:spcAft>
              <a:buSzPts val="1800"/>
              <a:buChar char="❏"/>
            </a:pPr>
            <a:r>
              <a:rPr lang="en-GB"/>
              <a:t>Demonstrasi Program Sementara</a:t>
            </a:r>
            <a:br>
              <a:rPr lang="en-GB"/>
            </a:br>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14/03/2025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Telah mengirimkan draft abstract 2 penelitian Hari Senin</a:t>
            </a:r>
            <a:endParaRPr/>
          </a:p>
          <a:p>
            <a:pPr indent="-342900" lvl="0" marL="457200" rtl="0" algn="l">
              <a:spcBef>
                <a:spcPts val="0"/>
              </a:spcBef>
              <a:spcAft>
                <a:spcPts val="0"/>
              </a:spcAft>
              <a:buSzPts val="1800"/>
              <a:buChar char="❏"/>
            </a:pPr>
            <a:r>
              <a:rPr lang="en-GB"/>
              <a:t>Telah menyusun draft paper untuk penelitian yang signifikan</a:t>
            </a:r>
            <a:endParaRPr/>
          </a:p>
          <a:p>
            <a:pPr indent="-342900" lvl="0" marL="457200" rtl="0" algn="l">
              <a:spcBef>
                <a:spcPts val="0"/>
              </a:spcBef>
              <a:spcAft>
                <a:spcPts val="0"/>
              </a:spcAft>
              <a:buSzPts val="1800"/>
              <a:buChar char="❏"/>
            </a:pPr>
            <a:r>
              <a:rPr lang="en-GB"/>
              <a:t>Ada beberapa hal yang ingin ditanyakan terkait isi paper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21/03/2025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44" name="Google Shape;14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Masih progress menyelesaikan tambahan bab di draft paper dan mencari referensi tambahan karena masih kurang</a:t>
            </a:r>
            <a:endParaRPr/>
          </a:p>
          <a:p>
            <a:pPr indent="-342900" lvl="0" marL="457200" rtl="0" algn="l">
              <a:spcBef>
                <a:spcPts val="0"/>
              </a:spcBef>
              <a:spcAft>
                <a:spcPts val="0"/>
              </a:spcAft>
              <a:buSzPts val="1800"/>
              <a:buChar char="❏"/>
            </a:pPr>
            <a:r>
              <a:rPr lang="en-GB"/>
              <a:t>Poin poin yang dibahas pada Related Works</a:t>
            </a:r>
            <a:endParaRPr/>
          </a:p>
          <a:p>
            <a:pPr indent="-317500" lvl="1" marL="914400" rtl="0" algn="l">
              <a:spcBef>
                <a:spcPts val="0"/>
              </a:spcBef>
              <a:spcAft>
                <a:spcPts val="0"/>
              </a:spcAft>
              <a:buSzPts val="1400"/>
              <a:buChar char="❏"/>
            </a:pPr>
            <a:r>
              <a:rPr lang="en-GB"/>
              <a:t>Block-Based Programming Environments</a:t>
            </a:r>
            <a:endParaRPr/>
          </a:p>
          <a:p>
            <a:pPr indent="-317500" lvl="1" marL="914400" rtl="0" algn="l">
              <a:spcBef>
                <a:spcPts val="0"/>
              </a:spcBef>
              <a:spcAft>
                <a:spcPts val="0"/>
              </a:spcAft>
              <a:buSzPts val="1400"/>
              <a:buChar char="❏"/>
            </a:pPr>
            <a:r>
              <a:rPr lang="en-GB"/>
              <a:t>Transitioning from Block-Based to Text-Based Programming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27/03/2025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55" name="Google Shape;15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Telah mengunggah draft jurnal dengan template Taylor &amp; Francis di Google Drive.</a:t>
            </a:r>
            <a:endParaRPr/>
          </a:p>
          <a:p>
            <a:pPr indent="-342900" lvl="0" marL="457200" rtl="0" algn="l">
              <a:spcBef>
                <a:spcPts val="0"/>
              </a:spcBef>
              <a:spcAft>
                <a:spcPts val="0"/>
              </a:spcAft>
              <a:buSzPts val="1800"/>
              <a:buChar char="❏"/>
            </a:pPr>
            <a:r>
              <a:rPr lang="en-GB"/>
              <a:t>Apa tahapan berikutnya yang harus saya lakukan dalam proses publikasi?</a:t>
            </a:r>
            <a:endParaRPr/>
          </a:p>
          <a:p>
            <a:pPr indent="-342900" lvl="0" marL="457200" rtl="0" algn="l">
              <a:spcBef>
                <a:spcPts val="0"/>
              </a:spcBef>
              <a:spcAft>
                <a:spcPts val="0"/>
              </a:spcAft>
              <a:buSzPts val="1800"/>
              <a:buChar char="❏"/>
            </a:pPr>
            <a:r>
              <a:rPr lang="en-GB"/>
              <a:t>Terkait hibah DRTPM-PTM, penelitian mana yang diajukan?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17/04/2025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e-Block</a:t>
            </a:r>
            <a:endParaRPr/>
          </a:p>
        </p:txBody>
      </p:sp>
      <p:sp>
        <p:nvSpPr>
          <p:cNvPr id="166" name="Google Shape;16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Fitur Emotional Detection telah berjalan sejak awal aplikasi dijalankan. Sistem melakukan perekaman ekspresi wajah setiap 5 detik secara otomatis.</a:t>
            </a:r>
            <a:endParaRPr/>
          </a:p>
          <a:p>
            <a:pPr indent="-342900" lvl="0" marL="457200" rtl="0" algn="l">
              <a:spcBef>
                <a:spcPts val="0"/>
              </a:spcBef>
              <a:spcAft>
                <a:spcPts val="0"/>
              </a:spcAft>
              <a:buSzPts val="1800"/>
              <a:buChar char="❏"/>
            </a:pPr>
            <a:r>
              <a:rPr lang="en-GB"/>
              <a:t>Terkait mekanisme penyimpanan data ke database, mana yang paling disarankan?</a:t>
            </a:r>
            <a:endParaRPr/>
          </a:p>
          <a:p>
            <a:pPr indent="-317500" lvl="1" marL="914400" rtl="0" algn="l">
              <a:spcBef>
                <a:spcPts val="0"/>
              </a:spcBef>
              <a:spcAft>
                <a:spcPts val="0"/>
              </a:spcAft>
              <a:buSzPts val="1400"/>
              <a:buChar char="❏"/>
            </a:pPr>
            <a:r>
              <a:rPr lang="en-GB"/>
              <a:t>Pengiriman setelah pengguna menutup aplikasi</a:t>
            </a:r>
            <a:endParaRPr/>
          </a:p>
          <a:p>
            <a:pPr indent="-317500" lvl="1" marL="914400" rtl="0" algn="l">
              <a:spcBef>
                <a:spcPts val="0"/>
              </a:spcBef>
              <a:spcAft>
                <a:spcPts val="0"/>
              </a:spcAft>
              <a:buSzPts val="1400"/>
              <a:buChar char="❏"/>
            </a:pPr>
            <a:r>
              <a:rPr lang="en-GB"/>
              <a:t>Pengiriman berkala (misalnya setiap 5 menit)</a:t>
            </a:r>
            <a:endParaRPr/>
          </a:p>
          <a:p>
            <a:pPr indent="-317500" lvl="1" marL="914400" rtl="0" algn="l">
              <a:spcBef>
                <a:spcPts val="0"/>
              </a:spcBef>
              <a:spcAft>
                <a:spcPts val="0"/>
              </a:spcAft>
              <a:buSzPts val="1400"/>
              <a:buChar char="❏"/>
            </a:pPr>
            <a:r>
              <a:rPr lang="en-GB"/>
              <a:t>Pengiriman saat perpindahan halaman</a:t>
            </a:r>
            <a:endParaRPr/>
          </a:p>
          <a:p>
            <a:pPr indent="-317500" lvl="1" marL="914400" rtl="0" algn="l">
              <a:spcBef>
                <a:spcPts val="0"/>
              </a:spcBef>
              <a:spcAft>
                <a:spcPts val="0"/>
              </a:spcAft>
              <a:buSzPts val="1400"/>
              <a:buChar char="❏"/>
            </a:pPr>
            <a:r>
              <a:rPr lang="en-GB"/>
              <a:t>Pengiriman berdasarkan jumlah data tertentu</a:t>
            </a:r>
            <a:endParaRPr/>
          </a:p>
          <a:p>
            <a:pPr indent="-342900" lvl="0" marL="457200" rtl="0" algn="l">
              <a:spcBef>
                <a:spcPts val="0"/>
              </a:spcBef>
              <a:spcAft>
                <a:spcPts val="0"/>
              </a:spcAft>
              <a:buSzPts val="1800"/>
              <a:buChar char="❏"/>
            </a:pPr>
            <a:r>
              <a:rPr lang="en-GB"/>
              <a:t>Apakah perlu dibuat mekanisme khusus pada program ketika emosi nya tidak terdeteksi?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Program e-Block</a:t>
            </a:r>
            <a:endParaRPr/>
          </a:p>
        </p:txBody>
      </p:sp>
      <p:sp>
        <p:nvSpPr>
          <p:cNvPr id="172" name="Google Shape;17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GB"/>
              <a:t>Data apa saja yang idealnya disimpan pada database untuk keperluan analisis?</a:t>
            </a:r>
            <a:endParaRPr/>
          </a:p>
          <a:p>
            <a:pPr indent="-310832" lvl="1" marL="914400" rtl="0" algn="l">
              <a:spcBef>
                <a:spcPts val="0"/>
              </a:spcBef>
              <a:spcAft>
                <a:spcPts val="0"/>
              </a:spcAft>
              <a:buSzPct val="100000"/>
              <a:buChar char="❏"/>
            </a:pPr>
            <a:r>
              <a:rPr lang="en-GB"/>
              <a:t>Hasil klasifikasi emosi</a:t>
            </a:r>
            <a:endParaRPr/>
          </a:p>
          <a:p>
            <a:pPr indent="-310832" lvl="1" marL="914400" rtl="0" algn="l">
              <a:spcBef>
                <a:spcPts val="0"/>
              </a:spcBef>
              <a:spcAft>
                <a:spcPts val="0"/>
              </a:spcAft>
              <a:buSzPct val="100000"/>
              <a:buChar char="❏"/>
            </a:pPr>
            <a:r>
              <a:rPr lang="en-GB"/>
              <a:t>Confidence score dari masing-masing label emosi</a:t>
            </a:r>
            <a:endParaRPr/>
          </a:p>
          <a:p>
            <a:pPr indent="-310832" lvl="1" marL="914400" rtl="0" algn="l">
              <a:spcBef>
                <a:spcPts val="0"/>
              </a:spcBef>
              <a:spcAft>
                <a:spcPts val="0"/>
              </a:spcAft>
              <a:buSzPct val="100000"/>
              <a:buChar char="❏"/>
            </a:pPr>
            <a:r>
              <a:rPr lang="en-GB"/>
              <a:t>Nama halaman saat data direkam</a:t>
            </a:r>
            <a:endParaRPr/>
          </a:p>
          <a:p>
            <a:pPr indent="-310832" lvl="1" marL="914400" rtl="0" algn="l">
              <a:spcBef>
                <a:spcPts val="0"/>
              </a:spcBef>
              <a:spcAft>
                <a:spcPts val="0"/>
              </a:spcAft>
              <a:buSzPct val="100000"/>
              <a:buChar char="❏"/>
            </a:pPr>
            <a:r>
              <a:rPr lang="en-GB"/>
              <a:t>Timestamp rekaman</a:t>
            </a:r>
            <a:endParaRPr/>
          </a:p>
          <a:p>
            <a:pPr indent="-310832" lvl="1" marL="914400" rtl="0" algn="l">
              <a:spcBef>
                <a:spcPts val="0"/>
              </a:spcBef>
              <a:spcAft>
                <a:spcPts val="0"/>
              </a:spcAft>
              <a:buSzPct val="100000"/>
              <a:buChar char="❏"/>
            </a:pPr>
            <a:r>
              <a:rPr lang="en-GB"/>
              <a:t>Data landmark wajah</a:t>
            </a:r>
            <a:endParaRPr/>
          </a:p>
          <a:p>
            <a:pPr indent="-310832" lvl="1" marL="914400" rtl="0" algn="l">
              <a:spcBef>
                <a:spcPts val="0"/>
              </a:spcBef>
              <a:spcAft>
                <a:spcPts val="0"/>
              </a:spcAft>
              <a:buSzPct val="100000"/>
              <a:buChar char="❏"/>
            </a:pPr>
            <a:r>
              <a:rPr lang="en-GB"/>
              <a:t>Informasi sesi pengguna</a:t>
            </a:r>
            <a:endParaRPr/>
          </a:p>
          <a:p>
            <a:pPr indent="-334328" lvl="0" marL="457200" marR="0" rtl="0" algn="l">
              <a:lnSpc>
                <a:spcPct val="115000"/>
              </a:lnSpc>
              <a:spcBef>
                <a:spcPts val="0"/>
              </a:spcBef>
              <a:spcAft>
                <a:spcPts val="0"/>
              </a:spcAft>
              <a:buSzPct val="100000"/>
              <a:buChar char="❏"/>
            </a:pPr>
            <a:r>
              <a:rPr lang="en-GB"/>
              <a:t>Apakah perlu dibuatkan laman khusus admin untuk melihat hasil perekaman emosi atau cukup menyimpan di database?</a:t>
            </a:r>
            <a:endParaRPr/>
          </a:p>
          <a:p>
            <a:pPr indent="-334328" lvl="0" marL="457200" marR="0" rtl="0" algn="l">
              <a:lnSpc>
                <a:spcPct val="115000"/>
              </a:lnSpc>
              <a:spcBef>
                <a:spcPts val="0"/>
              </a:spcBef>
              <a:spcAft>
                <a:spcPts val="0"/>
              </a:spcAft>
              <a:buSzPct val="100000"/>
              <a:buChar char="❏"/>
            </a:pPr>
            <a:r>
              <a:rPr lang="en-GB"/>
              <a:t>Apakah perlu menambahkan Hotjar juga untuk memantau perilaku penggunanya?</a:t>
            </a:r>
            <a:endParaRPr/>
          </a:p>
          <a:p>
            <a:pPr indent="-334328" lvl="0" marL="457200" marR="0" rtl="0" algn="l">
              <a:lnSpc>
                <a:spcPct val="115000"/>
              </a:lnSpc>
              <a:spcBef>
                <a:spcPts val="0"/>
              </a:spcBef>
              <a:spcAft>
                <a:spcPts val="0"/>
              </a:spcAft>
              <a:buSzPct val="100000"/>
              <a:buChar char="❏"/>
            </a:pPr>
            <a:r>
              <a:rPr lang="en-GB"/>
              <a:t>Untuk Project APDM lebih baik apakah tetap menggunakan data primer dari e-Block ini atau menggunakan data sekunder?</a:t>
            </a:r>
            <a:endParaRPr/>
          </a:p>
          <a:p>
            <a:pPr indent="-334328" lvl="0" marL="457200" marR="0" rtl="0" algn="l">
              <a:lnSpc>
                <a:spcPct val="115000"/>
              </a:lnSpc>
              <a:spcBef>
                <a:spcPts val="0"/>
              </a:spcBef>
              <a:spcAft>
                <a:spcPts val="0"/>
              </a:spcAft>
              <a:buSzPct val="100000"/>
              <a:buChar char="❏"/>
            </a:pPr>
            <a:r>
              <a:rPr lang="en-GB"/>
              <a:t>Ms Clarity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Publikasi</a:t>
            </a:r>
            <a:endParaRPr/>
          </a:p>
        </p:txBody>
      </p:sp>
      <p:sp>
        <p:nvSpPr>
          <p:cNvPr id="178" name="Google Shape;17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Paper Development untuk ICOMIT. Untuk data hasil pengujian, apakah sebaiknya menggunakan data 1 kelas eksperimen saja, atau harus dengan kelas kontrol?</a:t>
            </a:r>
            <a:endParaRPr/>
          </a:p>
          <a:p>
            <a:pPr indent="-342900" lvl="0" marL="457200" rtl="0" algn="just">
              <a:spcBef>
                <a:spcPts val="0"/>
              </a:spcBef>
              <a:spcAft>
                <a:spcPts val="0"/>
              </a:spcAft>
              <a:buSzPts val="1800"/>
              <a:buChar char="❏"/>
            </a:pPr>
            <a:r>
              <a:rPr lang="en-GB"/>
              <a:t>Paper yang sudah disusun sebelumnya dengan format IEEE, apakah format tersebut perlu diubah sekarang untuk ICOMIT, atau tunggu setelah review terlebih dahulu?</a:t>
            </a:r>
            <a:endParaRPr/>
          </a:p>
          <a:p>
            <a:pPr indent="-342900" lvl="0" marL="457200" rtl="0" algn="just">
              <a:spcBef>
                <a:spcPts val="0"/>
              </a:spcBef>
              <a:spcAft>
                <a:spcPts val="0"/>
              </a:spcAft>
              <a:buSzPts val="1800"/>
              <a:buChar char="❏"/>
            </a:pPr>
            <a:r>
              <a:rPr lang="en-GB"/>
              <a:t>Apakah ada perkembangan atau feedback terkait progress paper eksperimen untuk TnF?</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25/04/2025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189" name="Google Shape;18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Telah dilakukan perekaman data primer sebanyak 10 sampel video.</a:t>
            </a:r>
            <a:endParaRPr/>
          </a:p>
          <a:p>
            <a:pPr indent="-342900" lvl="0" marL="457200" rtl="0" algn="l">
              <a:spcBef>
                <a:spcPts val="0"/>
              </a:spcBef>
              <a:spcAft>
                <a:spcPts val="0"/>
              </a:spcAft>
              <a:buSzPts val="1800"/>
              <a:buChar char="❏"/>
            </a:pPr>
            <a:r>
              <a:rPr lang="en-GB"/>
              <a:t>Masing-masing sampel berdurasi kurang lebih 30 menit.</a:t>
            </a:r>
            <a:endParaRPr/>
          </a:p>
          <a:p>
            <a:pPr indent="-342900" lvl="0" marL="457200" rtl="0" algn="l">
              <a:spcBef>
                <a:spcPts val="0"/>
              </a:spcBef>
              <a:spcAft>
                <a:spcPts val="0"/>
              </a:spcAft>
              <a:buSzPts val="1800"/>
              <a:buChar char="❏"/>
            </a:pPr>
            <a:r>
              <a:rPr lang="en-GB"/>
              <a:t>Untuk preprocessing apakah semua frame tiap 5 detik perlu ambil seluruh durasi 30 menit, atau cukup sebagian saja?</a:t>
            </a:r>
            <a:endParaRPr/>
          </a:p>
          <a:p>
            <a:pPr indent="-342900" lvl="0" marL="457200" rtl="0" algn="just">
              <a:spcBef>
                <a:spcPts val="0"/>
              </a:spcBef>
              <a:spcAft>
                <a:spcPts val="0"/>
              </a:spcAft>
              <a:buSzPts val="1800"/>
              <a:buChar char="❏"/>
            </a:pPr>
            <a:r>
              <a:rPr lang="en-GB"/>
              <a:t>Apakah data gambar original lebih baik diproses menggunakan CNN? Untuk proses validasi emosinya apakah memanfaatkan model dari Face API JS sebagai baseline?</a:t>
            </a:r>
            <a:endParaRPr/>
          </a:p>
          <a:p>
            <a:pPr indent="-342900" lvl="0" marL="457200" rtl="0" algn="just">
              <a:spcBef>
                <a:spcPts val="0"/>
              </a:spcBef>
              <a:spcAft>
                <a:spcPts val="0"/>
              </a:spcAft>
              <a:buSzPts val="1800"/>
              <a:buChar char="❏"/>
            </a:pPr>
            <a:r>
              <a:rPr lang="en-GB"/>
              <a:t>Apakah data landmark perlu dikonversi terlebih dahulu ke bentuk vektor? Untuk proses klasifikasi emosi Apakah cukup menggunakan confidence score dari Face API JS? Atau perlu dilakukan pelabelan ulang dan klasifikasi menggunakan model machine learning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09/05/2025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00" name="Google Shape;200;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Char char="❏"/>
            </a:pPr>
            <a:r>
              <a:rPr lang="en-GB"/>
              <a:t>Telah dilakukan perekaman data primer tambahan sebanyak 10 orang, sehingga total subjek menjadi 20 orang.</a:t>
            </a:r>
            <a:endParaRPr/>
          </a:p>
          <a:p>
            <a:pPr indent="-342900" lvl="0" marL="457200" rtl="0" algn="just">
              <a:spcBef>
                <a:spcPts val="0"/>
              </a:spcBef>
              <a:spcAft>
                <a:spcPts val="0"/>
              </a:spcAft>
              <a:buSzPts val="1800"/>
              <a:buChar char="❏"/>
            </a:pPr>
            <a:r>
              <a:rPr lang="en-GB"/>
              <a:t>Telah dilakukan preprocessing untuk memecah frame video sebanyak 15 sampel.</a:t>
            </a:r>
            <a:endParaRPr/>
          </a:p>
          <a:p>
            <a:pPr indent="-342900" lvl="0" marL="457200" rtl="0" algn="just">
              <a:spcBef>
                <a:spcPts val="0"/>
              </a:spcBef>
              <a:spcAft>
                <a:spcPts val="0"/>
              </a:spcAft>
              <a:buSzPts val="1800"/>
              <a:buChar char="❏"/>
            </a:pPr>
            <a:r>
              <a:rPr lang="en-GB"/>
              <a:t>Terkait mahasiswa yang sebelumnya ditandai harus mengulang pengumpulan data namun tidak hadir, apabila datanya banyak yang kurang baik, apakah tetap diproses atau sebaiknya dikeluarkan dari dataset?</a:t>
            </a:r>
            <a:endParaRPr/>
          </a:p>
          <a:p>
            <a:pPr indent="-342900" lvl="0" marL="457200" rtl="0" algn="just">
              <a:spcBef>
                <a:spcPts val="0"/>
              </a:spcBef>
              <a:spcAft>
                <a:spcPts val="0"/>
              </a:spcAft>
              <a:buSzPts val="1800"/>
              <a:buChar char="❏"/>
            </a:pPr>
            <a:r>
              <a:rPr lang="en-GB"/>
              <a:t>Untuk pengeliminasian data dengan confidence score di bawah threshold 50%, apakah pada frame originalnya juga perlu dilakukan eliminasi?</a:t>
            </a:r>
            <a:endParaRPr/>
          </a:p>
          <a:p>
            <a:pPr indent="-342900" lvl="0" marL="457200" rtl="0" algn="just">
              <a:spcBef>
                <a:spcPts val="0"/>
              </a:spcBef>
              <a:spcAft>
                <a:spcPts val="0"/>
              </a:spcAft>
              <a:buSzPts val="1800"/>
              <a:buChar char="❏"/>
            </a:pPr>
            <a:r>
              <a:rPr lang="en-GB"/>
              <a:t>Saya mengajukan penggunaan model CNN untuk ekstraksi fitur wajah dan LSTM untuk pemrosesan data landmark secara sekuensial. Apakah pendekatan ini sesuai untuk kasus yang saya kerjakan?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23/05/2025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11" name="Google Shape;21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Dataset primer yang digunakan Imbalance</a:t>
            </a:r>
            <a:endParaRPr/>
          </a:p>
        </p:txBody>
      </p:sp>
      <p:pic>
        <p:nvPicPr>
          <p:cNvPr id="212" name="Google Shape;212;p40" title="WhatsApp Image 2025-05-23 at 05.10.55_855ef7e6.jpg"/>
          <p:cNvPicPr preferRelativeResize="0"/>
          <p:nvPr/>
        </p:nvPicPr>
        <p:blipFill>
          <a:blip r:embed="rId3">
            <a:alphaModFix/>
          </a:blip>
          <a:stretch>
            <a:fillRect/>
          </a:stretch>
        </p:blipFill>
        <p:spPr>
          <a:xfrm>
            <a:off x="1922675" y="1611100"/>
            <a:ext cx="5103766" cy="3389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18" name="Google Shape;218;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gambar</a:t>
            </a:r>
            <a:endParaRPr/>
          </a:p>
        </p:txBody>
      </p:sp>
      <p:pic>
        <p:nvPicPr>
          <p:cNvPr id="219" name="Google Shape;219;p41"/>
          <p:cNvPicPr preferRelativeResize="0"/>
          <p:nvPr/>
        </p:nvPicPr>
        <p:blipFill>
          <a:blip r:embed="rId3">
            <a:alphaModFix/>
          </a:blip>
          <a:stretch>
            <a:fillRect/>
          </a:stretch>
        </p:blipFill>
        <p:spPr>
          <a:xfrm>
            <a:off x="239375" y="1880825"/>
            <a:ext cx="8665226" cy="284751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25" name="Google Shape;22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gambar</a:t>
            </a:r>
            <a:endParaRPr/>
          </a:p>
        </p:txBody>
      </p:sp>
      <p:pic>
        <p:nvPicPr>
          <p:cNvPr id="226" name="Google Shape;226;p42"/>
          <p:cNvPicPr preferRelativeResize="0"/>
          <p:nvPr/>
        </p:nvPicPr>
        <p:blipFill>
          <a:blip r:embed="rId3">
            <a:alphaModFix/>
          </a:blip>
          <a:stretch>
            <a:fillRect/>
          </a:stretch>
        </p:blipFill>
        <p:spPr>
          <a:xfrm>
            <a:off x="2776775" y="1726725"/>
            <a:ext cx="3590451" cy="32258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32" name="Google Shape;23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landmark</a:t>
            </a:r>
            <a:endParaRPr/>
          </a:p>
        </p:txBody>
      </p:sp>
      <p:pic>
        <p:nvPicPr>
          <p:cNvPr id="233" name="Google Shape;233;p43"/>
          <p:cNvPicPr preferRelativeResize="0"/>
          <p:nvPr/>
        </p:nvPicPr>
        <p:blipFill>
          <a:blip r:embed="rId3">
            <a:alphaModFix/>
          </a:blip>
          <a:stretch>
            <a:fillRect/>
          </a:stretch>
        </p:blipFill>
        <p:spPr>
          <a:xfrm>
            <a:off x="228175" y="1856975"/>
            <a:ext cx="8543068" cy="28073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39" name="Google Shape;23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training dengan data yang ada untuk data landmark</a:t>
            </a:r>
            <a:endParaRPr/>
          </a:p>
        </p:txBody>
      </p:sp>
      <p:pic>
        <p:nvPicPr>
          <p:cNvPr id="240" name="Google Shape;240;p44"/>
          <p:cNvPicPr preferRelativeResize="0"/>
          <p:nvPr/>
        </p:nvPicPr>
        <p:blipFill>
          <a:blip r:embed="rId3">
            <a:alphaModFix/>
          </a:blip>
          <a:stretch>
            <a:fillRect/>
          </a:stretch>
        </p:blipFill>
        <p:spPr>
          <a:xfrm>
            <a:off x="2670698" y="1679350"/>
            <a:ext cx="3802604" cy="341640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46" name="Google Shape;24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late fusion</a:t>
            </a:r>
            <a:endParaRPr/>
          </a:p>
        </p:txBody>
      </p:sp>
      <p:pic>
        <p:nvPicPr>
          <p:cNvPr id="247" name="Google Shape;247;p45"/>
          <p:cNvPicPr preferRelativeResize="0"/>
          <p:nvPr/>
        </p:nvPicPr>
        <p:blipFill>
          <a:blip r:embed="rId3">
            <a:alphaModFix/>
          </a:blip>
          <a:stretch>
            <a:fillRect/>
          </a:stretch>
        </p:blipFill>
        <p:spPr>
          <a:xfrm>
            <a:off x="4191075" y="804513"/>
            <a:ext cx="4577224" cy="41123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53" name="Google Shape;25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Menjalankan late fusion</a:t>
            </a:r>
            <a:endParaRPr/>
          </a:p>
        </p:txBody>
      </p:sp>
      <p:pic>
        <p:nvPicPr>
          <p:cNvPr id="254" name="Google Shape;254;p46"/>
          <p:cNvPicPr preferRelativeResize="0"/>
          <p:nvPr/>
        </p:nvPicPr>
        <p:blipFill>
          <a:blip r:embed="rId3">
            <a:alphaModFix/>
          </a:blip>
          <a:stretch>
            <a:fillRect/>
          </a:stretch>
        </p:blipFill>
        <p:spPr>
          <a:xfrm>
            <a:off x="3473125" y="692125"/>
            <a:ext cx="5469773" cy="36322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APDM</a:t>
            </a:r>
            <a:endParaRPr/>
          </a:p>
        </p:txBody>
      </p:sp>
      <p:sp>
        <p:nvSpPr>
          <p:cNvPr id="260" name="Google Shape;26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GB"/>
              <a:t>Hasil Perbandingan</a:t>
            </a:r>
            <a:endParaRPr/>
          </a:p>
        </p:txBody>
      </p:sp>
      <p:pic>
        <p:nvPicPr>
          <p:cNvPr id="261" name="Google Shape;261;p47"/>
          <p:cNvPicPr preferRelativeResize="0"/>
          <p:nvPr/>
        </p:nvPicPr>
        <p:blipFill>
          <a:blip r:embed="rId3">
            <a:alphaModFix/>
          </a:blip>
          <a:stretch>
            <a:fillRect/>
          </a:stretch>
        </p:blipFill>
        <p:spPr>
          <a:xfrm>
            <a:off x="1818900" y="1590675"/>
            <a:ext cx="5954324" cy="35528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29/08/2025</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272" name="Google Shape;27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GB"/>
              <a:t>Semester ini saya hanya mengambil 4 MK Tesis dengan target selesai pada semester ini:</a:t>
            </a:r>
            <a:endParaRPr/>
          </a:p>
          <a:p>
            <a:pPr indent="-310832" lvl="1" marL="914400" rtl="0" algn="l">
              <a:spcBef>
                <a:spcPts val="0"/>
              </a:spcBef>
              <a:spcAft>
                <a:spcPts val="0"/>
              </a:spcAft>
              <a:buSzPct val="100000"/>
              <a:buChar char="❏"/>
            </a:pPr>
            <a:r>
              <a:rPr lang="en-GB"/>
              <a:t>Judul dan konsep sudah diajukan sebelumnya, namun masih pendalaman detail metodologinya.</a:t>
            </a:r>
            <a:endParaRPr/>
          </a:p>
          <a:p>
            <a:pPr indent="-310832" lvl="1" marL="914400" rtl="0" algn="l">
              <a:spcBef>
                <a:spcPts val="0"/>
              </a:spcBef>
              <a:spcAft>
                <a:spcPts val="0"/>
              </a:spcAft>
              <a:buSzPct val="100000"/>
              <a:buChar char="❏"/>
            </a:pPr>
            <a:r>
              <a:rPr lang="en-GB"/>
              <a:t>Fokus penelitian: integrasi data rekaman emosi dan pola interaksi, masih dalam tahap pendalaman metode.</a:t>
            </a:r>
            <a:endParaRPr/>
          </a:p>
          <a:p>
            <a:pPr indent="-334328" lvl="0" marL="457200" rtl="0" algn="l">
              <a:spcBef>
                <a:spcPts val="0"/>
              </a:spcBef>
              <a:spcAft>
                <a:spcPts val="0"/>
              </a:spcAft>
              <a:buSzPct val="100000"/>
              <a:buChar char="❏"/>
            </a:pPr>
            <a:r>
              <a:rPr lang="en-GB"/>
              <a:t>Pertanyaan terkait dataset:</a:t>
            </a:r>
            <a:endParaRPr/>
          </a:p>
          <a:p>
            <a:pPr indent="-310832" lvl="1" marL="914400" rtl="0" algn="l">
              <a:spcBef>
                <a:spcPts val="0"/>
              </a:spcBef>
              <a:spcAft>
                <a:spcPts val="0"/>
              </a:spcAft>
              <a:buSzPct val="100000"/>
              <a:buChar char="❏"/>
            </a:pPr>
            <a:r>
              <a:rPr lang="en-GB"/>
              <a:t>Apakah menggunakan dataset APDM sebelumnya?</a:t>
            </a:r>
            <a:endParaRPr/>
          </a:p>
          <a:p>
            <a:pPr indent="-310832" lvl="1" marL="914400" rtl="0" algn="l">
              <a:spcBef>
                <a:spcPts val="0"/>
              </a:spcBef>
              <a:spcAft>
                <a:spcPts val="0"/>
              </a:spcAft>
              <a:buSzPct val="100000"/>
              <a:buChar char="❏"/>
            </a:pPr>
            <a:r>
              <a:rPr lang="en-GB"/>
              <a:t>Apakah perlu pengambilan data baru di FILKOM?</a:t>
            </a:r>
            <a:endParaRPr/>
          </a:p>
          <a:p>
            <a:pPr indent="-310832" lvl="1" marL="914400" rtl="0" algn="l">
              <a:spcBef>
                <a:spcPts val="0"/>
              </a:spcBef>
              <a:spcAft>
                <a:spcPts val="0"/>
              </a:spcAft>
              <a:buSzPct val="100000"/>
              <a:buChar char="❏"/>
            </a:pPr>
            <a:r>
              <a:rPr lang="en-GB"/>
              <a:t>Atau menggunakan data dari Pengmas SMA 3?</a:t>
            </a:r>
            <a:endParaRPr/>
          </a:p>
          <a:p>
            <a:pPr indent="-334328" lvl="0" marL="457200" rtl="0" algn="l">
              <a:spcBef>
                <a:spcPts val="0"/>
              </a:spcBef>
              <a:spcAft>
                <a:spcPts val="0"/>
              </a:spcAft>
              <a:buSzPct val="100000"/>
              <a:buChar char="❏"/>
            </a:pPr>
            <a:r>
              <a:rPr lang="en-GB"/>
              <a:t>Terkait publikasi (syarat tesis):</a:t>
            </a:r>
            <a:endParaRPr/>
          </a:p>
          <a:p>
            <a:pPr indent="-310832" lvl="1" marL="914400" rtl="0" algn="l">
              <a:spcBef>
                <a:spcPts val="0"/>
              </a:spcBef>
              <a:spcAft>
                <a:spcPts val="0"/>
              </a:spcAft>
              <a:buSzPct val="100000"/>
              <a:buChar char="❏"/>
            </a:pPr>
            <a:r>
              <a:rPr lang="en-GB"/>
              <a:t>Mohon arahan, apakah saya perlu publikasi lagi karena pada paper ICOMIT dan SIET sebelumnya hanya Pak Fitra yang tercantum sebagai author, atau ada opsi lain yang memungkinkan?</a:t>
            </a:r>
            <a:endParaRPr/>
          </a:p>
          <a:p>
            <a:pPr indent="-334328" lvl="0" marL="457200" rtl="0" algn="l">
              <a:spcBef>
                <a:spcPts val="0"/>
              </a:spcBef>
              <a:spcAft>
                <a:spcPts val="0"/>
              </a:spcAft>
              <a:buSzPct val="100000"/>
              <a:buChar char="❏"/>
            </a:pPr>
            <a:r>
              <a:rPr lang="en-GB"/>
              <a:t>Paper SIET:</a:t>
            </a:r>
            <a:endParaRPr/>
          </a:p>
          <a:p>
            <a:pPr indent="-310832" lvl="1" marL="914400" rtl="0" algn="l">
              <a:spcBef>
                <a:spcPts val="0"/>
              </a:spcBef>
              <a:spcAft>
                <a:spcPts val="0"/>
              </a:spcAft>
              <a:buSzPct val="100000"/>
              <a:buChar char="❏"/>
            </a:pPr>
            <a:r>
              <a:rPr lang="en-GB"/>
              <a:t>Revisi paper berdasarkan komentar reviewer sudah diselesaikan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24/09/2025</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283" name="Google Shape;28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Penyesuaian Judul Tesis:</a:t>
            </a:r>
            <a:endParaRPr/>
          </a:p>
          <a:p>
            <a:pPr indent="-317500" lvl="1" marL="914400" rtl="0" algn="l">
              <a:spcBef>
                <a:spcPts val="0"/>
              </a:spcBef>
              <a:spcAft>
                <a:spcPts val="0"/>
              </a:spcAft>
              <a:buSzPts val="1400"/>
              <a:buChar char="❏"/>
            </a:pPr>
            <a:r>
              <a:rPr lang="en-GB" sz="1400"/>
              <a:t>Judul awal: Integrasi deteksi emosi dan pola interaksi untuk analisis computational thinking</a:t>
            </a:r>
            <a:endParaRPr sz="1400"/>
          </a:p>
          <a:p>
            <a:pPr indent="-317500" lvl="1" marL="914400" rtl="0" algn="l">
              <a:spcBef>
                <a:spcPts val="0"/>
              </a:spcBef>
              <a:spcAft>
                <a:spcPts val="0"/>
              </a:spcAft>
              <a:buSzPts val="1400"/>
              <a:buChar char="❏"/>
            </a:pPr>
            <a:r>
              <a:rPr lang="en-GB" sz="1400"/>
              <a:t>Kendala: Kesulitan mengolah data pola interaksi yang kompleks</a:t>
            </a:r>
            <a:endParaRPr sz="1400"/>
          </a:p>
          <a:p>
            <a:pPr indent="-317500" lvl="1" marL="914400" rtl="0" algn="l">
              <a:spcBef>
                <a:spcPts val="0"/>
              </a:spcBef>
              <a:spcAft>
                <a:spcPts val="0"/>
              </a:spcAft>
              <a:buSzPts val="1400"/>
              <a:buChar char="❏"/>
            </a:pPr>
            <a:r>
              <a:rPr lang="en-GB" sz="1400"/>
              <a:t>Solusi: Fokus pada integrasi multimodal CNN dan facial landmark (sesuai paper SIET)</a:t>
            </a:r>
            <a:endParaRPr sz="1400"/>
          </a:p>
          <a:p>
            <a:pPr indent="-317500" lvl="1" marL="914400" rtl="0" algn="l">
              <a:spcBef>
                <a:spcPts val="0"/>
              </a:spcBef>
              <a:spcAft>
                <a:spcPts val="0"/>
              </a:spcAft>
              <a:buSzPts val="1400"/>
              <a:buChar char="❏"/>
            </a:pPr>
            <a:r>
              <a:rPr lang="en-GB" sz="1400"/>
              <a:t>Judul baru: "Integrasi Multimodal CNN dan Facial Landmark untuk Pengenalan Emosi dalam Konteks Pembelajaran Pemrograman"</a:t>
            </a:r>
            <a:endParaRPr/>
          </a:p>
          <a:p>
            <a:pPr indent="-342900" lvl="0" marL="457200" rtl="0" algn="l">
              <a:spcBef>
                <a:spcPts val="0"/>
              </a:spcBef>
              <a:spcAft>
                <a:spcPts val="0"/>
              </a:spcAft>
              <a:buSzPts val="1800"/>
              <a:buChar char="❏"/>
            </a:pPr>
            <a:r>
              <a:rPr lang="en-GB"/>
              <a:t>Hal yang perlu didiskusikan:</a:t>
            </a:r>
            <a:endParaRPr/>
          </a:p>
          <a:p>
            <a:pPr indent="-317500" lvl="1" marL="914400" rtl="0" algn="l">
              <a:spcBef>
                <a:spcPts val="0"/>
              </a:spcBef>
              <a:spcAft>
                <a:spcPts val="0"/>
              </a:spcAft>
              <a:buSzPts val="1400"/>
              <a:buChar char="❏"/>
            </a:pPr>
            <a:r>
              <a:rPr lang="en-GB"/>
              <a:t>Pengambilan dataset tambahan</a:t>
            </a:r>
            <a:endParaRPr/>
          </a:p>
          <a:p>
            <a:pPr indent="-317500" lvl="1" marL="914400" rtl="0" algn="l">
              <a:spcBef>
                <a:spcPts val="0"/>
              </a:spcBef>
              <a:spcAft>
                <a:spcPts val="0"/>
              </a:spcAft>
              <a:buSzPts val="1400"/>
              <a:buChar char="❏"/>
            </a:pPr>
            <a:r>
              <a:rPr lang="en-GB"/>
              <a:t>Persyaratan publikasi dan pembimbing</a:t>
            </a:r>
            <a:endParaRPr/>
          </a:p>
          <a:p>
            <a:pPr indent="-317500" lvl="1" marL="914400" rtl="0" algn="l">
              <a:spcBef>
                <a:spcPts val="0"/>
              </a:spcBef>
              <a:spcAft>
                <a:spcPts val="0"/>
              </a:spcAft>
              <a:buSzPts val="1400"/>
              <a:buChar char="❏"/>
            </a:pPr>
            <a:r>
              <a:rPr lang="en-GB"/>
              <a:t>Validasi rumusan masalah</a:t>
            </a:r>
            <a:endParaRPr/>
          </a:p>
          <a:p>
            <a:pPr indent="-317500" lvl="1" marL="914400" rtl="0" algn="l">
              <a:spcBef>
                <a:spcPts val="0"/>
              </a:spcBef>
              <a:spcAft>
                <a:spcPts val="0"/>
              </a:spcAft>
              <a:buSzPts val="1400"/>
              <a:buChar char="❏"/>
            </a:pPr>
            <a:r>
              <a:rPr lang="en-GB"/>
              <a:t>Review outline Bab 2 dan Bab 3</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01/10/2025</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294" name="Google Shape;29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Revisi Rumusan Masalah sesuai masukan:</a:t>
            </a:r>
            <a:endParaRPr/>
          </a:p>
          <a:p>
            <a:pPr indent="-317500" lvl="1" marL="914400" rtl="0" algn="l">
              <a:spcBef>
                <a:spcPts val="0"/>
              </a:spcBef>
              <a:spcAft>
                <a:spcPts val="0"/>
              </a:spcAft>
              <a:buSzPts val="1400"/>
              <a:buChar char="❏"/>
            </a:pPr>
            <a:r>
              <a:rPr lang="en-GB"/>
              <a:t>Bagaimana performa model unimodal CNN dalam pengenalan emosi mahasiswa menggunakan fitur citra wajah?</a:t>
            </a:r>
            <a:endParaRPr/>
          </a:p>
          <a:p>
            <a:pPr indent="-317500" lvl="1" marL="914400" rtl="0" algn="l">
              <a:spcBef>
                <a:spcPts val="0"/>
              </a:spcBef>
              <a:spcAft>
                <a:spcPts val="0"/>
              </a:spcAft>
              <a:buSzPts val="1400"/>
              <a:buChar char="❏"/>
            </a:pPr>
            <a:r>
              <a:rPr lang="en-GB"/>
              <a:t>Bagaimana performa model unimodal FCNN dalam pengenalan emosi mahasiswa 	menggunakan fitur geometrik dari facial landmark?</a:t>
            </a:r>
            <a:endParaRPr/>
          </a:p>
          <a:p>
            <a:pPr indent="-317500" lvl="1" marL="914400" rtl="0" algn="l">
              <a:spcBef>
                <a:spcPts val="0"/>
              </a:spcBef>
              <a:spcAft>
                <a:spcPts val="0"/>
              </a:spcAft>
              <a:buSzPts val="1400"/>
              <a:buChar char="❏"/>
            </a:pPr>
            <a:r>
              <a:rPr lang="en-GB"/>
              <a:t>Bagaimana perbandingan performa antara strategi multimodal late fusion dan hybrid fusion dalam mengintegrasikan CNN dan FCNN?</a:t>
            </a:r>
            <a:endParaRPr/>
          </a:p>
          <a:p>
            <a:pPr indent="-342900" lvl="0" marL="457200" rtl="0" algn="l">
              <a:spcBef>
                <a:spcPts val="0"/>
              </a:spcBef>
              <a:spcAft>
                <a:spcPts val="0"/>
              </a:spcAft>
              <a:buSzPts val="1800"/>
              <a:buChar char="❏"/>
            </a:pPr>
            <a:r>
              <a:rPr lang="en-GB"/>
              <a:t>Model yang Dibandingkan:</a:t>
            </a:r>
            <a:endParaRPr/>
          </a:p>
          <a:p>
            <a:pPr indent="-317500" lvl="1" marL="914400" rtl="0" algn="l">
              <a:spcBef>
                <a:spcPts val="0"/>
              </a:spcBef>
              <a:spcAft>
                <a:spcPts val="0"/>
              </a:spcAft>
              <a:buSzPts val="1400"/>
              <a:buChar char="❏"/>
            </a:pPr>
            <a:r>
              <a:rPr lang="en-GB"/>
              <a:t>CNN Only (baseline appearance)</a:t>
            </a:r>
            <a:endParaRPr/>
          </a:p>
          <a:p>
            <a:pPr indent="-317500" lvl="1" marL="914400" rtl="0" algn="l">
              <a:spcBef>
                <a:spcPts val="0"/>
              </a:spcBef>
              <a:spcAft>
                <a:spcPts val="0"/>
              </a:spcAft>
              <a:buSzPts val="1400"/>
              <a:buChar char="❏"/>
            </a:pPr>
            <a:r>
              <a:rPr lang="en-GB"/>
              <a:t>FCNN Only (baseline geometric)</a:t>
            </a:r>
            <a:endParaRPr/>
          </a:p>
          <a:p>
            <a:pPr indent="-317500" lvl="1" marL="914400" rtl="0" algn="l">
              <a:spcBef>
                <a:spcPts val="0"/>
              </a:spcBef>
              <a:spcAft>
                <a:spcPts val="0"/>
              </a:spcAft>
              <a:buSzPts val="1400"/>
              <a:buChar char="❏"/>
            </a:pPr>
            <a:r>
              <a:rPr lang="en-GB"/>
              <a:t>Late Fusion (decision-level)</a:t>
            </a:r>
            <a:endParaRPr/>
          </a:p>
          <a:p>
            <a:pPr indent="-317500" lvl="1" marL="914400" rtl="0" algn="l">
              <a:spcBef>
                <a:spcPts val="0"/>
              </a:spcBef>
              <a:spcAft>
                <a:spcPts val="0"/>
              </a:spcAft>
              <a:buSzPts val="1400"/>
              <a:buChar char="❏"/>
            </a:pPr>
            <a:r>
              <a:rPr lang="en-GB"/>
              <a:t>Hybrid Fusion (multi-level)</a:t>
            </a:r>
            <a:endParaRPr/>
          </a:p>
          <a:p>
            <a:pPr indent="-342900" lvl="0" marL="457200" rtl="0" algn="l">
              <a:spcBef>
                <a:spcPts val="0"/>
              </a:spcBef>
              <a:spcAft>
                <a:spcPts val="0"/>
              </a:spcAft>
              <a:buSzPts val="1800"/>
              <a:buChar char="❏"/>
            </a:pPr>
            <a:r>
              <a:rPr lang="en-GB"/>
              <a:t>Keputusan Pembimbing 2</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08/10/2025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05" name="Google Shape;305;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Dikarenakan tidak bisa menambah author di Paper SIET, apakah memungkinkan kalau untuk tesis saya pembimbingnya tunggal?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2910/2025</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16" name="Google Shape;316;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Catatan Bimbingan dengan Pak Budi</a:t>
            </a:r>
            <a:endParaRPr/>
          </a:p>
          <a:p>
            <a:pPr indent="-317500" lvl="1" marL="914400" marR="0" rtl="0" algn="l">
              <a:lnSpc>
                <a:spcPct val="115000"/>
              </a:lnSpc>
              <a:spcBef>
                <a:spcPts val="0"/>
              </a:spcBef>
              <a:spcAft>
                <a:spcPts val="0"/>
              </a:spcAft>
              <a:buSzPts val="1400"/>
              <a:buChar char="❏"/>
            </a:pPr>
            <a:r>
              <a:rPr lang="en-GB"/>
              <a:t>Ditanyakan terkait:</a:t>
            </a:r>
            <a:endParaRPr/>
          </a:p>
          <a:p>
            <a:pPr indent="-317500" lvl="2" marL="1371600" marR="0" rtl="0" algn="l">
              <a:lnSpc>
                <a:spcPct val="115000"/>
              </a:lnSpc>
              <a:spcBef>
                <a:spcPts val="0"/>
              </a:spcBef>
              <a:spcAft>
                <a:spcPts val="0"/>
              </a:spcAft>
              <a:buSzPts val="1400"/>
              <a:buChar char="❏"/>
            </a:pPr>
            <a:r>
              <a:rPr lang="en-GB"/>
              <a:t>Bagaimana teknis validasi dataset emosi yang digunakan?</a:t>
            </a:r>
            <a:endParaRPr/>
          </a:p>
          <a:p>
            <a:pPr indent="-317500" lvl="2" marL="1371600" marR="0" rtl="0" algn="l">
              <a:lnSpc>
                <a:spcPct val="115000"/>
              </a:lnSpc>
              <a:spcBef>
                <a:spcPts val="0"/>
              </a:spcBef>
              <a:spcAft>
                <a:spcPts val="0"/>
              </a:spcAft>
              <a:buSzPts val="1400"/>
              <a:buChar char="❏"/>
            </a:pPr>
            <a:r>
              <a:rPr lang="en-GB"/>
              <a:t>Apakah perlu dilakukan validasi oleh ahli (misalnya dosen psikologi)?</a:t>
            </a:r>
            <a:endParaRPr/>
          </a:p>
          <a:p>
            <a:pPr indent="-342900" lvl="0" marL="457200" marR="0" rtl="0" algn="l">
              <a:lnSpc>
                <a:spcPct val="115000"/>
              </a:lnSpc>
              <a:spcBef>
                <a:spcPts val="0"/>
              </a:spcBef>
              <a:spcAft>
                <a:spcPts val="0"/>
              </a:spcAft>
              <a:buSzPts val="1800"/>
              <a:buChar char="❏"/>
            </a:pPr>
            <a:r>
              <a:rPr lang="en-GB"/>
              <a:t>P</a:t>
            </a:r>
            <a:r>
              <a:rPr lang="en-GB"/>
              <a:t>rogress Paper (Taylor &amp; Francis)</a:t>
            </a:r>
            <a:endParaRPr/>
          </a:p>
          <a:p>
            <a:pPr indent="-317500" lvl="1" marL="914400" marR="0" rtl="0" algn="l">
              <a:lnSpc>
                <a:spcPct val="115000"/>
              </a:lnSpc>
              <a:spcBef>
                <a:spcPts val="0"/>
              </a:spcBef>
              <a:spcAft>
                <a:spcPts val="0"/>
              </a:spcAft>
              <a:buSzPts val="1400"/>
              <a:buChar char="❏"/>
            </a:pPr>
            <a:r>
              <a:rPr lang="en-GB"/>
              <a:t>Saat ini paper masih dalam proses review oleh Bapak. Mohon izin menanyakan, kira-kira apakah review-nya sudah selesai?</a:t>
            </a:r>
            <a:endParaRPr/>
          </a:p>
          <a:p>
            <a:pPr indent="-317500" lvl="1" marL="914400" marR="0" rtl="0" algn="l">
              <a:lnSpc>
                <a:spcPct val="115000"/>
              </a:lnSpc>
              <a:spcBef>
                <a:spcPts val="0"/>
              </a:spcBef>
              <a:spcAft>
                <a:spcPts val="0"/>
              </a:spcAft>
              <a:buSzPts val="1400"/>
              <a:buChar char="❏"/>
            </a:pPr>
            <a:r>
              <a:rPr lang="en-GB"/>
              <a:t>Setelah selesai, rencananya paper akan saya kirimkan ke Pak Fajar dan Pak Budi untuk proses review selanjutnya.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05/11/2025</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27" name="Google Shape;327;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Rancangan Eksperimen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19/11/2025</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38" name="Google Shape;338;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Penyusunan laporan tesis sudah selesai</a:t>
            </a:r>
            <a:endParaRPr/>
          </a:p>
          <a:p>
            <a:pPr indent="-342900" lvl="0" marL="457200" marR="0" rtl="0" algn="l">
              <a:lnSpc>
                <a:spcPct val="115000"/>
              </a:lnSpc>
              <a:spcBef>
                <a:spcPts val="0"/>
              </a:spcBef>
              <a:spcAft>
                <a:spcPts val="0"/>
              </a:spcAft>
              <a:buSzPts val="1800"/>
              <a:buChar char="❏"/>
            </a:pPr>
            <a:r>
              <a:rPr lang="en-GB"/>
              <a:t>Pengambilan data tambahan masih menunggu konfirmasi jawaban dari asprak PTI 24 dan PTI 25</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19/11/2025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Tesis</a:t>
            </a:r>
            <a:endParaRPr/>
          </a:p>
        </p:txBody>
      </p:sp>
      <p:sp>
        <p:nvSpPr>
          <p:cNvPr id="349" name="Google Shape;34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Perubahan dari Hybrid Fusion menjadi Intermediate Fusion</a:t>
            </a:r>
            <a:endParaRPr/>
          </a:p>
          <a:p>
            <a:pPr indent="-342900" lvl="0" marL="457200" marR="0" rtl="0" algn="l">
              <a:lnSpc>
                <a:spcPct val="115000"/>
              </a:lnSpc>
              <a:spcBef>
                <a:spcPts val="0"/>
              </a:spcBef>
              <a:spcAft>
                <a:spcPts val="0"/>
              </a:spcAft>
              <a:buSzPts val="1800"/>
              <a:buChar char="❏"/>
            </a:pPr>
            <a:r>
              <a:rPr lang="en-GB"/>
              <a:t>Pendaftaran Seminar Proposal </a:t>
            </a:r>
            <a:endParaRPr/>
          </a:p>
        </p:txBody>
      </p:sp>
      <p:pic>
        <p:nvPicPr>
          <p:cNvPr id="350" name="Google Shape;350;p63" title="Desain tanpa judul (1).png"/>
          <p:cNvPicPr preferRelativeResize="0"/>
          <p:nvPr/>
        </p:nvPicPr>
        <p:blipFill>
          <a:blip r:embed="rId3">
            <a:alphaModFix/>
          </a:blip>
          <a:stretch>
            <a:fillRect/>
          </a:stretch>
        </p:blipFill>
        <p:spPr>
          <a:xfrm>
            <a:off x="1396013" y="1881875"/>
            <a:ext cx="6351975" cy="30590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20/02/2026</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Perubahan Judul</a:t>
            </a:r>
            <a:endParaRPr/>
          </a:p>
        </p:txBody>
      </p:sp>
      <p:sp>
        <p:nvSpPr>
          <p:cNvPr id="361" name="Google Shape;361;p65"/>
          <p:cNvSpPr txBox="1"/>
          <p:nvPr>
            <p:ph idx="1" type="body"/>
          </p:nvPr>
        </p:nvSpPr>
        <p:spPr>
          <a:xfrm>
            <a:off x="311700" y="1152475"/>
            <a:ext cx="8520600" cy="36411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en-GB"/>
              <a:t>Judul baru yang diusulkan:</a:t>
            </a:r>
            <a:endParaRPr/>
          </a:p>
          <a:p>
            <a:pPr indent="0" lvl="0" marL="457200" marR="0" rtl="0" algn="l">
              <a:lnSpc>
                <a:spcPct val="115000"/>
              </a:lnSpc>
              <a:spcBef>
                <a:spcPts val="1200"/>
              </a:spcBef>
              <a:spcAft>
                <a:spcPts val="0"/>
              </a:spcAft>
              <a:buNone/>
            </a:pPr>
            <a:r>
              <a:rPr b="1" lang="en-GB"/>
              <a:t>"Integrasi Multimodal Citra Wajah dan Facial Landmark untuk Pengenalan Emosi dalam Konteks Pembelajaran Pemrograman"</a:t>
            </a:r>
            <a:endParaRPr b="1"/>
          </a:p>
          <a:p>
            <a:pPr indent="-342900" lvl="0" marL="457200" marR="0" rtl="0" algn="l">
              <a:lnSpc>
                <a:spcPct val="115000"/>
              </a:lnSpc>
              <a:spcBef>
                <a:spcPts val="1200"/>
              </a:spcBef>
              <a:spcAft>
                <a:spcPts val="0"/>
              </a:spcAft>
              <a:buSzPts val="1800"/>
              <a:buChar char="❏"/>
            </a:pPr>
            <a:r>
              <a:rPr lang="en-GB"/>
              <a:t>Alasan perubahan:</a:t>
            </a:r>
            <a:endParaRPr/>
          </a:p>
          <a:p>
            <a:pPr indent="-317500" lvl="1" marL="914400" marR="0" rtl="0" algn="l">
              <a:lnSpc>
                <a:spcPct val="115000"/>
              </a:lnSpc>
              <a:spcBef>
                <a:spcPts val="0"/>
              </a:spcBef>
              <a:spcAft>
                <a:spcPts val="0"/>
              </a:spcAft>
              <a:buSzPts val="1400"/>
              <a:buChar char="❏"/>
            </a:pPr>
            <a:r>
              <a:rPr lang="en-GB"/>
              <a:t>Mengganti "CNN" menjadi "Citra Wajah" agar judul mendeskripsikan input/data yang digunakan, bukan metode spesifik. Ini menjawab catatan Penguji II (Pak Arief) tentang fokus pada integrasi "Input" multimodal.</a:t>
            </a:r>
            <a:endParaRPr/>
          </a:p>
          <a:p>
            <a:pPr indent="-317500" lvl="1" marL="914400" marR="0" rtl="0" algn="l">
              <a:lnSpc>
                <a:spcPct val="115000"/>
              </a:lnSpc>
              <a:spcBef>
                <a:spcPts val="0"/>
              </a:spcBef>
              <a:spcAft>
                <a:spcPts val="0"/>
              </a:spcAft>
              <a:buSzPts val="1400"/>
              <a:buChar char="❏"/>
            </a:pPr>
            <a:r>
              <a:rPr lang="en-GB"/>
              <a:t>Judul sebelumnya mencampurkan level abstraksi: "CNN" adalah metode, sedangkan "Facial Landmark" adalah tipe data/fitur. Judul baru lebih konsisten karena keduanya merujuk pada tipe input data.</a:t>
            </a:r>
            <a:endParaRPr/>
          </a:p>
          <a:p>
            <a:pPr indent="-317500" lvl="1" marL="914400" marR="0" rtl="0" algn="l">
              <a:lnSpc>
                <a:spcPct val="115000"/>
              </a:lnSpc>
              <a:spcBef>
                <a:spcPts val="0"/>
              </a:spcBef>
              <a:spcAft>
                <a:spcPts val="0"/>
              </a:spcAft>
              <a:buSzPts val="1400"/>
              <a:buChar char="❏"/>
            </a:pPr>
            <a:r>
              <a:rPr lang="en-GB"/>
              <a:t>Tetap mempertahankan "Facial Landmark" karena sudah merepresentasikan tipe data geometrik.</a:t>
            </a:r>
            <a:endParaRPr/>
          </a:p>
          <a:p>
            <a:pPr indent="-317500" lvl="1" marL="914400" marR="0" rtl="0" algn="l">
              <a:lnSpc>
                <a:spcPct val="115000"/>
              </a:lnSpc>
              <a:spcBef>
                <a:spcPts val="0"/>
              </a:spcBef>
              <a:spcAft>
                <a:spcPts val="0"/>
              </a:spcAft>
              <a:buSzPts val="1400"/>
              <a:buChar char="❏"/>
            </a:pPr>
            <a:r>
              <a:rPr lang="en-GB"/>
              <a:t>CNN dan FCNN tetap menjadi metode yang digunakan, akan dijelaskan di dalam isi proposal.</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Rencana Perbaikan</a:t>
            </a:r>
            <a:endParaRPr/>
          </a:p>
        </p:txBody>
      </p:sp>
      <p:sp>
        <p:nvSpPr>
          <p:cNvPr id="367" name="Google Shape;367;p66"/>
          <p:cNvSpPr txBox="1"/>
          <p:nvPr>
            <p:ph idx="1" type="body"/>
          </p:nvPr>
        </p:nvSpPr>
        <p:spPr>
          <a:xfrm>
            <a:off x="311700" y="1152475"/>
            <a:ext cx="8520600" cy="36411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en-GB"/>
              <a:t>Revisi Latar Belakang</a:t>
            </a:r>
            <a:r>
              <a:rPr lang="en-GB"/>
              <a:t>:</a:t>
            </a:r>
            <a:endParaRPr/>
          </a:p>
          <a:p>
            <a:pPr indent="-317500" lvl="1" marL="914400" marR="0" rtl="0" algn="l">
              <a:lnSpc>
                <a:spcPct val="115000"/>
              </a:lnSpc>
              <a:spcBef>
                <a:spcPts val="0"/>
              </a:spcBef>
              <a:spcAft>
                <a:spcPts val="0"/>
              </a:spcAft>
              <a:buSzPts val="1400"/>
              <a:buChar char="❏"/>
            </a:pPr>
            <a:r>
              <a:rPr lang="en-GB"/>
              <a:t>Restrukturisasi alur latar belakang agar tidak "lompat-lompat"</a:t>
            </a:r>
            <a:endParaRPr/>
          </a:p>
          <a:p>
            <a:pPr indent="-317500" lvl="1" marL="914400" marR="0" rtl="0" algn="l">
              <a:lnSpc>
                <a:spcPct val="115000"/>
              </a:lnSpc>
              <a:spcBef>
                <a:spcPts val="0"/>
              </a:spcBef>
              <a:spcAft>
                <a:spcPts val="0"/>
              </a:spcAft>
              <a:buSzPts val="1400"/>
              <a:buChar char="❏"/>
            </a:pPr>
            <a:r>
              <a:rPr lang="en-GB"/>
              <a:t>(Perjelas gap penelitian secara eksplisit (Penguji I #1)</a:t>
            </a:r>
            <a:endParaRPr/>
          </a:p>
          <a:p>
            <a:pPr indent="-342900" lvl="0" marL="457200" rtl="0" algn="l">
              <a:spcBef>
                <a:spcPts val="0"/>
              </a:spcBef>
              <a:spcAft>
                <a:spcPts val="0"/>
              </a:spcAft>
              <a:buSzPts val="1800"/>
              <a:buChar char="❏"/>
            </a:pPr>
            <a:r>
              <a:rPr lang="en-GB"/>
              <a:t>Revisi Rumusan masalah yang diusulkan (disesuaikan dengan judul baru dan alur latar belakang):</a:t>
            </a:r>
            <a:endParaRPr/>
          </a:p>
          <a:p>
            <a:pPr indent="-317500" lvl="1" marL="914400" rtl="0" algn="l">
              <a:spcBef>
                <a:spcPts val="0"/>
              </a:spcBef>
              <a:spcAft>
                <a:spcPts val="0"/>
              </a:spcAft>
              <a:buSzPts val="1400"/>
              <a:buChar char="❏"/>
            </a:pPr>
            <a:r>
              <a:rPr lang="en-GB"/>
              <a:t>1) Bagaimana performa model berbasis citra wajah (CNN) dalam pengenalan emosi mahasiswa pada konteks pembelajaran pemrograman?</a:t>
            </a:r>
            <a:endParaRPr/>
          </a:p>
          <a:p>
            <a:pPr indent="-317500" lvl="1" marL="914400" rtl="0" algn="l">
              <a:spcBef>
                <a:spcPts val="0"/>
              </a:spcBef>
              <a:spcAft>
                <a:spcPts val="0"/>
              </a:spcAft>
              <a:buSzPts val="1400"/>
              <a:buChar char="❏"/>
            </a:pPr>
            <a:r>
              <a:rPr lang="en-GB"/>
              <a:t>2) Bagaimana performa model berbasis facial landmark (FCNN) dalam pengenalan emosi mahasiswa pada konteks pembelajaran pemrograman?</a:t>
            </a:r>
            <a:endParaRPr/>
          </a:p>
          <a:p>
            <a:pPr indent="-317500" lvl="1" marL="914400" rtl="0" algn="l">
              <a:spcBef>
                <a:spcPts val="0"/>
              </a:spcBef>
              <a:spcAft>
                <a:spcPts val="0"/>
              </a:spcAft>
              <a:buSzPts val="1400"/>
              <a:buChar char="❏"/>
            </a:pPr>
            <a:r>
              <a:rPr lang="en-GB"/>
              <a:t>3) Bagaimana perbandingan performa antara strategi multimodal late fusion dan intermediate fusion dalam mengintegrasikan citra wajah dan facial landmark untuk menghasilkan sistem pengenalan emosi yang optimal dalam konteks pembelajaran pemrograman?</a:t>
            </a:r>
            <a:endParaRPr/>
          </a:p>
          <a:p>
            <a:pPr indent="-342900" lvl="0" marL="457200" marR="0" rtl="0" algn="l">
              <a:lnSpc>
                <a:spcPct val="115000"/>
              </a:lnSpc>
              <a:spcBef>
                <a:spcPts val="0"/>
              </a:spcBef>
              <a:spcAft>
                <a:spcPts val="0"/>
              </a:spcAft>
              <a:buSzPts val="1800"/>
              <a:buChar char="❏"/>
            </a:pPr>
            <a:r>
              <a:rPr lang="en-GB" sz="1800"/>
              <a:t>Catatan</a:t>
            </a:r>
            <a:r>
              <a:rPr lang="en-GB"/>
              <a:t>: Penyesuaian utama adalah mengganti istilah</a:t>
            </a:r>
            <a:r>
              <a:rPr b="1" lang="en-GB"/>
              <a:t> "fitur penampilan"</a:t>
            </a:r>
            <a:r>
              <a:rPr lang="en-GB"/>
              <a:t> dan "</a:t>
            </a:r>
            <a:r>
              <a:rPr b="1" lang="en-GB"/>
              <a:t>fitur geometrik" </a:t>
            </a:r>
            <a:r>
              <a:rPr lang="en-GB"/>
              <a:t>di rumusan masalah dengan</a:t>
            </a:r>
            <a:r>
              <a:rPr b="1" lang="en-GB"/>
              <a:t> "citra wajah"</a:t>
            </a:r>
            <a:r>
              <a:rPr lang="en-GB"/>
              <a:t> dan </a:t>
            </a:r>
            <a:r>
              <a:rPr b="1" lang="en-GB"/>
              <a:t>"facial landmark"</a:t>
            </a:r>
            <a:r>
              <a:rPr lang="en-GB"/>
              <a:t> agar konsisten dengan judul baru.</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Rencana Perbaikan</a:t>
            </a:r>
            <a:endParaRPr/>
          </a:p>
        </p:txBody>
      </p:sp>
      <p:sp>
        <p:nvSpPr>
          <p:cNvPr id="373" name="Google Shape;373;p67"/>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Menambahkan sub-bab atau paragraf khusus di BAB 2 yang secara eksplisit membedakan:</a:t>
            </a:r>
            <a:endParaRPr/>
          </a:p>
          <a:p>
            <a:pPr indent="-317500" lvl="1" marL="914400" marR="0" rtl="0" algn="l">
              <a:lnSpc>
                <a:spcPct val="115000"/>
              </a:lnSpc>
              <a:spcBef>
                <a:spcPts val="0"/>
              </a:spcBef>
              <a:spcAft>
                <a:spcPts val="0"/>
              </a:spcAft>
              <a:buSzPts val="1400"/>
              <a:buChar char="❏"/>
            </a:pPr>
            <a:r>
              <a:rPr b="1" lang="en-GB"/>
              <a:t>Emosi (Emotion):</a:t>
            </a:r>
            <a:r>
              <a:rPr lang="en-GB"/>
              <a:t> Kondisi afektif dasar (7 kategori: netral, senang, sedih, marah, jijik, terkejut, takut) — yang menjadi fokus penelitian ini</a:t>
            </a:r>
            <a:endParaRPr/>
          </a:p>
          <a:p>
            <a:pPr indent="-317500" lvl="1" marL="914400" marR="0" rtl="0" algn="l">
              <a:lnSpc>
                <a:spcPct val="115000"/>
              </a:lnSpc>
              <a:spcBef>
                <a:spcPts val="0"/>
              </a:spcBef>
              <a:spcAft>
                <a:spcPts val="0"/>
              </a:spcAft>
              <a:buSzPts val="1400"/>
              <a:buChar char="❏"/>
            </a:pPr>
            <a:r>
              <a:rPr b="1" lang="en-GB"/>
              <a:t>Engagement:</a:t>
            </a:r>
            <a:r>
              <a:rPr lang="en-GB"/>
              <a:t> Tingkat keterlibatan mahasiswa dalam pembelajaran — yang merupakan konsep berbeda dan lebih tinggi levelnya</a:t>
            </a:r>
            <a:endParaRPr/>
          </a:p>
          <a:p>
            <a:pPr indent="-317500" lvl="1" marL="914400" marR="0" rtl="0" algn="l">
              <a:lnSpc>
                <a:spcPct val="115000"/>
              </a:lnSpc>
              <a:spcBef>
                <a:spcPts val="0"/>
              </a:spcBef>
              <a:spcAft>
                <a:spcPts val="0"/>
              </a:spcAft>
              <a:buSzPts val="1400"/>
              <a:buChar char="❏"/>
            </a:pPr>
            <a:r>
              <a:rPr lang="en-GB"/>
              <a:t>Apakah perlu menambahkan mapping antara 7 emosi dasar ke indikator engagement? Atau cukup membedakan definisi saja?</a:t>
            </a:r>
            <a:endParaRPr/>
          </a:p>
          <a:p>
            <a:pPr indent="-342900" lvl="0" marL="457200" marR="0" rtl="0" algn="l">
              <a:lnSpc>
                <a:spcPct val="115000"/>
              </a:lnSpc>
              <a:spcBef>
                <a:spcPts val="0"/>
              </a:spcBef>
              <a:spcAft>
                <a:spcPts val="0"/>
              </a:spcAft>
              <a:buSzPts val="1800"/>
              <a:buChar char="❏"/>
            </a:pPr>
            <a:r>
              <a:rPr lang="en-GB"/>
              <a:t>Menambahkan sub-bab </a:t>
            </a:r>
            <a:r>
              <a:rPr lang="en-GB" sz="1800"/>
              <a:t>baru</a:t>
            </a:r>
            <a:r>
              <a:rPr lang="en-GB"/>
              <a:t> di BAB 2 tentang konsep Unimodal vs Multimodal Data:</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Pembagian Data</a:t>
            </a:r>
            <a:endParaRPr/>
          </a:p>
        </p:txBody>
      </p:sp>
      <p:sp>
        <p:nvSpPr>
          <p:cNvPr id="379" name="Google Shape;379;p68"/>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Opsi 1: Split 70:15:15 (train:validation:test) dengan stratified split berdasarkan kelas emosi</a:t>
            </a:r>
            <a:endParaRPr/>
          </a:p>
          <a:p>
            <a:pPr indent="-342900" lvl="0" marL="457200" marR="0" rtl="0" algn="l">
              <a:lnSpc>
                <a:spcPct val="115000"/>
              </a:lnSpc>
              <a:spcBef>
                <a:spcPts val="0"/>
              </a:spcBef>
              <a:spcAft>
                <a:spcPts val="0"/>
              </a:spcAft>
              <a:buSzPts val="1800"/>
              <a:buChar char="❏"/>
            </a:pPr>
            <a:r>
              <a:rPr lang="en-GB"/>
              <a:t>Opsi 2: Split 80:20 (train:test) dengan k-fold cross-validation</a:t>
            </a:r>
            <a:endParaRPr/>
          </a:p>
          <a:p>
            <a:pPr indent="-342900" lvl="0" marL="457200" marR="0" rtl="0" algn="l">
              <a:lnSpc>
                <a:spcPct val="115000"/>
              </a:lnSpc>
              <a:spcBef>
                <a:spcPts val="0"/>
              </a:spcBef>
              <a:spcAft>
                <a:spcPts val="0"/>
              </a:spcAft>
              <a:buSzPts val="1800"/>
              <a:buChar char="❏"/>
            </a:pPr>
            <a:r>
              <a:rPr lang="en-GB"/>
              <a:t>Opsi 3: Split berdasarkan partisipan (subject-independent split) untuk menghindari data leakage — misalnya 30 partisipan untuk training, 8 untuk testing</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Lain - Lain</a:t>
            </a:r>
            <a:endParaRPr/>
          </a:p>
        </p:txBody>
      </p:sp>
      <p:sp>
        <p:nvSpPr>
          <p:cNvPr id="385" name="Google Shape;385;p69"/>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Apakah sudah ada info lebih lanjut terkait Beasiswa Riset?</a:t>
            </a:r>
            <a:endParaRPr/>
          </a:p>
          <a:p>
            <a:pPr indent="-342900" lvl="0" marL="457200" marR="0" rtl="0" algn="l">
              <a:lnSpc>
                <a:spcPct val="115000"/>
              </a:lnSpc>
              <a:spcBef>
                <a:spcPts val="0"/>
              </a:spcBef>
              <a:spcAft>
                <a:spcPts val="0"/>
              </a:spcAft>
              <a:buSzPts val="1800"/>
              <a:buChar char="❏"/>
            </a:pPr>
            <a:r>
              <a:rPr lang="en-GB"/>
              <a:t>Apakah progress development Stress Diary perlu disampaikan dan didemokan pada bimbingan kali ini?</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Bimbingan</a:t>
            </a:r>
            <a:endParaRPr/>
          </a:p>
          <a:p>
            <a:pPr indent="0" lvl="0" marL="0" rtl="0" algn="ctr">
              <a:spcBef>
                <a:spcPts val="0"/>
              </a:spcBef>
              <a:spcAft>
                <a:spcPts val="0"/>
              </a:spcAft>
              <a:buNone/>
            </a:pPr>
            <a:r>
              <a:rPr lang="en-GB"/>
              <a:t>/04/2026</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396" name="Google Shape;396;p71"/>
          <p:cNvSpPr txBox="1"/>
          <p:nvPr>
            <p:ph idx="1" type="body"/>
          </p:nvPr>
        </p:nvSpPr>
        <p:spPr>
          <a:xfrm>
            <a:off x="311700" y="1152475"/>
            <a:ext cx="8520600" cy="36411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en-GB"/>
              <a:t>Progress pengumpulan dan preprocessing data</a:t>
            </a:r>
            <a:endParaRPr/>
          </a:p>
          <a:p>
            <a:pPr indent="-342900" lvl="0" marL="457200" marR="0" rtl="0" algn="l">
              <a:lnSpc>
                <a:spcPct val="115000"/>
              </a:lnSpc>
              <a:spcBef>
                <a:spcPts val="0"/>
              </a:spcBef>
              <a:spcAft>
                <a:spcPts val="0"/>
              </a:spcAft>
              <a:buSzPts val="1800"/>
              <a:buChar char="❏"/>
            </a:pPr>
            <a:r>
              <a:rPr lang="en-GB"/>
              <a:t>Statistik dataset yang dihasilkan</a:t>
            </a:r>
            <a:endParaRPr/>
          </a:p>
          <a:p>
            <a:pPr indent="-342900" lvl="0" marL="457200" marR="0" rtl="0" algn="l">
              <a:lnSpc>
                <a:spcPct val="115000"/>
              </a:lnSpc>
              <a:spcBef>
                <a:spcPts val="0"/>
              </a:spcBef>
              <a:spcAft>
                <a:spcPts val="0"/>
              </a:spcAft>
              <a:buSzPts val="1800"/>
              <a:buChar char="❏"/>
            </a:pPr>
            <a:r>
              <a:rPr lang="en-GB"/>
              <a:t>Konsultasi: Validasi ahli psikologi</a:t>
            </a:r>
            <a:endParaRPr/>
          </a:p>
          <a:p>
            <a:pPr indent="-342900" lvl="0" marL="457200" marR="0" rtl="0" algn="l">
              <a:lnSpc>
                <a:spcPct val="115000"/>
              </a:lnSpc>
              <a:spcBef>
                <a:spcPts val="0"/>
              </a:spcBef>
              <a:spcAft>
                <a:spcPts val="0"/>
              </a:spcAft>
              <a:buSzPts val="1800"/>
              <a:buChar char="❏"/>
            </a:pPr>
            <a:r>
              <a:rPr lang="en-GB"/>
              <a:t>Konsultasi: Strategi penanganan class imbalance</a:t>
            </a:r>
            <a:endParaRPr/>
          </a:p>
          <a:p>
            <a:pPr indent="-342900" lvl="0" marL="457200" marR="0" rtl="0" algn="l">
              <a:lnSpc>
                <a:spcPct val="115000"/>
              </a:lnSpc>
              <a:spcBef>
                <a:spcPts val="0"/>
              </a:spcBef>
              <a:spcAft>
                <a:spcPts val="0"/>
              </a:spcAft>
              <a:buSzPts val="1800"/>
              <a:buChar char="❏"/>
            </a:pPr>
            <a:r>
              <a:rPr lang="en-GB"/>
              <a:t>Rencana selanjutnya</a:t>
            </a:r>
            <a:endParaRPr/>
          </a:p>
          <a:p>
            <a:pPr indent="0" lvl="0" marL="0" marR="0" rtl="0" algn="l">
              <a:lnSpc>
                <a:spcPct val="115000"/>
              </a:lnSpc>
              <a:spcBef>
                <a:spcPts val="1200"/>
              </a:spcBef>
              <a:spcAft>
                <a:spcPts val="1200"/>
              </a:spcAft>
              <a:buNone/>
            </a:pPr>
            <a:r>
              <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Data yang Terkumpul</a:t>
            </a:r>
          </a:p>
        </p:txBody>
      </p:sp>
      <p:graphicFrame>
        <p:nvGraphicFramePr>
          <p:cNvPr id="3" name="Table 2"/>
          <p:cNvGraphicFramePr>
            <a:graphicFrameLocks noGrp="1"/>
          </p:cNvGraphicFramePr>
          <p:nvPr/>
        </p:nvGraphicFramePr>
        <p:xfrm>
          <a:off x="457200" y="1097280"/>
          <a:ext cx="8229600" cy="1371600"/>
        </p:xfrm>
        <a:graphic>
          <a:graphicData uri="http://schemas.openxmlformats.org/drawingml/2006/table">
            <a:tbl>
              <a:tblPr firstRow="1" bandRow="1">
                <a:tableStyleId>{5C22544A-7EE6-4342-B048-85BDC9FD1C3A}</a:tableStyleId>
              </a:tblPr>
              <a:tblGrid>
                <a:gridCol w="1828800"/>
                <a:gridCol w="2286000"/>
                <a:gridCol w="2286000"/>
                <a:gridCol w="1828800"/>
              </a:tblGrid>
              <a:tr h="342900">
                <a:tc>
                  <a:txBody>
                    <a:bodyPr/>
                    <a:lstStyle/>
                    <a:p>
                      <a:pPr algn="ctr"/>
                      <a:r>
                        <a:rPr sz="1000" b="1">
                          <a:solidFill>
                            <a:srgbClr val="FFFFFF"/>
                          </a:solidFill>
                        </a:rPr>
                        <a:t>Batch</a:t>
                      </a:r>
                    </a:p>
                  </a:txBody>
                  <a:tcPr>
                    <a:solidFill>
                      <a:srgbClr val="1A73E8"/>
                    </a:solidFill>
                  </a:tcPr>
                </a:tc>
                <a:tc>
                  <a:txBody>
                    <a:bodyPr/>
                    <a:lstStyle/>
                    <a:p>
                      <a:pPr algn="ctr"/>
                      <a:r>
                        <a:rPr sz="1000" b="1">
                          <a:solidFill>
                            <a:srgbClr val="FFFFFF"/>
                          </a:solidFill>
                        </a:rPr>
                        <a:t>Jumlah Mahasiswa</a:t>
                      </a:r>
                    </a:p>
                  </a:txBody>
                  <a:tcPr>
                    <a:solidFill>
                      <a:srgbClr val="1A73E8"/>
                    </a:solidFill>
                  </a:tcPr>
                </a:tc>
                <a:tc>
                  <a:txBody>
                    <a:bodyPr/>
                    <a:lstStyle/>
                    <a:p>
                      <a:pPr algn="ctr"/>
                      <a:r>
                        <a:rPr sz="1000" b="1">
                          <a:solidFill>
                            <a:srgbClr val="FFFFFF"/>
                          </a:solidFill>
                        </a:rPr>
                        <a:t>Sudut Kamera</a:t>
                      </a:r>
                    </a:p>
                  </a:txBody>
                  <a:tcPr>
                    <a:solidFill>
                      <a:srgbClr val="1A73E8"/>
                    </a:solidFill>
                  </a:tcPr>
                </a:tc>
                <a:tc>
                  <a:txBody>
                    <a:bodyPr/>
                    <a:lstStyle/>
                    <a:p>
                      <a:pPr algn="ctr"/>
                      <a:r>
                        <a:rPr sz="1000" b="1">
                          <a:solidFill>
                            <a:srgbClr val="FFFFFF"/>
                          </a:solidFill>
                        </a:rPr>
                        <a:t>Periode</a:t>
                      </a:r>
                    </a:p>
                  </a:txBody>
                  <a:tcPr>
                    <a:solidFill>
                      <a:srgbClr val="1A73E8"/>
                    </a:solidFill>
                  </a:tcPr>
                </a:tc>
              </a:tr>
              <a:tr h="342900">
                <a:tc>
                  <a:txBody>
                    <a:bodyPr/>
                    <a:lstStyle/>
                    <a:p>
                      <a:pPr algn="l"/>
                      <a:r>
                        <a:rPr sz="900">
                          <a:solidFill>
                            <a:srgbClr val="202020"/>
                          </a:solidFill>
                        </a:rPr>
                        <a:t>Batch 1 (lama)</a:t>
                      </a:r>
                    </a:p>
                  </a:txBody>
                  <a:tcPr>
                    <a:solidFill>
                      <a:srgbClr val="E8F0FE"/>
                    </a:solidFill>
                  </a:tcPr>
                </a:tc>
                <a:tc>
                  <a:txBody>
                    <a:bodyPr/>
                    <a:lstStyle/>
                    <a:p>
                      <a:pPr algn="ctr"/>
                      <a:r>
                        <a:rPr sz="900">
                          <a:solidFill>
                            <a:srgbClr val="202020"/>
                          </a:solidFill>
                        </a:rPr>
                        <a:t>20 mahasiswa</a:t>
                      </a:r>
                    </a:p>
                  </a:txBody>
                  <a:tcPr>
                    <a:solidFill>
                      <a:srgbClr val="E8F0FE"/>
                    </a:solidFill>
                  </a:tcPr>
                </a:tc>
                <a:tc>
                  <a:txBody>
                    <a:bodyPr/>
                    <a:lstStyle/>
                    <a:p>
                      <a:pPr algn="ctr"/>
                      <a:r>
                        <a:rPr sz="900">
                          <a:solidFill>
                            <a:srgbClr val="202020"/>
                          </a:solidFill>
                        </a:rPr>
                        <a:t>Depan saja</a:t>
                      </a:r>
                    </a:p>
                  </a:txBody>
                  <a:tcPr>
                    <a:solidFill>
                      <a:srgbClr val="E8F0FE"/>
                    </a:solidFill>
                  </a:tcPr>
                </a:tc>
                <a:tc>
                  <a:txBody>
                    <a:bodyPr/>
                    <a:lstStyle/>
                    <a:p>
                      <a:pPr algn="ctr"/>
                      <a:r>
                        <a:rPr sz="900">
                          <a:solidFill>
                            <a:srgbClr val="202020"/>
                          </a:solidFill>
                        </a:rPr>
                        <a:t>April-Mei 2025</a:t>
                      </a:r>
                    </a:p>
                  </a:txBody>
                  <a:tcPr>
                    <a:solidFill>
                      <a:srgbClr val="E8F0FE"/>
                    </a:solidFill>
                  </a:tcPr>
                </a:tc>
              </a:tr>
              <a:tr h="342900">
                <a:tc>
                  <a:txBody>
                    <a:bodyPr/>
                    <a:lstStyle/>
                    <a:p>
                      <a:pPr algn="l"/>
                      <a:r>
                        <a:rPr sz="900">
                          <a:solidFill>
                            <a:srgbClr val="202020"/>
                          </a:solidFill>
                        </a:rPr>
                        <a:t>Batch 2 (baru)</a:t>
                      </a:r>
                    </a:p>
                  </a:txBody>
                  <a:tcPr>
                    <a:solidFill>
                      <a:srgbClr val="FFFFFF"/>
                    </a:solidFill>
                  </a:tcPr>
                </a:tc>
                <a:tc>
                  <a:txBody>
                    <a:bodyPr/>
                    <a:lstStyle/>
                    <a:p>
                      <a:pPr algn="ctr"/>
                      <a:r>
                        <a:rPr sz="900">
                          <a:solidFill>
                            <a:srgbClr val="202020"/>
                          </a:solidFill>
                        </a:rPr>
                        <a:t>17 mahasiswa</a:t>
                      </a:r>
                    </a:p>
                  </a:txBody>
                  <a:tcPr>
                    <a:solidFill>
                      <a:srgbClr val="FFFFFF"/>
                    </a:solidFill>
                  </a:tcPr>
                </a:tc>
                <a:tc>
                  <a:txBody>
                    <a:bodyPr/>
                    <a:lstStyle/>
                    <a:p>
                      <a:pPr algn="ctr"/>
                      <a:r>
                        <a:rPr sz="900">
                          <a:solidFill>
                            <a:srgbClr val="202020"/>
                          </a:solidFill>
                        </a:rPr>
                        <a:t>Depan + Samping</a:t>
                      </a:r>
                    </a:p>
                  </a:txBody>
                  <a:tcPr>
                    <a:solidFill>
                      <a:srgbClr val="FFFFFF"/>
                    </a:solidFill>
                  </a:tcPr>
                </a:tc>
                <a:tc>
                  <a:txBody>
                    <a:bodyPr/>
                    <a:lstStyle/>
                    <a:p>
                      <a:pPr algn="ctr"/>
                      <a:r>
                        <a:rPr sz="900">
                          <a:solidFill>
                            <a:srgbClr val="202020"/>
                          </a:solidFill>
                        </a:rPr>
                        <a:t>November 2025</a:t>
                      </a:r>
                    </a:p>
                  </a:txBody>
                  <a:tcPr>
                    <a:solidFill>
                      <a:srgbClr val="FFFFFF"/>
                    </a:solidFill>
                  </a:tcPr>
                </a:tc>
              </a:tr>
              <a:tr h="342900">
                <a:tc>
                  <a:txBody>
                    <a:bodyPr/>
                    <a:lstStyle/>
                    <a:p>
                      <a:pPr algn="l"/>
                      <a:r>
                        <a:rPr sz="900">
                          <a:solidFill>
                            <a:srgbClr val="202020"/>
                          </a:solidFill>
                        </a:rPr>
                        <a:t>Total</a:t>
                      </a:r>
                    </a:p>
                  </a:txBody>
                  <a:tcPr>
                    <a:solidFill>
                      <a:srgbClr val="E8F0FE"/>
                    </a:solidFill>
                  </a:tcPr>
                </a:tc>
                <a:tc>
                  <a:txBody>
                    <a:bodyPr/>
                    <a:lstStyle/>
                    <a:p>
                      <a:pPr algn="ctr"/>
                      <a:r>
                        <a:rPr sz="900">
                          <a:solidFill>
                            <a:srgbClr val="202020"/>
                          </a:solidFill>
                        </a:rPr>
                        <a:t>37 mahasiswa</a:t>
                      </a:r>
                    </a:p>
                  </a:txBody>
                  <a:tcPr>
                    <a:solidFill>
                      <a:srgbClr val="E8F0FE"/>
                    </a:solidFill>
                  </a:tcPr>
                </a:tc>
                <a:tc>
                  <a:txBody>
                    <a:bodyPr/>
                    <a:lstStyle/>
                    <a:p>
                      <a:pPr algn="ctr"/>
                      <a:r>
                        <a:rPr sz="900">
                          <a:solidFill>
                            <a:srgbClr val="202020"/>
                          </a:solidFill>
                        </a:rPr>
                        <a:t/>
                      </a:r>
                    </a:p>
                  </a:txBody>
                  <a:tcPr>
                    <a:solidFill>
                      <a:srgbClr val="E8F0FE"/>
                    </a:solidFill>
                  </a:tcPr>
                </a:tc>
                <a:tc>
                  <a:txBody>
                    <a:bodyPr/>
                    <a:lstStyle/>
                    <a:p>
                      <a:pPr algn="ctr"/>
                      <a:r>
                        <a:rPr sz="900">
                          <a:solidFill>
                            <a:srgbClr val="202020"/>
                          </a:solidFill>
                        </a:rPr>
                        <a:t/>
                      </a:r>
                    </a:p>
                  </a:txBody>
                  <a:tcPr>
                    <a:solidFill>
                      <a:srgbClr val="E8F0FE"/>
                    </a:solidFill>
                  </a:tcPr>
                </a:tc>
              </a:tr>
            </a:tbl>
          </a:graphicData>
        </a:graphic>
      </p:graphicFrame>
      <p:sp>
        <p:nvSpPr>
          <p:cNvPr id="4" name="TextBox 3"/>
          <p:cNvSpPr txBox="1"/>
          <p:nvPr/>
        </p:nvSpPr>
        <p:spPr>
          <a:xfrm>
            <a:off x="457200" y="2651760"/>
            <a:ext cx="8229600" cy="1097280"/>
          </a:xfrm>
          <a:prstGeom prst="rect">
            <a:avLst/>
          </a:prstGeom>
          <a:noFill/>
        </p:spPr>
        <p:txBody>
          <a:bodyPr wrap="square">
            <a:spAutoFit/>
          </a:bodyPr>
          <a:lstStyle/>
          <a:p>
            <a:pPr>
              <a:defRPr sz="1100">
                <a:solidFill>
                  <a:srgbClr val="202020"/>
                </a:solidFill>
              </a:defRPr>
            </a:pPr>
            <a:r>
              <a:t>Catatan Batch 2: Awalnya direkam 20 mahasiswa, namun 3 file rekaman tidak tersimpan</a:t>
            </a:r>
          </a:p>
          <a:p>
            <a:pPr>
              <a:defRPr sz="1100">
                <a:solidFill>
                  <a:srgbClr val="202020"/>
                </a:solidFill>
              </a:defRPr>
            </a:pPr>
            <a:r>
              <a:t>di hardisk PC perekaman. Setelah ditelusuri, file gagal tersimpan saat proses recording.</a:t>
            </a:r>
          </a:p>
          <a:p>
            <a:pPr>
              <a:defRPr sz="1100">
                <a:solidFill>
                  <a:srgbClr val="202020"/>
                </a:solidFill>
              </a:defRPr>
            </a:pPr>
            <a:r>
              <a:t>Target proposal: 38 mahasiswa  |  Tersedia: 37 mahasiswa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Pipeline Preprocessing</a:t>
            </a:r>
          </a:p>
        </p:txBody>
      </p:sp>
      <p:graphicFrame>
        <p:nvGraphicFramePr>
          <p:cNvPr id="3" name="Table 2"/>
          <p:cNvGraphicFramePr>
            <a:graphicFrameLocks noGrp="1"/>
          </p:cNvGraphicFramePr>
          <p:nvPr/>
        </p:nvGraphicFramePr>
        <p:xfrm>
          <a:off x="457200" y="1097280"/>
          <a:ext cx="8229600" cy="2286000"/>
        </p:xfrm>
        <a:graphic>
          <a:graphicData uri="http://schemas.openxmlformats.org/drawingml/2006/table">
            <a:tbl>
              <a:tblPr firstRow="1" bandRow="1">
                <a:tableStyleId>{5C22544A-7EE6-4342-B048-85BDC9FD1C3A}</a:tableStyleId>
              </a:tblPr>
              <a:tblGrid>
                <a:gridCol w="2286000"/>
                <a:gridCol w="3657600"/>
                <a:gridCol w="2286000"/>
              </a:tblGrid>
              <a:tr h="457200">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Proses</a:t>
                      </a:r>
                    </a:p>
                  </a:txBody>
                  <a:tcPr>
                    <a:solidFill>
                      <a:srgbClr val="1A73E8"/>
                    </a:solidFill>
                  </a:tcPr>
                </a:tc>
                <a:tc>
                  <a:txBody>
                    <a:bodyPr/>
                    <a:lstStyle/>
                    <a:p>
                      <a:pPr algn="ctr"/>
                      <a:r>
                        <a:rPr sz="1000" b="1">
                          <a:solidFill>
                            <a:srgbClr val="FFFFFF"/>
                          </a:solidFill>
                        </a:rPr>
                        <a:t>Tool / Output</a:t>
                      </a:r>
                    </a:p>
                  </a:txBody>
                  <a:tcPr>
                    <a:solidFill>
                      <a:srgbClr val="1A73E8"/>
                    </a:solidFill>
                  </a:tcPr>
                </a:tc>
              </a:tr>
              <a:tr h="457200">
                <a:tc>
                  <a:txBody>
                    <a:bodyPr/>
                    <a:lstStyle/>
                    <a:p>
                      <a:pPr algn="l"/>
                      <a:r>
                        <a:rPr sz="1000">
                          <a:solidFill>
                            <a:srgbClr val="202020"/>
                          </a:solidFill>
                        </a:rPr>
                        <a:t>1. Ekstraksi Frame</a:t>
                      </a:r>
                    </a:p>
                  </a:txBody>
                  <a:tcPr>
                    <a:solidFill>
                      <a:srgbClr val="E8F0FE"/>
                    </a:solidFill>
                  </a:tcPr>
                </a:tc>
                <a:tc>
                  <a:txBody>
                    <a:bodyPr/>
                    <a:lstStyle/>
                    <a:p>
                      <a:pPr algn="ctr"/>
                      <a:r>
                        <a:rPr sz="1000">
                          <a:solidFill>
                            <a:srgbClr val="202020"/>
                          </a:solidFill>
                        </a:rPr>
                        <a:t>Berdasarkan timestamp emosi di database</a:t>
                      </a:r>
                    </a:p>
                  </a:txBody>
                  <a:tcPr>
                    <a:solidFill>
                      <a:srgbClr val="E8F0FE"/>
                    </a:solidFill>
                  </a:tcPr>
                </a:tc>
                <a:tc>
                  <a:txBody>
                    <a:bodyPr/>
                    <a:lstStyle/>
                    <a:p>
                      <a:pPr algn="ctr"/>
                      <a:r>
                        <a:rPr sz="1000">
                          <a:solidFill>
                            <a:srgbClr val="202020"/>
                          </a:solidFill>
                        </a:rPr>
                        <a:t>ffmpeg → frame berlabel</a:t>
                      </a:r>
                    </a:p>
                  </a:txBody>
                  <a:tcPr>
                    <a:solidFill>
                      <a:srgbClr val="E8F0FE"/>
                    </a:solidFill>
                  </a:tcPr>
                </a:tc>
              </a:tr>
              <a:tr h="457200">
                <a:tc>
                  <a:txBody>
                    <a:bodyPr/>
                    <a:lstStyle/>
                    <a:p>
                      <a:pPr algn="l"/>
                      <a:r>
                        <a:rPr sz="1000">
                          <a:solidFill>
                            <a:srgbClr val="202020"/>
                          </a:solidFill>
                        </a:rPr>
                        <a:t>2. Face Detection</a:t>
                      </a:r>
                    </a:p>
                  </a:txBody>
                  <a:tcPr>
                    <a:solidFill>
                      <a:srgbClr val="FFFFFF"/>
                    </a:solidFill>
                  </a:tcPr>
                </a:tc>
                <a:tc>
                  <a:txBody>
                    <a:bodyPr/>
                    <a:lstStyle/>
                    <a:p>
                      <a:pPr algn="ctr"/>
                      <a:r>
                        <a:rPr sz="1000">
                          <a:solidFill>
                            <a:srgbClr val="202020"/>
                          </a:solidFill>
                        </a:rPr>
                        <a:t>Deteksi &amp; crop wajah 224x224 px</a:t>
                      </a:r>
                    </a:p>
                  </a:txBody>
                  <a:tcPr>
                    <a:solidFill>
                      <a:srgbClr val="FFFFFF"/>
                    </a:solidFill>
                  </a:tcPr>
                </a:tc>
                <a:tc>
                  <a:txBody>
                    <a:bodyPr/>
                    <a:lstStyle/>
                    <a:p>
                      <a:pPr algn="ctr"/>
                      <a:r>
                        <a:rPr sz="1000">
                          <a:solidFill>
                            <a:srgbClr val="202020"/>
                          </a:solidFill>
                        </a:rPr>
                        <a:t>MediaPipe (bukan dlib)</a:t>
                      </a:r>
                    </a:p>
                  </a:txBody>
                  <a:tcPr>
                    <a:solidFill>
                      <a:srgbClr val="FFFFFF"/>
                    </a:solidFill>
                  </a:tcPr>
                </a:tc>
              </a:tr>
              <a:tr h="457200">
                <a:tc>
                  <a:txBody>
                    <a:bodyPr/>
                    <a:lstStyle/>
                    <a:p>
                      <a:pPr algn="l"/>
                      <a:r>
                        <a:rPr sz="1000">
                          <a:solidFill>
                            <a:srgbClr val="202020"/>
                          </a:solidFill>
                        </a:rPr>
                        <a:t>3. Landmark Extraction</a:t>
                      </a:r>
                    </a:p>
                  </a:txBody>
                  <a:tcPr>
                    <a:solidFill>
                      <a:srgbClr val="E8F0FE"/>
                    </a:solidFill>
                  </a:tcPr>
                </a:tc>
                <a:tc>
                  <a:txBody>
                    <a:bodyPr/>
                    <a:lstStyle/>
                    <a:p>
                      <a:pPr algn="ctr"/>
                      <a:r>
                        <a:rPr sz="1000">
                          <a:solidFill>
                            <a:srgbClr val="202020"/>
                          </a:solidFill>
                        </a:rPr>
                        <a:t>478 titik → map ke 68 titik standar</a:t>
                      </a:r>
                    </a:p>
                  </a:txBody>
                  <a:tcPr>
                    <a:solidFill>
                      <a:srgbClr val="E8F0FE"/>
                    </a:solidFill>
                  </a:tcPr>
                </a:tc>
                <a:tc>
                  <a:txBody>
                    <a:bodyPr/>
                    <a:lstStyle/>
                    <a:p>
                      <a:pPr algn="ctr"/>
                      <a:r>
                        <a:rPr sz="1000">
                          <a:solidFill>
                            <a:srgbClr val="202020"/>
                          </a:solidFill>
                        </a:rPr>
                        <a:t>68 titik → 136 fitur (x,y)</a:t>
                      </a:r>
                    </a:p>
                  </a:txBody>
                  <a:tcPr>
                    <a:solidFill>
                      <a:srgbClr val="E8F0FE"/>
                    </a:solidFill>
                  </a:tcPr>
                </a:tc>
              </a:tr>
              <a:tr h="457200">
                <a:tc>
                  <a:txBody>
                    <a:bodyPr/>
                    <a:lstStyle/>
                    <a:p>
                      <a:pPr algn="l"/>
                      <a:r>
                        <a:rPr sz="1000">
                          <a:solidFill>
                            <a:srgbClr val="202020"/>
                          </a:solidFill>
                        </a:rPr>
                        <a:t>4. Dataset Preparation</a:t>
                      </a:r>
                    </a:p>
                  </a:txBody>
                  <a:tcPr>
                    <a:solidFill>
                      <a:srgbClr val="FFFFFF"/>
                    </a:solidFill>
                  </a:tcPr>
                </a:tc>
                <a:tc>
                  <a:txBody>
                    <a:bodyPr/>
                    <a:lstStyle/>
                    <a:p>
                      <a:pPr algn="ctr"/>
                      <a:r>
                        <a:rPr sz="1000">
                          <a:solidFill>
                            <a:srgbClr val="202020"/>
                          </a:solidFill>
                        </a:rPr>
                        <a:t>Matching label + split train/val/test</a:t>
                      </a:r>
                    </a:p>
                  </a:txBody>
                  <a:tcPr>
                    <a:solidFill>
                      <a:srgbClr val="FFFFFF"/>
                    </a:solidFill>
                  </a:tcPr>
                </a:tc>
                <a:tc>
                  <a:txBody>
                    <a:bodyPr/>
                    <a:lstStyle/>
                    <a:p>
                      <a:pPr algn="ctr"/>
                      <a:r>
                        <a:rPr sz="1000">
                          <a:solidFill>
                            <a:srgbClr val="202020"/>
                          </a:solidFill>
                        </a:rPr>
                        <a:t>User-based split</a:t>
                      </a:r>
                    </a:p>
                  </a:txBody>
                  <a:tcPr>
                    <a:solidFill>
                      <a:srgbClr val="FFFFFF"/>
                    </a:solidFill>
                  </a:tcPr>
                </a:tc>
              </a:tr>
            </a:tbl>
          </a:graphicData>
        </a:graphic>
      </p:graphicFrame>
      <p:sp>
        <p:nvSpPr>
          <p:cNvPr id="4" name="TextBox 3"/>
          <p:cNvSpPr txBox="1"/>
          <p:nvPr/>
        </p:nvSpPr>
        <p:spPr>
          <a:xfrm>
            <a:off x="457200" y="3566160"/>
            <a:ext cx="8229600" cy="365760"/>
          </a:xfrm>
          <a:prstGeom prst="rect">
            <a:avLst/>
          </a:prstGeom>
          <a:noFill/>
        </p:spPr>
        <p:txBody>
          <a:bodyPr wrap="square">
            <a:spAutoFit/>
          </a:bodyPr>
          <a:lstStyle/>
          <a:p>
            <a:pPr>
              <a:defRPr sz="1000">
                <a:solidFill>
                  <a:srgbClr val="202020"/>
                </a:solidFill>
              </a:defRPr>
            </a:pPr>
            <a:r>
              <a:t>Perubahan dari proposal: dlib diganti MediaPipe karena dlib tidak support side view (batch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Preprocessing</a:t>
            </a:r>
          </a:p>
        </p:txBody>
      </p:sp>
      <p:graphicFrame>
        <p:nvGraphicFramePr>
          <p:cNvPr id="3" name="Table 2"/>
          <p:cNvGraphicFramePr>
            <a:graphicFrameLocks noGrp="1"/>
          </p:cNvGraphicFramePr>
          <p:nvPr/>
        </p:nvGraphicFramePr>
        <p:xfrm>
          <a:off x="457200" y="1097280"/>
          <a:ext cx="5486400" cy="2011680"/>
        </p:xfrm>
        <a:graphic>
          <a:graphicData uri="http://schemas.openxmlformats.org/drawingml/2006/table">
            <a:tbl>
              <a:tblPr firstRow="1" bandRow="1">
                <a:tableStyleId>{5C22544A-7EE6-4342-B048-85BDC9FD1C3A}</a:tableStyleId>
              </a:tblPr>
              <a:tblGrid>
                <a:gridCol w="2286000"/>
                <a:gridCol w="1097280"/>
                <a:gridCol w="1097280"/>
                <a:gridCol w="1005840"/>
              </a:tblGrid>
              <a:tr h="402336">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Batch 1</a:t>
                      </a:r>
                    </a:p>
                  </a:txBody>
                  <a:tcPr>
                    <a:solidFill>
                      <a:srgbClr val="1A73E8"/>
                    </a:solidFill>
                  </a:tcPr>
                </a:tc>
                <a:tc>
                  <a:txBody>
                    <a:bodyPr/>
                    <a:lstStyle/>
                    <a:p>
                      <a:pPr algn="ctr"/>
                      <a:r>
                        <a:rPr sz="1000" b="1">
                          <a:solidFill>
                            <a:srgbClr val="FFFFFF"/>
                          </a:solidFill>
                        </a:rPr>
                        <a:t>Batch 2</a:t>
                      </a:r>
                    </a:p>
                  </a:txBody>
                  <a:tcPr>
                    <a:solidFill>
                      <a:srgbClr val="1A73E8"/>
                    </a:solidFill>
                  </a:tcPr>
                </a:tc>
                <a:tc>
                  <a:txBody>
                    <a:bodyPr/>
                    <a:lstStyle/>
                    <a:p>
                      <a:pPr algn="ctr"/>
                      <a:r>
                        <a:rPr sz="1000" b="1">
                          <a:solidFill>
                            <a:srgbClr val="FFFFFF"/>
                          </a:solidFill>
                        </a:rPr>
                        <a:t>Total</a:t>
                      </a:r>
                    </a:p>
                  </a:txBody>
                  <a:tcPr>
                    <a:solidFill>
                      <a:srgbClr val="1A73E8"/>
                    </a:solidFill>
                  </a:tcPr>
                </a:tc>
              </a:tr>
              <a:tr h="402336">
                <a:tc>
                  <a:txBody>
                    <a:bodyPr/>
                    <a:lstStyle/>
                    <a:p>
                      <a:pPr algn="l"/>
                      <a:r>
                        <a:rPr sz="1000">
                          <a:solidFill>
                            <a:srgbClr val="202020"/>
                          </a:solidFill>
                        </a:rPr>
                        <a:t>Frame diekstrak</a:t>
                      </a:r>
                    </a:p>
                  </a:txBody>
                  <a:tcPr>
                    <a:solidFill>
                      <a:srgbClr val="E8F0FE"/>
                    </a:solidFill>
                  </a:tcPr>
                </a:tc>
                <a:tc>
                  <a:txBody>
                    <a:bodyPr/>
                    <a:lstStyle/>
                    <a:p>
                      <a:pPr algn="ctr"/>
                      <a:r>
                        <a:rPr sz="1000">
                          <a:solidFill>
                            <a:srgbClr val="202020"/>
                          </a:solidFill>
                        </a:rPr>
                        <a:t>3,849</a:t>
                      </a:r>
                    </a:p>
                  </a:txBody>
                  <a:tcPr>
                    <a:solidFill>
                      <a:srgbClr val="E8F0FE"/>
                    </a:solidFill>
                  </a:tcPr>
                </a:tc>
                <a:tc>
                  <a:txBody>
                    <a:bodyPr/>
                    <a:lstStyle/>
                    <a:p>
                      <a:pPr algn="ctr"/>
                      <a:r>
                        <a:rPr sz="1000">
                          <a:solidFill>
                            <a:srgbClr val="202020"/>
                          </a:solidFill>
                        </a:rPr>
                        <a:t>6,553</a:t>
                      </a:r>
                    </a:p>
                  </a:txBody>
                  <a:tcPr>
                    <a:solidFill>
                      <a:srgbClr val="E8F0FE"/>
                    </a:solidFill>
                  </a:tcPr>
                </a:tc>
                <a:tc>
                  <a:txBody>
                    <a:bodyPr/>
                    <a:lstStyle/>
                    <a:p>
                      <a:pPr algn="ctr"/>
                      <a:r>
                        <a:rPr sz="1000">
                          <a:solidFill>
                            <a:srgbClr val="202020"/>
                          </a:solidFill>
                        </a:rPr>
                        <a:t>10,402</a:t>
                      </a:r>
                    </a:p>
                  </a:txBody>
                  <a:tcPr>
                    <a:solidFill>
                      <a:srgbClr val="E8F0FE"/>
                    </a:solidFill>
                  </a:tcPr>
                </a:tc>
              </a:tr>
              <a:tr h="402336">
                <a:tc>
                  <a:txBody>
                    <a:bodyPr/>
                    <a:lstStyle/>
                    <a:p>
                      <a:pPr algn="l"/>
                      <a:r>
                        <a:rPr sz="1000">
                          <a:solidFill>
                            <a:srgbClr val="202020"/>
                          </a:solidFill>
                        </a:rPr>
                        <a:t>Face terdeteksi</a:t>
                      </a:r>
                    </a:p>
                  </a:txBody>
                  <a:tcPr>
                    <a:solidFill>
                      <a:srgbClr val="FFFFFF"/>
                    </a:solidFill>
                  </a:tcPr>
                </a:tc>
                <a:tc>
                  <a:txBody>
                    <a:bodyPr/>
                    <a:lstStyle/>
                    <a:p>
                      <a:pPr algn="ctr"/>
                      <a:r>
                        <a:rPr sz="1000">
                          <a:solidFill>
                            <a:srgbClr val="202020"/>
                          </a:solidFill>
                        </a:rPr>
                        <a:t>3,824</a:t>
                      </a:r>
                    </a:p>
                  </a:txBody>
                  <a:tcPr>
                    <a:solidFill>
                      <a:srgbClr val="FFFFFF"/>
                    </a:solidFill>
                  </a:tcPr>
                </a:tc>
                <a:tc>
                  <a:txBody>
                    <a:bodyPr/>
                    <a:lstStyle/>
                    <a:p>
                      <a:pPr algn="ctr"/>
                      <a:r>
                        <a:rPr sz="1000">
                          <a:solidFill>
                            <a:srgbClr val="202020"/>
                          </a:solidFill>
                        </a:rPr>
                        <a:t>6,070</a:t>
                      </a:r>
                    </a:p>
                  </a:txBody>
                  <a:tcPr>
                    <a:solidFill>
                      <a:srgbClr val="FFFFFF"/>
                    </a:solidFill>
                  </a:tcPr>
                </a:tc>
                <a:tc>
                  <a:txBody>
                    <a:bodyPr/>
                    <a:lstStyle/>
                    <a:p>
                      <a:pPr algn="ctr"/>
                      <a:r>
                        <a:rPr sz="1000">
                          <a:solidFill>
                            <a:srgbClr val="202020"/>
                          </a:solidFill>
                        </a:rPr>
                        <a:t>9,894</a:t>
                      </a:r>
                    </a:p>
                  </a:txBody>
                  <a:tcPr>
                    <a:solidFill>
                      <a:srgbClr val="FFFFFF"/>
                    </a:solidFill>
                  </a:tcPr>
                </a:tc>
              </a:tr>
              <a:tr h="402336">
                <a:tc>
                  <a:txBody>
                    <a:bodyPr/>
                    <a:lstStyle/>
                    <a:p>
                      <a:pPr algn="l"/>
                      <a:r>
                        <a:rPr sz="1000">
                          <a:solidFill>
                            <a:srgbClr val="202020"/>
                          </a:solidFill>
                        </a:rPr>
                        <a:t>Gagal deteksi</a:t>
                      </a:r>
                    </a:p>
                  </a:txBody>
                  <a:tcPr>
                    <a:solidFill>
                      <a:srgbClr val="E8F0FE"/>
                    </a:solidFill>
                  </a:tcPr>
                </a:tc>
                <a:tc>
                  <a:txBody>
                    <a:bodyPr/>
                    <a:lstStyle/>
                    <a:p>
                      <a:pPr algn="ctr"/>
                      <a:r>
                        <a:rPr sz="1000">
                          <a:solidFill>
                            <a:srgbClr val="202020"/>
                          </a:solidFill>
                        </a:rPr>
                        <a:t>25</a:t>
                      </a:r>
                    </a:p>
                  </a:txBody>
                  <a:tcPr>
                    <a:solidFill>
                      <a:srgbClr val="E8F0FE"/>
                    </a:solidFill>
                  </a:tcPr>
                </a:tc>
                <a:tc>
                  <a:txBody>
                    <a:bodyPr/>
                    <a:lstStyle/>
                    <a:p>
                      <a:pPr algn="ctr"/>
                      <a:r>
                        <a:rPr sz="1000">
                          <a:solidFill>
                            <a:srgbClr val="202020"/>
                          </a:solidFill>
                        </a:rPr>
                        <a:t>483</a:t>
                      </a:r>
                    </a:p>
                  </a:txBody>
                  <a:tcPr>
                    <a:solidFill>
                      <a:srgbClr val="E8F0FE"/>
                    </a:solidFill>
                  </a:tcPr>
                </a:tc>
                <a:tc>
                  <a:txBody>
                    <a:bodyPr/>
                    <a:lstStyle/>
                    <a:p>
                      <a:pPr algn="ctr"/>
                      <a:r>
                        <a:rPr sz="1000">
                          <a:solidFill>
                            <a:srgbClr val="202020"/>
                          </a:solidFill>
                        </a:rPr>
                        <a:t>508</a:t>
                      </a:r>
                    </a:p>
                  </a:txBody>
                  <a:tcPr>
                    <a:solidFill>
                      <a:srgbClr val="E8F0FE"/>
                    </a:solidFill>
                  </a:tcPr>
                </a:tc>
              </a:tr>
              <a:tr h="402336">
                <a:tc>
                  <a:txBody>
                    <a:bodyPr/>
                    <a:lstStyle/>
                    <a:p>
                      <a:pPr algn="l"/>
                      <a:r>
                        <a:rPr sz="1000">
                          <a:solidFill>
                            <a:srgbClr val="202020"/>
                          </a:solidFill>
                        </a:rPr>
                        <a:t>Detection rate</a:t>
                      </a:r>
                    </a:p>
                  </a:txBody>
                  <a:tcPr>
                    <a:solidFill>
                      <a:srgbClr val="FFFFFF"/>
                    </a:solidFill>
                  </a:tcPr>
                </a:tc>
                <a:tc>
                  <a:txBody>
                    <a:bodyPr/>
                    <a:lstStyle/>
                    <a:p>
                      <a:pPr algn="ctr"/>
                      <a:r>
                        <a:rPr sz="1000">
                          <a:solidFill>
                            <a:srgbClr val="202020"/>
                          </a:solidFill>
                        </a:rPr>
                        <a:t>99.4%</a:t>
                      </a:r>
                    </a:p>
                  </a:txBody>
                  <a:tcPr>
                    <a:solidFill>
                      <a:srgbClr val="FFFFFF"/>
                    </a:solidFill>
                  </a:tcPr>
                </a:tc>
                <a:tc>
                  <a:txBody>
                    <a:bodyPr/>
                    <a:lstStyle/>
                    <a:p>
                      <a:pPr algn="ctr"/>
                      <a:r>
                        <a:rPr sz="1000">
                          <a:solidFill>
                            <a:srgbClr val="202020"/>
                          </a:solidFill>
                        </a:rPr>
                        <a:t>92.6%</a:t>
                      </a:r>
                    </a:p>
                  </a:txBody>
                  <a:tcPr>
                    <a:solidFill>
                      <a:srgbClr val="FFFFFF"/>
                    </a:solidFill>
                  </a:tcPr>
                </a:tc>
                <a:tc>
                  <a:txBody>
                    <a:bodyPr/>
                    <a:lstStyle/>
                    <a:p>
                      <a:pPr algn="ctr"/>
                      <a:r>
                        <a:rPr sz="1000">
                          <a:solidFill>
                            <a:srgbClr val="202020"/>
                          </a:solidFill>
                        </a:rPr>
                        <a:t>95.1%</a:t>
                      </a:r>
                    </a:p>
                  </a:txBody>
                  <a:tcPr>
                    <a:solidFill>
                      <a:srgbClr val="FFFFFF"/>
                    </a:solidFill>
                  </a:tcPr>
                </a:tc>
              </a:tr>
            </a:tbl>
          </a:graphicData>
        </a:graphic>
      </p:graphicFrame>
      <p:sp>
        <p:nvSpPr>
          <p:cNvPr id="4" name="TextBox 3"/>
          <p:cNvSpPr txBox="1"/>
          <p:nvPr/>
        </p:nvSpPr>
        <p:spPr>
          <a:xfrm>
            <a:off x="457200" y="3291840"/>
            <a:ext cx="8229600" cy="914400"/>
          </a:xfrm>
          <a:prstGeom prst="rect">
            <a:avLst/>
          </a:prstGeom>
          <a:noFill/>
        </p:spPr>
        <p:txBody>
          <a:bodyPr wrap="square">
            <a:spAutoFit/>
          </a:bodyPr>
          <a:lstStyle/>
          <a:p>
            <a:pPr>
              <a:defRPr sz="1000">
                <a:solidFill>
                  <a:srgbClr val="202020"/>
                </a:solidFill>
              </a:defRPr>
            </a:pPr>
            <a:r>
              <a:t>Detail Batch 2:</a:t>
            </a:r>
          </a:p>
          <a:p>
            <a:pPr>
              <a:defRPr sz="1000">
                <a:solidFill>
                  <a:srgbClr val="202020"/>
                </a:solidFill>
              </a:defRPr>
            </a:pPr>
            <a:r>
              <a:t>  Front view: 3,275 frame  |  Side view: 3,278 frame</a:t>
            </a:r>
          </a:p>
          <a:p>
            <a:pPr>
              <a:defRPr sz="1000">
                <a:solidFill>
                  <a:srgbClr val="202020"/>
                </a:solidFill>
              </a:defRPr>
            </a:pPr>
            <a:r>
              <a:t>Kegagalan deteksi: wajah menunduk, keluar frame, tertutup tangan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Distribusi Emosi Dataset</a:t>
            </a:r>
          </a:p>
        </p:txBody>
      </p:sp>
      <p:graphicFrame>
        <p:nvGraphicFramePr>
          <p:cNvPr id="3" name="Table 2"/>
          <p:cNvGraphicFramePr>
            <a:graphicFrameLocks noGrp="1"/>
          </p:cNvGraphicFramePr>
          <p:nvPr/>
        </p:nvGraphicFramePr>
        <p:xfrm>
          <a:off x="457200" y="1097280"/>
          <a:ext cx="6400800" cy="3200400"/>
        </p:xfrm>
        <a:graphic>
          <a:graphicData uri="http://schemas.openxmlformats.org/drawingml/2006/table">
            <a:tbl>
              <a:tblPr firstRow="1" bandRow="1">
                <a:tableStyleId>{5C22544A-7EE6-4342-B048-85BDC9FD1C3A}</a:tableStyleId>
              </a:tblPr>
              <a:tblGrid>
                <a:gridCol w="1645920"/>
                <a:gridCol w="1097280"/>
                <a:gridCol w="1371600"/>
                <a:gridCol w="2286000"/>
              </a:tblGrid>
              <a:tr h="355600">
                <a:tc>
                  <a:txBody>
                    <a:bodyPr/>
                    <a:lstStyle/>
                    <a:p>
                      <a:pPr algn="ctr"/>
                      <a:r>
                        <a:rPr sz="1000" b="1">
                          <a:solidFill>
                            <a:srgbClr val="FFFFFF"/>
                          </a:solidFill>
                        </a:rPr>
                        <a:t>Emosi</a:t>
                      </a:r>
                    </a:p>
                  </a:txBody>
                  <a:tcPr>
                    <a:solidFill>
                      <a:srgbClr val="1A73E8"/>
                    </a:solidFill>
                  </a:tcPr>
                </a:tc>
                <a:tc>
                  <a:txBody>
                    <a:bodyPr/>
                    <a:lstStyle/>
                    <a:p>
                      <a:pPr algn="ctr"/>
                      <a:r>
                        <a:rPr sz="1000" b="1">
                          <a:solidFill>
                            <a:srgbClr val="FFFFFF"/>
                          </a:solidFill>
                        </a:rPr>
                        <a:t>Jumlah</a:t>
                      </a:r>
                    </a:p>
                  </a:txBody>
                  <a:tcPr>
                    <a:solidFill>
                      <a:srgbClr val="1A73E8"/>
                    </a:solidFill>
                  </a:tcPr>
                </a:tc>
                <a:tc>
                  <a:txBody>
                    <a:bodyPr/>
                    <a:lstStyle/>
                    <a:p>
                      <a:pPr algn="ctr"/>
                      <a:r>
                        <a:rPr sz="1000" b="1">
                          <a:solidFill>
                            <a:srgbClr val="FFFFFF"/>
                          </a:solidFill>
                        </a:rPr>
                        <a:t>Persentase</a:t>
                      </a:r>
                    </a:p>
                  </a:txBody>
                  <a:tcPr>
                    <a:solidFill>
                      <a:srgbClr val="1A73E8"/>
                    </a:solidFill>
                  </a:tcPr>
                </a:tc>
                <a:tc>
                  <a:txBody>
                    <a:bodyPr/>
                    <a:lstStyle/>
                    <a:p>
                      <a:pPr algn="ctr"/>
                      <a:r>
                        <a:rPr sz="1000" b="1">
                          <a:solidFill>
                            <a:srgbClr val="FFFFFF"/>
                          </a:solidFill>
                        </a:rPr>
                        <a:t>Keterangan</a:t>
                      </a:r>
                    </a:p>
                  </a:txBody>
                  <a:tcPr>
                    <a:solidFill>
                      <a:srgbClr val="1A73E8"/>
                    </a:solidFill>
                  </a:tcPr>
                </a:tc>
              </a:tr>
              <a:tr h="355600">
                <a:tc>
                  <a:txBody>
                    <a:bodyPr/>
                    <a:lstStyle/>
                    <a:p>
                      <a:pPr algn="l"/>
                      <a:r>
                        <a:rPr sz="1000">
                          <a:solidFill>
                            <a:srgbClr val="202020"/>
                          </a:solidFill>
                        </a:rPr>
                        <a:t>Neutral</a:t>
                      </a:r>
                    </a:p>
                  </a:txBody>
                  <a:tcPr>
                    <a:solidFill>
                      <a:srgbClr val="E8F0FE"/>
                    </a:solidFill>
                  </a:tcPr>
                </a:tc>
                <a:tc>
                  <a:txBody>
                    <a:bodyPr/>
                    <a:lstStyle/>
                    <a:p>
                      <a:pPr algn="ctr"/>
                      <a:r>
                        <a:rPr sz="1000">
                          <a:solidFill>
                            <a:srgbClr val="202020"/>
                          </a:solidFill>
                        </a:rPr>
                        <a:t>8,356</a:t>
                      </a:r>
                    </a:p>
                  </a:txBody>
                  <a:tcPr>
                    <a:solidFill>
                      <a:srgbClr val="E8F0FE"/>
                    </a:solidFill>
                  </a:tcPr>
                </a:tc>
                <a:tc>
                  <a:txBody>
                    <a:bodyPr/>
                    <a:lstStyle/>
                    <a:p>
                      <a:pPr algn="ctr"/>
                      <a:r>
                        <a:rPr sz="1000">
                          <a:solidFill>
                            <a:srgbClr val="202020"/>
                          </a:solidFill>
                        </a:rPr>
                        <a:t>84.5%</a:t>
                      </a:r>
                    </a:p>
                  </a:txBody>
                  <a:tcPr>
                    <a:solidFill>
                      <a:srgbClr val="E8F0FE"/>
                    </a:solidFill>
                  </a:tcPr>
                </a:tc>
                <a:tc>
                  <a:txBody>
                    <a:bodyPr/>
                    <a:lstStyle/>
                    <a:p>
                      <a:pPr algn="ctr"/>
                      <a:r>
                        <a:rPr sz="1000">
                          <a:solidFill>
                            <a:srgbClr val="202020"/>
                          </a:solidFill>
                        </a:rPr>
                        <a:t>Kelas mayoritas</a:t>
                      </a:r>
                    </a:p>
                  </a:txBody>
                  <a:tcPr>
                    <a:solidFill>
                      <a:srgbClr val="E8F0FE"/>
                    </a:solidFill>
                  </a:tcPr>
                </a:tc>
              </a:tr>
              <a:tr h="355600">
                <a:tc>
                  <a:txBody>
                    <a:bodyPr/>
                    <a:lstStyle/>
                    <a:p>
                      <a:pPr algn="l"/>
                      <a:r>
                        <a:rPr sz="1000">
                          <a:solidFill>
                            <a:srgbClr val="202020"/>
                          </a:solidFill>
                        </a:rPr>
                        <a:t>Happy</a:t>
                      </a:r>
                    </a:p>
                  </a:txBody>
                  <a:tcPr>
                    <a:solidFill>
                      <a:srgbClr val="FFFFFF"/>
                    </a:solidFill>
                  </a:tcPr>
                </a:tc>
                <a:tc>
                  <a:txBody>
                    <a:bodyPr/>
                    <a:lstStyle/>
                    <a:p>
                      <a:pPr algn="ctr"/>
                      <a:r>
                        <a:rPr sz="1000">
                          <a:solidFill>
                            <a:srgbClr val="202020"/>
                          </a:solidFill>
                        </a:rPr>
                        <a:t>783</a:t>
                      </a:r>
                    </a:p>
                  </a:txBody>
                  <a:tcPr>
                    <a:solidFill>
                      <a:srgbClr val="FFFFFF"/>
                    </a:solidFill>
                  </a:tcPr>
                </a:tc>
                <a:tc>
                  <a:txBody>
                    <a:bodyPr/>
                    <a:lstStyle/>
                    <a:p>
                      <a:pPr algn="ctr"/>
                      <a:r>
                        <a:rPr sz="1000">
                          <a:solidFill>
                            <a:srgbClr val="202020"/>
                          </a:solidFill>
                        </a:rPr>
                        <a:t>7.9%</a:t>
                      </a:r>
                    </a:p>
                  </a:txBody>
                  <a:tcPr>
                    <a:solidFill>
                      <a:srgbClr val="FFFFFF"/>
                    </a:solidFill>
                  </a:tcPr>
                </a:tc>
                <a:tc>
                  <a:txBody>
                    <a:bodyPr/>
                    <a:lstStyle/>
                    <a:p>
                      <a:pPr algn="ctr"/>
                      <a:r>
                        <a:rPr sz="1000">
                          <a:solidFill>
                            <a:srgbClr val="202020"/>
                          </a:solidFill>
                        </a:rPr>
                        <a:t/>
                      </a:r>
                    </a:p>
                  </a:txBody>
                  <a:tcPr>
                    <a:solidFill>
                      <a:srgbClr val="FFFFFF"/>
                    </a:solidFill>
                  </a:tcPr>
                </a:tc>
              </a:tr>
              <a:tr h="355600">
                <a:tc>
                  <a:txBody>
                    <a:bodyPr/>
                    <a:lstStyle/>
                    <a:p>
                      <a:pPr algn="l"/>
                      <a:r>
                        <a:rPr sz="1000">
                          <a:solidFill>
                            <a:srgbClr val="202020"/>
                          </a:solidFill>
                        </a:rPr>
                        <a:t>Sad</a:t>
                      </a:r>
                    </a:p>
                  </a:txBody>
                  <a:tcPr>
                    <a:solidFill>
                      <a:srgbClr val="E8F0FE"/>
                    </a:solidFill>
                  </a:tcPr>
                </a:tc>
                <a:tc>
                  <a:txBody>
                    <a:bodyPr/>
                    <a:lstStyle/>
                    <a:p>
                      <a:pPr algn="ctr"/>
                      <a:r>
                        <a:rPr sz="1000">
                          <a:solidFill>
                            <a:srgbClr val="202020"/>
                          </a:solidFill>
                        </a:rPr>
                        <a:t>576</a:t>
                      </a:r>
                    </a:p>
                  </a:txBody>
                  <a:tcPr>
                    <a:solidFill>
                      <a:srgbClr val="E8F0FE"/>
                    </a:solidFill>
                  </a:tcPr>
                </a:tc>
                <a:tc>
                  <a:txBody>
                    <a:bodyPr/>
                    <a:lstStyle/>
                    <a:p>
                      <a:pPr algn="ctr"/>
                      <a:r>
                        <a:rPr sz="1000">
                          <a:solidFill>
                            <a:srgbClr val="202020"/>
                          </a:solidFill>
                        </a:rPr>
                        <a:t>5.8%</a:t>
                      </a:r>
                    </a:p>
                  </a:txBody>
                  <a:tcPr>
                    <a:solidFill>
                      <a:srgbClr val="E8F0FE"/>
                    </a:solidFill>
                  </a:tcPr>
                </a:tc>
                <a:tc>
                  <a:txBody>
                    <a:bodyPr/>
                    <a:lstStyle/>
                    <a:p>
                      <a:pPr algn="ctr"/>
                      <a:r>
                        <a:rPr sz="1000">
                          <a:solidFill>
                            <a:srgbClr val="202020"/>
                          </a:solidFill>
                        </a:rPr>
                        <a:t/>
                      </a:r>
                    </a:p>
                  </a:txBody>
                  <a:tcPr>
                    <a:solidFill>
                      <a:srgbClr val="E8F0FE"/>
                    </a:solidFill>
                  </a:tcPr>
                </a:tc>
              </a:tr>
              <a:tr h="355600">
                <a:tc>
                  <a:txBody>
                    <a:bodyPr/>
                    <a:lstStyle/>
                    <a:p>
                      <a:pPr algn="l"/>
                      <a:r>
                        <a:rPr sz="1000">
                          <a:solidFill>
                            <a:srgbClr val="202020"/>
                          </a:solidFill>
                        </a:rPr>
                        <a:t>Surprised</a:t>
                      </a:r>
                    </a:p>
                  </a:txBody>
                  <a:tcPr>
                    <a:solidFill>
                      <a:srgbClr val="FFFFFF"/>
                    </a:solidFill>
                  </a:tcPr>
                </a:tc>
                <a:tc>
                  <a:txBody>
                    <a:bodyPr/>
                    <a:lstStyle/>
                    <a:p>
                      <a:pPr algn="ctr"/>
                      <a:r>
                        <a:rPr sz="1000">
                          <a:solidFill>
                            <a:srgbClr val="202020"/>
                          </a:solidFill>
                        </a:rPr>
                        <a:t>79</a:t>
                      </a:r>
                    </a:p>
                  </a:txBody>
                  <a:tcPr>
                    <a:solidFill>
                      <a:srgbClr val="FFFFFF"/>
                    </a:solidFill>
                  </a:tcPr>
                </a:tc>
                <a:tc>
                  <a:txBody>
                    <a:bodyPr/>
                    <a:lstStyle/>
                    <a:p>
                      <a:pPr algn="ctr"/>
                      <a:r>
                        <a:rPr sz="1000">
                          <a:solidFill>
                            <a:srgbClr val="202020"/>
                          </a:solidFill>
                        </a:rPr>
                        <a:t>0.8%</a:t>
                      </a:r>
                    </a:p>
                  </a:txBody>
                  <a:tcPr>
                    <a:solidFill>
                      <a:srgbClr val="FFFFFF"/>
                    </a:solidFill>
                  </a:tcPr>
                </a:tc>
                <a:tc>
                  <a:txBody>
                    <a:bodyPr/>
                    <a:lstStyle/>
                    <a:p>
                      <a:pPr algn="ctr"/>
                      <a:r>
                        <a:rPr sz="1000">
                          <a:solidFill>
                            <a:srgbClr val="202020"/>
                          </a:solidFill>
                        </a:rPr>
                        <a:t>Kelas langka</a:t>
                      </a:r>
                    </a:p>
                  </a:txBody>
                  <a:tcPr>
                    <a:solidFill>
                      <a:srgbClr val="FFFFFF"/>
                    </a:solidFill>
                  </a:tcPr>
                </a:tc>
              </a:tr>
              <a:tr h="355600">
                <a:tc>
                  <a:txBody>
                    <a:bodyPr/>
                    <a:lstStyle/>
                    <a:p>
                      <a:pPr algn="l"/>
                      <a:r>
                        <a:rPr sz="1000">
                          <a:solidFill>
                            <a:srgbClr val="202020"/>
                          </a:solidFill>
                        </a:rPr>
                        <a:t>Angry</a:t>
                      </a:r>
                    </a:p>
                  </a:txBody>
                  <a:tcPr>
                    <a:solidFill>
                      <a:srgbClr val="E8F0FE"/>
                    </a:solidFill>
                  </a:tcPr>
                </a:tc>
                <a:tc>
                  <a:txBody>
                    <a:bodyPr/>
                    <a:lstStyle/>
                    <a:p>
                      <a:pPr algn="ctr"/>
                      <a:r>
                        <a:rPr sz="1000">
                          <a:solidFill>
                            <a:srgbClr val="202020"/>
                          </a:solidFill>
                        </a:rPr>
                        <a:t>63</a:t>
                      </a:r>
                    </a:p>
                  </a:txBody>
                  <a:tcPr>
                    <a:solidFill>
                      <a:srgbClr val="E8F0FE"/>
                    </a:solidFill>
                  </a:tcPr>
                </a:tc>
                <a:tc>
                  <a:txBody>
                    <a:bodyPr/>
                    <a:lstStyle/>
                    <a:p>
                      <a:pPr algn="ctr"/>
                      <a:r>
                        <a:rPr sz="1000">
                          <a:solidFill>
                            <a:srgbClr val="202020"/>
                          </a:solidFill>
                        </a:rPr>
                        <a:t>0.6%</a:t>
                      </a:r>
                    </a:p>
                  </a:txBody>
                  <a:tcPr>
                    <a:solidFill>
                      <a:srgbClr val="E8F0FE"/>
                    </a:solidFill>
                  </a:tcPr>
                </a:tc>
                <a:tc>
                  <a:txBody>
                    <a:bodyPr/>
                    <a:lstStyle/>
                    <a:p>
                      <a:pPr algn="ctr"/>
                      <a:r>
                        <a:rPr sz="1000">
                          <a:solidFill>
                            <a:srgbClr val="202020"/>
                          </a:solidFill>
                        </a:rPr>
                        <a:t>Kelas langka</a:t>
                      </a:r>
                    </a:p>
                  </a:txBody>
                  <a:tcPr>
                    <a:solidFill>
                      <a:srgbClr val="E8F0FE"/>
                    </a:solidFill>
                  </a:tcPr>
                </a:tc>
              </a:tr>
              <a:tr h="355600">
                <a:tc>
                  <a:txBody>
                    <a:bodyPr/>
                    <a:lstStyle/>
                    <a:p>
                      <a:pPr algn="l"/>
                      <a:r>
                        <a:rPr sz="1000">
                          <a:solidFill>
                            <a:srgbClr val="202020"/>
                          </a:solidFill>
                        </a:rPr>
                        <a:t>Disgusted</a:t>
                      </a:r>
                    </a:p>
                  </a:txBody>
                  <a:tcPr>
                    <a:solidFill>
                      <a:srgbClr val="FFFFFF"/>
                    </a:solidFill>
                  </a:tcPr>
                </a:tc>
                <a:tc>
                  <a:txBody>
                    <a:bodyPr/>
                    <a:lstStyle/>
                    <a:p>
                      <a:pPr algn="ctr"/>
                      <a:r>
                        <a:rPr sz="1000">
                          <a:solidFill>
                            <a:srgbClr val="202020"/>
                          </a:solidFill>
                        </a:rPr>
                        <a:t>24</a:t>
                      </a:r>
                    </a:p>
                  </a:txBody>
                  <a:tcPr>
                    <a:solidFill>
                      <a:srgbClr val="FFFFFF"/>
                    </a:solidFill>
                  </a:tcPr>
                </a:tc>
                <a:tc>
                  <a:txBody>
                    <a:bodyPr/>
                    <a:lstStyle/>
                    <a:p>
                      <a:pPr algn="ctr"/>
                      <a:r>
                        <a:rPr sz="1000">
                          <a:solidFill>
                            <a:srgbClr val="202020"/>
                          </a:solidFill>
                        </a:rPr>
                        <a:t>0.2%</a:t>
                      </a:r>
                    </a:p>
                  </a:txBody>
                  <a:tcPr>
                    <a:solidFill>
                      <a:srgbClr val="FFFFFF"/>
                    </a:solidFill>
                  </a:tcPr>
                </a:tc>
                <a:tc>
                  <a:txBody>
                    <a:bodyPr/>
                    <a:lstStyle/>
                    <a:p>
                      <a:pPr algn="ctr"/>
                      <a:r>
                        <a:rPr sz="1000">
                          <a:solidFill>
                            <a:srgbClr val="202020"/>
                          </a:solidFill>
                        </a:rPr>
                        <a:t>Kelas sangat langka</a:t>
                      </a:r>
                    </a:p>
                  </a:txBody>
                  <a:tcPr>
                    <a:solidFill>
                      <a:srgbClr val="FFFFFF"/>
                    </a:solidFill>
                  </a:tcPr>
                </a:tc>
              </a:tr>
              <a:tr h="355600">
                <a:tc>
                  <a:txBody>
                    <a:bodyPr/>
                    <a:lstStyle/>
                    <a:p>
                      <a:pPr algn="l"/>
                      <a:r>
                        <a:rPr sz="1000">
                          <a:solidFill>
                            <a:srgbClr val="202020"/>
                          </a:solidFill>
                        </a:rPr>
                        <a:t>Fearful</a:t>
                      </a:r>
                    </a:p>
                  </a:txBody>
                  <a:tcPr>
                    <a:solidFill>
                      <a:srgbClr val="E8F0FE"/>
                    </a:solidFill>
                  </a:tcPr>
                </a:tc>
                <a:tc>
                  <a:txBody>
                    <a:bodyPr/>
                    <a:lstStyle/>
                    <a:p>
                      <a:pPr algn="ctr"/>
                      <a:r>
                        <a:rPr sz="1000">
                          <a:solidFill>
                            <a:srgbClr val="202020"/>
                          </a:solidFill>
                        </a:rPr>
                        <a:t>13</a:t>
                      </a:r>
                    </a:p>
                  </a:txBody>
                  <a:tcPr>
                    <a:solidFill>
                      <a:srgbClr val="E8F0FE"/>
                    </a:solidFill>
                  </a:tcPr>
                </a:tc>
                <a:tc>
                  <a:txBody>
                    <a:bodyPr/>
                    <a:lstStyle/>
                    <a:p>
                      <a:pPr algn="ctr"/>
                      <a:r>
                        <a:rPr sz="1000">
                          <a:solidFill>
                            <a:srgbClr val="202020"/>
                          </a:solidFill>
                        </a:rPr>
                        <a:t>0.1%</a:t>
                      </a:r>
                    </a:p>
                  </a:txBody>
                  <a:tcPr>
                    <a:solidFill>
                      <a:srgbClr val="E8F0FE"/>
                    </a:solidFill>
                  </a:tcPr>
                </a:tc>
                <a:tc>
                  <a:txBody>
                    <a:bodyPr/>
                    <a:lstStyle/>
                    <a:p>
                      <a:pPr algn="ctr"/>
                      <a:r>
                        <a:rPr sz="1000">
                          <a:solidFill>
                            <a:srgbClr val="202020"/>
                          </a:solidFill>
                        </a:rPr>
                        <a:t>Kelas sangat langka</a:t>
                      </a:r>
                    </a:p>
                  </a:txBody>
                  <a:tcPr>
                    <a:solidFill>
                      <a:srgbClr val="E8F0FE"/>
                    </a:solidFill>
                  </a:tcPr>
                </a:tc>
              </a:tr>
              <a:tr h="355600">
                <a:tc>
                  <a:txBody>
                    <a:bodyPr/>
                    <a:lstStyle/>
                    <a:p>
                      <a:pPr algn="l"/>
                      <a:r>
                        <a:rPr sz="1000">
                          <a:solidFill>
                            <a:srgbClr val="202020"/>
                          </a:solidFill>
                        </a:rPr>
                        <a:t>Total</a:t>
                      </a:r>
                    </a:p>
                  </a:txBody>
                  <a:tcPr>
                    <a:solidFill>
                      <a:srgbClr val="FFFFFF"/>
                    </a:solidFill>
                  </a:tcPr>
                </a:tc>
                <a:tc>
                  <a:txBody>
                    <a:bodyPr/>
                    <a:lstStyle/>
                    <a:p>
                      <a:pPr algn="ctr"/>
                      <a:r>
                        <a:rPr sz="1000">
                          <a:solidFill>
                            <a:srgbClr val="202020"/>
                          </a:solidFill>
                        </a:rPr>
                        <a:t>9,894</a:t>
                      </a:r>
                    </a:p>
                  </a:txBody>
                  <a:tcPr>
                    <a:solidFill>
                      <a:srgbClr val="FFFFFF"/>
                    </a:solidFill>
                  </a:tcPr>
                </a:tc>
                <a:tc>
                  <a:txBody>
                    <a:bodyPr/>
                    <a:lstStyle/>
                    <a:p>
                      <a:pPr algn="ctr"/>
                      <a:r>
                        <a:rPr sz="1000">
                          <a:solidFill>
                            <a:srgbClr val="202020"/>
                          </a:solidFill>
                        </a:rPr>
                        <a:t>100%</a:t>
                      </a:r>
                    </a:p>
                  </a:txBody>
                  <a:tcPr>
                    <a:solidFill>
                      <a:srgbClr val="FFFFFF"/>
                    </a:solidFill>
                  </a:tcPr>
                </a:tc>
                <a:tc>
                  <a:txBody>
                    <a:bodyPr/>
                    <a:lstStyle/>
                    <a:p>
                      <a:pPr algn="ctr"/>
                      <a:r>
                        <a:rPr sz="1000">
                          <a:solidFill>
                            <a:srgbClr val="202020"/>
                          </a:solidFill>
                        </a:rPr>
                        <a:t/>
                      </a:r>
                    </a:p>
                  </a:txBody>
                  <a:tcPr>
                    <a:solidFill>
                      <a:srgbClr val="FFFFFF"/>
                    </a:solidFill>
                  </a:tcPr>
                </a:tc>
              </a:tr>
            </a:tbl>
          </a:graphicData>
        </a:graphic>
      </p:graphicFrame>
      <p:sp>
        <p:nvSpPr>
          <p:cNvPr id="4" name="TextBox 3"/>
          <p:cNvSpPr txBox="1"/>
          <p:nvPr/>
        </p:nvSpPr>
        <p:spPr>
          <a:xfrm>
            <a:off x="6949440" y="1371600"/>
            <a:ext cx="2011680" cy="1828800"/>
          </a:xfrm>
          <a:prstGeom prst="rect">
            <a:avLst/>
          </a:prstGeom>
          <a:noFill/>
        </p:spPr>
        <p:txBody>
          <a:bodyPr wrap="square">
            <a:spAutoFit/>
          </a:bodyPr>
          <a:lstStyle/>
          <a:p>
            <a:pPr>
              <a:defRPr sz="900">
                <a:solidFill>
                  <a:srgbClr val="202020"/>
                </a:solidFill>
              </a:defRPr>
            </a:pPr>
            <a:r>
              <a:t>Sangat imbalanced: neutral mendominasi 84.5%</a:t>
            </a:r>
          </a:p>
          <a:p>
            <a:pPr>
              <a:defRPr sz="900">
                <a:solidFill>
                  <a:srgbClr val="202020"/>
                </a:solidFill>
              </a:defRPr>
            </a:pPr>
            <a:r>
              <a:t>Konsisten dengan literatur — mahasiswa fokus coding cenderung netral (Coto et al., 2022)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Penanganan Class Imbalance — 3 Skenario Perbandingan</a:t>
            </a:r>
          </a:p>
        </p:txBody>
      </p:sp>
      <p:graphicFrame>
        <p:nvGraphicFramePr>
          <p:cNvPr id="3" name="Table 2"/>
          <p:cNvGraphicFramePr>
            <a:graphicFrameLocks noGrp="1"/>
          </p:cNvGraphicFramePr>
          <p:nvPr/>
        </p:nvGraphicFramePr>
        <p:xfrm>
          <a:off x="457200" y="1097280"/>
          <a:ext cx="8229600" cy="1371600"/>
        </p:xfrm>
        <a:graphic>
          <a:graphicData uri="http://schemas.openxmlformats.org/drawingml/2006/table">
            <a:tbl>
              <a:tblPr firstRow="1" bandRow="1">
                <a:tableStyleId>{5C22544A-7EE6-4342-B048-85BDC9FD1C3A}</a:tableStyleId>
              </a:tblPr>
              <a:tblGrid>
                <a:gridCol w="1828800"/>
                <a:gridCol w="3657600"/>
                <a:gridCol w="1828800"/>
                <a:gridCol w="914400"/>
              </a:tblGrid>
              <a:tr h="342900">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Strategi</a:t>
                      </a:r>
                    </a:p>
                  </a:txBody>
                  <a:tcPr>
                    <a:solidFill>
                      <a:srgbClr val="1A73E8"/>
                    </a:solidFill>
                  </a:tcPr>
                </a:tc>
                <a:tc>
                  <a:txBody>
                    <a:bodyPr/>
                    <a:lstStyle/>
                    <a:p>
                      <a:pPr algn="ctr"/>
                      <a:r>
                        <a:rPr sz="1000" b="1">
                          <a:solidFill>
                            <a:srgbClr val="FFFFFF"/>
                          </a:solidFill>
                        </a:rPr>
                        <a:t>Dataset Train</a:t>
                      </a:r>
                    </a:p>
                  </a:txBody>
                  <a:tcPr>
                    <a:solidFill>
                      <a:srgbClr val="1A73E8"/>
                    </a:solidFill>
                  </a:tcPr>
                </a:tc>
                <a:tc>
                  <a:txBody>
                    <a:bodyPr/>
                    <a:lstStyle/>
                    <a:p>
                      <a:pPr algn="ctr"/>
                      <a:r>
                        <a:rPr sz="1000" b="1">
                          <a:solidFill>
                            <a:srgbClr val="FFFFFF"/>
                          </a:solidFill>
                        </a:rPr>
                        <a:t>Metrik</a:t>
                      </a:r>
                    </a:p>
                  </a:txBody>
                  <a:tcPr>
                    <a:solidFill>
                      <a:srgbClr val="1A73E8"/>
                    </a:solidFill>
                  </a:tcPr>
                </a:tc>
              </a:tr>
              <a:tr h="342900">
                <a:tc>
                  <a:txBody>
                    <a:bodyPr/>
                    <a:lstStyle/>
                    <a:p>
                      <a:pPr algn="l"/>
                      <a:r>
                        <a:rPr sz="1000">
                          <a:solidFill>
                            <a:srgbClr val="202020"/>
                          </a:solidFill>
                        </a:rPr>
                        <a:t>B1 — Baseline</a:t>
                      </a:r>
                    </a:p>
                  </a:txBody>
                  <a:tcPr>
                    <a:solidFill>
                      <a:srgbClr val="E8F0FE"/>
                    </a:solidFill>
                  </a:tcPr>
                </a:tc>
                <a:tc>
                  <a:txBody>
                    <a:bodyPr/>
                    <a:lstStyle/>
                    <a:p>
                      <a:pPr algn="ctr"/>
                      <a:r>
                        <a:rPr sz="1000">
                          <a:solidFill>
                            <a:srgbClr val="202020"/>
                          </a:solidFill>
                        </a:rPr>
                        <a:t>Tanpa penanganan</a:t>
                      </a:r>
                    </a:p>
                  </a:txBody>
                  <a:tcPr>
                    <a:solidFill>
                      <a:srgbClr val="E8F0FE"/>
                    </a:solidFill>
                  </a:tcPr>
                </a:tc>
                <a:tc>
                  <a:txBody>
                    <a:bodyPr/>
                    <a:lstStyle/>
                    <a:p>
                      <a:pPr algn="ctr"/>
                      <a:r>
                        <a:rPr sz="1000">
                          <a:solidFill>
                            <a:srgbClr val="202020"/>
                          </a:solidFill>
                        </a:rPr>
                        <a:t>7,064 samples</a:t>
                      </a:r>
                    </a:p>
                  </a:txBody>
                  <a:tcPr>
                    <a:solidFill>
                      <a:srgbClr val="E8F0FE"/>
                    </a:solidFill>
                  </a:tcPr>
                </a:tc>
                <a:tc>
                  <a:txBody>
                    <a:bodyPr/>
                    <a:lstStyle/>
                    <a:p>
                      <a:pPr algn="ctr"/>
                      <a:r>
                        <a:rPr sz="1000">
                          <a:solidFill>
                            <a:srgbClr val="202020"/>
                          </a:solidFill>
                        </a:rPr>
                        <a:t>Macro F1</a:t>
                      </a:r>
                    </a:p>
                  </a:txBody>
                  <a:tcPr>
                    <a:solidFill>
                      <a:srgbClr val="E8F0FE"/>
                    </a:solidFill>
                  </a:tcPr>
                </a:tc>
              </a:tr>
              <a:tr h="342900">
                <a:tc>
                  <a:txBody>
                    <a:bodyPr/>
                    <a:lstStyle/>
                    <a:p>
                      <a:pPr algn="l"/>
                      <a:r>
                        <a:rPr sz="1000">
                          <a:solidFill>
                            <a:srgbClr val="202020"/>
                          </a:solidFill>
                        </a:rPr>
                        <a:t>B2 — Class Weights</a:t>
                      </a:r>
                    </a:p>
                  </a:txBody>
                  <a:tcPr>
                    <a:solidFill>
                      <a:srgbClr val="FFFFFF"/>
                    </a:solidFill>
                  </a:tcPr>
                </a:tc>
                <a:tc>
                  <a:txBody>
                    <a:bodyPr/>
                    <a:lstStyle/>
                    <a:p>
                      <a:pPr algn="ctr"/>
                      <a:r>
                        <a:rPr sz="1000">
                          <a:solidFill>
                            <a:srgbClr val="202020"/>
                          </a:solidFill>
                        </a:rPr>
                        <a:t>Weighted cross-entropy (Cui et al., 2019)</a:t>
                      </a:r>
                    </a:p>
                  </a:txBody>
                  <a:tcPr>
                    <a:solidFill>
                      <a:srgbClr val="FFFFFF"/>
                    </a:solidFill>
                  </a:tcPr>
                </a:tc>
                <a:tc>
                  <a:txBody>
                    <a:bodyPr/>
                    <a:lstStyle/>
                    <a:p>
                      <a:pPr algn="ctr"/>
                      <a:r>
                        <a:rPr sz="1000">
                          <a:solidFill>
                            <a:srgbClr val="202020"/>
                          </a:solidFill>
                        </a:rPr>
                        <a:t>7,064 samples</a:t>
                      </a:r>
                    </a:p>
                  </a:txBody>
                  <a:tcPr>
                    <a:solidFill>
                      <a:srgbClr val="FFFFFF"/>
                    </a:solidFill>
                  </a:tcPr>
                </a:tc>
                <a:tc>
                  <a:txBody>
                    <a:bodyPr/>
                    <a:lstStyle/>
                    <a:p>
                      <a:pPr algn="ctr"/>
                      <a:r>
                        <a:rPr sz="1000">
                          <a:solidFill>
                            <a:srgbClr val="202020"/>
                          </a:solidFill>
                        </a:rPr>
                        <a:t>Macro F1</a:t>
                      </a:r>
                    </a:p>
                  </a:txBody>
                  <a:tcPr>
                    <a:solidFill>
                      <a:srgbClr val="FFFFFF"/>
                    </a:solidFill>
                  </a:tcPr>
                </a:tc>
              </a:tr>
              <a:tr h="342900">
                <a:tc>
                  <a:txBody>
                    <a:bodyPr/>
                    <a:lstStyle/>
                    <a:p>
                      <a:pPr algn="l"/>
                      <a:r>
                        <a:rPr sz="1000">
                          <a:solidFill>
                            <a:srgbClr val="202020"/>
                          </a:solidFill>
                        </a:rPr>
                        <a:t>B3 — Weights + Aug</a:t>
                      </a:r>
                    </a:p>
                  </a:txBody>
                  <a:tcPr>
                    <a:solidFill>
                      <a:srgbClr val="E8F0FE"/>
                    </a:solidFill>
                  </a:tcPr>
                </a:tc>
                <a:tc>
                  <a:txBody>
                    <a:bodyPr/>
                    <a:lstStyle/>
                    <a:p>
                      <a:pPr algn="ctr"/>
                      <a:r>
                        <a:rPr sz="1000">
                          <a:solidFill>
                            <a:srgbClr val="202020"/>
                          </a:solidFill>
                        </a:rPr>
                        <a:t>Class weights + augmentasi minoritas</a:t>
                      </a:r>
                    </a:p>
                  </a:txBody>
                  <a:tcPr>
                    <a:solidFill>
                      <a:srgbClr val="E8F0FE"/>
                    </a:solidFill>
                  </a:tcPr>
                </a:tc>
                <a:tc>
                  <a:txBody>
                    <a:bodyPr/>
                    <a:lstStyle/>
                    <a:p>
                      <a:pPr algn="ctr"/>
                      <a:r>
                        <a:rPr sz="1000">
                          <a:solidFill>
                            <a:srgbClr val="202020"/>
                          </a:solidFill>
                        </a:rPr>
                        <a:t>7,519 samples (+455)</a:t>
                      </a:r>
                    </a:p>
                  </a:txBody>
                  <a:tcPr>
                    <a:solidFill>
                      <a:srgbClr val="E8F0FE"/>
                    </a:solidFill>
                  </a:tcPr>
                </a:tc>
                <a:tc>
                  <a:txBody>
                    <a:bodyPr/>
                    <a:lstStyle/>
                    <a:p>
                      <a:pPr algn="ctr"/>
                      <a:r>
                        <a:rPr sz="1000">
                          <a:solidFill>
                            <a:srgbClr val="202020"/>
                          </a:solidFill>
                        </a:rPr>
                        <a:t>Macro F1</a:t>
                      </a:r>
                    </a:p>
                  </a:txBody>
                  <a:tcPr>
                    <a:solidFill>
                      <a:srgbClr val="E8F0FE"/>
                    </a:solidFill>
                  </a:tcPr>
                </a:tc>
              </a:tr>
            </a:tbl>
          </a:graphicData>
        </a:graphic>
      </p:graphicFrame>
      <p:graphicFrame>
        <p:nvGraphicFramePr>
          <p:cNvPr id="4" name="Table 3"/>
          <p:cNvGraphicFramePr>
            <a:graphicFrameLocks noGrp="1"/>
          </p:cNvGraphicFramePr>
          <p:nvPr/>
        </p:nvGraphicFramePr>
        <p:xfrm>
          <a:off x="457200" y="2743200"/>
          <a:ext cx="6400800" cy="2011680"/>
        </p:xfrm>
        <a:graphic>
          <a:graphicData uri="http://schemas.openxmlformats.org/drawingml/2006/table">
            <a:tbl>
              <a:tblPr firstRow="1" bandRow="1">
                <a:tableStyleId>{5C22544A-7EE6-4342-B048-85BDC9FD1C3A}</a:tableStyleId>
              </a:tblPr>
              <a:tblGrid>
                <a:gridCol w="1371600"/>
                <a:gridCol w="1097280"/>
                <a:gridCol w="1828800"/>
                <a:gridCol w="1097280"/>
                <a:gridCol w="1005840"/>
              </a:tblGrid>
              <a:tr h="402336">
                <a:tc>
                  <a:txBody>
                    <a:bodyPr/>
                    <a:lstStyle/>
                    <a:p>
                      <a:pPr algn="ctr"/>
                      <a:r>
                        <a:rPr sz="900" b="1">
                          <a:solidFill>
                            <a:srgbClr val="FFFFFF"/>
                          </a:solidFill>
                        </a:rPr>
                        <a:t>Emosi</a:t>
                      </a:r>
                    </a:p>
                  </a:txBody>
                  <a:tcPr>
                    <a:solidFill>
                      <a:srgbClr val="1A73E8"/>
                    </a:solidFill>
                  </a:tcPr>
                </a:tc>
                <a:tc>
                  <a:txBody>
                    <a:bodyPr/>
                    <a:lstStyle/>
                    <a:p>
                      <a:pPr algn="ctr"/>
                      <a:r>
                        <a:rPr sz="900" b="1">
                          <a:solidFill>
                            <a:srgbClr val="FFFFFF"/>
                          </a:solidFill>
                        </a:rPr>
                        <a:t>Original</a:t>
                      </a:r>
                    </a:p>
                  </a:txBody>
                  <a:tcPr>
                    <a:solidFill>
                      <a:srgbClr val="1A73E8"/>
                    </a:solidFill>
                  </a:tcPr>
                </a:tc>
                <a:tc>
                  <a:txBody>
                    <a:bodyPr/>
                    <a:lstStyle/>
                    <a:p>
                      <a:pPr algn="ctr"/>
                      <a:r>
                        <a:rPr sz="900" b="1">
                          <a:solidFill>
                            <a:srgbClr val="FFFFFF"/>
                          </a:solidFill>
                        </a:rPr>
                        <a:t>Setelah Augmentasi</a:t>
                      </a:r>
                    </a:p>
                  </a:txBody>
                  <a:tcPr>
                    <a:solidFill>
                      <a:srgbClr val="1A73E8"/>
                    </a:solidFill>
                  </a:tcPr>
                </a:tc>
                <a:tc>
                  <a:txBody>
                    <a:bodyPr/>
                    <a:lstStyle/>
                    <a:p>
                      <a:pPr algn="ctr"/>
                      <a:r>
                        <a:rPr sz="900" b="1">
                          <a:solidFill>
                            <a:srgbClr val="FFFFFF"/>
                          </a:solidFill>
                        </a:rPr>
                        <a:t>Ditambah</a:t>
                      </a:r>
                    </a:p>
                  </a:txBody>
                  <a:tcPr>
                    <a:solidFill>
                      <a:srgbClr val="1A73E8"/>
                    </a:solidFill>
                  </a:tcPr>
                </a:tc>
                <a:tc>
                  <a:txBody>
                    <a:bodyPr/>
                    <a:lstStyle/>
                    <a:p>
                      <a:pPr algn="ctr"/>
                      <a:r>
                        <a:rPr sz="900" b="1">
                          <a:solidFill>
                            <a:srgbClr val="FFFFFF"/>
                          </a:solidFill>
                        </a:rPr>
                        <a:t>Weight (B2)</a:t>
                      </a:r>
                    </a:p>
                  </a:txBody>
                  <a:tcPr>
                    <a:solidFill>
                      <a:srgbClr val="1A73E8"/>
                    </a:solidFill>
                  </a:tcPr>
                </a:tc>
              </a:tr>
              <a:tr h="402336">
                <a:tc>
                  <a:txBody>
                    <a:bodyPr/>
                    <a:lstStyle/>
                    <a:p>
                      <a:pPr algn="l"/>
                      <a:r>
                        <a:rPr sz="900">
                          <a:solidFill>
                            <a:srgbClr val="202020"/>
                          </a:solidFill>
                        </a:rPr>
                        <a:t>Angry</a:t>
                      </a:r>
                    </a:p>
                  </a:txBody>
                  <a:tcPr>
                    <a:solidFill>
                      <a:srgbClr val="E8F0FE"/>
                    </a:solidFill>
                  </a:tcPr>
                </a:tc>
                <a:tc>
                  <a:txBody>
                    <a:bodyPr/>
                    <a:lstStyle/>
                    <a:p>
                      <a:pPr algn="ctr"/>
                      <a:r>
                        <a:rPr sz="900">
                          <a:solidFill>
                            <a:srgbClr val="202020"/>
                          </a:solidFill>
                        </a:rPr>
                        <a:t>48</a:t>
                      </a:r>
                    </a:p>
                  </a:txBody>
                  <a:tcPr>
                    <a:solidFill>
                      <a:srgbClr val="E8F0FE"/>
                    </a:solidFill>
                  </a:tcPr>
                </a:tc>
                <a:tc>
                  <a:txBody>
                    <a:bodyPr/>
                    <a:lstStyle/>
                    <a:p>
                      <a:pPr algn="ctr"/>
                      <a:r>
                        <a:rPr sz="900">
                          <a:solidFill>
                            <a:srgbClr val="202020"/>
                          </a:solidFill>
                        </a:rPr>
                        <a:t>150</a:t>
                      </a:r>
                    </a:p>
                  </a:txBody>
                  <a:tcPr>
                    <a:solidFill>
                      <a:srgbClr val="E8F0FE"/>
                    </a:solidFill>
                  </a:tcPr>
                </a:tc>
                <a:tc>
                  <a:txBody>
                    <a:bodyPr/>
                    <a:lstStyle/>
                    <a:p>
                      <a:pPr algn="ctr"/>
                      <a:r>
                        <a:rPr sz="900">
                          <a:solidFill>
                            <a:srgbClr val="202020"/>
                          </a:solidFill>
                        </a:rPr>
                        <a:t>+102</a:t>
                      </a:r>
                    </a:p>
                  </a:txBody>
                  <a:tcPr>
                    <a:solidFill>
                      <a:srgbClr val="E8F0FE"/>
                    </a:solidFill>
                  </a:tcPr>
                </a:tc>
                <a:tc>
                  <a:txBody>
                    <a:bodyPr/>
                    <a:lstStyle/>
                    <a:p>
                      <a:pPr algn="ctr"/>
                      <a:r>
                        <a:rPr sz="900">
                          <a:solidFill>
                            <a:srgbClr val="202020"/>
                          </a:solidFill>
                        </a:rPr>
                        <a:t>21.3x</a:t>
                      </a:r>
                    </a:p>
                  </a:txBody>
                  <a:tcPr>
                    <a:solidFill>
                      <a:srgbClr val="E8F0FE"/>
                    </a:solidFill>
                  </a:tcPr>
                </a:tc>
              </a:tr>
              <a:tr h="402336">
                <a:tc>
                  <a:txBody>
                    <a:bodyPr/>
                    <a:lstStyle/>
                    <a:p>
                      <a:pPr algn="l"/>
                      <a:r>
                        <a:rPr sz="900">
                          <a:solidFill>
                            <a:srgbClr val="202020"/>
                          </a:solidFill>
                        </a:rPr>
                        <a:t>Fearful</a:t>
                      </a:r>
                    </a:p>
                  </a:txBody>
                  <a:tcPr>
                    <a:solidFill>
                      <a:srgbClr val="FFFFFF"/>
                    </a:solidFill>
                  </a:tcPr>
                </a:tc>
                <a:tc>
                  <a:txBody>
                    <a:bodyPr/>
                    <a:lstStyle/>
                    <a:p>
                      <a:pPr algn="ctr"/>
                      <a:r>
                        <a:rPr sz="900">
                          <a:solidFill>
                            <a:srgbClr val="202020"/>
                          </a:solidFill>
                        </a:rPr>
                        <a:t>8</a:t>
                      </a:r>
                    </a:p>
                  </a:txBody>
                  <a:tcPr>
                    <a:solidFill>
                      <a:srgbClr val="FFFFFF"/>
                    </a:solidFill>
                  </a:tcPr>
                </a:tc>
                <a:tc>
                  <a:txBody>
                    <a:bodyPr/>
                    <a:lstStyle/>
                    <a:p>
                      <a:pPr algn="ctr"/>
                      <a:r>
                        <a:rPr sz="900">
                          <a:solidFill>
                            <a:srgbClr val="202020"/>
                          </a:solidFill>
                        </a:rPr>
                        <a:t>150</a:t>
                      </a:r>
                    </a:p>
                  </a:txBody>
                  <a:tcPr>
                    <a:solidFill>
                      <a:srgbClr val="FFFFFF"/>
                    </a:solidFill>
                  </a:tcPr>
                </a:tc>
                <a:tc>
                  <a:txBody>
                    <a:bodyPr/>
                    <a:lstStyle/>
                    <a:p>
                      <a:pPr algn="ctr"/>
                      <a:r>
                        <a:rPr sz="900">
                          <a:solidFill>
                            <a:srgbClr val="202020"/>
                          </a:solidFill>
                        </a:rPr>
                        <a:t>+142</a:t>
                      </a:r>
                    </a:p>
                  </a:txBody>
                  <a:tcPr>
                    <a:solidFill>
                      <a:srgbClr val="FFFFFF"/>
                    </a:solidFill>
                  </a:tcPr>
                </a:tc>
                <a:tc>
                  <a:txBody>
                    <a:bodyPr/>
                    <a:lstStyle/>
                    <a:p>
                      <a:pPr algn="ctr"/>
                      <a:r>
                        <a:rPr sz="900">
                          <a:solidFill>
                            <a:srgbClr val="202020"/>
                          </a:solidFill>
                        </a:rPr>
                        <a:t>125.0x</a:t>
                      </a:r>
                    </a:p>
                  </a:txBody>
                  <a:tcPr>
                    <a:solidFill>
                      <a:srgbClr val="FFFFFF"/>
                    </a:solidFill>
                  </a:tcPr>
                </a:tc>
              </a:tr>
              <a:tr h="402336">
                <a:tc>
                  <a:txBody>
                    <a:bodyPr/>
                    <a:lstStyle/>
                    <a:p>
                      <a:pPr algn="l"/>
                      <a:r>
                        <a:rPr sz="900">
                          <a:solidFill>
                            <a:srgbClr val="202020"/>
                          </a:solidFill>
                        </a:rPr>
                        <a:t>Disgusted</a:t>
                      </a:r>
                    </a:p>
                  </a:txBody>
                  <a:tcPr>
                    <a:solidFill>
                      <a:srgbClr val="E8F0FE"/>
                    </a:solidFill>
                  </a:tcPr>
                </a:tc>
                <a:tc>
                  <a:txBody>
                    <a:bodyPr/>
                    <a:lstStyle/>
                    <a:p>
                      <a:pPr algn="ctr"/>
                      <a:r>
                        <a:rPr sz="900">
                          <a:solidFill>
                            <a:srgbClr val="202020"/>
                          </a:solidFill>
                        </a:rPr>
                        <a:t>19</a:t>
                      </a:r>
                    </a:p>
                  </a:txBody>
                  <a:tcPr>
                    <a:solidFill>
                      <a:srgbClr val="E8F0FE"/>
                    </a:solidFill>
                  </a:tcPr>
                </a:tc>
                <a:tc>
                  <a:txBody>
                    <a:bodyPr/>
                    <a:lstStyle/>
                    <a:p>
                      <a:pPr algn="ctr"/>
                      <a:r>
                        <a:rPr sz="900">
                          <a:solidFill>
                            <a:srgbClr val="202020"/>
                          </a:solidFill>
                        </a:rPr>
                        <a:t>150</a:t>
                      </a:r>
                    </a:p>
                  </a:txBody>
                  <a:tcPr>
                    <a:solidFill>
                      <a:srgbClr val="E8F0FE"/>
                    </a:solidFill>
                  </a:tcPr>
                </a:tc>
                <a:tc>
                  <a:txBody>
                    <a:bodyPr/>
                    <a:lstStyle/>
                    <a:p>
                      <a:pPr algn="ctr"/>
                      <a:r>
                        <a:rPr sz="900">
                          <a:solidFill>
                            <a:srgbClr val="202020"/>
                          </a:solidFill>
                        </a:rPr>
                        <a:t>+131</a:t>
                      </a:r>
                    </a:p>
                  </a:txBody>
                  <a:tcPr>
                    <a:solidFill>
                      <a:srgbClr val="E8F0FE"/>
                    </a:solidFill>
                  </a:tcPr>
                </a:tc>
                <a:tc>
                  <a:txBody>
                    <a:bodyPr/>
                    <a:lstStyle/>
                    <a:p>
                      <a:pPr algn="ctr"/>
                      <a:r>
                        <a:rPr sz="900">
                          <a:solidFill>
                            <a:srgbClr val="202020"/>
                          </a:solidFill>
                        </a:rPr>
                        <a:t>52.9x</a:t>
                      </a:r>
                    </a:p>
                  </a:txBody>
                  <a:tcPr>
                    <a:solidFill>
                      <a:srgbClr val="E8F0FE"/>
                    </a:solidFill>
                  </a:tcPr>
                </a:tc>
              </a:tr>
              <a:tr h="402336">
                <a:tc>
                  <a:txBody>
                    <a:bodyPr/>
                    <a:lstStyle/>
                    <a:p>
                      <a:pPr algn="l"/>
                      <a:r>
                        <a:rPr sz="900">
                          <a:solidFill>
                            <a:srgbClr val="202020"/>
                          </a:solidFill>
                        </a:rPr>
                        <a:t>Surprised</a:t>
                      </a:r>
                    </a:p>
                  </a:txBody>
                  <a:tcPr>
                    <a:solidFill>
                      <a:srgbClr val="FFFFFF"/>
                    </a:solidFill>
                  </a:tcPr>
                </a:tc>
                <a:tc>
                  <a:txBody>
                    <a:bodyPr/>
                    <a:lstStyle/>
                    <a:p>
                      <a:pPr algn="ctr"/>
                      <a:r>
                        <a:rPr sz="900">
                          <a:solidFill>
                            <a:srgbClr val="202020"/>
                          </a:solidFill>
                        </a:rPr>
                        <a:t>70</a:t>
                      </a:r>
                    </a:p>
                  </a:txBody>
                  <a:tcPr>
                    <a:solidFill>
                      <a:srgbClr val="FFFFFF"/>
                    </a:solidFill>
                  </a:tcPr>
                </a:tc>
                <a:tc>
                  <a:txBody>
                    <a:bodyPr/>
                    <a:lstStyle/>
                    <a:p>
                      <a:pPr algn="ctr"/>
                      <a:r>
                        <a:rPr sz="900">
                          <a:solidFill>
                            <a:srgbClr val="202020"/>
                          </a:solidFill>
                        </a:rPr>
                        <a:t>150</a:t>
                      </a:r>
                    </a:p>
                  </a:txBody>
                  <a:tcPr>
                    <a:solidFill>
                      <a:srgbClr val="FFFFFF"/>
                    </a:solidFill>
                  </a:tcPr>
                </a:tc>
                <a:tc>
                  <a:txBody>
                    <a:bodyPr/>
                    <a:lstStyle/>
                    <a:p>
                      <a:pPr algn="ctr"/>
                      <a:r>
                        <a:rPr sz="900">
                          <a:solidFill>
                            <a:srgbClr val="202020"/>
                          </a:solidFill>
                        </a:rPr>
                        <a:t>+80</a:t>
                      </a:r>
                    </a:p>
                  </a:txBody>
                  <a:tcPr>
                    <a:solidFill>
                      <a:srgbClr val="FFFFFF"/>
                    </a:solidFill>
                  </a:tcPr>
                </a:tc>
                <a:tc>
                  <a:txBody>
                    <a:bodyPr/>
                    <a:lstStyle/>
                    <a:p>
                      <a:pPr algn="ctr"/>
                      <a:r>
                        <a:rPr sz="900">
                          <a:solidFill>
                            <a:srgbClr val="202020"/>
                          </a:solidFill>
                        </a:rPr>
                        <a:t>14.7x</a:t>
                      </a:r>
                    </a:p>
                  </a:txBody>
                  <a:tcPr>
                    <a:solidFill>
                      <a:srgbClr val="FFFFFF"/>
                    </a:solidFill>
                  </a:tcPr>
                </a:tc>
              </a:tr>
            </a:tbl>
          </a:graphicData>
        </a:graphic>
      </p:graphicFrame>
      <p:sp>
        <p:nvSpPr>
          <p:cNvPr id="5" name="TextBox 4"/>
          <p:cNvSpPr txBox="1"/>
          <p:nvPr/>
        </p:nvSpPr>
        <p:spPr>
          <a:xfrm>
            <a:off x="7040880" y="2743200"/>
            <a:ext cx="1828800" cy="1828800"/>
          </a:xfrm>
          <a:prstGeom prst="rect">
            <a:avLst/>
          </a:prstGeom>
          <a:noFill/>
        </p:spPr>
        <p:txBody>
          <a:bodyPr wrap="square">
            <a:spAutoFit/>
          </a:bodyPr>
          <a:lstStyle/>
          <a:p>
            <a:pPr>
              <a:defRPr sz="900">
                <a:solidFill>
                  <a:srgbClr val="202020"/>
                </a:solidFill>
              </a:defRPr>
            </a:pPr>
            <a:r>
              <a:t>Augmentasi: flip horizontal,</a:t>
            </a:r>
          </a:p>
          <a:p>
            <a:pPr>
              <a:defRPr sz="900">
                <a:solidFill>
                  <a:srgbClr val="202020"/>
                </a:solidFill>
              </a:defRPr>
            </a:pPr>
            <a:r>
              <a:t>rotasi ±15°, brightness.</a:t>
            </a:r>
          </a:p>
          <a:p>
            <a:pPr>
              <a:defRPr sz="900">
                <a:solidFill>
                  <a:srgbClr val="202020"/>
                </a:solidFill>
              </a:defRPr>
            </a:pPr>
            <a:r>
              <a:t>Hanya train set — val/test</a:t>
            </a:r>
          </a:p>
          <a:p>
            <a:pPr>
              <a:defRPr sz="900">
                <a:solidFill>
                  <a:srgbClr val="202020"/>
                </a:solidFill>
              </a:defRPr>
            </a:pPr>
            <a:r>
              <a:t>tetap original (evaluasi fair)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Split Dataset — User-Based Split</a:t>
            </a:r>
          </a:p>
        </p:txBody>
      </p:sp>
      <p:graphicFrame>
        <p:nvGraphicFramePr>
          <p:cNvPr id="3" name="Table 2"/>
          <p:cNvGraphicFramePr>
            <a:graphicFrameLocks noGrp="1"/>
          </p:cNvGraphicFramePr>
          <p:nvPr/>
        </p:nvGraphicFramePr>
        <p:xfrm>
          <a:off x="457200" y="1097280"/>
          <a:ext cx="4572000" cy="1828800"/>
        </p:xfrm>
        <a:graphic>
          <a:graphicData uri="http://schemas.openxmlformats.org/drawingml/2006/table">
            <a:tbl>
              <a:tblPr firstRow="1" bandRow="1">
                <a:tableStyleId>{5C22544A-7EE6-4342-B048-85BDC9FD1C3A}</a:tableStyleId>
              </a:tblPr>
              <a:tblGrid>
                <a:gridCol w="1371600"/>
                <a:gridCol w="1097280"/>
                <a:gridCol w="914400"/>
                <a:gridCol w="1188720"/>
              </a:tblGrid>
              <a:tr h="365760">
                <a:tc>
                  <a:txBody>
                    <a:bodyPr/>
                    <a:lstStyle/>
                    <a:p>
                      <a:pPr algn="ctr"/>
                      <a:r>
                        <a:rPr sz="1000" b="1">
                          <a:solidFill>
                            <a:srgbClr val="FFFFFF"/>
                          </a:solidFill>
                        </a:rPr>
                        <a:t>Split</a:t>
                      </a:r>
                    </a:p>
                  </a:txBody>
                  <a:tcPr>
                    <a:solidFill>
                      <a:srgbClr val="1A73E8"/>
                    </a:solidFill>
                  </a:tcPr>
                </a:tc>
                <a:tc>
                  <a:txBody>
                    <a:bodyPr/>
                    <a:lstStyle/>
                    <a:p>
                      <a:pPr algn="ctr"/>
                      <a:r>
                        <a:rPr sz="1000" b="1">
                          <a:solidFill>
                            <a:srgbClr val="FFFFFF"/>
                          </a:solidFill>
                        </a:rPr>
                        <a:t>Samples</a:t>
                      </a:r>
                    </a:p>
                  </a:txBody>
                  <a:tcPr>
                    <a:solidFill>
                      <a:srgbClr val="1A73E8"/>
                    </a:solidFill>
                  </a:tcPr>
                </a:tc>
                <a:tc>
                  <a:txBody>
                    <a:bodyPr/>
                    <a:lstStyle/>
                    <a:p>
                      <a:pPr algn="ctr"/>
                      <a:r>
                        <a:rPr sz="1000" b="1">
                          <a:solidFill>
                            <a:srgbClr val="FFFFFF"/>
                          </a:solidFill>
                        </a:rPr>
                        <a:t>Users</a:t>
                      </a:r>
                    </a:p>
                  </a:txBody>
                  <a:tcPr>
                    <a:solidFill>
                      <a:srgbClr val="1A73E8"/>
                    </a:solidFill>
                  </a:tcPr>
                </a:tc>
                <a:tc>
                  <a:txBody>
                    <a:bodyPr/>
                    <a:lstStyle/>
                    <a:p>
                      <a:pPr algn="ctr"/>
                      <a:r>
                        <a:rPr sz="1000" b="1">
                          <a:solidFill>
                            <a:srgbClr val="FFFFFF"/>
                          </a:solidFill>
                        </a:rPr>
                        <a:t>Persentase</a:t>
                      </a:r>
                    </a:p>
                  </a:txBody>
                  <a:tcPr>
                    <a:solidFill>
                      <a:srgbClr val="1A73E8"/>
                    </a:solidFill>
                  </a:tcPr>
                </a:tc>
              </a:tr>
              <a:tr h="365760">
                <a:tc>
                  <a:txBody>
                    <a:bodyPr/>
                    <a:lstStyle/>
                    <a:p>
                      <a:pPr algn="l"/>
                      <a:r>
                        <a:rPr sz="1000">
                          <a:solidFill>
                            <a:srgbClr val="202020"/>
                          </a:solidFill>
                        </a:rPr>
                        <a:t>Train</a:t>
                      </a:r>
                    </a:p>
                  </a:txBody>
                  <a:tcPr>
                    <a:solidFill>
                      <a:srgbClr val="E8F0FE"/>
                    </a:solidFill>
                  </a:tcPr>
                </a:tc>
                <a:tc>
                  <a:txBody>
                    <a:bodyPr/>
                    <a:lstStyle/>
                    <a:p>
                      <a:pPr algn="ctr"/>
                      <a:r>
                        <a:rPr sz="1000">
                          <a:solidFill>
                            <a:srgbClr val="202020"/>
                          </a:solidFill>
                        </a:rPr>
                        <a:t>7,064</a:t>
                      </a:r>
                    </a:p>
                  </a:txBody>
                  <a:tcPr>
                    <a:solidFill>
                      <a:srgbClr val="E8F0FE"/>
                    </a:solidFill>
                  </a:tcPr>
                </a:tc>
                <a:tc>
                  <a:txBody>
                    <a:bodyPr/>
                    <a:lstStyle/>
                    <a:p>
                      <a:pPr algn="ctr"/>
                      <a:r>
                        <a:rPr sz="1000">
                          <a:solidFill>
                            <a:srgbClr val="202020"/>
                          </a:solidFill>
                        </a:rPr>
                        <a:t>29</a:t>
                      </a:r>
                    </a:p>
                  </a:txBody>
                  <a:tcPr>
                    <a:solidFill>
                      <a:srgbClr val="E8F0FE"/>
                    </a:solidFill>
                  </a:tcPr>
                </a:tc>
                <a:tc>
                  <a:txBody>
                    <a:bodyPr/>
                    <a:lstStyle/>
                    <a:p>
                      <a:pPr algn="ctr"/>
                      <a:r>
                        <a:rPr sz="1000">
                          <a:solidFill>
                            <a:srgbClr val="202020"/>
                          </a:solidFill>
                        </a:rPr>
                        <a:t>71.4%</a:t>
                      </a:r>
                    </a:p>
                  </a:txBody>
                  <a:tcPr>
                    <a:solidFill>
                      <a:srgbClr val="E8F0FE"/>
                    </a:solidFill>
                  </a:tcPr>
                </a:tc>
              </a:tr>
              <a:tr h="365760">
                <a:tc>
                  <a:txBody>
                    <a:bodyPr/>
                    <a:lstStyle/>
                    <a:p>
                      <a:pPr algn="l"/>
                      <a:r>
                        <a:rPr sz="1000">
                          <a:solidFill>
                            <a:srgbClr val="202020"/>
                          </a:solidFill>
                        </a:rPr>
                        <a:t>Validation</a:t>
                      </a:r>
                    </a:p>
                  </a:txBody>
                  <a:tcPr>
                    <a:solidFill>
                      <a:srgbClr val="FFFFFF"/>
                    </a:solidFill>
                  </a:tcPr>
                </a:tc>
                <a:tc>
                  <a:txBody>
                    <a:bodyPr/>
                    <a:lstStyle/>
                    <a:p>
                      <a:pPr algn="ctr"/>
                      <a:r>
                        <a:rPr sz="1000">
                          <a:solidFill>
                            <a:srgbClr val="202020"/>
                          </a:solidFill>
                        </a:rPr>
                        <a:t>1,174</a:t>
                      </a:r>
                    </a:p>
                  </a:txBody>
                  <a:tcPr>
                    <a:solidFill>
                      <a:srgbClr val="FFFFFF"/>
                    </a:solidFill>
                  </a:tcPr>
                </a:tc>
                <a:tc>
                  <a:txBody>
                    <a:bodyPr/>
                    <a:lstStyle/>
                    <a:p>
                      <a:pPr algn="ctr"/>
                      <a:r>
                        <a:rPr sz="1000">
                          <a:solidFill>
                            <a:srgbClr val="202020"/>
                          </a:solidFill>
                        </a:rPr>
                        <a:t>3</a:t>
                      </a:r>
                    </a:p>
                  </a:txBody>
                  <a:tcPr>
                    <a:solidFill>
                      <a:srgbClr val="FFFFFF"/>
                    </a:solidFill>
                  </a:tcPr>
                </a:tc>
                <a:tc>
                  <a:txBody>
                    <a:bodyPr/>
                    <a:lstStyle/>
                    <a:p>
                      <a:pPr algn="ctr"/>
                      <a:r>
                        <a:rPr sz="1000">
                          <a:solidFill>
                            <a:srgbClr val="202020"/>
                          </a:solidFill>
                        </a:rPr>
                        <a:t>11.9%</a:t>
                      </a:r>
                    </a:p>
                  </a:txBody>
                  <a:tcPr>
                    <a:solidFill>
                      <a:srgbClr val="FFFFFF"/>
                    </a:solidFill>
                  </a:tcPr>
                </a:tc>
              </a:tr>
              <a:tr h="365760">
                <a:tc>
                  <a:txBody>
                    <a:bodyPr/>
                    <a:lstStyle/>
                    <a:p>
                      <a:pPr algn="l"/>
                      <a:r>
                        <a:rPr sz="1000">
                          <a:solidFill>
                            <a:srgbClr val="202020"/>
                          </a:solidFill>
                        </a:rPr>
                        <a:t>Test</a:t>
                      </a:r>
                    </a:p>
                  </a:txBody>
                  <a:tcPr>
                    <a:solidFill>
                      <a:srgbClr val="E8F0FE"/>
                    </a:solidFill>
                  </a:tcPr>
                </a:tc>
                <a:tc>
                  <a:txBody>
                    <a:bodyPr/>
                    <a:lstStyle/>
                    <a:p>
                      <a:pPr algn="ctr"/>
                      <a:r>
                        <a:rPr sz="1000">
                          <a:solidFill>
                            <a:srgbClr val="202020"/>
                          </a:solidFill>
                        </a:rPr>
                        <a:t>1,656</a:t>
                      </a:r>
                    </a:p>
                  </a:txBody>
                  <a:tcPr>
                    <a:solidFill>
                      <a:srgbClr val="E8F0FE"/>
                    </a:solidFill>
                  </a:tcPr>
                </a:tc>
                <a:tc>
                  <a:txBody>
                    <a:bodyPr/>
                    <a:lstStyle/>
                    <a:p>
                      <a:pPr algn="ctr"/>
                      <a:r>
                        <a:rPr sz="1000">
                          <a:solidFill>
                            <a:srgbClr val="202020"/>
                          </a:solidFill>
                        </a:rPr>
                        <a:t>5</a:t>
                      </a:r>
                    </a:p>
                  </a:txBody>
                  <a:tcPr>
                    <a:solidFill>
                      <a:srgbClr val="E8F0FE"/>
                    </a:solidFill>
                  </a:tcPr>
                </a:tc>
                <a:tc>
                  <a:txBody>
                    <a:bodyPr/>
                    <a:lstStyle/>
                    <a:p>
                      <a:pPr algn="ctr"/>
                      <a:r>
                        <a:rPr sz="1000">
                          <a:solidFill>
                            <a:srgbClr val="202020"/>
                          </a:solidFill>
                        </a:rPr>
                        <a:t>16.7%</a:t>
                      </a:r>
                    </a:p>
                  </a:txBody>
                  <a:tcPr>
                    <a:solidFill>
                      <a:srgbClr val="E8F0FE"/>
                    </a:solidFill>
                  </a:tcPr>
                </a:tc>
              </a:tr>
              <a:tr h="365760">
                <a:tc>
                  <a:txBody>
                    <a:bodyPr/>
                    <a:lstStyle/>
                    <a:p>
                      <a:pPr algn="l"/>
                      <a:r>
                        <a:rPr sz="1000">
                          <a:solidFill>
                            <a:srgbClr val="202020"/>
                          </a:solidFill>
                        </a:rPr>
                        <a:t>Total</a:t>
                      </a:r>
                    </a:p>
                  </a:txBody>
                  <a:tcPr>
                    <a:solidFill>
                      <a:srgbClr val="FFFFFF"/>
                    </a:solidFill>
                  </a:tcPr>
                </a:tc>
                <a:tc>
                  <a:txBody>
                    <a:bodyPr/>
                    <a:lstStyle/>
                    <a:p>
                      <a:pPr algn="ctr"/>
                      <a:r>
                        <a:rPr sz="1000">
                          <a:solidFill>
                            <a:srgbClr val="202020"/>
                          </a:solidFill>
                        </a:rPr>
                        <a:t>9,894</a:t>
                      </a:r>
                    </a:p>
                  </a:txBody>
                  <a:tcPr>
                    <a:solidFill>
                      <a:srgbClr val="FFFFFF"/>
                    </a:solidFill>
                  </a:tcPr>
                </a:tc>
                <a:tc>
                  <a:txBody>
                    <a:bodyPr/>
                    <a:lstStyle/>
                    <a:p>
                      <a:pPr algn="ctr"/>
                      <a:r>
                        <a:rPr sz="1000">
                          <a:solidFill>
                            <a:srgbClr val="202020"/>
                          </a:solidFill>
                        </a:rPr>
                        <a:t>37</a:t>
                      </a:r>
                    </a:p>
                  </a:txBody>
                  <a:tcPr>
                    <a:solidFill>
                      <a:srgbClr val="FFFFFF"/>
                    </a:solidFill>
                  </a:tcPr>
                </a:tc>
                <a:tc>
                  <a:txBody>
                    <a:bodyPr/>
                    <a:lstStyle/>
                    <a:p>
                      <a:pPr algn="ctr"/>
                      <a:r>
                        <a:rPr sz="1000">
                          <a:solidFill>
                            <a:srgbClr val="202020"/>
                          </a:solidFill>
                        </a:rPr>
                        <a:t>100%</a:t>
                      </a:r>
                    </a:p>
                  </a:txBody>
                  <a:tcPr>
                    <a:solidFill>
                      <a:srgbClr val="FFFFFF"/>
                    </a:solidFill>
                  </a:tcPr>
                </a:tc>
              </a:tr>
            </a:tbl>
          </a:graphicData>
        </a:graphic>
      </p:graphicFrame>
      <p:graphicFrame>
        <p:nvGraphicFramePr>
          <p:cNvPr id="4" name="Table 3"/>
          <p:cNvGraphicFramePr>
            <a:graphicFrameLocks noGrp="1"/>
          </p:cNvGraphicFramePr>
          <p:nvPr/>
        </p:nvGraphicFramePr>
        <p:xfrm>
          <a:off x="5212080" y="1097280"/>
          <a:ext cx="3657600" cy="3200400"/>
        </p:xfrm>
        <a:graphic>
          <a:graphicData uri="http://schemas.openxmlformats.org/drawingml/2006/table">
            <a:tbl>
              <a:tblPr firstRow="1" bandRow="1">
                <a:tableStyleId>{5C22544A-7EE6-4342-B048-85BDC9FD1C3A}</a:tableStyleId>
              </a:tblPr>
              <a:tblGrid>
                <a:gridCol w="1371600"/>
                <a:gridCol w="822960"/>
                <a:gridCol w="731520"/>
                <a:gridCol w="731520"/>
              </a:tblGrid>
              <a:tr h="400050">
                <a:tc>
                  <a:txBody>
                    <a:bodyPr/>
                    <a:lstStyle/>
                    <a:p>
                      <a:pPr algn="ctr"/>
                      <a:r>
                        <a:rPr sz="900" b="1">
                          <a:solidFill>
                            <a:srgbClr val="FFFFFF"/>
                          </a:solidFill>
                        </a:rPr>
                        <a:t>Emosi</a:t>
                      </a:r>
                    </a:p>
                  </a:txBody>
                  <a:tcPr>
                    <a:solidFill>
                      <a:srgbClr val="1A73E8"/>
                    </a:solidFill>
                  </a:tcPr>
                </a:tc>
                <a:tc>
                  <a:txBody>
                    <a:bodyPr/>
                    <a:lstStyle/>
                    <a:p>
                      <a:pPr algn="ctr"/>
                      <a:r>
                        <a:rPr sz="900" b="1">
                          <a:solidFill>
                            <a:srgbClr val="FFFFFF"/>
                          </a:solidFill>
                        </a:rPr>
                        <a:t>Train</a:t>
                      </a:r>
                    </a:p>
                  </a:txBody>
                  <a:tcPr>
                    <a:solidFill>
                      <a:srgbClr val="1A73E8"/>
                    </a:solidFill>
                  </a:tcPr>
                </a:tc>
                <a:tc>
                  <a:txBody>
                    <a:bodyPr/>
                    <a:lstStyle/>
                    <a:p>
                      <a:pPr algn="ctr"/>
                      <a:r>
                        <a:rPr sz="900" b="1">
                          <a:solidFill>
                            <a:srgbClr val="FFFFFF"/>
                          </a:solidFill>
                        </a:rPr>
                        <a:t>Val</a:t>
                      </a:r>
                    </a:p>
                  </a:txBody>
                  <a:tcPr>
                    <a:solidFill>
                      <a:srgbClr val="1A73E8"/>
                    </a:solidFill>
                  </a:tcPr>
                </a:tc>
                <a:tc>
                  <a:txBody>
                    <a:bodyPr/>
                    <a:lstStyle/>
                    <a:p>
                      <a:pPr algn="ctr"/>
                      <a:r>
                        <a:rPr sz="900" b="1">
                          <a:solidFill>
                            <a:srgbClr val="FFFFFF"/>
                          </a:solidFill>
                        </a:rPr>
                        <a:t>Test</a:t>
                      </a:r>
                    </a:p>
                  </a:txBody>
                  <a:tcPr>
                    <a:solidFill>
                      <a:srgbClr val="1A73E8"/>
                    </a:solidFill>
                  </a:tcPr>
                </a:tc>
              </a:tr>
              <a:tr h="400050">
                <a:tc>
                  <a:txBody>
                    <a:bodyPr/>
                    <a:lstStyle/>
                    <a:p>
                      <a:pPr algn="l"/>
                      <a:r>
                        <a:rPr sz="900">
                          <a:solidFill>
                            <a:srgbClr val="202020"/>
                          </a:solidFill>
                        </a:rPr>
                        <a:t>Neutral</a:t>
                      </a:r>
                    </a:p>
                  </a:txBody>
                  <a:tcPr>
                    <a:solidFill>
                      <a:srgbClr val="E8F0FE"/>
                    </a:solidFill>
                  </a:tcPr>
                </a:tc>
                <a:tc>
                  <a:txBody>
                    <a:bodyPr/>
                    <a:lstStyle/>
                    <a:p>
                      <a:pPr algn="ctr"/>
                      <a:r>
                        <a:rPr sz="900">
                          <a:solidFill>
                            <a:srgbClr val="202020"/>
                          </a:solidFill>
                        </a:rPr>
                        <a:t>5,678</a:t>
                      </a:r>
                    </a:p>
                  </a:txBody>
                  <a:tcPr>
                    <a:solidFill>
                      <a:srgbClr val="E8F0FE"/>
                    </a:solidFill>
                  </a:tcPr>
                </a:tc>
                <a:tc>
                  <a:txBody>
                    <a:bodyPr/>
                    <a:lstStyle/>
                    <a:p>
                      <a:pPr algn="ctr"/>
                      <a:r>
                        <a:rPr sz="900">
                          <a:solidFill>
                            <a:srgbClr val="202020"/>
                          </a:solidFill>
                        </a:rPr>
                        <a:t>1,090</a:t>
                      </a:r>
                    </a:p>
                  </a:txBody>
                  <a:tcPr>
                    <a:solidFill>
                      <a:srgbClr val="E8F0FE"/>
                    </a:solidFill>
                  </a:tcPr>
                </a:tc>
                <a:tc>
                  <a:txBody>
                    <a:bodyPr/>
                    <a:lstStyle/>
                    <a:p>
                      <a:pPr algn="ctr"/>
                      <a:r>
                        <a:rPr sz="900">
                          <a:solidFill>
                            <a:srgbClr val="202020"/>
                          </a:solidFill>
                        </a:rPr>
                        <a:t>1,588</a:t>
                      </a:r>
                    </a:p>
                  </a:txBody>
                  <a:tcPr>
                    <a:solidFill>
                      <a:srgbClr val="E8F0FE"/>
                    </a:solidFill>
                  </a:tcPr>
                </a:tc>
              </a:tr>
              <a:tr h="400050">
                <a:tc>
                  <a:txBody>
                    <a:bodyPr/>
                    <a:lstStyle/>
                    <a:p>
                      <a:pPr algn="l"/>
                      <a:r>
                        <a:rPr sz="900">
                          <a:solidFill>
                            <a:srgbClr val="202020"/>
                          </a:solidFill>
                        </a:rPr>
                        <a:t>Happy</a:t>
                      </a:r>
                    </a:p>
                  </a:txBody>
                  <a:tcPr>
                    <a:solidFill>
                      <a:srgbClr val="FFFFFF"/>
                    </a:solidFill>
                  </a:tcPr>
                </a:tc>
                <a:tc>
                  <a:txBody>
                    <a:bodyPr/>
                    <a:lstStyle/>
                    <a:p>
                      <a:pPr algn="ctr"/>
                      <a:r>
                        <a:rPr sz="900">
                          <a:solidFill>
                            <a:srgbClr val="202020"/>
                          </a:solidFill>
                        </a:rPr>
                        <a:t>575</a:t>
                      </a:r>
                    </a:p>
                  </a:txBody>
                  <a:tcPr>
                    <a:solidFill>
                      <a:srgbClr val="FFFFFF"/>
                    </a:solidFill>
                  </a:tcPr>
                </a:tc>
                <a:tc>
                  <a:txBody>
                    <a:bodyPr/>
                    <a:lstStyle/>
                    <a:p>
                      <a:pPr algn="ctr"/>
                      <a:r>
                        <a:rPr sz="900">
                          <a:solidFill>
                            <a:srgbClr val="202020"/>
                          </a:solidFill>
                        </a:rPr>
                        <a:t>22</a:t>
                      </a:r>
                    </a:p>
                  </a:txBody>
                  <a:tcPr>
                    <a:solidFill>
                      <a:srgbClr val="FFFFFF"/>
                    </a:solidFill>
                  </a:tcPr>
                </a:tc>
                <a:tc>
                  <a:txBody>
                    <a:bodyPr/>
                    <a:lstStyle/>
                    <a:p>
                      <a:pPr algn="ctr"/>
                      <a:r>
                        <a:rPr sz="900">
                          <a:solidFill>
                            <a:srgbClr val="202020"/>
                          </a:solidFill>
                        </a:rPr>
                        <a:t>10</a:t>
                      </a:r>
                    </a:p>
                  </a:txBody>
                  <a:tcPr>
                    <a:solidFill>
                      <a:srgbClr val="FFFFFF"/>
                    </a:solidFill>
                  </a:tcPr>
                </a:tc>
              </a:tr>
              <a:tr h="400050">
                <a:tc>
                  <a:txBody>
                    <a:bodyPr/>
                    <a:lstStyle/>
                    <a:p>
                      <a:pPr algn="l"/>
                      <a:r>
                        <a:rPr sz="900">
                          <a:solidFill>
                            <a:srgbClr val="202020"/>
                          </a:solidFill>
                        </a:rPr>
                        <a:t>Sad</a:t>
                      </a:r>
                    </a:p>
                  </a:txBody>
                  <a:tcPr>
                    <a:solidFill>
                      <a:srgbClr val="E8F0FE"/>
                    </a:solidFill>
                  </a:tcPr>
                </a:tc>
                <a:tc>
                  <a:txBody>
                    <a:bodyPr/>
                    <a:lstStyle/>
                    <a:p>
                      <a:pPr algn="ctr"/>
                      <a:r>
                        <a:rPr sz="900">
                          <a:solidFill>
                            <a:srgbClr val="202020"/>
                          </a:solidFill>
                        </a:rPr>
                        <a:t>402</a:t>
                      </a:r>
                    </a:p>
                  </a:txBody>
                  <a:tcPr>
                    <a:solidFill>
                      <a:srgbClr val="E8F0FE"/>
                    </a:solidFill>
                  </a:tcPr>
                </a:tc>
                <a:tc>
                  <a:txBody>
                    <a:bodyPr/>
                    <a:lstStyle/>
                    <a:p>
                      <a:pPr algn="ctr"/>
                      <a:r>
                        <a:rPr sz="900">
                          <a:solidFill>
                            <a:srgbClr val="202020"/>
                          </a:solidFill>
                        </a:rPr>
                        <a:t>48</a:t>
                      </a:r>
                    </a:p>
                  </a:txBody>
                  <a:tcPr>
                    <a:solidFill>
                      <a:srgbClr val="E8F0FE"/>
                    </a:solidFill>
                  </a:tcPr>
                </a:tc>
                <a:tc>
                  <a:txBody>
                    <a:bodyPr/>
                    <a:lstStyle/>
                    <a:p>
                      <a:pPr algn="ctr"/>
                      <a:r>
                        <a:rPr sz="900">
                          <a:solidFill>
                            <a:srgbClr val="202020"/>
                          </a:solidFill>
                        </a:rPr>
                        <a:t>38</a:t>
                      </a:r>
                    </a:p>
                  </a:txBody>
                  <a:tcPr>
                    <a:solidFill>
                      <a:srgbClr val="E8F0FE"/>
                    </a:solidFill>
                  </a:tcPr>
                </a:tc>
              </a:tr>
              <a:tr h="400050">
                <a:tc>
                  <a:txBody>
                    <a:bodyPr/>
                    <a:lstStyle/>
                    <a:p>
                      <a:pPr algn="l"/>
                      <a:r>
                        <a:rPr sz="900">
                          <a:solidFill>
                            <a:srgbClr val="202020"/>
                          </a:solidFill>
                        </a:rPr>
                        <a:t>Angry</a:t>
                      </a:r>
                    </a:p>
                  </a:txBody>
                  <a:tcPr>
                    <a:solidFill>
                      <a:srgbClr val="FFFFFF"/>
                    </a:solidFill>
                  </a:tcPr>
                </a:tc>
                <a:tc>
                  <a:txBody>
                    <a:bodyPr/>
                    <a:lstStyle/>
                    <a:p>
                      <a:pPr algn="ctr"/>
                      <a:r>
                        <a:rPr sz="900">
                          <a:solidFill>
                            <a:srgbClr val="202020"/>
                          </a:solidFill>
                        </a:rPr>
                        <a:t>43</a:t>
                      </a:r>
                    </a:p>
                  </a:txBody>
                  <a:tcPr>
                    <a:solidFill>
                      <a:srgbClr val="FFFFFF"/>
                    </a:solidFill>
                  </a:tcPr>
                </a:tc>
                <a:tc>
                  <a:txBody>
                    <a:bodyPr/>
                    <a:lstStyle/>
                    <a:p>
                      <a:pPr algn="ctr"/>
                      <a:r>
                        <a:rPr sz="900">
                          <a:solidFill>
                            <a:srgbClr val="202020"/>
                          </a:solidFill>
                        </a:rPr>
                        <a:t>2</a:t>
                      </a:r>
                    </a:p>
                  </a:txBody>
                  <a:tcPr>
                    <a:solidFill>
                      <a:srgbClr val="FFFFFF"/>
                    </a:solidFill>
                  </a:tcPr>
                </a:tc>
                <a:tc>
                  <a:txBody>
                    <a:bodyPr/>
                    <a:lstStyle/>
                    <a:p>
                      <a:pPr algn="ctr"/>
                      <a:r>
                        <a:rPr sz="900">
                          <a:solidFill>
                            <a:srgbClr val="202020"/>
                          </a:solidFill>
                        </a:rPr>
                        <a:t>13</a:t>
                      </a:r>
                    </a:p>
                  </a:txBody>
                  <a:tcPr>
                    <a:solidFill>
                      <a:srgbClr val="FFFFFF"/>
                    </a:solidFill>
                  </a:tcPr>
                </a:tc>
              </a:tr>
              <a:tr h="400050">
                <a:tc>
                  <a:txBody>
                    <a:bodyPr/>
                    <a:lstStyle/>
                    <a:p>
                      <a:pPr algn="l"/>
                      <a:r>
                        <a:rPr sz="900">
                          <a:solidFill>
                            <a:srgbClr val="202020"/>
                          </a:solidFill>
                        </a:rPr>
                        <a:t>Fearful</a:t>
                      </a:r>
                    </a:p>
                  </a:txBody>
                  <a:tcPr>
                    <a:solidFill>
                      <a:srgbClr val="E8F0FE"/>
                    </a:solidFill>
                  </a:tcPr>
                </a:tc>
                <a:tc>
                  <a:txBody>
                    <a:bodyPr/>
                    <a:lstStyle/>
                    <a:p>
                      <a:pPr algn="ctr"/>
                      <a:r>
                        <a:rPr sz="900">
                          <a:solidFill>
                            <a:srgbClr val="202020"/>
                          </a:solidFill>
                        </a:rPr>
                        <a:t>7</a:t>
                      </a:r>
                    </a:p>
                  </a:txBody>
                  <a:tcPr>
                    <a:solidFill>
                      <a:srgbClr val="E8F0FE"/>
                    </a:solidFill>
                  </a:tcPr>
                </a:tc>
                <a:tc>
                  <a:txBody>
                    <a:bodyPr/>
                    <a:lstStyle/>
                    <a:p>
                      <a:pPr algn="ctr"/>
                      <a:r>
                        <a:rPr sz="900">
                          <a:solidFill>
                            <a:srgbClr val="202020"/>
                          </a:solidFill>
                        </a:rPr>
                        <a:t>4</a:t>
                      </a:r>
                    </a:p>
                  </a:txBody>
                  <a:tcPr>
                    <a:solidFill>
                      <a:srgbClr val="E8F0FE"/>
                    </a:solidFill>
                  </a:tcPr>
                </a:tc>
                <a:tc>
                  <a:txBody>
                    <a:bodyPr/>
                    <a:lstStyle/>
                    <a:p>
                      <a:pPr algn="ctr"/>
                      <a:r>
                        <a:rPr sz="900">
                          <a:solidFill>
                            <a:srgbClr val="202020"/>
                          </a:solidFill>
                        </a:rPr>
                        <a:t>1</a:t>
                      </a:r>
                    </a:p>
                  </a:txBody>
                  <a:tcPr>
                    <a:solidFill>
                      <a:srgbClr val="E8F0FE"/>
                    </a:solidFill>
                  </a:tcPr>
                </a:tc>
              </a:tr>
              <a:tr h="400050">
                <a:tc>
                  <a:txBody>
                    <a:bodyPr/>
                    <a:lstStyle/>
                    <a:p>
                      <a:pPr algn="l"/>
                      <a:r>
                        <a:rPr sz="900">
                          <a:solidFill>
                            <a:srgbClr val="202020"/>
                          </a:solidFill>
                        </a:rPr>
                        <a:t>Disgusted</a:t>
                      </a:r>
                    </a:p>
                  </a:txBody>
                  <a:tcPr>
                    <a:solidFill>
                      <a:srgbClr val="FFFFFF"/>
                    </a:solidFill>
                  </a:tcPr>
                </a:tc>
                <a:tc>
                  <a:txBody>
                    <a:bodyPr/>
                    <a:lstStyle/>
                    <a:p>
                      <a:pPr algn="ctr"/>
                      <a:r>
                        <a:rPr sz="900">
                          <a:solidFill>
                            <a:srgbClr val="202020"/>
                          </a:solidFill>
                        </a:rPr>
                        <a:t>19</a:t>
                      </a:r>
                    </a:p>
                  </a:txBody>
                  <a:tcPr>
                    <a:solidFill>
                      <a:srgbClr val="FFFFFF"/>
                    </a:solidFill>
                  </a:tcPr>
                </a:tc>
                <a:tc>
                  <a:txBody>
                    <a:bodyPr/>
                    <a:lstStyle/>
                    <a:p>
                      <a:pPr algn="ctr"/>
                      <a:r>
                        <a:rPr sz="900">
                          <a:solidFill>
                            <a:srgbClr val="202020"/>
                          </a:solidFill>
                        </a:rPr>
                        <a:t>2</a:t>
                      </a:r>
                    </a:p>
                  </a:txBody>
                  <a:tcPr>
                    <a:solidFill>
                      <a:srgbClr val="FFFFFF"/>
                    </a:solidFill>
                  </a:tcPr>
                </a:tc>
                <a:tc>
                  <a:txBody>
                    <a:bodyPr/>
                    <a:lstStyle/>
                    <a:p>
                      <a:pPr algn="ctr"/>
                      <a:r>
                        <a:rPr sz="900">
                          <a:solidFill>
                            <a:srgbClr val="202020"/>
                          </a:solidFill>
                        </a:rPr>
                        <a:t>3</a:t>
                      </a:r>
                    </a:p>
                  </a:txBody>
                  <a:tcPr>
                    <a:solidFill>
                      <a:srgbClr val="FFFFFF"/>
                    </a:solidFill>
                  </a:tcPr>
                </a:tc>
              </a:tr>
              <a:tr h="400050">
                <a:tc>
                  <a:txBody>
                    <a:bodyPr/>
                    <a:lstStyle/>
                    <a:p>
                      <a:pPr algn="l"/>
                      <a:r>
                        <a:rPr sz="900">
                          <a:solidFill>
                            <a:srgbClr val="202020"/>
                          </a:solidFill>
                        </a:rPr>
                        <a:t>Surprised</a:t>
                      </a:r>
                    </a:p>
                  </a:txBody>
                  <a:tcPr>
                    <a:solidFill>
                      <a:srgbClr val="E8F0FE"/>
                    </a:solidFill>
                  </a:tcPr>
                </a:tc>
                <a:tc>
                  <a:txBody>
                    <a:bodyPr/>
                    <a:lstStyle/>
                    <a:p>
                      <a:pPr algn="ctr"/>
                      <a:r>
                        <a:rPr sz="900">
                          <a:solidFill>
                            <a:srgbClr val="202020"/>
                          </a:solidFill>
                        </a:rPr>
                        <a:t>39</a:t>
                      </a:r>
                    </a:p>
                  </a:txBody>
                  <a:tcPr>
                    <a:solidFill>
                      <a:srgbClr val="E8F0FE"/>
                    </a:solidFill>
                  </a:tcPr>
                </a:tc>
                <a:tc>
                  <a:txBody>
                    <a:bodyPr/>
                    <a:lstStyle/>
                    <a:p>
                      <a:pPr algn="ctr"/>
                      <a:r>
                        <a:rPr sz="900">
                          <a:solidFill>
                            <a:srgbClr val="202020"/>
                          </a:solidFill>
                        </a:rPr>
                        <a:t>6</a:t>
                      </a:r>
                    </a:p>
                  </a:txBody>
                  <a:tcPr>
                    <a:solidFill>
                      <a:srgbClr val="E8F0FE"/>
                    </a:solidFill>
                  </a:tcPr>
                </a:tc>
                <a:tc>
                  <a:txBody>
                    <a:bodyPr/>
                    <a:lstStyle/>
                    <a:p>
                      <a:pPr algn="ctr"/>
                      <a:r>
                        <a:rPr sz="900">
                          <a:solidFill>
                            <a:srgbClr val="202020"/>
                          </a:solidFill>
                        </a:rPr>
                        <a:t>3</a:t>
                      </a:r>
                    </a:p>
                  </a:txBody>
                  <a:tcPr>
                    <a:solidFill>
                      <a:srgbClr val="E8F0FE"/>
                    </a:solidFill>
                  </a:tcPr>
                </a:tc>
              </a:tr>
            </a:tbl>
          </a:graphicData>
        </a:graphic>
      </p:graphicFrame>
      <p:sp>
        <p:nvSpPr>
          <p:cNvPr id="5" name="TextBox 4"/>
          <p:cNvSpPr txBox="1"/>
          <p:nvPr/>
        </p:nvSpPr>
        <p:spPr>
          <a:xfrm>
            <a:off x="457200" y="3108960"/>
            <a:ext cx="4572000" cy="1280160"/>
          </a:xfrm>
          <a:prstGeom prst="rect">
            <a:avLst/>
          </a:prstGeom>
          <a:noFill/>
        </p:spPr>
        <p:txBody>
          <a:bodyPr wrap="square">
            <a:spAutoFit/>
          </a:bodyPr>
          <a:lstStyle/>
          <a:p>
            <a:pPr>
              <a:defRPr sz="900">
                <a:solidFill>
                  <a:srgbClr val="202020"/>
                </a:solidFill>
              </a:defRPr>
            </a:pPr>
            <a:r>
              <a:t>Split by user: mencegah data leaking (model tidak "menghafal" wajah)</a:t>
            </a:r>
          </a:p>
          <a:p>
            <a:pPr>
              <a:defRPr sz="900">
                <a:solidFill>
                  <a:srgbClr val="202020"/>
                </a:solidFill>
              </a:defRPr>
            </a:pPr>
            <a:r>
              <a:t>Rasio 71/12/17 normal untuk user-based split (standar: 70/10-15/15-20)</a:t>
            </a:r>
          </a:p>
          <a:p>
            <a:pPr>
              <a:defRPr sz="900">
                <a:solidFill>
                  <a:srgbClr val="202020"/>
                </a:solidFill>
              </a:defRPr>
            </a:pPr>
            <a:r>
              <a:t>Smart distribution: semua 7 emosi terwakili di setiap split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Detail Split per Batch (Front-Only)</a:t>
            </a:r>
          </a:p>
        </p:txBody>
      </p:sp>
      <p:graphicFrame>
        <p:nvGraphicFramePr>
          <p:cNvPr id="3" name="Table 2"/>
          <p:cNvGraphicFramePr>
            <a:graphicFrameLocks noGrp="1"/>
          </p:cNvGraphicFramePr>
          <p:nvPr/>
        </p:nvGraphicFramePr>
        <p:xfrm>
          <a:off x="274320" y="731520"/>
          <a:ext cx="8595360" cy="1188720"/>
        </p:xfrm>
        <a:graphic>
          <a:graphicData uri="http://schemas.openxmlformats.org/drawingml/2006/table">
            <a:tbl>
              <a:tblPr firstRow="1" bandRow="1"/>
              <a:tblGrid>
                <a:gridCol w="2011680"/>
                <a:gridCol w="1828800"/>
                <a:gridCol w="1645920"/>
                <a:gridCol w="1645920"/>
                <a:gridCol w="1463040"/>
              </a:tblGrid>
              <a:tr h="297180">
                <a:tc>
                  <a:txBody>
                    <a:bodyPr/>
                    <a:lstStyle/>
                    <a:p>
                      <a:pPr algn="ctr"/>
                      <a:r>
                        <a:rPr sz="1000" b="1">
                          <a:solidFill>
                            <a:srgbClr val="FFFFFF"/>
                          </a:solidFill>
                        </a:rPr>
                        <a:t/>
                      </a:r>
                    </a:p>
                  </a:txBody>
                  <a:tcPr>
                    <a:solidFill>
                      <a:srgbClr val="1A73E8"/>
                    </a:solidFill>
                  </a:tcPr>
                </a:tc>
                <a:tc>
                  <a:txBody>
                    <a:bodyPr/>
                    <a:lstStyle/>
                    <a:p>
                      <a:pPr algn="ctr"/>
                      <a:r>
                        <a:rPr sz="1000" b="1">
                          <a:solidFill>
                            <a:srgbClr val="FFFFFF"/>
                          </a:solidFill>
                        </a:rPr>
                        <a:t>Train</a:t>
                      </a:r>
                    </a:p>
                  </a:txBody>
                  <a:tcPr>
                    <a:solidFill>
                      <a:srgbClr val="1A73E8"/>
                    </a:solidFill>
                  </a:tcPr>
                </a:tc>
                <a:tc>
                  <a:txBody>
                    <a:bodyPr/>
                    <a:lstStyle/>
                    <a:p>
                      <a:pPr algn="ctr"/>
                      <a:r>
                        <a:rPr sz="1000" b="1">
                          <a:solidFill>
                            <a:srgbClr val="FFFFFF"/>
                          </a:solidFill>
                        </a:rPr>
                        <a:t>Val</a:t>
                      </a:r>
                    </a:p>
                  </a:txBody>
                  <a:tcPr>
                    <a:solidFill>
                      <a:srgbClr val="1A73E8"/>
                    </a:solidFill>
                  </a:tcPr>
                </a:tc>
                <a:tc>
                  <a:txBody>
                    <a:bodyPr/>
                    <a:lstStyle/>
                    <a:p>
                      <a:pPr algn="ctr"/>
                      <a:r>
                        <a:rPr sz="1000" b="1">
                          <a:solidFill>
                            <a:srgbClr val="FFFFFF"/>
                          </a:solidFill>
                        </a:rPr>
                        <a:t>Test</a:t>
                      </a:r>
                    </a:p>
                  </a:txBody>
                  <a:tcPr>
                    <a:solidFill>
                      <a:srgbClr val="1A73E8"/>
                    </a:solidFill>
                  </a:tcPr>
                </a:tc>
                <a:tc>
                  <a:txBody>
                    <a:bodyPr/>
                    <a:lstStyle/>
                    <a:p>
                      <a:pPr algn="ctr"/>
                      <a:r>
                        <a:rPr sz="1000" b="1">
                          <a:solidFill>
                            <a:srgbClr val="FFFFFF"/>
                          </a:solidFill>
                        </a:rPr>
                        <a:t>Total</a:t>
                      </a:r>
                    </a:p>
                  </a:txBody>
                  <a:tcPr>
                    <a:solidFill>
                      <a:srgbClr val="1A73E8"/>
                    </a:solidFill>
                  </a:tcPr>
                </a:tc>
              </a:tr>
              <a:tr h="297180">
                <a:tc>
                  <a:txBody>
                    <a:bodyPr/>
                    <a:lstStyle/>
                    <a:p>
                      <a:pPr algn="l"/>
                      <a:r>
                        <a:rPr sz="1000" b="1">
                          <a:solidFill>
                            <a:srgbClr val="202020"/>
                          </a:solidFill>
                        </a:rPr>
                        <a:t>Batch 1 (20 user)</a:t>
                      </a:r>
                    </a:p>
                  </a:txBody>
                  <a:tcPr>
                    <a:solidFill>
                      <a:srgbClr val="E8F0FE"/>
                    </a:solidFill>
                  </a:tcPr>
                </a:tc>
                <a:tc>
                  <a:txBody>
                    <a:bodyPr/>
                    <a:lstStyle/>
                    <a:p>
                      <a:pPr algn="ctr"/>
                      <a:r>
                        <a:rPr sz="1000" b="0">
                          <a:solidFill>
                            <a:srgbClr val="202020"/>
                          </a:solidFill>
                        </a:rPr>
                        <a:t>18 user (3,334)</a:t>
                      </a:r>
                    </a:p>
                  </a:txBody>
                  <a:tcPr>
                    <a:solidFill>
                      <a:srgbClr val="E8F0FE"/>
                    </a:solidFill>
                  </a:tcPr>
                </a:tc>
                <a:tc>
                  <a:txBody>
                    <a:bodyPr/>
                    <a:lstStyle/>
                    <a:p>
                      <a:pPr algn="ctr"/>
                      <a:r>
                        <a:rPr sz="1000" b="0">
                          <a:solidFill>
                            <a:srgbClr val="202020"/>
                          </a:solidFill>
                        </a:rPr>
                        <a:t>1 user (232)</a:t>
                      </a:r>
                    </a:p>
                  </a:txBody>
                  <a:tcPr>
                    <a:solidFill>
                      <a:srgbClr val="E8F0FE"/>
                    </a:solidFill>
                  </a:tcPr>
                </a:tc>
                <a:tc>
                  <a:txBody>
                    <a:bodyPr/>
                    <a:lstStyle/>
                    <a:p>
                      <a:pPr algn="ctr"/>
                      <a:r>
                        <a:rPr sz="1000" b="0">
                          <a:solidFill>
                            <a:srgbClr val="202020"/>
                          </a:solidFill>
                        </a:rPr>
                        <a:t>1 user (258)</a:t>
                      </a:r>
                    </a:p>
                  </a:txBody>
                  <a:tcPr>
                    <a:solidFill>
                      <a:srgbClr val="E8F0FE"/>
                    </a:solidFill>
                  </a:tcPr>
                </a:tc>
                <a:tc>
                  <a:txBody>
                    <a:bodyPr/>
                    <a:lstStyle/>
                    <a:p>
                      <a:pPr algn="ctr"/>
                      <a:r>
                        <a:rPr sz="1000" b="0">
                          <a:solidFill>
                            <a:srgbClr val="202020"/>
                          </a:solidFill>
                        </a:rPr>
                        <a:t>20 user (3,824)</a:t>
                      </a:r>
                    </a:p>
                  </a:txBody>
                  <a:tcPr>
                    <a:solidFill>
                      <a:srgbClr val="E8F0FE"/>
                    </a:solidFill>
                  </a:tcPr>
                </a:tc>
              </a:tr>
              <a:tr h="297180">
                <a:tc>
                  <a:txBody>
                    <a:bodyPr/>
                    <a:lstStyle/>
                    <a:p>
                      <a:pPr algn="l"/>
                      <a:r>
                        <a:rPr sz="1000" b="1">
                          <a:solidFill>
                            <a:srgbClr val="202020"/>
                          </a:solidFill>
                        </a:rPr>
                        <a:t>Batch 2 (17 user)</a:t>
                      </a:r>
                    </a:p>
                  </a:txBody>
                  <a:tcPr>
                    <a:solidFill>
                      <a:srgbClr val="FFFFFF"/>
                    </a:solidFill>
                  </a:tcPr>
                </a:tc>
                <a:tc>
                  <a:txBody>
                    <a:bodyPr/>
                    <a:lstStyle/>
                    <a:p>
                      <a:pPr algn="ctr"/>
                      <a:r>
                        <a:rPr sz="1000" b="0">
                          <a:solidFill>
                            <a:srgbClr val="202020"/>
                          </a:solidFill>
                        </a:rPr>
                        <a:t>11 user (2,014)</a:t>
                      </a:r>
                    </a:p>
                  </a:txBody>
                  <a:tcPr>
                    <a:solidFill>
                      <a:srgbClr val="FFFFFF"/>
                    </a:solidFill>
                  </a:tcPr>
                </a:tc>
                <a:tc>
                  <a:txBody>
                    <a:bodyPr/>
                    <a:lstStyle/>
                    <a:p>
                      <a:pPr algn="ctr"/>
                      <a:r>
                        <a:rPr sz="1000" b="0">
                          <a:solidFill>
                            <a:srgbClr val="202020"/>
                          </a:solidFill>
                        </a:rPr>
                        <a:t>2 user (475)</a:t>
                      </a:r>
                    </a:p>
                  </a:txBody>
                  <a:tcPr>
                    <a:solidFill>
                      <a:srgbClr val="FFFFFF"/>
                    </a:solidFill>
                  </a:tcPr>
                </a:tc>
                <a:tc>
                  <a:txBody>
                    <a:bodyPr/>
                    <a:lstStyle/>
                    <a:p>
                      <a:pPr algn="ctr"/>
                      <a:r>
                        <a:rPr sz="1000" b="0">
                          <a:solidFill>
                            <a:srgbClr val="202020"/>
                          </a:solidFill>
                        </a:rPr>
                        <a:t>4 user (778)</a:t>
                      </a:r>
                    </a:p>
                  </a:txBody>
                  <a:tcPr>
                    <a:solidFill>
                      <a:srgbClr val="FFFFFF"/>
                    </a:solidFill>
                  </a:tcPr>
                </a:tc>
                <a:tc>
                  <a:txBody>
                    <a:bodyPr/>
                    <a:lstStyle/>
                    <a:p>
                      <a:pPr algn="ctr"/>
                      <a:r>
                        <a:rPr sz="1000" b="0">
                          <a:solidFill>
                            <a:srgbClr val="202020"/>
                          </a:solidFill>
                        </a:rPr>
                        <a:t>17 user (3,267)</a:t>
                      </a:r>
                    </a:p>
                  </a:txBody>
                  <a:tcPr>
                    <a:solidFill>
                      <a:srgbClr val="FFFFFF"/>
                    </a:solidFill>
                  </a:tcPr>
                </a:tc>
              </a:tr>
              <a:tr h="297180">
                <a:tc>
                  <a:txBody>
                    <a:bodyPr/>
                    <a:lstStyle/>
                    <a:p>
                      <a:pPr algn="l"/>
                      <a:r>
                        <a:rPr sz="1000" b="1">
                          <a:solidFill>
                            <a:srgbClr val="202020"/>
                          </a:solidFill>
                        </a:rPr>
                        <a:t>Total</a:t>
                      </a:r>
                    </a:p>
                  </a:txBody>
                  <a:tcPr>
                    <a:solidFill>
                      <a:srgbClr val="E8F0FE"/>
                    </a:solidFill>
                  </a:tcPr>
                </a:tc>
                <a:tc>
                  <a:txBody>
                    <a:bodyPr/>
                    <a:lstStyle/>
                    <a:p>
                      <a:pPr algn="ctr"/>
                      <a:r>
                        <a:rPr sz="1000" b="1">
                          <a:solidFill>
                            <a:srgbClr val="202020"/>
                          </a:solidFill>
                        </a:rPr>
                        <a:t>29 user (5,348)</a:t>
                      </a:r>
                    </a:p>
                  </a:txBody>
                  <a:tcPr>
                    <a:solidFill>
                      <a:srgbClr val="E8F0FE"/>
                    </a:solidFill>
                  </a:tcPr>
                </a:tc>
                <a:tc>
                  <a:txBody>
                    <a:bodyPr/>
                    <a:lstStyle/>
                    <a:p>
                      <a:pPr algn="ctr"/>
                      <a:r>
                        <a:rPr sz="1000" b="1">
                          <a:solidFill>
                            <a:srgbClr val="202020"/>
                          </a:solidFill>
                        </a:rPr>
                        <a:t>3 user (707)</a:t>
                      </a:r>
                    </a:p>
                  </a:txBody>
                  <a:tcPr>
                    <a:solidFill>
                      <a:srgbClr val="E8F0FE"/>
                    </a:solidFill>
                  </a:tcPr>
                </a:tc>
                <a:tc>
                  <a:txBody>
                    <a:bodyPr/>
                    <a:lstStyle/>
                    <a:p>
                      <a:pPr algn="ctr"/>
                      <a:r>
                        <a:rPr sz="1000" b="1">
                          <a:solidFill>
                            <a:srgbClr val="202020"/>
                          </a:solidFill>
                        </a:rPr>
                        <a:t>5 user (1,036)</a:t>
                      </a:r>
                    </a:p>
                  </a:txBody>
                  <a:tcPr>
                    <a:solidFill>
                      <a:srgbClr val="E8F0FE"/>
                    </a:solidFill>
                  </a:tcPr>
                </a:tc>
                <a:tc>
                  <a:txBody>
                    <a:bodyPr/>
                    <a:lstStyle/>
                    <a:p>
                      <a:pPr algn="ctr"/>
                      <a:r>
                        <a:rPr sz="1000" b="1">
                          <a:solidFill>
                            <a:srgbClr val="202020"/>
                          </a:solidFill>
                        </a:rPr>
                        <a:t>37 user (7,091)</a:t>
                      </a:r>
                    </a:p>
                  </a:txBody>
                  <a:tcPr>
                    <a:solidFill>
                      <a:srgbClr val="E8F0FE"/>
                    </a:solidFill>
                  </a:tcPr>
                </a:tc>
              </a:tr>
            </a:tbl>
          </a:graphicData>
        </a:graphic>
      </p:graphicFrame>
      <p:sp>
        <p:nvSpPr>
          <p:cNvPr id="4" name="TextBox 3"/>
          <p:cNvSpPr txBox="1"/>
          <p:nvPr/>
        </p:nvSpPr>
        <p:spPr>
          <a:xfrm>
            <a:off x="274320" y="2057400"/>
            <a:ext cx="8595360" cy="2011680"/>
          </a:xfrm>
          <a:prstGeom prst="rect">
            <a:avLst/>
          </a:prstGeom>
          <a:solidFill>
            <a:srgbClr val="F1F3F4"/>
          </a:solidFill>
        </p:spPr>
        <p:txBody>
          <a:bodyPr wrap="square">
            <a:spAutoFit/>
          </a:bodyPr>
          <a:lstStyle/>
          <a:p>
            <a:pPr algn="l"/>
            <a:r>
              <a:rPr sz="1000" b="1" i="0">
                <a:solidFill>
                  <a:srgbClr val="202020"/>
                </a:solidFill>
              </a:rPr>
              <a:t>Detail User ID per Split:</a:t>
            </a:r>
          </a:p>
          <a:p>
            <a:pPr algn="l"/>
            <a:r>
              <a:rPr sz="400" b="0" i="0"/>
              <a:t/>
            </a:r>
          </a:p>
          <a:p>
            <a:pPr algn="l"/>
            <a:r>
              <a:rPr sz="950" b="1" i="0">
                <a:solidFill>
                  <a:srgbClr val="1A73E8"/>
                </a:solidFill>
              </a:rPr>
              <a:t>Train (29 user):</a:t>
            </a:r>
          </a:p>
          <a:p>
            <a:pPr algn="l"/>
            <a:r>
              <a:rPr sz="900" b="0" i="0">
                <a:solidFill>
                  <a:srgbClr val="202020"/>
                </a:solidFill>
              </a:rPr>
              <a:t>  Batch 1: 97, 99, 100, 101, 102, 103, 104, 106, 107, 108, 109, 110, 113, 114, 115, 116, 117, 118</a:t>
            </a:r>
          </a:p>
          <a:p>
            <a:pPr algn="l"/>
            <a:r>
              <a:rPr sz="900" b="0" i="0">
                <a:solidFill>
                  <a:srgbClr val="202020"/>
                </a:solidFill>
              </a:rPr>
              <a:t>  Batch 2: 200, 201, 203, 205, 208, 210, 211, 212, 213, 215, 216</a:t>
            </a:r>
          </a:p>
          <a:p>
            <a:pPr algn="l"/>
            <a:r>
              <a:rPr sz="400" b="0" i="0"/>
              <a:t/>
            </a:r>
          </a:p>
          <a:p>
            <a:pPr algn="l"/>
            <a:r>
              <a:rPr sz="950" b="1" i="0">
                <a:solidFill>
                  <a:srgbClr val="1A73E8"/>
                </a:solidFill>
              </a:rPr>
              <a:t>Validation (3 user):</a:t>
            </a:r>
          </a:p>
          <a:p>
            <a:pPr algn="l"/>
            <a:r>
              <a:rPr sz="900" b="0" i="0">
                <a:solidFill>
                  <a:srgbClr val="202020"/>
                </a:solidFill>
              </a:rPr>
              <a:t>  Batch 1: 112  |  Batch 2: 207, 214</a:t>
            </a:r>
          </a:p>
          <a:p>
            <a:pPr algn="l"/>
            <a:r>
              <a:rPr sz="400" b="0" i="0"/>
              <a:t/>
            </a:r>
          </a:p>
          <a:p>
            <a:pPr algn="l"/>
            <a:r>
              <a:rPr sz="950" b="1" i="0">
                <a:solidFill>
                  <a:srgbClr val="1A73E8"/>
                </a:solidFill>
              </a:rPr>
              <a:t>Test (5 user):</a:t>
            </a:r>
          </a:p>
          <a:p>
            <a:pPr algn="l"/>
            <a:r>
              <a:rPr sz="900" b="0" i="0">
                <a:solidFill>
                  <a:srgbClr val="202020"/>
                </a:solidFill>
              </a:rPr>
              <a:t>  Batch 1: 111  |  Batch 2: 197, 202, 206, 209</a:t>
            </a:r>
          </a:p>
        </p:txBody>
      </p:sp>
      <p:sp>
        <p:nvSpPr>
          <p:cNvPr id="5" name="TextBox 4"/>
          <p:cNvSpPr txBox="1"/>
          <p:nvPr/>
        </p:nvSpPr>
        <p:spPr>
          <a:xfrm>
            <a:off x="274320" y="4160520"/>
            <a:ext cx="8595360" cy="320040"/>
          </a:xfrm>
          <a:prstGeom prst="rect">
            <a:avLst/>
          </a:prstGeom>
          <a:noFill/>
        </p:spPr>
        <p:txBody>
          <a:bodyPr wrap="none">
            <a:spAutoFit/>
          </a:bodyPr>
          <a:lstStyle/>
          <a:p>
            <a:pPr algn="ctr"/>
            <a:r>
              <a:rPr sz="850" b="0" i="1">
                <a:solidFill>
                  <a:srgbClr val="666666"/>
                </a:solidFill>
              </a:rPr>
              <a:t>Split identik untuk eksperimen front+side dan front-only (user yang sama di setiap split)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Validasi Ahli Psikologi</a:t>
            </a:r>
          </a:p>
        </p:txBody>
      </p:sp>
      <p:graphicFrame>
        <p:nvGraphicFramePr>
          <p:cNvPr id="3" name="Table 2"/>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57200"/>
                <a:gridCol w="1371600"/>
                <a:gridCol w="4572000"/>
                <a:gridCol w="1828800"/>
              </a:tblGrid>
              <a:tr h="365760">
                <a:tc>
                  <a:txBody>
                    <a:bodyPr/>
                    <a:lstStyle/>
                    <a:p>
                      <a:pPr algn="ctr"/>
                      <a:r>
                        <a:rPr sz="1000" b="1">
                          <a:solidFill>
                            <a:srgbClr val="FFFFFF"/>
                          </a:solidFill>
                        </a:rPr>
                        <a:t>Opsi</a:t>
                      </a:r>
                    </a:p>
                  </a:txBody>
                  <a:tcPr>
                    <a:solidFill>
                      <a:srgbClr val="1A73E8"/>
                    </a:solidFill>
                  </a:tcPr>
                </a:tc>
                <a:tc>
                  <a:txBody>
                    <a:bodyPr/>
                    <a:lstStyle/>
                    <a:p>
                      <a:pPr algn="ctr"/>
                      <a:r>
                        <a:rPr sz="1000" b="1">
                          <a:solidFill>
                            <a:srgbClr val="FFFFFF"/>
                          </a:solidFill>
                        </a:rPr>
                        <a:t>Total Sample</a:t>
                      </a:r>
                    </a:p>
                  </a:txBody>
                  <a:tcPr>
                    <a:solidFill>
                      <a:srgbClr val="1A73E8"/>
                    </a:solidFill>
                  </a:tcPr>
                </a:tc>
                <a:tc>
                  <a:txBody>
                    <a:bodyPr/>
                    <a:lstStyle/>
                    <a:p>
                      <a:pPr algn="ctr"/>
                      <a:r>
                        <a:rPr sz="1000" b="1">
                          <a:solidFill>
                            <a:srgbClr val="FFFFFF"/>
                          </a:solidFill>
                        </a:rPr>
                        <a:t>Strategi</a:t>
                      </a:r>
                    </a:p>
                  </a:txBody>
                  <a:tcPr>
                    <a:solidFill>
                      <a:srgbClr val="1A73E8"/>
                    </a:solidFill>
                  </a:tcPr>
                </a:tc>
                <a:tc>
                  <a:txBody>
                    <a:bodyPr/>
                    <a:lstStyle/>
                    <a:p>
                      <a:pPr algn="ctr"/>
                      <a:r>
                        <a:rPr sz="1000" b="1">
                          <a:solidFill>
                            <a:srgbClr val="FFFFFF"/>
                          </a:solidFill>
                        </a:rPr>
                        <a:t>Estimasi Waktu</a:t>
                      </a:r>
                    </a:p>
                  </a:txBody>
                  <a:tcPr>
                    <a:solidFill>
                      <a:srgbClr val="1A73E8"/>
                    </a:solidFill>
                  </a:tcPr>
                </a:tc>
              </a:tr>
              <a:tr h="365760">
                <a:tc>
                  <a:txBody>
                    <a:bodyPr/>
                    <a:lstStyle/>
                    <a:p>
                      <a:pPr algn="l"/>
                      <a:r>
                        <a:rPr sz="1000">
                          <a:solidFill>
                            <a:srgbClr val="202020"/>
                          </a:solidFill>
                        </a:rPr>
                        <a:t>A</a:t>
                      </a:r>
                    </a:p>
                  </a:txBody>
                  <a:tcPr>
                    <a:solidFill>
                      <a:srgbClr val="E8F0FE"/>
                    </a:solidFill>
                  </a:tcPr>
                </a:tc>
                <a:tc>
                  <a:txBody>
                    <a:bodyPr/>
                    <a:lstStyle/>
                    <a:p>
                      <a:pPr algn="ctr"/>
                      <a:r>
                        <a:rPr sz="1000">
                          <a:solidFill>
                            <a:srgbClr val="202020"/>
                          </a:solidFill>
                        </a:rPr>
                        <a:t>1,938</a:t>
                      </a:r>
                    </a:p>
                  </a:txBody>
                  <a:tcPr>
                    <a:solidFill>
                      <a:srgbClr val="E8F0FE"/>
                    </a:solidFill>
                  </a:tcPr>
                </a:tc>
                <a:tc>
                  <a:txBody>
                    <a:bodyPr/>
                    <a:lstStyle/>
                    <a:p>
                      <a:pPr algn="ctr"/>
                      <a:r>
                        <a:rPr sz="1000">
                          <a:solidFill>
                            <a:srgbClr val="202020"/>
                          </a:solidFill>
                        </a:rPr>
                        <a:t>Semua non-neutral + 400 neutral</a:t>
                      </a:r>
                    </a:p>
                  </a:txBody>
                  <a:tcPr>
                    <a:solidFill>
                      <a:srgbClr val="E8F0FE"/>
                    </a:solidFill>
                  </a:tcPr>
                </a:tc>
                <a:tc>
                  <a:txBody>
                    <a:bodyPr/>
                    <a:lstStyle/>
                    <a:p>
                      <a:pPr algn="ctr"/>
                      <a:r>
                        <a:rPr sz="1000">
                          <a:solidFill>
                            <a:srgbClr val="202020"/>
                          </a:solidFill>
                        </a:rPr>
                        <a:t>~8 jam</a:t>
                      </a:r>
                    </a:p>
                  </a:txBody>
                  <a:tcPr>
                    <a:solidFill>
                      <a:srgbClr val="E8F0FE"/>
                    </a:solidFill>
                  </a:tcPr>
                </a:tc>
              </a:tr>
              <a:tr h="365760">
                <a:tc>
                  <a:txBody>
                    <a:bodyPr/>
                    <a:lstStyle/>
                    <a:p>
                      <a:pPr algn="l"/>
                      <a:r>
                        <a:rPr sz="1000">
                          <a:solidFill>
                            <a:srgbClr val="202020"/>
                          </a:solidFill>
                        </a:rPr>
                        <a:t>B</a:t>
                      </a:r>
                    </a:p>
                  </a:txBody>
                  <a:tcPr>
                    <a:solidFill>
                      <a:srgbClr val="FFFFFF"/>
                    </a:solidFill>
                  </a:tcPr>
                </a:tc>
                <a:tc>
                  <a:txBody>
                    <a:bodyPr/>
                    <a:lstStyle/>
                    <a:p>
                      <a:pPr algn="ctr"/>
                      <a:r>
                        <a:rPr sz="1000">
                          <a:solidFill>
                            <a:srgbClr val="202020"/>
                          </a:solidFill>
                        </a:rPr>
                        <a:t>1,067</a:t>
                      </a:r>
                    </a:p>
                  </a:txBody>
                  <a:tcPr>
                    <a:solidFill>
                      <a:srgbClr val="FFFFFF"/>
                    </a:solidFill>
                  </a:tcPr>
                </a:tc>
                <a:tc>
                  <a:txBody>
                    <a:bodyPr/>
                    <a:lstStyle/>
                    <a:p>
                      <a:pPr algn="ctr"/>
                      <a:r>
                        <a:rPr sz="1000">
                          <a:solidFill>
                            <a:srgbClr val="202020"/>
                          </a:solidFill>
                        </a:rPr>
                        <a:t>Stratified 10% per kelas (min. 30)</a:t>
                      </a:r>
                    </a:p>
                  </a:txBody>
                  <a:tcPr>
                    <a:solidFill>
                      <a:srgbClr val="FFFFFF"/>
                    </a:solidFill>
                  </a:tcPr>
                </a:tc>
                <a:tc>
                  <a:txBody>
                    <a:bodyPr/>
                    <a:lstStyle/>
                    <a:p>
                      <a:pPr algn="ctr"/>
                      <a:r>
                        <a:rPr sz="1000">
                          <a:solidFill>
                            <a:srgbClr val="202020"/>
                          </a:solidFill>
                        </a:rPr>
                        <a:t>~4 jam</a:t>
                      </a:r>
                    </a:p>
                  </a:txBody>
                  <a:tcPr>
                    <a:solidFill>
                      <a:srgbClr val="FFFFFF"/>
                    </a:solidFill>
                  </a:tcPr>
                </a:tc>
              </a:tr>
              <a:tr h="365760">
                <a:tc>
                  <a:txBody>
                    <a:bodyPr/>
                    <a:lstStyle/>
                    <a:p>
                      <a:pPr algn="l"/>
                      <a:r>
                        <a:rPr sz="1000">
                          <a:solidFill>
                            <a:srgbClr val="202020"/>
                          </a:solidFill>
                        </a:rPr>
                        <a:t>C</a:t>
                      </a:r>
                    </a:p>
                  </a:txBody>
                  <a:tcPr>
                    <a:solidFill>
                      <a:srgbClr val="E8F0FE"/>
                    </a:solidFill>
                  </a:tcPr>
                </a:tc>
                <a:tc>
                  <a:txBody>
                    <a:bodyPr/>
                    <a:lstStyle/>
                    <a:p>
                      <a:pPr algn="ctr"/>
                      <a:r>
                        <a:rPr sz="1000">
                          <a:solidFill>
                            <a:srgbClr val="202020"/>
                          </a:solidFill>
                        </a:rPr>
                        <a:t>583</a:t>
                      </a:r>
                    </a:p>
                  </a:txBody>
                  <a:tcPr>
                    <a:solidFill>
                      <a:srgbClr val="E8F0FE"/>
                    </a:solidFill>
                  </a:tcPr>
                </a:tc>
                <a:tc>
                  <a:txBody>
                    <a:bodyPr/>
                    <a:lstStyle/>
                    <a:p>
                      <a:pPr algn="ctr"/>
                      <a:r>
                        <a:rPr sz="1000">
                          <a:solidFill>
                            <a:srgbClr val="202020"/>
                          </a:solidFill>
                        </a:rPr>
                        <a:t>Stratified 5% per kelas (min. 30)</a:t>
                      </a:r>
                    </a:p>
                  </a:txBody>
                  <a:tcPr>
                    <a:solidFill>
                      <a:srgbClr val="E8F0FE"/>
                    </a:solidFill>
                  </a:tcPr>
                </a:tc>
                <a:tc>
                  <a:txBody>
                    <a:bodyPr/>
                    <a:lstStyle/>
                    <a:p>
                      <a:pPr algn="ctr"/>
                      <a:r>
                        <a:rPr sz="1000">
                          <a:solidFill>
                            <a:srgbClr val="202020"/>
                          </a:solidFill>
                        </a:rPr>
                        <a:t>~2 jam</a:t>
                      </a:r>
                    </a:p>
                  </a:txBody>
                  <a:tcPr>
                    <a:solidFill>
                      <a:srgbClr val="E8F0FE"/>
                    </a:solidFill>
                  </a:tcPr>
                </a:tc>
              </a:tr>
            </a:tbl>
          </a:graphicData>
        </a:graphic>
      </p:graphicFrame>
      <p:graphicFrame>
        <p:nvGraphicFramePr>
          <p:cNvPr id="4" name="Table 3"/>
          <p:cNvGraphicFramePr>
            <a:graphicFrameLocks noGrp="1"/>
          </p:cNvGraphicFramePr>
          <p:nvPr/>
        </p:nvGraphicFramePr>
        <p:xfrm>
          <a:off x="457200" y="2743200"/>
          <a:ext cx="8229600" cy="2103120"/>
        </p:xfrm>
        <a:graphic>
          <a:graphicData uri="http://schemas.openxmlformats.org/drawingml/2006/table">
            <a:tbl>
              <a:tblPr firstRow="1" bandRow="1">
                <a:tableStyleId>{5C22544A-7EE6-4342-B048-85BDC9FD1C3A}</a:tableStyleId>
              </a:tblPr>
              <a:tblGrid>
                <a:gridCol w="6858000"/>
                <a:gridCol w="1371600"/>
              </a:tblGrid>
              <a:tr h="300445">
                <a:tc>
                  <a:txBody>
                    <a:bodyPr/>
                    <a:lstStyle/>
                    <a:p>
                      <a:pPr algn="ctr"/>
                      <a:r>
                        <a:rPr sz="1000" b="1">
                          <a:solidFill>
                            <a:srgbClr val="FFFFFF"/>
                          </a:solidFill>
                        </a:rPr>
                        <a:t>Fitur Web Tool (Streamlit)</a:t>
                      </a:r>
                    </a:p>
                  </a:txBody>
                  <a:tcPr>
                    <a:solidFill>
                      <a:srgbClr val="1A73E8"/>
                    </a:solidFill>
                  </a:tcPr>
                </a:tc>
                <a:tc>
                  <a:txBody>
                    <a:bodyPr/>
                    <a:lstStyle/>
                    <a:p>
                      <a:pPr algn="ctr"/>
                      <a:r>
                        <a:rPr sz="1000" b="1">
                          <a:solidFill>
                            <a:srgbClr val="FFFFFF"/>
                          </a:solidFill>
                        </a:rPr>
                        <a:t>Status</a:t>
                      </a:r>
                    </a:p>
                  </a:txBody>
                  <a:tcPr>
                    <a:solidFill>
                      <a:srgbClr val="1A73E8"/>
                    </a:solidFill>
                  </a:tcPr>
                </a:tc>
              </a:tr>
              <a:tr h="300445">
                <a:tc>
                  <a:txBody>
                    <a:bodyPr/>
                    <a:lstStyle/>
                    <a:p>
                      <a:pPr algn="l"/>
                      <a:r>
                        <a:rPr sz="900">
                          <a:solidFill>
                            <a:srgbClr val="202020"/>
                          </a:solidFill>
                        </a:rPr>
                        <a:t>Tampilkan gambar wajah + label + confidence score</a:t>
                      </a:r>
                    </a:p>
                  </a:txBody>
                  <a:tcPr>
                    <a:solidFill>
                      <a:srgbClr val="E8F0FE"/>
                    </a:solidFill>
                  </a:tcPr>
                </a:tc>
                <a:tc>
                  <a:txBody>
                    <a:bodyPr/>
                    <a:lstStyle/>
                    <a:p>
                      <a:pPr algn="ctr"/>
                      <a:r>
                        <a:rPr sz="900">
                          <a:solidFill>
                            <a:srgbClr val="202020"/>
                          </a:solidFill>
                        </a:rPr>
                        <a:t>Selesai</a:t>
                      </a:r>
                    </a:p>
                  </a:txBody>
                  <a:tcPr>
                    <a:solidFill>
                      <a:srgbClr val="E8F0FE"/>
                    </a:solidFill>
                  </a:tcPr>
                </a:tc>
              </a:tr>
              <a:tr h="300445">
                <a:tc>
                  <a:txBody>
                    <a:bodyPr/>
                    <a:lstStyle/>
                    <a:p>
                      <a:pPr algn="l"/>
                      <a:r>
                        <a:rPr sz="900">
                          <a:solidFill>
                            <a:srgbClr val="202020"/>
                          </a:solidFill>
                        </a:rPr>
                        <a:t>Klik Setuju / pilih emosi yang benar</a:t>
                      </a:r>
                    </a:p>
                  </a:txBody>
                  <a:tcPr>
                    <a:solidFill>
                      <a:srgbClr val="FFFFFF"/>
                    </a:solidFill>
                  </a:tcPr>
                </a:tc>
                <a:tc>
                  <a:txBody>
                    <a:bodyPr/>
                    <a:lstStyle/>
                    <a:p>
                      <a:pPr algn="ctr"/>
                      <a:r>
                        <a:rPr sz="900">
                          <a:solidFill>
                            <a:srgbClr val="202020"/>
                          </a:solidFill>
                        </a:rPr>
                        <a:t>Selesai</a:t>
                      </a:r>
                    </a:p>
                  </a:txBody>
                  <a:tcPr>
                    <a:solidFill>
                      <a:srgbClr val="FFFFFF"/>
                    </a:solidFill>
                  </a:tcPr>
                </a:tc>
              </a:tr>
              <a:tr h="300445">
                <a:tc>
                  <a:txBody>
                    <a:bodyPr/>
                    <a:lstStyle/>
                    <a:p>
                      <a:pPr algn="l"/>
                      <a:r>
                        <a:rPr sz="900">
                          <a:solidFill>
                            <a:srgbClr val="202020"/>
                          </a:solidFill>
                        </a:rPr>
                        <a:t>Multi-validator, progress terpisah per ahli</a:t>
                      </a:r>
                    </a:p>
                  </a:txBody>
                  <a:tcPr>
                    <a:solidFill>
                      <a:srgbClr val="E8F0FE"/>
                    </a:solidFill>
                  </a:tcPr>
                </a:tc>
                <a:tc>
                  <a:txBody>
                    <a:bodyPr/>
                    <a:lstStyle/>
                    <a:p>
                      <a:pPr algn="ctr"/>
                      <a:r>
                        <a:rPr sz="900">
                          <a:solidFill>
                            <a:srgbClr val="202020"/>
                          </a:solidFill>
                        </a:rPr>
                        <a:t>Selesai</a:t>
                      </a:r>
                    </a:p>
                  </a:txBody>
                  <a:tcPr>
                    <a:solidFill>
                      <a:srgbClr val="E8F0FE"/>
                    </a:solidFill>
                  </a:tcPr>
                </a:tc>
              </a:tr>
              <a:tr h="300445">
                <a:tc>
                  <a:txBody>
                    <a:bodyPr/>
                    <a:lstStyle/>
                    <a:p>
                      <a:pPr algn="l"/>
                      <a:r>
                        <a:rPr sz="900">
                          <a:solidFill>
                            <a:srgbClr val="202020"/>
                          </a:solidFill>
                        </a:rPr>
                        <a:t>Auto-hitung Cohen's Kappa &amp; inter-rater agreement</a:t>
                      </a:r>
                    </a:p>
                  </a:txBody>
                  <a:tcPr>
                    <a:solidFill>
                      <a:srgbClr val="FFFFFF"/>
                    </a:solidFill>
                  </a:tcPr>
                </a:tc>
                <a:tc>
                  <a:txBody>
                    <a:bodyPr/>
                    <a:lstStyle/>
                    <a:p>
                      <a:pPr algn="ctr"/>
                      <a:r>
                        <a:rPr sz="900">
                          <a:solidFill>
                            <a:srgbClr val="202020"/>
                          </a:solidFill>
                        </a:rPr>
                        <a:t>Selesai</a:t>
                      </a:r>
                    </a:p>
                  </a:txBody>
                  <a:tcPr>
                    <a:solidFill>
                      <a:srgbClr val="FFFFFF"/>
                    </a:solidFill>
                  </a:tcPr>
                </a:tc>
              </a:tr>
              <a:tr h="300445">
                <a:tc>
                  <a:txBody>
                    <a:bodyPr/>
                    <a:lstStyle/>
                    <a:p>
                      <a:pPr algn="l"/>
                      <a:r>
                        <a:rPr sz="900">
                          <a:solidFill>
                            <a:srgbClr val="202020"/>
                          </a:solidFill>
                        </a:rPr>
                        <a:t>Download hasil CSV</a:t>
                      </a:r>
                    </a:p>
                  </a:txBody>
                  <a:tcPr>
                    <a:solidFill>
                      <a:srgbClr val="E8F0FE"/>
                    </a:solidFill>
                  </a:tcPr>
                </a:tc>
                <a:tc>
                  <a:txBody>
                    <a:bodyPr/>
                    <a:lstStyle/>
                    <a:p>
                      <a:pPr algn="ctr"/>
                      <a:r>
                        <a:rPr sz="900">
                          <a:solidFill>
                            <a:srgbClr val="202020"/>
                          </a:solidFill>
                        </a:rPr>
                        <a:t>Selesai</a:t>
                      </a:r>
                    </a:p>
                  </a:txBody>
                  <a:tcPr>
                    <a:solidFill>
                      <a:srgbClr val="E8F0FE"/>
                    </a:solidFill>
                  </a:tcPr>
                </a:tc>
              </a:tr>
              <a:tr h="300450">
                <a:tc>
                  <a:txBody>
                    <a:bodyPr/>
                    <a:lstStyle/>
                    <a:p>
                      <a:pPr algn="l"/>
                      <a:r>
                        <a:rPr sz="900">
                          <a:solidFill>
                            <a:srgbClr val="202020"/>
                          </a:solidFill>
                        </a:rPr>
                        <a:t>Deploy online (Streamlit Cloud) — tanpa instalasi</a:t>
                      </a:r>
                    </a:p>
                  </a:txBody>
                  <a:tcPr>
                    <a:solidFill>
                      <a:srgbClr val="FFFFFF"/>
                    </a:solidFill>
                  </a:tcPr>
                </a:tc>
                <a:tc>
                  <a:txBody>
                    <a:bodyPr/>
                    <a:lstStyle/>
                    <a:p>
                      <a:pPr algn="ctr"/>
                      <a:r>
                        <a:rPr sz="900">
                          <a:solidFill>
                            <a:srgbClr val="202020"/>
                          </a:solidFill>
                        </a:rPr>
                        <a:t>Siap deploy</a:t>
                      </a:r>
                    </a:p>
                  </a:txBody>
                  <a:tcPr>
                    <a:solidFill>
                      <a:srgbClr val="FFFF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Pendekatan Validasi: Expert (146 Sampel) + Self-Supervised Learning</a:t>
            </a:r>
          </a:p>
        </p:txBody>
      </p:sp>
      <p:sp>
        <p:nvSpPr>
          <p:cNvPr id="3" name="TextBox 2"/>
          <p:cNvSpPr txBox="1"/>
          <p:nvPr/>
        </p:nvSpPr>
        <p:spPr>
          <a:xfrm>
            <a:off x="228600" y="777240"/>
            <a:ext cx="1920240" cy="777240"/>
          </a:xfrm>
          <a:prstGeom prst="rect">
            <a:avLst/>
          </a:prstGeom>
          <a:solidFill>
            <a:srgbClr val="1A73E8"/>
          </a:solidFill>
        </p:spPr>
        <p:txBody>
          <a:bodyPr wrap="square">
            <a:spAutoFit/>
          </a:bodyPr>
          <a:lstStyle/>
          <a:p>
            <a:pPr algn="ctr"/>
            <a:r>
              <a:rPr sz="1000" b="1" i="0">
                <a:solidFill>
                  <a:srgbClr val="FFFFFF"/>
                </a:solidFill>
              </a:rPr>
              <a:t>Total Dataset</a:t>
            </a:r>
          </a:p>
          <a:p>
            <a:pPr algn="ctr"/>
            <a:r>
              <a:rPr sz="950" b="0" i="0">
                <a:solidFill>
                  <a:srgbClr val="FFFFFF"/>
                </a:solidFill>
              </a:rPr>
              <a:t>9,894 sampel</a:t>
            </a:r>
          </a:p>
        </p:txBody>
      </p:sp>
      <p:sp>
        <p:nvSpPr>
          <p:cNvPr id="4" name="TextBox 3"/>
          <p:cNvSpPr txBox="1"/>
          <p:nvPr/>
        </p:nvSpPr>
        <p:spPr>
          <a:xfrm>
            <a:off x="2194560" y="914400"/>
            <a:ext cx="365760" cy="457200"/>
          </a:xfrm>
          <a:prstGeom prst="rect">
            <a:avLst/>
          </a:prstGeom>
          <a:noFill/>
        </p:spPr>
        <p:txBody>
          <a:bodyPr wrap="none">
            <a:spAutoFit/>
          </a:bodyPr>
          <a:lstStyle/>
          <a:p>
            <a:pPr algn="ctr"/>
            <a:r>
              <a:rPr sz="1600" b="1" i="0">
                <a:solidFill>
                  <a:srgbClr val="202020"/>
                </a:solidFill>
              </a:rPr>
              <a:t>&gt;</a:t>
            </a:r>
          </a:p>
        </p:txBody>
      </p:sp>
      <p:sp>
        <p:nvSpPr>
          <p:cNvPr id="5" name="TextBox 4"/>
          <p:cNvSpPr txBox="1"/>
          <p:nvPr/>
        </p:nvSpPr>
        <p:spPr>
          <a:xfrm>
            <a:off x="2606040" y="777240"/>
            <a:ext cx="2377440" cy="777240"/>
          </a:xfrm>
          <a:prstGeom prst="rect">
            <a:avLst/>
          </a:prstGeom>
          <a:solidFill>
            <a:srgbClr val="E65100"/>
          </a:solidFill>
        </p:spPr>
        <p:txBody>
          <a:bodyPr wrap="square">
            <a:spAutoFit/>
          </a:bodyPr>
          <a:lstStyle/>
          <a:p>
            <a:pPr algn="ctr"/>
            <a:r>
              <a:rPr sz="1000" b="1" i="0">
                <a:solidFill>
                  <a:srgbClr val="FFFFFF"/>
                </a:solidFill>
              </a:rPr>
              <a:t>Validasi Ahli</a:t>
            </a:r>
          </a:p>
          <a:p>
            <a:pPr algn="ctr"/>
            <a:r>
              <a:rPr sz="950" b="0" i="0">
                <a:solidFill>
                  <a:srgbClr val="FFFFFF"/>
                </a:solidFill>
              </a:rPr>
              <a:t>146 sampel (1.5%)</a:t>
            </a:r>
          </a:p>
          <a:p>
            <a:pPr algn="ctr"/>
            <a:r>
              <a:rPr sz="950" b="0" i="0">
                <a:solidFill>
                  <a:srgbClr val="FFFFFF"/>
                </a:solidFill>
              </a:rPr>
              <a:t>3 validator psikologi</a:t>
            </a:r>
          </a:p>
        </p:txBody>
      </p:sp>
      <p:sp>
        <p:nvSpPr>
          <p:cNvPr id="6" name="TextBox 5"/>
          <p:cNvSpPr txBox="1"/>
          <p:nvPr/>
        </p:nvSpPr>
        <p:spPr>
          <a:xfrm>
            <a:off x="5029200" y="914400"/>
            <a:ext cx="365760" cy="457200"/>
          </a:xfrm>
          <a:prstGeom prst="rect">
            <a:avLst/>
          </a:prstGeom>
          <a:noFill/>
        </p:spPr>
        <p:txBody>
          <a:bodyPr wrap="none">
            <a:spAutoFit/>
          </a:bodyPr>
          <a:lstStyle/>
          <a:p>
            <a:pPr algn="ctr"/>
            <a:r>
              <a:rPr sz="1600" b="1" i="0">
                <a:solidFill>
                  <a:srgbClr val="202020"/>
                </a:solidFill>
              </a:rPr>
              <a:t>&gt;</a:t>
            </a:r>
          </a:p>
        </p:txBody>
      </p:sp>
      <p:sp>
        <p:nvSpPr>
          <p:cNvPr id="7" name="TextBox 6"/>
          <p:cNvSpPr txBox="1"/>
          <p:nvPr/>
        </p:nvSpPr>
        <p:spPr>
          <a:xfrm>
            <a:off x="5440680" y="777240"/>
            <a:ext cx="2377440" cy="777240"/>
          </a:xfrm>
          <a:prstGeom prst="rect">
            <a:avLst/>
          </a:prstGeom>
          <a:solidFill>
            <a:srgbClr val="0F9D58"/>
          </a:solidFill>
        </p:spPr>
        <p:txBody>
          <a:bodyPr wrap="square">
            <a:spAutoFit/>
          </a:bodyPr>
          <a:lstStyle/>
          <a:p>
            <a:pPr algn="ctr"/>
            <a:r>
              <a:rPr sz="1000" b="1" i="0">
                <a:solidFill>
                  <a:srgbClr val="FFFFFF"/>
                </a:solidFill>
              </a:rPr>
              <a:t>SSL Verification</a:t>
            </a:r>
          </a:p>
          <a:p>
            <a:pPr algn="ctr"/>
            <a:r>
              <a:rPr sz="950" b="0" i="0">
                <a:solidFill>
                  <a:srgbClr val="FFFFFF"/>
                </a:solidFill>
              </a:rPr>
              <a:t>~9,748 sampel (98.5%)</a:t>
            </a:r>
          </a:p>
          <a:p>
            <a:pPr algn="ctr"/>
            <a:r>
              <a:rPr sz="950" b="0" i="0">
                <a:solidFill>
                  <a:srgbClr val="FFFFFF"/>
                </a:solidFill>
              </a:rPr>
              <a:t>ResNet18 embedding</a:t>
            </a:r>
          </a:p>
        </p:txBody>
      </p:sp>
      <p:sp>
        <p:nvSpPr>
          <p:cNvPr id="8" name="TextBox 7"/>
          <p:cNvSpPr txBox="1"/>
          <p:nvPr/>
        </p:nvSpPr>
        <p:spPr>
          <a:xfrm>
            <a:off x="7863840" y="914400"/>
            <a:ext cx="320040" cy="457200"/>
          </a:xfrm>
          <a:prstGeom prst="rect">
            <a:avLst/>
          </a:prstGeom>
          <a:noFill/>
        </p:spPr>
        <p:txBody>
          <a:bodyPr wrap="none">
            <a:spAutoFit/>
          </a:bodyPr>
          <a:lstStyle/>
          <a:p>
            <a:pPr algn="ctr"/>
            <a:r>
              <a:rPr sz="1600" b="1" i="0">
                <a:solidFill>
                  <a:srgbClr val="202020"/>
                </a:solidFill>
              </a:rPr>
              <a:t>&gt;</a:t>
            </a:r>
          </a:p>
        </p:txBody>
      </p:sp>
      <p:sp>
        <p:nvSpPr>
          <p:cNvPr id="9" name="TextBox 8"/>
          <p:cNvSpPr txBox="1"/>
          <p:nvPr/>
        </p:nvSpPr>
        <p:spPr>
          <a:xfrm>
            <a:off x="8211312" y="804672"/>
            <a:ext cx="822960" cy="685800"/>
          </a:xfrm>
          <a:prstGeom prst="rect">
            <a:avLst/>
          </a:prstGeom>
          <a:solidFill>
            <a:srgbClr val="E8F0FE"/>
          </a:solidFill>
        </p:spPr>
        <p:txBody>
          <a:bodyPr wrap="square">
            <a:spAutoFit/>
          </a:bodyPr>
          <a:lstStyle/>
          <a:p>
            <a:pPr algn="ctr"/>
            <a:r>
              <a:rPr sz="850" b="1" i="0">
                <a:solidFill>
                  <a:srgbClr val="202020"/>
                </a:solidFill>
              </a:rPr>
              <a:t>Dataset Valid</a:t>
            </a:r>
          </a:p>
        </p:txBody>
      </p:sp>
      <p:sp>
        <p:nvSpPr>
          <p:cNvPr id="10" name="TextBox 9"/>
          <p:cNvSpPr txBox="1"/>
          <p:nvPr/>
        </p:nvSpPr>
        <p:spPr>
          <a:xfrm>
            <a:off x="228600" y="1627632"/>
            <a:ext cx="8778240" cy="256032"/>
          </a:xfrm>
          <a:prstGeom prst="rect">
            <a:avLst/>
          </a:prstGeom>
          <a:noFill/>
        </p:spPr>
        <p:txBody>
          <a:bodyPr wrap="none">
            <a:spAutoFit/>
          </a:bodyPr>
          <a:lstStyle/>
          <a:p>
            <a:pPr algn="ctr"/>
            <a:r>
              <a:rPr sz="800" b="0" i="1">
                <a:solidFill>
                  <a:srgbClr val="666666"/>
                </a:solidFill>
              </a:rPr>
              <a:t>Mengacu MER2024 (Lian et al., 2024, ACM MM): standar 1% labeled + 99% SSL untuk emotion recognition</a:t>
            </a:r>
          </a:p>
        </p:txBody>
      </p:sp>
      <p:sp>
        <p:nvSpPr>
          <p:cNvPr id="11" name="TextBox 10"/>
          <p:cNvSpPr txBox="1"/>
          <p:nvPr/>
        </p:nvSpPr>
        <p:spPr>
          <a:xfrm>
            <a:off x="228600" y="1965960"/>
            <a:ext cx="5212080" cy="292608"/>
          </a:xfrm>
          <a:prstGeom prst="rect">
            <a:avLst/>
          </a:prstGeom>
          <a:noFill/>
        </p:spPr>
        <p:txBody>
          <a:bodyPr wrap="none">
            <a:spAutoFit/>
          </a:bodyPr>
          <a:lstStyle/>
          <a:p>
            <a:pPr algn="l"/>
            <a:r>
              <a:rPr sz="1000" b="1" i="0">
                <a:solidFill>
                  <a:srgbClr val="202020"/>
                </a:solidFill>
              </a:rPr>
              <a:t>Perbandingan dengan MER2024 (Benchmark Resmi)</a:t>
            </a:r>
          </a:p>
        </p:txBody>
      </p:sp>
      <p:graphicFrame>
        <p:nvGraphicFramePr>
          <p:cNvPr id="12" name="Table 11"/>
          <p:cNvGraphicFramePr>
            <a:graphicFrameLocks noGrp="1"/>
          </p:cNvGraphicFramePr>
          <p:nvPr/>
        </p:nvGraphicFramePr>
        <p:xfrm>
          <a:off x="228600" y="2304288"/>
          <a:ext cx="5212080" cy="2377440"/>
        </p:xfrm>
        <a:graphic>
          <a:graphicData uri="http://schemas.openxmlformats.org/drawingml/2006/table">
            <a:tbl>
              <a:tblPr firstRow="1" bandRow="1"/>
              <a:tblGrid>
                <a:gridCol w="2194560"/>
                <a:gridCol w="1508760"/>
                <a:gridCol w="1508760"/>
              </a:tblGrid>
              <a:tr h="339634">
                <a:tc>
                  <a:txBody>
                    <a:bodyPr/>
                    <a:lstStyle/>
                    <a:p>
                      <a:pPr algn="ctr"/>
                      <a:r>
                        <a:rPr sz="950" b="1">
                          <a:solidFill>
                            <a:srgbClr val="FFFFFF"/>
                          </a:solidFill>
                        </a:rPr>
                        <a:t>Aspek</a:t>
                      </a:r>
                    </a:p>
                  </a:txBody>
                  <a:tcPr>
                    <a:solidFill>
                      <a:srgbClr val="1A73E8"/>
                    </a:solidFill>
                  </a:tcPr>
                </a:tc>
                <a:tc>
                  <a:txBody>
                    <a:bodyPr/>
                    <a:lstStyle/>
                    <a:p>
                      <a:pPr algn="ctr"/>
                      <a:r>
                        <a:rPr sz="950" b="1">
                          <a:solidFill>
                            <a:srgbClr val="FFFFFF"/>
                          </a:solidFill>
                        </a:rPr>
                        <a:t>MER2024</a:t>
                      </a:r>
                    </a:p>
                  </a:txBody>
                  <a:tcPr>
                    <a:solidFill>
                      <a:srgbClr val="1A73E8"/>
                    </a:solidFill>
                  </a:tcPr>
                </a:tc>
                <a:tc>
                  <a:txBody>
                    <a:bodyPr/>
                    <a:lstStyle/>
                    <a:p>
                      <a:pPr algn="ctr"/>
                      <a:r>
                        <a:rPr sz="950" b="1">
                          <a:solidFill>
                            <a:srgbClr val="FFFFFF"/>
                          </a:solidFill>
                        </a:rPr>
                        <a:t>Penelitian Ini</a:t>
                      </a:r>
                    </a:p>
                  </a:txBody>
                  <a:tcPr>
                    <a:solidFill>
                      <a:srgbClr val="1A73E8"/>
                    </a:solidFill>
                  </a:tcPr>
                </a:tc>
              </a:tr>
              <a:tr h="339634">
                <a:tc>
                  <a:txBody>
                    <a:bodyPr/>
                    <a:lstStyle/>
                    <a:p>
                      <a:pPr algn="l"/>
                      <a:r>
                        <a:rPr sz="900" b="1">
                          <a:solidFill>
                            <a:srgbClr val="202020"/>
                          </a:solidFill>
                        </a:rPr>
                        <a:t>Total sampel</a:t>
                      </a:r>
                    </a:p>
                  </a:txBody>
                  <a:tcPr>
                    <a:solidFill>
                      <a:srgbClr val="E8F0FE"/>
                    </a:solidFill>
                  </a:tcPr>
                </a:tc>
                <a:tc>
                  <a:txBody>
                    <a:bodyPr/>
                    <a:lstStyle/>
                    <a:p>
                      <a:pPr algn="ctr"/>
                      <a:r>
                        <a:rPr sz="900" b="0">
                          <a:solidFill>
                            <a:srgbClr val="202020"/>
                          </a:solidFill>
                        </a:rPr>
                        <a:t>115,595</a:t>
                      </a:r>
                    </a:p>
                  </a:txBody>
                  <a:tcPr>
                    <a:solidFill>
                      <a:srgbClr val="E8F0FE"/>
                    </a:solidFill>
                  </a:tcPr>
                </a:tc>
                <a:tc>
                  <a:txBody>
                    <a:bodyPr/>
                    <a:lstStyle/>
                    <a:p>
                      <a:pPr algn="ctr"/>
                      <a:r>
                        <a:rPr sz="900" b="0">
                          <a:solidFill>
                            <a:srgbClr val="202020"/>
                          </a:solidFill>
                        </a:rPr>
                        <a:t>9,894</a:t>
                      </a:r>
                    </a:p>
                  </a:txBody>
                  <a:tcPr>
                    <a:solidFill>
                      <a:srgbClr val="E8F0FE"/>
                    </a:solidFill>
                  </a:tcPr>
                </a:tc>
              </a:tr>
              <a:tr h="339634">
                <a:tc>
                  <a:txBody>
                    <a:bodyPr/>
                    <a:lstStyle/>
                    <a:p>
                      <a:pPr algn="l"/>
                      <a:r>
                        <a:rPr sz="900" b="1">
                          <a:solidFill>
                            <a:srgbClr val="202020"/>
                          </a:solidFill>
                        </a:rPr>
                        <a:t>Labeled (divalidasi ahli)</a:t>
                      </a:r>
                    </a:p>
                  </a:txBody>
                  <a:tcPr>
                    <a:solidFill>
                      <a:srgbClr val="FFFFFF"/>
                    </a:solidFill>
                  </a:tcPr>
                </a:tc>
                <a:tc>
                  <a:txBody>
                    <a:bodyPr/>
                    <a:lstStyle/>
                    <a:p>
                      <a:pPr algn="ctr"/>
                      <a:r>
                        <a:rPr sz="900" b="0">
                          <a:solidFill>
                            <a:srgbClr val="202020"/>
                          </a:solidFill>
                        </a:rPr>
                        <a:t>1,169 (1%)</a:t>
                      </a:r>
                    </a:p>
                  </a:txBody>
                  <a:tcPr>
                    <a:solidFill>
                      <a:srgbClr val="FFFFFF"/>
                    </a:solidFill>
                  </a:tcPr>
                </a:tc>
                <a:tc>
                  <a:txBody>
                    <a:bodyPr/>
                    <a:lstStyle/>
                    <a:p>
                      <a:pPr algn="ctr"/>
                      <a:r>
                        <a:rPr sz="900" b="0">
                          <a:solidFill>
                            <a:srgbClr val="202020"/>
                          </a:solidFill>
                        </a:rPr>
                        <a:t>146 (1.5%)</a:t>
                      </a:r>
                    </a:p>
                  </a:txBody>
                  <a:tcPr>
                    <a:solidFill>
                      <a:srgbClr val="FFFFFF"/>
                    </a:solidFill>
                  </a:tcPr>
                </a:tc>
              </a:tr>
              <a:tr h="339634">
                <a:tc>
                  <a:txBody>
                    <a:bodyPr/>
                    <a:lstStyle/>
                    <a:p>
                      <a:pPr algn="l"/>
                      <a:r>
                        <a:rPr sz="900" b="1">
                          <a:solidFill>
                            <a:srgbClr val="202020"/>
                          </a:solidFill>
                        </a:rPr>
                        <a:t>Unlabeled (SSL)</a:t>
                      </a:r>
                    </a:p>
                  </a:txBody>
                  <a:tcPr>
                    <a:solidFill>
                      <a:srgbClr val="E8F0FE"/>
                    </a:solidFill>
                  </a:tcPr>
                </a:tc>
                <a:tc>
                  <a:txBody>
                    <a:bodyPr/>
                    <a:lstStyle/>
                    <a:p>
                      <a:pPr algn="ctr"/>
                      <a:r>
                        <a:rPr sz="900" b="0">
                          <a:solidFill>
                            <a:srgbClr val="202020"/>
                          </a:solidFill>
                        </a:rPr>
                        <a:t>114,426 (99%)</a:t>
                      </a:r>
                    </a:p>
                  </a:txBody>
                  <a:tcPr>
                    <a:solidFill>
                      <a:srgbClr val="E8F0FE"/>
                    </a:solidFill>
                  </a:tcPr>
                </a:tc>
                <a:tc>
                  <a:txBody>
                    <a:bodyPr/>
                    <a:lstStyle/>
                    <a:p>
                      <a:pPr algn="ctr"/>
                      <a:r>
                        <a:rPr sz="900" b="0">
                          <a:solidFill>
                            <a:srgbClr val="202020"/>
                          </a:solidFill>
                        </a:rPr>
                        <a:t>~9,748 (98.5%)</a:t>
                      </a:r>
                    </a:p>
                  </a:txBody>
                  <a:tcPr>
                    <a:solidFill>
                      <a:srgbClr val="E8F0FE"/>
                    </a:solidFill>
                  </a:tcPr>
                </a:tc>
              </a:tr>
              <a:tr h="339634">
                <a:tc>
                  <a:txBody>
                    <a:bodyPr/>
                    <a:lstStyle/>
                    <a:p>
                      <a:pPr algn="l"/>
                      <a:r>
                        <a:rPr sz="900" b="1">
                          <a:solidFill>
                            <a:srgbClr val="202020"/>
                          </a:solidFill>
                        </a:rPr>
                        <a:t>Jumlah anotator</a:t>
                      </a:r>
                    </a:p>
                  </a:txBody>
                  <a:tcPr>
                    <a:solidFill>
                      <a:srgbClr val="FFFFFF"/>
                    </a:solidFill>
                  </a:tcPr>
                </a:tc>
                <a:tc>
                  <a:txBody>
                    <a:bodyPr/>
                    <a:lstStyle/>
                    <a:p>
                      <a:pPr algn="ctr"/>
                      <a:r>
                        <a:rPr sz="900" b="0">
                          <a:solidFill>
                            <a:srgbClr val="202020"/>
                          </a:solidFill>
                        </a:rPr>
                        <a:t>5 orang</a:t>
                      </a:r>
                    </a:p>
                  </a:txBody>
                  <a:tcPr>
                    <a:solidFill>
                      <a:srgbClr val="FFFFFF"/>
                    </a:solidFill>
                  </a:tcPr>
                </a:tc>
                <a:tc>
                  <a:txBody>
                    <a:bodyPr/>
                    <a:lstStyle/>
                    <a:p>
                      <a:pPr algn="ctr"/>
                      <a:r>
                        <a:rPr sz="900" b="0">
                          <a:solidFill>
                            <a:srgbClr val="202020"/>
                          </a:solidFill>
                        </a:rPr>
                        <a:t>3 orang</a:t>
                      </a:r>
                    </a:p>
                  </a:txBody>
                  <a:tcPr>
                    <a:solidFill>
                      <a:srgbClr val="FFFFFF"/>
                    </a:solidFill>
                  </a:tcPr>
                </a:tc>
              </a:tr>
              <a:tr h="339634">
                <a:tc>
                  <a:txBody>
                    <a:bodyPr/>
                    <a:lstStyle/>
                    <a:p>
                      <a:pPr algn="l"/>
                      <a:r>
                        <a:rPr sz="900" b="1">
                          <a:solidFill>
                            <a:srgbClr val="202020"/>
                          </a:solidFill>
                        </a:rPr>
                        <a:t>Threshold agreement</a:t>
                      </a:r>
                    </a:p>
                  </a:txBody>
                  <a:tcPr>
                    <a:solidFill>
                      <a:srgbClr val="E8F0FE"/>
                    </a:solidFill>
                  </a:tcPr>
                </a:tc>
                <a:tc>
                  <a:txBody>
                    <a:bodyPr/>
                    <a:lstStyle/>
                    <a:p>
                      <a:pPr algn="ctr"/>
                      <a:r>
                        <a:rPr sz="900" b="0">
                          <a:solidFill>
                            <a:srgbClr val="202020"/>
                          </a:solidFill>
                        </a:rPr>
                        <a:t>4/5 = 80%</a:t>
                      </a:r>
                    </a:p>
                  </a:txBody>
                  <a:tcPr>
                    <a:solidFill>
                      <a:srgbClr val="E8F0FE"/>
                    </a:solidFill>
                  </a:tcPr>
                </a:tc>
                <a:tc>
                  <a:txBody>
                    <a:bodyPr/>
                    <a:lstStyle/>
                    <a:p>
                      <a:pPr algn="ctr"/>
                      <a:r>
                        <a:rPr sz="900" b="0">
                          <a:solidFill>
                            <a:srgbClr val="202020"/>
                          </a:solidFill>
                        </a:rPr>
                        <a:t>2/3 = 67%</a:t>
                      </a:r>
                    </a:p>
                  </a:txBody>
                  <a:tcPr>
                    <a:solidFill>
                      <a:srgbClr val="E8F0FE"/>
                    </a:solidFill>
                  </a:tcPr>
                </a:tc>
              </a:tr>
              <a:tr h="339636">
                <a:tc>
                  <a:txBody>
                    <a:bodyPr/>
                    <a:lstStyle/>
                    <a:p>
                      <a:pPr algn="l"/>
                      <a:r>
                        <a:rPr sz="900" b="1">
                          <a:solidFill>
                            <a:srgbClr val="202020"/>
                          </a:solidFill>
                        </a:rPr>
                        <a:t>Metrik kesepakatan</a:t>
                      </a:r>
                    </a:p>
                  </a:txBody>
                  <a:tcPr>
                    <a:solidFill>
                      <a:srgbClr val="FFFFFF"/>
                    </a:solidFill>
                  </a:tcPr>
                </a:tc>
                <a:tc>
                  <a:txBody>
                    <a:bodyPr/>
                    <a:lstStyle/>
                    <a:p>
                      <a:pPr algn="ctr"/>
                      <a:r>
                        <a:rPr sz="900" b="0">
                          <a:solidFill>
                            <a:srgbClr val="202020"/>
                          </a:solidFill>
                        </a:rPr>
                        <a:t>Agreement rate</a:t>
                      </a:r>
                    </a:p>
                  </a:txBody>
                  <a:tcPr>
                    <a:solidFill>
                      <a:srgbClr val="FFFFFF"/>
                    </a:solidFill>
                  </a:tcPr>
                </a:tc>
                <a:tc>
                  <a:txBody>
                    <a:bodyPr/>
                    <a:lstStyle/>
                    <a:p>
                      <a:pPr algn="ctr"/>
                      <a:r>
                        <a:rPr sz="900" b="0">
                          <a:solidFill>
                            <a:srgbClr val="202020"/>
                          </a:solidFill>
                        </a:rPr>
                        <a:t>Fleiss' Kappa &gt;= 0.61</a:t>
                      </a:r>
                    </a:p>
                  </a:txBody>
                  <a:tcPr>
                    <a:solidFill>
                      <a:srgbClr val="FFFFFF"/>
                    </a:solidFill>
                  </a:tcPr>
                </a:tc>
              </a:tr>
            </a:tbl>
          </a:graphicData>
        </a:graphic>
      </p:graphicFrame>
      <p:sp>
        <p:nvSpPr>
          <p:cNvPr id="13" name="TextBox 12"/>
          <p:cNvSpPr txBox="1"/>
          <p:nvPr/>
        </p:nvSpPr>
        <p:spPr>
          <a:xfrm>
            <a:off x="5623560" y="1965960"/>
            <a:ext cx="3291840" cy="292608"/>
          </a:xfrm>
          <a:prstGeom prst="rect">
            <a:avLst/>
          </a:prstGeom>
          <a:noFill/>
        </p:spPr>
        <p:txBody>
          <a:bodyPr wrap="none">
            <a:spAutoFit/>
          </a:bodyPr>
          <a:lstStyle/>
          <a:p>
            <a:pPr algn="l"/>
            <a:r>
              <a:rPr sz="1000" b="1" i="0">
                <a:solidFill>
                  <a:srgbClr val="202020"/>
                </a:solidFill>
              </a:rPr>
              <a:t>Detail Validasi</a:t>
            </a:r>
          </a:p>
        </p:txBody>
      </p:sp>
      <p:sp>
        <p:nvSpPr>
          <p:cNvPr id="14" name="TextBox 13"/>
          <p:cNvSpPr txBox="1"/>
          <p:nvPr/>
        </p:nvSpPr>
        <p:spPr>
          <a:xfrm>
            <a:off x="5623560" y="2304288"/>
            <a:ext cx="3291840" cy="2377440"/>
          </a:xfrm>
          <a:prstGeom prst="rect">
            <a:avLst/>
          </a:prstGeom>
          <a:solidFill>
            <a:srgbClr val="F1F3F4"/>
          </a:solidFill>
        </p:spPr>
        <p:txBody>
          <a:bodyPr wrap="square">
            <a:spAutoFit/>
          </a:bodyPr>
          <a:lstStyle/>
          <a:p>
            <a:pPr algn="l"/>
            <a:r>
              <a:rPr sz="950" b="1" i="0">
                <a:solidFill>
                  <a:srgbClr val="202020"/>
                </a:solidFill>
              </a:rPr>
              <a:t>3 validator psikologi</a:t>
            </a:r>
          </a:p>
          <a:p>
            <a:pPr algn="l"/>
            <a:r>
              <a:rPr sz="950" b="0" i="0">
                <a:solidFill>
                  <a:srgbClr val="202020"/>
                </a:solidFill>
              </a:rPr>
              <a:t>(mahasiswa S2/S3 psikologi)</a:t>
            </a:r>
          </a:p>
          <a:p>
            <a:pPr algn="l"/>
            <a:r>
              <a:rPr sz="950" b="0" i="0">
                <a:solidFill>
                  <a:srgbClr val="202020"/>
                </a:solidFill>
              </a:rPr>
              <a:t/>
            </a:r>
          </a:p>
          <a:p>
            <a:pPr algn="l"/>
            <a:r>
              <a:rPr sz="950" b="0" i="0">
                <a:solidFill>
                  <a:srgbClr val="202020"/>
                </a:solidFill>
              </a:rPr>
              <a:t>Masing-masing validasi 146 sampel</a:t>
            </a:r>
          </a:p>
          <a:p>
            <a:pPr algn="l"/>
            <a:r>
              <a:rPr sz="950" b="0" i="0">
                <a:solidFill>
                  <a:srgbClr val="202020"/>
                </a:solidFill>
              </a:rPr>
              <a:t>secara independen</a:t>
            </a:r>
          </a:p>
          <a:p>
            <a:pPr algn="l"/>
            <a:r>
              <a:rPr sz="950" b="0" i="0">
                <a:solidFill>
                  <a:srgbClr val="202020"/>
                </a:solidFill>
              </a:rPr>
              <a:t/>
            </a:r>
          </a:p>
          <a:p>
            <a:pPr algn="l"/>
            <a:r>
              <a:rPr sz="950" b="0" i="0">
                <a:solidFill>
                  <a:srgbClr val="202020"/>
                </a:solidFill>
              </a:rPr>
              <a:t>Hitung Fleiss' Kappa (3+ rater)</a:t>
            </a:r>
          </a:p>
          <a:p>
            <a:pPr algn="l"/>
            <a:r>
              <a:rPr sz="950" b="0" i="0">
                <a:solidFill>
                  <a:srgbClr val="202020"/>
                </a:solidFill>
              </a:rPr>
              <a:t>Target: k &gt;= 0.61 (substantial)</a:t>
            </a:r>
          </a:p>
          <a:p>
            <a:pPr algn="l"/>
            <a:r>
              <a:rPr sz="950" b="0" i="0">
                <a:solidFill>
                  <a:srgbClr val="202020"/>
                </a:solidFill>
              </a:rPr>
              <a:t/>
            </a:r>
          </a:p>
          <a:p>
            <a:pPr algn="l"/>
            <a:r>
              <a:rPr sz="950" b="0" i="0">
                <a:solidFill>
                  <a:srgbClr val="202020"/>
                </a:solidFill>
              </a:rPr>
              <a:t>Sampling: stratified per kelas</a:t>
            </a:r>
          </a:p>
          <a:p>
            <a:pPr algn="l"/>
            <a:r>
              <a:rPr sz="950" b="0" i="0">
                <a:solidFill>
                  <a:srgbClr val="202020"/>
                </a:solidFill>
              </a:rPr>
              <a:t>Tool: web app Streamlit</a:t>
            </a:r>
          </a:p>
        </p:txBody>
      </p:sp>
      <p:sp>
        <p:nvSpPr>
          <p:cNvPr id="15" name="TextBox 14"/>
          <p:cNvSpPr txBox="1"/>
          <p:nvPr/>
        </p:nvSpPr>
        <p:spPr>
          <a:xfrm>
            <a:off x="228600" y="4754880"/>
            <a:ext cx="8778240" cy="320040"/>
          </a:xfrm>
          <a:prstGeom prst="rect">
            <a:avLst/>
          </a:prstGeom>
          <a:noFill/>
        </p:spPr>
        <p:txBody>
          <a:bodyPr wrap="square">
            <a:spAutoFit/>
          </a:bodyPr>
          <a:lstStyle/>
          <a:p>
            <a:pPr algn="l"/>
            <a:r>
              <a:rPr sz="750" b="0" i="1">
                <a:solidFill>
                  <a:srgbClr val="666666"/>
                </a:solidFill>
              </a:rPr>
              <a:t>Lian, Z., et al. (2024). MER 2024: Semi-Supervised Learning, Noise Robustness, and Open-Vocabulary Multimodal Emotion Recognition. ACM MM 2024. arXiv:2404.17113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Perubahan dari Proposal</a:t>
            </a:r>
          </a:p>
        </p:txBody>
      </p:sp>
      <p:graphicFrame>
        <p:nvGraphicFramePr>
          <p:cNvPr id="3" name="Table 2"/>
          <p:cNvGraphicFramePr>
            <a:graphicFrameLocks noGrp="1"/>
          </p:cNvGraphicFramePr>
          <p:nvPr/>
        </p:nvGraphicFramePr>
        <p:xfrm>
          <a:off x="457200" y="1097280"/>
          <a:ext cx="8229600" cy="2286000"/>
        </p:xfrm>
        <a:graphic>
          <a:graphicData uri="http://schemas.openxmlformats.org/drawingml/2006/table">
            <a:tbl>
              <a:tblPr firstRow="1" bandRow="1">
                <a:tableStyleId>{5C22544A-7EE6-4342-B048-85BDC9FD1C3A}</a:tableStyleId>
              </a:tblPr>
              <a:tblGrid>
                <a:gridCol w="1645920"/>
                <a:gridCol w="1645920"/>
                <a:gridCol w="2286000"/>
                <a:gridCol w="2651760"/>
              </a:tblGrid>
              <a:tr h="457200">
                <a:tc>
                  <a:txBody>
                    <a:bodyPr/>
                    <a:lstStyle/>
                    <a:p>
                      <a:pPr algn="ctr"/>
                      <a:r>
                        <a:rPr sz="1000" b="1">
                          <a:solidFill>
                            <a:srgbClr val="FFFFFF"/>
                          </a:solidFill>
                        </a:rPr>
                        <a:t>Aspek</a:t>
                      </a:r>
                    </a:p>
                  </a:txBody>
                  <a:tcPr>
                    <a:solidFill>
                      <a:srgbClr val="1A73E8"/>
                    </a:solidFill>
                  </a:tcPr>
                </a:tc>
                <a:tc>
                  <a:txBody>
                    <a:bodyPr/>
                    <a:lstStyle/>
                    <a:p>
                      <a:pPr algn="ctr"/>
                      <a:r>
                        <a:rPr sz="1000" b="1">
                          <a:solidFill>
                            <a:srgbClr val="FFFFFF"/>
                          </a:solidFill>
                        </a:rPr>
                        <a:t>Di Proposal</a:t>
                      </a:r>
                    </a:p>
                  </a:txBody>
                  <a:tcPr>
                    <a:solidFill>
                      <a:srgbClr val="1A73E8"/>
                    </a:solidFill>
                  </a:tcPr>
                </a:tc>
                <a:tc>
                  <a:txBody>
                    <a:bodyPr/>
                    <a:lstStyle/>
                    <a:p>
                      <a:pPr algn="ctr"/>
                      <a:r>
                        <a:rPr sz="1000" b="1">
                          <a:solidFill>
                            <a:srgbClr val="FFFFFF"/>
                          </a:solidFill>
                        </a:rPr>
                        <a:t>Implementasi</a:t>
                      </a:r>
                    </a:p>
                  </a:txBody>
                  <a:tcPr>
                    <a:solidFill>
                      <a:srgbClr val="1A73E8"/>
                    </a:solidFill>
                  </a:tcPr>
                </a:tc>
                <a:tc>
                  <a:txBody>
                    <a:bodyPr/>
                    <a:lstStyle/>
                    <a:p>
                      <a:pPr algn="ctr"/>
                      <a:r>
                        <a:rPr sz="1000" b="1">
                          <a:solidFill>
                            <a:srgbClr val="FFFFFF"/>
                          </a:solidFill>
                        </a:rPr>
                        <a:t>Alasan</a:t>
                      </a:r>
                    </a:p>
                  </a:txBody>
                  <a:tcPr>
                    <a:solidFill>
                      <a:srgbClr val="1A73E8"/>
                    </a:solidFill>
                  </a:tcPr>
                </a:tc>
              </a:tr>
              <a:tr h="457200">
                <a:tc>
                  <a:txBody>
                    <a:bodyPr/>
                    <a:lstStyle/>
                    <a:p>
                      <a:pPr algn="l"/>
                      <a:r>
                        <a:rPr sz="1000">
                          <a:solidFill>
                            <a:srgbClr val="202020"/>
                          </a:solidFill>
                        </a:rPr>
                        <a:t>Face detection</a:t>
                      </a:r>
                    </a:p>
                  </a:txBody>
                  <a:tcPr>
                    <a:solidFill>
                      <a:srgbClr val="E8F0FE"/>
                    </a:solidFill>
                  </a:tcPr>
                </a:tc>
                <a:tc>
                  <a:txBody>
                    <a:bodyPr/>
                    <a:lstStyle/>
                    <a:p>
                      <a:pPr algn="ctr"/>
                      <a:r>
                        <a:rPr sz="1000">
                          <a:solidFill>
                            <a:srgbClr val="202020"/>
                          </a:solidFill>
                        </a:rPr>
                        <a:t>dlib</a:t>
                      </a:r>
                    </a:p>
                  </a:txBody>
                  <a:tcPr>
                    <a:solidFill>
                      <a:srgbClr val="E8F0FE"/>
                    </a:solidFill>
                  </a:tcPr>
                </a:tc>
                <a:tc>
                  <a:txBody>
                    <a:bodyPr/>
                    <a:lstStyle/>
                    <a:p>
                      <a:pPr algn="ctr"/>
                      <a:r>
                        <a:rPr sz="1000">
                          <a:solidFill>
                            <a:srgbClr val="202020"/>
                          </a:solidFill>
                        </a:rPr>
                        <a:t>MediaPipe</a:t>
                      </a:r>
                    </a:p>
                  </a:txBody>
                  <a:tcPr>
                    <a:solidFill>
                      <a:srgbClr val="E8F0FE"/>
                    </a:solidFill>
                  </a:tcPr>
                </a:tc>
                <a:tc>
                  <a:txBody>
                    <a:bodyPr/>
                    <a:lstStyle/>
                    <a:p>
                      <a:pPr algn="ctr"/>
                      <a:r>
                        <a:rPr sz="1000">
                          <a:solidFill>
                            <a:srgbClr val="202020"/>
                          </a:solidFill>
                        </a:rPr>
                        <a:t>dlib gagal deteksi side view (batch 2)</a:t>
                      </a:r>
                    </a:p>
                  </a:txBody>
                  <a:tcPr>
                    <a:solidFill>
                      <a:srgbClr val="E8F0FE"/>
                    </a:solidFill>
                  </a:tcPr>
                </a:tc>
              </a:tr>
              <a:tr h="457200">
                <a:tc>
                  <a:txBody>
                    <a:bodyPr/>
                    <a:lstStyle/>
                    <a:p>
                      <a:pPr algn="l"/>
                      <a:r>
                        <a:rPr sz="1000">
                          <a:solidFill>
                            <a:srgbClr val="202020"/>
                          </a:solidFill>
                        </a:rPr>
                        <a:t>Landmark</a:t>
                      </a:r>
                    </a:p>
                  </a:txBody>
                  <a:tcPr>
                    <a:solidFill>
                      <a:srgbClr val="FFFFFF"/>
                    </a:solidFill>
                  </a:tcPr>
                </a:tc>
                <a:tc>
                  <a:txBody>
                    <a:bodyPr/>
                    <a:lstStyle/>
                    <a:p>
                      <a:pPr algn="ctr"/>
                      <a:r>
                        <a:rPr sz="1000">
                          <a:solidFill>
                            <a:srgbClr val="202020"/>
                          </a:solidFill>
                        </a:rPr>
                        <a:t>68 titik (dlib)</a:t>
                      </a:r>
                    </a:p>
                  </a:txBody>
                  <a:tcPr>
                    <a:solidFill>
                      <a:srgbClr val="FFFFFF"/>
                    </a:solidFill>
                  </a:tcPr>
                </a:tc>
                <a:tc>
                  <a:txBody>
                    <a:bodyPr/>
                    <a:lstStyle/>
                    <a:p>
                      <a:pPr algn="ctr"/>
                      <a:r>
                        <a:rPr sz="1000">
                          <a:solidFill>
                            <a:srgbClr val="202020"/>
                          </a:solidFill>
                        </a:rPr>
                        <a:t>68 titik (mapped dari MediaPipe)</a:t>
                      </a:r>
                    </a:p>
                  </a:txBody>
                  <a:tcPr>
                    <a:solidFill>
                      <a:srgbClr val="FFFFFF"/>
                    </a:solidFill>
                  </a:tcPr>
                </a:tc>
                <a:tc>
                  <a:txBody>
                    <a:bodyPr/>
                    <a:lstStyle/>
                    <a:p>
                      <a:pPr algn="ctr"/>
                      <a:r>
                        <a:rPr sz="1000">
                          <a:solidFill>
                            <a:srgbClr val="202020"/>
                          </a:solidFill>
                        </a:rPr>
                        <a:t>Setara — output tetap 136 fitur</a:t>
                      </a:r>
                    </a:p>
                  </a:txBody>
                  <a:tcPr>
                    <a:solidFill>
                      <a:srgbClr val="FFFFFF"/>
                    </a:solidFill>
                  </a:tcPr>
                </a:tc>
              </a:tr>
              <a:tr h="457200">
                <a:tc>
                  <a:txBody>
                    <a:bodyPr/>
                    <a:lstStyle/>
                    <a:p>
                      <a:pPr algn="l"/>
                      <a:r>
                        <a:rPr sz="1000">
                          <a:solidFill>
                            <a:srgbClr val="202020"/>
                          </a:solidFill>
                        </a:rPr>
                        <a:t>Jml mahasiswa</a:t>
                      </a:r>
                    </a:p>
                  </a:txBody>
                  <a:tcPr>
                    <a:solidFill>
                      <a:srgbClr val="E8F0FE"/>
                    </a:solidFill>
                  </a:tcPr>
                </a:tc>
                <a:tc>
                  <a:txBody>
                    <a:bodyPr/>
                    <a:lstStyle/>
                    <a:p>
                      <a:pPr algn="ctr"/>
                      <a:r>
                        <a:rPr sz="1000">
                          <a:solidFill>
                            <a:srgbClr val="202020"/>
                          </a:solidFill>
                        </a:rPr>
                        <a:t>38</a:t>
                      </a:r>
                    </a:p>
                  </a:txBody>
                  <a:tcPr>
                    <a:solidFill>
                      <a:srgbClr val="E8F0FE"/>
                    </a:solidFill>
                  </a:tcPr>
                </a:tc>
                <a:tc>
                  <a:txBody>
                    <a:bodyPr/>
                    <a:lstStyle/>
                    <a:p>
                      <a:pPr algn="ctr"/>
                      <a:r>
                        <a:rPr sz="1000">
                          <a:solidFill>
                            <a:srgbClr val="202020"/>
                          </a:solidFill>
                        </a:rPr>
                        <a:t>37</a:t>
                      </a:r>
                    </a:p>
                  </a:txBody>
                  <a:tcPr>
                    <a:solidFill>
                      <a:srgbClr val="E8F0FE"/>
                    </a:solidFill>
                  </a:tcPr>
                </a:tc>
                <a:tc>
                  <a:txBody>
                    <a:bodyPr/>
                    <a:lstStyle/>
                    <a:p>
                      <a:pPr algn="ctr"/>
                      <a:r>
                        <a:rPr sz="1000">
                          <a:solidFill>
                            <a:srgbClr val="202020"/>
                          </a:solidFill>
                        </a:rPr>
                        <a:t>1 data tidak tersimpan di hardisk</a:t>
                      </a:r>
                    </a:p>
                  </a:txBody>
                  <a:tcPr>
                    <a:solidFill>
                      <a:srgbClr val="E8F0FE"/>
                    </a:solidFill>
                  </a:tcPr>
                </a:tc>
              </a:tr>
              <a:tr h="457200">
                <a:tc>
                  <a:txBody>
                    <a:bodyPr/>
                    <a:lstStyle/>
                    <a:p>
                      <a:pPr algn="l"/>
                      <a:r>
                        <a:rPr sz="1000">
                          <a:solidFill>
                            <a:srgbClr val="202020"/>
                          </a:solidFill>
                        </a:rPr>
                        <a:t>Fusion strategy</a:t>
                      </a:r>
                    </a:p>
                  </a:txBody>
                  <a:tcPr>
                    <a:solidFill>
                      <a:srgbClr val="FFFFFF"/>
                    </a:solidFill>
                  </a:tcPr>
                </a:tc>
                <a:tc>
                  <a:txBody>
                    <a:bodyPr/>
                    <a:lstStyle/>
                    <a:p>
                      <a:pPr algn="ctr"/>
                      <a:r>
                        <a:rPr sz="1000">
                          <a:solidFill>
                            <a:srgbClr val="202020"/>
                          </a:solidFill>
                        </a:rPr>
                        <a:t>Late + Intermediate</a:t>
                      </a:r>
                    </a:p>
                  </a:txBody>
                  <a:tcPr>
                    <a:solidFill>
                      <a:srgbClr val="FFFFFF"/>
                    </a:solidFill>
                  </a:tcPr>
                </a:tc>
                <a:tc>
                  <a:txBody>
                    <a:bodyPr/>
                    <a:lstStyle/>
                    <a:p>
                      <a:pPr algn="ctr"/>
                      <a:r>
                        <a:rPr sz="1000">
                          <a:solidFill>
                            <a:srgbClr val="202020"/>
                          </a:solidFill>
                        </a:rPr>
                        <a:t>Late + Intermediate</a:t>
                      </a:r>
                    </a:p>
                  </a:txBody>
                  <a:tcPr>
                    <a:solidFill>
                      <a:srgbClr val="FFFFFF"/>
                    </a:solidFill>
                  </a:tcPr>
                </a:tc>
                <a:tc>
                  <a:txBody>
                    <a:bodyPr/>
                    <a:lstStyle/>
                    <a:p>
                      <a:pPr algn="ctr"/>
                      <a:r>
                        <a:rPr sz="1000">
                          <a:solidFill>
                            <a:srgbClr val="202020"/>
                          </a:solidFill>
                        </a:rPr>
                        <a:t>Tetap sesuai proposal</a:t>
                      </a:r>
                    </a:p>
                  </a:txBody>
                  <a:tcPr>
                    <a:solidFill>
                      <a:srgbClr val="FFFFFF"/>
                    </a:solidFill>
                  </a:tcPr>
                </a:tc>
              </a:tr>
            </a:tbl>
          </a:graphicData>
        </a:graphic>
      </p:graphicFrame>
      <p:sp>
        <p:nvSpPr>
          <p:cNvPr id="4" name="TextBox 3"/>
          <p:cNvSpPr txBox="1"/>
          <p:nvPr/>
        </p:nvSpPr>
        <p:spPr>
          <a:xfrm>
            <a:off x="457200" y="3657600"/>
            <a:ext cx="8229600" cy="731520"/>
          </a:xfrm>
          <a:prstGeom prst="rect">
            <a:avLst/>
          </a:prstGeom>
          <a:noFill/>
        </p:spPr>
        <p:txBody>
          <a:bodyPr wrap="square">
            <a:spAutoFit/>
          </a:bodyPr>
          <a:lstStyle/>
          <a:p>
            <a:pPr>
              <a:defRPr sz="1000">
                <a:solidFill>
                  <a:srgbClr val="202020"/>
                </a:solidFill>
              </a:defRPr>
            </a:pPr>
            <a:r>
              <a:t>(KONSULTASI 3) Apakah perubahan dlib → MediaPipe perlu direvisi di dokumen proposal,</a:t>
            </a:r>
          </a:p>
          <a:p>
            <a:pPr>
              <a:defRPr sz="1000">
                <a:solidFill>
                  <a:srgbClr val="202020"/>
                </a:solidFill>
              </a:defRPr>
            </a:pPr>
            <a:r>
              <a:t>atau cukup dijelaskan di BAB 4 (Implementasi)?</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Rencana Selanjutnya</a:t>
            </a:r>
          </a:p>
        </p:txBody>
      </p:sp>
      <p:graphicFrame>
        <p:nvGraphicFramePr>
          <p:cNvPr id="3" name="Table 2"/>
          <p:cNvGraphicFramePr>
            <a:graphicFrameLocks noGrp="1"/>
          </p:cNvGraphicFramePr>
          <p:nvPr/>
        </p:nvGraphicFramePr>
        <p:xfrm>
          <a:off x="457200" y="1097280"/>
          <a:ext cx="8229600" cy="3657600"/>
        </p:xfrm>
        <a:graphic>
          <a:graphicData uri="http://schemas.openxmlformats.org/drawingml/2006/table">
            <a:tbl>
              <a:tblPr firstRow="1" bandRow="1">
                <a:tableStyleId>{5C22544A-7EE6-4342-B048-85BDC9FD1C3A}</a:tableStyleId>
              </a:tblPr>
              <a:tblGrid>
                <a:gridCol w="457200"/>
                <a:gridCol w="5029200"/>
                <a:gridCol w="2743200"/>
              </a:tblGrid>
              <a:tr h="332509">
                <a:tc>
                  <a:txBody>
                    <a:bodyPr/>
                    <a:lstStyle/>
                    <a:p>
                      <a:pPr algn="ctr"/>
                      <a:r>
                        <a:rPr sz="1000" b="1">
                          <a:solidFill>
                            <a:srgbClr val="FFFFFF"/>
                          </a:solidFill>
                        </a:rPr>
                        <a:t>No</a:t>
                      </a:r>
                    </a:p>
                  </a:txBody>
                  <a:tcPr>
                    <a:solidFill>
                      <a:srgbClr val="1A73E8"/>
                    </a:solidFill>
                  </a:tcPr>
                </a:tc>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Status</a:t>
                      </a:r>
                    </a:p>
                  </a:txBody>
                  <a:tcPr>
                    <a:solidFill>
                      <a:srgbClr val="1A73E8"/>
                    </a:solidFill>
                  </a:tcPr>
                </a:tc>
              </a:tr>
              <a:tr h="332509">
                <a:tc>
                  <a:txBody>
                    <a:bodyPr/>
                    <a:lstStyle/>
                    <a:p>
                      <a:pPr algn="l"/>
                      <a:r>
                        <a:rPr sz="900">
                          <a:solidFill>
                            <a:srgbClr val="202020"/>
                          </a:solidFill>
                        </a:rPr>
                        <a:t>1</a:t>
                      </a:r>
                    </a:p>
                  </a:txBody>
                  <a:tcPr>
                    <a:solidFill>
                      <a:srgbClr val="E8F0FE"/>
                    </a:solidFill>
                  </a:tcPr>
                </a:tc>
                <a:tc>
                  <a:txBody>
                    <a:bodyPr/>
                    <a:lstStyle/>
                    <a:p>
                      <a:pPr algn="ctr"/>
                      <a:r>
                        <a:rPr sz="900">
                          <a:solidFill>
                            <a:srgbClr val="202020"/>
                          </a:solidFill>
                        </a:rPr>
                        <a:t>Pengumpulan data</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2</a:t>
                      </a:r>
                    </a:p>
                  </a:txBody>
                  <a:tcPr>
                    <a:solidFill>
                      <a:srgbClr val="FFFFFF"/>
                    </a:solidFill>
                  </a:tcPr>
                </a:tc>
                <a:tc>
                  <a:txBody>
                    <a:bodyPr/>
                    <a:lstStyle/>
                    <a:p>
                      <a:pPr algn="ctr"/>
                      <a:r>
                        <a:rPr sz="900">
                          <a:solidFill>
                            <a:srgbClr val="202020"/>
                          </a:solidFill>
                        </a:rPr>
                        <a:t>Preprocessing (frame, crop, landmark)</a:t>
                      </a:r>
                    </a:p>
                  </a:txBody>
                  <a:tcPr>
                    <a:solidFill>
                      <a:srgbClr val="FFFFFF"/>
                    </a:solidFill>
                  </a:tcPr>
                </a:tc>
                <a:tc>
                  <a:txBody>
                    <a:bodyPr/>
                    <a:lstStyle/>
                    <a:p>
                      <a:pPr algn="ctr"/>
                      <a:r>
                        <a:rPr sz="900">
                          <a:solidFill>
                            <a:srgbClr val="202020"/>
                          </a:solidFill>
                        </a:rPr>
                        <a:t>SELESAI</a:t>
                      </a:r>
                    </a:p>
                  </a:txBody>
                  <a:tcPr>
                    <a:solidFill>
                      <a:srgbClr val="FFFFFF"/>
                    </a:solidFill>
                  </a:tcPr>
                </a:tc>
              </a:tr>
              <a:tr h="332509">
                <a:tc>
                  <a:txBody>
                    <a:bodyPr/>
                    <a:lstStyle/>
                    <a:p>
                      <a:pPr algn="l"/>
                      <a:r>
                        <a:rPr sz="900">
                          <a:solidFill>
                            <a:srgbClr val="202020"/>
                          </a:solidFill>
                        </a:rPr>
                        <a:t>3</a:t>
                      </a:r>
                    </a:p>
                  </a:txBody>
                  <a:tcPr>
                    <a:solidFill>
                      <a:srgbClr val="E8F0FE"/>
                    </a:solidFill>
                  </a:tcPr>
                </a:tc>
                <a:tc>
                  <a:txBody>
                    <a:bodyPr/>
                    <a:lstStyle/>
                    <a:p>
                      <a:pPr algn="ctr"/>
                      <a:r>
                        <a:rPr sz="900">
                          <a:solidFill>
                            <a:srgbClr val="202020"/>
                          </a:solidFill>
                        </a:rPr>
                        <a:t>Prepare dataset (numpy arrays)</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4</a:t>
                      </a:r>
                    </a:p>
                  </a:txBody>
                  <a:tcPr>
                    <a:solidFill>
                      <a:srgbClr val="FFFFFF"/>
                    </a:solidFill>
                  </a:tcPr>
                </a:tc>
                <a:tc>
                  <a:txBody>
                    <a:bodyPr/>
                    <a:lstStyle/>
                    <a:p>
                      <a:pPr algn="ctr"/>
                      <a:r>
                        <a:rPr sz="900">
                          <a:solidFill>
                            <a:srgbClr val="202020"/>
                          </a:solidFill>
                        </a:rPr>
                        <a:t>Class weights + augmentasi data</a:t>
                      </a:r>
                    </a:p>
                  </a:txBody>
                  <a:tcPr>
                    <a:solidFill>
                      <a:srgbClr val="FFFFFF"/>
                    </a:solidFill>
                  </a:tcPr>
                </a:tc>
                <a:tc>
                  <a:txBody>
                    <a:bodyPr/>
                    <a:lstStyle/>
                    <a:p>
                      <a:pPr algn="ctr"/>
                      <a:r>
                        <a:rPr sz="900">
                          <a:solidFill>
                            <a:srgbClr val="202020"/>
                          </a:solidFill>
                        </a:rPr>
                        <a:t>SELESAI</a:t>
                      </a:r>
                    </a:p>
                  </a:txBody>
                  <a:tcPr>
                    <a:solidFill>
                      <a:srgbClr val="FFFFFF"/>
                    </a:solidFill>
                  </a:tcPr>
                </a:tc>
              </a:tr>
              <a:tr h="332509">
                <a:tc>
                  <a:txBody>
                    <a:bodyPr/>
                    <a:lstStyle/>
                    <a:p>
                      <a:pPr algn="l"/>
                      <a:r>
                        <a:rPr sz="900">
                          <a:solidFill>
                            <a:srgbClr val="202020"/>
                          </a:solidFill>
                        </a:rPr>
                        <a:t>5</a:t>
                      </a:r>
                    </a:p>
                  </a:txBody>
                  <a:tcPr>
                    <a:solidFill>
                      <a:srgbClr val="E8F0FE"/>
                    </a:solidFill>
                  </a:tcPr>
                </a:tc>
                <a:tc>
                  <a:txBody>
                    <a:bodyPr/>
                    <a:lstStyle/>
                    <a:p>
                      <a:pPr algn="ctr"/>
                      <a:r>
                        <a:rPr sz="900">
                          <a:solidFill>
                            <a:srgbClr val="202020"/>
                          </a:solidFill>
                        </a:rPr>
                        <a:t>Training 7-class from scratch (12 eksperimen)</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6</a:t>
                      </a:r>
                    </a:p>
                  </a:txBody>
                  <a:tcPr>
                    <a:solidFill>
                      <a:srgbClr val="FFFFFF"/>
                    </a:solidFill>
                  </a:tcPr>
                </a:tc>
                <a:tc>
                  <a:txBody>
                    <a:bodyPr/>
                    <a:lstStyle/>
                    <a:p>
                      <a:pPr algn="ctr"/>
                      <a:r>
                        <a:rPr sz="900">
                          <a:solidFill>
                            <a:srgbClr val="202020"/>
                          </a:solidFill>
                        </a:rPr>
                        <a:t>Training 4-class from scratch (12 eksperimen)</a:t>
                      </a:r>
                    </a:p>
                  </a:txBody>
                  <a:tcPr>
                    <a:solidFill>
                      <a:srgbClr val="FFFFFF"/>
                    </a:solidFill>
                  </a:tcPr>
                </a:tc>
                <a:tc>
                  <a:txBody>
                    <a:bodyPr/>
                    <a:lstStyle/>
                    <a:p>
                      <a:pPr algn="ctr"/>
                      <a:r>
                        <a:rPr sz="900">
                          <a:solidFill>
                            <a:srgbClr val="202020"/>
                          </a:solidFill>
                        </a:rPr>
                        <a:t>SELESAI</a:t>
                      </a:r>
                    </a:p>
                  </a:txBody>
                  <a:tcPr>
                    <a:solidFill>
                      <a:srgbClr val="FFFFFF"/>
                    </a:solidFill>
                  </a:tcPr>
                </a:tc>
              </a:tr>
              <a:tr h="332509">
                <a:tc>
                  <a:txBody>
                    <a:bodyPr/>
                    <a:lstStyle/>
                    <a:p>
                      <a:pPr algn="l"/>
                      <a:r>
                        <a:rPr sz="900">
                          <a:solidFill>
                            <a:srgbClr val="202020"/>
                          </a:solidFill>
                        </a:rPr>
                        <a:t>7</a:t>
                      </a:r>
                    </a:p>
                  </a:txBody>
                  <a:tcPr>
                    <a:solidFill>
                      <a:srgbClr val="E8F0FE"/>
                    </a:solidFill>
                  </a:tcPr>
                </a:tc>
                <a:tc>
                  <a:txBody>
                    <a:bodyPr/>
                    <a:lstStyle/>
                    <a:p>
                      <a:pPr algn="ctr"/>
                      <a:r>
                        <a:rPr sz="900">
                          <a:solidFill>
                            <a:srgbClr val="202020"/>
                          </a:solidFill>
                        </a:rPr>
                        <a:t>Transfer Learning ResNet18 (24 eksperimen)</a:t>
                      </a:r>
                    </a:p>
                  </a:txBody>
                  <a:tcPr>
                    <a:solidFill>
                      <a:srgbClr val="E8F0FE"/>
                    </a:solidFill>
                  </a:tcPr>
                </a:tc>
                <a:tc>
                  <a:txBody>
                    <a:bodyPr/>
                    <a:lstStyle/>
                    <a:p>
                      <a:pPr algn="ctr"/>
                      <a:r>
                        <a:rPr sz="900">
                          <a:solidFill>
                            <a:srgbClr val="202020"/>
                          </a:solidFill>
                        </a:rPr>
                        <a:t>SELESAI</a:t>
                      </a:r>
                    </a:p>
                  </a:txBody>
                  <a:tcPr>
                    <a:solidFill>
                      <a:srgbClr val="E8F0FE"/>
                    </a:solidFill>
                  </a:tcPr>
                </a:tc>
              </a:tr>
              <a:tr h="332509">
                <a:tc>
                  <a:txBody>
                    <a:bodyPr/>
                    <a:lstStyle/>
                    <a:p>
                      <a:pPr algn="l"/>
                      <a:r>
                        <a:rPr sz="900">
                          <a:solidFill>
                            <a:srgbClr val="202020"/>
                          </a:solidFill>
                        </a:rPr>
                        <a:t>8</a:t>
                      </a:r>
                    </a:p>
                  </a:txBody>
                  <a:tcPr>
                    <a:solidFill>
                      <a:srgbClr val="FFFFFF"/>
                    </a:solidFill>
                  </a:tcPr>
                </a:tc>
                <a:tc>
                  <a:txBody>
                    <a:bodyPr/>
                    <a:lstStyle/>
                    <a:p>
                      <a:pPr algn="ctr"/>
                      <a:r>
                        <a:rPr sz="900">
                          <a:solidFill>
                            <a:srgbClr val="202020"/>
                          </a:solidFill>
                        </a:rPr>
                        <a:t>Tool validasi ahli psikologi (web app)</a:t>
                      </a:r>
                    </a:p>
                  </a:txBody>
                  <a:tcPr>
                    <a:solidFill>
                      <a:srgbClr val="FFFFFF"/>
                    </a:solidFill>
                  </a:tcPr>
                </a:tc>
                <a:tc>
                  <a:txBody>
                    <a:bodyPr/>
                    <a:lstStyle/>
                    <a:p>
                      <a:pPr algn="ctr"/>
                      <a:r>
                        <a:rPr sz="900">
                          <a:solidFill>
                            <a:srgbClr val="202020"/>
                          </a:solidFill>
                        </a:rPr>
                        <a:t>SELESAI — siap deploy</a:t>
                      </a:r>
                    </a:p>
                  </a:txBody>
                  <a:tcPr>
                    <a:solidFill>
                      <a:srgbClr val="FFFFFF"/>
                    </a:solidFill>
                  </a:tcPr>
                </a:tc>
              </a:tr>
              <a:tr h="332509">
                <a:tc>
                  <a:txBody>
                    <a:bodyPr/>
                    <a:lstStyle/>
                    <a:p>
                      <a:pPr algn="l"/>
                      <a:r>
                        <a:rPr sz="900">
                          <a:solidFill>
                            <a:srgbClr val="202020"/>
                          </a:solidFill>
                        </a:rPr>
                        <a:t>9</a:t>
                      </a:r>
                    </a:p>
                  </a:txBody>
                  <a:tcPr>
                    <a:solidFill>
                      <a:srgbClr val="E8F0FE"/>
                    </a:solidFill>
                  </a:tcPr>
                </a:tc>
                <a:tc>
                  <a:txBody>
                    <a:bodyPr/>
                    <a:lstStyle/>
                    <a:p>
                      <a:pPr algn="ctr"/>
                      <a:r>
                        <a:rPr sz="900">
                          <a:solidFill>
                            <a:srgbClr val="202020"/>
                          </a:solidFill>
                        </a:rPr>
                        <a:t>Deploy tool + kirim ke ahli psikologi</a:t>
                      </a:r>
                    </a:p>
                  </a:txBody>
                  <a:tcPr>
                    <a:solidFill>
                      <a:srgbClr val="E8F0FE"/>
                    </a:solidFill>
                  </a:tcPr>
                </a:tc>
                <a:tc>
                  <a:txBody>
                    <a:bodyPr/>
                    <a:lstStyle/>
                    <a:p>
                      <a:pPr algn="ctr"/>
                      <a:r>
                        <a:rPr sz="900">
                          <a:solidFill>
                            <a:srgbClr val="202020"/>
                          </a:solidFill>
                        </a:rPr>
                        <a:t>MENUNGGU KEPUTUSAN</a:t>
                      </a:r>
                    </a:p>
                  </a:txBody>
                  <a:tcPr>
                    <a:solidFill>
                      <a:srgbClr val="E8F0FE"/>
                    </a:solidFill>
                  </a:tcPr>
                </a:tc>
              </a:tr>
              <a:tr h="332510">
                <a:tc>
                  <a:txBody>
                    <a:bodyPr/>
                    <a:lstStyle/>
                    <a:p>
                      <a:pPr algn="l"/>
                      <a:r>
                        <a:rPr sz="900">
                          <a:solidFill>
                            <a:srgbClr val="202020"/>
                          </a:solidFill>
                        </a:rPr>
                        <a:t>10</a:t>
                      </a:r>
                    </a:p>
                  </a:txBody>
                  <a:tcPr>
                    <a:solidFill>
                      <a:srgbClr val="FFFFFF"/>
                    </a:solidFill>
                  </a:tcPr>
                </a:tc>
                <a:tc>
                  <a:txBody>
                    <a:bodyPr/>
                    <a:lstStyle/>
                    <a:p>
                      <a:pPr algn="ctr"/>
                      <a:r>
                        <a:rPr sz="900">
                          <a:solidFill>
                            <a:srgbClr val="202020"/>
                          </a:solidFill>
                        </a:rPr>
                        <a:t>Penulisan BAB 4 &amp; BAB 5</a:t>
                      </a:r>
                    </a:p>
                  </a:txBody>
                  <a:tcPr>
                    <a:solidFill>
                      <a:srgbClr val="FFFFFF"/>
                    </a:solidFill>
                  </a:tcPr>
                </a:tc>
                <a:tc>
                  <a:txBody>
                    <a:bodyPr/>
                    <a:lstStyle/>
                    <a:p>
                      <a:pPr algn="ctr"/>
                      <a:r>
                        <a:rPr sz="900">
                          <a:solidFill>
                            <a:srgbClr val="202020"/>
                          </a:solidFill>
                        </a:rPr>
                        <a:t>SELANJUTNYA</a:t>
                      </a:r>
                    </a:p>
                  </a:txBody>
                  <a:tcPr>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sp>
        <p:nvSpPr>
          <p:cNvPr id="1" name="TextBox 0"/>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Rancangan Eksperimen — Tahap 1: 7-Class From Scratch</a:t>
            </a:r>
          </a:p>
        </p:txBody>
      </p:sp>
      <p:sp>
        <p:nvSpPr>
          <p:cNvPr id="2" name="TextBox 1"/>
          <p:cNvSpPr txBox="1"/>
          <p:nvPr/>
        </p:nvSpPr>
        <p:spPr>
          <a:xfrm>
            <a:off x="365760" y="914400"/>
            <a:ext cx="4114800" cy="1920240"/>
          </a:xfrm>
          <a:prstGeom prst="rect">
            <a:avLst/>
          </a:prstGeom>
          <a:noFill/>
          <a:solidFill>
            <a:srgbClr val="E8F0FE"/>
          </a:solidFill>
        </p:spPr>
        <p:txBody>
          <a:bodyPr wrap="square">
            <a:spAutoFit/>
          </a:bodyPr>
          <a:lstStyle/>
          <a:p>
            <a:pPr>
              <a:defRPr sz="1000" b="1">
                <a:solidFill>
                  <a:srgbClr val="202020"/>
                </a:solidFill>
              </a:defRPr>
            </a:pPr>
            <a:r>
              <a:t>4 Model yang Dibandingkan:</a:t>
            </a:r>
          </a:p>
          <a:p>
            <a:pPr>
              <a:defRPr sz="1000">
                <a:solidFill>
                  <a:srgbClr val="202020"/>
                </a:solidFill>
              </a:defRPr>
            </a:pPr>
            <a:r>
              <a:t>CNN                   -- fitur citra wajah 224x224 px</a:t>
            </a:r>
          </a:p>
          <a:p>
            <a:pPr>
              <a:defRPr sz="1000">
                <a:solidFill>
                  <a:srgbClr val="202020"/>
                </a:solidFill>
              </a:defRPr>
            </a:pPr>
            <a:r>
              <a:t>FCNN                  -- fitur landmark geometrik (136 koordinat)</a:t>
            </a:r>
          </a:p>
          <a:p>
            <a:pPr>
              <a:defRPr sz="1000">
                <a:solidFill>
                  <a:srgbClr val="202020"/>
                </a:solidFill>
              </a:defRPr>
            </a:pPr>
            <a:r>
              <a:t>Late Fusion           -- CNN + FCNN digabung di level keputusan</a:t>
            </a:r>
          </a:p>
          <a:p>
            <a:pPr>
              <a:defRPr sz="1000">
                <a:solidFill>
                  <a:srgbClr val="202020"/>
                </a:solidFill>
              </a:defRPr>
            </a:pPr>
            <a:r>
              <a:t>Intermediate Fusion   -- CNN + FCNN digabung di level fitur</a:t>
            </a:r>
          </a:p>
        </p:txBody>
      </p:sp>
      <p:sp>
        <p:nvSpPr>
          <p:cNvPr id="3" name="TextBox 2"/>
          <p:cNvSpPr txBox="1"/>
          <p:nvPr/>
        </p:nvSpPr>
        <p:spPr>
          <a:xfrm>
            <a:off x="4663440" y="914400"/>
            <a:ext cx="4114800" cy="1920240"/>
          </a:xfrm>
          <a:prstGeom prst="rect">
            <a:avLst/>
          </a:prstGeom>
          <a:noFill/>
          <a:solidFill>
            <a:srgbClr val="E8F0FE"/>
          </a:solidFill>
        </p:spPr>
        <p:txBody>
          <a:bodyPr wrap="square">
            <a:spAutoFit/>
          </a:bodyPr>
          <a:lstStyle/>
          <a:p>
            <a:pPr>
              <a:defRPr sz="1000" b="1">
                <a:solidFill>
                  <a:srgbClr val="202020"/>
                </a:solidFill>
              </a:defRPr>
            </a:pPr>
            <a:r>
              <a:t>3 Skenario Penanganan Class Imbalance:</a:t>
            </a:r>
          </a:p>
          <a:p>
            <a:pPr>
              <a:defRPr sz="1000">
                <a:solidFill>
                  <a:srgbClr val="202020"/>
                </a:solidFill>
              </a:defRPr>
            </a:pPr>
            <a:r>
              <a:t>B1 = Baseline: training biasa, tanpa penanganan</a:t>
            </a:r>
          </a:p>
          <a:p>
            <a:pPr>
              <a:defRPr sz="1000">
                <a:solidFill>
                  <a:srgbClr val="202020"/>
                </a:solidFill>
              </a:defRPr>
            </a:pPr>
            <a:r>
              <a:t>B2 = Class Weights (Cui et al., 2019):</a:t>
            </a:r>
          </a:p>
          <a:p>
            <a:pPr>
              <a:defRPr sz="1000">
                <a:solidFill>
                  <a:srgbClr val="202020"/>
                </a:solidFill>
              </a:defRPr>
            </a:pPr>
            <a:r>
              <a:t>     penalty loss lebih besar untuk kelas langka</a:t>
            </a:r>
          </a:p>
          <a:p>
            <a:pPr>
              <a:defRPr sz="1000">
                <a:solidFill>
                  <a:srgbClr val="202020"/>
                </a:solidFill>
              </a:defRPr>
            </a:pPr>
            <a:r>
              <a:t>B3 = Class Weights + Augmentasi:</a:t>
            </a:r>
          </a:p>
          <a:p>
            <a:pPr>
              <a:defRPr sz="1000">
                <a:solidFill>
                  <a:srgbClr val="202020"/>
                </a:solidFill>
              </a:defRPr>
            </a:pPr>
            <a:r>
              <a:t>     flip, rotasi +-15 derajat, brightness</a:t>
            </a:r>
          </a:p>
          <a:p>
            <a:pPr>
              <a:defRPr sz="1000">
                <a:solidFill>
                  <a:srgbClr val="202020"/>
                </a:solidFill>
              </a:defRPr>
            </a:pPr>
            <a:r>
              <a:t>     hanya untuk kelas &lt; 150 sample</a:t>
            </a:r>
          </a:p>
        </p:txBody>
      </p:sp>
      <p:graphicFrame>
        <p:nvGraphicFramePr>
          <p:cNvPr id="4" name="Table 3"/>
          <p:cNvGraphicFramePr>
            <a:graphicFrameLocks noGrp="1"/>
          </p:cNvGraphicFramePr>
          <p:nvPr/>
        </p:nvGraphicFramePr>
        <p:xfrm>
          <a:off x="365760" y="2971800"/>
          <a:ext cx="8412480" cy="777240"/>
        </p:xfrm>
        <a:graphic>
          <a:graphicData uri="http://schemas.openxmlformats.org/drawingml/2006/table">
            <a:tbl>
              <a:tblPr firstRow="1" bandRow="1">
                <a:tableStyleId>{5C22544A-7EE6-4342-B048-85BDC9FD1C3A}</a:tableStyleId>
              </a:tblPr>
              <a:tblGrid>
                <a:gridCol w="1828800"/>
                <a:gridCol w="1645920"/>
                <a:gridCol w="3291840"/>
                <a:gridCol w="914400"/>
                <a:gridCol w="731520"/>
              </a:tblGrid>
              <a:tr h="388620">
                <a:tc>
                  <a:txBody>
                    <a:bodyPr/>
                    <a:lstStyle/>
                    <a:p>
                      <a:pPr algn="ctr"/>
                      <a:r>
                        <a:rPr sz="1000" b="1">
                          <a:solidFill>
                            <a:srgbClr val="FFFFFF"/>
                          </a:solidFill>
                        </a:rPr>
                        <a:t>Konfigurasi</a:t>
                      </a:r>
                    </a:p>
                  </a:txBody>
                  <a:tcPr>
                    <a:solidFill>
                      <a:srgbClr val="1A73E8"/>
                    </a:solidFill>
                  </a:tcPr>
                </a:tc>
                <a:tc>
                  <a:txBody>
                    <a:bodyPr/>
                    <a:lstStyle/>
                    <a:p>
                      <a:pPr algn="ctr"/>
                      <a:r>
                        <a:rPr sz="1000" b="1">
                          <a:solidFill>
                            <a:srgbClr val="FFFFFF"/>
                          </a:solidFill>
                        </a:rPr>
                        <a:t>Jumlah Eksperimen</a:t>
                      </a:r>
                    </a:p>
                  </a:txBody>
                  <a:tcPr>
                    <a:solidFill>
                      <a:srgbClr val="1A73E8"/>
                    </a:solidFill>
                  </a:tcPr>
                </a:tc>
                <a:tc>
                  <a:txBody>
                    <a:bodyPr/>
                    <a:lstStyle/>
                    <a:p>
                      <a:pPr algn="ctr"/>
                      <a:r>
                        <a:rPr sz="1000" b="1">
                          <a:solidFill>
                            <a:srgbClr val="FFFFFF"/>
                          </a:solidFill>
                        </a:rPr>
                        <a:t>Kelas</a:t>
                      </a:r>
                    </a:p>
                  </a:txBody>
                  <a:tcPr>
                    <a:solidFill>
                      <a:srgbClr val="1A73E8"/>
                    </a:solidFill>
                  </a:tcPr>
                </a:tc>
                <a:tc>
                  <a:txBody>
                    <a:bodyPr/>
                    <a:lstStyle/>
                    <a:p>
                      <a:pPr algn="ctr"/>
                      <a:r>
                        <a:rPr sz="1000" b="1">
                          <a:solidFill>
                            <a:srgbClr val="FFFFFF"/>
                          </a:solidFill>
                        </a:rPr>
                        <a:t>GPU</a:t>
                      </a:r>
                    </a:p>
                  </a:txBody>
                  <a:tcPr>
                    <a:solidFill>
                      <a:srgbClr val="1A73E8"/>
                    </a:solidFill>
                  </a:tcPr>
                </a:tc>
                <a:tc>
                  <a:txBody>
                    <a:bodyPr/>
                    <a:lstStyle/>
                    <a:p>
                      <a:pPr algn="ctr"/>
                      <a:r>
                        <a:rPr sz="1000" b="1">
                          <a:solidFill>
                            <a:srgbClr val="FFFFFF"/>
                          </a:solidFill>
                        </a:rPr>
                        <a:t>Metrik</a:t>
                      </a:r>
                    </a:p>
                  </a:txBody>
                  <a:tcPr>
                    <a:solidFill>
                      <a:srgbClr val="1A73E8"/>
                    </a:solidFill>
                  </a:tcPr>
                </a:tc>
              </a:tr>
              <a:tr h="388620">
                <a:tc>
                  <a:txBody>
                    <a:bodyPr/>
                    <a:lstStyle/>
                    <a:p>
                      <a:pPr algn="l"/>
                      <a:r>
                        <a:rPr sz="1000" b="0">
                          <a:solidFill>
                            <a:srgbClr val="202020"/>
                          </a:solidFill>
                        </a:rPr>
                        <a:t>4 model x 3 skenario</a:t>
                      </a:r>
                    </a:p>
                  </a:txBody>
                  <a:tcPr>
                    <a:solidFill>
                      <a:srgbClr val="E8F0FE"/>
                    </a:solidFill>
                  </a:tcPr>
                </a:tc>
                <a:tc>
                  <a:txBody>
                    <a:bodyPr/>
                    <a:lstStyle/>
                    <a:p>
                      <a:pPr algn="ctr"/>
                      <a:r>
                        <a:rPr sz="1000" b="0">
                          <a:solidFill>
                            <a:srgbClr val="202020"/>
                          </a:solidFill>
                        </a:rPr>
                        <a:t>12 eksperimen</a:t>
                      </a:r>
                    </a:p>
                  </a:txBody>
                  <a:tcPr>
                    <a:solidFill>
                      <a:srgbClr val="E8F0FE"/>
                    </a:solidFill>
                  </a:tcPr>
                </a:tc>
                <a:tc>
                  <a:txBody>
                    <a:bodyPr/>
                    <a:lstStyle/>
                    <a:p>
                      <a:pPr algn="ctr"/>
                      <a:r>
                        <a:rPr sz="1000" b="0">
                          <a:solidFill>
                            <a:srgbClr val="202020"/>
                          </a:solidFill>
                        </a:rPr>
                        <a:t>7 kelas (neutral, happy, sad, angry, fearful, disgusted, surprised)</a:t>
                      </a:r>
                    </a:p>
                  </a:txBody>
                  <a:tcPr>
                    <a:solidFill>
                      <a:srgbClr val="E8F0FE"/>
                    </a:solidFill>
                  </a:tcPr>
                </a:tc>
                <a:tc>
                  <a:txBody>
                    <a:bodyPr/>
                    <a:lstStyle/>
                    <a:p>
                      <a:pPr algn="ctr"/>
                      <a:r>
                        <a:rPr sz="1000" b="0">
                          <a:solidFill>
                            <a:srgbClr val="202020"/>
                          </a:solidFill>
                        </a:rPr>
                        <a:t>NVIDIA T4</a:t>
                      </a:r>
                    </a:p>
                  </a:txBody>
                  <a:tcPr>
                    <a:solidFill>
                      <a:srgbClr val="E8F0FE"/>
                    </a:solidFill>
                  </a:tcPr>
                </a:tc>
                <a:tc>
                  <a:txBody>
                    <a:bodyPr/>
                    <a:lstStyle/>
                    <a:p>
                      <a:pPr algn="ctr"/>
                      <a:r>
                        <a:rPr sz="1000" b="0">
                          <a:solidFill>
                            <a:srgbClr val="202020"/>
                          </a:solidFill>
                        </a:rPr>
                        <a:t>Macro F1</a:t>
                      </a:r>
                    </a:p>
                  </a:txBody>
                  <a:tcPr>
                    <a:solidFill>
                      <a:srgbClr val="E8F0FE"/>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Training 7-Class — From Scratch (12 Eksperimen)</a:t>
            </a:r>
          </a:p>
        </p:txBody>
      </p:sp>
      <p:graphicFrame>
        <p:nvGraphicFramePr>
          <p:cNvPr id="3" name="Table 2"/>
          <p:cNvGraphicFramePr>
            <a:graphicFrameLocks noGrp="1"/>
          </p:cNvGraphicFramePr>
          <p:nvPr/>
        </p:nvGraphicFramePr>
        <p:xfrm>
          <a:off x="457200" y="1097280"/>
          <a:ext cx="8229600" cy="3657600"/>
        </p:xfrm>
        <a:graphic>
          <a:graphicData uri="http://schemas.openxmlformats.org/drawingml/2006/table">
            <a:tbl>
              <a:tblPr firstRow="1" bandRow="1">
                <a:tableStyleId>{5C22544A-7EE6-4342-B048-85BDC9FD1C3A}</a:tableStyleId>
              </a:tblPr>
              <a:tblGrid>
                <a:gridCol w="514350"/>
                <a:gridCol w="2263140"/>
                <a:gridCol w="1543050"/>
                <a:gridCol w="1234440"/>
                <a:gridCol w="1234440"/>
                <a:gridCol w="1440180"/>
              </a:tblGrid>
              <a:tr h="332509">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Weighted F1</a:t>
                      </a:r>
                    </a:p>
                  </a:txBody>
                  <a:tcPr>
                    <a:solidFill>
                      <a:srgbClr val="1A73E8"/>
                    </a:solidFill>
                  </a:tcPr>
                </a:tc>
              </a:tr>
              <a:tr h="332509">
                <a:tc>
                  <a:txBody>
                    <a:bodyPr/>
                    <a:lstStyle/>
                    <a:p>
                      <a:pPr algn="l"/>
                      <a:r>
                        <a:rPr sz="900" b="1">
                          <a:solidFill>
                            <a:srgbClr val="FFFFFF"/>
                          </a:solidFill>
                        </a:rPr>
                        <a:t>1</a:t>
                      </a:r>
                    </a:p>
                  </a:txBody>
                  <a:tcPr>
                    <a:solidFill>
                      <a:srgbClr val="34A853"/>
                    </a:solidFill>
                  </a:tcPr>
                </a:tc>
                <a:tc>
                  <a:txBody>
                    <a:bodyPr/>
                    <a:lstStyle/>
                    <a:p>
                      <a:pPr algn="ctr"/>
                      <a:r>
                        <a:rPr sz="900" b="1">
                          <a:solidFill>
                            <a:srgbClr val="FFFFFF"/>
                          </a:solidFill>
                        </a:rPr>
                        <a:t>FCNN</a:t>
                      </a:r>
                    </a:p>
                  </a:txBody>
                  <a:tcPr>
                    <a:solidFill>
                      <a:srgbClr val="34A853"/>
                    </a:solidFill>
                  </a:tcPr>
                </a:tc>
                <a:tc>
                  <a:txBody>
                    <a:bodyPr/>
                    <a:lstStyle/>
                    <a:p>
                      <a:pPr algn="ctr"/>
                      <a:r>
                        <a:rPr sz="900" b="1">
                          <a:solidFill>
                            <a:srgbClr val="FFFFFF"/>
                          </a:solidFill>
                        </a:rPr>
                        <a:t>B1 Baseline</a:t>
                      </a:r>
                    </a:p>
                  </a:txBody>
                  <a:tcPr>
                    <a:solidFill>
                      <a:srgbClr val="34A853"/>
                    </a:solidFill>
                  </a:tcPr>
                </a:tc>
                <a:tc>
                  <a:txBody>
                    <a:bodyPr/>
                    <a:lstStyle/>
                    <a:p>
                      <a:pPr algn="ctr"/>
                      <a:r>
                        <a:rPr sz="900" b="1">
                          <a:solidFill>
                            <a:srgbClr val="FFFFFF"/>
                          </a:solidFill>
                        </a:rPr>
                        <a:t>95.8%</a:t>
                      </a:r>
                    </a:p>
                  </a:txBody>
                  <a:tcPr>
                    <a:solidFill>
                      <a:srgbClr val="34A853"/>
                    </a:solidFill>
                  </a:tcPr>
                </a:tc>
                <a:tc>
                  <a:txBody>
                    <a:bodyPr/>
                    <a:lstStyle/>
                    <a:p>
                      <a:pPr algn="ctr"/>
                      <a:r>
                        <a:rPr sz="900" b="1">
                          <a:solidFill>
                            <a:srgbClr val="FFFFFF"/>
                          </a:solidFill>
                        </a:rPr>
                        <a:t>0.234</a:t>
                      </a:r>
                    </a:p>
                  </a:txBody>
                  <a:tcPr>
                    <a:solidFill>
                      <a:srgbClr val="34A853"/>
                    </a:solidFill>
                  </a:tcPr>
                </a:tc>
                <a:tc>
                  <a:txBody>
                    <a:bodyPr/>
                    <a:lstStyle/>
                    <a:p>
                      <a:pPr algn="ctr"/>
                      <a:r>
                        <a:rPr sz="900" b="1">
                          <a:solidFill>
                            <a:srgbClr val="FFFFFF"/>
                          </a:solidFill>
                        </a:rPr>
                        <a:t>0.952</a:t>
                      </a:r>
                    </a:p>
                  </a:txBody>
                  <a:tcPr>
                    <a:solidFill>
                      <a:srgbClr val="34A853"/>
                    </a:solidFill>
                  </a:tcPr>
                </a:tc>
              </a:tr>
              <a:tr h="332509">
                <a:tc>
                  <a:txBody>
                    <a:bodyPr/>
                    <a:lstStyle/>
                    <a:p>
                      <a:pPr algn="l"/>
                      <a:r>
                        <a:rPr sz="900" b="0">
                          <a:solidFill>
                            <a:srgbClr val="202020"/>
                          </a:solidFill>
                        </a:rPr>
                        <a:t>2</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B1 Baseline</a:t>
                      </a:r>
                    </a:p>
                  </a:txBody>
                  <a:tcPr>
                    <a:solidFill>
                      <a:srgbClr val="FFFFFF"/>
                    </a:solidFill>
                  </a:tcPr>
                </a:tc>
                <a:tc>
                  <a:txBody>
                    <a:bodyPr/>
                    <a:lstStyle/>
                    <a:p>
                      <a:pPr algn="ctr"/>
                      <a:r>
                        <a:rPr sz="900" b="0">
                          <a:solidFill>
                            <a:srgbClr val="202020"/>
                          </a:solidFill>
                        </a:rPr>
                        <a:t>95.8%</a:t>
                      </a:r>
                    </a:p>
                  </a:txBody>
                  <a:tcPr>
                    <a:solidFill>
                      <a:srgbClr val="FFFFFF"/>
                    </a:solidFill>
                  </a:tcPr>
                </a:tc>
                <a:tc>
                  <a:txBody>
                    <a:bodyPr/>
                    <a:lstStyle/>
                    <a:p>
                      <a:pPr algn="ctr"/>
                      <a:r>
                        <a:rPr sz="900" b="0">
                          <a:solidFill>
                            <a:srgbClr val="202020"/>
                          </a:solidFill>
                        </a:rPr>
                        <a:t>0.230</a:t>
                      </a:r>
                    </a:p>
                  </a:txBody>
                  <a:tcPr>
                    <a:solidFill>
                      <a:srgbClr val="FFFFFF"/>
                    </a:solidFill>
                  </a:tcPr>
                </a:tc>
                <a:tc>
                  <a:txBody>
                    <a:bodyPr/>
                    <a:lstStyle/>
                    <a:p>
                      <a:pPr algn="ctr"/>
                      <a:r>
                        <a:rPr sz="900" b="0">
                          <a:solidFill>
                            <a:srgbClr val="202020"/>
                          </a:solidFill>
                        </a:rPr>
                        <a:t>0.951</a:t>
                      </a:r>
                    </a:p>
                  </a:txBody>
                  <a:tcPr>
                    <a:solidFill>
                      <a:srgbClr val="FFFFFF"/>
                    </a:solidFill>
                  </a:tcPr>
                </a:tc>
              </a:tr>
              <a:tr h="332509">
                <a:tc>
                  <a:txBody>
                    <a:bodyPr/>
                    <a:lstStyle/>
                    <a:p>
                      <a:pPr algn="l"/>
                      <a:r>
                        <a:rPr sz="900" b="0">
                          <a:solidFill>
                            <a:srgbClr val="202020"/>
                          </a:solidFill>
                        </a:rPr>
                        <a:t>3</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89.1%</a:t>
                      </a:r>
                    </a:p>
                  </a:txBody>
                  <a:tcPr>
                    <a:solidFill>
                      <a:srgbClr val="E8F0FE"/>
                    </a:solidFill>
                  </a:tcPr>
                </a:tc>
                <a:tc>
                  <a:txBody>
                    <a:bodyPr/>
                    <a:lstStyle/>
                    <a:p>
                      <a:pPr algn="ctr"/>
                      <a:r>
                        <a:rPr sz="900" b="0">
                          <a:solidFill>
                            <a:srgbClr val="202020"/>
                          </a:solidFill>
                        </a:rPr>
                        <a:t>0.189</a:t>
                      </a:r>
                    </a:p>
                  </a:txBody>
                  <a:tcPr>
                    <a:solidFill>
                      <a:srgbClr val="E8F0FE"/>
                    </a:solidFill>
                  </a:tcPr>
                </a:tc>
                <a:tc>
                  <a:txBody>
                    <a:bodyPr/>
                    <a:lstStyle/>
                    <a:p>
                      <a:pPr algn="ctr"/>
                      <a:r>
                        <a:rPr sz="900" b="0">
                          <a:solidFill>
                            <a:srgbClr val="202020"/>
                          </a:solidFill>
                        </a:rPr>
                        <a:t>0.912</a:t>
                      </a:r>
                    </a:p>
                  </a:txBody>
                  <a:tcPr>
                    <a:solidFill>
                      <a:srgbClr val="E8F0FE"/>
                    </a:solidFill>
                  </a:tcPr>
                </a:tc>
              </a:tr>
              <a:tr h="332509">
                <a:tc>
                  <a:txBody>
                    <a:bodyPr/>
                    <a:lstStyle/>
                    <a:p>
                      <a:pPr algn="l"/>
                      <a:r>
                        <a:rPr sz="900" b="0">
                          <a:solidFill>
                            <a:srgbClr val="202020"/>
                          </a:solidFill>
                        </a:rPr>
                        <a:t>4</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B2 Weights</a:t>
                      </a:r>
                    </a:p>
                  </a:txBody>
                  <a:tcPr>
                    <a:solidFill>
                      <a:srgbClr val="FFFFFF"/>
                    </a:solidFill>
                  </a:tcPr>
                </a:tc>
                <a:tc>
                  <a:txBody>
                    <a:bodyPr/>
                    <a:lstStyle/>
                    <a:p>
                      <a:pPr algn="ctr"/>
                      <a:r>
                        <a:rPr sz="900" b="0">
                          <a:solidFill>
                            <a:srgbClr val="202020"/>
                          </a:solidFill>
                        </a:rPr>
                        <a:t>89.7%</a:t>
                      </a:r>
                    </a:p>
                  </a:txBody>
                  <a:tcPr>
                    <a:solidFill>
                      <a:srgbClr val="FFFFFF"/>
                    </a:solidFill>
                  </a:tcPr>
                </a:tc>
                <a:tc>
                  <a:txBody>
                    <a:bodyPr/>
                    <a:lstStyle/>
                    <a:p>
                      <a:pPr algn="ctr"/>
                      <a:r>
                        <a:rPr sz="900" b="0">
                          <a:solidFill>
                            <a:srgbClr val="202020"/>
                          </a:solidFill>
                        </a:rPr>
                        <a:t>0.189</a:t>
                      </a:r>
                    </a:p>
                  </a:txBody>
                  <a:tcPr>
                    <a:solidFill>
                      <a:srgbClr val="FFFFFF"/>
                    </a:solidFill>
                  </a:tcPr>
                </a:tc>
                <a:tc>
                  <a:txBody>
                    <a:bodyPr/>
                    <a:lstStyle/>
                    <a:p>
                      <a:pPr algn="ctr"/>
                      <a:r>
                        <a:rPr sz="900" b="0">
                          <a:solidFill>
                            <a:srgbClr val="202020"/>
                          </a:solidFill>
                        </a:rPr>
                        <a:t>0.909</a:t>
                      </a:r>
                    </a:p>
                  </a:txBody>
                  <a:tcPr>
                    <a:solidFill>
                      <a:srgbClr val="FFFFFF"/>
                    </a:solidFill>
                  </a:tcPr>
                </a:tc>
              </a:tr>
              <a:tr h="332509">
                <a:tc>
                  <a:txBody>
                    <a:bodyPr/>
                    <a:lstStyle/>
                    <a:p>
                      <a:pPr algn="l"/>
                      <a:r>
                        <a:rPr sz="900" b="0">
                          <a:solidFill>
                            <a:srgbClr val="202020"/>
                          </a:solidFill>
                        </a:rPr>
                        <a:t>5</a:t>
                      </a:r>
                    </a:p>
                  </a:txBody>
                  <a:tcPr>
                    <a:solidFill>
                      <a:srgbClr val="E8F0FE"/>
                    </a:solidFill>
                  </a:tcPr>
                </a:tc>
                <a:tc>
                  <a:txBody>
                    <a:bodyPr/>
                    <a:lstStyle/>
                    <a:p>
                      <a:pPr algn="ctr"/>
                      <a:r>
                        <a:rPr sz="900" b="0">
                          <a:solidFill>
                            <a:srgbClr val="202020"/>
                          </a:solidFill>
                        </a:rPr>
                        <a:t>Late Fusion</a:t>
                      </a:r>
                    </a:p>
                  </a:txBody>
                  <a:tcPr>
                    <a:solidFill>
                      <a:srgbClr val="E8F0FE"/>
                    </a:solidFill>
                  </a:tcPr>
                </a:tc>
                <a:tc>
                  <a:txBody>
                    <a:bodyPr/>
                    <a:lstStyle/>
                    <a:p>
                      <a:pPr algn="ctr"/>
                      <a:r>
                        <a:rPr sz="900" b="0">
                          <a:solidFill>
                            <a:srgbClr val="202020"/>
                          </a:solidFill>
                        </a:rPr>
                        <a:t>B3 Aug</a:t>
                      </a:r>
                    </a:p>
                  </a:txBody>
                  <a:tcPr>
                    <a:solidFill>
                      <a:srgbClr val="E8F0FE"/>
                    </a:solidFill>
                  </a:tcPr>
                </a:tc>
                <a:tc>
                  <a:txBody>
                    <a:bodyPr/>
                    <a:lstStyle/>
                    <a:p>
                      <a:pPr algn="ctr"/>
                      <a:r>
                        <a:rPr sz="900" b="0">
                          <a:solidFill>
                            <a:srgbClr val="202020"/>
                          </a:solidFill>
                        </a:rPr>
                        <a:t>92.5%</a:t>
                      </a:r>
                    </a:p>
                  </a:txBody>
                  <a:tcPr>
                    <a:solidFill>
                      <a:srgbClr val="E8F0FE"/>
                    </a:solidFill>
                  </a:tcPr>
                </a:tc>
                <a:tc>
                  <a:txBody>
                    <a:bodyPr/>
                    <a:lstStyle/>
                    <a:p>
                      <a:pPr algn="ctr"/>
                      <a:r>
                        <a:rPr sz="900" b="0">
                          <a:solidFill>
                            <a:srgbClr val="202020"/>
                          </a:solidFill>
                        </a:rPr>
                        <a:t>0.182</a:t>
                      </a:r>
                    </a:p>
                  </a:txBody>
                  <a:tcPr>
                    <a:solidFill>
                      <a:srgbClr val="E8F0FE"/>
                    </a:solidFill>
                  </a:tcPr>
                </a:tc>
                <a:tc>
                  <a:txBody>
                    <a:bodyPr/>
                    <a:lstStyle/>
                    <a:p>
                      <a:pPr algn="ctr"/>
                      <a:r>
                        <a:rPr sz="900" b="0">
                          <a:solidFill>
                            <a:srgbClr val="202020"/>
                          </a:solidFill>
                        </a:rPr>
                        <a:t>0.929</a:t>
                      </a:r>
                    </a:p>
                  </a:txBody>
                  <a:tcPr>
                    <a:solidFill>
                      <a:srgbClr val="E8F0FE"/>
                    </a:solidFill>
                  </a:tcPr>
                </a:tc>
              </a:tr>
              <a:tr h="332509">
                <a:tc>
                  <a:txBody>
                    <a:bodyPr/>
                    <a:lstStyle/>
                    <a:p>
                      <a:pPr algn="l"/>
                      <a:r>
                        <a:rPr sz="900" b="0">
                          <a:solidFill>
                            <a:srgbClr val="202020"/>
                          </a:solidFill>
                        </a:rPr>
                        <a:t>6</a:t>
                      </a:r>
                    </a:p>
                  </a:txBody>
                  <a:tcPr>
                    <a:solidFill>
                      <a:srgbClr val="FFFFFF"/>
                    </a:solidFill>
                  </a:tcPr>
                </a:tc>
                <a:tc>
                  <a:txBody>
                    <a:bodyPr/>
                    <a:lstStyle/>
                    <a:p>
                      <a:pPr algn="ctr"/>
                      <a:r>
                        <a:rPr sz="900" b="0">
                          <a:solidFill>
                            <a:srgbClr val="202020"/>
                          </a:solidFill>
                        </a:rPr>
                        <a:t>FCNN</a:t>
                      </a:r>
                    </a:p>
                  </a:txBody>
                  <a:tcPr>
                    <a:solidFill>
                      <a:srgbClr val="FFFFFF"/>
                    </a:solidFill>
                  </a:tcPr>
                </a:tc>
                <a:tc>
                  <a:txBody>
                    <a:bodyPr/>
                    <a:lstStyle/>
                    <a:p>
                      <a:pPr algn="ctr"/>
                      <a:r>
                        <a:rPr sz="900" b="0">
                          <a:solidFill>
                            <a:srgbClr val="202020"/>
                          </a:solidFill>
                        </a:rPr>
                        <a:t>B3 Aug</a:t>
                      </a:r>
                    </a:p>
                  </a:txBody>
                  <a:tcPr>
                    <a:solidFill>
                      <a:srgbClr val="FFFFFF"/>
                    </a:solidFill>
                  </a:tcPr>
                </a:tc>
                <a:tc>
                  <a:txBody>
                    <a:bodyPr/>
                    <a:lstStyle/>
                    <a:p>
                      <a:pPr algn="ctr"/>
                      <a:r>
                        <a:rPr sz="900" b="0">
                          <a:solidFill>
                            <a:srgbClr val="202020"/>
                          </a:solidFill>
                        </a:rPr>
                        <a:t>92.3%</a:t>
                      </a:r>
                    </a:p>
                  </a:txBody>
                  <a:tcPr>
                    <a:solidFill>
                      <a:srgbClr val="FFFFFF"/>
                    </a:solidFill>
                  </a:tcPr>
                </a:tc>
                <a:tc>
                  <a:txBody>
                    <a:bodyPr/>
                    <a:lstStyle/>
                    <a:p>
                      <a:pPr algn="ctr"/>
                      <a:r>
                        <a:rPr sz="900" b="0">
                          <a:solidFill>
                            <a:srgbClr val="202020"/>
                          </a:solidFill>
                        </a:rPr>
                        <a:t>0.182</a:t>
                      </a:r>
                    </a:p>
                  </a:txBody>
                  <a:tcPr>
                    <a:solidFill>
                      <a:srgbClr val="FFFFFF"/>
                    </a:solidFill>
                  </a:tcPr>
                </a:tc>
                <a:tc>
                  <a:txBody>
                    <a:bodyPr/>
                    <a:lstStyle/>
                    <a:p>
                      <a:pPr algn="ctr"/>
                      <a:r>
                        <a:rPr sz="900" b="0">
                          <a:solidFill>
                            <a:srgbClr val="202020"/>
                          </a:solidFill>
                        </a:rPr>
                        <a:t>0.927</a:t>
                      </a:r>
                    </a:p>
                  </a:txBody>
                  <a:tcPr>
                    <a:solidFill>
                      <a:srgbClr val="FFFFFF"/>
                    </a:solidFill>
                  </a:tcPr>
                </a:tc>
              </a:tr>
              <a:tr h="332509">
                <a:tc>
                  <a:txBody>
                    <a:bodyPr/>
                    <a:lstStyle/>
                    <a:p>
                      <a:pPr algn="l"/>
                      <a:r>
                        <a:rPr sz="900" b="0">
                          <a:solidFill>
                            <a:srgbClr val="202020"/>
                          </a:solidFill>
                        </a:rPr>
                        <a:t>7</a:t>
                      </a:r>
                    </a:p>
                  </a:txBody>
                  <a:tcPr>
                    <a:solidFill>
                      <a:srgbClr val="E8F0FE"/>
                    </a:solidFill>
                  </a:tcPr>
                </a:tc>
                <a:tc>
                  <a:txBody>
                    <a:bodyPr/>
                    <a:lstStyle/>
                    <a:p>
                      <a:pPr algn="ctr"/>
                      <a:r>
                        <a:rPr sz="900" b="0">
                          <a:solidFill>
                            <a:srgbClr val="202020"/>
                          </a:solidFill>
                        </a:rPr>
                        <a:t>Intermediate Fusion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84.5%</a:t>
                      </a:r>
                    </a:p>
                  </a:txBody>
                  <a:tcPr>
                    <a:solidFill>
                      <a:srgbClr val="E8F0FE"/>
                    </a:solidFill>
                  </a:tcPr>
                </a:tc>
                <a:tc>
                  <a:txBody>
                    <a:bodyPr/>
                    <a:lstStyle/>
                    <a:p>
                      <a:pPr algn="ctr"/>
                      <a:r>
                        <a:rPr sz="900" b="0">
                          <a:solidFill>
                            <a:srgbClr val="202020"/>
                          </a:solidFill>
                        </a:rPr>
                        <a:t>0.140</a:t>
                      </a:r>
                    </a:p>
                  </a:txBody>
                  <a:tcPr>
                    <a:solidFill>
                      <a:srgbClr val="E8F0FE"/>
                    </a:solidFill>
                  </a:tcPr>
                </a:tc>
                <a:tc>
                  <a:txBody>
                    <a:bodyPr/>
                    <a:lstStyle/>
                    <a:p>
                      <a:pPr algn="ctr"/>
                      <a:r>
                        <a:rPr sz="900" b="0">
                          <a:solidFill>
                            <a:srgbClr val="202020"/>
                          </a:solidFill>
                        </a:rPr>
                        <a:t>0.881</a:t>
                      </a:r>
                    </a:p>
                  </a:txBody>
                  <a:tcPr>
                    <a:solidFill>
                      <a:srgbClr val="E8F0FE"/>
                    </a:solidFill>
                  </a:tcPr>
                </a:tc>
              </a:tr>
              <a:tr h="332509">
                <a:tc>
                  <a:txBody>
                    <a:bodyPr/>
                    <a:lstStyle/>
                    <a:p>
                      <a:pPr algn="l"/>
                      <a:r>
                        <a:rPr sz="900" b="0">
                          <a:solidFill>
                            <a:srgbClr val="202020"/>
                          </a:solidFill>
                        </a:rPr>
                        <a:t>9</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B2 Weights</a:t>
                      </a:r>
                    </a:p>
                  </a:txBody>
                  <a:tcPr>
                    <a:solidFill>
                      <a:srgbClr val="FFFFFF"/>
                    </a:solidFill>
                  </a:tcPr>
                </a:tc>
                <a:tc>
                  <a:txBody>
                    <a:bodyPr/>
                    <a:lstStyle/>
                    <a:p>
                      <a:pPr algn="ctr"/>
                      <a:r>
                        <a:rPr sz="900" b="0">
                          <a:solidFill>
                            <a:srgbClr val="202020"/>
                          </a:solidFill>
                        </a:rPr>
                        <a:t>82.8%</a:t>
                      </a:r>
                    </a:p>
                  </a:txBody>
                  <a:tcPr>
                    <a:solidFill>
                      <a:srgbClr val="FFFFFF"/>
                    </a:solidFill>
                  </a:tcPr>
                </a:tc>
                <a:tc>
                  <a:txBody>
                    <a:bodyPr/>
                    <a:lstStyle/>
                    <a:p>
                      <a:pPr algn="ctr"/>
                      <a:r>
                        <a:rPr sz="900" b="0">
                          <a:solidFill>
                            <a:srgbClr val="202020"/>
                          </a:solidFill>
                        </a:rPr>
                        <a:t>0.134</a:t>
                      </a:r>
                    </a:p>
                  </a:txBody>
                  <a:tcPr>
                    <a:solidFill>
                      <a:srgbClr val="FFFFFF"/>
                    </a:solidFill>
                  </a:tcPr>
                </a:tc>
                <a:tc>
                  <a:txBody>
                    <a:bodyPr/>
                    <a:lstStyle/>
                    <a:p>
                      <a:pPr algn="ctr"/>
                      <a:r>
                        <a:rPr sz="900" b="0">
                          <a:solidFill>
                            <a:srgbClr val="202020"/>
                          </a:solidFill>
                        </a:rPr>
                        <a:t>0.872</a:t>
                      </a:r>
                    </a:p>
                  </a:txBody>
                  <a:tcPr>
                    <a:solidFill>
                      <a:srgbClr val="FFFFFF"/>
                    </a:solidFill>
                  </a:tcPr>
                </a:tc>
              </a:tr>
              <a:tr h="332509">
                <a:tc>
                  <a:txBody>
                    <a:bodyPr/>
                    <a:lstStyle/>
                    <a:p>
                      <a:pPr algn="l"/>
                      <a:r>
                        <a:rPr sz="900" b="0">
                          <a:solidFill>
                            <a:srgbClr val="202020"/>
                          </a:solidFill>
                        </a:rPr>
                        <a:t>10</a:t>
                      </a:r>
                    </a:p>
                  </a:txBody>
                  <a:tcPr>
                    <a:solidFill>
                      <a:srgbClr val="E8F0FE"/>
                    </a:solidFill>
                  </a:tcPr>
                </a:tc>
                <a:tc>
                  <a:txBody>
                    <a:bodyPr/>
                    <a:lstStyle/>
                    <a:p>
                      <a:pPr algn="ctr"/>
                      <a:r>
                        <a:rPr sz="900" b="0">
                          <a:solidFill>
                            <a:srgbClr val="202020"/>
                          </a:solidFill>
                        </a:rPr>
                        <a:t>CNN</a:t>
                      </a:r>
                    </a:p>
                  </a:txBody>
                  <a:tcPr>
                    <a:solidFill>
                      <a:srgbClr val="E8F0FE"/>
                    </a:solidFill>
                  </a:tcPr>
                </a:tc>
                <a:tc>
                  <a:txBody>
                    <a:bodyPr/>
                    <a:lstStyle/>
                    <a:p>
                      <a:pPr algn="ctr"/>
                      <a:r>
                        <a:rPr sz="900" b="0">
                          <a:solidFill>
                            <a:srgbClr val="202020"/>
                          </a:solidFill>
                        </a:rPr>
                        <a:t>B1 Baseline</a:t>
                      </a:r>
                    </a:p>
                  </a:txBody>
                  <a:tcPr>
                    <a:solidFill>
                      <a:srgbClr val="E8F0FE"/>
                    </a:solidFill>
                  </a:tcPr>
                </a:tc>
                <a:tc>
                  <a:txBody>
                    <a:bodyPr/>
                    <a:lstStyle/>
                    <a:p>
                      <a:pPr algn="ctr"/>
                      <a:r>
                        <a:rPr sz="900" b="0">
                          <a:solidFill>
                            <a:srgbClr val="202020"/>
                          </a:solidFill>
                        </a:rPr>
                        <a:t>84.2%</a:t>
                      </a:r>
                    </a:p>
                  </a:txBody>
                  <a:tcPr>
                    <a:solidFill>
                      <a:srgbClr val="E8F0FE"/>
                    </a:solidFill>
                  </a:tcPr>
                </a:tc>
                <a:tc>
                  <a:txBody>
                    <a:bodyPr/>
                    <a:lstStyle/>
                    <a:p>
                      <a:pPr algn="ctr"/>
                      <a:r>
                        <a:rPr sz="900" b="0">
                          <a:solidFill>
                            <a:srgbClr val="202020"/>
                          </a:solidFill>
                        </a:rPr>
                        <a:t>0.133</a:t>
                      </a:r>
                    </a:p>
                  </a:txBody>
                  <a:tcPr>
                    <a:solidFill>
                      <a:srgbClr val="E8F0FE"/>
                    </a:solidFill>
                  </a:tcPr>
                </a:tc>
                <a:tc>
                  <a:txBody>
                    <a:bodyPr/>
                    <a:lstStyle/>
                    <a:p>
                      <a:pPr algn="ctr"/>
                      <a:r>
                        <a:rPr sz="900" b="0">
                          <a:solidFill>
                            <a:srgbClr val="202020"/>
                          </a:solidFill>
                        </a:rPr>
                        <a:t>0.881</a:t>
                      </a:r>
                    </a:p>
                  </a:txBody>
                  <a:tcPr>
                    <a:solidFill>
                      <a:srgbClr val="E8F0FE"/>
                    </a:solidFill>
                  </a:tcPr>
                </a:tc>
              </a:tr>
              <a:tr h="332510">
                <a:tc>
                  <a:txBody>
                    <a:bodyPr/>
                    <a:lstStyle/>
                    <a:p>
                      <a:pPr algn="l"/>
                      <a:r>
                        <a:rPr sz="900" b="0">
                          <a:solidFill>
                            <a:srgbClr val="202020"/>
                          </a:solidFill>
                        </a:rPr>
                        <a:t>12</a:t>
                      </a:r>
                    </a:p>
                  </a:txBody>
                  <a:tcPr>
                    <a:solidFill>
                      <a:srgbClr val="FFFFFF"/>
                    </a:solidFill>
                  </a:tcPr>
                </a:tc>
                <a:tc>
                  <a:txBody>
                    <a:bodyPr/>
                    <a:lstStyle/>
                    <a:p>
                      <a:pPr algn="ctr"/>
                      <a:r>
                        <a:rPr sz="900" b="0">
                          <a:solidFill>
                            <a:srgbClr val="202020"/>
                          </a:solidFill>
                        </a:rPr>
                        <a:t>Intermediate Fusion</a:t>
                      </a:r>
                    </a:p>
                  </a:txBody>
                  <a:tcPr>
                    <a:solidFill>
                      <a:srgbClr val="FFFFFF"/>
                    </a:solidFill>
                  </a:tcPr>
                </a:tc>
                <a:tc>
                  <a:txBody>
                    <a:bodyPr/>
                    <a:lstStyle/>
                    <a:p>
                      <a:pPr algn="ctr"/>
                      <a:r>
                        <a:rPr sz="900" b="0">
                          <a:solidFill>
                            <a:srgbClr val="202020"/>
                          </a:solidFill>
                        </a:rPr>
                        <a:t>B1 Baseline</a:t>
                      </a:r>
                    </a:p>
                  </a:txBody>
                  <a:tcPr>
                    <a:solidFill>
                      <a:srgbClr val="FFFFFF"/>
                    </a:solidFill>
                  </a:tcPr>
                </a:tc>
                <a:tc>
                  <a:txBody>
                    <a:bodyPr/>
                    <a:lstStyle/>
                    <a:p>
                      <a:pPr algn="ctr"/>
                      <a:r>
                        <a:rPr sz="900" b="0">
                          <a:solidFill>
                            <a:srgbClr val="202020"/>
                          </a:solidFill>
                        </a:rPr>
                        <a:t>63.3%</a:t>
                      </a:r>
                    </a:p>
                  </a:txBody>
                  <a:tcPr>
                    <a:solidFill>
                      <a:srgbClr val="FFFFFF"/>
                    </a:solidFill>
                  </a:tcPr>
                </a:tc>
                <a:tc>
                  <a:txBody>
                    <a:bodyPr/>
                    <a:lstStyle/>
                    <a:p>
                      <a:pPr algn="ctr"/>
                      <a:r>
                        <a:rPr sz="900" b="0">
                          <a:solidFill>
                            <a:srgbClr val="202020"/>
                          </a:solidFill>
                        </a:rPr>
                        <a:t>0.111</a:t>
                      </a:r>
                    </a:p>
                  </a:txBody>
                  <a:tcPr>
                    <a:solidFill>
                      <a:srgbClr val="FFFFFF"/>
                    </a:solidFill>
                  </a:tcPr>
                </a:tc>
                <a:tc>
                  <a:txBody>
                    <a:bodyPr/>
                    <a:lstStyle/>
                    <a:p>
                      <a:pPr algn="ctr"/>
                      <a:r>
                        <a:rPr sz="900" b="0">
                          <a:solidFill>
                            <a:srgbClr val="202020"/>
                          </a:solidFill>
                        </a:rPr>
                        <a:t>0.744</a:t>
                      </a:r>
                    </a:p>
                  </a:txBody>
                  <a:tcPr>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Visualisasi Hasil 7-Class — Perbandingan Skenario</a:t>
            </a:r>
          </a:p>
        </p:txBody>
      </p:sp>
      <p:pic>
        <p:nvPicPr>
          <p:cNvPr id="3" name="Picture 2" descr="comparison_grouped_bar.png"/>
          <p:cNvPicPr>
            <a:picLocks noChangeAspect="1"/>
          </p:cNvPicPr>
          <p:nvPr/>
        </p:nvPicPr>
        <p:blipFill>
          <a:blip r:embed="rId2"/>
          <a:stretch>
            <a:fillRect/>
          </a:stretch>
        </p:blipFill>
        <p:spPr>
          <a:xfrm>
            <a:off x="680888" y="1005840"/>
            <a:ext cx="7782223"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Grouped bar chart: Macro F1 per model per skenario (7-class from scratch)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Heatmap Hasil 7-Class</a:t>
            </a:r>
          </a:p>
        </p:txBody>
      </p:sp>
      <p:pic>
        <p:nvPicPr>
          <p:cNvPr id="3" name="Picture 2" descr="comparison_heatmap.png"/>
          <p:cNvPicPr>
            <a:picLocks noChangeAspect="1"/>
          </p:cNvPicPr>
          <p:nvPr/>
        </p:nvPicPr>
        <p:blipFill>
          <a:blip r:embed="rId2"/>
          <a:stretch>
            <a:fillRect/>
          </a:stretch>
        </p:blipFill>
        <p:spPr>
          <a:xfrm>
            <a:off x="1425981" y="1005840"/>
            <a:ext cx="6292038"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Heatmap Macro F1: model vs skenario (7-class from scratch)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sp>
        <p:nvSpPr>
          <p:cNvPr id="1" name="TextBox 0"/>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Analisis Hasil — Temuan Utama (7-Class)</a:t>
            </a:r>
          </a:p>
        </p:txBody>
      </p:sp>
      <p:sp>
        <p:nvSpPr>
          <p:cNvPr id="2" name="TextBox 1"/>
          <p:cNvSpPr txBox="1"/>
          <p:nvPr/>
        </p:nvSpPr>
        <p:spPr>
          <a:xfrm>
            <a:off x="365760" y="914400"/>
            <a:ext cx="4114800" cy="274320"/>
          </a:xfrm>
          <a:prstGeom prst="rect">
            <a:avLst/>
          </a:prstGeom>
          <a:noFill/>
        </p:spPr>
        <p:txBody>
          <a:bodyPr wrap="none">
            <a:spAutoFit/>
          </a:bodyPr>
          <a:lstStyle/>
          <a:p>
            <a:pPr>
              <a:defRPr sz="1000" b="1">
                <a:solidFill>
                  <a:srgbClr val="202020"/>
                </a:solidFill>
              </a:defRPr>
            </a:pPr>
            <a:r>
              <a:t>Temuan 1: FCNN (Landmark) &gt; CNN (Citra)</a:t>
            </a:r>
          </a:p>
        </p:txBody>
      </p:sp>
      <p:graphicFrame>
        <p:nvGraphicFramePr>
          <p:cNvPr id="3" name="Table 2"/>
          <p:cNvGraphicFramePr>
            <a:graphicFrameLocks noGrp="1"/>
          </p:cNvGraphicFramePr>
          <p:nvPr/>
        </p:nvGraphicFramePr>
        <p:xfrm>
          <a:off x="365760" y="1234440"/>
          <a:ext cx="4114800" cy="685800"/>
        </p:xfrm>
        <a:graphic>
          <a:graphicData uri="http://schemas.openxmlformats.org/drawingml/2006/table">
            <a:tbl>
              <a:tblPr firstRow="1" bandRow="1">
                <a:tableStyleId>{5C22544A-7EE6-4342-B048-85BDC9FD1C3A}</a:tableStyleId>
              </a:tblPr>
              <a:tblGrid>
                <a:gridCol w="2743200"/>
                <a:gridCol w="1371600"/>
              </a:tblGrid>
              <a:tr h="22860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Best Macro F1</a:t>
                      </a:r>
                    </a:p>
                  </a:txBody>
                  <a:tcPr>
                    <a:solidFill>
                      <a:srgbClr val="1A73E8"/>
                    </a:solidFill>
                  </a:tcPr>
                </a:tc>
              </a:tr>
              <a:tr h="228600">
                <a:tc>
                  <a:txBody>
                    <a:bodyPr/>
                    <a:lstStyle/>
                    <a:p>
                      <a:pPr algn="l"/>
                      <a:r>
                        <a:rPr sz="900" b="1">
                          <a:solidFill>
                            <a:srgbClr val="FFFFFF"/>
                          </a:solidFill>
                        </a:rPr>
                        <a:t>FCNN</a:t>
                      </a:r>
                    </a:p>
                  </a:txBody>
                  <a:tcPr>
                    <a:solidFill>
                      <a:srgbClr val="34A853"/>
                    </a:solidFill>
                  </a:tcPr>
                </a:tc>
                <a:tc>
                  <a:txBody>
                    <a:bodyPr/>
                    <a:lstStyle/>
                    <a:p>
                      <a:pPr algn="ctr"/>
                      <a:r>
                        <a:rPr sz="900" b="1">
                          <a:solidFill>
                            <a:srgbClr val="FFFFFF"/>
                          </a:solidFill>
                        </a:rPr>
                        <a:t>0.234</a:t>
                      </a:r>
                    </a:p>
                  </a:txBody>
                  <a:tcPr>
                    <a:solidFill>
                      <a:srgbClr val="34A853"/>
                    </a:solidFill>
                  </a:tcPr>
                </a:tc>
              </a:tr>
              <a:tr h="228600">
                <a:tc>
                  <a:txBody>
                    <a:bodyPr/>
                    <a:lstStyle/>
                    <a:p>
                      <a:pPr algn="l"/>
                      <a:r>
                        <a:rPr sz="900" b="0">
                          <a:solidFill>
                            <a:srgbClr val="202020"/>
                          </a:solidFill>
                        </a:rPr>
                        <a:t>CNN</a:t>
                      </a:r>
                    </a:p>
                  </a:txBody>
                  <a:tcPr>
                    <a:solidFill>
                      <a:srgbClr val="FFFFFF"/>
                    </a:solidFill>
                  </a:tcPr>
                </a:tc>
                <a:tc>
                  <a:txBody>
                    <a:bodyPr/>
                    <a:lstStyle/>
                    <a:p>
                      <a:pPr algn="ctr"/>
                      <a:r>
                        <a:rPr sz="900" b="0">
                          <a:solidFill>
                            <a:srgbClr val="202020"/>
                          </a:solidFill>
                        </a:rPr>
                        <a:t>0.134</a:t>
                      </a:r>
                    </a:p>
                  </a:txBody>
                  <a:tcPr>
                    <a:solidFill>
                      <a:srgbClr val="FFFFFF"/>
                    </a:solidFill>
                  </a:tcPr>
                </a:tc>
              </a:tr>
            </a:tbl>
          </a:graphicData>
        </a:graphic>
      </p:graphicFrame>
      <p:sp>
        <p:nvSpPr>
          <p:cNvPr id="4" name="TextBox 3"/>
          <p:cNvSpPr txBox="1"/>
          <p:nvPr/>
        </p:nvSpPr>
        <p:spPr>
          <a:xfrm>
            <a:off x="4663440" y="914400"/>
            <a:ext cx="4114800" cy="274320"/>
          </a:xfrm>
          <a:prstGeom prst="rect">
            <a:avLst/>
          </a:prstGeom>
          <a:noFill/>
        </p:spPr>
        <p:txBody>
          <a:bodyPr wrap="none">
            <a:spAutoFit/>
          </a:bodyPr>
          <a:lstStyle/>
          <a:p>
            <a:pPr>
              <a:defRPr sz="1000" b="1">
                <a:solidFill>
                  <a:srgbClr val="202020"/>
                </a:solidFill>
              </a:defRPr>
            </a:pPr>
            <a:r>
              <a:t>Temuan 2: Fusion tidak lebih baik dari FCNN saja</a:t>
            </a:r>
          </a:p>
        </p:txBody>
      </p:sp>
      <p:graphicFrame>
        <p:nvGraphicFramePr>
          <p:cNvPr id="5" name="Table 4"/>
          <p:cNvGraphicFramePr>
            <a:graphicFrameLocks noGrp="1"/>
          </p:cNvGraphicFramePr>
          <p:nvPr/>
        </p:nvGraphicFramePr>
        <p:xfrm>
          <a:off x="4663440" y="1234440"/>
          <a:ext cx="4114800" cy="914400"/>
        </p:xfrm>
        <a:graphic>
          <a:graphicData uri="http://schemas.openxmlformats.org/drawingml/2006/table">
            <a:tbl>
              <a:tblPr firstRow="1" bandRow="1">
                <a:tableStyleId>{5C22544A-7EE6-4342-B048-85BDC9FD1C3A}</a:tableStyleId>
              </a:tblPr>
              <a:tblGrid>
                <a:gridCol w="3200400"/>
                <a:gridCol w="914400"/>
              </a:tblGrid>
              <a:tr h="22860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Best Macro F1</a:t>
                      </a:r>
                    </a:p>
                  </a:txBody>
                  <a:tcPr>
                    <a:solidFill>
                      <a:srgbClr val="1A73E8"/>
                    </a:solidFill>
                  </a:tcPr>
                </a:tc>
              </a:tr>
              <a:tr h="228600">
                <a:tc>
                  <a:txBody>
                    <a:bodyPr/>
                    <a:lstStyle/>
                    <a:p>
                      <a:pPr algn="l"/>
                      <a:r>
                        <a:rPr sz="900" b="1">
                          <a:solidFill>
                            <a:srgbClr val="FFFFFF"/>
                          </a:solidFill>
                        </a:rPr>
                        <a:t>FCNN</a:t>
                      </a:r>
                    </a:p>
                  </a:txBody>
                  <a:tcPr>
                    <a:solidFill>
                      <a:srgbClr val="34A853"/>
                    </a:solidFill>
                  </a:tcPr>
                </a:tc>
                <a:tc>
                  <a:txBody>
                    <a:bodyPr/>
                    <a:lstStyle/>
                    <a:p>
                      <a:pPr algn="ctr"/>
                      <a:r>
                        <a:rPr sz="900" b="1">
                          <a:solidFill>
                            <a:srgbClr val="FFFFFF"/>
                          </a:solidFill>
                        </a:rPr>
                        <a:t>0.234</a:t>
                      </a:r>
                    </a:p>
                  </a:txBody>
                  <a:tcPr>
                    <a:solidFill>
                      <a:srgbClr val="34A853"/>
                    </a:solidFill>
                  </a:tcPr>
                </a:tc>
              </a:tr>
              <a:tr h="228600">
                <a:tc>
                  <a:txBody>
                    <a:bodyPr/>
                    <a:lstStyle/>
                    <a:p>
                      <a:pPr algn="l"/>
                      <a:r>
                        <a:rPr sz="900" b="0">
                          <a:solidFill>
                            <a:srgbClr val="202020"/>
                          </a:solidFill>
                        </a:rPr>
                        <a:t>Late Fusion (90% FCNN + 10% CNN)</a:t>
                      </a:r>
                    </a:p>
                  </a:txBody>
                  <a:tcPr>
                    <a:solidFill>
                      <a:srgbClr val="FFFFFF"/>
                    </a:solidFill>
                  </a:tcPr>
                </a:tc>
                <a:tc>
                  <a:txBody>
                    <a:bodyPr/>
                    <a:lstStyle/>
                    <a:p>
                      <a:pPr algn="ctr"/>
                      <a:r>
                        <a:rPr sz="900" b="0">
                          <a:solidFill>
                            <a:srgbClr val="202020"/>
                          </a:solidFill>
                        </a:rPr>
                        <a:t>0.230</a:t>
                      </a:r>
                    </a:p>
                  </a:txBody>
                  <a:tcPr>
                    <a:solidFill>
                      <a:srgbClr val="FFFFFF"/>
                    </a:solidFill>
                  </a:tcPr>
                </a:tc>
              </a:tr>
              <a:tr h="228600">
                <a:tc>
                  <a:txBody>
                    <a:bodyPr/>
                    <a:lstStyle/>
                    <a:p>
                      <a:pPr algn="l"/>
                      <a:r>
                        <a:rPr sz="900" b="0">
                          <a:solidFill>
                            <a:srgbClr val="202020"/>
                          </a:solidFill>
                        </a:rPr>
                        <a:t>Intermediate Fusion</a:t>
                      </a:r>
                    </a:p>
                  </a:txBody>
                  <a:tcPr>
                    <a:solidFill>
                      <a:srgbClr val="E8F0FE"/>
                    </a:solidFill>
                  </a:tcPr>
                </a:tc>
                <a:tc>
                  <a:txBody>
                    <a:bodyPr/>
                    <a:lstStyle/>
                    <a:p>
                      <a:pPr algn="ctr"/>
                      <a:r>
                        <a:rPr sz="900" b="0">
                          <a:solidFill>
                            <a:srgbClr val="202020"/>
                          </a:solidFill>
                        </a:rPr>
                        <a:t>0.140</a:t>
                      </a:r>
                    </a:p>
                  </a:txBody>
                  <a:tcPr>
                    <a:solidFill>
                      <a:srgbClr val="E8F0FE"/>
                    </a:solidFill>
                  </a:tcPr>
                </a:tc>
              </a:tr>
            </a:tbl>
          </a:graphicData>
        </a:graphic>
      </p:graphicFrame>
      <p:sp>
        <p:nvSpPr>
          <p:cNvPr id="6" name="TextBox 5"/>
          <p:cNvSpPr txBox="1"/>
          <p:nvPr/>
        </p:nvSpPr>
        <p:spPr>
          <a:xfrm>
            <a:off x="365760" y="2286000"/>
            <a:ext cx="4114800" cy="274320"/>
          </a:xfrm>
          <a:prstGeom prst="rect">
            <a:avLst/>
          </a:prstGeom>
          <a:noFill/>
        </p:spPr>
        <p:txBody>
          <a:bodyPr wrap="none">
            <a:spAutoFit/>
          </a:bodyPr>
          <a:lstStyle/>
          <a:p>
            <a:pPr>
              <a:defRPr sz="1000" b="1">
                <a:solidFill>
                  <a:srgbClr val="202020"/>
                </a:solidFill>
              </a:defRPr>
            </a:pPr>
            <a:r>
              <a:t>Temuan 3: Class Weights &amp; Augmentasi tidak membantu</a:t>
            </a:r>
          </a:p>
        </p:txBody>
      </p:sp>
      <p:graphicFrame>
        <p:nvGraphicFramePr>
          <p:cNvPr id="7" name="Table 6"/>
          <p:cNvGraphicFramePr>
            <a:graphicFrameLocks noGrp="1"/>
          </p:cNvGraphicFramePr>
          <p:nvPr/>
        </p:nvGraphicFramePr>
        <p:xfrm>
          <a:off x="365760" y="2606040"/>
          <a:ext cx="4114800" cy="914400"/>
        </p:xfrm>
        <a:graphic>
          <a:graphicData uri="http://schemas.openxmlformats.org/drawingml/2006/table">
            <a:tbl>
              <a:tblPr firstRow="1" bandRow="1">
                <a:tableStyleId>{5C22544A-7EE6-4342-B048-85BDC9FD1C3A}</a:tableStyleId>
              </a:tblPr>
              <a:tblGrid>
                <a:gridCol w="2286000"/>
                <a:gridCol w="914400"/>
                <a:gridCol w="914400"/>
              </a:tblGrid>
              <a:tr h="228600">
                <a:tc>
                  <a:txBody>
                    <a:bodyPr/>
                    <a:lstStyle/>
                    <a:p>
                      <a:pPr algn="ctr"/>
                      <a:r>
                        <a:rPr sz="900" b="1">
                          <a:solidFill>
                            <a:srgbClr val="FFFFFF"/>
                          </a:solidFill>
                        </a:rPr>
                        <a:t>Skenario</a:t>
                      </a:r>
                    </a:p>
                  </a:txBody>
                  <a:tcPr>
                    <a:solidFill>
                      <a:srgbClr val="1A73E8"/>
                    </a:solidFill>
                  </a:tcPr>
                </a:tc>
                <a:tc>
                  <a:txBody>
                    <a:bodyPr/>
                    <a:lstStyle/>
                    <a:p>
                      <a:pPr algn="ctr"/>
                      <a:r>
                        <a:rPr sz="900" b="1">
                          <a:solidFill>
                            <a:srgbClr val="FFFFFF"/>
                          </a:solidFill>
                        </a:rPr>
                        <a:t>FCNN F1</a:t>
                      </a:r>
                    </a:p>
                  </a:txBody>
                  <a:tcPr>
                    <a:solidFill>
                      <a:srgbClr val="1A73E8"/>
                    </a:solidFill>
                  </a:tcPr>
                </a:tc>
                <a:tc>
                  <a:txBody>
                    <a:bodyPr/>
                    <a:lstStyle/>
                    <a:p>
                      <a:pPr algn="ctr"/>
                      <a:r>
                        <a:rPr sz="900" b="1">
                          <a:solidFill>
                            <a:srgbClr val="FFFFFF"/>
                          </a:solidFill>
                        </a:rPr>
                        <a:t>CNN F1</a:t>
                      </a:r>
                    </a:p>
                  </a:txBody>
                  <a:tcPr>
                    <a:solidFill>
                      <a:srgbClr val="1A73E8"/>
                    </a:solidFill>
                  </a:tcPr>
                </a:tc>
              </a:tr>
              <a:tr h="228600">
                <a:tc>
                  <a:txBody>
                    <a:bodyPr/>
                    <a:lstStyle/>
                    <a:p>
                      <a:pPr algn="l"/>
                      <a:r>
                        <a:rPr sz="900" b="1">
                          <a:solidFill>
                            <a:srgbClr val="FFFFFF"/>
                          </a:solidFill>
                        </a:rPr>
                        <a:t>B1 Baseline</a:t>
                      </a:r>
                    </a:p>
                  </a:txBody>
                  <a:tcPr>
                    <a:solidFill>
                      <a:srgbClr val="34A853"/>
                    </a:solidFill>
                  </a:tcPr>
                </a:tc>
                <a:tc>
                  <a:txBody>
                    <a:bodyPr/>
                    <a:lstStyle/>
                    <a:p>
                      <a:pPr algn="ctr"/>
                      <a:r>
                        <a:rPr sz="900" b="1">
                          <a:solidFill>
                            <a:srgbClr val="FFFFFF"/>
                          </a:solidFill>
                        </a:rPr>
                        <a:t>0.234</a:t>
                      </a:r>
                    </a:p>
                  </a:txBody>
                  <a:tcPr>
                    <a:solidFill>
                      <a:srgbClr val="34A853"/>
                    </a:solidFill>
                  </a:tcPr>
                </a:tc>
                <a:tc>
                  <a:txBody>
                    <a:bodyPr/>
                    <a:lstStyle/>
                    <a:p>
                      <a:pPr algn="ctr"/>
                      <a:r>
                        <a:rPr sz="900" b="1">
                          <a:solidFill>
                            <a:srgbClr val="FFFFFF"/>
                          </a:solidFill>
                        </a:rPr>
                        <a:t>0.133</a:t>
                      </a:r>
                    </a:p>
                  </a:txBody>
                  <a:tcPr>
                    <a:solidFill>
                      <a:srgbClr val="34A853"/>
                    </a:solidFill>
                  </a:tcPr>
                </a:tc>
              </a:tr>
              <a:tr h="228600">
                <a:tc>
                  <a:txBody>
                    <a:bodyPr/>
                    <a:lstStyle/>
                    <a:p>
                      <a:pPr algn="l"/>
                      <a:r>
                        <a:rPr sz="900" b="0">
                          <a:solidFill>
                            <a:srgbClr val="202020"/>
                          </a:solidFill>
                        </a:rPr>
                        <a:t>B2 Class Weights</a:t>
                      </a:r>
                    </a:p>
                  </a:txBody>
                  <a:tcPr>
                    <a:solidFill>
                      <a:srgbClr val="FFFFFF"/>
                    </a:solidFill>
                  </a:tcPr>
                </a:tc>
                <a:tc>
                  <a:txBody>
                    <a:bodyPr/>
                    <a:lstStyle/>
                    <a:p>
                      <a:pPr algn="ctr"/>
                      <a:r>
                        <a:rPr sz="900" b="0">
                          <a:solidFill>
                            <a:srgbClr val="202020"/>
                          </a:solidFill>
                        </a:rPr>
                        <a:t>0.189</a:t>
                      </a:r>
                    </a:p>
                  </a:txBody>
                  <a:tcPr>
                    <a:solidFill>
                      <a:srgbClr val="FFFFFF"/>
                    </a:solidFill>
                  </a:tcPr>
                </a:tc>
                <a:tc>
                  <a:txBody>
                    <a:bodyPr/>
                    <a:lstStyle/>
                    <a:p>
                      <a:pPr algn="ctr"/>
                      <a:r>
                        <a:rPr sz="900" b="0">
                          <a:solidFill>
                            <a:srgbClr val="202020"/>
                          </a:solidFill>
                        </a:rPr>
                        <a:t>0.134</a:t>
                      </a:r>
                    </a:p>
                  </a:txBody>
                  <a:tcPr>
                    <a:solidFill>
                      <a:srgbClr val="FFFFFF"/>
                    </a:solidFill>
                  </a:tcPr>
                </a:tc>
              </a:tr>
              <a:tr h="228600">
                <a:tc>
                  <a:txBody>
                    <a:bodyPr/>
                    <a:lstStyle/>
                    <a:p>
                      <a:pPr algn="l"/>
                      <a:r>
                        <a:rPr sz="900" b="0">
                          <a:solidFill>
                            <a:srgbClr val="202020"/>
                          </a:solidFill>
                        </a:rPr>
                        <a:t>B3 Weights + Aug</a:t>
                      </a:r>
                    </a:p>
                  </a:txBody>
                  <a:tcPr>
                    <a:solidFill>
                      <a:srgbClr val="E8F0FE"/>
                    </a:solidFill>
                  </a:tcPr>
                </a:tc>
                <a:tc>
                  <a:txBody>
                    <a:bodyPr/>
                    <a:lstStyle/>
                    <a:p>
                      <a:pPr algn="ctr"/>
                      <a:r>
                        <a:rPr sz="900" b="0">
                          <a:solidFill>
                            <a:srgbClr val="202020"/>
                          </a:solidFill>
                        </a:rPr>
                        <a:t>0.182</a:t>
                      </a:r>
                    </a:p>
                  </a:txBody>
                  <a:tcPr>
                    <a:solidFill>
                      <a:srgbClr val="E8F0FE"/>
                    </a:solidFill>
                  </a:tcPr>
                </a:tc>
                <a:tc>
                  <a:txBody>
                    <a:bodyPr/>
                    <a:lstStyle/>
                    <a:p>
                      <a:pPr algn="ctr"/>
                      <a:r>
                        <a:rPr sz="900" b="0">
                          <a:solidFill>
                            <a:srgbClr val="202020"/>
                          </a:solidFill>
                        </a:rPr>
                        <a:t>0.119</a:t>
                      </a:r>
                    </a:p>
                  </a:txBody>
                  <a:tcPr>
                    <a:solidFill>
                      <a:srgbClr val="E8F0FE"/>
                    </a:solidFill>
                  </a:tcPr>
                </a:tc>
              </a:tr>
            </a:tbl>
          </a:graphicData>
        </a:graphic>
      </p:graphicFrame>
      <p:sp>
        <p:nvSpPr>
          <p:cNvPr id="8" name="TextBox 7"/>
          <p:cNvSpPr txBox="1"/>
          <p:nvPr/>
        </p:nvSpPr>
        <p:spPr>
          <a:xfrm>
            <a:off x="4663440" y="2286000"/>
            <a:ext cx="4114800" cy="274320"/>
          </a:xfrm>
          <a:prstGeom prst="rect">
            <a:avLst/>
          </a:prstGeom>
          <a:noFill/>
        </p:spPr>
        <p:txBody>
          <a:bodyPr wrap="none">
            <a:spAutoFit/>
          </a:bodyPr>
          <a:lstStyle/>
          <a:p>
            <a:pPr>
              <a:defRPr sz="1000" b="1">
                <a:solidFill>
                  <a:srgbClr val="202020"/>
                </a:solidFill>
              </a:defRPr>
            </a:pPr>
            <a:r>
              <a:t>Temuan 4: Kelas minoritas tidak terdeteksi (FCNN B1)</a:t>
            </a:r>
          </a:p>
        </p:txBody>
      </p:sp>
      <p:graphicFrame>
        <p:nvGraphicFramePr>
          <p:cNvPr id="9" name="Table 8"/>
          <p:cNvGraphicFramePr>
            <a:graphicFrameLocks noGrp="1"/>
          </p:cNvGraphicFramePr>
          <p:nvPr/>
        </p:nvGraphicFramePr>
        <p:xfrm>
          <a:off x="4663440" y="2606040"/>
          <a:ext cx="4114800" cy="1188720"/>
        </p:xfrm>
        <a:graphic>
          <a:graphicData uri="http://schemas.openxmlformats.org/drawingml/2006/table">
            <a:tbl>
              <a:tblPr firstRow="1" bandRow="1">
                <a:tableStyleId>{5C22544A-7EE6-4342-B048-85BDC9FD1C3A}</a:tableStyleId>
              </a:tblPr>
              <a:tblGrid>
                <a:gridCol w="1463040"/>
                <a:gridCol w="914400"/>
                <a:gridCol w="868680"/>
                <a:gridCol w="868680"/>
              </a:tblGrid>
              <a:tr h="198120">
                <a:tc>
                  <a:txBody>
                    <a:bodyPr/>
                    <a:lstStyle/>
                    <a:p>
                      <a:pPr algn="ctr"/>
                      <a:r>
                        <a:rPr sz="900" b="1">
                          <a:solidFill>
                            <a:srgbClr val="FFFFFF"/>
                          </a:solidFill>
                        </a:rPr>
                        <a:t>Emosi</a:t>
                      </a:r>
                    </a:p>
                  </a:txBody>
                  <a:tcPr>
                    <a:solidFill>
                      <a:srgbClr val="1A73E8"/>
                    </a:solidFill>
                  </a:tcPr>
                </a:tc>
                <a:tc>
                  <a:txBody>
                    <a:bodyPr/>
                    <a:lstStyle/>
                    <a:p>
                      <a:pPr algn="ctr"/>
                      <a:r>
                        <a:rPr sz="900" b="1">
                          <a:solidFill>
                            <a:srgbClr val="FFFFFF"/>
                          </a:solidFill>
                        </a:rPr>
                        <a:t>Support</a:t>
                      </a:r>
                    </a:p>
                  </a:txBody>
                  <a:tcPr>
                    <a:solidFill>
                      <a:srgbClr val="1A73E8"/>
                    </a:solidFill>
                  </a:tcPr>
                </a:tc>
                <a:tc>
                  <a:txBody>
                    <a:bodyPr/>
                    <a:lstStyle/>
                    <a:p>
                      <a:pPr algn="ctr"/>
                      <a:r>
                        <a:rPr sz="900" b="1">
                          <a:solidFill>
                            <a:srgbClr val="FFFFFF"/>
                          </a:solidFill>
                        </a:rPr>
                        <a:t>Recall</a:t>
                      </a:r>
                    </a:p>
                  </a:txBody>
                  <a:tcPr>
                    <a:solidFill>
                      <a:srgbClr val="1A73E8"/>
                    </a:solidFill>
                  </a:tcPr>
                </a:tc>
                <a:tc>
                  <a:txBody>
                    <a:bodyPr/>
                    <a:lstStyle/>
                    <a:p>
                      <a:pPr algn="ctr"/>
                      <a:r>
                        <a:rPr sz="900" b="1">
                          <a:solidFill>
                            <a:srgbClr val="FFFFFF"/>
                          </a:solidFill>
                        </a:rPr>
                        <a:t>F1</a:t>
                      </a:r>
                    </a:p>
                  </a:txBody>
                  <a:tcPr>
                    <a:solidFill>
                      <a:srgbClr val="1A73E8"/>
                    </a:solidFill>
                  </a:tcPr>
                </a:tc>
              </a:tr>
              <a:tr h="198120">
                <a:tc>
                  <a:txBody>
                    <a:bodyPr/>
                    <a:lstStyle/>
                    <a:p>
                      <a:pPr algn="l"/>
                      <a:r>
                        <a:rPr sz="900" b="1">
                          <a:solidFill>
                            <a:srgbClr val="FFFFFF"/>
                          </a:solidFill>
                        </a:rPr>
                        <a:t>Neutral</a:t>
                      </a:r>
                    </a:p>
                  </a:txBody>
                  <a:tcPr>
                    <a:solidFill>
                      <a:srgbClr val="34A853"/>
                    </a:solidFill>
                  </a:tcPr>
                </a:tc>
                <a:tc>
                  <a:txBody>
                    <a:bodyPr/>
                    <a:lstStyle/>
                    <a:p>
                      <a:pPr algn="ctr"/>
                      <a:r>
                        <a:rPr sz="900" b="1">
                          <a:solidFill>
                            <a:srgbClr val="FFFFFF"/>
                          </a:solidFill>
                        </a:rPr>
                        <a:t>1,588</a:t>
                      </a:r>
                    </a:p>
                  </a:txBody>
                  <a:tcPr>
                    <a:solidFill>
                      <a:srgbClr val="34A853"/>
                    </a:solidFill>
                  </a:tcPr>
                </a:tc>
                <a:tc>
                  <a:txBody>
                    <a:bodyPr/>
                    <a:lstStyle/>
                    <a:p>
                      <a:pPr algn="ctr"/>
                      <a:r>
                        <a:rPr sz="900" b="1">
                          <a:solidFill>
                            <a:srgbClr val="FFFFFF"/>
                          </a:solidFill>
                        </a:rPr>
                        <a:t>99%</a:t>
                      </a:r>
                    </a:p>
                  </a:txBody>
                  <a:tcPr>
                    <a:solidFill>
                      <a:srgbClr val="34A853"/>
                    </a:solidFill>
                  </a:tcPr>
                </a:tc>
                <a:tc>
                  <a:txBody>
                    <a:bodyPr/>
                    <a:lstStyle/>
                    <a:p>
                      <a:pPr algn="ctr"/>
                      <a:r>
                        <a:rPr sz="900" b="1">
                          <a:solidFill>
                            <a:srgbClr val="FFFFFF"/>
                          </a:solidFill>
                        </a:rPr>
                        <a:t>0.98</a:t>
                      </a:r>
                    </a:p>
                  </a:txBody>
                  <a:tcPr>
                    <a:solidFill>
                      <a:srgbClr val="34A853"/>
                    </a:solidFill>
                  </a:tcPr>
                </a:tc>
              </a:tr>
              <a:tr h="198120">
                <a:tc>
                  <a:txBody>
                    <a:bodyPr/>
                    <a:lstStyle/>
                    <a:p>
                      <a:pPr algn="l"/>
                      <a:r>
                        <a:rPr sz="900" b="1">
                          <a:solidFill>
                            <a:srgbClr val="FFFFFF"/>
                          </a:solidFill>
                        </a:rPr>
                        <a:t>Sad</a:t>
                      </a:r>
                    </a:p>
                  </a:txBody>
                  <a:tcPr>
                    <a:solidFill>
                      <a:srgbClr val="34A853"/>
                    </a:solidFill>
                  </a:tcPr>
                </a:tc>
                <a:tc>
                  <a:txBody>
                    <a:bodyPr/>
                    <a:lstStyle/>
                    <a:p>
                      <a:pPr algn="ctr"/>
                      <a:r>
                        <a:rPr sz="900" b="1">
                          <a:solidFill>
                            <a:srgbClr val="FFFFFF"/>
                          </a:solidFill>
                        </a:rPr>
                        <a:t>38</a:t>
                      </a:r>
                    </a:p>
                  </a:txBody>
                  <a:tcPr>
                    <a:solidFill>
                      <a:srgbClr val="34A853"/>
                    </a:solidFill>
                  </a:tcPr>
                </a:tc>
                <a:tc>
                  <a:txBody>
                    <a:bodyPr/>
                    <a:lstStyle/>
                    <a:p>
                      <a:pPr algn="ctr"/>
                      <a:r>
                        <a:rPr sz="900" b="1">
                          <a:solidFill>
                            <a:srgbClr val="FFFFFF"/>
                          </a:solidFill>
                        </a:rPr>
                        <a:t>32%</a:t>
                      </a:r>
                    </a:p>
                  </a:txBody>
                  <a:tcPr>
                    <a:solidFill>
                      <a:srgbClr val="34A853"/>
                    </a:solidFill>
                  </a:tcPr>
                </a:tc>
                <a:tc>
                  <a:txBody>
                    <a:bodyPr/>
                    <a:lstStyle/>
                    <a:p>
                      <a:pPr algn="ctr"/>
                      <a:r>
                        <a:rPr sz="900" b="1">
                          <a:solidFill>
                            <a:srgbClr val="FFFFFF"/>
                          </a:solidFill>
                        </a:rPr>
                        <a:t>0.41</a:t>
                      </a:r>
                    </a:p>
                  </a:txBody>
                  <a:tcPr>
                    <a:solidFill>
                      <a:srgbClr val="34A853"/>
                    </a:solidFill>
                  </a:tcPr>
                </a:tc>
              </a:tr>
              <a:tr h="198120">
                <a:tc>
                  <a:txBody>
                    <a:bodyPr/>
                    <a:lstStyle/>
                    <a:p>
                      <a:pPr algn="l"/>
                      <a:r>
                        <a:rPr sz="900" b="0">
                          <a:solidFill>
                            <a:srgbClr val="202020"/>
                          </a:solidFill>
                        </a:rPr>
                        <a:t>Happy</a:t>
                      </a:r>
                    </a:p>
                  </a:txBody>
                  <a:tcPr>
                    <a:solidFill>
                      <a:srgbClr val="E8F0FE"/>
                    </a:solidFill>
                  </a:tcPr>
                </a:tc>
                <a:tc>
                  <a:txBody>
                    <a:bodyPr/>
                    <a:lstStyle/>
                    <a:p>
                      <a:pPr algn="ctr"/>
                      <a:r>
                        <a:rPr sz="900" b="0">
                          <a:solidFill>
                            <a:srgbClr val="202020"/>
                          </a:solidFill>
                        </a:rPr>
                        <a:t>10</a:t>
                      </a:r>
                    </a:p>
                  </a:txBody>
                  <a:tcPr>
                    <a:solidFill>
                      <a:srgbClr val="E8F0FE"/>
                    </a:solidFill>
                  </a:tcPr>
                </a:tc>
                <a:tc>
                  <a:txBody>
                    <a:bodyPr/>
                    <a:lstStyle/>
                    <a:p>
                      <a:pPr algn="ctr"/>
                      <a:r>
                        <a:rPr sz="900" b="0">
                          <a:solidFill>
                            <a:srgbClr val="202020"/>
                          </a:solidFill>
                        </a:rPr>
                        <a:t>0%</a:t>
                      </a:r>
                    </a:p>
                  </a:txBody>
                  <a:tcPr>
                    <a:solidFill>
                      <a:srgbClr val="E8F0FE"/>
                    </a:solidFill>
                  </a:tcPr>
                </a:tc>
                <a:tc>
                  <a:txBody>
                    <a:bodyPr/>
                    <a:lstStyle/>
                    <a:p>
                      <a:pPr algn="ctr"/>
                      <a:r>
                        <a:rPr sz="900" b="0">
                          <a:solidFill>
                            <a:srgbClr val="202020"/>
                          </a:solidFill>
                        </a:rPr>
                        <a:t>0.00</a:t>
                      </a:r>
                    </a:p>
                  </a:txBody>
                  <a:tcPr>
                    <a:solidFill>
                      <a:srgbClr val="E8F0FE"/>
                    </a:solidFill>
                  </a:tcPr>
                </a:tc>
              </a:tr>
              <a:tr h="198120">
                <a:tc>
                  <a:txBody>
                    <a:bodyPr/>
                    <a:lstStyle/>
                    <a:p>
                      <a:pPr algn="l"/>
                      <a:r>
                        <a:rPr sz="900" b="0">
                          <a:solidFill>
                            <a:srgbClr val="202020"/>
                          </a:solidFill>
                        </a:rPr>
                        <a:t>Angry</a:t>
                      </a:r>
                    </a:p>
                  </a:txBody>
                  <a:tcPr>
                    <a:solidFill>
                      <a:srgbClr val="FFFFFF"/>
                    </a:solidFill>
                  </a:tcPr>
                </a:tc>
                <a:tc>
                  <a:txBody>
                    <a:bodyPr/>
                    <a:lstStyle/>
                    <a:p>
                      <a:pPr algn="ctr"/>
                      <a:r>
                        <a:rPr sz="900" b="0">
                          <a:solidFill>
                            <a:srgbClr val="202020"/>
                          </a:solidFill>
                        </a:rPr>
                        <a:t>13</a:t>
                      </a:r>
                    </a:p>
                  </a:txBody>
                  <a:tcPr>
                    <a:solidFill>
                      <a:srgbClr val="FFFFFF"/>
                    </a:solidFill>
                  </a:tcPr>
                </a:tc>
                <a:tc>
                  <a:txBody>
                    <a:bodyPr/>
                    <a:lstStyle/>
                    <a:p>
                      <a:pPr algn="ctr"/>
                      <a:r>
                        <a:rPr sz="900" b="0">
                          <a:solidFill>
                            <a:srgbClr val="202020"/>
                          </a:solidFill>
                        </a:rPr>
                        <a:t>0%</a:t>
                      </a:r>
                    </a:p>
                  </a:txBody>
                  <a:tcPr>
                    <a:solidFill>
                      <a:srgbClr val="FFFFFF"/>
                    </a:solidFill>
                  </a:tcPr>
                </a:tc>
                <a:tc>
                  <a:txBody>
                    <a:bodyPr/>
                    <a:lstStyle/>
                    <a:p>
                      <a:pPr algn="ctr"/>
                      <a:r>
                        <a:rPr sz="900" b="0">
                          <a:solidFill>
                            <a:srgbClr val="202020"/>
                          </a:solidFill>
                        </a:rPr>
                        <a:t>0.00</a:t>
                      </a:r>
                    </a:p>
                  </a:txBody>
                  <a:tcPr>
                    <a:solidFill>
                      <a:srgbClr val="FFFFFF"/>
                    </a:solidFill>
                  </a:tcPr>
                </a:tc>
              </a:tr>
              <a:tr h="198120">
                <a:tc>
                  <a:txBody>
                    <a:bodyPr/>
                    <a:lstStyle/>
                    <a:p>
                      <a:pPr algn="l"/>
                      <a:r>
                        <a:rPr sz="900" b="0">
                          <a:solidFill>
                            <a:srgbClr val="202020"/>
                          </a:solidFill>
                        </a:rPr>
                        <a:t>Fearful</a:t>
                      </a:r>
                    </a:p>
                  </a:txBody>
                  <a:tcPr>
                    <a:solidFill>
                      <a:srgbClr val="E8F0FE"/>
                    </a:solidFill>
                  </a:tcPr>
                </a:tc>
                <a:tc>
                  <a:txBody>
                    <a:bodyPr/>
                    <a:lstStyle/>
                    <a:p>
                      <a:pPr algn="ctr"/>
                      <a:r>
                        <a:rPr sz="900" b="0">
                          <a:solidFill>
                            <a:srgbClr val="202020"/>
                          </a:solidFill>
                        </a:rPr>
                        <a:t>1</a:t>
                      </a:r>
                    </a:p>
                  </a:txBody>
                  <a:tcPr>
                    <a:solidFill>
                      <a:srgbClr val="E8F0FE"/>
                    </a:solidFill>
                  </a:tcPr>
                </a:tc>
                <a:tc>
                  <a:txBody>
                    <a:bodyPr/>
                    <a:lstStyle/>
                    <a:p>
                      <a:pPr algn="ctr"/>
                      <a:r>
                        <a:rPr sz="900" b="0">
                          <a:solidFill>
                            <a:srgbClr val="202020"/>
                          </a:solidFill>
                        </a:rPr>
                        <a:t>0%</a:t>
                      </a:r>
                    </a:p>
                  </a:txBody>
                  <a:tcPr>
                    <a:solidFill>
                      <a:srgbClr val="E8F0FE"/>
                    </a:solidFill>
                  </a:tcPr>
                </a:tc>
                <a:tc>
                  <a:txBody>
                    <a:bodyPr/>
                    <a:lstStyle/>
                    <a:p>
                      <a:pPr algn="ctr"/>
                      <a:r>
                        <a:rPr sz="900" b="0">
                          <a:solidFill>
                            <a:srgbClr val="202020"/>
                          </a:solidFill>
                        </a:rPr>
                        <a:t>0.00</a:t>
                      </a:r>
                    </a:p>
                  </a:txBody>
                  <a:tcPr>
                    <a:solidFill>
                      <a:srgbClr val="E8F0FE"/>
                    </a:solidFill>
                  </a:tcPr>
                </a:tc>
              </a:tr>
            </a:tbl>
          </a:graphicData>
        </a:graphic>
      </p:graphicFrame>
      <p:sp>
        <p:nvSpPr>
          <p:cNvPr id="10" name="TextBox 9"/>
          <p:cNvSpPr txBox="1"/>
          <p:nvPr/>
        </p:nvSpPr>
        <p:spPr>
          <a:xfrm>
            <a:off x="365760" y="3931920"/>
            <a:ext cx="8412480" cy="365760"/>
          </a:xfrm>
          <a:prstGeom prst="rect">
            <a:avLst/>
          </a:prstGeom>
          <a:noFill/>
        </p:spPr>
        <p:txBody>
          <a:bodyPr wrap="none">
            <a:spAutoFit/>
          </a:bodyPr>
          <a:lstStyle/>
          <a:p>
            <a:pPr>
              <a:defRPr sz="1000" b="1">
                <a:solidFill>
                  <a:srgbClr val="C0392B"/>
                </a:solidFill>
              </a:defRPr>
            </a:pPr>
            <a:r>
              <a:t>Kesimpulan: Masalah bukan pada arsitektur — kelas minoritas terlalu sedikit untuk dipelajari model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Rancangan Eksperimen — Tahap 2: 4-Class</a:t>
            </a:r>
          </a:p>
        </p:txBody>
      </p:sp>
      <p:sp>
        <p:nvSpPr>
          <p:cNvPr id="3" name="TextBox 2"/>
          <p:cNvSpPr txBox="1"/>
          <p:nvPr/>
        </p:nvSpPr>
        <p:spPr>
          <a:xfrm>
            <a:off x="365760" y="914400"/>
            <a:ext cx="8412480" cy="1371600"/>
          </a:xfrm>
          <a:prstGeom prst="rect">
            <a:avLst/>
          </a:prstGeom>
          <a:noFill/>
          <a:solidFill>
            <a:srgbClr val="FFF0CC"/>
          </a:solidFill>
        </p:spPr>
        <p:txBody>
          <a:bodyPr wrap="square">
            <a:spAutoFit/>
          </a:bodyPr>
          <a:lstStyle/>
          <a:p>
            <a:pPr>
              <a:defRPr sz="1000" b="1">
                <a:solidFill>
                  <a:srgbClr val="202020"/>
                </a:solidFill>
              </a:defRPr>
            </a:pPr>
            <a:r>
              <a:t>Motivasi dari hasil Tahap 1:</a:t>
            </a:r>
          </a:p>
          <a:p>
            <a:pPr>
              <a:defRPr sz="1000">
                <a:solidFill>
                  <a:srgbClr val="202020"/>
                </a:solidFill>
              </a:defRPr>
            </a:pPr>
            <a:r>
              <a:t>-&gt; Macro F1 terbaik hanya 0.234 -- emosi langka (angry, fearful, disgusted, surprised) tidak terdeteksi sama sekali</a:t>
            </a:r>
          </a:p>
          <a:p>
            <a:pPr>
              <a:defRPr sz="1000">
                <a:solidFill>
                  <a:srgbClr val="202020"/>
                </a:solidFill>
              </a:defRPr>
            </a:pPr>
            <a:r>
              <a:t>-&gt; Penyebab: kelas terkecil hanya 8 sample (fearful) -- terlalu sedikit untuk dipelajari model</a:t>
            </a:r>
          </a:p>
          <a:p>
            <a:pPr>
              <a:defRPr sz="1000">
                <a:solidFill>
                  <a:srgbClr val="202020"/>
                </a:solidFill>
              </a:defRPr>
            </a:pPr>
            <a:r>
              <a:t>-&gt; Solusi yang dicoba: gabungkan 4 emosi langka menjadi satu kelas "negative"</a:t>
            </a:r>
          </a:p>
        </p:txBody>
      </p:sp>
      <p:sp>
        <p:nvSpPr>
          <p:cNvPr id="5" name="TextBox 4"/>
          <p:cNvSpPr txBox="1"/>
          <p:nvPr/>
        </p:nvSpPr>
        <p:spPr>
          <a:xfrm>
            <a:off x="365760" y="4343400"/>
            <a:ext cx="8412480" cy="274320"/>
          </a:xfrm>
          <a:prstGeom prst="rect">
            <a:avLst/>
          </a:prstGeom>
          <a:noFill/>
        </p:spPr>
        <p:txBody>
          <a:bodyPr wrap="square">
            <a:spAutoFit/>
          </a:bodyPr>
          <a:lstStyle/>
          <a:p>
            <a:pPr>
              <a:defRPr sz="1000">
                <a:solidFill>
                  <a:srgbClr val="202020"/>
                </a:solidFill>
              </a:defRPr>
            </a:pPr>
            <a:r>
              <a:t>4 model x 3 skenario = 12 eksperimen tambahan  |  Total kumulatif: 24 eksperimen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548640"/>
          </a:xfrm>
          <a:prstGeom prst="rect">
            <a:avLst/>
          </a:prstGeom>
          <a:noFill/>
        </p:spPr>
        <p:txBody>
          <a:bodyPr wrap="none">
            <a:spAutoFit/>
          </a:bodyPr>
          <a:lstStyle/>
          <a:p>
            <a:pPr>
              <a:defRPr sz="2000" b="1">
                <a:solidFill>
                  <a:srgbClr val="202020"/>
                </a:solidFill>
              </a:defRPr>
            </a:pPr>
            <a:r>
              <a:t>Penggabungan Kelas: 7-Class → 4-Class</a:t>
            </a:r>
          </a:p>
        </p:txBody>
      </p:sp>
      <p:graphicFrame>
        <p:nvGraphicFramePr>
          <p:cNvPr id="3" name="Table 2"/>
          <p:cNvGraphicFramePr>
            <a:graphicFrameLocks noGrp="1"/>
          </p:cNvGraphicFramePr>
          <p:nvPr/>
        </p:nvGraphicFramePr>
        <p:xfrm>
          <a:off x="365760" y="914400"/>
          <a:ext cx="8412480" cy="2011680"/>
        </p:xfrm>
        <a:graphic>
          <a:graphicData uri="http://schemas.openxmlformats.org/drawingml/2006/table">
            <a:tbl>
              <a:tblPr firstRow="1" bandRow="1"/>
              <a:tblGrid>
                <a:gridCol w="1280160"/>
                <a:gridCol w="3657600"/>
                <a:gridCol w="1280160"/>
                <a:gridCol w="2194560"/>
              </a:tblGrid>
              <a:tr h="402336">
                <a:tc>
                  <a:txBody>
                    <a:bodyPr/>
                    <a:lstStyle/>
                    <a:p>
                      <a:pPr algn="ctr"/>
                      <a:r>
                        <a:rPr sz="1100" b="1">
                          <a:solidFill>
                            <a:srgbClr val="FFFFFF"/>
                          </a:solidFill>
                        </a:rPr>
                        <a:t>Kelas Baru</a:t>
                      </a:r>
                    </a:p>
                  </a:txBody>
                  <a:tcPr>
                    <a:solidFill>
                      <a:srgbClr val="1A73E8"/>
                    </a:solidFill>
                  </a:tcPr>
                </a:tc>
                <a:tc>
                  <a:txBody>
                    <a:bodyPr/>
                    <a:lstStyle/>
                    <a:p>
                      <a:pPr algn="ctr"/>
                      <a:r>
                        <a:rPr sz="1100" b="1">
                          <a:solidFill>
                            <a:srgbClr val="FFFFFF"/>
                          </a:solidFill>
                        </a:rPr>
                        <a:t>Kelas Asal yang Digabung</a:t>
                      </a:r>
                    </a:p>
                  </a:txBody>
                  <a:tcPr>
                    <a:solidFill>
                      <a:srgbClr val="1A73E8"/>
                    </a:solidFill>
                  </a:tcPr>
                </a:tc>
                <a:tc>
                  <a:txBody>
                    <a:bodyPr/>
                    <a:lstStyle/>
                    <a:p>
                      <a:pPr algn="ctr"/>
                      <a:r>
                        <a:rPr sz="1100" b="1">
                          <a:solidFill>
                            <a:srgbClr val="FFFFFF"/>
                          </a:solidFill>
                        </a:rPr>
                        <a:t>Total Sample</a:t>
                      </a:r>
                    </a:p>
                  </a:txBody>
                  <a:tcPr>
                    <a:solidFill>
                      <a:srgbClr val="1A73E8"/>
                    </a:solidFill>
                  </a:tcPr>
                </a:tc>
                <a:tc>
                  <a:txBody>
                    <a:bodyPr/>
                    <a:lstStyle/>
                    <a:p>
                      <a:pPr algn="ctr"/>
                      <a:r>
                        <a:rPr sz="1100" b="1">
                          <a:solidFill>
                            <a:srgbClr val="FFFFFF"/>
                          </a:solidFill>
                        </a:rPr>
                        <a:t>Alasan</a:t>
                      </a:r>
                    </a:p>
                  </a:txBody>
                  <a:tcPr>
                    <a:solidFill>
                      <a:srgbClr val="1A73E8"/>
                    </a:solidFill>
                  </a:tcPr>
                </a:tc>
              </a:tr>
              <a:tr h="402336">
                <a:tc>
                  <a:txBody>
                    <a:bodyPr/>
                    <a:lstStyle/>
                    <a:p>
                      <a:pPr algn="l"/>
                      <a:r>
                        <a:rPr sz="1100" b="0">
                          <a:solidFill>
                            <a:srgbClr val="202020"/>
                          </a:solidFill>
                        </a:rPr>
                        <a:t>neutral</a:t>
                      </a:r>
                    </a:p>
                  </a:txBody>
                  <a:tcPr>
                    <a:solidFill>
                      <a:srgbClr val="E8F0FE"/>
                    </a:solidFill>
                  </a:tcPr>
                </a:tc>
                <a:tc>
                  <a:txBody>
                    <a:bodyPr/>
                    <a:lstStyle/>
                    <a:p>
                      <a:pPr algn="ctr"/>
                      <a:r>
                        <a:rPr sz="1100" b="0">
                          <a:solidFill>
                            <a:srgbClr val="202020"/>
                          </a:solidFill>
                        </a:rPr>
                        <a:t>neutral</a:t>
                      </a:r>
                    </a:p>
                  </a:txBody>
                  <a:tcPr>
                    <a:solidFill>
                      <a:srgbClr val="E8F0FE"/>
                    </a:solidFill>
                  </a:tcPr>
                </a:tc>
                <a:tc>
                  <a:txBody>
                    <a:bodyPr/>
                    <a:lstStyle/>
                    <a:p>
                      <a:pPr algn="ctr"/>
                      <a:r>
                        <a:rPr sz="1100" b="0">
                          <a:solidFill>
                            <a:srgbClr val="202020"/>
                          </a:solidFill>
                        </a:rPr>
                        <a:t>8,356</a:t>
                      </a:r>
                    </a:p>
                  </a:txBody>
                  <a:tcPr>
                    <a:solidFill>
                      <a:srgbClr val="E8F0FE"/>
                    </a:solidFill>
                  </a:tcPr>
                </a:tc>
                <a:tc>
                  <a:txBody>
                    <a:bodyPr/>
                    <a:lstStyle/>
                    <a:p>
                      <a:pPr algn="ctr"/>
                      <a:r>
                        <a:rPr sz="1100" b="0">
                          <a:solidFill>
                            <a:srgbClr val="202020"/>
                          </a:solidFill>
                        </a:rPr>
                        <a:t>Tetap — kelas dominan</a:t>
                      </a:r>
                    </a:p>
                  </a:txBody>
                  <a:tcPr>
                    <a:solidFill>
                      <a:srgbClr val="E8F0FE"/>
                    </a:solidFill>
                  </a:tcPr>
                </a:tc>
              </a:tr>
              <a:tr h="402336">
                <a:tc>
                  <a:txBody>
                    <a:bodyPr/>
                    <a:lstStyle/>
                    <a:p>
                      <a:pPr algn="l"/>
                      <a:r>
                        <a:rPr sz="1100" b="0">
                          <a:solidFill>
                            <a:srgbClr val="202020"/>
                          </a:solidFill>
                        </a:rPr>
                        <a:t>happy</a:t>
                      </a:r>
                    </a:p>
                  </a:txBody>
                  <a:tcPr>
                    <a:solidFill>
                      <a:srgbClr val="FFFFFF"/>
                    </a:solidFill>
                  </a:tcPr>
                </a:tc>
                <a:tc>
                  <a:txBody>
                    <a:bodyPr/>
                    <a:lstStyle/>
                    <a:p>
                      <a:pPr algn="ctr"/>
                      <a:r>
                        <a:rPr sz="1100" b="0">
                          <a:solidFill>
                            <a:srgbClr val="202020"/>
                          </a:solidFill>
                        </a:rPr>
                        <a:t>happy</a:t>
                      </a:r>
                    </a:p>
                  </a:txBody>
                  <a:tcPr>
                    <a:solidFill>
                      <a:srgbClr val="FFFFFF"/>
                    </a:solidFill>
                  </a:tcPr>
                </a:tc>
                <a:tc>
                  <a:txBody>
                    <a:bodyPr/>
                    <a:lstStyle/>
                    <a:p>
                      <a:pPr algn="ctr"/>
                      <a:r>
                        <a:rPr sz="1100" b="0">
                          <a:solidFill>
                            <a:srgbClr val="202020"/>
                          </a:solidFill>
                        </a:rPr>
                        <a:t>783</a:t>
                      </a:r>
                    </a:p>
                  </a:txBody>
                  <a:tcPr>
                    <a:solidFill>
                      <a:srgbClr val="FFFFFF"/>
                    </a:solidFill>
                  </a:tcPr>
                </a:tc>
                <a:tc>
                  <a:txBody>
                    <a:bodyPr/>
                    <a:lstStyle/>
                    <a:p>
                      <a:pPr algn="ctr"/>
                      <a:r>
                        <a:rPr sz="1100" b="0">
                          <a:solidFill>
                            <a:srgbClr val="202020"/>
                          </a:solidFill>
                        </a:rPr>
                        <a:t>Tetap — cukup data</a:t>
                      </a:r>
                    </a:p>
                  </a:txBody>
                  <a:tcPr>
                    <a:solidFill>
                      <a:srgbClr val="FFFFFF"/>
                    </a:solidFill>
                  </a:tcPr>
                </a:tc>
              </a:tr>
              <a:tr h="402336">
                <a:tc>
                  <a:txBody>
                    <a:bodyPr/>
                    <a:lstStyle/>
                    <a:p>
                      <a:pPr algn="l"/>
                      <a:r>
                        <a:rPr sz="1100" b="0">
                          <a:solidFill>
                            <a:srgbClr val="202020"/>
                          </a:solidFill>
                        </a:rPr>
                        <a:t>sad</a:t>
                      </a:r>
                    </a:p>
                  </a:txBody>
                  <a:tcPr>
                    <a:solidFill>
                      <a:srgbClr val="E8F0FE"/>
                    </a:solidFill>
                  </a:tcPr>
                </a:tc>
                <a:tc>
                  <a:txBody>
                    <a:bodyPr/>
                    <a:lstStyle/>
                    <a:p>
                      <a:pPr algn="ctr"/>
                      <a:r>
                        <a:rPr sz="1100" b="0">
                          <a:solidFill>
                            <a:srgbClr val="202020"/>
                          </a:solidFill>
                        </a:rPr>
                        <a:t>sad</a:t>
                      </a:r>
                    </a:p>
                  </a:txBody>
                  <a:tcPr>
                    <a:solidFill>
                      <a:srgbClr val="E8F0FE"/>
                    </a:solidFill>
                  </a:tcPr>
                </a:tc>
                <a:tc>
                  <a:txBody>
                    <a:bodyPr/>
                    <a:lstStyle/>
                    <a:p>
                      <a:pPr algn="ctr"/>
                      <a:r>
                        <a:rPr sz="1100" b="0">
                          <a:solidFill>
                            <a:srgbClr val="202020"/>
                          </a:solidFill>
                        </a:rPr>
                        <a:t>576</a:t>
                      </a:r>
                    </a:p>
                  </a:txBody>
                  <a:tcPr>
                    <a:solidFill>
                      <a:srgbClr val="E8F0FE"/>
                    </a:solidFill>
                  </a:tcPr>
                </a:tc>
                <a:tc>
                  <a:txBody>
                    <a:bodyPr/>
                    <a:lstStyle/>
                    <a:p>
                      <a:pPr algn="ctr"/>
                      <a:r>
                        <a:rPr sz="1100" b="0">
                          <a:solidFill>
                            <a:srgbClr val="202020"/>
                          </a:solidFill>
                        </a:rPr>
                        <a:t>Tetap — cukup data</a:t>
                      </a:r>
                    </a:p>
                  </a:txBody>
                  <a:tcPr>
                    <a:solidFill>
                      <a:srgbClr val="E8F0FE"/>
                    </a:solidFill>
                  </a:tcPr>
                </a:tc>
              </a:tr>
              <a:tr h="402336">
                <a:tc>
                  <a:txBody>
                    <a:bodyPr/>
                    <a:lstStyle/>
                    <a:p>
                      <a:pPr algn="l"/>
                      <a:r>
                        <a:rPr sz="1100" b="0">
                          <a:solidFill>
                            <a:srgbClr val="202020"/>
                          </a:solidFill>
                        </a:rPr>
                        <a:t>negative</a:t>
                      </a:r>
                    </a:p>
                  </a:txBody>
                  <a:tcPr>
                    <a:solidFill>
                      <a:srgbClr val="FFFFFF"/>
                    </a:solidFill>
                  </a:tcPr>
                </a:tc>
                <a:tc>
                  <a:txBody>
                    <a:bodyPr/>
                    <a:lstStyle/>
                    <a:p>
                      <a:pPr algn="ctr"/>
                      <a:r>
                        <a:rPr sz="1100" b="0">
                          <a:solidFill>
                            <a:srgbClr val="202020"/>
                          </a:solidFill>
                        </a:rPr>
                        <a:t>angry (63) + fearful (13) + disgusted (24) + surprised (79)</a:t>
                      </a:r>
                    </a:p>
                  </a:txBody>
                  <a:tcPr>
                    <a:solidFill>
                      <a:srgbClr val="FFFFFF"/>
                    </a:solidFill>
                  </a:tcPr>
                </a:tc>
                <a:tc>
                  <a:txBody>
                    <a:bodyPr/>
                    <a:lstStyle/>
                    <a:p>
                      <a:pPr algn="ctr"/>
                      <a:r>
                        <a:rPr sz="1100" b="0">
                          <a:solidFill>
                            <a:srgbClr val="202020"/>
                          </a:solidFill>
                        </a:rPr>
                        <a:t>179</a:t>
                      </a:r>
                    </a:p>
                  </a:txBody>
                  <a:tcPr>
                    <a:solidFill>
                      <a:srgbClr val="FFFFFF"/>
                    </a:solidFill>
                  </a:tcPr>
                </a:tc>
                <a:tc>
                  <a:txBody>
                    <a:bodyPr/>
                    <a:lstStyle/>
                    <a:p>
                      <a:pPr algn="ctr"/>
                      <a:r>
                        <a:rPr sz="1100" b="0">
                          <a:solidFill>
                            <a:srgbClr val="202020"/>
                          </a:solidFill>
                        </a:rPr>
                        <a:t>Digabung — masing-masing &lt; 80 sample</a:t>
                      </a:r>
                    </a:p>
                  </a:txBody>
                  <a:tcPr>
                    <a:solidFill>
                      <a:srgbClr val="FFFFFF"/>
                    </a:solidFill>
                  </a:tcPr>
                </a:tc>
              </a:tr>
            </a:tbl>
          </a:graphicData>
        </a:graphic>
      </p:graphicFrame>
      <p:sp>
        <p:nvSpPr>
          <p:cNvPr id="4" name="TextBox 3"/>
          <p:cNvSpPr txBox="1"/>
          <p:nvPr/>
        </p:nvSpPr>
        <p:spPr>
          <a:xfrm>
            <a:off x="365760" y="3063240"/>
            <a:ext cx="8412480" cy="274320"/>
          </a:xfrm>
          <a:prstGeom prst="rect">
            <a:avLst/>
          </a:prstGeom>
          <a:noFill/>
        </p:spPr>
        <p:txBody>
          <a:bodyPr wrap="none">
            <a:spAutoFit/>
          </a:bodyPr>
          <a:lstStyle/>
          <a:p>
            <a:pPr>
              <a:defRPr sz="1100">
                <a:solidFill>
                  <a:srgbClr val="202020"/>
                </a:solidFill>
              </a:defRPr>
            </a:pPr>
            <a:r>
              <a:t>4 model × 3 skenario = 12 eksperimen tambahan  |  Total kumulatif: 24 eksperimen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Training 4-Class — From Scratch</a:t>
            </a:r>
          </a:p>
        </p:txBody>
      </p:sp>
      <p:sp>
        <p:nvSpPr>
          <p:cNvPr id="3" name="TextBox 2"/>
          <p:cNvSpPr txBox="1"/>
          <p:nvPr/>
        </p:nvSpPr>
        <p:spPr>
          <a:xfrm>
            <a:off x="457200" y="960120"/>
            <a:ext cx="8229600" cy="228600"/>
          </a:xfrm>
          <a:prstGeom prst="rect">
            <a:avLst/>
          </a:prstGeom>
          <a:noFill/>
        </p:spPr>
        <p:txBody>
          <a:bodyPr wrap="square">
            <a:spAutoFit/>
          </a:bodyPr>
          <a:lstStyle/>
          <a:p>
            <a:pPr>
              <a:defRPr sz="1000">
                <a:solidFill>
                  <a:srgbClr val="202020"/>
                </a:solidFill>
              </a:defRPr>
            </a:pPr>
            <a:r>
              <a:t>4 kelas: neutral, happy, sad, negative (angry + fearful + disgusted + surprised digabung)</a:t>
            </a:r>
          </a:p>
        </p:txBody>
      </p:sp>
      <p:graphicFrame>
        <p:nvGraphicFramePr>
          <p:cNvPr id="4" name="Table 3"/>
          <p:cNvGraphicFramePr>
            <a:graphicFrameLocks noGrp="1"/>
          </p:cNvGraphicFramePr>
          <p:nvPr/>
        </p:nvGraphicFramePr>
        <p:xfrm>
          <a:off x="457200" y="1234440"/>
          <a:ext cx="8229600" cy="3108960"/>
        </p:xfrm>
        <a:graphic>
          <a:graphicData uri="http://schemas.openxmlformats.org/drawingml/2006/table">
            <a:tbl>
              <a:tblPr firstRow="1" bandRow="1">
                <a:tableStyleId>{5C22544A-7EE6-4342-B048-85BDC9FD1C3A}</a:tableStyleId>
              </a:tblPr>
              <a:tblGrid>
                <a:gridCol w="514350"/>
                <a:gridCol w="2263140"/>
                <a:gridCol w="1543050"/>
                <a:gridCol w="1234440"/>
                <a:gridCol w="1234440"/>
                <a:gridCol w="1440180"/>
              </a:tblGrid>
              <a:tr h="345440">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Weighted F1</a:t>
                      </a:r>
                    </a:p>
                  </a:txBody>
                  <a:tcPr>
                    <a:solidFill>
                      <a:srgbClr val="1A73E8"/>
                    </a:solidFill>
                  </a:tcPr>
                </a:tc>
              </a:tr>
              <a:tr h="345440">
                <a:tc>
                  <a:txBody>
                    <a:bodyPr/>
                    <a:lstStyle/>
                    <a:p>
                      <a:pPr algn="l"/>
                      <a:r>
                        <a:rPr sz="900" b="1">
                          <a:solidFill>
                            <a:srgbClr val="FFFFFF"/>
                          </a:solidFill>
                        </a:rPr>
                        <a:t>1</a:t>
                      </a:r>
                    </a:p>
                  </a:txBody>
                  <a:tcPr>
                    <a:solidFill>
                      <a:srgbClr val="34A853"/>
                    </a:solidFill>
                  </a:tcPr>
                </a:tc>
                <a:tc>
                  <a:txBody>
                    <a:bodyPr/>
                    <a:lstStyle/>
                    <a:p>
                      <a:pPr algn="ctr"/>
                      <a:r>
                        <a:rPr sz="900" b="1">
                          <a:solidFill>
                            <a:srgbClr val="FFFFFF"/>
                          </a:solidFill>
                        </a:rPr>
                        <a:t>FCNN</a:t>
                      </a:r>
                    </a:p>
                  </a:txBody>
                  <a:tcPr>
                    <a:solidFill>
                      <a:srgbClr val="34A853"/>
                    </a:solidFill>
                  </a:tcPr>
                </a:tc>
                <a:tc>
                  <a:txBody>
                    <a:bodyPr/>
                    <a:lstStyle/>
                    <a:p>
                      <a:pPr algn="ctr"/>
                      <a:r>
                        <a:rPr sz="900" b="1">
                          <a:solidFill>
                            <a:srgbClr val="FFFFFF"/>
                          </a:solidFill>
                        </a:rPr>
                        <a:t>B3 Aug</a:t>
                      </a:r>
                    </a:p>
                  </a:txBody>
                  <a:tcPr>
                    <a:solidFill>
                      <a:srgbClr val="34A853"/>
                    </a:solidFill>
                  </a:tcPr>
                </a:tc>
                <a:tc>
                  <a:txBody>
                    <a:bodyPr/>
                    <a:lstStyle/>
                    <a:p>
                      <a:pPr algn="ctr"/>
                      <a:r>
                        <a:rPr sz="900" b="1">
                          <a:solidFill>
                            <a:srgbClr val="FFFFFF"/>
                          </a:solidFill>
                        </a:rPr>
                        <a:t>94.4%</a:t>
                      </a:r>
                    </a:p>
                  </a:txBody>
                  <a:tcPr>
                    <a:solidFill>
                      <a:srgbClr val="34A853"/>
                    </a:solidFill>
                  </a:tcPr>
                </a:tc>
                <a:tc>
                  <a:txBody>
                    <a:bodyPr/>
                    <a:lstStyle/>
                    <a:p>
                      <a:pPr algn="ctr"/>
                      <a:r>
                        <a:rPr sz="900" b="1">
                          <a:solidFill>
                            <a:srgbClr val="FFFFFF"/>
                          </a:solidFill>
                        </a:rPr>
                        <a:t>0.394</a:t>
                      </a:r>
                    </a:p>
                  </a:txBody>
                  <a:tcPr>
                    <a:solidFill>
                      <a:srgbClr val="34A853"/>
                    </a:solidFill>
                  </a:tcPr>
                </a:tc>
                <a:tc>
                  <a:txBody>
                    <a:bodyPr/>
                    <a:lstStyle/>
                    <a:p>
                      <a:pPr algn="ctr"/>
                      <a:r>
                        <a:rPr sz="900" b="1">
                          <a:solidFill>
                            <a:srgbClr val="FFFFFF"/>
                          </a:solidFill>
                        </a:rPr>
                        <a:t>0.943</a:t>
                      </a:r>
                    </a:p>
                  </a:txBody>
                  <a:tcPr>
                    <a:solidFill>
                      <a:srgbClr val="34A853"/>
                    </a:solidFill>
                  </a:tcPr>
                </a:tc>
              </a:tr>
              <a:tr h="345440">
                <a:tc>
                  <a:txBody>
                    <a:bodyPr/>
                    <a:lstStyle/>
                    <a:p>
                      <a:pPr algn="l"/>
                      <a:r>
                        <a:rPr sz="900" b="0">
                          <a:solidFill>
                            <a:srgbClr val="202020"/>
                          </a:solidFill>
                        </a:rPr>
                        <a:t>2</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B3 Aug</a:t>
                      </a:r>
                    </a:p>
                  </a:txBody>
                  <a:tcPr>
                    <a:solidFill>
                      <a:srgbClr val="FFFFFF"/>
                    </a:solidFill>
                  </a:tcPr>
                </a:tc>
                <a:tc>
                  <a:txBody>
                    <a:bodyPr/>
                    <a:lstStyle/>
                    <a:p>
                      <a:pPr algn="ctr"/>
                      <a:r>
                        <a:rPr sz="900" b="0">
                          <a:solidFill>
                            <a:srgbClr val="202020"/>
                          </a:solidFill>
                        </a:rPr>
                        <a:t>94.6%</a:t>
                      </a:r>
                    </a:p>
                  </a:txBody>
                  <a:tcPr>
                    <a:solidFill>
                      <a:srgbClr val="FFFFFF"/>
                    </a:solidFill>
                  </a:tcPr>
                </a:tc>
                <a:tc>
                  <a:txBody>
                    <a:bodyPr/>
                    <a:lstStyle/>
                    <a:p>
                      <a:pPr algn="ctr"/>
                      <a:r>
                        <a:rPr sz="900" b="0">
                          <a:solidFill>
                            <a:srgbClr val="202020"/>
                          </a:solidFill>
                        </a:rPr>
                        <a:t>0.385</a:t>
                      </a:r>
                    </a:p>
                  </a:txBody>
                  <a:tcPr>
                    <a:solidFill>
                      <a:srgbClr val="FFFFFF"/>
                    </a:solidFill>
                  </a:tcPr>
                </a:tc>
                <a:tc>
                  <a:txBody>
                    <a:bodyPr/>
                    <a:lstStyle/>
                    <a:p>
                      <a:pPr algn="ctr"/>
                      <a:r>
                        <a:rPr sz="900" b="0">
                          <a:solidFill>
                            <a:srgbClr val="202020"/>
                          </a:solidFill>
                        </a:rPr>
                        <a:t>0.943</a:t>
                      </a:r>
                    </a:p>
                  </a:txBody>
                  <a:tcPr>
                    <a:solidFill>
                      <a:srgbClr val="FFFFFF"/>
                    </a:solidFill>
                  </a:tcPr>
                </a:tc>
              </a:tr>
              <a:tr h="345440">
                <a:tc>
                  <a:txBody>
                    <a:bodyPr/>
                    <a:lstStyle/>
                    <a:p>
                      <a:pPr algn="l"/>
                      <a:r>
                        <a:rPr sz="900" b="0">
                          <a:solidFill>
                            <a:srgbClr val="202020"/>
                          </a:solidFill>
                        </a:rPr>
                        <a:t>3</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B1 Baseline</a:t>
                      </a:r>
                    </a:p>
                  </a:txBody>
                  <a:tcPr>
                    <a:solidFill>
                      <a:srgbClr val="E8F0FE"/>
                    </a:solidFill>
                  </a:tcPr>
                </a:tc>
                <a:tc>
                  <a:txBody>
                    <a:bodyPr/>
                    <a:lstStyle/>
                    <a:p>
                      <a:pPr algn="ctr"/>
                      <a:r>
                        <a:rPr sz="900" b="0">
                          <a:solidFill>
                            <a:srgbClr val="202020"/>
                          </a:solidFill>
                        </a:rPr>
                        <a:t>95.8%</a:t>
                      </a:r>
                    </a:p>
                  </a:txBody>
                  <a:tcPr>
                    <a:solidFill>
                      <a:srgbClr val="E8F0FE"/>
                    </a:solidFill>
                  </a:tcPr>
                </a:tc>
                <a:tc>
                  <a:txBody>
                    <a:bodyPr/>
                    <a:lstStyle/>
                    <a:p>
                      <a:pPr algn="ctr"/>
                      <a:r>
                        <a:rPr sz="900" b="0">
                          <a:solidFill>
                            <a:srgbClr val="202020"/>
                          </a:solidFill>
                        </a:rPr>
                        <a:t>0.330</a:t>
                      </a:r>
                    </a:p>
                  </a:txBody>
                  <a:tcPr>
                    <a:solidFill>
                      <a:srgbClr val="E8F0FE"/>
                    </a:solidFill>
                  </a:tcPr>
                </a:tc>
                <a:tc>
                  <a:txBody>
                    <a:bodyPr/>
                    <a:lstStyle/>
                    <a:p>
                      <a:pPr algn="ctr"/>
                      <a:r>
                        <a:rPr sz="900" b="0">
                          <a:solidFill>
                            <a:srgbClr val="202020"/>
                          </a:solidFill>
                        </a:rPr>
                        <a:t>0.943</a:t>
                      </a:r>
                    </a:p>
                  </a:txBody>
                  <a:tcPr>
                    <a:solidFill>
                      <a:srgbClr val="E8F0FE"/>
                    </a:solidFill>
                  </a:tcPr>
                </a:tc>
              </a:tr>
              <a:tr h="345440">
                <a:tc>
                  <a:txBody>
                    <a:bodyPr/>
                    <a:lstStyle/>
                    <a:p>
                      <a:pPr algn="l"/>
                      <a:r>
                        <a:rPr sz="900" b="0">
                          <a:solidFill>
                            <a:srgbClr val="202020"/>
                          </a:solidFill>
                        </a:rPr>
                        <a:t>4</a:t>
                      </a:r>
                    </a:p>
                  </a:txBody>
                  <a:tcPr>
                    <a:solidFill>
                      <a:srgbClr val="FFFFFF"/>
                    </a:solidFill>
                  </a:tcPr>
                </a:tc>
                <a:tc>
                  <a:txBody>
                    <a:bodyPr/>
                    <a:lstStyle/>
                    <a:p>
                      <a:pPr algn="ctr"/>
                      <a:r>
                        <a:rPr sz="900" b="0">
                          <a:solidFill>
                            <a:srgbClr val="202020"/>
                          </a:solidFill>
                        </a:rPr>
                        <a:t>Late Fusion</a:t>
                      </a:r>
                    </a:p>
                  </a:txBody>
                  <a:tcPr>
                    <a:solidFill>
                      <a:srgbClr val="FFFFFF"/>
                    </a:solidFill>
                  </a:tcPr>
                </a:tc>
                <a:tc>
                  <a:txBody>
                    <a:bodyPr/>
                    <a:lstStyle/>
                    <a:p>
                      <a:pPr algn="ctr"/>
                      <a:r>
                        <a:rPr sz="900" b="0">
                          <a:solidFill>
                            <a:srgbClr val="202020"/>
                          </a:solidFill>
                        </a:rPr>
                        <a:t>B1 Baseline</a:t>
                      </a:r>
                    </a:p>
                  </a:txBody>
                  <a:tcPr>
                    <a:solidFill>
                      <a:srgbClr val="FFFFFF"/>
                    </a:solidFill>
                  </a:tcPr>
                </a:tc>
                <a:tc>
                  <a:txBody>
                    <a:bodyPr/>
                    <a:lstStyle/>
                    <a:p>
                      <a:pPr algn="ctr"/>
                      <a:r>
                        <a:rPr sz="900" b="0">
                          <a:solidFill>
                            <a:srgbClr val="202020"/>
                          </a:solidFill>
                        </a:rPr>
                        <a:t>95.8%</a:t>
                      </a:r>
                    </a:p>
                  </a:txBody>
                  <a:tcPr>
                    <a:solidFill>
                      <a:srgbClr val="FFFFFF"/>
                    </a:solidFill>
                  </a:tcPr>
                </a:tc>
                <a:tc>
                  <a:txBody>
                    <a:bodyPr/>
                    <a:lstStyle/>
                    <a:p>
                      <a:pPr algn="ctr"/>
                      <a:r>
                        <a:rPr sz="900" b="0">
                          <a:solidFill>
                            <a:srgbClr val="202020"/>
                          </a:solidFill>
                        </a:rPr>
                        <a:t>0.330</a:t>
                      </a:r>
                    </a:p>
                  </a:txBody>
                  <a:tcPr>
                    <a:solidFill>
                      <a:srgbClr val="FFFFFF"/>
                    </a:solidFill>
                  </a:tcPr>
                </a:tc>
                <a:tc>
                  <a:txBody>
                    <a:bodyPr/>
                    <a:lstStyle/>
                    <a:p>
                      <a:pPr algn="ctr"/>
                      <a:r>
                        <a:rPr sz="900" b="0">
                          <a:solidFill>
                            <a:srgbClr val="202020"/>
                          </a:solidFill>
                        </a:rPr>
                        <a:t>0.943</a:t>
                      </a:r>
                    </a:p>
                  </a:txBody>
                  <a:tcPr>
                    <a:solidFill>
                      <a:srgbClr val="FFFFFF"/>
                    </a:solidFill>
                  </a:tcPr>
                </a:tc>
              </a:tr>
              <a:tr h="345440">
                <a:tc>
                  <a:txBody>
                    <a:bodyPr/>
                    <a:lstStyle/>
                    <a:p>
                      <a:pPr algn="l"/>
                      <a:r>
                        <a:rPr sz="900" b="0">
                          <a:solidFill>
                            <a:srgbClr val="202020"/>
                          </a:solidFill>
                        </a:rPr>
                        <a:t>5</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92.9%</a:t>
                      </a:r>
                    </a:p>
                  </a:txBody>
                  <a:tcPr>
                    <a:solidFill>
                      <a:srgbClr val="E8F0FE"/>
                    </a:solidFill>
                  </a:tcPr>
                </a:tc>
                <a:tc>
                  <a:txBody>
                    <a:bodyPr/>
                    <a:lstStyle/>
                    <a:p>
                      <a:pPr algn="ctr"/>
                      <a:r>
                        <a:rPr sz="900" b="0">
                          <a:solidFill>
                            <a:srgbClr val="202020"/>
                          </a:solidFill>
                        </a:rPr>
                        <a:t>0.327</a:t>
                      </a:r>
                    </a:p>
                  </a:txBody>
                  <a:tcPr>
                    <a:solidFill>
                      <a:srgbClr val="E8F0FE"/>
                    </a:solidFill>
                  </a:tcPr>
                </a:tc>
                <a:tc>
                  <a:txBody>
                    <a:bodyPr/>
                    <a:lstStyle/>
                    <a:p>
                      <a:pPr algn="ctr"/>
                      <a:r>
                        <a:rPr sz="900" b="0">
                          <a:solidFill>
                            <a:srgbClr val="202020"/>
                          </a:solidFill>
                        </a:rPr>
                        <a:t>0.929</a:t>
                      </a:r>
                    </a:p>
                  </a:txBody>
                  <a:tcPr>
                    <a:solidFill>
                      <a:srgbClr val="E8F0FE"/>
                    </a:solidFill>
                  </a:tcPr>
                </a:tc>
              </a:tr>
              <a:tr h="345440">
                <a:tc>
                  <a:txBody>
                    <a:bodyPr/>
                    <a:lstStyle/>
                    <a:p>
                      <a:pPr algn="l"/>
                      <a:r>
                        <a:rPr sz="900" b="0">
                          <a:solidFill>
                            <a:srgbClr val="202020"/>
                          </a:solidFill>
                        </a:rPr>
                        <a:t>7</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B2 Weights</a:t>
                      </a:r>
                    </a:p>
                  </a:txBody>
                  <a:tcPr>
                    <a:solidFill>
                      <a:srgbClr val="FFFFFF"/>
                    </a:solidFill>
                  </a:tcPr>
                </a:tc>
                <a:tc>
                  <a:txBody>
                    <a:bodyPr/>
                    <a:lstStyle/>
                    <a:p>
                      <a:pPr algn="ctr"/>
                      <a:r>
                        <a:rPr sz="900" b="0">
                          <a:solidFill>
                            <a:srgbClr val="202020"/>
                          </a:solidFill>
                        </a:rPr>
                        <a:t>92.8%</a:t>
                      </a:r>
                    </a:p>
                  </a:txBody>
                  <a:tcPr>
                    <a:solidFill>
                      <a:srgbClr val="FFFFFF"/>
                    </a:solidFill>
                  </a:tcPr>
                </a:tc>
                <a:tc>
                  <a:txBody>
                    <a:bodyPr/>
                    <a:lstStyle/>
                    <a:p>
                      <a:pPr algn="ctr"/>
                      <a:r>
                        <a:rPr sz="900" b="0">
                          <a:solidFill>
                            <a:srgbClr val="202020"/>
                          </a:solidFill>
                        </a:rPr>
                        <a:t>0.296</a:t>
                      </a:r>
                    </a:p>
                  </a:txBody>
                  <a:tcPr>
                    <a:solidFill>
                      <a:srgbClr val="FFFFFF"/>
                    </a:solidFill>
                  </a:tcPr>
                </a:tc>
                <a:tc>
                  <a:txBody>
                    <a:bodyPr/>
                    <a:lstStyle/>
                    <a:p>
                      <a:pPr algn="ctr"/>
                      <a:r>
                        <a:rPr sz="900" b="0">
                          <a:solidFill>
                            <a:srgbClr val="202020"/>
                          </a:solidFill>
                        </a:rPr>
                        <a:t>0.929</a:t>
                      </a:r>
                    </a:p>
                  </a:txBody>
                  <a:tcPr>
                    <a:solidFill>
                      <a:srgbClr val="FFFFFF"/>
                    </a:solidFill>
                  </a:tcPr>
                </a:tc>
              </a:tr>
              <a:tr h="345440">
                <a:tc>
                  <a:txBody>
                    <a:bodyPr/>
                    <a:lstStyle/>
                    <a:p>
                      <a:pPr algn="l"/>
                      <a:r>
                        <a:rPr sz="900" b="0">
                          <a:solidFill>
                            <a:srgbClr val="202020"/>
                          </a:solidFill>
                        </a:rPr>
                        <a:t>9</a:t>
                      </a:r>
                    </a:p>
                  </a:txBody>
                  <a:tcPr>
                    <a:solidFill>
                      <a:srgbClr val="E8F0FE"/>
                    </a:solidFill>
                  </a:tcPr>
                </a:tc>
                <a:tc>
                  <a:txBody>
                    <a:bodyPr/>
                    <a:lstStyle/>
                    <a:p>
                      <a:pPr algn="ctr"/>
                      <a:r>
                        <a:rPr sz="900" b="0">
                          <a:solidFill>
                            <a:srgbClr val="202020"/>
                          </a:solidFill>
                        </a:rPr>
                        <a:t>Intermediate Fusion</a:t>
                      </a:r>
                    </a:p>
                  </a:txBody>
                  <a:tcPr>
                    <a:solidFill>
                      <a:srgbClr val="E8F0FE"/>
                    </a:solidFill>
                  </a:tcPr>
                </a:tc>
                <a:tc>
                  <a:txBody>
                    <a:bodyPr/>
                    <a:lstStyle/>
                    <a:p>
                      <a:pPr algn="ctr"/>
                      <a:r>
                        <a:rPr sz="900" b="0">
                          <a:solidFill>
                            <a:srgbClr val="202020"/>
                          </a:solidFill>
                        </a:rPr>
                        <a:t>B2 Weights</a:t>
                      </a:r>
                    </a:p>
                  </a:txBody>
                  <a:tcPr>
                    <a:solidFill>
                      <a:srgbClr val="E8F0FE"/>
                    </a:solidFill>
                  </a:tcPr>
                </a:tc>
                <a:tc>
                  <a:txBody>
                    <a:bodyPr/>
                    <a:lstStyle/>
                    <a:p>
                      <a:pPr algn="ctr"/>
                      <a:r>
                        <a:rPr sz="900" b="0">
                          <a:solidFill>
                            <a:srgbClr val="202020"/>
                          </a:solidFill>
                        </a:rPr>
                        <a:t>87.3%</a:t>
                      </a:r>
                    </a:p>
                  </a:txBody>
                  <a:tcPr>
                    <a:solidFill>
                      <a:srgbClr val="E8F0FE"/>
                    </a:solidFill>
                  </a:tcPr>
                </a:tc>
                <a:tc>
                  <a:txBody>
                    <a:bodyPr/>
                    <a:lstStyle/>
                    <a:p>
                      <a:pPr algn="ctr"/>
                      <a:r>
                        <a:rPr sz="900" b="0">
                          <a:solidFill>
                            <a:srgbClr val="202020"/>
                          </a:solidFill>
                        </a:rPr>
                        <a:t>0.258</a:t>
                      </a:r>
                    </a:p>
                  </a:txBody>
                  <a:tcPr>
                    <a:solidFill>
                      <a:srgbClr val="E8F0FE"/>
                    </a:solidFill>
                  </a:tcPr>
                </a:tc>
                <a:tc>
                  <a:txBody>
                    <a:bodyPr/>
                    <a:lstStyle/>
                    <a:p>
                      <a:pPr algn="ctr"/>
                      <a:r>
                        <a:rPr sz="900" b="0">
                          <a:solidFill>
                            <a:srgbClr val="202020"/>
                          </a:solidFill>
                        </a:rPr>
                        <a:t>0.895</a:t>
                      </a:r>
                    </a:p>
                  </a:txBody>
                  <a:tcPr>
                    <a:solidFill>
                      <a:srgbClr val="E8F0FE"/>
                    </a:solidFill>
                  </a:tcPr>
                </a:tc>
              </a:tr>
              <a:tr h="345440">
                <a:tc>
                  <a:txBody>
                    <a:bodyPr/>
                    <a:lstStyle/>
                    <a:p>
                      <a:pPr algn="l"/>
                      <a:r>
                        <a:rPr sz="900" b="0">
                          <a:solidFill>
                            <a:srgbClr val="202020"/>
                          </a:solidFill>
                        </a:rPr>
                        <a:t>12</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B3 Aug</a:t>
                      </a:r>
                    </a:p>
                  </a:txBody>
                  <a:tcPr>
                    <a:solidFill>
                      <a:srgbClr val="FFFFFF"/>
                    </a:solidFill>
                  </a:tcPr>
                </a:tc>
                <a:tc>
                  <a:txBody>
                    <a:bodyPr/>
                    <a:lstStyle/>
                    <a:p>
                      <a:pPr algn="ctr"/>
                      <a:r>
                        <a:rPr sz="900" b="0">
                          <a:solidFill>
                            <a:srgbClr val="202020"/>
                          </a:solidFill>
                        </a:rPr>
                        <a:t>79.2%</a:t>
                      </a:r>
                    </a:p>
                  </a:txBody>
                  <a:tcPr>
                    <a:solidFill>
                      <a:srgbClr val="FFFFFF"/>
                    </a:solidFill>
                  </a:tcPr>
                </a:tc>
                <a:tc>
                  <a:txBody>
                    <a:bodyPr/>
                    <a:lstStyle/>
                    <a:p>
                      <a:pPr algn="ctr"/>
                      <a:r>
                        <a:rPr sz="900" b="0">
                          <a:solidFill>
                            <a:srgbClr val="202020"/>
                          </a:solidFill>
                        </a:rPr>
                        <a:t>0.238</a:t>
                      </a:r>
                    </a:p>
                  </a:txBody>
                  <a:tcPr>
                    <a:solidFill>
                      <a:srgbClr val="FFFFFF"/>
                    </a:solidFill>
                  </a:tcPr>
                </a:tc>
                <a:tc>
                  <a:txBody>
                    <a:bodyPr/>
                    <a:lstStyle/>
                    <a:p>
                      <a:pPr algn="ctr"/>
                      <a:r>
                        <a:rPr sz="900" b="0">
                          <a:solidFill>
                            <a:srgbClr val="202020"/>
                          </a:solidFill>
                        </a:rPr>
                        <a:t>0.853</a:t>
                      </a:r>
                    </a:p>
                  </a:txBody>
                  <a:tcPr>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Visualisasi Hasil 4-Class — Perbandingan Skenario</a:t>
            </a:r>
          </a:p>
        </p:txBody>
      </p:sp>
      <p:pic>
        <p:nvPicPr>
          <p:cNvPr id="3" name="Picture 2" descr="comparison_4class_scenarios.png"/>
          <p:cNvPicPr>
            <a:picLocks noChangeAspect="1"/>
          </p:cNvPicPr>
          <p:nvPr/>
        </p:nvPicPr>
        <p:blipFill>
          <a:blip r:embed="rId2"/>
          <a:stretch>
            <a:fillRect/>
          </a:stretch>
        </p:blipFill>
        <p:spPr>
          <a:xfrm>
            <a:off x="680888" y="1005840"/>
            <a:ext cx="7782223"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Grouped bar chart: Macro F1 per model per skenario (4-class from scratch)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Perbandingan 7-Class vs 4-Class</a:t>
            </a:r>
          </a:p>
        </p:txBody>
      </p:sp>
      <p:pic>
        <p:nvPicPr>
          <p:cNvPr id="3" name="Picture 2" descr="comparison_4class_scenarios.png"/>
          <p:cNvPicPr>
            <a:picLocks noChangeAspect="1"/>
          </p:cNvPicPr>
          <p:nvPr/>
        </p:nvPicPr>
        <p:blipFill>
          <a:blip r:embed="rId2"/>
          <a:stretch>
            <a:fillRect/>
          </a:stretch>
        </p:blipFill>
        <p:spPr>
          <a:xfrm>
            <a:off x="680888" y="1005840"/>
            <a:ext cx="7782223"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Perbandingan Macro F1 terbaik: 7-class vs 4-class per model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Perbandingan 7-Class vs 4-Class (From Scratch)</a:t>
            </a:r>
          </a:p>
        </p:txBody>
      </p:sp>
      <p:graphicFrame>
        <p:nvGraphicFramePr>
          <p:cNvPr id="3" name="Table 2"/>
          <p:cNvGraphicFramePr>
            <a:graphicFrameLocks noGrp="1"/>
          </p:cNvGraphicFramePr>
          <p:nvPr/>
        </p:nvGraphicFramePr>
        <p:xfrm>
          <a:off x="457200" y="1097280"/>
          <a:ext cx="8229600" cy="1737360"/>
        </p:xfrm>
        <a:graphic>
          <a:graphicData uri="http://schemas.openxmlformats.org/drawingml/2006/table">
            <a:tbl>
              <a:tblPr firstRow="1" bandRow="1">
                <a:tableStyleId>{5C22544A-7EE6-4342-B048-85BDC9FD1C3A}</a:tableStyleId>
              </a:tblPr>
              <a:tblGrid>
                <a:gridCol w="2286000"/>
                <a:gridCol w="2286000"/>
                <a:gridCol w="2286000"/>
                <a:gridCol w="1371600"/>
              </a:tblGrid>
              <a:tr h="347472">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7-Class Best (Macro F1)</a:t>
                      </a:r>
                    </a:p>
                  </a:txBody>
                  <a:tcPr>
                    <a:solidFill>
                      <a:srgbClr val="1A73E8"/>
                    </a:solidFill>
                  </a:tcPr>
                </a:tc>
                <a:tc>
                  <a:txBody>
                    <a:bodyPr/>
                    <a:lstStyle/>
                    <a:p>
                      <a:pPr algn="ctr"/>
                      <a:r>
                        <a:rPr sz="1000" b="1">
                          <a:solidFill>
                            <a:srgbClr val="FFFFFF"/>
                          </a:solidFill>
                        </a:rPr>
                        <a:t>4-Class Best (Macro F1)</a:t>
                      </a:r>
                    </a:p>
                  </a:txBody>
                  <a:tcPr>
                    <a:solidFill>
                      <a:srgbClr val="1A73E8"/>
                    </a:solidFill>
                  </a:tcPr>
                </a:tc>
                <a:tc>
                  <a:txBody>
                    <a:bodyPr/>
                    <a:lstStyle/>
                    <a:p>
                      <a:pPr algn="ctr"/>
                      <a:r>
                        <a:rPr sz="1000" b="1">
                          <a:solidFill>
                            <a:srgbClr val="FFFFFF"/>
                          </a:solidFill>
                        </a:rPr>
                        <a:t>Peningkatan</a:t>
                      </a:r>
                    </a:p>
                  </a:txBody>
                  <a:tcPr>
                    <a:solidFill>
                      <a:srgbClr val="1A73E8"/>
                    </a:solidFill>
                  </a:tcPr>
                </a:tc>
              </a:tr>
              <a:tr h="347472">
                <a:tc>
                  <a:txBody>
                    <a:bodyPr/>
                    <a:lstStyle/>
                    <a:p>
                      <a:pPr algn="l"/>
                      <a:r>
                        <a:rPr sz="1000" b="1">
                          <a:solidFill>
                            <a:srgbClr val="FFFFFF"/>
                          </a:solidFill>
                        </a:rPr>
                        <a:t>FCNN</a:t>
                      </a:r>
                    </a:p>
                  </a:txBody>
                  <a:tcPr>
                    <a:solidFill>
                      <a:srgbClr val="34A853"/>
                    </a:solidFill>
                  </a:tcPr>
                </a:tc>
                <a:tc>
                  <a:txBody>
                    <a:bodyPr/>
                    <a:lstStyle/>
                    <a:p>
                      <a:pPr algn="ctr"/>
                      <a:r>
                        <a:rPr sz="1000" b="1">
                          <a:solidFill>
                            <a:srgbClr val="FFFFFF"/>
                          </a:solidFill>
                        </a:rPr>
                        <a:t>0.234 (B1)</a:t>
                      </a:r>
                    </a:p>
                  </a:txBody>
                  <a:tcPr>
                    <a:solidFill>
                      <a:srgbClr val="34A853"/>
                    </a:solidFill>
                  </a:tcPr>
                </a:tc>
                <a:tc>
                  <a:txBody>
                    <a:bodyPr/>
                    <a:lstStyle/>
                    <a:p>
                      <a:pPr algn="ctr"/>
                      <a:r>
                        <a:rPr sz="1000" b="1">
                          <a:solidFill>
                            <a:srgbClr val="FFFFFF"/>
                          </a:solidFill>
                        </a:rPr>
                        <a:t>0.394 (B3)</a:t>
                      </a:r>
                    </a:p>
                  </a:txBody>
                  <a:tcPr>
                    <a:solidFill>
                      <a:srgbClr val="34A853"/>
                    </a:solidFill>
                  </a:tcPr>
                </a:tc>
                <a:tc>
                  <a:txBody>
                    <a:bodyPr/>
                    <a:lstStyle/>
                    <a:p>
                      <a:pPr algn="ctr"/>
                      <a:r>
                        <a:rPr sz="1000" b="1">
                          <a:solidFill>
                            <a:srgbClr val="FFFFFF"/>
                          </a:solidFill>
                        </a:rPr>
                        <a:t>+68%</a:t>
                      </a:r>
                    </a:p>
                  </a:txBody>
                  <a:tcPr>
                    <a:solidFill>
                      <a:srgbClr val="34A853"/>
                    </a:solidFill>
                  </a:tcPr>
                </a:tc>
              </a:tr>
              <a:tr h="347472">
                <a:tc>
                  <a:txBody>
                    <a:bodyPr/>
                    <a:lstStyle/>
                    <a:p>
                      <a:pPr algn="l"/>
                      <a:r>
                        <a:rPr sz="1000" b="0">
                          <a:solidFill>
                            <a:srgbClr val="202020"/>
                          </a:solidFill>
                        </a:rPr>
                        <a:t>Late Fusion</a:t>
                      </a:r>
                    </a:p>
                  </a:txBody>
                  <a:tcPr>
                    <a:solidFill>
                      <a:srgbClr val="FFFFFF"/>
                    </a:solidFill>
                  </a:tcPr>
                </a:tc>
                <a:tc>
                  <a:txBody>
                    <a:bodyPr/>
                    <a:lstStyle/>
                    <a:p>
                      <a:pPr algn="ctr"/>
                      <a:r>
                        <a:rPr sz="1000" b="0">
                          <a:solidFill>
                            <a:srgbClr val="202020"/>
                          </a:solidFill>
                        </a:rPr>
                        <a:t>0.230 (B1)</a:t>
                      </a:r>
                    </a:p>
                  </a:txBody>
                  <a:tcPr>
                    <a:solidFill>
                      <a:srgbClr val="FFFFFF"/>
                    </a:solidFill>
                  </a:tcPr>
                </a:tc>
                <a:tc>
                  <a:txBody>
                    <a:bodyPr/>
                    <a:lstStyle/>
                    <a:p>
                      <a:pPr algn="ctr"/>
                      <a:r>
                        <a:rPr sz="1000" b="0">
                          <a:solidFill>
                            <a:srgbClr val="202020"/>
                          </a:solidFill>
                        </a:rPr>
                        <a:t>0.385 (B3)</a:t>
                      </a:r>
                    </a:p>
                  </a:txBody>
                  <a:tcPr>
                    <a:solidFill>
                      <a:srgbClr val="FFFFFF"/>
                    </a:solidFill>
                  </a:tcPr>
                </a:tc>
                <a:tc>
                  <a:txBody>
                    <a:bodyPr/>
                    <a:lstStyle/>
                    <a:p>
                      <a:pPr algn="ctr"/>
                      <a:r>
                        <a:rPr sz="1000" b="0">
                          <a:solidFill>
                            <a:srgbClr val="202020"/>
                          </a:solidFill>
                        </a:rPr>
                        <a:t>+67%</a:t>
                      </a:r>
                    </a:p>
                  </a:txBody>
                  <a:tcPr>
                    <a:solidFill>
                      <a:srgbClr val="FFFFFF"/>
                    </a:solidFill>
                  </a:tcPr>
                </a:tc>
              </a:tr>
              <a:tr h="347472">
                <a:tc>
                  <a:txBody>
                    <a:bodyPr/>
                    <a:lstStyle/>
                    <a:p>
                      <a:pPr algn="l"/>
                      <a:r>
                        <a:rPr sz="1000" b="0">
                          <a:solidFill>
                            <a:srgbClr val="202020"/>
                          </a:solidFill>
                        </a:rPr>
                        <a:t>CNN</a:t>
                      </a:r>
                    </a:p>
                  </a:txBody>
                  <a:tcPr>
                    <a:solidFill>
                      <a:srgbClr val="E8F0FE"/>
                    </a:solidFill>
                  </a:tcPr>
                </a:tc>
                <a:tc>
                  <a:txBody>
                    <a:bodyPr/>
                    <a:lstStyle/>
                    <a:p>
                      <a:pPr algn="ctr"/>
                      <a:r>
                        <a:rPr sz="1000" b="0">
                          <a:solidFill>
                            <a:srgbClr val="202020"/>
                          </a:solidFill>
                        </a:rPr>
                        <a:t>0.134 (B2)</a:t>
                      </a:r>
                    </a:p>
                  </a:txBody>
                  <a:tcPr>
                    <a:solidFill>
                      <a:srgbClr val="E8F0FE"/>
                    </a:solidFill>
                  </a:tcPr>
                </a:tc>
                <a:tc>
                  <a:txBody>
                    <a:bodyPr/>
                    <a:lstStyle/>
                    <a:p>
                      <a:pPr algn="ctr"/>
                      <a:r>
                        <a:rPr sz="1000" b="0">
                          <a:solidFill>
                            <a:srgbClr val="202020"/>
                          </a:solidFill>
                        </a:rPr>
                        <a:t>0.296 (B2)</a:t>
                      </a:r>
                    </a:p>
                  </a:txBody>
                  <a:tcPr>
                    <a:solidFill>
                      <a:srgbClr val="E8F0FE"/>
                    </a:solidFill>
                  </a:tcPr>
                </a:tc>
                <a:tc>
                  <a:txBody>
                    <a:bodyPr/>
                    <a:lstStyle/>
                    <a:p>
                      <a:pPr algn="ctr"/>
                      <a:r>
                        <a:rPr sz="1000" b="0">
                          <a:solidFill>
                            <a:srgbClr val="202020"/>
                          </a:solidFill>
                        </a:rPr>
                        <a:t>+121%</a:t>
                      </a:r>
                    </a:p>
                  </a:txBody>
                  <a:tcPr>
                    <a:solidFill>
                      <a:srgbClr val="E8F0FE"/>
                    </a:solidFill>
                  </a:tcPr>
                </a:tc>
              </a:tr>
              <a:tr h="347472">
                <a:tc>
                  <a:txBody>
                    <a:bodyPr/>
                    <a:lstStyle/>
                    <a:p>
                      <a:pPr algn="l"/>
                      <a:r>
                        <a:rPr sz="1000" b="0">
                          <a:solidFill>
                            <a:srgbClr val="202020"/>
                          </a:solidFill>
                        </a:rPr>
                        <a:t>Intermediate Fusion</a:t>
                      </a:r>
                    </a:p>
                  </a:txBody>
                  <a:tcPr>
                    <a:solidFill>
                      <a:srgbClr val="FFFFFF"/>
                    </a:solidFill>
                  </a:tcPr>
                </a:tc>
                <a:tc>
                  <a:txBody>
                    <a:bodyPr/>
                    <a:lstStyle/>
                    <a:p>
                      <a:pPr algn="ctr"/>
                      <a:r>
                        <a:rPr sz="1000" b="0">
                          <a:solidFill>
                            <a:srgbClr val="202020"/>
                          </a:solidFill>
                        </a:rPr>
                        <a:t>0.140 (B2)</a:t>
                      </a:r>
                    </a:p>
                  </a:txBody>
                  <a:tcPr>
                    <a:solidFill>
                      <a:srgbClr val="FFFFFF"/>
                    </a:solidFill>
                  </a:tcPr>
                </a:tc>
                <a:tc>
                  <a:txBody>
                    <a:bodyPr/>
                    <a:lstStyle/>
                    <a:p>
                      <a:pPr algn="ctr"/>
                      <a:r>
                        <a:rPr sz="1000" b="0">
                          <a:solidFill>
                            <a:srgbClr val="202020"/>
                          </a:solidFill>
                        </a:rPr>
                        <a:t>0.258 (B2)</a:t>
                      </a:r>
                    </a:p>
                  </a:txBody>
                  <a:tcPr>
                    <a:solidFill>
                      <a:srgbClr val="FFFFFF"/>
                    </a:solidFill>
                  </a:tcPr>
                </a:tc>
                <a:tc>
                  <a:txBody>
                    <a:bodyPr/>
                    <a:lstStyle/>
                    <a:p>
                      <a:pPr algn="ctr"/>
                      <a:r>
                        <a:rPr sz="1000" b="0">
                          <a:solidFill>
                            <a:srgbClr val="202020"/>
                          </a:solidFill>
                        </a:rPr>
                        <a:t>+84%</a:t>
                      </a:r>
                    </a:p>
                  </a:txBody>
                  <a:tcPr>
                    <a:solidFill>
                      <a:srgbClr val="FFFFFF"/>
                    </a:solidFill>
                  </a:tcPr>
                </a:tc>
              </a:tr>
            </a:tbl>
          </a:graphicData>
        </a:graphic>
      </p:graphicFrame>
      <p:graphicFrame>
        <p:nvGraphicFramePr>
          <p:cNvPr id="4" name="Table 3"/>
          <p:cNvGraphicFramePr>
            <a:graphicFrameLocks noGrp="1"/>
          </p:cNvGraphicFramePr>
          <p:nvPr/>
        </p:nvGraphicFramePr>
        <p:xfrm>
          <a:off x="457200" y="2926080"/>
          <a:ext cx="8229600" cy="1828800"/>
        </p:xfrm>
        <a:graphic>
          <a:graphicData uri="http://schemas.openxmlformats.org/drawingml/2006/table">
            <a:tbl>
              <a:tblPr firstRow="1" bandRow="1">
                <a:tableStyleId>{5C22544A-7EE6-4342-B048-85BDC9FD1C3A}</a:tableStyleId>
              </a:tblPr>
              <a:tblGrid>
                <a:gridCol w="2743200"/>
                <a:gridCol w="5486400"/>
              </a:tblGrid>
              <a:tr h="457200">
                <a:tc>
                  <a:txBody>
                    <a:bodyPr/>
                    <a:lstStyle/>
                    <a:p>
                      <a:pPr algn="ctr"/>
                      <a:r>
                        <a:rPr sz="1000" b="1">
                          <a:solidFill>
                            <a:srgbClr val="FFFFFF"/>
                          </a:solidFill>
                        </a:rPr>
                        <a:t>Temuan</a:t>
                      </a:r>
                    </a:p>
                  </a:txBody>
                  <a:tcPr>
                    <a:solidFill>
                      <a:srgbClr val="1A73E8"/>
                    </a:solidFill>
                  </a:tcPr>
                </a:tc>
                <a:tc>
                  <a:txBody>
                    <a:bodyPr/>
                    <a:lstStyle/>
                    <a:p>
                      <a:pPr algn="ctr"/>
                      <a:r>
                        <a:rPr sz="1000" b="1">
                          <a:solidFill>
                            <a:srgbClr val="FFFFFF"/>
                          </a:solidFill>
                        </a:rPr>
                        <a:t>Penjelasan</a:t>
                      </a:r>
                    </a:p>
                  </a:txBody>
                  <a:tcPr>
                    <a:solidFill>
                      <a:srgbClr val="1A73E8"/>
                    </a:solidFill>
                  </a:tcPr>
                </a:tc>
              </a:tr>
              <a:tr h="457200">
                <a:tc>
                  <a:txBody>
                    <a:bodyPr/>
                    <a:lstStyle/>
                    <a:p>
                      <a:pPr algn="l"/>
                      <a:r>
                        <a:rPr sz="900">
                          <a:solidFill>
                            <a:srgbClr val="202020"/>
                          </a:solidFill>
                        </a:rPr>
                        <a:t>5. Penggabungan kelas langka signifikan</a:t>
                      </a:r>
                    </a:p>
                  </a:txBody>
                  <a:tcPr>
                    <a:solidFill>
                      <a:srgbClr val="E8F0FE"/>
                    </a:solidFill>
                  </a:tcPr>
                </a:tc>
                <a:tc>
                  <a:txBody>
                    <a:bodyPr/>
                    <a:lstStyle/>
                    <a:p>
                      <a:pPr algn="ctr"/>
                      <a:r>
                        <a:rPr sz="900">
                          <a:solidFill>
                            <a:srgbClr val="202020"/>
                          </a:solidFill>
                        </a:rPr>
                        <a:t>Kelas "negative" punya 145 sample vs maks 70 di 7-class</a:t>
                      </a:r>
                    </a:p>
                  </a:txBody>
                  <a:tcPr>
                    <a:solidFill>
                      <a:srgbClr val="E8F0FE"/>
                    </a:solidFill>
                  </a:tcPr>
                </a:tc>
              </a:tr>
              <a:tr h="457200">
                <a:tc>
                  <a:txBody>
                    <a:bodyPr/>
                    <a:lstStyle/>
                    <a:p>
                      <a:pPr algn="l"/>
                      <a:r>
                        <a:rPr sz="900">
                          <a:solidFill>
                            <a:srgbClr val="202020"/>
                          </a:solidFill>
                        </a:rPr>
                        <a:t>6. Augmentasi efektif di 4-class, tidak di 7-class</a:t>
                      </a:r>
                    </a:p>
                  </a:txBody>
                  <a:tcPr>
                    <a:solidFill>
                      <a:srgbClr val="FFFFFF"/>
                    </a:solidFill>
                  </a:tcPr>
                </a:tc>
                <a:tc>
                  <a:txBody>
                    <a:bodyPr/>
                    <a:lstStyle/>
                    <a:p>
                      <a:pPr algn="ctr"/>
                      <a:r>
                        <a:rPr sz="900">
                          <a:solidFill>
                            <a:srgbClr val="202020"/>
                          </a:solidFill>
                        </a:rPr>
                        <a:t>4-class: 145 sample → augmentasi bermakna. 7-class: fearful 8 sample → tidak bermakna</a:t>
                      </a:r>
                    </a:p>
                  </a:txBody>
                  <a:tcPr>
                    <a:solidFill>
                      <a:srgbClr val="FFFFFF"/>
                    </a:solidFill>
                  </a:tcPr>
                </a:tc>
              </a:tr>
              <a:tr h="457200">
                <a:tc>
                  <a:txBody>
                    <a:bodyPr/>
                    <a:lstStyle/>
                    <a:p>
                      <a:pPr algn="l"/>
                      <a:r>
                        <a:rPr sz="900">
                          <a:solidFill>
                            <a:srgbClr val="202020"/>
                          </a:solidFill>
                        </a:rPr>
                        <a:t>7. FCNN konsisten terbaik di kedua konfigurasi</a:t>
                      </a:r>
                    </a:p>
                  </a:txBody>
                  <a:tcPr>
                    <a:solidFill>
                      <a:srgbClr val="E8F0FE"/>
                    </a:solidFill>
                  </a:tcPr>
                </a:tc>
                <a:tc>
                  <a:txBody>
                    <a:bodyPr/>
                    <a:lstStyle/>
                    <a:p>
                      <a:pPr algn="ctr"/>
                      <a:r>
                        <a:rPr sz="900">
                          <a:solidFill>
                            <a:srgbClr val="202020"/>
                          </a:solidFill>
                        </a:rPr>
                        <a:t>Fitur geometrik selalu mengungguli fitur penampilan (citra wajah)</a:t>
                      </a:r>
                    </a:p>
                  </a:txBody>
                  <a:tcPr>
                    <a:solidFill>
                      <a:srgbClr val="E8F0FE"/>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640080"/>
          </a:xfrm>
          <a:prstGeom prst="rect">
            <a:avLst/>
          </a:prstGeom>
          <a:noFill/>
        </p:spPr>
        <p:txBody>
          <a:bodyPr wrap="none">
            <a:spAutoFit/>
          </a:bodyPr>
          <a:lstStyle/>
          <a:p>
            <a:pPr>
              <a:defRPr sz="2200" b="1">
                <a:solidFill>
                  <a:srgbClr val="202020"/>
                </a:solidFill>
              </a:defRPr>
            </a:pPr>
            <a:r>
              <a:t>Rancangan Eksperimen — Tahap 3: Transfer Learning</a:t>
            </a:r>
          </a:p>
        </p:txBody>
      </p:sp>
      <p:sp>
        <p:nvSpPr>
          <p:cNvPr id="3" name="TextBox 2"/>
          <p:cNvSpPr txBox="1"/>
          <p:nvPr/>
        </p:nvSpPr>
        <p:spPr>
          <a:xfrm>
            <a:off x="365760" y="914400"/>
            <a:ext cx="8412480" cy="1371600"/>
          </a:xfrm>
          <a:prstGeom prst="rect">
            <a:avLst/>
          </a:prstGeom>
          <a:noFill/>
          <a:solidFill>
            <a:srgbClr val="FFF0CC"/>
          </a:solidFill>
        </p:spPr>
        <p:txBody>
          <a:bodyPr wrap="square">
            <a:spAutoFit/>
          </a:bodyPr>
          <a:lstStyle/>
          <a:p>
            <a:pPr>
              <a:defRPr sz="1000" b="1">
                <a:solidFill>
                  <a:srgbClr val="202020"/>
                </a:solidFill>
              </a:defRPr>
            </a:pPr>
            <a:r>
              <a:t>Motivasi dari hasil Tahap 2:</a:t>
            </a:r>
          </a:p>
          <a:p>
            <a:pPr>
              <a:defRPr sz="1000">
                <a:solidFill>
                  <a:srgbClr val="202020"/>
                </a:solidFill>
              </a:defRPr>
            </a:pPr>
            <a:r>
              <a:t>-&gt; FCNN (landmark) sudah membaik: Macro F1 0.394  |  Namun CNN (citra) masih rendah: Macro F1 0.296</a:t>
            </a:r>
          </a:p>
          <a:p>
            <a:pPr>
              <a:defRPr sz="1000">
                <a:solidFill>
                  <a:srgbClr val="202020"/>
                </a:solidFill>
              </a:defRPr>
            </a:pPr>
            <a:r>
              <a:t>-&gt; Penyebab CNN lemah: dataset terlalu kecil (~9K sampel) untuk melatih CNN from scratch</a:t>
            </a:r>
          </a:p>
          <a:p>
            <a:pPr>
              <a:defRPr sz="1000">
                <a:solidFill>
                  <a:srgbClr val="202020"/>
                </a:solidFill>
              </a:defRPr>
            </a:pPr>
            <a:r>
              <a:t>-&gt; Solusi: gunakan ResNet18 pretrained ImageNet -- sudah memahami fitur visual dari 1.2 juta gambar</a:t>
            </a:r>
          </a:p>
        </p:txBody>
      </p:sp>
      <p:sp>
        <p:nvSpPr>
          <p:cNvPr id="5" name="TextBox 4"/>
          <p:cNvSpPr txBox="1"/>
          <p:nvPr/>
        </p:nvSpPr>
        <p:spPr>
          <a:xfrm>
            <a:off x="365760" y="4663440"/>
            <a:ext cx="8412480" cy="365760"/>
          </a:xfrm>
          <a:prstGeom prst="rect">
            <a:avLst/>
          </a:prstGeom>
          <a:noFill/>
        </p:spPr>
        <p:txBody>
          <a:bodyPr wrap="square">
            <a:spAutoFit/>
          </a:bodyPr>
          <a:lstStyle/>
          <a:p>
            <a:pPr>
              <a:defRPr sz="1000">
                <a:solidFill>
                  <a:srgbClr val="202020"/>
                </a:solidFill>
              </a:defRPr>
            </a:pPr>
            <a:r>
              <a:t>4 model x 3 skenario x 2 konfigurasi kelas (7-class + 4-class) = 24 eksperimen tambahan</a:t>
            </a:r>
          </a:p>
          <a:p>
            <a:pPr>
              <a:defRPr sz="1000">
                <a:solidFill>
                  <a:srgbClr val="202020"/>
                </a:solidFill>
              </a:defRPr>
            </a:pPr>
            <a:r>
              <a:t>Total keseluruhan: 12 + 12 + 24 = 48 eksperimen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182880"/>
            <a:ext cx="8503920" cy="548640"/>
          </a:xfrm>
          <a:prstGeom prst="rect">
            <a:avLst/>
          </a:prstGeom>
          <a:noFill/>
        </p:spPr>
        <p:txBody>
          <a:bodyPr wrap="none">
            <a:spAutoFit/>
          </a:bodyPr>
          <a:lstStyle/>
          <a:p>
            <a:pPr>
              <a:defRPr sz="2000" b="1">
                <a:solidFill>
                  <a:srgbClr val="202020"/>
                </a:solidFill>
              </a:defRPr>
            </a:pPr>
            <a:r>
              <a:t>Perubahan Arsitektur: From Scratch → Transfer Learning</a:t>
            </a:r>
          </a:p>
        </p:txBody>
      </p:sp>
      <p:graphicFrame>
        <p:nvGraphicFramePr>
          <p:cNvPr id="3" name="Table 2"/>
          <p:cNvGraphicFramePr>
            <a:graphicFrameLocks noGrp="1"/>
          </p:cNvGraphicFramePr>
          <p:nvPr/>
        </p:nvGraphicFramePr>
        <p:xfrm>
          <a:off x="365760" y="914400"/>
          <a:ext cx="8412480" cy="2286000"/>
        </p:xfrm>
        <a:graphic>
          <a:graphicData uri="http://schemas.openxmlformats.org/drawingml/2006/table">
            <a:tbl>
              <a:tblPr firstRow="1" bandRow="1"/>
              <a:tblGrid>
                <a:gridCol w="1828800"/>
                <a:gridCol w="2377440"/>
                <a:gridCol w="2377440"/>
                <a:gridCol w="1828800"/>
              </a:tblGrid>
              <a:tr h="381000">
                <a:tc>
                  <a:txBody>
                    <a:bodyPr/>
                    <a:lstStyle/>
                    <a:p>
                      <a:pPr algn="ctr"/>
                      <a:r>
                        <a:rPr sz="1100" b="1">
                          <a:solidFill>
                            <a:srgbClr val="FFFFFF"/>
                          </a:solidFill>
                        </a:rPr>
                        <a:t>Komponen</a:t>
                      </a:r>
                    </a:p>
                  </a:txBody>
                  <a:tcPr>
                    <a:solidFill>
                      <a:srgbClr val="1A73E8"/>
                    </a:solidFill>
                  </a:tcPr>
                </a:tc>
                <a:tc>
                  <a:txBody>
                    <a:bodyPr/>
                    <a:lstStyle/>
                    <a:p>
                      <a:pPr algn="ctr"/>
                      <a:r>
                        <a:rPr sz="1100" b="1">
                          <a:solidFill>
                            <a:srgbClr val="FFFFFF"/>
                          </a:solidFill>
                        </a:rPr>
                        <a:t>Tahap 1 &amp; 2 (From Scratch)</a:t>
                      </a:r>
                    </a:p>
                  </a:txBody>
                  <a:tcPr>
                    <a:solidFill>
                      <a:srgbClr val="1A73E8"/>
                    </a:solidFill>
                  </a:tcPr>
                </a:tc>
                <a:tc>
                  <a:txBody>
                    <a:bodyPr/>
                    <a:lstStyle/>
                    <a:p>
                      <a:pPr algn="ctr"/>
                      <a:r>
                        <a:rPr sz="1100" b="1">
                          <a:solidFill>
                            <a:srgbClr val="FFFFFF"/>
                          </a:solidFill>
                        </a:rPr>
                        <a:t>Tahap 3 (Transfer Learning)</a:t>
                      </a:r>
                    </a:p>
                  </a:txBody>
                  <a:tcPr>
                    <a:solidFill>
                      <a:srgbClr val="1A73E8"/>
                    </a:solidFill>
                  </a:tcPr>
                </a:tc>
                <a:tc>
                  <a:txBody>
                    <a:bodyPr/>
                    <a:lstStyle/>
                    <a:p>
                      <a:pPr algn="ctr"/>
                      <a:r>
                        <a:rPr sz="1100" b="1">
                          <a:solidFill>
                            <a:srgbClr val="FFFFFF"/>
                          </a:solidFill>
                        </a:rPr>
                        <a:t>Catatan</a:t>
                      </a:r>
                    </a:p>
                  </a:txBody>
                  <a:tcPr>
                    <a:solidFill>
                      <a:srgbClr val="1A73E8"/>
                    </a:solidFill>
                  </a:tcPr>
                </a:tc>
              </a:tr>
              <a:tr h="381000">
                <a:tc>
                  <a:txBody>
                    <a:bodyPr/>
                    <a:lstStyle/>
                    <a:p>
                      <a:pPr algn="l"/>
                      <a:r>
                        <a:rPr sz="1000" b="0">
                          <a:solidFill>
                            <a:srgbClr val="202020"/>
                          </a:solidFill>
                        </a:rPr>
                        <a:t>CNN backbone</a:t>
                      </a:r>
                    </a:p>
                  </a:txBody>
                  <a:tcPr>
                    <a:solidFill>
                      <a:srgbClr val="E8F0FE"/>
                    </a:solidFill>
                  </a:tcPr>
                </a:tc>
                <a:tc>
                  <a:txBody>
                    <a:bodyPr/>
                    <a:lstStyle/>
                    <a:p>
                      <a:pPr algn="ctr"/>
                      <a:r>
                        <a:rPr sz="1000" b="0">
                          <a:solidFill>
                            <a:srgbClr val="202020"/>
                          </a:solidFill>
                        </a:rPr>
                        <a:t>EmotionCNN (dari nol)</a:t>
                      </a:r>
                    </a:p>
                  </a:txBody>
                  <a:tcPr>
                    <a:solidFill>
                      <a:srgbClr val="E8F0FE"/>
                    </a:solidFill>
                  </a:tcPr>
                </a:tc>
                <a:tc>
                  <a:txBody>
                    <a:bodyPr/>
                    <a:lstStyle/>
                    <a:p>
                      <a:pPr algn="ctr"/>
                      <a:r>
                        <a:rPr sz="1000" b="0">
                          <a:solidFill>
                            <a:srgbClr val="202020"/>
                          </a:solidFill>
                        </a:rPr>
                        <a:t>ResNet18 pretrained ImageNet</a:t>
                      </a:r>
                    </a:p>
                  </a:txBody>
                  <a:tcPr>
                    <a:solidFill>
                      <a:srgbClr val="E8F0FE"/>
                    </a:solidFill>
                  </a:tcPr>
                </a:tc>
                <a:tc>
                  <a:txBody>
                    <a:bodyPr/>
                    <a:lstStyle/>
                    <a:p>
                      <a:pPr algn="ctr"/>
                      <a:r>
                        <a:rPr sz="1000" b="0">
                          <a:solidFill>
                            <a:srgbClr val="202020"/>
                          </a:solidFill>
                        </a:rPr>
                        <a:t>Fine-tune seluruh layer</a:t>
                      </a:r>
                    </a:p>
                  </a:txBody>
                  <a:tcPr>
                    <a:solidFill>
                      <a:srgbClr val="E8F0FE"/>
                    </a:solidFill>
                  </a:tcPr>
                </a:tc>
              </a:tr>
              <a:tr h="381000">
                <a:tc>
                  <a:txBody>
                    <a:bodyPr/>
                    <a:lstStyle/>
                    <a:p>
                      <a:pPr algn="l"/>
                      <a:r>
                        <a:rPr sz="1000" b="0">
                          <a:solidFill>
                            <a:srgbClr val="202020"/>
                          </a:solidFill>
                        </a:rPr>
                        <a:t>FCNN</a:t>
                      </a:r>
                    </a:p>
                  </a:txBody>
                  <a:tcPr>
                    <a:solidFill>
                      <a:srgbClr val="FFFFFF"/>
                    </a:solidFill>
                  </a:tcPr>
                </a:tc>
                <a:tc>
                  <a:txBody>
                    <a:bodyPr/>
                    <a:lstStyle/>
                    <a:p>
                      <a:pPr algn="ctr"/>
                      <a:r>
                        <a:rPr sz="1000" b="0">
                          <a:solidFill>
                            <a:srgbClr val="202020"/>
                          </a:solidFill>
                        </a:rPr>
                        <a:t>Fully-connected (dari nol)</a:t>
                      </a:r>
                    </a:p>
                  </a:txBody>
                  <a:tcPr>
                    <a:solidFill>
                      <a:srgbClr val="FFFFFF"/>
                    </a:solidFill>
                  </a:tcPr>
                </a:tc>
                <a:tc>
                  <a:txBody>
                    <a:bodyPr/>
                    <a:lstStyle/>
                    <a:p>
                      <a:pPr algn="ctr"/>
                      <a:r>
                        <a:rPr sz="1000" b="0">
                          <a:solidFill>
                            <a:srgbClr val="202020"/>
                          </a:solidFill>
                        </a:rPr>
                        <a:t>Sama — tidak berubah</a:t>
                      </a:r>
                    </a:p>
                  </a:txBody>
                  <a:tcPr>
                    <a:solidFill>
                      <a:srgbClr val="FFFFFF"/>
                    </a:solidFill>
                  </a:tcPr>
                </a:tc>
                <a:tc>
                  <a:txBody>
                    <a:bodyPr/>
                    <a:lstStyle/>
                    <a:p>
                      <a:pPr algn="ctr"/>
                      <a:r>
                        <a:rPr sz="1000" b="0">
                          <a:solidFill>
                            <a:srgbClr val="202020"/>
                          </a:solidFill>
                        </a:rPr>
                        <a:t>Landmark = numerik, tidak perlu pretrained</a:t>
                      </a:r>
                    </a:p>
                  </a:txBody>
                  <a:tcPr>
                    <a:solidFill>
                      <a:srgbClr val="FFFFFF"/>
                    </a:solidFill>
                  </a:tcPr>
                </a:tc>
              </a:tr>
              <a:tr h="381000">
                <a:tc>
                  <a:txBody>
                    <a:bodyPr/>
                    <a:lstStyle/>
                    <a:p>
                      <a:pPr algn="l"/>
                      <a:r>
                        <a:rPr sz="1000" b="0">
                          <a:solidFill>
                            <a:srgbClr val="202020"/>
                          </a:solidFill>
                        </a:rPr>
                        <a:t>Late Fusion</a:t>
                      </a:r>
                    </a:p>
                  </a:txBody>
                  <a:tcPr>
                    <a:solidFill>
                      <a:srgbClr val="E8F0FE"/>
                    </a:solidFill>
                  </a:tcPr>
                </a:tc>
                <a:tc>
                  <a:txBody>
                    <a:bodyPr/>
                    <a:lstStyle/>
                    <a:p>
                      <a:pPr algn="ctr"/>
                      <a:r>
                        <a:rPr sz="1000" b="0">
                          <a:solidFill>
                            <a:srgbClr val="202020"/>
                          </a:solidFill>
                        </a:rPr>
                        <a:t>CNN scratch + FCNN</a:t>
                      </a:r>
                    </a:p>
                  </a:txBody>
                  <a:tcPr>
                    <a:solidFill>
                      <a:srgbClr val="E8F0FE"/>
                    </a:solidFill>
                  </a:tcPr>
                </a:tc>
                <a:tc>
                  <a:txBody>
                    <a:bodyPr/>
                    <a:lstStyle/>
                    <a:p>
                      <a:pPr algn="ctr"/>
                      <a:r>
                        <a:rPr sz="1000" b="0">
                          <a:solidFill>
                            <a:srgbClr val="202020"/>
                          </a:solidFill>
                        </a:rPr>
                        <a:t>CNN TL + FCNN</a:t>
                      </a:r>
                    </a:p>
                  </a:txBody>
                  <a:tcPr>
                    <a:solidFill>
                      <a:srgbClr val="E8F0FE"/>
                    </a:solidFill>
                  </a:tcPr>
                </a:tc>
                <a:tc>
                  <a:txBody>
                    <a:bodyPr/>
                    <a:lstStyle/>
                    <a:p>
                      <a:pPr algn="ctr"/>
                      <a:r>
                        <a:rPr sz="1000" b="0">
                          <a:solidFill>
                            <a:srgbClr val="202020"/>
                          </a:solidFill>
                        </a:rPr>
                        <a:t/>
                      </a:r>
                    </a:p>
                  </a:txBody>
                  <a:tcPr>
                    <a:solidFill>
                      <a:srgbClr val="E8F0FE"/>
                    </a:solidFill>
                  </a:tcPr>
                </a:tc>
              </a:tr>
              <a:tr h="381000">
                <a:tc>
                  <a:txBody>
                    <a:bodyPr/>
                    <a:lstStyle/>
                    <a:p>
                      <a:pPr algn="l"/>
                      <a:r>
                        <a:rPr sz="1000" b="0">
                          <a:solidFill>
                            <a:srgbClr val="202020"/>
                          </a:solidFill>
                        </a:rPr>
                        <a:t>Intermediate Fusion</a:t>
                      </a:r>
                    </a:p>
                  </a:txBody>
                  <a:tcPr>
                    <a:solidFill>
                      <a:srgbClr val="FFFFFF"/>
                    </a:solidFill>
                  </a:tcPr>
                </a:tc>
                <a:tc>
                  <a:txBody>
                    <a:bodyPr/>
                    <a:lstStyle/>
                    <a:p>
                      <a:pPr algn="ctr"/>
                      <a:r>
                        <a:rPr sz="1000" b="0">
                          <a:solidFill>
                            <a:srgbClr val="202020"/>
                          </a:solidFill>
                        </a:rPr>
                        <a:t>CNN scratch + FCNN (feature-level)</a:t>
                      </a:r>
                    </a:p>
                  </a:txBody>
                  <a:tcPr>
                    <a:solidFill>
                      <a:srgbClr val="FFFFFF"/>
                    </a:solidFill>
                  </a:tcPr>
                </a:tc>
                <a:tc>
                  <a:txBody>
                    <a:bodyPr/>
                    <a:lstStyle/>
                    <a:p>
                      <a:pPr algn="ctr"/>
                      <a:r>
                        <a:rPr sz="1000" b="0">
                          <a:solidFill>
                            <a:srgbClr val="202020"/>
                          </a:solidFill>
                        </a:rPr>
                        <a:t>ResNet18 + FCNN (feature-level)</a:t>
                      </a:r>
                    </a:p>
                  </a:txBody>
                  <a:tcPr>
                    <a:solidFill>
                      <a:srgbClr val="FFFFFF"/>
                    </a:solidFill>
                  </a:tcPr>
                </a:tc>
                <a:tc>
                  <a:txBody>
                    <a:bodyPr/>
                    <a:lstStyle/>
                    <a:p>
                      <a:pPr algn="ctr"/>
                      <a:r>
                        <a:rPr sz="1000" b="0">
                          <a:solidFill>
                            <a:srgbClr val="202020"/>
                          </a:solidFill>
                        </a:rPr>
                        <a:t/>
                      </a:r>
                    </a:p>
                  </a:txBody>
                  <a:tcPr>
                    <a:solidFill>
                      <a:srgbClr val="FFFFFF"/>
                    </a:solidFill>
                  </a:tcPr>
                </a:tc>
              </a:tr>
              <a:tr h="381000">
                <a:tc>
                  <a:txBody>
                    <a:bodyPr/>
                    <a:lstStyle/>
                    <a:p>
                      <a:pPr algn="l"/>
                      <a:r>
                        <a:rPr sz="1000" b="0">
                          <a:solidFill>
                            <a:srgbClr val="202020"/>
                          </a:solidFill>
                        </a:rPr>
                        <a:t>Learning Rate</a:t>
                      </a:r>
                    </a:p>
                  </a:txBody>
                  <a:tcPr>
                    <a:solidFill>
                      <a:srgbClr val="E8F0FE"/>
                    </a:solidFill>
                  </a:tcPr>
                </a:tc>
                <a:tc>
                  <a:txBody>
                    <a:bodyPr/>
                    <a:lstStyle/>
                    <a:p>
                      <a:pPr algn="ctr"/>
                      <a:r>
                        <a:rPr sz="1000" b="0">
                          <a:solidFill>
                            <a:srgbClr val="202020"/>
                          </a:solidFill>
                        </a:rPr>
                        <a:t>0.0001</a:t>
                      </a:r>
                    </a:p>
                  </a:txBody>
                  <a:tcPr>
                    <a:solidFill>
                      <a:srgbClr val="E8F0FE"/>
                    </a:solidFill>
                  </a:tcPr>
                </a:tc>
                <a:tc>
                  <a:txBody>
                    <a:bodyPr/>
                    <a:lstStyle/>
                    <a:p>
                      <a:pPr algn="ctr"/>
                      <a:r>
                        <a:rPr sz="1000" b="0">
                          <a:solidFill>
                            <a:srgbClr val="202020"/>
                          </a:solidFill>
                        </a:rPr>
                        <a:t>0.00005</a:t>
                      </a:r>
                    </a:p>
                  </a:txBody>
                  <a:tcPr>
                    <a:solidFill>
                      <a:srgbClr val="E8F0FE"/>
                    </a:solidFill>
                  </a:tcPr>
                </a:tc>
                <a:tc>
                  <a:txBody>
                    <a:bodyPr/>
                    <a:lstStyle/>
                    <a:p>
                      <a:pPr algn="ctr"/>
                      <a:r>
                        <a:rPr sz="1000" b="0">
                          <a:solidFill>
                            <a:srgbClr val="202020"/>
                          </a:solidFill>
                        </a:rPr>
                        <a:t>Lebih kecil untuk fine-tuning</a:t>
                      </a:r>
                    </a:p>
                  </a:txBody>
                  <a:tcPr>
                    <a:solidFill>
                      <a:srgbClr val="E8F0FE"/>
                    </a:solidFill>
                  </a:tcPr>
                </a:tc>
              </a:tr>
            </a:tbl>
          </a:graphicData>
        </a:graphic>
      </p:graphicFrame>
      <p:sp>
        <p:nvSpPr>
          <p:cNvPr id="4" name="TextBox 3"/>
          <p:cNvSpPr txBox="1"/>
          <p:nvPr/>
        </p:nvSpPr>
        <p:spPr>
          <a:xfrm>
            <a:off x="365760" y="3337560"/>
            <a:ext cx="8412480" cy="365760"/>
          </a:xfrm>
          <a:prstGeom prst="rect">
            <a:avLst/>
          </a:prstGeom>
          <a:noFill/>
        </p:spPr>
        <p:txBody>
          <a:bodyPr wrap="none">
            <a:spAutoFit/>
          </a:bodyPr>
          <a:lstStyle/>
          <a:p>
            <a:pPr>
              <a:defRPr sz="1100">
                <a:solidFill>
                  <a:srgbClr val="202020"/>
                </a:solidFill>
              </a:defRPr>
            </a:pPr>
            <a:r>
              <a:t>4 model × 3 skenario × 2 konfigurasi kelas (7-class + 4-class) = 24 eksperimen tambahan</a:t>
            </a:r>
          </a:p>
          <a:p>
            <a:r>
              <a:t>Total keseluruhan: 12 + 12 + 24 = 48 eksperimen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Hasil Transfer Learning — ResNet18 Pretrained ImageNet</a:t>
            </a:r>
          </a:p>
        </p:txBody>
      </p:sp>
      <p:sp>
        <p:nvSpPr>
          <p:cNvPr id="3" name="TextBox 2"/>
          <p:cNvSpPr txBox="1"/>
          <p:nvPr/>
        </p:nvSpPr>
        <p:spPr>
          <a:xfrm>
            <a:off x="457200" y="960120"/>
            <a:ext cx="8229600" cy="182880"/>
          </a:xfrm>
          <a:prstGeom prst="rect">
            <a:avLst/>
          </a:prstGeom>
          <a:noFill/>
        </p:spPr>
        <p:txBody>
          <a:bodyPr wrap="square">
            <a:spAutoFit/>
          </a:bodyPr>
          <a:lstStyle/>
          <a:p>
            <a:pPr>
              <a:defRPr sz="900">
                <a:solidFill>
                  <a:srgbClr val="202020"/>
                </a:solidFill>
              </a:defRPr>
            </a:pPr>
            <a:r>
              <a:t>Strategi: EmotionCNN (from scratch) → EmotionCNNTransfer (ResNet18)  |  Fine-tune LR: 0.00005</a:t>
            </a:r>
          </a:p>
        </p:txBody>
      </p:sp>
      <p:graphicFrame>
        <p:nvGraphicFramePr>
          <p:cNvPr id="4" name="Table 3"/>
          <p:cNvGraphicFramePr>
            <a:graphicFrameLocks noGrp="1"/>
          </p:cNvGraphicFramePr>
          <p:nvPr/>
        </p:nvGraphicFramePr>
        <p:xfrm>
          <a:off x="457200" y="1234440"/>
          <a:ext cx="8229600" cy="1828800"/>
        </p:xfrm>
        <a:graphic>
          <a:graphicData uri="http://schemas.openxmlformats.org/drawingml/2006/table">
            <a:tbl>
              <a:tblPr firstRow="1" bandRow="1">
                <a:tableStyleId>{5C22544A-7EE6-4342-B048-85BDC9FD1C3A}</a:tableStyleId>
              </a:tblPr>
              <a:tblGrid>
                <a:gridCol w="2057400"/>
                <a:gridCol w="1131570"/>
                <a:gridCol w="1028700"/>
                <a:gridCol w="720090"/>
                <a:gridCol w="1337310"/>
                <a:gridCol w="1028700"/>
                <a:gridCol w="925830"/>
              </a:tblGrid>
              <a:tr h="36576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7-Class Scratch</a:t>
                      </a:r>
                    </a:p>
                  </a:txBody>
                  <a:tcPr>
                    <a:solidFill>
                      <a:srgbClr val="1A73E8"/>
                    </a:solidFill>
                  </a:tcPr>
                </a:tc>
                <a:tc>
                  <a:txBody>
                    <a:bodyPr/>
                    <a:lstStyle/>
                    <a:p>
                      <a:pPr algn="ctr"/>
                      <a:r>
                        <a:rPr sz="900" b="1">
                          <a:solidFill>
                            <a:srgbClr val="FFFFFF"/>
                          </a:solidFill>
                        </a:rPr>
                        <a:t>7-Class TL</a:t>
                      </a:r>
                    </a:p>
                  </a:txBody>
                  <a:tcPr>
                    <a:solidFill>
                      <a:srgbClr val="1A73E8"/>
                    </a:solidFill>
                  </a:tcPr>
                </a:tc>
                <a:tc>
                  <a:txBody>
                    <a:bodyPr/>
                    <a:lstStyle/>
                    <a:p>
                      <a:pPr algn="ctr"/>
                      <a:r>
                        <a:rPr sz="900" b="1">
                          <a:solidFill>
                            <a:srgbClr val="FFFFFF"/>
                          </a:solidFill>
                        </a:rPr>
                        <a:t>Delta</a:t>
                      </a:r>
                    </a:p>
                  </a:txBody>
                  <a:tcPr>
                    <a:solidFill>
                      <a:srgbClr val="1A73E8"/>
                    </a:solidFill>
                  </a:tcPr>
                </a:tc>
                <a:tc>
                  <a:txBody>
                    <a:bodyPr/>
                    <a:lstStyle/>
                    <a:p>
                      <a:pPr algn="ctr"/>
                      <a:r>
                        <a:rPr sz="900" b="1">
                          <a:solidFill>
                            <a:srgbClr val="FFFFFF"/>
                          </a:solidFill>
                        </a:rPr>
                        <a:t>4-Class Scratch</a:t>
                      </a:r>
                    </a:p>
                  </a:txBody>
                  <a:tcPr>
                    <a:solidFill>
                      <a:srgbClr val="1A73E8"/>
                    </a:solidFill>
                  </a:tcPr>
                </a:tc>
                <a:tc>
                  <a:txBody>
                    <a:bodyPr/>
                    <a:lstStyle/>
                    <a:p>
                      <a:pPr algn="ctr"/>
                      <a:r>
                        <a:rPr sz="900" b="1">
                          <a:solidFill>
                            <a:srgbClr val="FFFFFF"/>
                          </a:solidFill>
                        </a:rPr>
                        <a:t>4-Class TL</a:t>
                      </a:r>
                    </a:p>
                  </a:txBody>
                  <a:tcPr>
                    <a:solidFill>
                      <a:srgbClr val="1A73E8"/>
                    </a:solidFill>
                  </a:tcPr>
                </a:tc>
                <a:tc>
                  <a:txBody>
                    <a:bodyPr/>
                    <a:lstStyle/>
                    <a:p>
                      <a:pPr algn="ctr"/>
                      <a:r>
                        <a:rPr sz="900" b="1">
                          <a:solidFill>
                            <a:srgbClr val="FFFFFF"/>
                          </a:solidFill>
                        </a:rPr>
                        <a:t>Delta</a:t>
                      </a:r>
                    </a:p>
                  </a:txBody>
                  <a:tcPr>
                    <a:solidFill>
                      <a:srgbClr val="1A73E8"/>
                    </a:solidFill>
                  </a:tcPr>
                </a:tc>
              </a:tr>
              <a:tr h="365760">
                <a:tc>
                  <a:txBody>
                    <a:bodyPr/>
                    <a:lstStyle/>
                    <a:p>
                      <a:pPr algn="l"/>
                      <a:r>
                        <a:rPr sz="900" b="0">
                          <a:solidFill>
                            <a:srgbClr val="202020"/>
                          </a:solidFill>
                        </a:rPr>
                        <a:t>CNN</a:t>
                      </a:r>
                    </a:p>
                  </a:txBody>
                  <a:tcPr>
                    <a:solidFill>
                      <a:srgbClr val="E8F0FE"/>
                    </a:solidFill>
                  </a:tcPr>
                </a:tc>
                <a:tc>
                  <a:txBody>
                    <a:bodyPr/>
                    <a:lstStyle/>
                    <a:p>
                      <a:pPr algn="ctr"/>
                      <a:r>
                        <a:rPr sz="900" b="0">
                          <a:solidFill>
                            <a:srgbClr val="202020"/>
                          </a:solidFill>
                        </a:rPr>
                        <a:t>0.134</a:t>
                      </a:r>
                    </a:p>
                  </a:txBody>
                  <a:tcPr>
                    <a:solidFill>
                      <a:srgbClr val="E8F0FE"/>
                    </a:solidFill>
                  </a:tcPr>
                </a:tc>
                <a:tc>
                  <a:txBody>
                    <a:bodyPr/>
                    <a:lstStyle/>
                    <a:p>
                      <a:pPr algn="ctr"/>
                      <a:r>
                        <a:rPr sz="900" b="0">
                          <a:solidFill>
                            <a:srgbClr val="202020"/>
                          </a:solidFill>
                        </a:rPr>
                        <a:t>0.177</a:t>
                      </a:r>
                    </a:p>
                  </a:txBody>
                  <a:tcPr>
                    <a:solidFill>
                      <a:srgbClr val="E8F0FE"/>
                    </a:solidFill>
                  </a:tcPr>
                </a:tc>
                <a:tc>
                  <a:txBody>
                    <a:bodyPr/>
                    <a:lstStyle/>
                    <a:p>
                      <a:pPr algn="ctr"/>
                      <a:r>
                        <a:rPr sz="900" b="0">
                          <a:solidFill>
                            <a:srgbClr val="202020"/>
                          </a:solidFill>
                        </a:rPr>
                        <a:t>+32%</a:t>
                      </a:r>
                    </a:p>
                  </a:txBody>
                  <a:tcPr>
                    <a:solidFill>
                      <a:srgbClr val="E8F0FE"/>
                    </a:solidFill>
                  </a:tcPr>
                </a:tc>
                <a:tc>
                  <a:txBody>
                    <a:bodyPr/>
                    <a:lstStyle/>
                    <a:p>
                      <a:pPr algn="ctr"/>
                      <a:r>
                        <a:rPr sz="900" b="0">
                          <a:solidFill>
                            <a:srgbClr val="202020"/>
                          </a:solidFill>
                        </a:rPr>
                        <a:t>0.296</a:t>
                      </a:r>
                    </a:p>
                  </a:txBody>
                  <a:tcPr>
                    <a:solidFill>
                      <a:srgbClr val="E8F0FE"/>
                    </a:solidFill>
                  </a:tcPr>
                </a:tc>
                <a:tc>
                  <a:txBody>
                    <a:bodyPr/>
                    <a:lstStyle/>
                    <a:p>
                      <a:pPr algn="ctr"/>
                      <a:r>
                        <a:rPr sz="900" b="0">
                          <a:solidFill>
                            <a:srgbClr val="202020"/>
                          </a:solidFill>
                        </a:rPr>
                        <a:t>0.407</a:t>
                      </a:r>
                    </a:p>
                  </a:txBody>
                  <a:tcPr>
                    <a:solidFill>
                      <a:srgbClr val="E8F0FE"/>
                    </a:solidFill>
                  </a:tcPr>
                </a:tc>
                <a:tc>
                  <a:txBody>
                    <a:bodyPr/>
                    <a:lstStyle/>
                    <a:p>
                      <a:pPr algn="ctr"/>
                      <a:r>
                        <a:rPr sz="900" b="0">
                          <a:solidFill>
                            <a:srgbClr val="202020"/>
                          </a:solidFill>
                        </a:rPr>
                        <a:t>+37%</a:t>
                      </a:r>
                    </a:p>
                  </a:txBody>
                  <a:tcPr>
                    <a:solidFill>
                      <a:srgbClr val="E8F0FE"/>
                    </a:solidFill>
                  </a:tcPr>
                </a:tc>
              </a:tr>
              <a:tr h="365760">
                <a:tc>
                  <a:txBody>
                    <a:bodyPr/>
                    <a:lstStyle/>
                    <a:p>
                      <a:pPr algn="l"/>
                      <a:r>
                        <a:rPr sz="900" b="0">
                          <a:solidFill>
                            <a:srgbClr val="202020"/>
                          </a:solidFill>
                        </a:rPr>
                        <a:t>FCNN</a:t>
                      </a:r>
                    </a:p>
                  </a:txBody>
                  <a:tcPr>
                    <a:solidFill>
                      <a:srgbClr val="FFFFFF"/>
                    </a:solidFill>
                  </a:tcPr>
                </a:tc>
                <a:tc>
                  <a:txBody>
                    <a:bodyPr/>
                    <a:lstStyle/>
                    <a:p>
                      <a:pPr algn="ctr"/>
                      <a:r>
                        <a:rPr sz="900" b="0">
                          <a:solidFill>
                            <a:srgbClr val="202020"/>
                          </a:solidFill>
                        </a:rPr>
                        <a:t>0.234</a:t>
                      </a:r>
                    </a:p>
                  </a:txBody>
                  <a:tcPr>
                    <a:solidFill>
                      <a:srgbClr val="FFFFFF"/>
                    </a:solidFill>
                  </a:tcPr>
                </a:tc>
                <a:tc>
                  <a:txBody>
                    <a:bodyPr/>
                    <a:lstStyle/>
                    <a:p>
                      <a:pPr algn="ctr"/>
                      <a:r>
                        <a:rPr sz="900" b="0">
                          <a:solidFill>
                            <a:srgbClr val="202020"/>
                          </a:solidFill>
                        </a:rPr>
                        <a:t>0.234</a:t>
                      </a:r>
                    </a:p>
                  </a:txBody>
                  <a:tcPr>
                    <a:solidFill>
                      <a:srgbClr val="FFFFFF"/>
                    </a:solidFill>
                  </a:tcPr>
                </a:tc>
                <a:tc>
                  <a:txBody>
                    <a:bodyPr/>
                    <a:lstStyle/>
                    <a:p>
                      <a:pPr algn="ctr"/>
                      <a:r>
                        <a:rPr sz="900" b="0">
                          <a:solidFill>
                            <a:srgbClr val="202020"/>
                          </a:solidFill>
                        </a:rPr>
                        <a:t>—</a:t>
                      </a:r>
                    </a:p>
                  </a:txBody>
                  <a:tcPr>
                    <a:solidFill>
                      <a:srgbClr val="FFFFFF"/>
                    </a:solidFill>
                  </a:tcPr>
                </a:tc>
                <a:tc>
                  <a:txBody>
                    <a:bodyPr/>
                    <a:lstStyle/>
                    <a:p>
                      <a:pPr algn="ctr"/>
                      <a:r>
                        <a:rPr sz="900" b="0">
                          <a:solidFill>
                            <a:srgbClr val="202020"/>
                          </a:solidFill>
                        </a:rPr>
                        <a:t>0.394</a:t>
                      </a:r>
                    </a:p>
                  </a:txBody>
                  <a:tcPr>
                    <a:solidFill>
                      <a:srgbClr val="FFFFFF"/>
                    </a:solidFill>
                  </a:tcPr>
                </a:tc>
                <a:tc>
                  <a:txBody>
                    <a:bodyPr/>
                    <a:lstStyle/>
                    <a:p>
                      <a:pPr algn="ctr"/>
                      <a:r>
                        <a:rPr sz="900" b="0">
                          <a:solidFill>
                            <a:srgbClr val="202020"/>
                          </a:solidFill>
                        </a:rPr>
                        <a:t>0.394</a:t>
                      </a:r>
                    </a:p>
                  </a:txBody>
                  <a:tcPr>
                    <a:solidFill>
                      <a:srgbClr val="FFFFFF"/>
                    </a:solidFill>
                  </a:tcPr>
                </a:tc>
                <a:tc>
                  <a:txBody>
                    <a:bodyPr/>
                    <a:lstStyle/>
                    <a:p>
                      <a:pPr algn="ctr"/>
                      <a:r>
                        <a:rPr sz="900" b="0">
                          <a:solidFill>
                            <a:srgbClr val="202020"/>
                          </a:solidFill>
                        </a:rPr>
                        <a:t>—</a:t>
                      </a:r>
                    </a:p>
                  </a:txBody>
                  <a:tcPr>
                    <a:solidFill>
                      <a:srgbClr val="FFFFFF"/>
                    </a:solidFill>
                  </a:tcPr>
                </a:tc>
              </a:tr>
              <a:tr h="365760">
                <a:tc>
                  <a:txBody>
                    <a:bodyPr/>
                    <a:lstStyle/>
                    <a:p>
                      <a:pPr algn="l"/>
                      <a:r>
                        <a:rPr sz="900" b="1">
                          <a:solidFill>
                            <a:srgbClr val="FFFFFF"/>
                          </a:solidFill>
                        </a:rPr>
                        <a:t>Late Fusion</a:t>
                      </a:r>
                    </a:p>
                  </a:txBody>
                  <a:tcPr>
                    <a:solidFill>
                      <a:srgbClr val="34A853"/>
                    </a:solidFill>
                  </a:tcPr>
                </a:tc>
                <a:tc>
                  <a:txBody>
                    <a:bodyPr/>
                    <a:lstStyle/>
                    <a:p>
                      <a:pPr algn="ctr"/>
                      <a:r>
                        <a:rPr sz="900" b="1">
                          <a:solidFill>
                            <a:srgbClr val="FFFFFF"/>
                          </a:solidFill>
                        </a:rPr>
                        <a:t>0.230</a:t>
                      </a:r>
                    </a:p>
                  </a:txBody>
                  <a:tcPr>
                    <a:solidFill>
                      <a:srgbClr val="34A853"/>
                    </a:solidFill>
                  </a:tcPr>
                </a:tc>
                <a:tc>
                  <a:txBody>
                    <a:bodyPr/>
                    <a:lstStyle/>
                    <a:p>
                      <a:pPr algn="ctr"/>
                      <a:r>
                        <a:rPr sz="900" b="1">
                          <a:solidFill>
                            <a:srgbClr val="FFFFFF"/>
                          </a:solidFill>
                        </a:rPr>
                        <a:t>0.234</a:t>
                      </a:r>
                    </a:p>
                  </a:txBody>
                  <a:tcPr>
                    <a:solidFill>
                      <a:srgbClr val="34A853"/>
                    </a:solidFill>
                  </a:tcPr>
                </a:tc>
                <a:tc>
                  <a:txBody>
                    <a:bodyPr/>
                    <a:lstStyle/>
                    <a:p>
                      <a:pPr algn="ctr"/>
                      <a:r>
                        <a:rPr sz="900" b="1">
                          <a:solidFill>
                            <a:srgbClr val="FFFFFF"/>
                          </a:solidFill>
                        </a:rPr>
                        <a:t>+2%</a:t>
                      </a:r>
                    </a:p>
                  </a:txBody>
                  <a:tcPr>
                    <a:solidFill>
                      <a:srgbClr val="34A853"/>
                    </a:solidFill>
                  </a:tcPr>
                </a:tc>
                <a:tc>
                  <a:txBody>
                    <a:bodyPr/>
                    <a:lstStyle/>
                    <a:p>
                      <a:pPr algn="ctr"/>
                      <a:r>
                        <a:rPr sz="900" b="1">
                          <a:solidFill>
                            <a:srgbClr val="FFFFFF"/>
                          </a:solidFill>
                        </a:rPr>
                        <a:t>0.385</a:t>
                      </a:r>
                    </a:p>
                  </a:txBody>
                  <a:tcPr>
                    <a:solidFill>
                      <a:srgbClr val="34A853"/>
                    </a:solidFill>
                  </a:tcPr>
                </a:tc>
                <a:tc>
                  <a:txBody>
                    <a:bodyPr/>
                    <a:lstStyle/>
                    <a:p>
                      <a:pPr algn="ctr"/>
                      <a:r>
                        <a:rPr sz="900" b="1">
                          <a:solidFill>
                            <a:srgbClr val="FFFFFF"/>
                          </a:solidFill>
                        </a:rPr>
                        <a:t>0.442</a:t>
                      </a:r>
                    </a:p>
                  </a:txBody>
                  <a:tcPr>
                    <a:solidFill>
                      <a:srgbClr val="34A853"/>
                    </a:solidFill>
                  </a:tcPr>
                </a:tc>
                <a:tc>
                  <a:txBody>
                    <a:bodyPr/>
                    <a:lstStyle/>
                    <a:p>
                      <a:pPr algn="ctr"/>
                      <a:r>
                        <a:rPr sz="900" b="1">
                          <a:solidFill>
                            <a:srgbClr val="FFFFFF"/>
                          </a:solidFill>
                        </a:rPr>
                        <a:t>+15%</a:t>
                      </a:r>
                    </a:p>
                  </a:txBody>
                  <a:tcPr>
                    <a:solidFill>
                      <a:srgbClr val="34A853"/>
                    </a:solidFill>
                  </a:tcPr>
                </a:tc>
              </a:tr>
              <a:tr h="365760">
                <a:tc>
                  <a:txBody>
                    <a:bodyPr/>
                    <a:lstStyle/>
                    <a:p>
                      <a:pPr algn="l"/>
                      <a:r>
                        <a:rPr sz="900" b="0">
                          <a:solidFill>
                            <a:srgbClr val="202020"/>
                          </a:solidFill>
                        </a:rPr>
                        <a:t>Intermediate Fusion</a:t>
                      </a:r>
                    </a:p>
                  </a:txBody>
                  <a:tcPr>
                    <a:solidFill>
                      <a:srgbClr val="FFFFFF"/>
                    </a:solidFill>
                  </a:tcPr>
                </a:tc>
                <a:tc>
                  <a:txBody>
                    <a:bodyPr/>
                    <a:lstStyle/>
                    <a:p>
                      <a:pPr algn="ctr"/>
                      <a:r>
                        <a:rPr sz="900" b="0">
                          <a:solidFill>
                            <a:srgbClr val="202020"/>
                          </a:solidFill>
                        </a:rPr>
                        <a:t>0.140</a:t>
                      </a:r>
                    </a:p>
                  </a:txBody>
                  <a:tcPr>
                    <a:solidFill>
                      <a:srgbClr val="FFFFFF"/>
                    </a:solidFill>
                  </a:tcPr>
                </a:tc>
                <a:tc>
                  <a:txBody>
                    <a:bodyPr/>
                    <a:lstStyle/>
                    <a:p>
                      <a:pPr algn="ctr"/>
                      <a:r>
                        <a:rPr sz="900" b="0">
                          <a:solidFill>
                            <a:srgbClr val="202020"/>
                          </a:solidFill>
                        </a:rPr>
                        <a:t>0.232</a:t>
                      </a:r>
                    </a:p>
                  </a:txBody>
                  <a:tcPr>
                    <a:solidFill>
                      <a:srgbClr val="FFFFFF"/>
                    </a:solidFill>
                  </a:tcPr>
                </a:tc>
                <a:tc>
                  <a:txBody>
                    <a:bodyPr/>
                    <a:lstStyle/>
                    <a:p>
                      <a:pPr algn="ctr"/>
                      <a:r>
                        <a:rPr sz="900" b="0">
                          <a:solidFill>
                            <a:srgbClr val="202020"/>
                          </a:solidFill>
                        </a:rPr>
                        <a:t>+66%</a:t>
                      </a:r>
                    </a:p>
                  </a:txBody>
                  <a:tcPr>
                    <a:solidFill>
                      <a:srgbClr val="FFFFFF"/>
                    </a:solidFill>
                  </a:tcPr>
                </a:tc>
                <a:tc>
                  <a:txBody>
                    <a:bodyPr/>
                    <a:lstStyle/>
                    <a:p>
                      <a:pPr algn="ctr"/>
                      <a:r>
                        <a:rPr sz="900" b="0">
                          <a:solidFill>
                            <a:srgbClr val="202020"/>
                          </a:solidFill>
                        </a:rPr>
                        <a:t>0.258</a:t>
                      </a:r>
                    </a:p>
                  </a:txBody>
                  <a:tcPr>
                    <a:solidFill>
                      <a:srgbClr val="FFFFFF"/>
                    </a:solidFill>
                  </a:tcPr>
                </a:tc>
                <a:tc>
                  <a:txBody>
                    <a:bodyPr/>
                    <a:lstStyle/>
                    <a:p>
                      <a:pPr algn="ctr"/>
                      <a:r>
                        <a:rPr sz="900" b="0">
                          <a:solidFill>
                            <a:srgbClr val="202020"/>
                          </a:solidFill>
                        </a:rPr>
                        <a:t>0.376</a:t>
                      </a:r>
                    </a:p>
                  </a:txBody>
                  <a:tcPr>
                    <a:solidFill>
                      <a:srgbClr val="FFFFFF"/>
                    </a:solidFill>
                  </a:tcPr>
                </a:tc>
                <a:tc>
                  <a:txBody>
                    <a:bodyPr/>
                    <a:lstStyle/>
                    <a:p>
                      <a:pPr algn="ctr"/>
                      <a:r>
                        <a:rPr sz="900" b="0">
                          <a:solidFill>
                            <a:srgbClr val="202020"/>
                          </a:solidFill>
                        </a:rPr>
                        <a:t>+46%</a:t>
                      </a:r>
                    </a:p>
                  </a:txBody>
                  <a:tcPr>
                    <a:solidFill>
                      <a:srgbClr val="FFFFFF"/>
                    </a:solidFill>
                  </a:tcPr>
                </a:tc>
              </a:tr>
            </a:tbl>
          </a:graphicData>
        </a:graphic>
      </p:graphicFrame>
      <p:sp>
        <p:nvSpPr>
          <p:cNvPr id="5" name="TextBox 4"/>
          <p:cNvSpPr txBox="1"/>
          <p:nvPr/>
        </p:nvSpPr>
        <p:spPr>
          <a:xfrm>
            <a:off x="457200" y="3200400"/>
            <a:ext cx="8229600" cy="1645920"/>
          </a:xfrm>
          <a:prstGeom prst="rect">
            <a:avLst/>
          </a:prstGeom>
          <a:noFill/>
        </p:spPr>
        <p:txBody>
          <a:bodyPr wrap="square">
            <a:spAutoFit/>
          </a:bodyPr>
          <a:lstStyle/>
          <a:p>
            <a:pPr>
              <a:defRPr sz="1000">
                <a:solidFill>
                  <a:srgbClr val="202020"/>
                </a:solidFill>
              </a:defRPr>
            </a:pPr>
            <a:r>
              <a:t>BEST OVERALL: Late Fusion TL 4-class B2 — Macro F1: 0.442</a:t>
            </a:r>
          </a:p>
          <a:p>
            <a:pPr>
              <a:defRPr sz="1000">
                <a:solidFill>
                  <a:srgbClr val="202020"/>
                </a:solidFill>
              </a:defRPr>
            </a:pPr>
          </a:p>
          <a:p>
            <a:pPr>
              <a:defRPr sz="1000">
                <a:solidFill>
                  <a:srgbClr val="202020"/>
                </a:solidFill>
              </a:defRPr>
            </a:pPr>
            <a:r>
              <a:t>Temuan 8: ResNet18 pretrained (ImageNet) meningkatkan CNN secara signifikan (+37% di 4-class)</a:t>
            </a:r>
          </a:p>
          <a:p>
            <a:pPr>
              <a:defRPr sz="1000">
                <a:solidFill>
                  <a:srgbClr val="202020"/>
                </a:solidFill>
              </a:defRPr>
            </a:pPr>
            <a:r>
              <a:t>Temuan 9: FCNN tidak terpengaruh TL — landmark adalah data numerik, tidak butuh pretrained</a:t>
            </a:r>
          </a:p>
          <a:p>
            <a:pPr>
              <a:defRPr sz="1000">
                <a:solidFill>
                  <a:srgbClr val="202020"/>
                </a:solidFill>
              </a:defRPr>
            </a:pPr>
            <a:r>
              <a:t>Temuan 10: Dengan TL, Late Fusion akhirnya menjadi model terbaik (CNN TL tidak lagi noisy)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Visualisasi Final — Perbandingan 48 Kombinasi</a:t>
            </a:r>
          </a:p>
        </p:txBody>
      </p:sp>
      <p:pic>
        <p:nvPicPr>
          <p:cNvPr id="3" name="Picture 2" descr="final_comparison_bar.png"/>
          <p:cNvPicPr>
            <a:picLocks noChangeAspect="1"/>
          </p:cNvPicPr>
          <p:nvPr/>
        </p:nvPicPr>
        <p:blipFill>
          <a:blip r:embed="rId2"/>
          <a:stretch>
            <a:fillRect/>
          </a:stretch>
        </p:blipFill>
        <p:spPr>
          <a:xfrm>
            <a:off x="185457" y="1005840"/>
            <a:ext cx="8773086"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Bar chart: Macro F1 semua kombinasi (from scratch vs transfer learning, 7-class vs 4-class)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Heatmap Final — Semua Eksperimen</a:t>
            </a:r>
          </a:p>
        </p:txBody>
      </p:sp>
      <p:pic>
        <p:nvPicPr>
          <p:cNvPr id="3" name="Picture 2" descr="final_comparison_heatmap.png"/>
          <p:cNvPicPr>
            <a:picLocks noChangeAspect="1"/>
          </p:cNvPicPr>
          <p:nvPr/>
        </p:nvPicPr>
        <p:blipFill>
          <a:blip r:embed="rId2"/>
          <a:stretch>
            <a:fillRect/>
          </a:stretch>
        </p:blipFill>
        <p:spPr>
          <a:xfrm>
            <a:off x="916820" y="1005840"/>
            <a:ext cx="7310359" cy="3840480"/>
          </a:xfrm>
          <a:prstGeom prst="rect">
            <a:avLst/>
          </a:prstGeom>
        </p:spPr>
      </p:pic>
      <p:sp>
        <p:nvSpPr>
          <p:cNvPr id="4" name="TextBox 3"/>
          <p:cNvSpPr txBox="1"/>
          <p:nvPr/>
        </p:nvSpPr>
        <p:spPr>
          <a:xfrm>
            <a:off x="457200" y="4663440"/>
            <a:ext cx="8229600" cy="365760"/>
          </a:xfrm>
          <a:prstGeom prst="rect">
            <a:avLst/>
          </a:prstGeom>
          <a:noFill/>
        </p:spPr>
        <p:txBody>
          <a:bodyPr wrap="none">
            <a:spAutoFit/>
          </a:bodyPr>
          <a:lstStyle/>
          <a:p>
            <a:pPr algn="ctr">
              <a:defRPr sz="900">
                <a:solidFill>
                  <a:srgbClr val="666666"/>
                </a:solidFill>
              </a:defRPr>
            </a:pPr>
            <a:r>
              <a:t>Heatmap Macro F1: seluruh 48 kombinasi eksperimen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Perbandingan Lengkap — 48 Kombinasi Eksperimen</a:t>
            </a:r>
          </a:p>
        </p:txBody>
      </p:sp>
      <p:graphicFrame>
        <p:nvGraphicFramePr>
          <p:cNvPr id="3" name="Table 2"/>
          <p:cNvGraphicFramePr>
            <a:graphicFrameLocks noGrp="1"/>
          </p:cNvGraphicFramePr>
          <p:nvPr/>
        </p:nvGraphicFramePr>
        <p:xfrm>
          <a:off x="457200" y="1097280"/>
          <a:ext cx="8229600" cy="1371600"/>
        </p:xfrm>
        <a:graphic>
          <a:graphicData uri="http://schemas.openxmlformats.org/drawingml/2006/table">
            <a:tbl>
              <a:tblPr firstRow="1" bandRow="1">
                <a:tableStyleId>{5C22544A-7EE6-4342-B048-85BDC9FD1C3A}</a:tableStyleId>
              </a:tblPr>
              <a:tblGrid>
                <a:gridCol w="914400"/>
                <a:gridCol w="1828800"/>
                <a:gridCol w="2286000"/>
                <a:gridCol w="1097280"/>
                <a:gridCol w="2103120"/>
              </a:tblGrid>
              <a:tr h="342900">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Konfigurasi</a:t>
                      </a:r>
                    </a:p>
                  </a:txBody>
                  <a:tcPr>
                    <a:solidFill>
                      <a:srgbClr val="1A73E8"/>
                    </a:solidFill>
                  </a:tcPr>
                </a:tc>
                <a:tc>
                  <a:txBody>
                    <a:bodyPr/>
                    <a:lstStyle/>
                    <a:p>
                      <a:pPr algn="ctr"/>
                      <a:r>
                        <a:rPr sz="1000" b="1">
                          <a:solidFill>
                            <a:srgbClr val="FFFFFF"/>
                          </a:solidFill>
                        </a:rPr>
                        <a:t>Model Terbaik</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Catatan</a:t>
                      </a:r>
                    </a:p>
                  </a:txBody>
                  <a:tcPr>
                    <a:solidFill>
                      <a:srgbClr val="1A73E8"/>
                    </a:solidFill>
                  </a:tcPr>
                </a:tc>
              </a:tr>
              <a:tr h="342900">
                <a:tc>
                  <a:txBody>
                    <a:bodyPr/>
                    <a:lstStyle/>
                    <a:p>
                      <a:pPr algn="l"/>
                      <a:r>
                        <a:rPr sz="1000" b="0">
                          <a:solidFill>
                            <a:srgbClr val="202020"/>
                          </a:solidFill>
                        </a:rPr>
                        <a:t>Tahap 1</a:t>
                      </a:r>
                    </a:p>
                  </a:txBody>
                  <a:tcPr>
                    <a:solidFill>
                      <a:srgbClr val="E8F0FE"/>
                    </a:solidFill>
                  </a:tcPr>
                </a:tc>
                <a:tc>
                  <a:txBody>
                    <a:bodyPr/>
                    <a:lstStyle/>
                    <a:p>
                      <a:pPr algn="ctr"/>
                      <a:r>
                        <a:rPr sz="1000" b="0">
                          <a:solidFill>
                            <a:srgbClr val="202020"/>
                          </a:solidFill>
                        </a:rPr>
                        <a:t>7-class, From Scratch</a:t>
                      </a:r>
                    </a:p>
                  </a:txBody>
                  <a:tcPr>
                    <a:solidFill>
                      <a:srgbClr val="E8F0FE"/>
                    </a:solidFill>
                  </a:tcPr>
                </a:tc>
                <a:tc>
                  <a:txBody>
                    <a:bodyPr/>
                    <a:lstStyle/>
                    <a:p>
                      <a:pPr algn="ctr"/>
                      <a:r>
                        <a:rPr sz="1000" b="0">
                          <a:solidFill>
                            <a:srgbClr val="202020"/>
                          </a:solidFill>
                        </a:rPr>
                        <a:t>FCNN B1 Baseline</a:t>
                      </a:r>
                    </a:p>
                  </a:txBody>
                  <a:tcPr>
                    <a:solidFill>
                      <a:srgbClr val="E8F0FE"/>
                    </a:solidFill>
                  </a:tcPr>
                </a:tc>
                <a:tc>
                  <a:txBody>
                    <a:bodyPr/>
                    <a:lstStyle/>
                    <a:p>
                      <a:pPr algn="ctr"/>
                      <a:r>
                        <a:rPr sz="1000" b="0">
                          <a:solidFill>
                            <a:srgbClr val="202020"/>
                          </a:solidFill>
                        </a:rPr>
                        <a:t>0.234</a:t>
                      </a:r>
                    </a:p>
                  </a:txBody>
                  <a:tcPr>
                    <a:solidFill>
                      <a:srgbClr val="E8F0FE"/>
                    </a:solidFill>
                  </a:tcPr>
                </a:tc>
                <a:tc>
                  <a:txBody>
                    <a:bodyPr/>
                    <a:lstStyle/>
                    <a:p>
                      <a:pPr algn="ctr"/>
                      <a:r>
                        <a:rPr sz="1000" b="0">
                          <a:solidFill>
                            <a:srgbClr val="202020"/>
                          </a:solidFill>
                        </a:rPr>
                        <a:t>Baseline awal</a:t>
                      </a:r>
                    </a:p>
                  </a:txBody>
                  <a:tcPr>
                    <a:solidFill>
                      <a:srgbClr val="E8F0FE"/>
                    </a:solidFill>
                  </a:tcPr>
                </a:tc>
              </a:tr>
              <a:tr h="342900">
                <a:tc>
                  <a:txBody>
                    <a:bodyPr/>
                    <a:lstStyle/>
                    <a:p>
                      <a:pPr algn="l"/>
                      <a:r>
                        <a:rPr sz="1000" b="0">
                          <a:solidFill>
                            <a:srgbClr val="202020"/>
                          </a:solidFill>
                        </a:rPr>
                        <a:t>Tahap 2</a:t>
                      </a:r>
                    </a:p>
                  </a:txBody>
                  <a:tcPr>
                    <a:solidFill>
                      <a:srgbClr val="FFFFFF"/>
                    </a:solidFill>
                  </a:tcPr>
                </a:tc>
                <a:tc>
                  <a:txBody>
                    <a:bodyPr/>
                    <a:lstStyle/>
                    <a:p>
                      <a:pPr algn="ctr"/>
                      <a:r>
                        <a:rPr sz="1000" b="0">
                          <a:solidFill>
                            <a:srgbClr val="202020"/>
                          </a:solidFill>
                        </a:rPr>
                        <a:t>4-class, From Scratch</a:t>
                      </a:r>
                    </a:p>
                  </a:txBody>
                  <a:tcPr>
                    <a:solidFill>
                      <a:srgbClr val="FFFFFF"/>
                    </a:solidFill>
                  </a:tcPr>
                </a:tc>
                <a:tc>
                  <a:txBody>
                    <a:bodyPr/>
                    <a:lstStyle/>
                    <a:p>
                      <a:pPr algn="ctr"/>
                      <a:r>
                        <a:rPr sz="1000" b="0">
                          <a:solidFill>
                            <a:srgbClr val="202020"/>
                          </a:solidFill>
                        </a:rPr>
                        <a:t>FCNN B3 Aug</a:t>
                      </a:r>
                    </a:p>
                  </a:txBody>
                  <a:tcPr>
                    <a:solidFill>
                      <a:srgbClr val="FFFFFF"/>
                    </a:solidFill>
                  </a:tcPr>
                </a:tc>
                <a:tc>
                  <a:txBody>
                    <a:bodyPr/>
                    <a:lstStyle/>
                    <a:p>
                      <a:pPr algn="ctr"/>
                      <a:r>
                        <a:rPr sz="1000" b="0">
                          <a:solidFill>
                            <a:srgbClr val="202020"/>
                          </a:solidFill>
                        </a:rPr>
                        <a:t>0.394</a:t>
                      </a:r>
                    </a:p>
                  </a:txBody>
                  <a:tcPr>
                    <a:solidFill>
                      <a:srgbClr val="FFFFFF"/>
                    </a:solidFill>
                  </a:tcPr>
                </a:tc>
                <a:tc>
                  <a:txBody>
                    <a:bodyPr/>
                    <a:lstStyle/>
                    <a:p>
                      <a:pPr algn="ctr"/>
                      <a:r>
                        <a:rPr sz="1000" b="0">
                          <a:solidFill>
                            <a:srgbClr val="202020"/>
                          </a:solidFill>
                        </a:rPr>
                        <a:t>+68% dari Tahap 1</a:t>
                      </a:r>
                    </a:p>
                  </a:txBody>
                  <a:tcPr>
                    <a:solidFill>
                      <a:srgbClr val="FFFFFF"/>
                    </a:solidFill>
                  </a:tcPr>
                </a:tc>
              </a:tr>
              <a:tr h="342900">
                <a:tc>
                  <a:txBody>
                    <a:bodyPr/>
                    <a:lstStyle/>
                    <a:p>
                      <a:pPr algn="l"/>
                      <a:r>
                        <a:rPr sz="1000" b="1">
                          <a:solidFill>
                            <a:srgbClr val="FFFFFF"/>
                          </a:solidFill>
                        </a:rPr>
                        <a:t>Tahap 3</a:t>
                      </a:r>
                    </a:p>
                  </a:txBody>
                  <a:tcPr>
                    <a:solidFill>
                      <a:srgbClr val="34A853"/>
                    </a:solidFill>
                  </a:tcPr>
                </a:tc>
                <a:tc>
                  <a:txBody>
                    <a:bodyPr/>
                    <a:lstStyle/>
                    <a:p>
                      <a:pPr algn="ctr"/>
                      <a:r>
                        <a:rPr sz="1000" b="1">
                          <a:solidFill>
                            <a:srgbClr val="FFFFFF"/>
                          </a:solidFill>
                        </a:rPr>
                        <a:t>Transfer Learning</a:t>
                      </a:r>
                    </a:p>
                  </a:txBody>
                  <a:tcPr>
                    <a:solidFill>
                      <a:srgbClr val="34A853"/>
                    </a:solidFill>
                  </a:tcPr>
                </a:tc>
                <a:tc>
                  <a:txBody>
                    <a:bodyPr/>
                    <a:lstStyle/>
                    <a:p>
                      <a:pPr algn="ctr"/>
                      <a:r>
                        <a:rPr sz="1000" b="1">
                          <a:solidFill>
                            <a:srgbClr val="FFFFFF"/>
                          </a:solidFill>
                        </a:rPr>
                        <a:t>Late Fusion TL B2 4-class</a:t>
                      </a:r>
                    </a:p>
                  </a:txBody>
                  <a:tcPr>
                    <a:solidFill>
                      <a:srgbClr val="34A853"/>
                    </a:solidFill>
                  </a:tcPr>
                </a:tc>
                <a:tc>
                  <a:txBody>
                    <a:bodyPr/>
                    <a:lstStyle/>
                    <a:p>
                      <a:pPr algn="ctr"/>
                      <a:r>
                        <a:rPr sz="1000" b="1">
                          <a:solidFill>
                            <a:srgbClr val="FFFFFF"/>
                          </a:solidFill>
                        </a:rPr>
                        <a:t>0.442</a:t>
                      </a:r>
                    </a:p>
                  </a:txBody>
                  <a:tcPr>
                    <a:solidFill>
                      <a:srgbClr val="34A853"/>
                    </a:solidFill>
                  </a:tcPr>
                </a:tc>
                <a:tc>
                  <a:txBody>
                    <a:bodyPr/>
                    <a:lstStyle/>
                    <a:p>
                      <a:pPr algn="ctr"/>
                      <a:r>
                        <a:rPr sz="1000" b="1">
                          <a:solidFill>
                            <a:srgbClr val="FFFFFF"/>
                          </a:solidFill>
                        </a:rPr>
                        <a:t>+12% dari Tahap 2</a:t>
                      </a:r>
                    </a:p>
                  </a:txBody>
                  <a:tcPr>
                    <a:solidFill>
                      <a:srgbClr val="34A853"/>
                    </a:solidFill>
                  </a:tcPr>
                </a:tc>
              </a:tr>
            </a:tbl>
          </a:graphicData>
        </a:graphic>
      </p:graphicFrame>
      <p:graphicFrame>
        <p:nvGraphicFramePr>
          <p:cNvPr id="4" name="Table 3"/>
          <p:cNvGraphicFramePr>
            <a:graphicFrameLocks noGrp="1"/>
          </p:cNvGraphicFramePr>
          <p:nvPr/>
        </p:nvGraphicFramePr>
        <p:xfrm>
          <a:off x="457200" y="2651760"/>
          <a:ext cx="8229600" cy="2103120"/>
        </p:xfrm>
        <a:graphic>
          <a:graphicData uri="http://schemas.openxmlformats.org/drawingml/2006/table">
            <a:tbl>
              <a:tblPr firstRow="1" bandRow="1">
                <a:tableStyleId>{5C22544A-7EE6-4342-B048-85BDC9FD1C3A}</a:tableStyleId>
              </a:tblPr>
              <a:tblGrid>
                <a:gridCol w="514350"/>
                <a:gridCol w="1851660"/>
                <a:gridCol w="2263140"/>
                <a:gridCol w="1234440"/>
                <a:gridCol w="1234440"/>
                <a:gridCol w="1131570"/>
              </a:tblGrid>
              <a:tr h="350520">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CNN Variant</a:t>
                      </a:r>
                    </a:p>
                  </a:txBody>
                  <a:tcPr>
                    <a:solidFill>
                      <a:srgbClr val="1A73E8"/>
                    </a:solidFill>
                  </a:tcPr>
                </a:tc>
                <a:tc>
                  <a:txBody>
                    <a:bodyPr/>
                    <a:lstStyle/>
                    <a:p>
                      <a:pPr algn="ctr"/>
                      <a:r>
                        <a:rPr sz="1000" b="1">
                          <a:solidFill>
                            <a:srgbClr val="FFFFFF"/>
                          </a:solidFill>
                        </a:rPr>
                        <a:t>Kelas</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Macro F1</a:t>
                      </a:r>
                    </a:p>
                  </a:txBody>
                  <a:tcPr>
                    <a:solidFill>
                      <a:srgbClr val="1A73E8"/>
                    </a:solidFill>
                  </a:tcPr>
                </a:tc>
              </a:tr>
              <a:tr h="350520">
                <a:tc>
                  <a:txBody>
                    <a:bodyPr/>
                    <a:lstStyle/>
                    <a:p>
                      <a:pPr algn="l"/>
                      <a:r>
                        <a:rPr sz="900" b="1">
                          <a:solidFill>
                            <a:srgbClr val="FFFFFF"/>
                          </a:solidFill>
                        </a:rPr>
                        <a:t>1</a:t>
                      </a:r>
                    </a:p>
                  </a:txBody>
                  <a:tcPr>
                    <a:solidFill>
                      <a:srgbClr val="34A853"/>
                    </a:solidFill>
                  </a:tcPr>
                </a:tc>
                <a:tc>
                  <a:txBody>
                    <a:bodyPr/>
                    <a:lstStyle/>
                    <a:p>
                      <a:pPr algn="ctr"/>
                      <a:r>
                        <a:rPr sz="900" b="1">
                          <a:solidFill>
                            <a:srgbClr val="FFFFFF"/>
                          </a:solidFill>
                        </a:rPr>
                        <a:t>Late Fusion</a:t>
                      </a:r>
                    </a:p>
                  </a:txBody>
                  <a:tcPr>
                    <a:solidFill>
                      <a:srgbClr val="34A853"/>
                    </a:solidFill>
                  </a:tcPr>
                </a:tc>
                <a:tc>
                  <a:txBody>
                    <a:bodyPr/>
                    <a:lstStyle/>
                    <a:p>
                      <a:pPr algn="ctr"/>
                      <a:r>
                        <a:rPr sz="900" b="1">
                          <a:solidFill>
                            <a:srgbClr val="FFFFFF"/>
                          </a:solidFill>
                        </a:rPr>
                        <a:t>Transfer Learning</a:t>
                      </a:r>
                    </a:p>
                  </a:txBody>
                  <a:tcPr>
                    <a:solidFill>
                      <a:srgbClr val="34A853"/>
                    </a:solidFill>
                  </a:tcPr>
                </a:tc>
                <a:tc>
                  <a:txBody>
                    <a:bodyPr/>
                    <a:lstStyle/>
                    <a:p>
                      <a:pPr algn="ctr"/>
                      <a:r>
                        <a:rPr sz="900" b="1">
                          <a:solidFill>
                            <a:srgbClr val="FFFFFF"/>
                          </a:solidFill>
                        </a:rPr>
                        <a:t>4-class</a:t>
                      </a:r>
                    </a:p>
                  </a:txBody>
                  <a:tcPr>
                    <a:solidFill>
                      <a:srgbClr val="34A853"/>
                    </a:solidFill>
                  </a:tcPr>
                </a:tc>
                <a:tc>
                  <a:txBody>
                    <a:bodyPr/>
                    <a:lstStyle/>
                    <a:p>
                      <a:pPr algn="ctr"/>
                      <a:r>
                        <a:rPr sz="900" b="1">
                          <a:solidFill>
                            <a:srgbClr val="FFFFFF"/>
                          </a:solidFill>
                        </a:rPr>
                        <a:t>B2</a:t>
                      </a:r>
                    </a:p>
                  </a:txBody>
                  <a:tcPr>
                    <a:solidFill>
                      <a:srgbClr val="34A853"/>
                    </a:solidFill>
                  </a:tcPr>
                </a:tc>
                <a:tc>
                  <a:txBody>
                    <a:bodyPr/>
                    <a:lstStyle/>
                    <a:p>
                      <a:pPr algn="ctr"/>
                      <a:r>
                        <a:rPr sz="900" b="1">
                          <a:solidFill>
                            <a:srgbClr val="FFFFFF"/>
                          </a:solidFill>
                        </a:rPr>
                        <a:t>0.442</a:t>
                      </a:r>
                    </a:p>
                  </a:txBody>
                  <a:tcPr>
                    <a:solidFill>
                      <a:srgbClr val="34A853"/>
                    </a:solidFill>
                  </a:tcPr>
                </a:tc>
              </a:tr>
              <a:tr h="350520">
                <a:tc>
                  <a:txBody>
                    <a:bodyPr/>
                    <a:lstStyle/>
                    <a:p>
                      <a:pPr algn="l"/>
                      <a:r>
                        <a:rPr sz="900" b="0">
                          <a:solidFill>
                            <a:srgbClr val="202020"/>
                          </a:solidFill>
                        </a:rPr>
                        <a:t>2</a:t>
                      </a:r>
                    </a:p>
                  </a:txBody>
                  <a:tcPr>
                    <a:solidFill>
                      <a:srgbClr val="FFFFFF"/>
                    </a:solidFill>
                  </a:tcPr>
                </a:tc>
                <a:tc>
                  <a:txBody>
                    <a:bodyPr/>
                    <a:lstStyle/>
                    <a:p>
                      <a:pPr algn="ctr"/>
                      <a:r>
                        <a:rPr sz="900" b="0">
                          <a:solidFill>
                            <a:srgbClr val="202020"/>
                          </a:solidFill>
                        </a:rPr>
                        <a:t>CNN</a:t>
                      </a:r>
                    </a:p>
                  </a:txBody>
                  <a:tcPr>
                    <a:solidFill>
                      <a:srgbClr val="FFFFFF"/>
                    </a:solidFill>
                  </a:tcPr>
                </a:tc>
                <a:tc>
                  <a:txBody>
                    <a:bodyPr/>
                    <a:lstStyle/>
                    <a:p>
                      <a:pPr algn="ctr"/>
                      <a:r>
                        <a:rPr sz="900" b="0">
                          <a:solidFill>
                            <a:srgbClr val="202020"/>
                          </a:solidFill>
                        </a:rPr>
                        <a:t>Transfer Learning</a:t>
                      </a:r>
                    </a:p>
                  </a:txBody>
                  <a:tcPr>
                    <a:solidFill>
                      <a:srgbClr val="FFFFFF"/>
                    </a:solidFill>
                  </a:tcPr>
                </a:tc>
                <a:tc>
                  <a:txBody>
                    <a:bodyPr/>
                    <a:lstStyle/>
                    <a:p>
                      <a:pPr algn="ctr"/>
                      <a:r>
                        <a:rPr sz="900" b="0">
                          <a:solidFill>
                            <a:srgbClr val="202020"/>
                          </a:solidFill>
                        </a:rPr>
                        <a:t>4-class</a:t>
                      </a:r>
                    </a:p>
                  </a:txBody>
                  <a:tcPr>
                    <a:solidFill>
                      <a:srgbClr val="FFFFFF"/>
                    </a:solidFill>
                  </a:tcPr>
                </a:tc>
                <a:tc>
                  <a:txBody>
                    <a:bodyPr/>
                    <a:lstStyle/>
                    <a:p>
                      <a:pPr algn="ctr"/>
                      <a:r>
                        <a:rPr sz="900" b="0">
                          <a:solidFill>
                            <a:srgbClr val="202020"/>
                          </a:solidFill>
                        </a:rPr>
                        <a:t>B2</a:t>
                      </a:r>
                    </a:p>
                  </a:txBody>
                  <a:tcPr>
                    <a:solidFill>
                      <a:srgbClr val="FFFFFF"/>
                    </a:solidFill>
                  </a:tcPr>
                </a:tc>
                <a:tc>
                  <a:txBody>
                    <a:bodyPr/>
                    <a:lstStyle/>
                    <a:p>
                      <a:pPr algn="ctr"/>
                      <a:r>
                        <a:rPr sz="900" b="0">
                          <a:solidFill>
                            <a:srgbClr val="202020"/>
                          </a:solidFill>
                        </a:rPr>
                        <a:t>0.407</a:t>
                      </a:r>
                    </a:p>
                  </a:txBody>
                  <a:tcPr>
                    <a:solidFill>
                      <a:srgbClr val="FFFFFF"/>
                    </a:solidFill>
                  </a:tcPr>
                </a:tc>
              </a:tr>
              <a:tr h="350520">
                <a:tc>
                  <a:txBody>
                    <a:bodyPr/>
                    <a:lstStyle/>
                    <a:p>
                      <a:pPr algn="l"/>
                      <a:r>
                        <a:rPr sz="900" b="0">
                          <a:solidFill>
                            <a:srgbClr val="202020"/>
                          </a:solidFill>
                        </a:rPr>
                        <a:t>3</a:t>
                      </a:r>
                    </a:p>
                  </a:txBody>
                  <a:tcPr>
                    <a:solidFill>
                      <a:srgbClr val="E8F0FE"/>
                    </a:solidFill>
                  </a:tcPr>
                </a:tc>
                <a:tc>
                  <a:txBody>
                    <a:bodyPr/>
                    <a:lstStyle/>
                    <a:p>
                      <a:pPr algn="ctr"/>
                      <a:r>
                        <a:rPr sz="900" b="0">
                          <a:solidFill>
                            <a:srgbClr val="202020"/>
                          </a:solidFill>
                        </a:rPr>
                        <a:t>FCNN</a:t>
                      </a:r>
                    </a:p>
                  </a:txBody>
                  <a:tcPr>
                    <a:solidFill>
                      <a:srgbClr val="E8F0FE"/>
                    </a:solidFill>
                  </a:tcPr>
                </a:tc>
                <a:tc>
                  <a:txBody>
                    <a:bodyPr/>
                    <a:lstStyle/>
                    <a:p>
                      <a:pPr algn="ctr"/>
                      <a:r>
                        <a:rPr sz="900" b="0">
                          <a:solidFill>
                            <a:srgbClr val="202020"/>
                          </a:solidFill>
                        </a:rPr>
                        <a:t>Transfer Learning</a:t>
                      </a:r>
                    </a:p>
                  </a:txBody>
                  <a:tcPr>
                    <a:solidFill>
                      <a:srgbClr val="E8F0FE"/>
                    </a:solidFill>
                  </a:tcPr>
                </a:tc>
                <a:tc>
                  <a:txBody>
                    <a:bodyPr/>
                    <a:lstStyle/>
                    <a:p>
                      <a:pPr algn="ctr"/>
                      <a:r>
                        <a:rPr sz="900" b="0">
                          <a:solidFill>
                            <a:srgbClr val="202020"/>
                          </a:solidFill>
                        </a:rPr>
                        <a:t>4-class</a:t>
                      </a:r>
                    </a:p>
                  </a:txBody>
                  <a:tcPr>
                    <a:solidFill>
                      <a:srgbClr val="E8F0FE"/>
                    </a:solidFill>
                  </a:tcPr>
                </a:tc>
                <a:tc>
                  <a:txBody>
                    <a:bodyPr/>
                    <a:lstStyle/>
                    <a:p>
                      <a:pPr algn="ctr"/>
                      <a:r>
                        <a:rPr sz="900" b="0">
                          <a:solidFill>
                            <a:srgbClr val="202020"/>
                          </a:solidFill>
                        </a:rPr>
                        <a:t>B3</a:t>
                      </a:r>
                    </a:p>
                  </a:txBody>
                  <a:tcPr>
                    <a:solidFill>
                      <a:srgbClr val="E8F0FE"/>
                    </a:solidFill>
                  </a:tcPr>
                </a:tc>
                <a:tc>
                  <a:txBody>
                    <a:bodyPr/>
                    <a:lstStyle/>
                    <a:p>
                      <a:pPr algn="ctr"/>
                      <a:r>
                        <a:rPr sz="900" b="0">
                          <a:solidFill>
                            <a:srgbClr val="202020"/>
                          </a:solidFill>
                        </a:rPr>
                        <a:t>0.394</a:t>
                      </a:r>
                    </a:p>
                  </a:txBody>
                  <a:tcPr>
                    <a:solidFill>
                      <a:srgbClr val="E8F0FE"/>
                    </a:solidFill>
                  </a:tcPr>
                </a:tc>
              </a:tr>
              <a:tr h="350520">
                <a:tc>
                  <a:txBody>
                    <a:bodyPr/>
                    <a:lstStyle/>
                    <a:p>
                      <a:pPr algn="l"/>
                      <a:r>
                        <a:rPr sz="900" b="0">
                          <a:solidFill>
                            <a:srgbClr val="202020"/>
                          </a:solidFill>
                        </a:rPr>
                        <a:t>3</a:t>
                      </a:r>
                    </a:p>
                  </a:txBody>
                  <a:tcPr>
                    <a:solidFill>
                      <a:srgbClr val="FFFFFF"/>
                    </a:solidFill>
                  </a:tcPr>
                </a:tc>
                <a:tc>
                  <a:txBody>
                    <a:bodyPr/>
                    <a:lstStyle/>
                    <a:p>
                      <a:pPr algn="ctr"/>
                      <a:r>
                        <a:rPr sz="900" b="0">
                          <a:solidFill>
                            <a:srgbClr val="202020"/>
                          </a:solidFill>
                        </a:rPr>
                        <a:t>FCNN</a:t>
                      </a:r>
                    </a:p>
                  </a:txBody>
                  <a:tcPr>
                    <a:solidFill>
                      <a:srgbClr val="FFFFFF"/>
                    </a:solidFill>
                  </a:tcPr>
                </a:tc>
                <a:tc>
                  <a:txBody>
                    <a:bodyPr/>
                    <a:lstStyle/>
                    <a:p>
                      <a:pPr algn="ctr"/>
                      <a:r>
                        <a:rPr sz="900" b="0">
                          <a:solidFill>
                            <a:srgbClr val="202020"/>
                          </a:solidFill>
                        </a:rPr>
                        <a:t>From Scratch</a:t>
                      </a:r>
                    </a:p>
                  </a:txBody>
                  <a:tcPr>
                    <a:solidFill>
                      <a:srgbClr val="FFFFFF"/>
                    </a:solidFill>
                  </a:tcPr>
                </a:tc>
                <a:tc>
                  <a:txBody>
                    <a:bodyPr/>
                    <a:lstStyle/>
                    <a:p>
                      <a:pPr algn="ctr"/>
                      <a:r>
                        <a:rPr sz="900" b="0">
                          <a:solidFill>
                            <a:srgbClr val="202020"/>
                          </a:solidFill>
                        </a:rPr>
                        <a:t>4-class</a:t>
                      </a:r>
                    </a:p>
                  </a:txBody>
                  <a:tcPr>
                    <a:solidFill>
                      <a:srgbClr val="FFFFFF"/>
                    </a:solidFill>
                  </a:tcPr>
                </a:tc>
                <a:tc>
                  <a:txBody>
                    <a:bodyPr/>
                    <a:lstStyle/>
                    <a:p>
                      <a:pPr algn="ctr"/>
                      <a:r>
                        <a:rPr sz="900" b="0">
                          <a:solidFill>
                            <a:srgbClr val="202020"/>
                          </a:solidFill>
                        </a:rPr>
                        <a:t>B3</a:t>
                      </a:r>
                    </a:p>
                  </a:txBody>
                  <a:tcPr>
                    <a:solidFill>
                      <a:srgbClr val="FFFFFF"/>
                    </a:solidFill>
                  </a:tcPr>
                </a:tc>
                <a:tc>
                  <a:txBody>
                    <a:bodyPr/>
                    <a:lstStyle/>
                    <a:p>
                      <a:pPr algn="ctr"/>
                      <a:r>
                        <a:rPr sz="900" b="0">
                          <a:solidFill>
                            <a:srgbClr val="202020"/>
                          </a:solidFill>
                        </a:rPr>
                        <a:t>0.394</a:t>
                      </a:r>
                    </a:p>
                  </a:txBody>
                  <a:tcPr>
                    <a:solidFill>
                      <a:srgbClr val="FFFFFF"/>
                    </a:solidFill>
                  </a:tcPr>
                </a:tc>
              </a:tr>
              <a:tr h="350520">
                <a:tc>
                  <a:txBody>
                    <a:bodyPr/>
                    <a:lstStyle/>
                    <a:p>
                      <a:pPr algn="l"/>
                      <a:r>
                        <a:rPr sz="900" b="0">
                          <a:solidFill>
                            <a:srgbClr val="202020"/>
                          </a:solidFill>
                        </a:rPr>
                        <a:t>5</a:t>
                      </a:r>
                    </a:p>
                  </a:txBody>
                  <a:tcPr>
                    <a:solidFill>
                      <a:srgbClr val="E8F0FE"/>
                    </a:solidFill>
                  </a:tcPr>
                </a:tc>
                <a:tc>
                  <a:txBody>
                    <a:bodyPr/>
                    <a:lstStyle/>
                    <a:p>
                      <a:pPr algn="ctr"/>
                      <a:r>
                        <a:rPr sz="900" b="0">
                          <a:solidFill>
                            <a:srgbClr val="202020"/>
                          </a:solidFill>
                        </a:rPr>
                        <a:t>Late Fusion</a:t>
                      </a:r>
                    </a:p>
                  </a:txBody>
                  <a:tcPr>
                    <a:solidFill>
                      <a:srgbClr val="E8F0FE"/>
                    </a:solidFill>
                  </a:tcPr>
                </a:tc>
                <a:tc>
                  <a:txBody>
                    <a:bodyPr/>
                    <a:lstStyle/>
                    <a:p>
                      <a:pPr algn="ctr"/>
                      <a:r>
                        <a:rPr sz="900" b="0">
                          <a:solidFill>
                            <a:srgbClr val="202020"/>
                          </a:solidFill>
                        </a:rPr>
                        <a:t>From Scratch</a:t>
                      </a:r>
                    </a:p>
                  </a:txBody>
                  <a:tcPr>
                    <a:solidFill>
                      <a:srgbClr val="E8F0FE"/>
                    </a:solidFill>
                  </a:tcPr>
                </a:tc>
                <a:tc>
                  <a:txBody>
                    <a:bodyPr/>
                    <a:lstStyle/>
                    <a:p>
                      <a:pPr algn="ctr"/>
                      <a:r>
                        <a:rPr sz="900" b="0">
                          <a:solidFill>
                            <a:srgbClr val="202020"/>
                          </a:solidFill>
                        </a:rPr>
                        <a:t>4-class</a:t>
                      </a:r>
                    </a:p>
                  </a:txBody>
                  <a:tcPr>
                    <a:solidFill>
                      <a:srgbClr val="E8F0FE"/>
                    </a:solidFill>
                  </a:tcPr>
                </a:tc>
                <a:tc>
                  <a:txBody>
                    <a:bodyPr/>
                    <a:lstStyle/>
                    <a:p>
                      <a:pPr algn="ctr"/>
                      <a:r>
                        <a:rPr sz="900" b="0">
                          <a:solidFill>
                            <a:srgbClr val="202020"/>
                          </a:solidFill>
                        </a:rPr>
                        <a:t>B3</a:t>
                      </a:r>
                    </a:p>
                  </a:txBody>
                  <a:tcPr>
                    <a:solidFill>
                      <a:srgbClr val="E8F0FE"/>
                    </a:solidFill>
                  </a:tcPr>
                </a:tc>
                <a:tc>
                  <a:txBody>
                    <a:bodyPr/>
                    <a:lstStyle/>
                    <a:p>
                      <a:pPr algn="ctr"/>
                      <a:r>
                        <a:rPr sz="900" b="0">
                          <a:solidFill>
                            <a:srgbClr val="202020"/>
                          </a:solidFill>
                        </a:rPr>
                        <a:t>0.385</a:t>
                      </a:r>
                    </a:p>
                  </a:txBody>
                  <a:tcPr>
                    <a:solidFill>
                      <a:srgbClr val="E8F0FE"/>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Rancangan Eksperimen — Tahap 4: Front-Only</a:t>
            </a:r>
          </a:p>
        </p:txBody>
      </p:sp>
      <p:sp>
        <p:nvSpPr>
          <p:cNvPr id="3" name="TextBox 2"/>
          <p:cNvSpPr txBox="1"/>
          <p:nvPr/>
        </p:nvSpPr>
        <p:spPr>
          <a:xfrm>
            <a:off x="274320" y="777240"/>
            <a:ext cx="8595360" cy="1188720"/>
          </a:xfrm>
          <a:prstGeom prst="rect">
            <a:avLst/>
          </a:prstGeom>
          <a:solidFill>
            <a:srgbClr val="FFF0CC"/>
          </a:solidFill>
        </p:spPr>
        <p:txBody>
          <a:bodyPr wrap="square">
            <a:spAutoFit/>
          </a:bodyPr>
          <a:lstStyle/>
          <a:p>
            <a:pPr algn="l"/>
            <a:r>
              <a:rPr sz="1000" b="1" i="0">
                <a:solidFill>
                  <a:srgbClr val="202020"/>
                </a:solidFill>
              </a:rPr>
              <a:t>Motivasi:</a:t>
            </a:r>
          </a:p>
          <a:p>
            <a:pPr algn="l"/>
            <a:r>
              <a:rPr sz="950" b="0" i="0">
                <a:solidFill>
                  <a:srgbClr val="202020"/>
                </a:solidFill>
              </a:rPr>
              <a:t>-&gt; Batch 1 hanya memiliki sudut kamera depan (front)</a:t>
            </a:r>
          </a:p>
          <a:p>
            <a:pPr algn="l"/>
            <a:r>
              <a:rPr sz="950" b="0" i="0">
                <a:solidFill>
                  <a:srgbClr val="202020"/>
                </a:solidFill>
              </a:rPr>
              <a:t>-&gt; Batch 2 memiliki depan + samping (side)</a:t>
            </a:r>
          </a:p>
          <a:p>
            <a:pPr algn="l"/>
            <a:r>
              <a:rPr sz="950" b="0" i="0">
                <a:solidFill>
                  <a:srgbClr val="202020"/>
                </a:solidFill>
              </a:rPr>
              <a:t>-&gt; Inkonsistensi ini bisa bias hasil eksperimen</a:t>
            </a:r>
          </a:p>
          <a:p>
            <a:pPr algn="l"/>
            <a:r>
              <a:rPr sz="950" b="0" i="0">
                <a:solidFill>
                  <a:srgbClr val="202020"/>
                </a:solidFill>
              </a:rPr>
              <a:t>-&gt; Solusi: ulangi seluruh eksperimen dengan front-only</a:t>
            </a:r>
          </a:p>
        </p:txBody>
      </p:sp>
      <p:graphicFrame>
        <p:nvGraphicFramePr>
          <p:cNvPr id="4" name="Table 3"/>
          <p:cNvGraphicFramePr>
            <a:graphicFrameLocks noGrp="1"/>
          </p:cNvGraphicFramePr>
          <p:nvPr/>
        </p:nvGraphicFramePr>
        <p:xfrm>
          <a:off x="274320" y="2103120"/>
          <a:ext cx="8595360" cy="1554480"/>
        </p:xfrm>
        <a:graphic>
          <a:graphicData uri="http://schemas.openxmlformats.org/drawingml/2006/table">
            <a:tbl>
              <a:tblPr firstRow="1" bandRow="1"/>
              <a:tblGrid>
                <a:gridCol w="2286000"/>
                <a:gridCol w="3200400"/>
                <a:gridCol w="3108960"/>
              </a:tblGrid>
              <a:tr h="310896">
                <a:tc>
                  <a:txBody>
                    <a:bodyPr/>
                    <a:lstStyle/>
                    <a:p>
                      <a:pPr algn="ctr"/>
                      <a:r>
                        <a:rPr sz="1000" b="1">
                          <a:solidFill>
                            <a:srgbClr val="FFFFFF"/>
                          </a:solidFill>
                        </a:rPr>
                        <a:t/>
                      </a:r>
                    </a:p>
                  </a:txBody>
                  <a:tcPr>
                    <a:solidFill>
                      <a:srgbClr val="1A73E8"/>
                    </a:solidFill>
                  </a:tcPr>
                </a:tc>
                <a:tc>
                  <a:txBody>
                    <a:bodyPr/>
                    <a:lstStyle/>
                    <a:p>
                      <a:pPr algn="ctr"/>
                      <a:r>
                        <a:rPr sz="1000" b="1">
                          <a:solidFill>
                            <a:srgbClr val="FFFFFF"/>
                          </a:solidFill>
                        </a:rPr>
                        <a:t>Front+Side (sebelumnya)</a:t>
                      </a:r>
                    </a:p>
                  </a:txBody>
                  <a:tcPr>
                    <a:solidFill>
                      <a:srgbClr val="1A73E8"/>
                    </a:solidFill>
                  </a:tcPr>
                </a:tc>
                <a:tc>
                  <a:txBody>
                    <a:bodyPr/>
                    <a:lstStyle/>
                    <a:p>
                      <a:pPr algn="ctr"/>
                      <a:r>
                        <a:rPr sz="1000" b="1">
                          <a:solidFill>
                            <a:srgbClr val="FFFFFF"/>
                          </a:solidFill>
                        </a:rPr>
                        <a:t>Front-Only</a:t>
                      </a:r>
                    </a:p>
                  </a:txBody>
                  <a:tcPr>
                    <a:solidFill>
                      <a:srgbClr val="1A73E8"/>
                    </a:solidFill>
                  </a:tcPr>
                </a:tc>
              </a:tr>
              <a:tr h="310896">
                <a:tc>
                  <a:txBody>
                    <a:bodyPr/>
                    <a:lstStyle/>
                    <a:p>
                      <a:pPr algn="l"/>
                      <a:r>
                        <a:rPr sz="1000" b="1">
                          <a:solidFill>
                            <a:srgbClr val="202020"/>
                          </a:solidFill>
                        </a:rPr>
                        <a:t>Batch 1</a:t>
                      </a:r>
                    </a:p>
                  </a:txBody>
                  <a:tcPr>
                    <a:solidFill>
                      <a:srgbClr val="E8F0FE"/>
                    </a:solidFill>
                  </a:tcPr>
                </a:tc>
                <a:tc>
                  <a:txBody>
                    <a:bodyPr/>
                    <a:lstStyle/>
                    <a:p>
                      <a:pPr algn="l"/>
                      <a:r>
                        <a:rPr sz="1000" b="0">
                          <a:solidFill>
                            <a:srgbClr val="202020"/>
                          </a:solidFill>
                        </a:rPr>
                        <a:t>3,824 (front)</a:t>
                      </a:r>
                    </a:p>
                  </a:txBody>
                  <a:tcPr>
                    <a:solidFill>
                      <a:srgbClr val="E8F0FE"/>
                    </a:solidFill>
                  </a:tcPr>
                </a:tc>
                <a:tc>
                  <a:txBody>
                    <a:bodyPr/>
                    <a:lstStyle/>
                    <a:p>
                      <a:pPr algn="ctr"/>
                      <a:r>
                        <a:rPr sz="1000" b="0">
                          <a:solidFill>
                            <a:srgbClr val="202020"/>
                          </a:solidFill>
                        </a:rPr>
                        <a:t>3,824 (front)</a:t>
                      </a:r>
                    </a:p>
                  </a:txBody>
                  <a:tcPr>
                    <a:solidFill>
                      <a:srgbClr val="E8F0FE"/>
                    </a:solidFill>
                  </a:tcPr>
                </a:tc>
              </a:tr>
              <a:tr h="310896">
                <a:tc>
                  <a:txBody>
                    <a:bodyPr/>
                    <a:lstStyle/>
                    <a:p>
                      <a:pPr algn="l"/>
                      <a:r>
                        <a:rPr sz="1000" b="1">
                          <a:solidFill>
                            <a:srgbClr val="202020"/>
                          </a:solidFill>
                        </a:rPr>
                        <a:t>Batch 2</a:t>
                      </a:r>
                    </a:p>
                  </a:txBody>
                  <a:tcPr>
                    <a:solidFill>
                      <a:srgbClr val="FFFFFF"/>
                    </a:solidFill>
                  </a:tcPr>
                </a:tc>
                <a:tc>
                  <a:txBody>
                    <a:bodyPr/>
                    <a:lstStyle/>
                    <a:p>
                      <a:pPr algn="l"/>
                      <a:r>
                        <a:rPr sz="1000" b="0">
                          <a:solidFill>
                            <a:srgbClr val="202020"/>
                          </a:solidFill>
                        </a:rPr>
                        <a:t>~6,070 (front+side)</a:t>
                      </a:r>
                    </a:p>
                  </a:txBody>
                  <a:tcPr>
                    <a:solidFill>
                      <a:srgbClr val="FFFFFF"/>
                    </a:solidFill>
                  </a:tcPr>
                </a:tc>
                <a:tc>
                  <a:txBody>
                    <a:bodyPr/>
                    <a:lstStyle/>
                    <a:p>
                      <a:pPr algn="ctr"/>
                      <a:r>
                        <a:rPr sz="1000" b="0">
                          <a:solidFill>
                            <a:srgbClr val="202020"/>
                          </a:solidFill>
                        </a:rPr>
                        <a:t>~3,267 (front saja)</a:t>
                      </a:r>
                    </a:p>
                  </a:txBody>
                  <a:tcPr>
                    <a:solidFill>
                      <a:srgbClr val="FFFFFF"/>
                    </a:solidFill>
                  </a:tcPr>
                </a:tc>
              </a:tr>
              <a:tr h="310896">
                <a:tc>
                  <a:txBody>
                    <a:bodyPr/>
                    <a:lstStyle/>
                    <a:p>
                      <a:pPr algn="l"/>
                      <a:r>
                        <a:rPr sz="1000" b="1">
                          <a:solidFill>
                            <a:srgbClr val="202020"/>
                          </a:solidFill>
                        </a:rPr>
                        <a:t>Total</a:t>
                      </a:r>
                    </a:p>
                  </a:txBody>
                  <a:tcPr>
                    <a:solidFill>
                      <a:srgbClr val="E8F0FE"/>
                    </a:solidFill>
                  </a:tcPr>
                </a:tc>
                <a:tc>
                  <a:txBody>
                    <a:bodyPr/>
                    <a:lstStyle/>
                    <a:p>
                      <a:pPr algn="l"/>
                      <a:r>
                        <a:rPr sz="1000" b="0">
                          <a:solidFill>
                            <a:srgbClr val="202020"/>
                          </a:solidFill>
                        </a:rPr>
                        <a:t>9,894</a:t>
                      </a:r>
                    </a:p>
                  </a:txBody>
                  <a:tcPr>
                    <a:solidFill>
                      <a:srgbClr val="E8F0FE"/>
                    </a:solidFill>
                  </a:tcPr>
                </a:tc>
                <a:tc>
                  <a:txBody>
                    <a:bodyPr/>
                    <a:lstStyle/>
                    <a:p>
                      <a:pPr algn="ctr"/>
                      <a:r>
                        <a:rPr sz="1000" b="0">
                          <a:solidFill>
                            <a:srgbClr val="202020"/>
                          </a:solidFill>
                        </a:rPr>
                        <a:t>7,091</a:t>
                      </a:r>
                    </a:p>
                  </a:txBody>
                  <a:tcPr>
                    <a:solidFill>
                      <a:srgbClr val="E8F0FE"/>
                    </a:solidFill>
                  </a:tcPr>
                </a:tc>
              </a:tr>
              <a:tr h="310896">
                <a:tc>
                  <a:txBody>
                    <a:bodyPr/>
                    <a:lstStyle/>
                    <a:p>
                      <a:pPr algn="l"/>
                      <a:r>
                        <a:rPr sz="1000" b="1">
                          <a:solidFill>
                            <a:srgbClr val="202020"/>
                          </a:solidFill>
                        </a:rPr>
                        <a:t>Train / Val / Test</a:t>
                      </a:r>
                    </a:p>
                  </a:txBody>
                  <a:tcPr>
                    <a:solidFill>
                      <a:srgbClr val="FFFFFF"/>
                    </a:solidFill>
                  </a:tcPr>
                </a:tc>
                <a:tc>
                  <a:txBody>
                    <a:bodyPr/>
                    <a:lstStyle/>
                    <a:p>
                      <a:pPr algn="l"/>
                      <a:r>
                        <a:rPr sz="1000" b="0">
                          <a:solidFill>
                            <a:srgbClr val="202020"/>
                          </a:solidFill>
                        </a:rPr>
                        <a:t>7,064 / 1,174 / 1,656</a:t>
                      </a:r>
                    </a:p>
                  </a:txBody>
                  <a:tcPr>
                    <a:solidFill>
                      <a:srgbClr val="FFFFFF"/>
                    </a:solidFill>
                  </a:tcPr>
                </a:tc>
                <a:tc>
                  <a:txBody>
                    <a:bodyPr/>
                    <a:lstStyle/>
                    <a:p>
                      <a:pPr algn="ctr"/>
                      <a:r>
                        <a:rPr sz="1000" b="0">
                          <a:solidFill>
                            <a:srgbClr val="202020"/>
                          </a:solidFill>
                        </a:rPr>
                        <a:t>5,348 / 707 / 1,036</a:t>
                      </a:r>
                    </a:p>
                  </a:txBody>
                  <a:tcPr>
                    <a:solidFill>
                      <a:srgbClr val="FFFFFF"/>
                    </a:solidFill>
                  </a:tcPr>
                </a:tc>
              </a:tr>
            </a:tbl>
          </a:graphicData>
        </a:graphic>
      </p:graphicFrame>
      <p:sp>
        <p:nvSpPr>
          <p:cNvPr id="5" name="TextBox 4"/>
          <p:cNvSpPr txBox="1"/>
          <p:nvPr/>
        </p:nvSpPr>
        <p:spPr>
          <a:xfrm>
            <a:off x="274320" y="3749039"/>
            <a:ext cx="8595360" cy="274320"/>
          </a:xfrm>
          <a:prstGeom prst="rect">
            <a:avLst/>
          </a:prstGeom>
          <a:noFill/>
        </p:spPr>
        <p:txBody>
          <a:bodyPr wrap="none">
            <a:spAutoFit/>
          </a:bodyPr>
          <a:lstStyle/>
          <a:p>
            <a:pPr algn="l"/>
            <a:r>
              <a:rPr sz="1000" b="0" i="0">
                <a:solidFill>
                  <a:srgbClr val="202020"/>
                </a:solidFill>
              </a:rPr>
              <a:t>48 eksperimen front-only (4 model x 3 skenario x 2 kelas x 2 CNN variant) | User split identik</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Hasil Training 7-Class Front-Only (12 Eksperimen)</a:t>
            </a:r>
          </a:p>
        </p:txBody>
      </p:sp>
      <p:graphicFrame>
        <p:nvGraphicFramePr>
          <p:cNvPr id="3" name="Table 2"/>
          <p:cNvGraphicFramePr>
            <a:graphicFrameLocks noGrp="1"/>
          </p:cNvGraphicFramePr>
          <p:nvPr/>
        </p:nvGraphicFramePr>
        <p:xfrm>
          <a:off x="274320" y="731520"/>
          <a:ext cx="8595357" cy="3474720"/>
        </p:xfrm>
        <a:graphic>
          <a:graphicData uri="http://schemas.openxmlformats.org/drawingml/2006/table">
            <a:tbl>
              <a:tblPr firstRow="1" bandRow="1"/>
              <a:tblGrid>
                <a:gridCol w="613954"/>
                <a:gridCol w="2046514"/>
                <a:gridCol w="1534885"/>
                <a:gridCol w="1330234"/>
                <a:gridCol w="1534885"/>
                <a:gridCol w="1534885"/>
              </a:tblGrid>
              <a:tr h="267286">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W-F1</a:t>
                      </a:r>
                    </a:p>
                  </a:txBody>
                  <a:tcPr>
                    <a:solidFill>
                      <a:srgbClr val="1A73E8"/>
                    </a:solidFill>
                  </a:tcPr>
                </a:tc>
              </a:tr>
              <a:tr h="267286">
                <a:tc>
                  <a:txBody>
                    <a:bodyPr/>
                    <a:lstStyle/>
                    <a:p>
                      <a:pPr algn="l"/>
                      <a:r>
                        <a:rPr sz="950" b="1">
                          <a:solidFill>
                            <a:srgbClr val="202020"/>
                          </a:solidFill>
                        </a:rPr>
                        <a:t>1</a:t>
                      </a:r>
                    </a:p>
                  </a:txBody>
                  <a:tcPr>
                    <a:solidFill>
                      <a:srgbClr val="C6EFCE"/>
                    </a:solidFill>
                  </a:tcPr>
                </a:tc>
                <a:tc>
                  <a:txBody>
                    <a:bodyPr/>
                    <a:lstStyle/>
                    <a:p>
                      <a:pPr algn="l"/>
                      <a:r>
                        <a:rPr sz="950" b="1">
                          <a:solidFill>
                            <a:srgbClr val="202020"/>
                          </a:solidFill>
                        </a:rPr>
                        <a:t>Late Fusion</a:t>
                      </a:r>
                    </a:p>
                  </a:txBody>
                  <a:tcPr>
                    <a:solidFill>
                      <a:srgbClr val="C6EFCE"/>
                    </a:solidFill>
                  </a:tcPr>
                </a:tc>
                <a:tc>
                  <a:txBody>
                    <a:bodyPr/>
                    <a:lstStyle/>
                    <a:p>
                      <a:pPr algn="ctr"/>
                      <a:r>
                        <a:rPr sz="950" b="1">
                          <a:solidFill>
                            <a:srgbClr val="202020"/>
                          </a:solidFill>
                        </a:rPr>
                        <a:t>B3 Aug</a:t>
                      </a:r>
                    </a:p>
                  </a:txBody>
                  <a:tcPr>
                    <a:solidFill>
                      <a:srgbClr val="C6EFCE"/>
                    </a:solidFill>
                  </a:tcPr>
                </a:tc>
                <a:tc>
                  <a:txBody>
                    <a:bodyPr/>
                    <a:lstStyle/>
                    <a:p>
                      <a:pPr algn="ctr"/>
                      <a:r>
                        <a:rPr sz="950" b="1">
                          <a:solidFill>
                            <a:srgbClr val="202020"/>
                          </a:solidFill>
                        </a:rPr>
                        <a:t>93.3%</a:t>
                      </a:r>
                    </a:p>
                  </a:txBody>
                  <a:tcPr>
                    <a:solidFill>
                      <a:srgbClr val="C6EFCE"/>
                    </a:solidFill>
                  </a:tcPr>
                </a:tc>
                <a:tc>
                  <a:txBody>
                    <a:bodyPr/>
                    <a:lstStyle/>
                    <a:p>
                      <a:pPr algn="ctr"/>
                      <a:r>
                        <a:rPr sz="950" b="1">
                          <a:solidFill>
                            <a:srgbClr val="202020"/>
                          </a:solidFill>
                        </a:rPr>
                        <a:t>0.175</a:t>
                      </a:r>
                    </a:p>
                  </a:txBody>
                  <a:tcPr>
                    <a:solidFill>
                      <a:srgbClr val="C6EFCE"/>
                    </a:solidFill>
                  </a:tcPr>
                </a:tc>
                <a:tc>
                  <a:txBody>
                    <a:bodyPr/>
                    <a:lstStyle/>
                    <a:p>
                      <a:pPr algn="ctr"/>
                      <a:r>
                        <a:rPr sz="950" b="1">
                          <a:solidFill>
                            <a:srgbClr val="202020"/>
                          </a:solidFill>
                        </a:rPr>
                        <a:t>0.919</a:t>
                      </a:r>
                    </a:p>
                  </a:txBody>
                  <a:tcPr>
                    <a:solidFill>
                      <a:srgbClr val="C6EFCE"/>
                    </a:solidFill>
                  </a:tcPr>
                </a:tc>
              </a:tr>
              <a:tr h="267286">
                <a:tc>
                  <a:txBody>
                    <a:bodyPr/>
                    <a:lstStyle/>
                    <a:p>
                      <a:pPr algn="l"/>
                      <a:r>
                        <a:rPr sz="950" b="1">
                          <a:solidFill>
                            <a:srgbClr val="202020"/>
                          </a:solidFill>
                        </a:rPr>
                        <a:t>2</a:t>
                      </a:r>
                    </a:p>
                  </a:txBody>
                  <a:tcPr>
                    <a:solidFill>
                      <a:srgbClr val="FFFFFF"/>
                    </a:solidFill>
                  </a:tcPr>
                </a:tc>
                <a:tc>
                  <a:txBody>
                    <a:bodyPr/>
                    <a:lstStyle/>
                    <a:p>
                      <a:pPr algn="l"/>
                      <a:r>
                        <a:rPr sz="950" b="0">
                          <a:solidFill>
                            <a:srgbClr val="202020"/>
                          </a:solidFill>
                        </a:rPr>
                        <a:t>Late Fusion</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93.1%</a:t>
                      </a:r>
                    </a:p>
                  </a:txBody>
                  <a:tcPr>
                    <a:solidFill>
                      <a:srgbClr val="FFFFFF"/>
                    </a:solidFill>
                  </a:tcPr>
                </a:tc>
                <a:tc>
                  <a:txBody>
                    <a:bodyPr/>
                    <a:lstStyle/>
                    <a:p>
                      <a:pPr algn="ctr"/>
                      <a:r>
                        <a:rPr sz="950" b="0">
                          <a:solidFill>
                            <a:srgbClr val="202020"/>
                          </a:solidFill>
                        </a:rPr>
                        <a:t>0.171</a:t>
                      </a:r>
                    </a:p>
                  </a:txBody>
                  <a:tcPr>
                    <a:solidFill>
                      <a:srgbClr val="FFFFFF"/>
                    </a:solidFill>
                  </a:tcPr>
                </a:tc>
                <a:tc>
                  <a:txBody>
                    <a:bodyPr/>
                    <a:lstStyle/>
                    <a:p>
                      <a:pPr algn="ctr"/>
                      <a:r>
                        <a:rPr sz="950" b="0">
                          <a:solidFill>
                            <a:srgbClr val="202020"/>
                          </a:solidFill>
                        </a:rPr>
                        <a:t>0.917</a:t>
                      </a:r>
                    </a:p>
                  </a:txBody>
                  <a:tcPr>
                    <a:solidFill>
                      <a:srgbClr val="FFFFFF"/>
                    </a:solidFill>
                  </a:tcPr>
                </a:tc>
              </a:tr>
              <a:tr h="267286">
                <a:tc>
                  <a:txBody>
                    <a:bodyPr/>
                    <a:lstStyle/>
                    <a:p>
                      <a:pPr algn="l"/>
                      <a:r>
                        <a:rPr sz="950" b="1">
                          <a:solidFill>
                            <a:srgbClr val="202020"/>
                          </a:solidFill>
                        </a:rPr>
                        <a:t>3</a:t>
                      </a:r>
                    </a:p>
                  </a:txBody>
                  <a:tcPr>
                    <a:solidFill>
                      <a:srgbClr val="E8F0FE"/>
                    </a:solidFill>
                  </a:tcPr>
                </a:tc>
                <a:tc>
                  <a:txBody>
                    <a:bodyPr/>
                    <a:lstStyle/>
                    <a:p>
                      <a:pPr algn="l"/>
                      <a:r>
                        <a:rPr sz="950" b="0">
                          <a:solidFill>
                            <a:srgbClr val="202020"/>
                          </a:solidFill>
                        </a:rPr>
                        <a:t>FCNN</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90.9%</a:t>
                      </a:r>
                    </a:p>
                  </a:txBody>
                  <a:tcPr>
                    <a:solidFill>
                      <a:srgbClr val="E8F0FE"/>
                    </a:solidFill>
                  </a:tcPr>
                </a:tc>
                <a:tc>
                  <a:txBody>
                    <a:bodyPr/>
                    <a:lstStyle/>
                    <a:p>
                      <a:pPr algn="ctr"/>
                      <a:r>
                        <a:rPr sz="950" b="0">
                          <a:solidFill>
                            <a:srgbClr val="202020"/>
                          </a:solidFill>
                        </a:rPr>
                        <a:t>0.158</a:t>
                      </a:r>
                    </a:p>
                  </a:txBody>
                  <a:tcPr>
                    <a:solidFill>
                      <a:srgbClr val="E8F0FE"/>
                    </a:solidFill>
                  </a:tcPr>
                </a:tc>
                <a:tc>
                  <a:txBody>
                    <a:bodyPr/>
                    <a:lstStyle/>
                    <a:p>
                      <a:pPr algn="ctr"/>
                      <a:r>
                        <a:rPr sz="950" b="0">
                          <a:solidFill>
                            <a:srgbClr val="202020"/>
                          </a:solidFill>
                        </a:rPr>
                        <a:t>0.906</a:t>
                      </a:r>
                    </a:p>
                  </a:txBody>
                  <a:tcPr>
                    <a:solidFill>
                      <a:srgbClr val="E8F0FE"/>
                    </a:solidFill>
                  </a:tcPr>
                </a:tc>
              </a:tr>
              <a:tr h="267286">
                <a:tc>
                  <a:txBody>
                    <a:bodyPr/>
                    <a:lstStyle/>
                    <a:p>
                      <a:pPr algn="l"/>
                      <a:r>
                        <a:rPr sz="950" b="1">
                          <a:solidFill>
                            <a:srgbClr val="202020"/>
                          </a:solidFill>
                        </a:rPr>
                        <a:t>4</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88.3%</a:t>
                      </a:r>
                    </a:p>
                  </a:txBody>
                  <a:tcPr>
                    <a:solidFill>
                      <a:srgbClr val="FFFFFF"/>
                    </a:solidFill>
                  </a:tcPr>
                </a:tc>
                <a:tc>
                  <a:txBody>
                    <a:bodyPr/>
                    <a:lstStyle/>
                    <a:p>
                      <a:pPr algn="ctr"/>
                      <a:r>
                        <a:rPr sz="950" b="0">
                          <a:solidFill>
                            <a:srgbClr val="202020"/>
                          </a:solidFill>
                        </a:rPr>
                        <a:t>0.157</a:t>
                      </a:r>
                    </a:p>
                  </a:txBody>
                  <a:tcPr>
                    <a:solidFill>
                      <a:srgbClr val="FFFFFF"/>
                    </a:solidFill>
                  </a:tcPr>
                </a:tc>
                <a:tc>
                  <a:txBody>
                    <a:bodyPr/>
                    <a:lstStyle/>
                    <a:p>
                      <a:pPr algn="ctr"/>
                      <a:r>
                        <a:rPr sz="950" b="0">
                          <a:solidFill>
                            <a:srgbClr val="202020"/>
                          </a:solidFill>
                        </a:rPr>
                        <a:t>0.892</a:t>
                      </a:r>
                    </a:p>
                  </a:txBody>
                  <a:tcPr>
                    <a:solidFill>
                      <a:srgbClr val="FFFFFF"/>
                    </a:solidFill>
                  </a:tcPr>
                </a:tc>
              </a:tr>
              <a:tr h="267286">
                <a:tc>
                  <a:txBody>
                    <a:bodyPr/>
                    <a:lstStyle/>
                    <a:p>
                      <a:pPr algn="l"/>
                      <a:r>
                        <a:rPr sz="950" b="1">
                          <a:solidFill>
                            <a:srgbClr val="202020"/>
                          </a:solidFill>
                        </a:rPr>
                        <a:t>5</a:t>
                      </a:r>
                    </a:p>
                  </a:txBody>
                  <a:tcPr>
                    <a:solidFill>
                      <a:srgbClr val="E8F0FE"/>
                    </a:solidFill>
                  </a:tcPr>
                </a:tc>
                <a:tc>
                  <a:txBody>
                    <a:bodyPr/>
                    <a:lstStyle/>
                    <a:p>
                      <a:pPr algn="l"/>
                      <a:r>
                        <a:rPr sz="950" b="0">
                          <a:solidFill>
                            <a:srgbClr val="202020"/>
                          </a:solidFill>
                        </a:rPr>
                        <a:t>Late Fusion</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94.1%</a:t>
                      </a:r>
                    </a:p>
                  </a:txBody>
                  <a:tcPr>
                    <a:solidFill>
                      <a:srgbClr val="E8F0FE"/>
                    </a:solidFill>
                  </a:tcPr>
                </a:tc>
                <a:tc>
                  <a:txBody>
                    <a:bodyPr/>
                    <a:lstStyle/>
                    <a:p>
                      <a:pPr algn="ctr"/>
                      <a:r>
                        <a:rPr sz="950" b="0">
                          <a:solidFill>
                            <a:srgbClr val="202020"/>
                          </a:solidFill>
                        </a:rPr>
                        <a:t>0.151</a:t>
                      </a:r>
                    </a:p>
                  </a:txBody>
                  <a:tcPr>
                    <a:solidFill>
                      <a:srgbClr val="E8F0FE"/>
                    </a:solidFill>
                  </a:tcPr>
                </a:tc>
                <a:tc>
                  <a:txBody>
                    <a:bodyPr/>
                    <a:lstStyle/>
                    <a:p>
                      <a:pPr algn="ctr"/>
                      <a:r>
                        <a:rPr sz="950" b="0">
                          <a:solidFill>
                            <a:srgbClr val="202020"/>
                          </a:solidFill>
                        </a:rPr>
                        <a:t>0.921</a:t>
                      </a:r>
                    </a:p>
                  </a:txBody>
                  <a:tcPr>
                    <a:solidFill>
                      <a:srgbClr val="E8F0FE"/>
                    </a:solidFill>
                  </a:tcPr>
                </a:tc>
              </a:tr>
              <a:tr h="267286">
                <a:tc>
                  <a:txBody>
                    <a:bodyPr/>
                    <a:lstStyle/>
                    <a:p>
                      <a:pPr algn="l"/>
                      <a:r>
                        <a:rPr sz="950" b="1">
                          <a:solidFill>
                            <a:srgbClr val="202020"/>
                          </a:solidFill>
                        </a:rPr>
                        <a:t>6</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B2 Weights</a:t>
                      </a:r>
                    </a:p>
                  </a:txBody>
                  <a:tcPr>
                    <a:solidFill>
                      <a:srgbClr val="FFFFFF"/>
                    </a:solidFill>
                  </a:tcPr>
                </a:tc>
                <a:tc>
                  <a:txBody>
                    <a:bodyPr/>
                    <a:lstStyle/>
                    <a:p>
                      <a:pPr algn="ctr"/>
                      <a:r>
                        <a:rPr sz="950" b="0">
                          <a:solidFill>
                            <a:srgbClr val="202020"/>
                          </a:solidFill>
                        </a:rPr>
                        <a:t>91.7%</a:t>
                      </a:r>
                    </a:p>
                  </a:txBody>
                  <a:tcPr>
                    <a:solidFill>
                      <a:srgbClr val="FFFFFF"/>
                    </a:solidFill>
                  </a:tcPr>
                </a:tc>
                <a:tc>
                  <a:txBody>
                    <a:bodyPr/>
                    <a:lstStyle/>
                    <a:p>
                      <a:pPr algn="ctr"/>
                      <a:r>
                        <a:rPr sz="950" b="0">
                          <a:solidFill>
                            <a:srgbClr val="202020"/>
                          </a:solidFill>
                        </a:rPr>
                        <a:t>0.148</a:t>
                      </a:r>
                    </a:p>
                  </a:txBody>
                  <a:tcPr>
                    <a:solidFill>
                      <a:srgbClr val="FFFFFF"/>
                    </a:solidFill>
                  </a:tcPr>
                </a:tc>
                <a:tc>
                  <a:txBody>
                    <a:bodyPr/>
                    <a:lstStyle/>
                    <a:p>
                      <a:pPr algn="ctr"/>
                      <a:r>
                        <a:rPr sz="950" b="0">
                          <a:solidFill>
                            <a:srgbClr val="202020"/>
                          </a:solidFill>
                        </a:rPr>
                        <a:t>0.913</a:t>
                      </a:r>
                    </a:p>
                  </a:txBody>
                  <a:tcPr>
                    <a:solidFill>
                      <a:srgbClr val="FFFFFF"/>
                    </a:solidFill>
                  </a:tcPr>
                </a:tc>
              </a:tr>
              <a:tr h="267286">
                <a:tc>
                  <a:txBody>
                    <a:bodyPr/>
                    <a:lstStyle/>
                    <a:p>
                      <a:pPr algn="l"/>
                      <a:r>
                        <a:rPr sz="950" b="1">
                          <a:solidFill>
                            <a:srgbClr val="202020"/>
                          </a:solidFill>
                        </a:rPr>
                        <a:t>7</a:t>
                      </a:r>
                    </a:p>
                  </a:txBody>
                  <a:tcPr>
                    <a:solidFill>
                      <a:srgbClr val="E8F0FE"/>
                    </a:solidFill>
                  </a:tcPr>
                </a:tc>
                <a:tc>
                  <a:txBody>
                    <a:bodyPr/>
                    <a:lstStyle/>
                    <a:p>
                      <a:pPr algn="l"/>
                      <a:r>
                        <a:rPr sz="950" b="0">
                          <a:solidFill>
                            <a:srgbClr val="202020"/>
                          </a:solidFill>
                        </a:rPr>
                        <a:t>CNN</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91.8%</a:t>
                      </a:r>
                    </a:p>
                  </a:txBody>
                  <a:tcPr>
                    <a:solidFill>
                      <a:srgbClr val="E8F0FE"/>
                    </a:solidFill>
                  </a:tcPr>
                </a:tc>
                <a:tc>
                  <a:txBody>
                    <a:bodyPr/>
                    <a:lstStyle/>
                    <a:p>
                      <a:pPr algn="ctr"/>
                      <a:r>
                        <a:rPr sz="950" b="0">
                          <a:solidFill>
                            <a:srgbClr val="202020"/>
                          </a:solidFill>
                        </a:rPr>
                        <a:t>0.137</a:t>
                      </a:r>
                    </a:p>
                  </a:txBody>
                  <a:tcPr>
                    <a:solidFill>
                      <a:srgbClr val="E8F0FE"/>
                    </a:solidFill>
                  </a:tcPr>
                </a:tc>
                <a:tc>
                  <a:txBody>
                    <a:bodyPr/>
                    <a:lstStyle/>
                    <a:p>
                      <a:pPr algn="ctr"/>
                      <a:r>
                        <a:rPr sz="950" b="0">
                          <a:solidFill>
                            <a:srgbClr val="202020"/>
                          </a:solidFill>
                        </a:rPr>
                        <a:t>0.911</a:t>
                      </a:r>
                    </a:p>
                  </a:txBody>
                  <a:tcPr>
                    <a:solidFill>
                      <a:srgbClr val="E8F0FE"/>
                    </a:solidFill>
                  </a:tcPr>
                </a:tc>
              </a:tr>
              <a:tr h="267286">
                <a:tc>
                  <a:txBody>
                    <a:bodyPr/>
                    <a:lstStyle/>
                    <a:p>
                      <a:pPr algn="l"/>
                      <a:r>
                        <a:rPr sz="950" b="1">
                          <a:solidFill>
                            <a:srgbClr val="202020"/>
                          </a:solidFill>
                        </a:rPr>
                        <a:t>8</a:t>
                      </a:r>
                    </a:p>
                  </a:txBody>
                  <a:tcPr>
                    <a:solidFill>
                      <a:srgbClr val="FFFFFF"/>
                    </a:solidFill>
                  </a:tcPr>
                </a:tc>
                <a:tc>
                  <a:txBody>
                    <a:bodyPr/>
                    <a:lstStyle/>
                    <a:p>
                      <a:pPr algn="l"/>
                      <a:r>
                        <a:rPr sz="950" b="0">
                          <a:solidFill>
                            <a:srgbClr val="202020"/>
                          </a:solidFill>
                        </a:rPr>
                        <a:t>Intermediate</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91.4%</a:t>
                      </a:r>
                    </a:p>
                  </a:txBody>
                  <a:tcPr>
                    <a:solidFill>
                      <a:srgbClr val="FFFFFF"/>
                    </a:solidFill>
                  </a:tcPr>
                </a:tc>
                <a:tc>
                  <a:txBody>
                    <a:bodyPr/>
                    <a:lstStyle/>
                    <a:p>
                      <a:pPr algn="ctr"/>
                      <a:r>
                        <a:rPr sz="950" b="0">
                          <a:solidFill>
                            <a:srgbClr val="202020"/>
                          </a:solidFill>
                        </a:rPr>
                        <a:t>0.137</a:t>
                      </a:r>
                    </a:p>
                  </a:txBody>
                  <a:tcPr>
                    <a:solidFill>
                      <a:srgbClr val="FFFFFF"/>
                    </a:solidFill>
                  </a:tcPr>
                </a:tc>
                <a:tc>
                  <a:txBody>
                    <a:bodyPr/>
                    <a:lstStyle/>
                    <a:p>
                      <a:pPr algn="ctr"/>
                      <a:r>
                        <a:rPr sz="950" b="0">
                          <a:solidFill>
                            <a:srgbClr val="202020"/>
                          </a:solidFill>
                        </a:rPr>
                        <a:t>0.909</a:t>
                      </a:r>
                    </a:p>
                  </a:txBody>
                  <a:tcPr>
                    <a:solidFill>
                      <a:srgbClr val="FFFFFF"/>
                    </a:solidFill>
                  </a:tcPr>
                </a:tc>
              </a:tr>
              <a:tr h="267286">
                <a:tc>
                  <a:txBody>
                    <a:bodyPr/>
                    <a:lstStyle/>
                    <a:p>
                      <a:pPr algn="l"/>
                      <a:r>
                        <a:rPr sz="950" b="1">
                          <a:solidFill>
                            <a:srgbClr val="202020"/>
                          </a:solidFill>
                        </a:rPr>
                        <a:t>9</a:t>
                      </a:r>
                    </a:p>
                  </a:txBody>
                  <a:tcPr>
                    <a:solidFill>
                      <a:srgbClr val="E8F0FE"/>
                    </a:solidFill>
                  </a:tcPr>
                </a:tc>
                <a:tc>
                  <a:txBody>
                    <a:bodyPr/>
                    <a:lstStyle/>
                    <a:p>
                      <a:pPr algn="l"/>
                      <a:r>
                        <a:rPr sz="950" b="0">
                          <a:solidFill>
                            <a:srgbClr val="202020"/>
                          </a:solidFill>
                        </a:rPr>
                        <a:t>CNN</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90.5%</a:t>
                      </a:r>
                    </a:p>
                  </a:txBody>
                  <a:tcPr>
                    <a:solidFill>
                      <a:srgbClr val="E8F0FE"/>
                    </a:solidFill>
                  </a:tcPr>
                </a:tc>
                <a:tc>
                  <a:txBody>
                    <a:bodyPr/>
                    <a:lstStyle/>
                    <a:p>
                      <a:pPr algn="ctr"/>
                      <a:r>
                        <a:rPr sz="950" b="0">
                          <a:solidFill>
                            <a:srgbClr val="202020"/>
                          </a:solidFill>
                        </a:rPr>
                        <a:t>0.137</a:t>
                      </a:r>
                    </a:p>
                  </a:txBody>
                  <a:tcPr>
                    <a:solidFill>
                      <a:srgbClr val="E8F0FE"/>
                    </a:solidFill>
                  </a:tcPr>
                </a:tc>
                <a:tc>
                  <a:txBody>
                    <a:bodyPr/>
                    <a:lstStyle/>
                    <a:p>
                      <a:pPr algn="ctr"/>
                      <a:r>
                        <a:rPr sz="950" b="0">
                          <a:solidFill>
                            <a:srgbClr val="202020"/>
                          </a:solidFill>
                        </a:rPr>
                        <a:t>0.905</a:t>
                      </a:r>
                    </a:p>
                  </a:txBody>
                  <a:tcPr>
                    <a:solidFill>
                      <a:srgbClr val="E8F0FE"/>
                    </a:solidFill>
                  </a:tcPr>
                </a:tc>
              </a:tr>
              <a:tr h="267286">
                <a:tc>
                  <a:txBody>
                    <a:bodyPr/>
                    <a:lstStyle/>
                    <a:p>
                      <a:pPr algn="l"/>
                      <a:r>
                        <a:rPr sz="950" b="1">
                          <a:solidFill>
                            <a:srgbClr val="202020"/>
                          </a:solidFill>
                        </a:rPr>
                        <a:t>10</a:t>
                      </a:r>
                    </a:p>
                  </a:txBody>
                  <a:tcPr>
                    <a:solidFill>
                      <a:srgbClr val="FFFFFF"/>
                    </a:solidFill>
                  </a:tcPr>
                </a:tc>
                <a:tc>
                  <a:txBody>
                    <a:bodyPr/>
                    <a:lstStyle/>
                    <a:p>
                      <a:pPr algn="l"/>
                      <a:r>
                        <a:rPr sz="950" b="0">
                          <a:solidFill>
                            <a:srgbClr val="202020"/>
                          </a:solidFill>
                        </a:rPr>
                        <a:t>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89.3%</a:t>
                      </a:r>
                    </a:p>
                  </a:txBody>
                  <a:tcPr>
                    <a:solidFill>
                      <a:srgbClr val="FFFFFF"/>
                    </a:solidFill>
                  </a:tcPr>
                </a:tc>
                <a:tc>
                  <a:txBody>
                    <a:bodyPr/>
                    <a:lstStyle/>
                    <a:p>
                      <a:pPr algn="ctr"/>
                      <a:r>
                        <a:rPr sz="950" b="0">
                          <a:solidFill>
                            <a:srgbClr val="202020"/>
                          </a:solidFill>
                        </a:rPr>
                        <a:t>0.136</a:t>
                      </a:r>
                    </a:p>
                  </a:txBody>
                  <a:tcPr>
                    <a:solidFill>
                      <a:srgbClr val="FFFFFF"/>
                    </a:solidFill>
                  </a:tcPr>
                </a:tc>
                <a:tc>
                  <a:txBody>
                    <a:bodyPr/>
                    <a:lstStyle/>
                    <a:p>
                      <a:pPr algn="ctr"/>
                      <a:r>
                        <a:rPr sz="950" b="0">
                          <a:solidFill>
                            <a:srgbClr val="202020"/>
                          </a:solidFill>
                        </a:rPr>
                        <a:t>0.902</a:t>
                      </a:r>
                    </a:p>
                  </a:txBody>
                  <a:tcPr>
                    <a:solidFill>
                      <a:srgbClr val="FFFFFF"/>
                    </a:solidFill>
                  </a:tcPr>
                </a:tc>
              </a:tr>
              <a:tr h="267286">
                <a:tc>
                  <a:txBody>
                    <a:bodyPr/>
                    <a:lstStyle/>
                    <a:p>
                      <a:pPr algn="l"/>
                      <a:r>
                        <a:rPr sz="950" b="1">
                          <a:solidFill>
                            <a:srgbClr val="202020"/>
                          </a:solidFill>
                        </a:rPr>
                        <a:t>11</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84.9%</a:t>
                      </a:r>
                    </a:p>
                  </a:txBody>
                  <a:tcPr>
                    <a:solidFill>
                      <a:srgbClr val="E8F0FE"/>
                    </a:solidFill>
                  </a:tcPr>
                </a:tc>
                <a:tc>
                  <a:txBody>
                    <a:bodyPr/>
                    <a:lstStyle/>
                    <a:p>
                      <a:pPr algn="ctr"/>
                      <a:r>
                        <a:rPr sz="950" b="0">
                          <a:solidFill>
                            <a:srgbClr val="202020"/>
                          </a:solidFill>
                        </a:rPr>
                        <a:t>0.136</a:t>
                      </a:r>
                    </a:p>
                  </a:txBody>
                  <a:tcPr>
                    <a:solidFill>
                      <a:srgbClr val="E8F0FE"/>
                    </a:solidFill>
                  </a:tcPr>
                </a:tc>
                <a:tc>
                  <a:txBody>
                    <a:bodyPr/>
                    <a:lstStyle/>
                    <a:p>
                      <a:pPr algn="ctr"/>
                      <a:r>
                        <a:rPr sz="950" b="0">
                          <a:solidFill>
                            <a:srgbClr val="202020"/>
                          </a:solidFill>
                        </a:rPr>
                        <a:t>0.885</a:t>
                      </a:r>
                    </a:p>
                  </a:txBody>
                  <a:tcPr>
                    <a:solidFill>
                      <a:srgbClr val="E8F0FE"/>
                    </a:solidFill>
                  </a:tcPr>
                </a:tc>
              </a:tr>
              <a:tr h="267288">
                <a:tc>
                  <a:txBody>
                    <a:bodyPr/>
                    <a:lstStyle/>
                    <a:p>
                      <a:pPr algn="l"/>
                      <a:r>
                        <a:rPr sz="950" b="1">
                          <a:solidFill>
                            <a:srgbClr val="202020"/>
                          </a:solidFill>
                        </a:rPr>
                        <a:t>12</a:t>
                      </a:r>
                    </a:p>
                  </a:txBody>
                  <a:tcPr>
                    <a:solidFill>
                      <a:srgbClr val="FFFFFF"/>
                    </a:solidFill>
                  </a:tcPr>
                </a:tc>
                <a:tc>
                  <a:txBody>
                    <a:bodyPr/>
                    <a:lstStyle/>
                    <a:p>
                      <a:pPr algn="l"/>
                      <a:r>
                        <a:rPr sz="950" b="0">
                          <a:solidFill>
                            <a:srgbClr val="202020"/>
                          </a:solidFill>
                        </a:rPr>
                        <a:t>Intermediate</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85.7%</a:t>
                      </a:r>
                    </a:p>
                  </a:txBody>
                  <a:tcPr>
                    <a:solidFill>
                      <a:srgbClr val="FFFFFF"/>
                    </a:solidFill>
                  </a:tcPr>
                </a:tc>
                <a:tc>
                  <a:txBody>
                    <a:bodyPr/>
                    <a:lstStyle/>
                    <a:p>
                      <a:pPr algn="ctr"/>
                      <a:r>
                        <a:rPr sz="950" b="0">
                          <a:solidFill>
                            <a:srgbClr val="202020"/>
                          </a:solidFill>
                        </a:rPr>
                        <a:t>0.135</a:t>
                      </a:r>
                    </a:p>
                  </a:txBody>
                  <a:tcPr>
                    <a:solidFill>
                      <a:srgbClr val="FFFFFF"/>
                    </a:solidFill>
                  </a:tcPr>
                </a:tc>
                <a:tc>
                  <a:txBody>
                    <a:bodyPr/>
                    <a:lstStyle/>
                    <a:p>
                      <a:pPr algn="ctr"/>
                      <a:r>
                        <a:rPr sz="950" b="0">
                          <a:solidFill>
                            <a:srgbClr val="202020"/>
                          </a:solidFill>
                        </a:rPr>
                        <a:t>0.876</a:t>
                      </a:r>
                    </a:p>
                  </a:txBody>
                  <a:tcPr>
                    <a:solidFill>
                      <a:srgbClr val="FFFFFF"/>
                    </a:solidFill>
                  </a:tcPr>
                </a:tc>
              </a:tr>
            </a:tbl>
          </a:graphicData>
        </a:graphic>
      </p:graphicFrame>
      <p:sp>
        <p:nvSpPr>
          <p:cNvPr id="4" name="TextBox 3"/>
          <p:cNvSpPr txBox="1"/>
          <p:nvPr/>
        </p:nvSpPr>
        <p:spPr>
          <a:xfrm>
            <a:off x="274320" y="4297680"/>
            <a:ext cx="8595360" cy="274320"/>
          </a:xfrm>
          <a:prstGeom prst="rect">
            <a:avLst/>
          </a:prstGeom>
          <a:noFill/>
        </p:spPr>
        <p:txBody>
          <a:bodyPr wrap="none">
            <a:spAutoFit/>
          </a:bodyPr>
          <a:lstStyle/>
          <a:p>
            <a:pPr algn="l"/>
            <a:r>
              <a:rPr sz="1000" b="1" i="0">
                <a:solidFill>
                  <a:srgbClr val="202020"/>
                </a:solidFill>
              </a:rPr>
              <a:t>Best: Late Fusion B3 (Macro F1: 0.175) | FCNN dan Late Fusion mendominasi</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Hasil Training 4-Class Front-Only (12 Eksperimen)</a:t>
            </a:r>
          </a:p>
        </p:txBody>
      </p:sp>
      <p:graphicFrame>
        <p:nvGraphicFramePr>
          <p:cNvPr id="3" name="Table 2"/>
          <p:cNvGraphicFramePr>
            <a:graphicFrameLocks noGrp="1"/>
          </p:cNvGraphicFramePr>
          <p:nvPr/>
        </p:nvGraphicFramePr>
        <p:xfrm>
          <a:off x="274320" y="731520"/>
          <a:ext cx="8595357" cy="3474720"/>
        </p:xfrm>
        <a:graphic>
          <a:graphicData uri="http://schemas.openxmlformats.org/drawingml/2006/table">
            <a:tbl>
              <a:tblPr firstRow="1" bandRow="1"/>
              <a:tblGrid>
                <a:gridCol w="613954"/>
                <a:gridCol w="2046514"/>
                <a:gridCol w="1534885"/>
                <a:gridCol w="1330234"/>
                <a:gridCol w="1534885"/>
                <a:gridCol w="1534885"/>
              </a:tblGrid>
              <a:tr h="267286">
                <a:tc>
                  <a:txBody>
                    <a:bodyPr/>
                    <a:lstStyle/>
                    <a:p>
                      <a:pPr algn="ctr"/>
                      <a:r>
                        <a:rPr sz="1000" b="1">
                          <a:solidFill>
                            <a:srgbClr val="FFFFFF"/>
                          </a:solidFill>
                        </a:rPr>
                        <a:t>Rank</a:t>
                      </a:r>
                    </a:p>
                  </a:txBody>
                  <a:tcPr>
                    <a:solidFill>
                      <a:srgbClr val="1A73E8"/>
                    </a:solidFill>
                  </a:tcPr>
                </a:tc>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Skenario</a:t>
                      </a:r>
                    </a:p>
                  </a:txBody>
                  <a:tcPr>
                    <a:solidFill>
                      <a:srgbClr val="1A73E8"/>
                    </a:solidFill>
                  </a:tcPr>
                </a:tc>
                <a:tc>
                  <a:txBody>
                    <a:bodyPr/>
                    <a:lstStyle/>
                    <a:p>
                      <a:pPr algn="ctr"/>
                      <a:r>
                        <a:rPr sz="1000" b="1">
                          <a:solidFill>
                            <a:srgbClr val="FFFFFF"/>
                          </a:solidFill>
                        </a:rPr>
                        <a:t>Accuracy</a:t>
                      </a:r>
                    </a:p>
                  </a:txBody>
                  <a:tcPr>
                    <a:solidFill>
                      <a:srgbClr val="1A73E8"/>
                    </a:solidFill>
                  </a:tcPr>
                </a:tc>
                <a:tc>
                  <a:txBody>
                    <a:bodyPr/>
                    <a:lstStyle/>
                    <a:p>
                      <a:pPr algn="ctr"/>
                      <a:r>
                        <a:rPr sz="1000" b="1">
                          <a:solidFill>
                            <a:srgbClr val="FFFFFF"/>
                          </a:solidFill>
                        </a:rPr>
                        <a:t>Macro F1</a:t>
                      </a:r>
                    </a:p>
                  </a:txBody>
                  <a:tcPr>
                    <a:solidFill>
                      <a:srgbClr val="1A73E8"/>
                    </a:solidFill>
                  </a:tcPr>
                </a:tc>
                <a:tc>
                  <a:txBody>
                    <a:bodyPr/>
                    <a:lstStyle/>
                    <a:p>
                      <a:pPr algn="ctr"/>
                      <a:r>
                        <a:rPr sz="1000" b="1">
                          <a:solidFill>
                            <a:srgbClr val="FFFFFF"/>
                          </a:solidFill>
                        </a:rPr>
                        <a:t>W-F1</a:t>
                      </a:r>
                    </a:p>
                  </a:txBody>
                  <a:tcPr>
                    <a:solidFill>
                      <a:srgbClr val="1A73E8"/>
                    </a:solidFill>
                  </a:tcPr>
                </a:tc>
              </a:tr>
              <a:tr h="267286">
                <a:tc>
                  <a:txBody>
                    <a:bodyPr/>
                    <a:lstStyle/>
                    <a:p>
                      <a:pPr algn="l"/>
                      <a:r>
                        <a:rPr sz="950" b="1">
                          <a:solidFill>
                            <a:srgbClr val="202020"/>
                          </a:solidFill>
                        </a:rPr>
                        <a:t>1</a:t>
                      </a:r>
                    </a:p>
                  </a:txBody>
                  <a:tcPr>
                    <a:solidFill>
                      <a:srgbClr val="C6EFCE"/>
                    </a:solidFill>
                  </a:tcPr>
                </a:tc>
                <a:tc>
                  <a:txBody>
                    <a:bodyPr/>
                    <a:lstStyle/>
                    <a:p>
                      <a:pPr algn="l"/>
                      <a:r>
                        <a:rPr sz="950" b="1">
                          <a:solidFill>
                            <a:srgbClr val="202020"/>
                          </a:solidFill>
                        </a:rPr>
                        <a:t>Late Fusion</a:t>
                      </a:r>
                    </a:p>
                  </a:txBody>
                  <a:tcPr>
                    <a:solidFill>
                      <a:srgbClr val="C6EFCE"/>
                    </a:solidFill>
                  </a:tcPr>
                </a:tc>
                <a:tc>
                  <a:txBody>
                    <a:bodyPr/>
                    <a:lstStyle/>
                    <a:p>
                      <a:pPr algn="ctr"/>
                      <a:r>
                        <a:rPr sz="950" b="1">
                          <a:solidFill>
                            <a:srgbClr val="202020"/>
                          </a:solidFill>
                        </a:rPr>
                        <a:t>B3 Aug</a:t>
                      </a:r>
                    </a:p>
                  </a:txBody>
                  <a:tcPr>
                    <a:solidFill>
                      <a:srgbClr val="C6EFCE"/>
                    </a:solidFill>
                  </a:tcPr>
                </a:tc>
                <a:tc>
                  <a:txBody>
                    <a:bodyPr/>
                    <a:lstStyle/>
                    <a:p>
                      <a:pPr algn="ctr"/>
                      <a:r>
                        <a:rPr sz="950" b="1">
                          <a:solidFill>
                            <a:srgbClr val="202020"/>
                          </a:solidFill>
                        </a:rPr>
                        <a:t>92.3%</a:t>
                      </a:r>
                    </a:p>
                  </a:txBody>
                  <a:tcPr>
                    <a:solidFill>
                      <a:srgbClr val="C6EFCE"/>
                    </a:solidFill>
                  </a:tcPr>
                </a:tc>
                <a:tc>
                  <a:txBody>
                    <a:bodyPr/>
                    <a:lstStyle/>
                    <a:p>
                      <a:pPr algn="ctr"/>
                      <a:r>
                        <a:rPr sz="950" b="1">
                          <a:solidFill>
                            <a:srgbClr val="202020"/>
                          </a:solidFill>
                        </a:rPr>
                        <a:t>0.394</a:t>
                      </a:r>
                    </a:p>
                  </a:txBody>
                  <a:tcPr>
                    <a:solidFill>
                      <a:srgbClr val="C6EFCE"/>
                    </a:solidFill>
                  </a:tcPr>
                </a:tc>
                <a:tc>
                  <a:txBody>
                    <a:bodyPr/>
                    <a:lstStyle/>
                    <a:p>
                      <a:pPr algn="ctr"/>
                      <a:r>
                        <a:rPr sz="950" b="1">
                          <a:solidFill>
                            <a:srgbClr val="202020"/>
                          </a:solidFill>
                        </a:rPr>
                        <a:t>0.924</a:t>
                      </a:r>
                    </a:p>
                  </a:txBody>
                  <a:tcPr>
                    <a:solidFill>
                      <a:srgbClr val="C6EFCE"/>
                    </a:solidFill>
                  </a:tcPr>
                </a:tc>
              </a:tr>
              <a:tr h="267286">
                <a:tc>
                  <a:txBody>
                    <a:bodyPr/>
                    <a:lstStyle/>
                    <a:p>
                      <a:pPr algn="l"/>
                      <a:r>
                        <a:rPr sz="950" b="1">
                          <a:solidFill>
                            <a:srgbClr val="202020"/>
                          </a:solidFill>
                        </a:rPr>
                        <a:t>2</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89.4%</a:t>
                      </a:r>
                    </a:p>
                  </a:txBody>
                  <a:tcPr>
                    <a:solidFill>
                      <a:srgbClr val="FFFFFF"/>
                    </a:solidFill>
                  </a:tcPr>
                </a:tc>
                <a:tc>
                  <a:txBody>
                    <a:bodyPr/>
                    <a:lstStyle/>
                    <a:p>
                      <a:pPr algn="ctr"/>
                      <a:r>
                        <a:rPr sz="950" b="0">
                          <a:solidFill>
                            <a:srgbClr val="202020"/>
                          </a:solidFill>
                        </a:rPr>
                        <a:t>0.361</a:t>
                      </a:r>
                    </a:p>
                  </a:txBody>
                  <a:tcPr>
                    <a:solidFill>
                      <a:srgbClr val="FFFFFF"/>
                    </a:solidFill>
                  </a:tcPr>
                </a:tc>
                <a:tc>
                  <a:txBody>
                    <a:bodyPr/>
                    <a:lstStyle/>
                    <a:p>
                      <a:pPr algn="ctr"/>
                      <a:r>
                        <a:rPr sz="950" b="0">
                          <a:solidFill>
                            <a:srgbClr val="202020"/>
                          </a:solidFill>
                        </a:rPr>
                        <a:t>0.909</a:t>
                      </a:r>
                    </a:p>
                  </a:txBody>
                  <a:tcPr>
                    <a:solidFill>
                      <a:srgbClr val="FFFFFF"/>
                    </a:solidFill>
                  </a:tcPr>
                </a:tc>
              </a:tr>
              <a:tr h="267286">
                <a:tc>
                  <a:txBody>
                    <a:bodyPr/>
                    <a:lstStyle/>
                    <a:p>
                      <a:pPr algn="l"/>
                      <a:r>
                        <a:rPr sz="950" b="1">
                          <a:solidFill>
                            <a:srgbClr val="202020"/>
                          </a:solidFill>
                        </a:rPr>
                        <a:t>3</a:t>
                      </a:r>
                    </a:p>
                  </a:txBody>
                  <a:tcPr>
                    <a:solidFill>
                      <a:srgbClr val="E8F0FE"/>
                    </a:solidFill>
                  </a:tcPr>
                </a:tc>
                <a:tc>
                  <a:txBody>
                    <a:bodyPr/>
                    <a:lstStyle/>
                    <a:p>
                      <a:pPr algn="l"/>
                      <a:r>
                        <a:rPr sz="950" b="0">
                          <a:solidFill>
                            <a:srgbClr val="202020"/>
                          </a:solidFill>
                        </a:rPr>
                        <a:t>FCNN</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89.7%</a:t>
                      </a:r>
                    </a:p>
                  </a:txBody>
                  <a:tcPr>
                    <a:solidFill>
                      <a:srgbClr val="E8F0FE"/>
                    </a:solidFill>
                  </a:tcPr>
                </a:tc>
                <a:tc>
                  <a:txBody>
                    <a:bodyPr/>
                    <a:lstStyle/>
                    <a:p>
                      <a:pPr algn="ctr"/>
                      <a:r>
                        <a:rPr sz="950" b="0">
                          <a:solidFill>
                            <a:srgbClr val="202020"/>
                          </a:solidFill>
                        </a:rPr>
                        <a:t>0.307</a:t>
                      </a:r>
                    </a:p>
                  </a:txBody>
                  <a:tcPr>
                    <a:solidFill>
                      <a:srgbClr val="E8F0FE"/>
                    </a:solidFill>
                  </a:tcPr>
                </a:tc>
                <a:tc>
                  <a:txBody>
                    <a:bodyPr/>
                    <a:lstStyle/>
                    <a:p>
                      <a:pPr algn="ctr"/>
                      <a:r>
                        <a:rPr sz="950" b="0">
                          <a:solidFill>
                            <a:srgbClr val="202020"/>
                          </a:solidFill>
                        </a:rPr>
                        <a:t>0.901</a:t>
                      </a:r>
                    </a:p>
                  </a:txBody>
                  <a:tcPr>
                    <a:solidFill>
                      <a:srgbClr val="E8F0FE"/>
                    </a:solidFill>
                  </a:tcPr>
                </a:tc>
              </a:tr>
              <a:tr h="267286">
                <a:tc>
                  <a:txBody>
                    <a:bodyPr/>
                    <a:lstStyle/>
                    <a:p>
                      <a:pPr algn="l"/>
                      <a:r>
                        <a:rPr sz="950" b="1">
                          <a:solidFill>
                            <a:srgbClr val="202020"/>
                          </a:solidFill>
                        </a:rPr>
                        <a:t>4</a:t>
                      </a:r>
                    </a:p>
                  </a:txBody>
                  <a:tcPr>
                    <a:solidFill>
                      <a:srgbClr val="FFFFFF"/>
                    </a:solidFill>
                  </a:tcPr>
                </a:tc>
                <a:tc>
                  <a:txBody>
                    <a:bodyPr/>
                    <a:lstStyle/>
                    <a:p>
                      <a:pPr algn="l"/>
                      <a:r>
                        <a:rPr sz="950" b="0">
                          <a:solidFill>
                            <a:srgbClr val="202020"/>
                          </a:solidFill>
                        </a:rPr>
                        <a:t>Late Fusion</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89.7%</a:t>
                      </a:r>
                    </a:p>
                  </a:txBody>
                  <a:tcPr>
                    <a:solidFill>
                      <a:srgbClr val="FFFFFF"/>
                    </a:solidFill>
                  </a:tcPr>
                </a:tc>
                <a:tc>
                  <a:txBody>
                    <a:bodyPr/>
                    <a:lstStyle/>
                    <a:p>
                      <a:pPr algn="ctr"/>
                      <a:r>
                        <a:rPr sz="950" b="0">
                          <a:solidFill>
                            <a:srgbClr val="202020"/>
                          </a:solidFill>
                        </a:rPr>
                        <a:t>0.307</a:t>
                      </a:r>
                    </a:p>
                  </a:txBody>
                  <a:tcPr>
                    <a:solidFill>
                      <a:srgbClr val="FFFFFF"/>
                    </a:solidFill>
                  </a:tcPr>
                </a:tc>
                <a:tc>
                  <a:txBody>
                    <a:bodyPr/>
                    <a:lstStyle/>
                    <a:p>
                      <a:pPr algn="ctr"/>
                      <a:r>
                        <a:rPr sz="950" b="0">
                          <a:solidFill>
                            <a:srgbClr val="202020"/>
                          </a:solidFill>
                        </a:rPr>
                        <a:t>0.901</a:t>
                      </a:r>
                    </a:p>
                  </a:txBody>
                  <a:tcPr>
                    <a:solidFill>
                      <a:srgbClr val="FFFFFF"/>
                    </a:solidFill>
                  </a:tcPr>
                </a:tc>
              </a:tr>
              <a:tr h="267286">
                <a:tc>
                  <a:txBody>
                    <a:bodyPr/>
                    <a:lstStyle/>
                    <a:p>
                      <a:pPr algn="l"/>
                      <a:r>
                        <a:rPr sz="950" b="1">
                          <a:solidFill>
                            <a:srgbClr val="202020"/>
                          </a:solidFill>
                        </a:rPr>
                        <a:t>5</a:t>
                      </a:r>
                    </a:p>
                  </a:txBody>
                  <a:tcPr>
                    <a:solidFill>
                      <a:srgbClr val="E8F0FE"/>
                    </a:solidFill>
                  </a:tcPr>
                </a:tc>
                <a:tc>
                  <a:txBody>
                    <a:bodyPr/>
                    <a:lstStyle/>
                    <a:p>
                      <a:pPr algn="l"/>
                      <a:r>
                        <a:rPr sz="950" b="0">
                          <a:solidFill>
                            <a:srgbClr val="202020"/>
                          </a:solidFill>
                        </a:rPr>
                        <a:t>CNN</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90.1%</a:t>
                      </a:r>
                    </a:p>
                  </a:txBody>
                  <a:tcPr>
                    <a:solidFill>
                      <a:srgbClr val="E8F0FE"/>
                    </a:solidFill>
                  </a:tcPr>
                </a:tc>
                <a:tc>
                  <a:txBody>
                    <a:bodyPr/>
                    <a:lstStyle/>
                    <a:p>
                      <a:pPr algn="ctr"/>
                      <a:r>
                        <a:rPr sz="950" b="0">
                          <a:solidFill>
                            <a:srgbClr val="202020"/>
                          </a:solidFill>
                        </a:rPr>
                        <a:t>0.240</a:t>
                      </a:r>
                    </a:p>
                  </a:txBody>
                  <a:tcPr>
                    <a:solidFill>
                      <a:srgbClr val="E8F0FE"/>
                    </a:solidFill>
                  </a:tcPr>
                </a:tc>
                <a:tc>
                  <a:txBody>
                    <a:bodyPr/>
                    <a:lstStyle/>
                    <a:p>
                      <a:pPr algn="ctr"/>
                      <a:r>
                        <a:rPr sz="950" b="0">
                          <a:solidFill>
                            <a:srgbClr val="202020"/>
                          </a:solidFill>
                        </a:rPr>
                        <a:t>0.908</a:t>
                      </a:r>
                    </a:p>
                  </a:txBody>
                  <a:tcPr>
                    <a:solidFill>
                      <a:srgbClr val="E8F0FE"/>
                    </a:solidFill>
                  </a:tcPr>
                </a:tc>
              </a:tr>
              <a:tr h="267286">
                <a:tc>
                  <a:txBody>
                    <a:bodyPr/>
                    <a:lstStyle/>
                    <a:p>
                      <a:pPr algn="l"/>
                      <a:r>
                        <a:rPr sz="950" b="1">
                          <a:solidFill>
                            <a:srgbClr val="202020"/>
                          </a:solidFill>
                        </a:rPr>
                        <a:t>6</a:t>
                      </a:r>
                    </a:p>
                  </a:txBody>
                  <a:tcPr>
                    <a:solidFill>
                      <a:srgbClr val="FFFFFF"/>
                    </a:solidFill>
                  </a:tcPr>
                </a:tc>
                <a:tc>
                  <a:txBody>
                    <a:bodyPr/>
                    <a:lstStyle/>
                    <a:p>
                      <a:pPr algn="l"/>
                      <a:r>
                        <a:rPr sz="950" b="0">
                          <a:solidFill>
                            <a:srgbClr val="202020"/>
                          </a:solidFill>
                        </a:rPr>
                        <a:t>Late Fusion</a:t>
                      </a:r>
                    </a:p>
                  </a:txBody>
                  <a:tcPr>
                    <a:solidFill>
                      <a:srgbClr val="FFFFFF"/>
                    </a:solidFill>
                  </a:tcPr>
                </a:tc>
                <a:tc>
                  <a:txBody>
                    <a:bodyPr/>
                    <a:lstStyle/>
                    <a:p>
                      <a:pPr algn="ctr"/>
                      <a:r>
                        <a:rPr sz="950" b="0">
                          <a:solidFill>
                            <a:srgbClr val="202020"/>
                          </a:solidFill>
                        </a:rPr>
                        <a:t>B2 Weights</a:t>
                      </a:r>
                    </a:p>
                  </a:txBody>
                  <a:tcPr>
                    <a:solidFill>
                      <a:srgbClr val="FFFFFF"/>
                    </a:solidFill>
                  </a:tcPr>
                </a:tc>
                <a:tc>
                  <a:txBody>
                    <a:bodyPr/>
                    <a:lstStyle/>
                    <a:p>
                      <a:pPr algn="ctr"/>
                      <a:r>
                        <a:rPr sz="950" b="0">
                          <a:solidFill>
                            <a:srgbClr val="202020"/>
                          </a:solidFill>
                        </a:rPr>
                        <a:t>91.9%</a:t>
                      </a:r>
                    </a:p>
                  </a:txBody>
                  <a:tcPr>
                    <a:solidFill>
                      <a:srgbClr val="FFFFFF"/>
                    </a:solidFill>
                  </a:tcPr>
                </a:tc>
                <a:tc>
                  <a:txBody>
                    <a:bodyPr/>
                    <a:lstStyle/>
                    <a:p>
                      <a:pPr algn="ctr"/>
                      <a:r>
                        <a:rPr sz="950" b="0">
                          <a:solidFill>
                            <a:srgbClr val="202020"/>
                          </a:solidFill>
                        </a:rPr>
                        <a:t>0.276</a:t>
                      </a:r>
                    </a:p>
                  </a:txBody>
                  <a:tcPr>
                    <a:solidFill>
                      <a:srgbClr val="FFFFFF"/>
                    </a:solidFill>
                  </a:tcPr>
                </a:tc>
                <a:tc>
                  <a:txBody>
                    <a:bodyPr/>
                    <a:lstStyle/>
                    <a:p>
                      <a:pPr algn="ctr"/>
                      <a:r>
                        <a:rPr sz="950" b="0">
                          <a:solidFill>
                            <a:srgbClr val="202020"/>
                          </a:solidFill>
                        </a:rPr>
                        <a:t>0.914</a:t>
                      </a:r>
                    </a:p>
                  </a:txBody>
                  <a:tcPr>
                    <a:solidFill>
                      <a:srgbClr val="FFFFFF"/>
                    </a:solidFill>
                  </a:tcPr>
                </a:tc>
              </a:tr>
              <a:tr h="267286">
                <a:tc>
                  <a:txBody>
                    <a:bodyPr/>
                    <a:lstStyle/>
                    <a:p>
                      <a:pPr algn="l"/>
                      <a:r>
                        <a:rPr sz="950" b="1">
                          <a:solidFill>
                            <a:srgbClr val="202020"/>
                          </a:solidFill>
                        </a:rPr>
                        <a:t>7</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B2 Weights</a:t>
                      </a:r>
                    </a:p>
                  </a:txBody>
                  <a:tcPr>
                    <a:solidFill>
                      <a:srgbClr val="E8F0FE"/>
                    </a:solidFill>
                  </a:tcPr>
                </a:tc>
                <a:tc>
                  <a:txBody>
                    <a:bodyPr/>
                    <a:lstStyle/>
                    <a:p>
                      <a:pPr algn="ctr"/>
                      <a:r>
                        <a:rPr sz="950" b="0">
                          <a:solidFill>
                            <a:srgbClr val="202020"/>
                          </a:solidFill>
                        </a:rPr>
                        <a:t>87.5%</a:t>
                      </a:r>
                    </a:p>
                  </a:txBody>
                  <a:tcPr>
                    <a:solidFill>
                      <a:srgbClr val="E8F0FE"/>
                    </a:solidFill>
                  </a:tcPr>
                </a:tc>
                <a:tc>
                  <a:txBody>
                    <a:bodyPr/>
                    <a:lstStyle/>
                    <a:p>
                      <a:pPr algn="ctr"/>
                      <a:r>
                        <a:rPr sz="950" b="0">
                          <a:solidFill>
                            <a:srgbClr val="202020"/>
                          </a:solidFill>
                        </a:rPr>
                        <a:t>0.269</a:t>
                      </a:r>
                    </a:p>
                  </a:txBody>
                  <a:tcPr>
                    <a:solidFill>
                      <a:srgbClr val="E8F0FE"/>
                    </a:solidFill>
                  </a:tcPr>
                </a:tc>
                <a:tc>
                  <a:txBody>
                    <a:bodyPr/>
                    <a:lstStyle/>
                    <a:p>
                      <a:pPr algn="ctr"/>
                      <a:r>
                        <a:rPr sz="950" b="0">
                          <a:solidFill>
                            <a:srgbClr val="202020"/>
                          </a:solidFill>
                        </a:rPr>
                        <a:t>0.892</a:t>
                      </a:r>
                    </a:p>
                  </a:txBody>
                  <a:tcPr>
                    <a:solidFill>
                      <a:srgbClr val="E8F0FE"/>
                    </a:solidFill>
                  </a:tcPr>
                </a:tc>
              </a:tr>
              <a:tr h="267286">
                <a:tc>
                  <a:txBody>
                    <a:bodyPr/>
                    <a:lstStyle/>
                    <a:p>
                      <a:pPr algn="l"/>
                      <a:r>
                        <a:rPr sz="950" b="1">
                          <a:solidFill>
                            <a:srgbClr val="202020"/>
                          </a:solidFill>
                        </a:rPr>
                        <a:t>8</a:t>
                      </a:r>
                    </a:p>
                  </a:txBody>
                  <a:tcPr>
                    <a:solidFill>
                      <a:srgbClr val="FFFFFF"/>
                    </a:solidFill>
                  </a:tcPr>
                </a:tc>
                <a:tc>
                  <a:txBody>
                    <a:bodyPr/>
                    <a:lstStyle/>
                    <a:p>
                      <a:pPr algn="l"/>
                      <a:r>
                        <a:rPr sz="950" b="0">
                          <a:solidFill>
                            <a:srgbClr val="202020"/>
                          </a:solidFill>
                        </a:rPr>
                        <a:t>CNN</a:t>
                      </a:r>
                    </a:p>
                  </a:txBody>
                  <a:tcPr>
                    <a:solidFill>
                      <a:srgbClr val="FFFFFF"/>
                    </a:solidFill>
                  </a:tcPr>
                </a:tc>
                <a:tc>
                  <a:txBody>
                    <a:bodyPr/>
                    <a:lstStyle/>
                    <a:p>
                      <a:pPr algn="ctr"/>
                      <a:r>
                        <a:rPr sz="950" b="0">
                          <a:solidFill>
                            <a:srgbClr val="202020"/>
                          </a:solidFill>
                        </a:rPr>
                        <a:t>B3 Aug</a:t>
                      </a:r>
                    </a:p>
                  </a:txBody>
                  <a:tcPr>
                    <a:solidFill>
                      <a:srgbClr val="FFFFFF"/>
                    </a:solidFill>
                  </a:tcPr>
                </a:tc>
                <a:tc>
                  <a:txBody>
                    <a:bodyPr/>
                    <a:lstStyle/>
                    <a:p>
                      <a:pPr algn="ctr"/>
                      <a:r>
                        <a:rPr sz="950" b="0">
                          <a:solidFill>
                            <a:srgbClr val="202020"/>
                          </a:solidFill>
                        </a:rPr>
                        <a:t>90.2%</a:t>
                      </a:r>
                    </a:p>
                  </a:txBody>
                  <a:tcPr>
                    <a:solidFill>
                      <a:srgbClr val="FFFFFF"/>
                    </a:solidFill>
                  </a:tcPr>
                </a:tc>
                <a:tc>
                  <a:txBody>
                    <a:bodyPr/>
                    <a:lstStyle/>
                    <a:p>
                      <a:pPr algn="ctr"/>
                      <a:r>
                        <a:rPr sz="950" b="0">
                          <a:solidFill>
                            <a:srgbClr val="202020"/>
                          </a:solidFill>
                        </a:rPr>
                        <a:t>0.265</a:t>
                      </a:r>
                    </a:p>
                  </a:txBody>
                  <a:tcPr>
                    <a:solidFill>
                      <a:srgbClr val="FFFFFF"/>
                    </a:solidFill>
                  </a:tcPr>
                </a:tc>
                <a:tc>
                  <a:txBody>
                    <a:bodyPr/>
                    <a:lstStyle/>
                    <a:p>
                      <a:pPr algn="ctr"/>
                      <a:r>
                        <a:rPr sz="950" b="0">
                          <a:solidFill>
                            <a:srgbClr val="202020"/>
                          </a:solidFill>
                        </a:rPr>
                        <a:t>0.906</a:t>
                      </a:r>
                    </a:p>
                  </a:txBody>
                  <a:tcPr>
                    <a:solidFill>
                      <a:srgbClr val="FFFFFF"/>
                    </a:solidFill>
                  </a:tcPr>
                </a:tc>
              </a:tr>
              <a:tr h="267286">
                <a:tc>
                  <a:txBody>
                    <a:bodyPr/>
                    <a:lstStyle/>
                    <a:p>
                      <a:pPr algn="l"/>
                      <a:r>
                        <a:rPr sz="950" b="1">
                          <a:solidFill>
                            <a:srgbClr val="202020"/>
                          </a:solidFill>
                        </a:rPr>
                        <a:t>9</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B1 Baseline</a:t>
                      </a:r>
                    </a:p>
                  </a:txBody>
                  <a:tcPr>
                    <a:solidFill>
                      <a:srgbClr val="E8F0FE"/>
                    </a:solidFill>
                  </a:tcPr>
                </a:tc>
                <a:tc>
                  <a:txBody>
                    <a:bodyPr/>
                    <a:lstStyle/>
                    <a:p>
                      <a:pPr algn="ctr"/>
                      <a:r>
                        <a:rPr sz="950" b="0">
                          <a:solidFill>
                            <a:srgbClr val="202020"/>
                          </a:solidFill>
                        </a:rPr>
                        <a:t>94.3%</a:t>
                      </a:r>
                    </a:p>
                  </a:txBody>
                  <a:tcPr>
                    <a:solidFill>
                      <a:srgbClr val="E8F0FE"/>
                    </a:solidFill>
                  </a:tcPr>
                </a:tc>
                <a:tc>
                  <a:txBody>
                    <a:bodyPr/>
                    <a:lstStyle/>
                    <a:p>
                      <a:pPr algn="ctr"/>
                      <a:r>
                        <a:rPr sz="950" b="0">
                          <a:solidFill>
                            <a:srgbClr val="202020"/>
                          </a:solidFill>
                        </a:rPr>
                        <a:t>0.243</a:t>
                      </a:r>
                    </a:p>
                  </a:txBody>
                  <a:tcPr>
                    <a:solidFill>
                      <a:srgbClr val="E8F0FE"/>
                    </a:solidFill>
                  </a:tcPr>
                </a:tc>
                <a:tc>
                  <a:txBody>
                    <a:bodyPr/>
                    <a:lstStyle/>
                    <a:p>
                      <a:pPr algn="ctr"/>
                      <a:r>
                        <a:rPr sz="950" b="0">
                          <a:solidFill>
                            <a:srgbClr val="202020"/>
                          </a:solidFill>
                        </a:rPr>
                        <a:t>0.919</a:t>
                      </a:r>
                    </a:p>
                  </a:txBody>
                  <a:tcPr>
                    <a:solidFill>
                      <a:srgbClr val="E8F0FE"/>
                    </a:solidFill>
                  </a:tcPr>
                </a:tc>
              </a:tr>
              <a:tr h="267286">
                <a:tc>
                  <a:txBody>
                    <a:bodyPr/>
                    <a:lstStyle/>
                    <a:p>
                      <a:pPr algn="l"/>
                      <a:r>
                        <a:rPr sz="950" b="1">
                          <a:solidFill>
                            <a:srgbClr val="202020"/>
                          </a:solidFill>
                        </a:rPr>
                        <a:t>10</a:t>
                      </a:r>
                    </a:p>
                  </a:txBody>
                  <a:tcPr>
                    <a:solidFill>
                      <a:srgbClr val="FFFFFF"/>
                    </a:solidFill>
                  </a:tcPr>
                </a:tc>
                <a:tc>
                  <a:txBody>
                    <a:bodyPr/>
                    <a:lstStyle/>
                    <a:p>
                      <a:pPr algn="l"/>
                      <a:r>
                        <a:rPr sz="950" b="0">
                          <a:solidFill>
                            <a:srgbClr val="202020"/>
                          </a:solidFill>
                        </a:rPr>
                        <a:t>CNN</a:t>
                      </a:r>
                    </a:p>
                  </a:txBody>
                  <a:tcPr>
                    <a:solidFill>
                      <a:srgbClr val="FFFFFF"/>
                    </a:solidFill>
                  </a:tcPr>
                </a:tc>
                <a:tc>
                  <a:txBody>
                    <a:bodyPr/>
                    <a:lstStyle/>
                    <a:p>
                      <a:pPr algn="ctr"/>
                      <a:r>
                        <a:rPr sz="950" b="0">
                          <a:solidFill>
                            <a:srgbClr val="202020"/>
                          </a:solidFill>
                        </a:rPr>
                        <a:t>B1 Baseline</a:t>
                      </a:r>
                    </a:p>
                  </a:txBody>
                  <a:tcPr>
                    <a:solidFill>
                      <a:srgbClr val="FFFFFF"/>
                    </a:solidFill>
                  </a:tcPr>
                </a:tc>
                <a:tc>
                  <a:txBody>
                    <a:bodyPr/>
                    <a:lstStyle/>
                    <a:p>
                      <a:pPr algn="ctr"/>
                      <a:r>
                        <a:rPr sz="950" b="0">
                          <a:solidFill>
                            <a:srgbClr val="202020"/>
                          </a:solidFill>
                        </a:rPr>
                        <a:t>89.3%</a:t>
                      </a:r>
                    </a:p>
                  </a:txBody>
                  <a:tcPr>
                    <a:solidFill>
                      <a:srgbClr val="FFFFFF"/>
                    </a:solidFill>
                  </a:tcPr>
                </a:tc>
                <a:tc>
                  <a:txBody>
                    <a:bodyPr/>
                    <a:lstStyle/>
                    <a:p>
                      <a:pPr algn="ctr"/>
                      <a:r>
                        <a:rPr sz="950" b="0">
                          <a:solidFill>
                            <a:srgbClr val="202020"/>
                          </a:solidFill>
                        </a:rPr>
                        <a:t>0.238</a:t>
                      </a:r>
                    </a:p>
                  </a:txBody>
                  <a:tcPr>
                    <a:solidFill>
                      <a:srgbClr val="FFFFFF"/>
                    </a:solidFill>
                  </a:tcPr>
                </a:tc>
                <a:tc>
                  <a:txBody>
                    <a:bodyPr/>
                    <a:lstStyle/>
                    <a:p>
                      <a:pPr algn="ctr"/>
                      <a:r>
                        <a:rPr sz="950" b="0">
                          <a:solidFill>
                            <a:srgbClr val="202020"/>
                          </a:solidFill>
                        </a:rPr>
                        <a:t>0.901</a:t>
                      </a:r>
                    </a:p>
                  </a:txBody>
                  <a:tcPr>
                    <a:solidFill>
                      <a:srgbClr val="FFFFFF"/>
                    </a:solidFill>
                  </a:tcPr>
                </a:tc>
              </a:tr>
              <a:tr h="267286">
                <a:tc>
                  <a:txBody>
                    <a:bodyPr/>
                    <a:lstStyle/>
                    <a:p>
                      <a:pPr algn="l"/>
                      <a:r>
                        <a:rPr sz="950" b="1">
                          <a:solidFill>
                            <a:srgbClr val="202020"/>
                          </a:solidFill>
                        </a:rPr>
                        <a:t>11</a:t>
                      </a:r>
                    </a:p>
                  </a:txBody>
                  <a:tcPr>
                    <a:solidFill>
                      <a:srgbClr val="E8F0FE"/>
                    </a:solidFill>
                  </a:tcPr>
                </a:tc>
                <a:tc>
                  <a:txBody>
                    <a:bodyPr/>
                    <a:lstStyle/>
                    <a:p>
                      <a:pPr algn="l"/>
                      <a:r>
                        <a:rPr sz="950" b="0">
                          <a:solidFill>
                            <a:srgbClr val="202020"/>
                          </a:solidFill>
                        </a:rPr>
                        <a:t>Intermediate</a:t>
                      </a:r>
                    </a:p>
                  </a:txBody>
                  <a:tcPr>
                    <a:solidFill>
                      <a:srgbClr val="E8F0FE"/>
                    </a:solidFill>
                  </a:tcPr>
                </a:tc>
                <a:tc>
                  <a:txBody>
                    <a:bodyPr/>
                    <a:lstStyle/>
                    <a:p>
                      <a:pPr algn="ctr"/>
                      <a:r>
                        <a:rPr sz="950" b="0">
                          <a:solidFill>
                            <a:srgbClr val="202020"/>
                          </a:solidFill>
                        </a:rPr>
                        <a:t>B3 Aug</a:t>
                      </a:r>
                    </a:p>
                  </a:txBody>
                  <a:tcPr>
                    <a:solidFill>
                      <a:srgbClr val="E8F0FE"/>
                    </a:solidFill>
                  </a:tcPr>
                </a:tc>
                <a:tc>
                  <a:txBody>
                    <a:bodyPr/>
                    <a:lstStyle/>
                    <a:p>
                      <a:pPr algn="ctr"/>
                      <a:r>
                        <a:rPr sz="950" b="0">
                          <a:solidFill>
                            <a:srgbClr val="202020"/>
                          </a:solidFill>
                        </a:rPr>
                        <a:t>90.7%</a:t>
                      </a:r>
                    </a:p>
                  </a:txBody>
                  <a:tcPr>
                    <a:solidFill>
                      <a:srgbClr val="E8F0FE"/>
                    </a:solidFill>
                  </a:tcPr>
                </a:tc>
                <a:tc>
                  <a:txBody>
                    <a:bodyPr/>
                    <a:lstStyle/>
                    <a:p>
                      <a:pPr algn="ctr"/>
                      <a:r>
                        <a:rPr sz="950" b="0">
                          <a:solidFill>
                            <a:srgbClr val="202020"/>
                          </a:solidFill>
                        </a:rPr>
                        <a:t>0.239</a:t>
                      </a:r>
                    </a:p>
                  </a:txBody>
                  <a:tcPr>
                    <a:solidFill>
                      <a:srgbClr val="E8F0FE"/>
                    </a:solidFill>
                  </a:tcPr>
                </a:tc>
                <a:tc>
                  <a:txBody>
                    <a:bodyPr/>
                    <a:lstStyle/>
                    <a:p>
                      <a:pPr algn="ctr"/>
                      <a:r>
                        <a:rPr sz="950" b="0">
                          <a:solidFill>
                            <a:srgbClr val="202020"/>
                          </a:solidFill>
                        </a:rPr>
                        <a:t>0.903</a:t>
                      </a:r>
                    </a:p>
                  </a:txBody>
                  <a:tcPr>
                    <a:solidFill>
                      <a:srgbClr val="E8F0FE"/>
                    </a:solidFill>
                  </a:tcPr>
                </a:tc>
              </a:tr>
              <a:tr h="267288">
                <a:tc>
                  <a:txBody>
                    <a:bodyPr/>
                    <a:lstStyle/>
                    <a:p>
                      <a:pPr algn="l"/>
                      <a:r>
                        <a:rPr sz="950" b="1">
                          <a:solidFill>
                            <a:srgbClr val="202020"/>
                          </a:solidFill>
                        </a:rPr>
                        <a:t>12</a:t>
                      </a:r>
                    </a:p>
                  </a:txBody>
                  <a:tcPr>
                    <a:solidFill>
                      <a:srgbClr val="FFFFFF"/>
                    </a:solidFill>
                  </a:tcPr>
                </a:tc>
                <a:tc>
                  <a:txBody>
                    <a:bodyPr/>
                    <a:lstStyle/>
                    <a:p>
                      <a:pPr algn="l"/>
                      <a:r>
                        <a:rPr sz="950" b="0">
                          <a:solidFill>
                            <a:srgbClr val="202020"/>
                          </a:solidFill>
                        </a:rPr>
                        <a:t>FCNN</a:t>
                      </a:r>
                    </a:p>
                  </a:txBody>
                  <a:tcPr>
                    <a:solidFill>
                      <a:srgbClr val="FFFFFF"/>
                    </a:solidFill>
                  </a:tcPr>
                </a:tc>
                <a:tc>
                  <a:txBody>
                    <a:bodyPr/>
                    <a:lstStyle/>
                    <a:p>
                      <a:pPr algn="ctr"/>
                      <a:r>
                        <a:rPr sz="950" b="0">
                          <a:solidFill>
                            <a:srgbClr val="202020"/>
                          </a:solidFill>
                        </a:rPr>
                        <a:t>B2 Weights</a:t>
                      </a:r>
                    </a:p>
                  </a:txBody>
                  <a:tcPr>
                    <a:solidFill>
                      <a:srgbClr val="FFFFFF"/>
                    </a:solidFill>
                  </a:tcPr>
                </a:tc>
                <a:tc>
                  <a:txBody>
                    <a:bodyPr/>
                    <a:lstStyle/>
                    <a:p>
                      <a:pPr algn="ctr"/>
                      <a:r>
                        <a:rPr sz="950" b="0">
                          <a:solidFill>
                            <a:srgbClr val="202020"/>
                          </a:solidFill>
                        </a:rPr>
                        <a:t>84.2%</a:t>
                      </a:r>
                    </a:p>
                  </a:txBody>
                  <a:tcPr>
                    <a:solidFill>
                      <a:srgbClr val="FFFFFF"/>
                    </a:solidFill>
                  </a:tcPr>
                </a:tc>
                <a:tc>
                  <a:txBody>
                    <a:bodyPr/>
                    <a:lstStyle/>
                    <a:p>
                      <a:pPr algn="ctr"/>
                      <a:r>
                        <a:rPr sz="950" b="0">
                          <a:solidFill>
                            <a:srgbClr val="202020"/>
                          </a:solidFill>
                        </a:rPr>
                        <a:t>0.245</a:t>
                      </a:r>
                    </a:p>
                  </a:txBody>
                  <a:tcPr>
                    <a:solidFill>
                      <a:srgbClr val="FFFFFF"/>
                    </a:solidFill>
                  </a:tcPr>
                </a:tc>
                <a:tc>
                  <a:txBody>
                    <a:bodyPr/>
                    <a:lstStyle/>
                    <a:p>
                      <a:pPr algn="ctr"/>
                      <a:r>
                        <a:rPr sz="950" b="0">
                          <a:solidFill>
                            <a:srgbClr val="202020"/>
                          </a:solidFill>
                        </a:rPr>
                        <a:t>0.872</a:t>
                      </a:r>
                    </a:p>
                  </a:txBody>
                  <a:tcPr>
                    <a:solidFill>
                      <a:srgbClr val="FFFFFF"/>
                    </a:solidFill>
                  </a:tcPr>
                </a:tc>
              </a:tr>
            </a:tbl>
          </a:graphicData>
        </a:graphic>
      </p:graphicFrame>
      <p:sp>
        <p:nvSpPr>
          <p:cNvPr id="4" name="TextBox 3"/>
          <p:cNvSpPr txBox="1"/>
          <p:nvPr/>
        </p:nvSpPr>
        <p:spPr>
          <a:xfrm>
            <a:off x="274320" y="4297680"/>
            <a:ext cx="8595360" cy="274320"/>
          </a:xfrm>
          <a:prstGeom prst="rect">
            <a:avLst/>
          </a:prstGeom>
          <a:noFill/>
        </p:spPr>
        <p:txBody>
          <a:bodyPr wrap="none">
            <a:spAutoFit/>
          </a:bodyPr>
          <a:lstStyle/>
          <a:p>
            <a:pPr algn="l"/>
            <a:r>
              <a:rPr sz="1000" b="1" i="0">
                <a:solidFill>
                  <a:srgbClr val="202020"/>
                </a:solidFill>
              </a:rPr>
              <a:t>Best: Late Fusion B3 (Macro F1: 0.394) | +125% dari 7-class (0.175)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Hasil Transfer Learning Front-Only (ResNet18)</a:t>
            </a:r>
          </a:p>
        </p:txBody>
      </p:sp>
      <p:sp>
        <p:nvSpPr>
          <p:cNvPr id="3" name="TextBox 2"/>
          <p:cNvSpPr txBox="1"/>
          <p:nvPr/>
        </p:nvSpPr>
        <p:spPr>
          <a:xfrm>
            <a:off x="274320" y="685800"/>
            <a:ext cx="8595360" cy="274320"/>
          </a:xfrm>
          <a:prstGeom prst="rect">
            <a:avLst/>
          </a:prstGeom>
          <a:noFill/>
        </p:spPr>
        <p:txBody>
          <a:bodyPr wrap="none">
            <a:spAutoFit/>
          </a:bodyPr>
          <a:lstStyle/>
          <a:p>
            <a:pPr algn="l"/>
            <a:r>
              <a:rPr sz="1100" b="1" i="0">
                <a:solidFill>
                  <a:srgbClr val="202020"/>
                </a:solidFill>
              </a:rPr>
              <a:t>7-Class TL: Best per Model</a:t>
            </a:r>
          </a:p>
        </p:txBody>
      </p:sp>
      <p:graphicFrame>
        <p:nvGraphicFramePr>
          <p:cNvPr id="4" name="Table 3"/>
          <p:cNvGraphicFramePr>
            <a:graphicFrameLocks noGrp="1"/>
          </p:cNvGraphicFramePr>
          <p:nvPr/>
        </p:nvGraphicFramePr>
        <p:xfrm>
          <a:off x="274320" y="1005840"/>
          <a:ext cx="8595360" cy="1371600"/>
        </p:xfrm>
        <a:graphic>
          <a:graphicData uri="http://schemas.openxmlformats.org/drawingml/2006/table">
            <a:tbl>
              <a:tblPr firstRow="1" bandRow="1"/>
              <a:tblGrid>
                <a:gridCol w="2011680"/>
                <a:gridCol w="2194560"/>
                <a:gridCol w="2194560"/>
                <a:gridCol w="2194560"/>
              </a:tblGrid>
              <a:tr h="274320">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From Scratch (Best)</a:t>
                      </a:r>
                    </a:p>
                  </a:txBody>
                  <a:tcPr>
                    <a:solidFill>
                      <a:srgbClr val="1A73E8"/>
                    </a:solidFill>
                  </a:tcPr>
                </a:tc>
                <a:tc>
                  <a:txBody>
                    <a:bodyPr/>
                    <a:lstStyle/>
                    <a:p>
                      <a:pPr algn="ctr"/>
                      <a:r>
                        <a:rPr sz="950" b="1">
                          <a:solidFill>
                            <a:srgbClr val="FFFFFF"/>
                          </a:solidFill>
                        </a:rPr>
                        <a:t>Transfer Learning (Best)</a:t>
                      </a:r>
                    </a:p>
                  </a:txBody>
                  <a:tcPr>
                    <a:solidFill>
                      <a:srgbClr val="1A73E8"/>
                    </a:solidFill>
                  </a:tcPr>
                </a:tc>
                <a:tc>
                  <a:txBody>
                    <a:bodyPr/>
                    <a:lstStyle/>
                    <a:p>
                      <a:pPr algn="ctr"/>
                      <a:r>
                        <a:rPr sz="950" b="1">
                          <a:solidFill>
                            <a:srgbClr val="FFFFFF"/>
                          </a:solidFill>
                        </a:rPr>
                        <a:t>Peningkatan</a:t>
                      </a:r>
                    </a:p>
                  </a:txBody>
                  <a:tcPr>
                    <a:solidFill>
                      <a:srgbClr val="1A73E8"/>
                    </a:solidFill>
                  </a:tcPr>
                </a:tc>
              </a:tr>
              <a:tr h="274320">
                <a:tc>
                  <a:txBody>
                    <a:bodyPr/>
                    <a:lstStyle/>
                    <a:p>
                      <a:pPr algn="l"/>
                      <a:r>
                        <a:rPr sz="950" b="1">
                          <a:solidFill>
                            <a:srgbClr val="202020"/>
                          </a:solidFill>
                        </a:rPr>
                        <a:t>CNN</a:t>
                      </a:r>
                    </a:p>
                  </a:txBody>
                  <a:tcPr>
                    <a:solidFill>
                      <a:srgbClr val="E8F0FE"/>
                    </a:solidFill>
                  </a:tcPr>
                </a:tc>
                <a:tc>
                  <a:txBody>
                    <a:bodyPr/>
                    <a:lstStyle/>
                    <a:p>
                      <a:pPr algn="l"/>
                      <a:r>
                        <a:rPr sz="950" b="0">
                          <a:solidFill>
                            <a:srgbClr val="202020"/>
                          </a:solidFill>
                        </a:rPr>
                        <a:t>0.137 (B1)</a:t>
                      </a:r>
                    </a:p>
                  </a:txBody>
                  <a:tcPr>
                    <a:solidFill>
                      <a:srgbClr val="E8F0FE"/>
                    </a:solidFill>
                  </a:tcPr>
                </a:tc>
                <a:tc>
                  <a:txBody>
                    <a:bodyPr/>
                    <a:lstStyle/>
                    <a:p>
                      <a:pPr algn="ctr"/>
                      <a:r>
                        <a:rPr sz="950" b="0">
                          <a:solidFill>
                            <a:srgbClr val="202020"/>
                          </a:solidFill>
                        </a:rPr>
                        <a:t>0.154 (B1)</a:t>
                      </a:r>
                    </a:p>
                  </a:txBody>
                  <a:tcPr>
                    <a:solidFill>
                      <a:srgbClr val="E8F0FE"/>
                    </a:solidFill>
                  </a:tcPr>
                </a:tc>
                <a:tc>
                  <a:txBody>
                    <a:bodyPr/>
                    <a:lstStyle/>
                    <a:p>
                      <a:pPr algn="ctr"/>
                      <a:r>
                        <a:rPr sz="950" b="0">
                          <a:solidFill>
                            <a:srgbClr val="202020"/>
                          </a:solidFill>
                        </a:rPr>
                        <a:t>+12%</a:t>
                      </a:r>
                    </a:p>
                  </a:txBody>
                  <a:tcPr>
                    <a:solidFill>
                      <a:srgbClr val="E8F0FE"/>
                    </a:solidFill>
                  </a:tcPr>
                </a:tc>
              </a:tr>
              <a:tr h="274320">
                <a:tc>
                  <a:txBody>
                    <a:bodyPr/>
                    <a:lstStyle/>
                    <a:p>
                      <a:pPr algn="l"/>
                      <a:r>
                        <a:rPr sz="950" b="1">
                          <a:solidFill>
                            <a:srgbClr val="202020"/>
                          </a:solidFill>
                        </a:rPr>
                        <a:t>FCNN</a:t>
                      </a:r>
                    </a:p>
                  </a:txBody>
                  <a:tcPr>
                    <a:solidFill>
                      <a:srgbClr val="FFFFFF"/>
                    </a:solidFill>
                  </a:tcPr>
                </a:tc>
                <a:tc>
                  <a:txBody>
                    <a:bodyPr/>
                    <a:lstStyle/>
                    <a:p>
                      <a:pPr algn="l"/>
                      <a:r>
                        <a:rPr sz="950" b="0">
                          <a:solidFill>
                            <a:srgbClr val="202020"/>
                          </a:solidFill>
                        </a:rPr>
                        <a:t>0.158 (B1)</a:t>
                      </a:r>
                    </a:p>
                  </a:txBody>
                  <a:tcPr>
                    <a:solidFill>
                      <a:srgbClr val="FFFFFF"/>
                    </a:solidFill>
                  </a:tcPr>
                </a:tc>
                <a:tc>
                  <a:txBody>
                    <a:bodyPr/>
                    <a:lstStyle/>
                    <a:p>
                      <a:pPr algn="ctr"/>
                      <a:r>
                        <a:rPr sz="950" b="0">
                          <a:solidFill>
                            <a:srgbClr val="202020"/>
                          </a:solidFill>
                        </a:rPr>
                        <a:t>0.158 (B1)</a:t>
                      </a:r>
                    </a:p>
                  </a:txBody>
                  <a:tcPr>
                    <a:solidFill>
                      <a:srgbClr val="FFFFFF"/>
                    </a:solidFill>
                  </a:tcPr>
                </a:tc>
                <a:tc>
                  <a:txBody>
                    <a:bodyPr/>
                    <a:lstStyle/>
                    <a:p>
                      <a:pPr algn="ctr"/>
                      <a:r>
                        <a:rPr sz="950" b="0">
                          <a:solidFill>
                            <a:srgbClr val="202020"/>
                          </a:solidFill>
                        </a:rPr>
                        <a:t>- (sama)</a:t>
                      </a:r>
                    </a:p>
                  </a:txBody>
                  <a:tcPr>
                    <a:solidFill>
                      <a:srgbClr val="FFFFFF"/>
                    </a:solidFill>
                  </a:tcPr>
                </a:tc>
              </a:tr>
              <a:tr h="274320">
                <a:tc>
                  <a:txBody>
                    <a:bodyPr/>
                    <a:lstStyle/>
                    <a:p>
                      <a:pPr algn="l"/>
                      <a:r>
                        <a:rPr sz="950" b="1">
                          <a:solidFill>
                            <a:srgbClr val="202020"/>
                          </a:solidFill>
                        </a:rPr>
                        <a:t>Late Fusion</a:t>
                      </a:r>
                    </a:p>
                  </a:txBody>
                  <a:tcPr>
                    <a:solidFill>
                      <a:srgbClr val="E8F0FE"/>
                    </a:solidFill>
                  </a:tcPr>
                </a:tc>
                <a:tc>
                  <a:txBody>
                    <a:bodyPr/>
                    <a:lstStyle/>
                    <a:p>
                      <a:pPr algn="l"/>
                      <a:r>
                        <a:rPr sz="950" b="0">
                          <a:solidFill>
                            <a:srgbClr val="202020"/>
                          </a:solidFill>
                        </a:rPr>
                        <a:t>0.175 (B3)</a:t>
                      </a:r>
                    </a:p>
                  </a:txBody>
                  <a:tcPr>
                    <a:solidFill>
                      <a:srgbClr val="E8F0FE"/>
                    </a:solidFill>
                  </a:tcPr>
                </a:tc>
                <a:tc>
                  <a:txBody>
                    <a:bodyPr/>
                    <a:lstStyle/>
                    <a:p>
                      <a:pPr algn="ctr"/>
                      <a:r>
                        <a:rPr sz="950" b="0">
                          <a:solidFill>
                            <a:srgbClr val="202020"/>
                          </a:solidFill>
                        </a:rPr>
                        <a:t>0.167 (B1)</a:t>
                      </a:r>
                    </a:p>
                  </a:txBody>
                  <a:tcPr>
                    <a:solidFill>
                      <a:srgbClr val="E8F0FE"/>
                    </a:solidFill>
                  </a:tcPr>
                </a:tc>
                <a:tc>
                  <a:txBody>
                    <a:bodyPr/>
                    <a:lstStyle/>
                    <a:p>
                      <a:pPr algn="ctr"/>
                      <a:r>
                        <a:rPr sz="950" b="0">
                          <a:solidFill>
                            <a:srgbClr val="202020"/>
                          </a:solidFill>
                        </a:rPr>
                        <a:t>-5%</a:t>
                      </a:r>
                    </a:p>
                  </a:txBody>
                  <a:tcPr>
                    <a:solidFill>
                      <a:srgbClr val="E8F0FE"/>
                    </a:solidFill>
                  </a:tcPr>
                </a:tc>
              </a:tr>
              <a:tr h="274320">
                <a:tc>
                  <a:txBody>
                    <a:bodyPr/>
                    <a:lstStyle/>
                    <a:p>
                      <a:pPr algn="l"/>
                      <a:r>
                        <a:rPr sz="950" b="1">
                          <a:solidFill>
                            <a:srgbClr val="202020"/>
                          </a:solidFill>
                        </a:rPr>
                        <a:t>Intermediate</a:t>
                      </a:r>
                    </a:p>
                  </a:txBody>
                  <a:tcPr>
                    <a:solidFill>
                      <a:srgbClr val="C6EFCE"/>
                    </a:solidFill>
                  </a:tcPr>
                </a:tc>
                <a:tc>
                  <a:txBody>
                    <a:bodyPr/>
                    <a:lstStyle/>
                    <a:p>
                      <a:pPr algn="l"/>
                      <a:r>
                        <a:rPr sz="950" b="1">
                          <a:solidFill>
                            <a:srgbClr val="202020"/>
                          </a:solidFill>
                        </a:rPr>
                        <a:t>0.137 (B1)</a:t>
                      </a:r>
                    </a:p>
                  </a:txBody>
                  <a:tcPr>
                    <a:solidFill>
                      <a:srgbClr val="C6EFCE"/>
                    </a:solidFill>
                  </a:tcPr>
                </a:tc>
                <a:tc>
                  <a:txBody>
                    <a:bodyPr/>
                    <a:lstStyle/>
                    <a:p>
                      <a:pPr algn="ctr"/>
                      <a:r>
                        <a:rPr sz="950" b="1">
                          <a:solidFill>
                            <a:srgbClr val="202020"/>
                          </a:solidFill>
                        </a:rPr>
                        <a:t>0.180 (B3)</a:t>
                      </a:r>
                    </a:p>
                  </a:txBody>
                  <a:tcPr>
                    <a:solidFill>
                      <a:srgbClr val="C6EFCE"/>
                    </a:solidFill>
                  </a:tcPr>
                </a:tc>
                <a:tc>
                  <a:txBody>
                    <a:bodyPr/>
                    <a:lstStyle/>
                    <a:p>
                      <a:pPr algn="ctr"/>
                      <a:r>
                        <a:rPr sz="950" b="1">
                          <a:solidFill>
                            <a:srgbClr val="202020"/>
                          </a:solidFill>
                        </a:rPr>
                        <a:t>+31%</a:t>
                      </a:r>
                    </a:p>
                  </a:txBody>
                  <a:tcPr>
                    <a:solidFill>
                      <a:srgbClr val="C6EFCE"/>
                    </a:solidFill>
                  </a:tcPr>
                </a:tc>
              </a:tr>
            </a:tbl>
          </a:graphicData>
        </a:graphic>
      </p:graphicFrame>
      <p:sp>
        <p:nvSpPr>
          <p:cNvPr id="5" name="TextBox 4"/>
          <p:cNvSpPr txBox="1"/>
          <p:nvPr/>
        </p:nvSpPr>
        <p:spPr>
          <a:xfrm>
            <a:off x="274320" y="2514600"/>
            <a:ext cx="8595360" cy="274320"/>
          </a:xfrm>
          <a:prstGeom prst="rect">
            <a:avLst/>
          </a:prstGeom>
          <a:noFill/>
        </p:spPr>
        <p:txBody>
          <a:bodyPr wrap="none">
            <a:spAutoFit/>
          </a:bodyPr>
          <a:lstStyle/>
          <a:p>
            <a:pPr algn="l"/>
            <a:r>
              <a:rPr sz="1100" b="1" i="0">
                <a:solidFill>
                  <a:srgbClr val="202020"/>
                </a:solidFill>
              </a:rPr>
              <a:t>4-Class TL: Best per Model</a:t>
            </a:r>
          </a:p>
        </p:txBody>
      </p:sp>
      <p:graphicFrame>
        <p:nvGraphicFramePr>
          <p:cNvPr id="6" name="Table 5"/>
          <p:cNvGraphicFramePr>
            <a:graphicFrameLocks noGrp="1"/>
          </p:cNvGraphicFramePr>
          <p:nvPr/>
        </p:nvGraphicFramePr>
        <p:xfrm>
          <a:off x="274320" y="2834640"/>
          <a:ext cx="8595360" cy="1371600"/>
        </p:xfrm>
        <a:graphic>
          <a:graphicData uri="http://schemas.openxmlformats.org/drawingml/2006/table">
            <a:tbl>
              <a:tblPr firstRow="1" bandRow="1"/>
              <a:tblGrid>
                <a:gridCol w="2011680"/>
                <a:gridCol w="2194560"/>
                <a:gridCol w="2194560"/>
                <a:gridCol w="2194560"/>
              </a:tblGrid>
              <a:tr h="274320">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From Scratch (Best)</a:t>
                      </a:r>
                    </a:p>
                  </a:txBody>
                  <a:tcPr>
                    <a:solidFill>
                      <a:srgbClr val="1A73E8"/>
                    </a:solidFill>
                  </a:tcPr>
                </a:tc>
                <a:tc>
                  <a:txBody>
                    <a:bodyPr/>
                    <a:lstStyle/>
                    <a:p>
                      <a:pPr algn="ctr"/>
                      <a:r>
                        <a:rPr sz="950" b="1">
                          <a:solidFill>
                            <a:srgbClr val="FFFFFF"/>
                          </a:solidFill>
                        </a:rPr>
                        <a:t>Transfer Learning (Best)</a:t>
                      </a:r>
                    </a:p>
                  </a:txBody>
                  <a:tcPr>
                    <a:solidFill>
                      <a:srgbClr val="1A73E8"/>
                    </a:solidFill>
                  </a:tcPr>
                </a:tc>
                <a:tc>
                  <a:txBody>
                    <a:bodyPr/>
                    <a:lstStyle/>
                    <a:p>
                      <a:pPr algn="ctr"/>
                      <a:r>
                        <a:rPr sz="950" b="1">
                          <a:solidFill>
                            <a:srgbClr val="FFFFFF"/>
                          </a:solidFill>
                        </a:rPr>
                        <a:t>Peningkatan</a:t>
                      </a:r>
                    </a:p>
                  </a:txBody>
                  <a:tcPr>
                    <a:solidFill>
                      <a:srgbClr val="1A73E8"/>
                    </a:solidFill>
                  </a:tcPr>
                </a:tc>
              </a:tr>
              <a:tr h="274320">
                <a:tc>
                  <a:txBody>
                    <a:bodyPr/>
                    <a:lstStyle/>
                    <a:p>
                      <a:pPr algn="l"/>
                      <a:r>
                        <a:rPr sz="950" b="1">
                          <a:solidFill>
                            <a:srgbClr val="202020"/>
                          </a:solidFill>
                        </a:rPr>
                        <a:t>CNN</a:t>
                      </a:r>
                    </a:p>
                  </a:txBody>
                  <a:tcPr>
                    <a:solidFill>
                      <a:srgbClr val="E8F0FE"/>
                    </a:solidFill>
                  </a:tcPr>
                </a:tc>
                <a:tc>
                  <a:txBody>
                    <a:bodyPr/>
                    <a:lstStyle/>
                    <a:p>
                      <a:pPr algn="l"/>
                      <a:r>
                        <a:rPr sz="950" b="0">
                          <a:solidFill>
                            <a:srgbClr val="202020"/>
                          </a:solidFill>
                        </a:rPr>
                        <a:t>0.265 (B3)</a:t>
                      </a:r>
                    </a:p>
                  </a:txBody>
                  <a:tcPr>
                    <a:solidFill>
                      <a:srgbClr val="E8F0FE"/>
                    </a:solidFill>
                  </a:tcPr>
                </a:tc>
                <a:tc>
                  <a:txBody>
                    <a:bodyPr/>
                    <a:lstStyle/>
                    <a:p>
                      <a:pPr algn="ctr"/>
                      <a:r>
                        <a:rPr sz="950" b="0">
                          <a:solidFill>
                            <a:srgbClr val="202020"/>
                          </a:solidFill>
                        </a:rPr>
                        <a:t>0.274 (B1)</a:t>
                      </a:r>
                    </a:p>
                  </a:txBody>
                  <a:tcPr>
                    <a:solidFill>
                      <a:srgbClr val="E8F0FE"/>
                    </a:solidFill>
                  </a:tcPr>
                </a:tc>
                <a:tc>
                  <a:txBody>
                    <a:bodyPr/>
                    <a:lstStyle/>
                    <a:p>
                      <a:pPr algn="ctr"/>
                      <a:r>
                        <a:rPr sz="950" b="0">
                          <a:solidFill>
                            <a:srgbClr val="202020"/>
                          </a:solidFill>
                        </a:rPr>
                        <a:t>+3%</a:t>
                      </a:r>
                    </a:p>
                  </a:txBody>
                  <a:tcPr>
                    <a:solidFill>
                      <a:srgbClr val="E8F0FE"/>
                    </a:solidFill>
                  </a:tcPr>
                </a:tc>
              </a:tr>
              <a:tr h="274320">
                <a:tc>
                  <a:txBody>
                    <a:bodyPr/>
                    <a:lstStyle/>
                    <a:p>
                      <a:pPr algn="l"/>
                      <a:r>
                        <a:rPr sz="950" b="1">
                          <a:solidFill>
                            <a:srgbClr val="202020"/>
                          </a:solidFill>
                        </a:rPr>
                        <a:t>FCNN</a:t>
                      </a:r>
                    </a:p>
                  </a:txBody>
                  <a:tcPr>
                    <a:solidFill>
                      <a:srgbClr val="FFFFFF"/>
                    </a:solidFill>
                  </a:tcPr>
                </a:tc>
                <a:tc>
                  <a:txBody>
                    <a:bodyPr/>
                    <a:lstStyle/>
                    <a:p>
                      <a:pPr algn="l"/>
                      <a:r>
                        <a:rPr sz="950" b="0">
                          <a:solidFill>
                            <a:srgbClr val="202020"/>
                          </a:solidFill>
                        </a:rPr>
                        <a:t>0.361 (B3)</a:t>
                      </a:r>
                    </a:p>
                  </a:txBody>
                  <a:tcPr>
                    <a:solidFill>
                      <a:srgbClr val="FFFFFF"/>
                    </a:solidFill>
                  </a:tcPr>
                </a:tc>
                <a:tc>
                  <a:txBody>
                    <a:bodyPr/>
                    <a:lstStyle/>
                    <a:p>
                      <a:pPr algn="ctr"/>
                      <a:r>
                        <a:rPr sz="950" b="0">
                          <a:solidFill>
                            <a:srgbClr val="202020"/>
                          </a:solidFill>
                        </a:rPr>
                        <a:t>0.361 (B3)</a:t>
                      </a:r>
                    </a:p>
                  </a:txBody>
                  <a:tcPr>
                    <a:solidFill>
                      <a:srgbClr val="FFFFFF"/>
                    </a:solidFill>
                  </a:tcPr>
                </a:tc>
                <a:tc>
                  <a:txBody>
                    <a:bodyPr/>
                    <a:lstStyle/>
                    <a:p>
                      <a:pPr algn="ctr"/>
                      <a:r>
                        <a:rPr sz="950" b="0">
                          <a:solidFill>
                            <a:srgbClr val="202020"/>
                          </a:solidFill>
                        </a:rPr>
                        <a:t>- (sama)</a:t>
                      </a:r>
                    </a:p>
                  </a:txBody>
                  <a:tcPr>
                    <a:solidFill>
                      <a:srgbClr val="FFFFFF"/>
                    </a:solidFill>
                  </a:tcPr>
                </a:tc>
              </a:tr>
              <a:tr h="274320">
                <a:tc>
                  <a:txBody>
                    <a:bodyPr/>
                    <a:lstStyle/>
                    <a:p>
                      <a:pPr algn="l"/>
                      <a:r>
                        <a:rPr sz="950" b="1">
                          <a:solidFill>
                            <a:srgbClr val="202020"/>
                          </a:solidFill>
                        </a:rPr>
                        <a:t>Late Fusion</a:t>
                      </a:r>
                    </a:p>
                  </a:txBody>
                  <a:tcPr>
                    <a:solidFill>
                      <a:srgbClr val="E8F0FE"/>
                    </a:solidFill>
                  </a:tcPr>
                </a:tc>
                <a:tc>
                  <a:txBody>
                    <a:bodyPr/>
                    <a:lstStyle/>
                    <a:p>
                      <a:pPr algn="l"/>
                      <a:r>
                        <a:rPr sz="950" b="0">
                          <a:solidFill>
                            <a:srgbClr val="202020"/>
                          </a:solidFill>
                        </a:rPr>
                        <a:t>0.394 (B3)</a:t>
                      </a:r>
                    </a:p>
                  </a:txBody>
                  <a:tcPr>
                    <a:solidFill>
                      <a:srgbClr val="E8F0FE"/>
                    </a:solidFill>
                  </a:tcPr>
                </a:tc>
                <a:tc>
                  <a:txBody>
                    <a:bodyPr/>
                    <a:lstStyle/>
                    <a:p>
                      <a:pPr algn="ctr"/>
                      <a:r>
                        <a:rPr sz="950" b="0">
                          <a:solidFill>
                            <a:srgbClr val="202020"/>
                          </a:solidFill>
                        </a:rPr>
                        <a:t>0.372 (B3)</a:t>
                      </a:r>
                    </a:p>
                  </a:txBody>
                  <a:tcPr>
                    <a:solidFill>
                      <a:srgbClr val="E8F0FE"/>
                    </a:solidFill>
                  </a:tcPr>
                </a:tc>
                <a:tc>
                  <a:txBody>
                    <a:bodyPr/>
                    <a:lstStyle/>
                    <a:p>
                      <a:pPr algn="ctr"/>
                      <a:r>
                        <a:rPr sz="950" b="0">
                          <a:solidFill>
                            <a:srgbClr val="202020"/>
                          </a:solidFill>
                        </a:rPr>
                        <a:t>-6%</a:t>
                      </a:r>
                    </a:p>
                  </a:txBody>
                  <a:tcPr>
                    <a:solidFill>
                      <a:srgbClr val="E8F0FE"/>
                    </a:solidFill>
                  </a:tcPr>
                </a:tc>
              </a:tr>
              <a:tr h="274320">
                <a:tc>
                  <a:txBody>
                    <a:bodyPr/>
                    <a:lstStyle/>
                    <a:p>
                      <a:pPr algn="l"/>
                      <a:r>
                        <a:rPr sz="950" b="1">
                          <a:solidFill>
                            <a:srgbClr val="202020"/>
                          </a:solidFill>
                        </a:rPr>
                        <a:t>Intermediate</a:t>
                      </a:r>
                    </a:p>
                  </a:txBody>
                  <a:tcPr>
                    <a:solidFill>
                      <a:srgbClr val="C6EFCE"/>
                    </a:solidFill>
                  </a:tcPr>
                </a:tc>
                <a:tc>
                  <a:txBody>
                    <a:bodyPr/>
                    <a:lstStyle/>
                    <a:p>
                      <a:pPr algn="l"/>
                      <a:r>
                        <a:rPr sz="950" b="1">
                          <a:solidFill>
                            <a:srgbClr val="202020"/>
                          </a:solidFill>
                        </a:rPr>
                        <a:t>0.269 (B2)</a:t>
                      </a:r>
                    </a:p>
                  </a:txBody>
                  <a:tcPr>
                    <a:solidFill>
                      <a:srgbClr val="C6EFCE"/>
                    </a:solidFill>
                  </a:tcPr>
                </a:tc>
                <a:tc>
                  <a:txBody>
                    <a:bodyPr/>
                    <a:lstStyle/>
                    <a:p>
                      <a:pPr algn="ctr"/>
                      <a:r>
                        <a:rPr sz="950" b="1">
                          <a:solidFill>
                            <a:srgbClr val="202020"/>
                          </a:solidFill>
                        </a:rPr>
                        <a:t>0.412 (B1)</a:t>
                      </a:r>
                    </a:p>
                  </a:txBody>
                  <a:tcPr>
                    <a:solidFill>
                      <a:srgbClr val="C6EFCE"/>
                    </a:solidFill>
                  </a:tcPr>
                </a:tc>
                <a:tc>
                  <a:txBody>
                    <a:bodyPr/>
                    <a:lstStyle/>
                    <a:p>
                      <a:pPr algn="ctr"/>
                      <a:r>
                        <a:rPr sz="950" b="1">
                          <a:solidFill>
                            <a:srgbClr val="202020"/>
                          </a:solidFill>
                        </a:rPr>
                        <a:t>+53%</a:t>
                      </a:r>
                    </a:p>
                  </a:txBody>
                  <a:tcPr>
                    <a:solidFill>
                      <a:srgbClr val="C6EFCE"/>
                    </a:solidFill>
                  </a:tcPr>
                </a:tc>
              </a:tr>
            </a:tbl>
          </a:graphicData>
        </a:graphic>
      </p:graphicFrame>
      <p:sp>
        <p:nvSpPr>
          <p:cNvPr id="7" name="TextBox 6"/>
          <p:cNvSpPr txBox="1"/>
          <p:nvPr/>
        </p:nvSpPr>
        <p:spPr>
          <a:xfrm>
            <a:off x="274320" y="4297680"/>
            <a:ext cx="8595360" cy="274320"/>
          </a:xfrm>
          <a:prstGeom prst="rect">
            <a:avLst/>
          </a:prstGeom>
          <a:noFill/>
        </p:spPr>
        <p:txBody>
          <a:bodyPr wrap="none">
            <a:spAutoFit/>
          </a:bodyPr>
          <a:lstStyle/>
          <a:p>
            <a:pPr algn="l"/>
            <a:r>
              <a:rPr sz="1000" b="1" i="0">
                <a:solidFill>
                  <a:srgbClr val="202020"/>
                </a:solidFill>
              </a:rPr>
              <a:t>Best Overall: Intermediate Fusion TL 4-class B1 (Macro F1: 0.412)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48640"/>
          </a:xfrm>
          <a:prstGeom prst="rect">
            <a:avLst/>
          </a:prstGeom>
          <a:noFill/>
        </p:spPr>
        <p:txBody>
          <a:bodyPr wrap="none">
            <a:spAutoFit/>
          </a:bodyPr>
          <a:lstStyle/>
          <a:p>
            <a:pPr algn="l"/>
            <a:r>
              <a:rPr sz="2000" b="1" i="0">
                <a:solidFill>
                  <a:srgbClr val="202020"/>
                </a:solidFill>
              </a:rPr>
              <a:t>Perbandingan Front-Only vs Front+Side</a:t>
            </a:r>
          </a:p>
        </p:txBody>
      </p:sp>
      <p:graphicFrame>
        <p:nvGraphicFramePr>
          <p:cNvPr id="3" name="Table 2"/>
          <p:cNvGraphicFramePr>
            <a:graphicFrameLocks noGrp="1"/>
          </p:cNvGraphicFramePr>
          <p:nvPr/>
        </p:nvGraphicFramePr>
        <p:xfrm>
          <a:off x="274320" y="731520"/>
          <a:ext cx="8595360" cy="1463040"/>
        </p:xfrm>
        <a:graphic>
          <a:graphicData uri="http://schemas.openxmlformats.org/drawingml/2006/table">
            <a:tbl>
              <a:tblPr firstRow="1" bandRow="1"/>
              <a:tblGrid>
                <a:gridCol w="1828800"/>
                <a:gridCol w="2560320"/>
                <a:gridCol w="2560320"/>
                <a:gridCol w="1645920"/>
              </a:tblGrid>
              <a:tr h="292608">
                <a:tc>
                  <a:txBody>
                    <a:bodyPr/>
                    <a:lstStyle/>
                    <a:p>
                      <a:pPr algn="ctr"/>
                      <a:r>
                        <a:rPr sz="1000" b="1">
                          <a:solidFill>
                            <a:srgbClr val="FFFFFF"/>
                          </a:solidFill>
                        </a:rPr>
                        <a:t>Tahap</a:t>
                      </a:r>
                    </a:p>
                  </a:txBody>
                  <a:tcPr>
                    <a:solidFill>
                      <a:srgbClr val="1A73E8"/>
                    </a:solidFill>
                  </a:tcPr>
                </a:tc>
                <a:tc>
                  <a:txBody>
                    <a:bodyPr/>
                    <a:lstStyle/>
                    <a:p>
                      <a:pPr algn="ctr"/>
                      <a:r>
                        <a:rPr sz="1000" b="1">
                          <a:solidFill>
                            <a:srgbClr val="FFFFFF"/>
                          </a:solidFill>
                        </a:rPr>
                        <a:t>Front-Only (F1)</a:t>
                      </a:r>
                    </a:p>
                  </a:txBody>
                  <a:tcPr>
                    <a:solidFill>
                      <a:srgbClr val="1A73E8"/>
                    </a:solidFill>
                  </a:tcPr>
                </a:tc>
                <a:tc>
                  <a:txBody>
                    <a:bodyPr/>
                    <a:lstStyle/>
                    <a:p>
                      <a:pPr algn="ctr"/>
                      <a:r>
                        <a:rPr sz="1000" b="1">
                          <a:solidFill>
                            <a:srgbClr val="FFFFFF"/>
                          </a:solidFill>
                        </a:rPr>
                        <a:t>Front+Side (F1)</a:t>
                      </a:r>
                    </a:p>
                  </a:txBody>
                  <a:tcPr>
                    <a:solidFill>
                      <a:srgbClr val="1A73E8"/>
                    </a:solidFill>
                  </a:tcPr>
                </a:tc>
                <a:tc>
                  <a:txBody>
                    <a:bodyPr/>
                    <a:lstStyle/>
                    <a:p>
                      <a:pPr algn="ctr"/>
                      <a:r>
                        <a:rPr sz="1000" b="1">
                          <a:solidFill>
                            <a:srgbClr val="FFFFFF"/>
                          </a:solidFill>
                        </a:rPr>
                        <a:t>Selisih</a:t>
                      </a:r>
                    </a:p>
                  </a:txBody>
                  <a:tcPr>
                    <a:solidFill>
                      <a:srgbClr val="1A73E8"/>
                    </a:solidFill>
                  </a:tcPr>
                </a:tc>
              </a:tr>
              <a:tr h="292608">
                <a:tc>
                  <a:txBody>
                    <a:bodyPr/>
                    <a:lstStyle/>
                    <a:p>
                      <a:pPr algn="l"/>
                      <a:r>
                        <a:rPr sz="1000" b="1">
                          <a:solidFill>
                            <a:srgbClr val="202020"/>
                          </a:solidFill>
                        </a:rPr>
                        <a:t>7-class scratch</a:t>
                      </a:r>
                    </a:p>
                  </a:txBody>
                  <a:tcPr>
                    <a:solidFill>
                      <a:srgbClr val="E8F0FE"/>
                    </a:solidFill>
                  </a:tcPr>
                </a:tc>
                <a:tc>
                  <a:txBody>
                    <a:bodyPr/>
                    <a:lstStyle/>
                    <a:p>
                      <a:pPr algn="l"/>
                      <a:r>
                        <a:rPr sz="1000" b="0">
                          <a:solidFill>
                            <a:srgbClr val="202020"/>
                          </a:solidFill>
                        </a:rPr>
                        <a:t>0.175 (Late Fusion B3)</a:t>
                      </a:r>
                    </a:p>
                  </a:txBody>
                  <a:tcPr>
                    <a:solidFill>
                      <a:srgbClr val="E8F0FE"/>
                    </a:solidFill>
                  </a:tcPr>
                </a:tc>
                <a:tc>
                  <a:txBody>
                    <a:bodyPr/>
                    <a:lstStyle/>
                    <a:p>
                      <a:pPr algn="ctr"/>
                      <a:r>
                        <a:rPr sz="1000" b="0">
                          <a:solidFill>
                            <a:srgbClr val="202020"/>
                          </a:solidFill>
                        </a:rPr>
                        <a:t>0.234 (FCNN B1)</a:t>
                      </a:r>
                    </a:p>
                  </a:txBody>
                  <a:tcPr>
                    <a:solidFill>
                      <a:srgbClr val="E8F0FE"/>
                    </a:solidFill>
                  </a:tcPr>
                </a:tc>
                <a:tc>
                  <a:txBody>
                    <a:bodyPr/>
                    <a:lstStyle/>
                    <a:p>
                      <a:pPr algn="ctr"/>
                      <a:r>
                        <a:rPr sz="1000" b="0">
                          <a:solidFill>
                            <a:srgbClr val="202020"/>
                          </a:solidFill>
                        </a:rPr>
                        <a:t>-0.060</a:t>
                      </a:r>
                    </a:p>
                  </a:txBody>
                  <a:tcPr>
                    <a:solidFill>
                      <a:srgbClr val="E8F0FE"/>
                    </a:solidFill>
                  </a:tcPr>
                </a:tc>
              </a:tr>
              <a:tr h="292608">
                <a:tc>
                  <a:txBody>
                    <a:bodyPr/>
                    <a:lstStyle/>
                    <a:p>
                      <a:pPr algn="l"/>
                      <a:r>
                        <a:rPr sz="1000" b="1">
                          <a:solidFill>
                            <a:srgbClr val="202020"/>
                          </a:solidFill>
                        </a:rPr>
                        <a:t>4-class scratch</a:t>
                      </a:r>
                    </a:p>
                  </a:txBody>
                  <a:tcPr>
                    <a:solidFill>
                      <a:srgbClr val="FFFFFF"/>
                    </a:solidFill>
                  </a:tcPr>
                </a:tc>
                <a:tc>
                  <a:txBody>
                    <a:bodyPr/>
                    <a:lstStyle/>
                    <a:p>
                      <a:pPr algn="l"/>
                      <a:r>
                        <a:rPr sz="1000" b="0">
                          <a:solidFill>
                            <a:srgbClr val="202020"/>
                          </a:solidFill>
                        </a:rPr>
                        <a:t>0.394 (Late Fusion B3)</a:t>
                      </a:r>
                    </a:p>
                  </a:txBody>
                  <a:tcPr>
                    <a:solidFill>
                      <a:srgbClr val="FFFFFF"/>
                    </a:solidFill>
                  </a:tcPr>
                </a:tc>
                <a:tc>
                  <a:txBody>
                    <a:bodyPr/>
                    <a:lstStyle/>
                    <a:p>
                      <a:pPr algn="ctr"/>
                      <a:r>
                        <a:rPr sz="1000" b="0">
                          <a:solidFill>
                            <a:srgbClr val="202020"/>
                          </a:solidFill>
                        </a:rPr>
                        <a:t>0.394 (FCNN B3)</a:t>
                      </a:r>
                    </a:p>
                  </a:txBody>
                  <a:tcPr>
                    <a:solidFill>
                      <a:srgbClr val="FFFFFF"/>
                    </a:solidFill>
                  </a:tcPr>
                </a:tc>
                <a:tc>
                  <a:txBody>
                    <a:bodyPr/>
                    <a:lstStyle/>
                    <a:p>
                      <a:pPr algn="ctr"/>
                      <a:r>
                        <a:rPr sz="1000" b="0">
                          <a:solidFill>
                            <a:srgbClr val="202020"/>
                          </a:solidFill>
                        </a:rPr>
                        <a:t>-0.001</a:t>
                      </a:r>
                    </a:p>
                  </a:txBody>
                  <a:tcPr>
                    <a:solidFill>
                      <a:srgbClr val="FFFFFF"/>
                    </a:solidFill>
                  </a:tcPr>
                </a:tc>
              </a:tr>
              <a:tr h="292608">
                <a:tc>
                  <a:txBody>
                    <a:bodyPr/>
                    <a:lstStyle/>
                    <a:p>
                      <a:pPr algn="l"/>
                      <a:r>
                        <a:rPr sz="1000" b="1">
                          <a:solidFill>
                            <a:srgbClr val="202020"/>
                          </a:solidFill>
                        </a:rPr>
                        <a:t>7-class TL</a:t>
                      </a:r>
                    </a:p>
                  </a:txBody>
                  <a:tcPr>
                    <a:solidFill>
                      <a:srgbClr val="E8F0FE"/>
                    </a:solidFill>
                  </a:tcPr>
                </a:tc>
                <a:tc>
                  <a:txBody>
                    <a:bodyPr/>
                    <a:lstStyle/>
                    <a:p>
                      <a:pPr algn="l"/>
                      <a:r>
                        <a:rPr sz="1000" b="0">
                          <a:solidFill>
                            <a:srgbClr val="202020"/>
                          </a:solidFill>
                        </a:rPr>
                        <a:t>0.180 (Intermediate TL B3)</a:t>
                      </a:r>
                    </a:p>
                  </a:txBody>
                  <a:tcPr>
                    <a:solidFill>
                      <a:srgbClr val="E8F0FE"/>
                    </a:solidFill>
                  </a:tcPr>
                </a:tc>
                <a:tc>
                  <a:txBody>
                    <a:bodyPr/>
                    <a:lstStyle/>
                    <a:p>
                      <a:pPr algn="ctr"/>
                      <a:r>
                        <a:rPr sz="1000" b="0">
                          <a:solidFill>
                            <a:srgbClr val="202020"/>
                          </a:solidFill>
                        </a:rPr>
                        <a:t>0.232 (Intermediate TL B1)</a:t>
                      </a:r>
                    </a:p>
                  </a:txBody>
                  <a:tcPr>
                    <a:solidFill>
                      <a:srgbClr val="E8F0FE"/>
                    </a:solidFill>
                  </a:tcPr>
                </a:tc>
                <a:tc>
                  <a:txBody>
                    <a:bodyPr/>
                    <a:lstStyle/>
                    <a:p>
                      <a:pPr algn="ctr"/>
                      <a:r>
                        <a:rPr sz="1000" b="0">
                          <a:solidFill>
                            <a:srgbClr val="202020"/>
                          </a:solidFill>
                        </a:rPr>
                        <a:t>-0.052</a:t>
                      </a:r>
                    </a:p>
                  </a:txBody>
                  <a:tcPr>
                    <a:solidFill>
                      <a:srgbClr val="E8F0FE"/>
                    </a:solidFill>
                  </a:tcPr>
                </a:tc>
              </a:tr>
              <a:tr h="292608">
                <a:tc>
                  <a:txBody>
                    <a:bodyPr/>
                    <a:lstStyle/>
                    <a:p>
                      <a:pPr algn="l"/>
                      <a:r>
                        <a:rPr sz="1000" b="1">
                          <a:solidFill>
                            <a:srgbClr val="202020"/>
                          </a:solidFill>
                        </a:rPr>
                        <a:t>4-class TL</a:t>
                      </a:r>
                    </a:p>
                  </a:txBody>
                  <a:tcPr>
                    <a:solidFill>
                      <a:srgbClr val="C6EFCE"/>
                    </a:solidFill>
                  </a:tcPr>
                </a:tc>
                <a:tc>
                  <a:txBody>
                    <a:bodyPr/>
                    <a:lstStyle/>
                    <a:p>
                      <a:pPr algn="l"/>
                      <a:r>
                        <a:rPr sz="1000" b="1">
                          <a:solidFill>
                            <a:srgbClr val="202020"/>
                          </a:solidFill>
                        </a:rPr>
                        <a:t>0.412 (Intermediate TL B1)</a:t>
                      </a:r>
                    </a:p>
                  </a:txBody>
                  <a:tcPr>
                    <a:solidFill>
                      <a:srgbClr val="C6EFCE"/>
                    </a:solidFill>
                  </a:tcPr>
                </a:tc>
                <a:tc>
                  <a:txBody>
                    <a:bodyPr/>
                    <a:lstStyle/>
                    <a:p>
                      <a:pPr algn="ctr"/>
                      <a:r>
                        <a:rPr sz="1000" b="1">
                          <a:solidFill>
                            <a:srgbClr val="202020"/>
                          </a:solidFill>
                        </a:rPr>
                        <a:t>0.407 (CNN TL B2)</a:t>
                      </a:r>
                    </a:p>
                  </a:txBody>
                  <a:tcPr>
                    <a:solidFill>
                      <a:srgbClr val="C6EFCE"/>
                    </a:solidFill>
                  </a:tcPr>
                </a:tc>
                <a:tc>
                  <a:txBody>
                    <a:bodyPr/>
                    <a:lstStyle/>
                    <a:p>
                      <a:pPr algn="ctr"/>
                      <a:r>
                        <a:rPr sz="1000" b="1">
                          <a:solidFill>
                            <a:srgbClr val="202020"/>
                          </a:solidFill>
                        </a:rPr>
                        <a:t>+0.005</a:t>
                      </a:r>
                    </a:p>
                  </a:txBody>
                  <a:tcPr>
                    <a:solidFill>
                      <a:srgbClr val="C6EFCE"/>
                    </a:solidFill>
                  </a:tcPr>
                </a:tc>
              </a:tr>
            </a:tbl>
          </a:graphicData>
        </a:graphic>
      </p:graphicFrame>
      <p:sp>
        <p:nvSpPr>
          <p:cNvPr id="4" name="TextBox 3"/>
          <p:cNvSpPr txBox="1"/>
          <p:nvPr/>
        </p:nvSpPr>
        <p:spPr>
          <a:xfrm>
            <a:off x="274320" y="2331720"/>
            <a:ext cx="4114800" cy="1463040"/>
          </a:xfrm>
          <a:prstGeom prst="rect">
            <a:avLst/>
          </a:prstGeom>
          <a:solidFill>
            <a:srgbClr val="E6F4EA"/>
          </a:solidFill>
        </p:spPr>
        <p:txBody>
          <a:bodyPr wrap="square">
            <a:spAutoFit/>
          </a:bodyPr>
          <a:lstStyle/>
          <a:p>
            <a:pPr algn="l"/>
            <a:r>
              <a:rPr sz="1000" b="1" i="0">
                <a:solidFill>
                  <a:srgbClr val="0F9D58"/>
                </a:solidFill>
              </a:rPr>
              <a:t>Temuan Positif</a:t>
            </a:r>
          </a:p>
          <a:p>
            <a:pPr algn="l"/>
            <a:r>
              <a:rPr sz="400" b="0" i="0"/>
              <a:t/>
            </a:r>
          </a:p>
          <a:p>
            <a:pPr algn="l"/>
            <a:r>
              <a:rPr sz="950" b="0" i="0">
                <a:solidFill>
                  <a:srgbClr val="202020"/>
                </a:solidFill>
              </a:rPr>
              <a:t>-&gt; Best overall front-only (0.412) sedikit</a:t>
            </a:r>
          </a:p>
          <a:p>
            <a:pPr algn="l"/>
            <a:r>
              <a:rPr sz="950" b="0" i="0">
                <a:solidFill>
                  <a:srgbClr val="202020"/>
                </a:solidFill>
              </a:rPr>
              <a:t>   lebih baik dari front+side (0.407)</a:t>
            </a:r>
          </a:p>
          <a:p>
            <a:pPr algn="l"/>
            <a:r>
              <a:rPr sz="950" b="0" i="0">
                <a:solidFill>
                  <a:srgbClr val="202020"/>
                </a:solidFill>
              </a:rPr>
              <a:t>-&gt; Konsistensi data &gt; kuantitas data</a:t>
            </a:r>
          </a:p>
          <a:p>
            <a:pPr algn="l"/>
            <a:r>
              <a:rPr sz="950" b="0" i="0">
                <a:solidFill>
                  <a:srgbClr val="202020"/>
                </a:solidFill>
              </a:rPr>
              <a:t>-&gt; CNN membaik tanpa variasi sudut</a:t>
            </a:r>
          </a:p>
        </p:txBody>
      </p:sp>
      <p:sp>
        <p:nvSpPr>
          <p:cNvPr id="5" name="TextBox 4"/>
          <p:cNvSpPr txBox="1"/>
          <p:nvPr/>
        </p:nvSpPr>
        <p:spPr>
          <a:xfrm>
            <a:off x="4480560" y="2331720"/>
            <a:ext cx="4389120" cy="1463040"/>
          </a:xfrm>
          <a:prstGeom prst="rect">
            <a:avLst/>
          </a:prstGeom>
          <a:solidFill>
            <a:srgbClr val="FCE4E4"/>
          </a:solidFill>
        </p:spPr>
        <p:txBody>
          <a:bodyPr wrap="square">
            <a:spAutoFit/>
          </a:bodyPr>
          <a:lstStyle/>
          <a:p>
            <a:pPr algn="l"/>
            <a:r>
              <a:rPr sz="1000" b="1" i="0">
                <a:solidFill>
                  <a:srgbClr val="D93C3C"/>
                </a:solidFill>
              </a:rPr>
              <a:t>Trade-off</a:t>
            </a:r>
          </a:p>
          <a:p>
            <a:pPr algn="l"/>
            <a:r>
              <a:rPr sz="400" b="0" i="0"/>
              <a:t/>
            </a:r>
          </a:p>
          <a:p>
            <a:pPr algn="l"/>
            <a:r>
              <a:rPr sz="950" b="0" i="0">
                <a:solidFill>
                  <a:srgbClr val="202020"/>
                </a:solidFill>
              </a:rPr>
              <a:t>-&gt; FCNN turun -0.076 di 7-class (kehilangan</a:t>
            </a:r>
          </a:p>
          <a:p>
            <a:pPr algn="l"/>
            <a:r>
              <a:rPr sz="950" b="0" i="0">
                <a:solidFill>
                  <a:srgbClr val="202020"/>
                </a:solidFill>
              </a:rPr>
              <a:t>   variasi landmark dari side view)</a:t>
            </a:r>
          </a:p>
          <a:p>
            <a:pPr algn="l"/>
            <a:r>
              <a:rPr sz="950" b="0" i="0">
                <a:solidFill>
                  <a:srgbClr val="202020"/>
                </a:solidFill>
              </a:rPr>
              <a:t>-&gt; Dataset berkurang 28% (9,894 -&gt; 7,091)</a:t>
            </a:r>
          </a:p>
          <a:p>
            <a:pPr algn="l"/>
            <a:r>
              <a:rPr sz="950" b="0" i="0">
                <a:solidFill>
                  <a:srgbClr val="202020"/>
                </a:solidFill>
              </a:rPr>
              <a:t>-&gt; Tapi best model tidak terdampak</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503920" cy="548640"/>
          </a:xfrm>
          <a:prstGeom prst="rect">
            <a:avLst/>
          </a:prstGeom>
          <a:noFill/>
        </p:spPr>
        <p:txBody>
          <a:bodyPr wrap="none">
            <a:spAutoFit/>
          </a:bodyPr>
          <a:lstStyle/>
          <a:p>
            <a:pPr algn="l"/>
            <a:r>
              <a:rPr sz="2000" b="1">
                <a:solidFill>
                  <a:srgbClr val="202020"/>
                </a:solidFill>
              </a:rPr>
              <a:t>Analisis Hasil — Temuan Front-Only vs Front+Side</a:t>
            </a:r>
          </a:p>
        </p:txBody>
      </p:sp>
      <p:sp>
        <p:nvSpPr>
          <p:cNvPr id="3" name="TextBox 2"/>
          <p:cNvSpPr txBox="1"/>
          <p:nvPr/>
        </p:nvSpPr>
        <p:spPr>
          <a:xfrm>
            <a:off x="274320" y="777240"/>
            <a:ext cx="4114800" cy="256032"/>
          </a:xfrm>
          <a:prstGeom prst="rect">
            <a:avLst/>
          </a:prstGeom>
          <a:noFill/>
        </p:spPr>
        <p:txBody>
          <a:bodyPr wrap="none">
            <a:spAutoFit/>
          </a:bodyPr>
          <a:lstStyle/>
          <a:p>
            <a:pPr algn="l"/>
            <a:r>
              <a:rPr sz="900" b="1">
                <a:solidFill>
                  <a:srgbClr val="1A73E8"/>
                </a:solidFill>
              </a:rPr>
              <a:t>Temuan 10: Side view tidak meningkatkan best model</a:t>
            </a:r>
          </a:p>
        </p:txBody>
      </p:sp>
      <p:graphicFrame>
        <p:nvGraphicFramePr>
          <p:cNvPr id="4" name="Table 3"/>
          <p:cNvGraphicFramePr>
            <a:graphicFrameLocks noGrp="1"/>
          </p:cNvGraphicFramePr>
          <p:nvPr/>
        </p:nvGraphicFramePr>
        <p:xfrm>
          <a:off x="274320" y="1078992"/>
          <a:ext cx="4114800" cy="914400"/>
        </p:xfrm>
        <a:graphic>
          <a:graphicData uri="http://schemas.openxmlformats.org/drawingml/2006/table">
            <a:tbl>
              <a:tblPr firstRow="1" bandRow="1"/>
              <a:tblGrid>
                <a:gridCol w="2286000"/>
                <a:gridCol w="1828800"/>
              </a:tblGrid>
              <a:tr h="228600">
                <a:tc>
                  <a:txBody>
                    <a:bodyPr/>
                    <a:lstStyle/>
                    <a:p>
                      <a:pPr algn="ctr"/>
                      <a:r>
                        <a:rPr sz="800" b="1">
                          <a:solidFill>
                            <a:srgbClr val="FFFFFF"/>
                          </a:solidFill>
                        </a:rPr>
                        <a:t/>
                      </a:r>
                    </a:p>
                  </a:txBody>
                  <a:tcPr>
                    <a:solidFill>
                      <a:srgbClr val="1A73E8"/>
                    </a:solidFill>
                  </a:tcPr>
                </a:tc>
                <a:tc>
                  <a:txBody>
                    <a:bodyPr/>
                    <a:lstStyle/>
                    <a:p>
                      <a:pPr algn="ctr"/>
                      <a:r>
                        <a:rPr sz="800" b="1">
                          <a:solidFill>
                            <a:srgbClr val="FFFFFF"/>
                          </a:solidFill>
                        </a:rPr>
                        <a:t>Best Macro F1</a:t>
                      </a:r>
                    </a:p>
                  </a:txBody>
                  <a:tcPr>
                    <a:solidFill>
                      <a:srgbClr val="1A73E8"/>
                    </a:solidFill>
                  </a:tcPr>
                </a:tc>
              </a:tr>
              <a:tr h="228600">
                <a:tc>
                  <a:txBody>
                    <a:bodyPr/>
                    <a:lstStyle/>
                    <a:p>
                      <a:pPr algn="l"/>
                      <a:r>
                        <a:rPr sz="850" b="1">
                          <a:solidFill>
                            <a:srgbClr val="202020"/>
                          </a:solidFill>
                        </a:rPr>
                        <a:t>Front-only</a:t>
                      </a:r>
                    </a:p>
                  </a:txBody>
                  <a:tcPr>
                    <a:solidFill>
                      <a:srgbClr val="E8F0FE"/>
                    </a:solidFill>
                  </a:tcPr>
                </a:tc>
                <a:tc>
                  <a:txBody>
                    <a:bodyPr/>
                    <a:lstStyle/>
                    <a:p>
                      <a:pPr algn="ctr"/>
                      <a:r>
                        <a:rPr sz="850" b="0">
                          <a:solidFill>
                            <a:srgbClr val="202020"/>
                          </a:solidFill>
                        </a:rPr>
                        <a:t>0.412</a:t>
                      </a:r>
                    </a:p>
                  </a:txBody>
                  <a:tcPr>
                    <a:solidFill>
                      <a:srgbClr val="E8F0FE"/>
                    </a:solidFill>
                  </a:tcPr>
                </a:tc>
              </a:tr>
              <a:tr h="228600">
                <a:tc>
                  <a:txBody>
                    <a:bodyPr/>
                    <a:lstStyle/>
                    <a:p>
                      <a:pPr algn="l"/>
                      <a:r>
                        <a:rPr sz="850" b="1">
                          <a:solidFill>
                            <a:srgbClr val="202020"/>
                          </a:solidFill>
                        </a:rPr>
                        <a:t>Front+side</a:t>
                      </a:r>
                    </a:p>
                  </a:txBody>
                  <a:tcPr>
                    <a:solidFill>
                      <a:srgbClr val="FFFFFF"/>
                    </a:solidFill>
                  </a:tcPr>
                </a:tc>
                <a:tc>
                  <a:txBody>
                    <a:bodyPr/>
                    <a:lstStyle/>
                    <a:p>
                      <a:pPr algn="ctr"/>
                      <a:r>
                        <a:rPr sz="850" b="0">
                          <a:solidFill>
                            <a:srgbClr val="202020"/>
                          </a:solidFill>
                        </a:rPr>
                        <a:t>0.407</a:t>
                      </a:r>
                    </a:p>
                  </a:txBody>
                  <a:tcPr>
                    <a:solidFill>
                      <a:srgbClr val="FFFFFF"/>
                    </a:solidFill>
                  </a:tcPr>
                </a:tc>
              </a:tr>
              <a:tr h="228600">
                <a:tc>
                  <a:txBody>
                    <a:bodyPr/>
                    <a:lstStyle/>
                    <a:p>
                      <a:pPr algn="l"/>
                      <a:r>
                        <a:rPr sz="850" b="1">
                          <a:solidFill>
                            <a:srgbClr val="202020"/>
                          </a:solidFill>
                        </a:rPr>
                        <a:t>Selisih</a:t>
                      </a:r>
                    </a:p>
                  </a:txBody>
                  <a:tcPr>
                    <a:solidFill>
                      <a:srgbClr val="E8F0FE"/>
                    </a:solidFill>
                  </a:tcPr>
                </a:tc>
                <a:tc>
                  <a:txBody>
                    <a:bodyPr/>
                    <a:lstStyle/>
                    <a:p>
                      <a:pPr algn="ctr"/>
                      <a:r>
                        <a:rPr sz="850" b="0">
                          <a:solidFill>
                            <a:srgbClr val="202020"/>
                          </a:solidFill>
                        </a:rPr>
                        <a:t>+0.005</a:t>
                      </a:r>
                    </a:p>
                  </a:txBody>
                  <a:tcPr>
                    <a:solidFill>
                      <a:srgbClr val="E8F0FE"/>
                    </a:solidFill>
                  </a:tcPr>
                </a:tc>
              </a:tr>
            </a:tbl>
          </a:graphicData>
        </a:graphic>
      </p:graphicFrame>
      <p:sp>
        <p:nvSpPr>
          <p:cNvPr id="5" name="TextBox 4"/>
          <p:cNvSpPr txBox="1"/>
          <p:nvPr/>
        </p:nvSpPr>
        <p:spPr>
          <a:xfrm>
            <a:off x="4572000" y="777240"/>
            <a:ext cx="4206240" cy="256032"/>
          </a:xfrm>
          <a:prstGeom prst="rect">
            <a:avLst/>
          </a:prstGeom>
          <a:noFill/>
        </p:spPr>
        <p:txBody>
          <a:bodyPr wrap="none">
            <a:spAutoFit/>
          </a:bodyPr>
          <a:lstStyle/>
          <a:p>
            <a:pPr algn="l"/>
            <a:r>
              <a:rPr sz="900" b="1">
                <a:solidFill>
                  <a:srgbClr val="1A73E8"/>
                </a:solidFill>
              </a:rPr>
              <a:t>Temuan 11: FCNN paling terdampak penghapusan side view</a:t>
            </a:r>
          </a:p>
        </p:txBody>
      </p:sp>
      <p:graphicFrame>
        <p:nvGraphicFramePr>
          <p:cNvPr id="6" name="Table 5"/>
          <p:cNvGraphicFramePr>
            <a:graphicFrameLocks noGrp="1"/>
          </p:cNvGraphicFramePr>
          <p:nvPr/>
        </p:nvGraphicFramePr>
        <p:xfrm>
          <a:off x="4572000" y="1078992"/>
          <a:ext cx="4206238" cy="914400"/>
        </p:xfrm>
        <a:graphic>
          <a:graphicData uri="http://schemas.openxmlformats.org/drawingml/2006/table">
            <a:tbl>
              <a:tblPr firstRow="1" bandRow="1"/>
              <a:tblGrid>
                <a:gridCol w="1287624"/>
                <a:gridCol w="1030099"/>
                <a:gridCol w="1030099"/>
                <a:gridCol w="858416"/>
              </a:tblGrid>
              <a:tr h="228600">
                <a:tc>
                  <a:txBody>
                    <a:bodyPr/>
                    <a:lstStyle/>
                    <a:p>
                      <a:pPr algn="ctr"/>
                      <a:r>
                        <a:rPr sz="800" b="1">
                          <a:solidFill>
                            <a:srgbClr val="FFFFFF"/>
                          </a:solidFill>
                        </a:rPr>
                        <a:t>Model</a:t>
                      </a:r>
                    </a:p>
                  </a:txBody>
                  <a:tcPr>
                    <a:solidFill>
                      <a:srgbClr val="1A73E8"/>
                    </a:solidFill>
                  </a:tcPr>
                </a:tc>
                <a:tc>
                  <a:txBody>
                    <a:bodyPr/>
                    <a:lstStyle/>
                    <a:p>
                      <a:pPr algn="ctr"/>
                      <a:r>
                        <a:rPr sz="800" b="1">
                          <a:solidFill>
                            <a:srgbClr val="FFFFFF"/>
                          </a:solidFill>
                        </a:rPr>
                        <a:t>Front-Only</a:t>
                      </a:r>
                    </a:p>
                  </a:txBody>
                  <a:tcPr>
                    <a:solidFill>
                      <a:srgbClr val="1A73E8"/>
                    </a:solidFill>
                  </a:tcPr>
                </a:tc>
                <a:tc>
                  <a:txBody>
                    <a:bodyPr/>
                    <a:lstStyle/>
                    <a:p>
                      <a:pPr algn="ctr"/>
                      <a:r>
                        <a:rPr sz="800" b="1">
                          <a:solidFill>
                            <a:srgbClr val="FFFFFF"/>
                          </a:solidFill>
                        </a:rPr>
                        <a:t>Front+Side</a:t>
                      </a:r>
                    </a:p>
                  </a:txBody>
                  <a:tcPr>
                    <a:solidFill>
                      <a:srgbClr val="1A73E8"/>
                    </a:solidFill>
                  </a:tcPr>
                </a:tc>
                <a:tc>
                  <a:txBody>
                    <a:bodyPr/>
                    <a:lstStyle/>
                    <a:p>
                      <a:pPr algn="ctr"/>
                      <a:r>
                        <a:rPr sz="800" b="1">
                          <a:solidFill>
                            <a:srgbClr val="FFFFFF"/>
                          </a:solidFill>
                        </a:rPr>
                        <a:t>Diff</a:t>
                      </a:r>
                    </a:p>
                  </a:txBody>
                  <a:tcPr>
                    <a:solidFill>
                      <a:srgbClr val="1A73E8"/>
                    </a:solidFill>
                  </a:tcPr>
                </a:tc>
              </a:tr>
              <a:tr h="228600">
                <a:tc>
                  <a:txBody>
                    <a:bodyPr/>
                    <a:lstStyle/>
                    <a:p>
                      <a:pPr algn="l"/>
                      <a:r>
                        <a:rPr sz="850" b="1">
                          <a:solidFill>
                            <a:srgbClr val="202020"/>
                          </a:solidFill>
                        </a:rPr>
                        <a:t>FCNN 7c</a:t>
                      </a:r>
                    </a:p>
                  </a:txBody>
                  <a:tcPr>
                    <a:solidFill>
                      <a:srgbClr val="E8F0FE"/>
                    </a:solidFill>
                  </a:tcPr>
                </a:tc>
                <a:tc>
                  <a:txBody>
                    <a:bodyPr/>
                    <a:lstStyle/>
                    <a:p>
                      <a:pPr algn="ctr"/>
                      <a:r>
                        <a:rPr sz="850" b="0">
                          <a:solidFill>
                            <a:srgbClr val="202020"/>
                          </a:solidFill>
                        </a:rPr>
                        <a:t>0.158</a:t>
                      </a:r>
                    </a:p>
                  </a:txBody>
                  <a:tcPr>
                    <a:solidFill>
                      <a:srgbClr val="E8F0FE"/>
                    </a:solidFill>
                  </a:tcPr>
                </a:tc>
                <a:tc>
                  <a:txBody>
                    <a:bodyPr/>
                    <a:lstStyle/>
                    <a:p>
                      <a:pPr algn="ctr"/>
                      <a:r>
                        <a:rPr sz="850" b="0">
                          <a:solidFill>
                            <a:srgbClr val="202020"/>
                          </a:solidFill>
                        </a:rPr>
                        <a:t>0.234</a:t>
                      </a:r>
                    </a:p>
                  </a:txBody>
                  <a:tcPr>
                    <a:solidFill>
                      <a:srgbClr val="E8F0FE"/>
                    </a:solidFill>
                  </a:tcPr>
                </a:tc>
                <a:tc>
                  <a:txBody>
                    <a:bodyPr/>
                    <a:lstStyle/>
                    <a:p>
                      <a:pPr algn="ctr"/>
                      <a:r>
                        <a:rPr sz="850" b="0">
                          <a:solidFill>
                            <a:srgbClr val="202020"/>
                          </a:solidFill>
                        </a:rPr>
                        <a:t>-0.076</a:t>
                      </a:r>
                    </a:p>
                  </a:txBody>
                  <a:tcPr>
                    <a:solidFill>
                      <a:srgbClr val="E8F0FE"/>
                    </a:solidFill>
                  </a:tcPr>
                </a:tc>
              </a:tr>
              <a:tr h="228600">
                <a:tc>
                  <a:txBody>
                    <a:bodyPr/>
                    <a:lstStyle/>
                    <a:p>
                      <a:pPr algn="l"/>
                      <a:r>
                        <a:rPr sz="850" b="1">
                          <a:solidFill>
                            <a:srgbClr val="202020"/>
                          </a:solidFill>
                        </a:rPr>
                        <a:t>FCNN 4c</a:t>
                      </a:r>
                    </a:p>
                  </a:txBody>
                  <a:tcPr>
                    <a:solidFill>
                      <a:srgbClr val="FFFFFF"/>
                    </a:solidFill>
                  </a:tcPr>
                </a:tc>
                <a:tc>
                  <a:txBody>
                    <a:bodyPr/>
                    <a:lstStyle/>
                    <a:p>
                      <a:pPr algn="ctr"/>
                      <a:r>
                        <a:rPr sz="850" b="0">
                          <a:solidFill>
                            <a:srgbClr val="202020"/>
                          </a:solidFill>
                        </a:rPr>
                        <a:t>0.361</a:t>
                      </a:r>
                    </a:p>
                  </a:txBody>
                  <a:tcPr>
                    <a:solidFill>
                      <a:srgbClr val="FFFFFF"/>
                    </a:solidFill>
                  </a:tcPr>
                </a:tc>
                <a:tc>
                  <a:txBody>
                    <a:bodyPr/>
                    <a:lstStyle/>
                    <a:p>
                      <a:pPr algn="ctr"/>
                      <a:r>
                        <a:rPr sz="850" b="0">
                          <a:solidFill>
                            <a:srgbClr val="202020"/>
                          </a:solidFill>
                        </a:rPr>
                        <a:t>0.394</a:t>
                      </a:r>
                    </a:p>
                  </a:txBody>
                  <a:tcPr>
                    <a:solidFill>
                      <a:srgbClr val="FFFFFF"/>
                    </a:solidFill>
                  </a:tcPr>
                </a:tc>
                <a:tc>
                  <a:txBody>
                    <a:bodyPr/>
                    <a:lstStyle/>
                    <a:p>
                      <a:pPr algn="ctr"/>
                      <a:r>
                        <a:rPr sz="850" b="0">
                          <a:solidFill>
                            <a:srgbClr val="202020"/>
                          </a:solidFill>
                        </a:rPr>
                        <a:t>-0.033</a:t>
                      </a:r>
                    </a:p>
                  </a:txBody>
                  <a:tcPr>
                    <a:solidFill>
                      <a:srgbClr val="FFFFFF"/>
                    </a:solidFill>
                  </a:tcPr>
                </a:tc>
              </a:tr>
              <a:tr h="228600">
                <a:tc>
                  <a:txBody>
                    <a:bodyPr/>
                    <a:lstStyle/>
                    <a:p>
                      <a:pPr algn="l"/>
                      <a:r>
                        <a:rPr sz="850" b="1">
                          <a:solidFill>
                            <a:srgbClr val="202020"/>
                          </a:solidFill>
                        </a:rPr>
                        <a:t>CNN 7c</a:t>
                      </a:r>
                    </a:p>
                  </a:txBody>
                  <a:tcPr>
                    <a:solidFill>
                      <a:srgbClr val="E8F0FE"/>
                    </a:solidFill>
                  </a:tcPr>
                </a:tc>
                <a:tc>
                  <a:txBody>
                    <a:bodyPr/>
                    <a:lstStyle/>
                    <a:p>
                      <a:pPr algn="ctr"/>
                      <a:r>
                        <a:rPr sz="850" b="0">
                          <a:solidFill>
                            <a:srgbClr val="202020"/>
                          </a:solidFill>
                        </a:rPr>
                        <a:t>0.137</a:t>
                      </a:r>
                    </a:p>
                  </a:txBody>
                  <a:tcPr>
                    <a:solidFill>
                      <a:srgbClr val="E8F0FE"/>
                    </a:solidFill>
                  </a:tcPr>
                </a:tc>
                <a:tc>
                  <a:txBody>
                    <a:bodyPr/>
                    <a:lstStyle/>
                    <a:p>
                      <a:pPr algn="ctr"/>
                      <a:r>
                        <a:rPr sz="850" b="0">
                          <a:solidFill>
                            <a:srgbClr val="202020"/>
                          </a:solidFill>
                        </a:rPr>
                        <a:t>0.134</a:t>
                      </a:r>
                    </a:p>
                  </a:txBody>
                  <a:tcPr>
                    <a:solidFill>
                      <a:srgbClr val="E8F0FE"/>
                    </a:solidFill>
                  </a:tcPr>
                </a:tc>
                <a:tc>
                  <a:txBody>
                    <a:bodyPr/>
                    <a:lstStyle/>
                    <a:p>
                      <a:pPr algn="ctr"/>
                      <a:r>
                        <a:rPr sz="850" b="0">
                          <a:solidFill>
                            <a:srgbClr val="202020"/>
                          </a:solidFill>
                        </a:rPr>
                        <a:t>+0.003</a:t>
                      </a:r>
                    </a:p>
                  </a:txBody>
                  <a:tcPr>
                    <a:solidFill>
                      <a:srgbClr val="E8F0FE"/>
                    </a:solidFill>
                  </a:tcPr>
                </a:tc>
              </a:tr>
            </a:tbl>
          </a:graphicData>
        </a:graphic>
      </p:graphicFrame>
      <p:sp>
        <p:nvSpPr>
          <p:cNvPr id="7" name="TextBox 6"/>
          <p:cNvSpPr txBox="1"/>
          <p:nvPr/>
        </p:nvSpPr>
        <p:spPr>
          <a:xfrm>
            <a:off x="274320" y="2148840"/>
            <a:ext cx="4114800" cy="256032"/>
          </a:xfrm>
          <a:prstGeom prst="rect">
            <a:avLst/>
          </a:prstGeom>
          <a:noFill/>
        </p:spPr>
        <p:txBody>
          <a:bodyPr wrap="none">
            <a:spAutoFit/>
          </a:bodyPr>
          <a:lstStyle/>
          <a:p>
            <a:pPr algn="l"/>
            <a:r>
              <a:rPr sz="900" b="1">
                <a:solidFill>
                  <a:srgbClr val="1A73E8"/>
                </a:solidFill>
              </a:rPr>
              <a:t>Temuan 12: CNN membaik di front-only</a:t>
            </a:r>
          </a:p>
        </p:txBody>
      </p:sp>
      <p:graphicFrame>
        <p:nvGraphicFramePr>
          <p:cNvPr id="8" name="Table 7"/>
          <p:cNvGraphicFramePr>
            <a:graphicFrameLocks noGrp="1"/>
          </p:cNvGraphicFramePr>
          <p:nvPr/>
        </p:nvGraphicFramePr>
        <p:xfrm>
          <a:off x="274320" y="2450592"/>
          <a:ext cx="4114799" cy="914400"/>
        </p:xfrm>
        <a:graphic>
          <a:graphicData uri="http://schemas.openxmlformats.org/drawingml/2006/table">
            <a:tbl>
              <a:tblPr firstRow="1" bandRow="1"/>
              <a:tblGrid>
                <a:gridCol w="1259632"/>
                <a:gridCol w="1007706"/>
                <a:gridCol w="1007706"/>
                <a:gridCol w="839755"/>
              </a:tblGrid>
              <a:tr h="228600">
                <a:tc>
                  <a:txBody>
                    <a:bodyPr/>
                    <a:lstStyle/>
                    <a:p>
                      <a:pPr algn="ctr"/>
                      <a:r>
                        <a:rPr sz="800" b="1">
                          <a:solidFill>
                            <a:srgbClr val="FFFFFF"/>
                          </a:solidFill>
                        </a:rPr>
                        <a:t>Model</a:t>
                      </a:r>
                    </a:p>
                  </a:txBody>
                  <a:tcPr>
                    <a:solidFill>
                      <a:srgbClr val="1A73E8"/>
                    </a:solidFill>
                  </a:tcPr>
                </a:tc>
                <a:tc>
                  <a:txBody>
                    <a:bodyPr/>
                    <a:lstStyle/>
                    <a:p>
                      <a:pPr algn="ctr"/>
                      <a:r>
                        <a:rPr sz="800" b="1">
                          <a:solidFill>
                            <a:srgbClr val="FFFFFF"/>
                          </a:solidFill>
                        </a:rPr>
                        <a:t>Front-Only</a:t>
                      </a:r>
                    </a:p>
                  </a:txBody>
                  <a:tcPr>
                    <a:solidFill>
                      <a:srgbClr val="1A73E8"/>
                    </a:solidFill>
                  </a:tcPr>
                </a:tc>
                <a:tc>
                  <a:txBody>
                    <a:bodyPr/>
                    <a:lstStyle/>
                    <a:p>
                      <a:pPr algn="ctr"/>
                      <a:r>
                        <a:rPr sz="800" b="1">
                          <a:solidFill>
                            <a:srgbClr val="FFFFFF"/>
                          </a:solidFill>
                        </a:rPr>
                        <a:t>Front+Side</a:t>
                      </a:r>
                    </a:p>
                  </a:txBody>
                  <a:tcPr>
                    <a:solidFill>
                      <a:srgbClr val="1A73E8"/>
                    </a:solidFill>
                  </a:tcPr>
                </a:tc>
                <a:tc>
                  <a:txBody>
                    <a:bodyPr/>
                    <a:lstStyle/>
                    <a:p>
                      <a:pPr algn="ctr"/>
                      <a:r>
                        <a:rPr sz="800" b="1">
                          <a:solidFill>
                            <a:srgbClr val="FFFFFF"/>
                          </a:solidFill>
                        </a:rPr>
                        <a:t>Diff</a:t>
                      </a:r>
                    </a:p>
                  </a:txBody>
                  <a:tcPr>
                    <a:solidFill>
                      <a:srgbClr val="1A73E8"/>
                    </a:solidFill>
                  </a:tcPr>
                </a:tc>
              </a:tr>
              <a:tr h="228600">
                <a:tc>
                  <a:txBody>
                    <a:bodyPr/>
                    <a:lstStyle/>
                    <a:p>
                      <a:pPr algn="l"/>
                      <a:r>
                        <a:rPr sz="850" b="1">
                          <a:solidFill>
                            <a:srgbClr val="202020"/>
                          </a:solidFill>
                        </a:rPr>
                        <a:t>CNN 7c B1</a:t>
                      </a:r>
                    </a:p>
                  </a:txBody>
                  <a:tcPr>
                    <a:solidFill>
                      <a:srgbClr val="E8F0FE"/>
                    </a:solidFill>
                  </a:tcPr>
                </a:tc>
                <a:tc>
                  <a:txBody>
                    <a:bodyPr/>
                    <a:lstStyle/>
                    <a:p>
                      <a:pPr algn="ctr"/>
                      <a:r>
                        <a:rPr sz="850" b="0">
                          <a:solidFill>
                            <a:srgbClr val="202020"/>
                          </a:solidFill>
                        </a:rPr>
                        <a:t>0.137</a:t>
                      </a:r>
                    </a:p>
                  </a:txBody>
                  <a:tcPr>
                    <a:solidFill>
                      <a:srgbClr val="E8F0FE"/>
                    </a:solidFill>
                  </a:tcPr>
                </a:tc>
                <a:tc>
                  <a:txBody>
                    <a:bodyPr/>
                    <a:lstStyle/>
                    <a:p>
                      <a:pPr algn="ctr"/>
                      <a:r>
                        <a:rPr sz="850" b="0">
                          <a:solidFill>
                            <a:srgbClr val="202020"/>
                          </a:solidFill>
                        </a:rPr>
                        <a:t>0.133</a:t>
                      </a:r>
                    </a:p>
                  </a:txBody>
                  <a:tcPr>
                    <a:solidFill>
                      <a:srgbClr val="E8F0FE"/>
                    </a:solidFill>
                  </a:tcPr>
                </a:tc>
                <a:tc>
                  <a:txBody>
                    <a:bodyPr/>
                    <a:lstStyle/>
                    <a:p>
                      <a:pPr algn="ctr"/>
                      <a:r>
                        <a:rPr sz="850" b="0">
                          <a:solidFill>
                            <a:srgbClr val="202020"/>
                          </a:solidFill>
                        </a:rPr>
                        <a:t>+0.005</a:t>
                      </a:r>
                    </a:p>
                  </a:txBody>
                  <a:tcPr>
                    <a:solidFill>
                      <a:srgbClr val="E8F0FE"/>
                    </a:solidFill>
                  </a:tcPr>
                </a:tc>
              </a:tr>
              <a:tr h="228600">
                <a:tc>
                  <a:txBody>
                    <a:bodyPr/>
                    <a:lstStyle/>
                    <a:p>
                      <a:pPr algn="l"/>
                      <a:r>
                        <a:rPr sz="850" b="1">
                          <a:solidFill>
                            <a:srgbClr val="202020"/>
                          </a:solidFill>
                        </a:rPr>
                        <a:t>CNN 7c B3</a:t>
                      </a:r>
                    </a:p>
                  </a:txBody>
                  <a:tcPr>
                    <a:solidFill>
                      <a:srgbClr val="FFFFFF"/>
                    </a:solidFill>
                  </a:tcPr>
                </a:tc>
                <a:tc>
                  <a:txBody>
                    <a:bodyPr/>
                    <a:lstStyle/>
                    <a:p>
                      <a:pPr algn="ctr"/>
                      <a:r>
                        <a:rPr sz="850" b="0">
                          <a:solidFill>
                            <a:srgbClr val="202020"/>
                          </a:solidFill>
                        </a:rPr>
                        <a:t>0.136</a:t>
                      </a:r>
                    </a:p>
                  </a:txBody>
                  <a:tcPr>
                    <a:solidFill>
                      <a:srgbClr val="FFFFFF"/>
                    </a:solidFill>
                  </a:tcPr>
                </a:tc>
                <a:tc>
                  <a:txBody>
                    <a:bodyPr/>
                    <a:lstStyle/>
                    <a:p>
                      <a:pPr algn="ctr"/>
                      <a:r>
                        <a:rPr sz="850" b="0">
                          <a:solidFill>
                            <a:srgbClr val="202020"/>
                          </a:solidFill>
                        </a:rPr>
                        <a:t>0.119</a:t>
                      </a:r>
                    </a:p>
                  </a:txBody>
                  <a:tcPr>
                    <a:solidFill>
                      <a:srgbClr val="FFFFFF"/>
                    </a:solidFill>
                  </a:tcPr>
                </a:tc>
                <a:tc>
                  <a:txBody>
                    <a:bodyPr/>
                    <a:lstStyle/>
                    <a:p>
                      <a:pPr algn="ctr"/>
                      <a:r>
                        <a:rPr sz="850" b="0">
                          <a:solidFill>
                            <a:srgbClr val="202020"/>
                          </a:solidFill>
                        </a:rPr>
                        <a:t>+0.017</a:t>
                      </a:r>
                    </a:p>
                  </a:txBody>
                  <a:tcPr>
                    <a:solidFill>
                      <a:srgbClr val="FFFFFF"/>
                    </a:solidFill>
                  </a:tcPr>
                </a:tc>
              </a:tr>
              <a:tr h="228600">
                <a:tc>
                  <a:txBody>
                    <a:bodyPr/>
                    <a:lstStyle/>
                    <a:p>
                      <a:pPr algn="l"/>
                      <a:r>
                        <a:rPr sz="850" b="1">
                          <a:solidFill>
                            <a:srgbClr val="202020"/>
                          </a:solidFill>
                        </a:rPr>
                        <a:t>CNN 4c B3</a:t>
                      </a:r>
                    </a:p>
                  </a:txBody>
                  <a:tcPr>
                    <a:solidFill>
                      <a:srgbClr val="E8F0FE"/>
                    </a:solidFill>
                  </a:tcPr>
                </a:tc>
                <a:tc>
                  <a:txBody>
                    <a:bodyPr/>
                    <a:lstStyle/>
                    <a:p>
                      <a:pPr algn="ctr"/>
                      <a:r>
                        <a:rPr sz="850" b="0">
                          <a:solidFill>
                            <a:srgbClr val="202020"/>
                          </a:solidFill>
                        </a:rPr>
                        <a:t>0.265</a:t>
                      </a:r>
                    </a:p>
                  </a:txBody>
                  <a:tcPr>
                    <a:solidFill>
                      <a:srgbClr val="E8F0FE"/>
                    </a:solidFill>
                  </a:tcPr>
                </a:tc>
                <a:tc>
                  <a:txBody>
                    <a:bodyPr/>
                    <a:lstStyle/>
                    <a:p>
                      <a:pPr algn="ctr"/>
                      <a:r>
                        <a:rPr sz="850" b="0">
                          <a:solidFill>
                            <a:srgbClr val="202020"/>
                          </a:solidFill>
                        </a:rPr>
                        <a:t>0.238</a:t>
                      </a:r>
                    </a:p>
                  </a:txBody>
                  <a:tcPr>
                    <a:solidFill>
                      <a:srgbClr val="E8F0FE"/>
                    </a:solidFill>
                  </a:tcPr>
                </a:tc>
                <a:tc>
                  <a:txBody>
                    <a:bodyPr/>
                    <a:lstStyle/>
                    <a:p>
                      <a:pPr algn="ctr"/>
                      <a:r>
                        <a:rPr sz="850" b="0">
                          <a:solidFill>
                            <a:srgbClr val="202020"/>
                          </a:solidFill>
                        </a:rPr>
                        <a:t>+0.027</a:t>
                      </a:r>
                    </a:p>
                  </a:txBody>
                  <a:tcPr>
                    <a:solidFill>
                      <a:srgbClr val="E8F0FE"/>
                    </a:solidFill>
                  </a:tcPr>
                </a:tc>
              </a:tr>
            </a:tbl>
          </a:graphicData>
        </a:graphic>
      </p:graphicFrame>
      <p:sp>
        <p:nvSpPr>
          <p:cNvPr id="9" name="TextBox 8"/>
          <p:cNvSpPr txBox="1"/>
          <p:nvPr/>
        </p:nvSpPr>
        <p:spPr>
          <a:xfrm>
            <a:off x="4572000" y="2148840"/>
            <a:ext cx="4206240" cy="256032"/>
          </a:xfrm>
          <a:prstGeom prst="rect">
            <a:avLst/>
          </a:prstGeom>
          <a:noFill/>
        </p:spPr>
        <p:txBody>
          <a:bodyPr wrap="none">
            <a:spAutoFit/>
          </a:bodyPr>
          <a:lstStyle/>
          <a:p>
            <a:pPr algn="l"/>
            <a:r>
              <a:rPr sz="900" b="1">
                <a:solidFill>
                  <a:srgbClr val="1A73E8"/>
                </a:solidFill>
              </a:rPr>
              <a:t>Temuan 13: Konsistensi data &gt; kuantitas data</a:t>
            </a:r>
          </a:p>
        </p:txBody>
      </p:sp>
      <p:graphicFrame>
        <p:nvGraphicFramePr>
          <p:cNvPr id="10" name="Table 9"/>
          <p:cNvGraphicFramePr>
            <a:graphicFrameLocks noGrp="1"/>
          </p:cNvGraphicFramePr>
          <p:nvPr/>
        </p:nvGraphicFramePr>
        <p:xfrm>
          <a:off x="4572000" y="2450592"/>
          <a:ext cx="4206240" cy="914400"/>
        </p:xfrm>
        <a:graphic>
          <a:graphicData uri="http://schemas.openxmlformats.org/drawingml/2006/table">
            <a:tbl>
              <a:tblPr firstRow="1" bandRow="1"/>
              <a:tblGrid>
                <a:gridCol w="1577340"/>
                <a:gridCol w="1314450"/>
                <a:gridCol w="1314450"/>
              </a:tblGrid>
              <a:tr h="228600">
                <a:tc>
                  <a:txBody>
                    <a:bodyPr/>
                    <a:lstStyle/>
                    <a:p>
                      <a:pPr algn="ctr"/>
                      <a:r>
                        <a:rPr sz="800" b="1">
                          <a:solidFill>
                            <a:srgbClr val="FFFFFF"/>
                          </a:solidFill>
                        </a:rPr>
                        <a:t/>
                      </a:r>
                    </a:p>
                  </a:txBody>
                  <a:tcPr>
                    <a:solidFill>
                      <a:srgbClr val="1A73E8"/>
                    </a:solidFill>
                  </a:tcPr>
                </a:tc>
                <a:tc>
                  <a:txBody>
                    <a:bodyPr/>
                    <a:lstStyle/>
                    <a:p>
                      <a:pPr algn="ctr"/>
                      <a:r>
                        <a:rPr sz="800" b="1">
                          <a:solidFill>
                            <a:srgbClr val="FFFFFF"/>
                          </a:solidFill>
                        </a:rPr>
                        <a:t>Front+Side</a:t>
                      </a:r>
                    </a:p>
                  </a:txBody>
                  <a:tcPr>
                    <a:solidFill>
                      <a:srgbClr val="1A73E8"/>
                    </a:solidFill>
                  </a:tcPr>
                </a:tc>
                <a:tc>
                  <a:txBody>
                    <a:bodyPr/>
                    <a:lstStyle/>
                    <a:p>
                      <a:pPr algn="ctr"/>
                      <a:r>
                        <a:rPr sz="800" b="1">
                          <a:solidFill>
                            <a:srgbClr val="FFFFFF"/>
                          </a:solidFill>
                        </a:rPr>
                        <a:t>Front-Only</a:t>
                      </a:r>
                    </a:p>
                  </a:txBody>
                  <a:tcPr>
                    <a:solidFill>
                      <a:srgbClr val="1A73E8"/>
                    </a:solidFill>
                  </a:tcPr>
                </a:tc>
              </a:tr>
              <a:tr h="228600">
                <a:tc>
                  <a:txBody>
                    <a:bodyPr/>
                    <a:lstStyle/>
                    <a:p>
                      <a:pPr algn="l"/>
                      <a:r>
                        <a:rPr sz="850" b="1">
                          <a:solidFill>
                            <a:srgbClr val="202020"/>
                          </a:solidFill>
                        </a:rPr>
                        <a:t>Total sampel</a:t>
                      </a:r>
                    </a:p>
                  </a:txBody>
                  <a:tcPr>
                    <a:solidFill>
                      <a:srgbClr val="E8F0FE"/>
                    </a:solidFill>
                  </a:tcPr>
                </a:tc>
                <a:tc>
                  <a:txBody>
                    <a:bodyPr/>
                    <a:lstStyle/>
                    <a:p>
                      <a:pPr algn="ctr"/>
                      <a:r>
                        <a:rPr sz="850" b="0">
                          <a:solidFill>
                            <a:srgbClr val="202020"/>
                          </a:solidFill>
                        </a:rPr>
                        <a:t>9,894</a:t>
                      </a:r>
                    </a:p>
                  </a:txBody>
                  <a:tcPr>
                    <a:solidFill>
                      <a:srgbClr val="E8F0FE"/>
                    </a:solidFill>
                  </a:tcPr>
                </a:tc>
                <a:tc>
                  <a:txBody>
                    <a:bodyPr/>
                    <a:lstStyle/>
                    <a:p>
                      <a:pPr algn="ctr"/>
                      <a:r>
                        <a:rPr sz="850" b="0">
                          <a:solidFill>
                            <a:srgbClr val="202020"/>
                          </a:solidFill>
                        </a:rPr>
                        <a:t>7,091 (-28%)</a:t>
                      </a:r>
                    </a:p>
                  </a:txBody>
                  <a:tcPr>
                    <a:solidFill>
                      <a:srgbClr val="E8F0FE"/>
                    </a:solidFill>
                  </a:tcPr>
                </a:tc>
              </a:tr>
              <a:tr h="228600">
                <a:tc>
                  <a:txBody>
                    <a:bodyPr/>
                    <a:lstStyle/>
                    <a:p>
                      <a:pPr algn="l"/>
                      <a:r>
                        <a:rPr sz="850" b="1">
                          <a:solidFill>
                            <a:srgbClr val="202020"/>
                          </a:solidFill>
                        </a:rPr>
                        <a:t>Best Macro F1</a:t>
                      </a:r>
                    </a:p>
                  </a:txBody>
                  <a:tcPr>
                    <a:solidFill>
                      <a:srgbClr val="FFFFFF"/>
                    </a:solidFill>
                  </a:tcPr>
                </a:tc>
                <a:tc>
                  <a:txBody>
                    <a:bodyPr/>
                    <a:lstStyle/>
                    <a:p>
                      <a:pPr algn="ctr"/>
                      <a:r>
                        <a:rPr sz="850" b="0">
                          <a:solidFill>
                            <a:srgbClr val="202020"/>
                          </a:solidFill>
                        </a:rPr>
                        <a:t>0.407</a:t>
                      </a:r>
                    </a:p>
                  </a:txBody>
                  <a:tcPr>
                    <a:solidFill>
                      <a:srgbClr val="FFFFFF"/>
                    </a:solidFill>
                  </a:tcPr>
                </a:tc>
                <a:tc>
                  <a:txBody>
                    <a:bodyPr/>
                    <a:lstStyle/>
                    <a:p>
                      <a:pPr algn="ctr"/>
                      <a:r>
                        <a:rPr sz="850" b="0">
                          <a:solidFill>
                            <a:srgbClr val="202020"/>
                          </a:solidFill>
                        </a:rPr>
                        <a:t>0.412 (+1.2%)</a:t>
                      </a:r>
                    </a:p>
                  </a:txBody>
                  <a:tcPr>
                    <a:solidFill>
                      <a:srgbClr val="FFFFFF"/>
                    </a:solidFill>
                  </a:tcPr>
                </a:tc>
              </a:tr>
              <a:tr h="228600">
                <a:tc>
                  <a:txBody>
                    <a:bodyPr/>
                    <a:lstStyle/>
                    <a:p>
                      <a:pPr algn="l"/>
                      <a:r>
                        <a:rPr sz="850" b="1">
                          <a:solidFill>
                            <a:srgbClr val="202020"/>
                          </a:solidFill>
                        </a:rPr>
                        <a:t>Best model</a:t>
                      </a:r>
                    </a:p>
                  </a:txBody>
                  <a:tcPr>
                    <a:solidFill>
                      <a:srgbClr val="E8F0FE"/>
                    </a:solidFill>
                  </a:tcPr>
                </a:tc>
                <a:tc>
                  <a:txBody>
                    <a:bodyPr/>
                    <a:lstStyle/>
                    <a:p>
                      <a:pPr algn="ctr"/>
                      <a:r>
                        <a:rPr sz="850" b="0">
                          <a:solidFill>
                            <a:srgbClr val="202020"/>
                          </a:solidFill>
                        </a:rPr>
                        <a:t>CNN TL B2</a:t>
                      </a:r>
                    </a:p>
                  </a:txBody>
                  <a:tcPr>
                    <a:solidFill>
                      <a:srgbClr val="E8F0FE"/>
                    </a:solidFill>
                  </a:tcPr>
                </a:tc>
                <a:tc>
                  <a:txBody>
                    <a:bodyPr/>
                    <a:lstStyle/>
                    <a:p>
                      <a:pPr algn="ctr"/>
                      <a:r>
                        <a:rPr sz="850" b="0">
                          <a:solidFill>
                            <a:srgbClr val="202020"/>
                          </a:solidFill>
                        </a:rPr>
                        <a:t>Intermediate TL B1</a:t>
                      </a:r>
                    </a:p>
                  </a:txBody>
                  <a:tcPr>
                    <a:solidFill>
                      <a:srgbClr val="E8F0FE"/>
                    </a:solidFill>
                  </a:tcPr>
                </a:tc>
              </a:tr>
            </a:tbl>
          </a:graphicData>
        </a:graphic>
      </p:graphicFrame>
      <p:sp>
        <p:nvSpPr>
          <p:cNvPr id="11" name="TextBox 10"/>
          <p:cNvSpPr txBox="1"/>
          <p:nvPr/>
        </p:nvSpPr>
        <p:spPr>
          <a:xfrm>
            <a:off x="274320" y="3520440"/>
            <a:ext cx="8503920" cy="320040"/>
          </a:xfrm>
          <a:prstGeom prst="rect">
            <a:avLst/>
          </a:prstGeom>
          <a:solidFill>
            <a:srgbClr val="E8F0FE"/>
          </a:solidFill>
        </p:spPr>
        <p:txBody>
          <a:bodyPr wrap="square">
            <a:spAutoFit/>
          </a:bodyPr>
          <a:lstStyle/>
          <a:p>
            <a:pPr algn="ctr"/>
            <a:r>
              <a:rPr sz="900" b="1">
                <a:solidFill>
                  <a:srgbClr val="202020"/>
                </a:solidFill>
              </a:rPr>
              <a:t>Kesimpulan: Menghilangkan side view mengurangi 28% data tapi best model justru sedikit membaik — konsistensi sudut kamera lebih penting dari jumlah data</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8503920" cy="548640"/>
          </a:xfrm>
          <a:prstGeom prst="rect">
            <a:avLst/>
          </a:prstGeom>
          <a:noFill/>
        </p:spPr>
        <p:txBody>
          <a:bodyPr wrap="none">
            <a:spAutoFit/>
          </a:bodyPr>
          <a:lstStyle/>
          <a:p>
            <a:pPr algn="l"/>
            <a:r>
              <a:rPr sz="2000" b="1">
                <a:solidFill>
                  <a:srgbClr val="202020"/>
                </a:solidFill>
              </a:rPr>
              <a:t>Analisis Hasil — Temuan Evaluasi Robustness</a:t>
            </a:r>
          </a:p>
        </p:txBody>
      </p:sp>
      <p:sp>
        <p:nvSpPr>
          <p:cNvPr id="3" name="TextBox 2"/>
          <p:cNvSpPr txBox="1"/>
          <p:nvPr/>
        </p:nvSpPr>
        <p:spPr>
          <a:xfrm>
            <a:off x="274320" y="777240"/>
            <a:ext cx="8503920" cy="256032"/>
          </a:xfrm>
          <a:prstGeom prst="rect">
            <a:avLst/>
          </a:prstGeom>
          <a:noFill/>
        </p:spPr>
        <p:txBody>
          <a:bodyPr wrap="none">
            <a:spAutoFit/>
          </a:bodyPr>
          <a:lstStyle/>
          <a:p>
            <a:pPr algn="l"/>
            <a:r>
              <a:rPr sz="900" b="1">
                <a:solidFill>
                  <a:srgbClr val="1A73E8"/>
                </a:solidFill>
              </a:rPr>
              <a:t>Temuan 14: LOSO menunjukkan performa sebenarnya lebih rendah dari single split</a:t>
            </a:r>
          </a:p>
        </p:txBody>
      </p:sp>
      <p:graphicFrame>
        <p:nvGraphicFramePr>
          <p:cNvPr id="4" name="Table 3"/>
          <p:cNvGraphicFramePr>
            <a:graphicFrameLocks noGrp="1"/>
          </p:cNvGraphicFramePr>
          <p:nvPr/>
        </p:nvGraphicFramePr>
        <p:xfrm>
          <a:off x="274320" y="1078992"/>
          <a:ext cx="8503918" cy="960120"/>
        </p:xfrm>
        <a:graphic>
          <a:graphicData uri="http://schemas.openxmlformats.org/drawingml/2006/table">
            <a:tbl>
              <a:tblPr firstRow="1" bandRow="1"/>
              <a:tblGrid>
                <a:gridCol w="2011679"/>
                <a:gridCol w="1371600"/>
                <a:gridCol w="914399"/>
                <a:gridCol w="4206240"/>
              </a:tblGrid>
              <a:tr h="240030">
                <a:tc>
                  <a:txBody>
                    <a:bodyPr/>
                    <a:lstStyle/>
                    <a:p>
                      <a:pPr algn="ctr"/>
                      <a:r>
                        <a:rPr sz="800" b="1">
                          <a:solidFill>
                            <a:srgbClr val="FFFFFF"/>
                          </a:solidFill>
                        </a:rPr>
                        <a:t>Strategi</a:t>
                      </a:r>
                    </a:p>
                  </a:txBody>
                  <a:tcPr>
                    <a:solidFill>
                      <a:srgbClr val="1A73E8"/>
                    </a:solidFill>
                  </a:tcPr>
                </a:tc>
                <a:tc>
                  <a:txBody>
                    <a:bodyPr/>
                    <a:lstStyle/>
                    <a:p>
                      <a:pPr algn="ctr"/>
                      <a:r>
                        <a:rPr sz="800" b="1">
                          <a:solidFill>
                            <a:srgbClr val="FFFFFF"/>
                          </a:solidFill>
                        </a:rPr>
                        <a:t>Macro F1</a:t>
                      </a:r>
                    </a:p>
                  </a:txBody>
                  <a:tcPr>
                    <a:solidFill>
                      <a:srgbClr val="1A73E8"/>
                    </a:solidFill>
                  </a:tcPr>
                </a:tc>
                <a:tc>
                  <a:txBody>
                    <a:bodyPr/>
                    <a:lstStyle/>
                    <a:p>
                      <a:pPr algn="ctr"/>
                      <a:r>
                        <a:rPr sz="800" b="1">
                          <a:solidFill>
                            <a:srgbClr val="FFFFFF"/>
                          </a:solidFill>
                        </a:rPr>
                        <a:t>Std</a:t>
                      </a:r>
                    </a:p>
                  </a:txBody>
                  <a:tcPr>
                    <a:solidFill>
                      <a:srgbClr val="1A73E8"/>
                    </a:solidFill>
                  </a:tcPr>
                </a:tc>
                <a:tc>
                  <a:txBody>
                    <a:bodyPr/>
                    <a:lstStyle/>
                    <a:p>
                      <a:pPr algn="ctr"/>
                      <a:r>
                        <a:rPr sz="800" b="1">
                          <a:solidFill>
                            <a:srgbClr val="FFFFFF"/>
                          </a:solidFill>
                        </a:rPr>
                        <a:t>Keterangan</a:t>
                      </a:r>
                    </a:p>
                  </a:txBody>
                  <a:tcPr>
                    <a:solidFill>
                      <a:srgbClr val="1A73E8"/>
                    </a:solidFill>
                  </a:tcPr>
                </a:tc>
              </a:tr>
              <a:tr h="240030">
                <a:tc>
                  <a:txBody>
                    <a:bodyPr/>
                    <a:lstStyle/>
                    <a:p>
                      <a:pPr algn="l"/>
                      <a:r>
                        <a:rPr sz="850" b="1">
                          <a:solidFill>
                            <a:srgbClr val="202020"/>
                          </a:solidFill>
                        </a:rPr>
                        <a:t>Single Split</a:t>
                      </a:r>
                    </a:p>
                  </a:txBody>
                  <a:tcPr>
                    <a:solidFill>
                      <a:srgbClr val="E8F0FE"/>
                    </a:solidFill>
                  </a:tcPr>
                </a:tc>
                <a:tc>
                  <a:txBody>
                    <a:bodyPr/>
                    <a:lstStyle/>
                    <a:p>
                      <a:pPr algn="ctr"/>
                      <a:r>
                        <a:rPr sz="850" b="0">
                          <a:solidFill>
                            <a:srgbClr val="202020"/>
                          </a:solidFill>
                        </a:rPr>
                        <a:t>0.412</a:t>
                      </a:r>
                    </a:p>
                  </a:txBody>
                  <a:tcPr>
                    <a:solidFill>
                      <a:srgbClr val="E8F0FE"/>
                    </a:solidFill>
                  </a:tcPr>
                </a:tc>
                <a:tc>
                  <a:txBody>
                    <a:bodyPr/>
                    <a:lstStyle/>
                    <a:p>
                      <a:pPr algn="ctr"/>
                      <a:r>
                        <a:rPr sz="850" b="0">
                          <a:solidFill>
                            <a:srgbClr val="202020"/>
                          </a:solidFill>
                        </a:rPr>
                        <a:t>-</a:t>
                      </a:r>
                    </a:p>
                  </a:txBody>
                  <a:tcPr>
                    <a:solidFill>
                      <a:srgbClr val="E8F0FE"/>
                    </a:solidFill>
                  </a:tcPr>
                </a:tc>
                <a:tc>
                  <a:txBody>
                    <a:bodyPr/>
                    <a:lstStyle/>
                    <a:p>
                      <a:pPr algn="ctr"/>
                      <a:r>
                        <a:rPr sz="850" b="0">
                          <a:solidFill>
                            <a:srgbClr val="202020"/>
                          </a:solidFill>
                        </a:rPr>
                        <a:t>Fix 5 user test (bisa bias)</a:t>
                      </a:r>
                    </a:p>
                  </a:txBody>
                  <a:tcPr>
                    <a:solidFill>
                      <a:srgbClr val="E8F0FE"/>
                    </a:solidFill>
                  </a:tcPr>
                </a:tc>
              </a:tr>
              <a:tr h="240030">
                <a:tc>
                  <a:txBody>
                    <a:bodyPr/>
                    <a:lstStyle/>
                    <a:p>
                      <a:pPr algn="l"/>
                      <a:r>
                        <a:rPr sz="850" b="1">
                          <a:solidFill>
                            <a:srgbClr val="202020"/>
                          </a:solidFill>
                        </a:rPr>
                        <a:t>LOSO (34/37 fold)</a:t>
                      </a:r>
                    </a:p>
                  </a:txBody>
                  <a:tcPr>
                    <a:solidFill>
                      <a:srgbClr val="FFFFFF"/>
                    </a:solidFill>
                  </a:tcPr>
                </a:tc>
                <a:tc>
                  <a:txBody>
                    <a:bodyPr/>
                    <a:lstStyle/>
                    <a:p>
                      <a:pPr algn="ctr"/>
                      <a:r>
                        <a:rPr sz="850" b="0">
                          <a:solidFill>
                            <a:srgbClr val="202020"/>
                          </a:solidFill>
                        </a:rPr>
                        <a:t>0.370</a:t>
                      </a:r>
                    </a:p>
                  </a:txBody>
                  <a:tcPr>
                    <a:solidFill>
                      <a:srgbClr val="FFFFFF"/>
                    </a:solidFill>
                  </a:tcPr>
                </a:tc>
                <a:tc>
                  <a:txBody>
                    <a:bodyPr/>
                    <a:lstStyle/>
                    <a:p>
                      <a:pPr algn="ctr"/>
                      <a:r>
                        <a:rPr sz="850" b="0">
                          <a:solidFill>
                            <a:srgbClr val="202020"/>
                          </a:solidFill>
                        </a:rPr>
                        <a:t>0.125</a:t>
                      </a:r>
                    </a:p>
                  </a:txBody>
                  <a:tcPr>
                    <a:solidFill>
                      <a:srgbClr val="FFFFFF"/>
                    </a:solidFill>
                  </a:tcPr>
                </a:tc>
                <a:tc>
                  <a:txBody>
                    <a:bodyPr/>
                    <a:lstStyle/>
                    <a:p>
                      <a:pPr algn="ctr"/>
                      <a:r>
                        <a:rPr sz="850" b="0">
                          <a:solidFill>
                            <a:srgbClr val="202020"/>
                          </a:solidFill>
                        </a:rPr>
                        <a:t>Rotasi semua user (gold standard)</a:t>
                      </a:r>
                    </a:p>
                  </a:txBody>
                  <a:tcPr>
                    <a:solidFill>
                      <a:srgbClr val="FFFFFF"/>
                    </a:solidFill>
                  </a:tcPr>
                </a:tc>
              </a:tr>
              <a:tr h="240030">
                <a:tc>
                  <a:txBody>
                    <a:bodyPr/>
                    <a:lstStyle/>
                    <a:p>
                      <a:pPr algn="l"/>
                      <a:r>
                        <a:rPr sz="850" b="1">
                          <a:solidFill>
                            <a:srgbClr val="202020"/>
                          </a:solidFill>
                        </a:rPr>
                        <a:t>Selisih</a:t>
                      </a:r>
                    </a:p>
                  </a:txBody>
                  <a:tcPr>
                    <a:solidFill>
                      <a:srgbClr val="E8F0FE"/>
                    </a:solidFill>
                  </a:tcPr>
                </a:tc>
                <a:tc>
                  <a:txBody>
                    <a:bodyPr/>
                    <a:lstStyle/>
                    <a:p>
                      <a:pPr algn="ctr"/>
                      <a:r>
                        <a:rPr sz="850" b="0">
                          <a:solidFill>
                            <a:srgbClr val="202020"/>
                          </a:solidFill>
                        </a:rPr>
                        <a:t>-0.042</a:t>
                      </a:r>
                    </a:p>
                  </a:txBody>
                  <a:tcPr>
                    <a:solidFill>
                      <a:srgbClr val="E8F0FE"/>
                    </a:solidFill>
                  </a:tcPr>
                </a:tc>
                <a:tc>
                  <a:txBody>
                    <a:bodyPr/>
                    <a:lstStyle/>
                    <a:p>
                      <a:pPr algn="ctr"/>
                      <a:r>
                        <a:rPr sz="850" b="0">
                          <a:solidFill>
                            <a:srgbClr val="202020"/>
                          </a:solidFill>
                        </a:rPr>
                        <a:t/>
                      </a:r>
                    </a:p>
                  </a:txBody>
                  <a:tcPr>
                    <a:solidFill>
                      <a:srgbClr val="E8F0FE"/>
                    </a:solidFill>
                  </a:tcPr>
                </a:tc>
                <a:tc>
                  <a:txBody>
                    <a:bodyPr/>
                    <a:lstStyle/>
                    <a:p>
                      <a:pPr algn="ctr"/>
                      <a:r>
                        <a:rPr sz="850" b="0">
                          <a:solidFill>
                            <a:srgbClr val="202020"/>
                          </a:solidFill>
                        </a:rPr>
                        <a:t>Single split over-estimate ~10%</a:t>
                      </a:r>
                    </a:p>
                  </a:txBody>
                  <a:tcPr>
                    <a:solidFill>
                      <a:srgbClr val="E8F0FE"/>
                    </a:solidFill>
                  </a:tcPr>
                </a:tc>
              </a:tr>
            </a:tbl>
          </a:graphicData>
        </a:graphic>
      </p:graphicFrame>
      <p:sp>
        <p:nvSpPr>
          <p:cNvPr id="5" name="TextBox 4"/>
          <p:cNvSpPr txBox="1"/>
          <p:nvPr/>
        </p:nvSpPr>
        <p:spPr>
          <a:xfrm>
            <a:off x="274320" y="2194560"/>
            <a:ext cx="8503920" cy="256032"/>
          </a:xfrm>
          <a:prstGeom prst="rect">
            <a:avLst/>
          </a:prstGeom>
          <a:noFill/>
        </p:spPr>
        <p:txBody>
          <a:bodyPr wrap="none">
            <a:spAutoFit/>
          </a:bodyPr>
          <a:lstStyle/>
          <a:p>
            <a:pPr algn="l"/>
            <a:r>
              <a:rPr sz="900" b="1">
                <a:solidFill>
                  <a:srgbClr val="1A73E8"/>
                </a:solidFill>
              </a:rPr>
              <a:t>Temuan 15: Random Split jauh lebih tinggi — bukti data leakage</a:t>
            </a:r>
          </a:p>
        </p:txBody>
      </p:sp>
      <p:graphicFrame>
        <p:nvGraphicFramePr>
          <p:cNvPr id="6" name="Table 5"/>
          <p:cNvGraphicFramePr>
            <a:graphicFrameLocks noGrp="1"/>
          </p:cNvGraphicFramePr>
          <p:nvPr/>
        </p:nvGraphicFramePr>
        <p:xfrm>
          <a:off x="274320" y="2496312"/>
          <a:ext cx="8503917" cy="960120"/>
        </p:xfrm>
        <a:graphic>
          <a:graphicData uri="http://schemas.openxmlformats.org/drawingml/2006/table">
            <a:tbl>
              <a:tblPr firstRow="1" bandRow="1"/>
              <a:tblGrid>
                <a:gridCol w="1828799"/>
                <a:gridCol w="1828799"/>
                <a:gridCol w="2011679"/>
                <a:gridCol w="1371600"/>
                <a:gridCol w="1463040"/>
              </a:tblGrid>
              <a:tr h="240030">
                <a:tc>
                  <a:txBody>
                    <a:bodyPr/>
                    <a:lstStyle/>
                    <a:p>
                      <a:pPr algn="ctr"/>
                      <a:r>
                        <a:rPr sz="800" b="1">
                          <a:solidFill>
                            <a:srgbClr val="FFFFFF"/>
                          </a:solidFill>
                        </a:rPr>
                        <a:t>Model</a:t>
                      </a:r>
                    </a:p>
                  </a:txBody>
                  <a:tcPr>
                    <a:solidFill>
                      <a:srgbClr val="1A73E8"/>
                    </a:solidFill>
                  </a:tcPr>
                </a:tc>
                <a:tc>
                  <a:txBody>
                    <a:bodyPr/>
                    <a:lstStyle/>
                    <a:p>
                      <a:pPr algn="ctr"/>
                      <a:r>
                        <a:rPr sz="800" b="1">
                          <a:solidFill>
                            <a:srgbClr val="FFFFFF"/>
                          </a:solidFill>
                        </a:rPr>
                        <a:t>User-Based (Single)</a:t>
                      </a:r>
                    </a:p>
                  </a:txBody>
                  <a:tcPr>
                    <a:solidFill>
                      <a:srgbClr val="1A73E8"/>
                    </a:solidFill>
                  </a:tcPr>
                </a:tc>
                <a:tc>
                  <a:txBody>
                    <a:bodyPr/>
                    <a:lstStyle/>
                    <a:p>
                      <a:pPr algn="ctr"/>
                      <a:r>
                        <a:rPr sz="800" b="1">
                          <a:solidFill>
                            <a:srgbClr val="FFFFFF"/>
                          </a:solidFill>
                        </a:rPr>
                        <a:t>Random Split</a:t>
                      </a:r>
                    </a:p>
                  </a:txBody>
                  <a:tcPr>
                    <a:solidFill>
                      <a:srgbClr val="1A73E8"/>
                    </a:solidFill>
                  </a:tcPr>
                </a:tc>
                <a:tc>
                  <a:txBody>
                    <a:bodyPr/>
                    <a:lstStyle/>
                    <a:p>
                      <a:pPr algn="ctr"/>
                      <a:r>
                        <a:rPr sz="800" b="1">
                          <a:solidFill>
                            <a:srgbClr val="FFFFFF"/>
                          </a:solidFill>
                        </a:rPr>
                        <a:t>Selisih</a:t>
                      </a:r>
                    </a:p>
                  </a:txBody>
                  <a:tcPr>
                    <a:solidFill>
                      <a:srgbClr val="1A73E8"/>
                    </a:solidFill>
                  </a:tcPr>
                </a:tc>
                <a:tc>
                  <a:txBody>
                    <a:bodyPr/>
                    <a:lstStyle/>
                    <a:p>
                      <a:pPr algn="ctr"/>
                      <a:r>
                        <a:rPr sz="800" b="1">
                          <a:solidFill>
                            <a:srgbClr val="FFFFFF"/>
                          </a:solidFill>
                        </a:rPr>
                        <a:t>Kenaikan</a:t>
                      </a:r>
                    </a:p>
                  </a:txBody>
                  <a:tcPr>
                    <a:solidFill>
                      <a:srgbClr val="1A73E8"/>
                    </a:solidFill>
                  </a:tcPr>
                </a:tc>
              </a:tr>
              <a:tr h="240030">
                <a:tc>
                  <a:txBody>
                    <a:bodyPr/>
                    <a:lstStyle/>
                    <a:p>
                      <a:pPr algn="l"/>
                      <a:r>
                        <a:rPr sz="850" b="1">
                          <a:solidFill>
                            <a:srgbClr val="202020"/>
                          </a:solidFill>
                        </a:rPr>
                        <a:t>Intermediate TL</a:t>
                      </a:r>
                    </a:p>
                  </a:txBody>
                  <a:tcPr>
                    <a:solidFill>
                      <a:srgbClr val="E8F0FE"/>
                    </a:solidFill>
                  </a:tcPr>
                </a:tc>
                <a:tc>
                  <a:txBody>
                    <a:bodyPr/>
                    <a:lstStyle/>
                    <a:p>
                      <a:pPr algn="ctr"/>
                      <a:r>
                        <a:rPr sz="850" b="0">
                          <a:solidFill>
                            <a:srgbClr val="202020"/>
                          </a:solidFill>
                        </a:rPr>
                        <a:t>0.412</a:t>
                      </a:r>
                    </a:p>
                  </a:txBody>
                  <a:tcPr>
                    <a:solidFill>
                      <a:srgbClr val="E8F0FE"/>
                    </a:solidFill>
                  </a:tcPr>
                </a:tc>
                <a:tc>
                  <a:txBody>
                    <a:bodyPr/>
                    <a:lstStyle/>
                    <a:p>
                      <a:pPr algn="ctr"/>
                      <a:r>
                        <a:rPr sz="850" b="0">
                          <a:solidFill>
                            <a:srgbClr val="202020"/>
                          </a:solidFill>
                        </a:rPr>
                        <a:t>0.586 +/- 0.032</a:t>
                      </a:r>
                    </a:p>
                  </a:txBody>
                  <a:tcPr>
                    <a:solidFill>
                      <a:srgbClr val="E8F0FE"/>
                    </a:solidFill>
                  </a:tcPr>
                </a:tc>
                <a:tc>
                  <a:txBody>
                    <a:bodyPr/>
                    <a:lstStyle/>
                    <a:p>
                      <a:pPr algn="ctr"/>
                      <a:r>
                        <a:rPr sz="850" b="0">
                          <a:solidFill>
                            <a:srgbClr val="202020"/>
                          </a:solidFill>
                        </a:rPr>
                        <a:t>+0.174</a:t>
                      </a:r>
                    </a:p>
                  </a:txBody>
                  <a:tcPr>
                    <a:solidFill>
                      <a:srgbClr val="E8F0FE"/>
                    </a:solidFill>
                  </a:tcPr>
                </a:tc>
                <a:tc>
                  <a:txBody>
                    <a:bodyPr/>
                    <a:lstStyle/>
                    <a:p>
                      <a:pPr algn="ctr"/>
                      <a:r>
                        <a:rPr sz="850" b="0">
                          <a:solidFill>
                            <a:srgbClr val="202020"/>
                          </a:solidFill>
                        </a:rPr>
                        <a:t>+42%</a:t>
                      </a:r>
                    </a:p>
                  </a:txBody>
                  <a:tcPr>
                    <a:solidFill>
                      <a:srgbClr val="E8F0FE"/>
                    </a:solidFill>
                  </a:tcPr>
                </a:tc>
              </a:tr>
              <a:tr h="240030">
                <a:tc>
                  <a:txBody>
                    <a:bodyPr/>
                    <a:lstStyle/>
                    <a:p>
                      <a:pPr algn="l"/>
                      <a:r>
                        <a:rPr sz="850" b="1">
                          <a:solidFill>
                            <a:srgbClr val="202020"/>
                          </a:solidFill>
                        </a:rPr>
                        <a:t>Late Fusion</a:t>
                      </a:r>
                    </a:p>
                  </a:txBody>
                  <a:tcPr>
                    <a:solidFill>
                      <a:srgbClr val="FFFFFF"/>
                    </a:solidFill>
                  </a:tcPr>
                </a:tc>
                <a:tc>
                  <a:txBody>
                    <a:bodyPr/>
                    <a:lstStyle/>
                    <a:p>
                      <a:pPr algn="ctr"/>
                      <a:r>
                        <a:rPr sz="850" b="0">
                          <a:solidFill>
                            <a:srgbClr val="202020"/>
                          </a:solidFill>
                        </a:rPr>
                        <a:t>0.394</a:t>
                      </a:r>
                    </a:p>
                  </a:txBody>
                  <a:tcPr>
                    <a:solidFill>
                      <a:srgbClr val="FFFFFF"/>
                    </a:solidFill>
                  </a:tcPr>
                </a:tc>
                <a:tc>
                  <a:txBody>
                    <a:bodyPr/>
                    <a:lstStyle/>
                    <a:p>
                      <a:pPr algn="ctr"/>
                      <a:r>
                        <a:rPr sz="850" b="0">
                          <a:solidFill>
                            <a:srgbClr val="202020"/>
                          </a:solidFill>
                        </a:rPr>
                        <a:t>0.580 +/- 0.032</a:t>
                      </a:r>
                    </a:p>
                  </a:txBody>
                  <a:tcPr>
                    <a:solidFill>
                      <a:srgbClr val="FFFFFF"/>
                    </a:solidFill>
                  </a:tcPr>
                </a:tc>
                <a:tc>
                  <a:txBody>
                    <a:bodyPr/>
                    <a:lstStyle/>
                    <a:p>
                      <a:pPr algn="ctr"/>
                      <a:r>
                        <a:rPr sz="850" b="0">
                          <a:solidFill>
                            <a:srgbClr val="202020"/>
                          </a:solidFill>
                        </a:rPr>
                        <a:t>+0.186</a:t>
                      </a:r>
                    </a:p>
                  </a:txBody>
                  <a:tcPr>
                    <a:solidFill>
                      <a:srgbClr val="FFFFFF"/>
                    </a:solidFill>
                  </a:tcPr>
                </a:tc>
                <a:tc>
                  <a:txBody>
                    <a:bodyPr/>
                    <a:lstStyle/>
                    <a:p>
                      <a:pPr algn="ctr"/>
                      <a:r>
                        <a:rPr sz="850" b="0">
                          <a:solidFill>
                            <a:srgbClr val="202020"/>
                          </a:solidFill>
                        </a:rPr>
                        <a:t>+47%</a:t>
                      </a:r>
                    </a:p>
                  </a:txBody>
                  <a:tcPr>
                    <a:solidFill>
                      <a:srgbClr val="FFFFFF"/>
                    </a:solidFill>
                  </a:tcPr>
                </a:tc>
              </a:tr>
              <a:tr h="240030">
                <a:tc>
                  <a:txBody>
                    <a:bodyPr/>
                    <a:lstStyle/>
                    <a:p>
                      <a:pPr algn="l"/>
                      <a:r>
                        <a:rPr sz="850" b="1">
                          <a:solidFill>
                            <a:srgbClr val="202020"/>
                          </a:solidFill>
                        </a:rPr>
                        <a:t>FCNN</a:t>
                      </a:r>
                    </a:p>
                  </a:txBody>
                  <a:tcPr>
                    <a:solidFill>
                      <a:srgbClr val="E8F0FE"/>
                    </a:solidFill>
                  </a:tcPr>
                </a:tc>
                <a:tc>
                  <a:txBody>
                    <a:bodyPr/>
                    <a:lstStyle/>
                    <a:p>
                      <a:pPr algn="ctr"/>
                      <a:r>
                        <a:rPr sz="850" b="0">
                          <a:solidFill>
                            <a:srgbClr val="202020"/>
                          </a:solidFill>
                        </a:rPr>
                        <a:t>0.361</a:t>
                      </a:r>
                    </a:p>
                  </a:txBody>
                  <a:tcPr>
                    <a:solidFill>
                      <a:srgbClr val="E8F0FE"/>
                    </a:solidFill>
                  </a:tcPr>
                </a:tc>
                <a:tc>
                  <a:txBody>
                    <a:bodyPr/>
                    <a:lstStyle/>
                    <a:p>
                      <a:pPr algn="ctr"/>
                      <a:r>
                        <a:rPr sz="850" b="0">
                          <a:solidFill>
                            <a:srgbClr val="202020"/>
                          </a:solidFill>
                        </a:rPr>
                        <a:t>0.471 +/- 0.026</a:t>
                      </a:r>
                    </a:p>
                  </a:txBody>
                  <a:tcPr>
                    <a:solidFill>
                      <a:srgbClr val="E8F0FE"/>
                    </a:solidFill>
                  </a:tcPr>
                </a:tc>
                <a:tc>
                  <a:txBody>
                    <a:bodyPr/>
                    <a:lstStyle/>
                    <a:p>
                      <a:pPr algn="ctr"/>
                      <a:r>
                        <a:rPr sz="850" b="0">
                          <a:solidFill>
                            <a:srgbClr val="202020"/>
                          </a:solidFill>
                        </a:rPr>
                        <a:t>+0.110</a:t>
                      </a:r>
                    </a:p>
                  </a:txBody>
                  <a:tcPr>
                    <a:solidFill>
                      <a:srgbClr val="E8F0FE"/>
                    </a:solidFill>
                  </a:tcPr>
                </a:tc>
                <a:tc>
                  <a:txBody>
                    <a:bodyPr/>
                    <a:lstStyle/>
                    <a:p>
                      <a:pPr algn="ctr"/>
                      <a:r>
                        <a:rPr sz="850" b="0">
                          <a:solidFill>
                            <a:srgbClr val="202020"/>
                          </a:solidFill>
                        </a:rPr>
                        <a:t>+30%</a:t>
                      </a:r>
                    </a:p>
                  </a:txBody>
                  <a:tcPr>
                    <a:solidFill>
                      <a:srgbClr val="E8F0FE"/>
                    </a:solidFill>
                  </a:tcPr>
                </a:tc>
              </a:tr>
            </a:tbl>
          </a:graphicData>
        </a:graphic>
      </p:graphicFrame>
      <p:sp>
        <p:nvSpPr>
          <p:cNvPr id="7" name="TextBox 6"/>
          <p:cNvSpPr txBox="1"/>
          <p:nvPr/>
        </p:nvSpPr>
        <p:spPr>
          <a:xfrm>
            <a:off x="274320" y="3611880"/>
            <a:ext cx="8503920" cy="320040"/>
          </a:xfrm>
          <a:prstGeom prst="rect">
            <a:avLst/>
          </a:prstGeom>
          <a:solidFill>
            <a:srgbClr val="E8F0FE"/>
          </a:solidFill>
        </p:spPr>
        <p:txBody>
          <a:bodyPr wrap="square">
            <a:spAutoFit/>
          </a:bodyPr>
          <a:lstStyle/>
          <a:p>
            <a:pPr algn="ctr"/>
            <a:r>
              <a:rPr sz="900" b="1">
                <a:solidFill>
                  <a:srgbClr val="202020"/>
                </a:solidFill>
              </a:rPr>
              <a:t>Kesimpulan: Random Split (0.586) &gt;&gt; Single Split (0.412) &gt; LOSO (0.370) — semakin ketat evaluasi, semakin jujur hasilnya. User-based split wajib digunakan.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Evaluasi Robustness: LOSO, 5-Fold CV, Random Split</a:t>
            </a:r>
          </a:p>
        </p:txBody>
      </p:sp>
      <p:graphicFrame>
        <p:nvGraphicFramePr>
          <p:cNvPr id="3" name="Table 2"/>
          <p:cNvGraphicFramePr>
            <a:graphicFrameLocks noGrp="1"/>
          </p:cNvGraphicFramePr>
          <p:nvPr/>
        </p:nvGraphicFramePr>
        <p:xfrm>
          <a:off x="274320" y="685800"/>
          <a:ext cx="8595360" cy="1143000"/>
        </p:xfrm>
        <a:graphic>
          <a:graphicData uri="http://schemas.openxmlformats.org/drawingml/2006/table">
            <a:tbl>
              <a:tblPr firstRow="1" bandRow="1"/>
              <a:tblGrid>
                <a:gridCol w="1828800"/>
                <a:gridCol w="3200400"/>
                <a:gridCol w="1097280"/>
                <a:gridCol w="2468880"/>
              </a:tblGrid>
              <a:tr h="285750">
                <a:tc>
                  <a:txBody>
                    <a:bodyPr/>
                    <a:lstStyle/>
                    <a:p>
                      <a:pPr algn="ctr"/>
                      <a:r>
                        <a:rPr sz="1000" b="1">
                          <a:solidFill>
                            <a:srgbClr val="FFFFFF"/>
                          </a:solidFill>
                        </a:rPr>
                        <a:t>Strategi</a:t>
                      </a:r>
                    </a:p>
                  </a:txBody>
                  <a:tcPr>
                    <a:solidFill>
                      <a:srgbClr val="1A73E8"/>
                    </a:solidFill>
                  </a:tcPr>
                </a:tc>
                <a:tc>
                  <a:txBody>
                    <a:bodyPr/>
                    <a:lstStyle/>
                    <a:p>
                      <a:pPr algn="ctr"/>
                      <a:r>
                        <a:rPr sz="1000" b="1">
                          <a:solidFill>
                            <a:srgbClr val="FFFFFF"/>
                          </a:solidFill>
                        </a:rPr>
                        <a:t>Cara</a:t>
                      </a:r>
                    </a:p>
                  </a:txBody>
                  <a:tcPr>
                    <a:solidFill>
                      <a:srgbClr val="1A73E8"/>
                    </a:solidFill>
                  </a:tcPr>
                </a:tc>
                <a:tc>
                  <a:txBody>
                    <a:bodyPr/>
                    <a:lstStyle/>
                    <a:p>
                      <a:pPr algn="ctr"/>
                      <a:r>
                        <a:rPr sz="1000" b="1">
                          <a:solidFill>
                            <a:srgbClr val="FFFFFF"/>
                          </a:solidFill>
                        </a:rPr>
                        <a:t>Fold</a:t>
                      </a:r>
                    </a:p>
                  </a:txBody>
                  <a:tcPr>
                    <a:solidFill>
                      <a:srgbClr val="1A73E8"/>
                    </a:solidFill>
                  </a:tcPr>
                </a:tc>
                <a:tc>
                  <a:txBody>
                    <a:bodyPr/>
                    <a:lstStyle/>
                    <a:p>
                      <a:pPr algn="ctr"/>
                      <a:r>
                        <a:rPr sz="1000" b="1">
                          <a:solidFill>
                            <a:srgbClr val="FFFFFF"/>
                          </a:solidFill>
                        </a:rPr>
                        <a:t>Data Leakage?</a:t>
                      </a:r>
                    </a:p>
                  </a:txBody>
                  <a:tcPr>
                    <a:solidFill>
                      <a:srgbClr val="1A73E8"/>
                    </a:solidFill>
                  </a:tcPr>
                </a:tc>
              </a:tr>
              <a:tr h="285750">
                <a:tc>
                  <a:txBody>
                    <a:bodyPr/>
                    <a:lstStyle/>
                    <a:p>
                      <a:pPr algn="l"/>
                      <a:r>
                        <a:rPr sz="1000" b="1">
                          <a:solidFill>
                            <a:srgbClr val="202020"/>
                          </a:solidFill>
                        </a:rPr>
                        <a:t>LOSO</a:t>
                      </a:r>
                    </a:p>
                  </a:txBody>
                  <a:tcPr>
                    <a:solidFill>
                      <a:srgbClr val="E8F0FE"/>
                    </a:solidFill>
                  </a:tcPr>
                </a:tc>
                <a:tc>
                  <a:txBody>
                    <a:bodyPr/>
                    <a:lstStyle/>
                    <a:p>
                      <a:pPr algn="l"/>
                      <a:r>
                        <a:rPr sz="1000" b="0">
                          <a:solidFill>
                            <a:srgbClr val="202020"/>
                          </a:solidFill>
                        </a:rPr>
                        <a:t>1 user = 1 test set, rotasi</a:t>
                      </a:r>
                    </a:p>
                  </a:txBody>
                  <a:tcPr>
                    <a:solidFill>
                      <a:srgbClr val="E8F0FE"/>
                    </a:solidFill>
                  </a:tcPr>
                </a:tc>
                <a:tc>
                  <a:txBody>
                    <a:bodyPr/>
                    <a:lstStyle/>
                    <a:p>
                      <a:pPr algn="ctr"/>
                      <a:r>
                        <a:rPr sz="1000" b="0">
                          <a:solidFill>
                            <a:srgbClr val="202020"/>
                          </a:solidFill>
                        </a:rPr>
                        <a:t>37</a:t>
                      </a:r>
                    </a:p>
                  </a:txBody>
                  <a:tcPr>
                    <a:solidFill>
                      <a:srgbClr val="E8F0FE"/>
                    </a:solidFill>
                  </a:tcPr>
                </a:tc>
                <a:tc>
                  <a:txBody>
                    <a:bodyPr/>
                    <a:lstStyle/>
                    <a:p>
                      <a:pPr algn="ctr"/>
                      <a:r>
                        <a:rPr sz="1000" b="0">
                          <a:solidFill>
                            <a:srgbClr val="202020"/>
                          </a:solidFill>
                        </a:rPr>
                        <a:t>Tidak</a:t>
                      </a:r>
                    </a:p>
                  </a:txBody>
                  <a:tcPr>
                    <a:solidFill>
                      <a:srgbClr val="E8F0FE"/>
                    </a:solidFill>
                  </a:tcPr>
                </a:tc>
              </a:tr>
              <a:tr h="285750">
                <a:tc>
                  <a:txBody>
                    <a:bodyPr/>
                    <a:lstStyle/>
                    <a:p>
                      <a:pPr algn="l"/>
                      <a:r>
                        <a:rPr sz="1000" b="1">
                          <a:solidFill>
                            <a:srgbClr val="202020"/>
                          </a:solidFill>
                        </a:rPr>
                        <a:t>5-Fold CV</a:t>
                      </a:r>
                    </a:p>
                  </a:txBody>
                  <a:tcPr>
                    <a:solidFill>
                      <a:srgbClr val="FFFFFF"/>
                    </a:solidFill>
                  </a:tcPr>
                </a:tc>
                <a:tc>
                  <a:txBody>
                    <a:bodyPr/>
                    <a:lstStyle/>
                    <a:p>
                      <a:pPr algn="l"/>
                      <a:r>
                        <a:rPr sz="1000" b="0">
                          <a:solidFill>
                            <a:srgbClr val="202020"/>
                          </a:solidFill>
                        </a:rPr>
                        <a:t>User dibagi 5 grup, rotasi</a:t>
                      </a:r>
                    </a:p>
                  </a:txBody>
                  <a:tcPr>
                    <a:solidFill>
                      <a:srgbClr val="FFFFFF"/>
                    </a:solidFill>
                  </a:tcPr>
                </a:tc>
                <a:tc>
                  <a:txBody>
                    <a:bodyPr/>
                    <a:lstStyle/>
                    <a:p>
                      <a:pPr algn="ctr"/>
                      <a:r>
                        <a:rPr sz="1000" b="0">
                          <a:solidFill>
                            <a:srgbClr val="202020"/>
                          </a:solidFill>
                        </a:rPr>
                        <a:t>5</a:t>
                      </a:r>
                    </a:p>
                  </a:txBody>
                  <a:tcPr>
                    <a:solidFill>
                      <a:srgbClr val="FFFFFF"/>
                    </a:solidFill>
                  </a:tcPr>
                </a:tc>
                <a:tc>
                  <a:txBody>
                    <a:bodyPr/>
                    <a:lstStyle/>
                    <a:p>
                      <a:pPr algn="ctr"/>
                      <a:r>
                        <a:rPr sz="1000" b="0">
                          <a:solidFill>
                            <a:srgbClr val="202020"/>
                          </a:solidFill>
                        </a:rPr>
                        <a:t>Tidak</a:t>
                      </a:r>
                    </a:p>
                  </a:txBody>
                  <a:tcPr>
                    <a:solidFill>
                      <a:srgbClr val="FFFFFF"/>
                    </a:solidFill>
                  </a:tcPr>
                </a:tc>
              </a:tr>
              <a:tr h="285750">
                <a:tc>
                  <a:txBody>
                    <a:bodyPr/>
                    <a:lstStyle/>
                    <a:p>
                      <a:pPr algn="l"/>
                      <a:r>
                        <a:rPr sz="1000" b="1">
                          <a:solidFill>
                            <a:srgbClr val="202020"/>
                          </a:solidFill>
                        </a:rPr>
                        <a:t>Random Split</a:t>
                      </a:r>
                    </a:p>
                  </a:txBody>
                  <a:tcPr>
                    <a:solidFill>
                      <a:srgbClr val="E8F0FE"/>
                    </a:solidFill>
                  </a:tcPr>
                </a:tc>
                <a:tc>
                  <a:txBody>
                    <a:bodyPr/>
                    <a:lstStyle/>
                    <a:p>
                      <a:pPr algn="l"/>
                      <a:r>
                        <a:rPr sz="1000" b="0">
                          <a:solidFill>
                            <a:srgbClr val="202020"/>
                          </a:solidFill>
                        </a:rPr>
                        <a:t>Sampel diacak tanpa peduli user</a:t>
                      </a:r>
                    </a:p>
                  </a:txBody>
                  <a:tcPr>
                    <a:solidFill>
                      <a:srgbClr val="E8F0FE"/>
                    </a:solidFill>
                  </a:tcPr>
                </a:tc>
                <a:tc>
                  <a:txBody>
                    <a:bodyPr/>
                    <a:lstStyle/>
                    <a:p>
                      <a:pPr algn="ctr"/>
                      <a:r>
                        <a:rPr sz="1000" b="0">
                          <a:solidFill>
                            <a:srgbClr val="202020"/>
                          </a:solidFill>
                        </a:rPr>
                        <a:t>5x</a:t>
                      </a:r>
                    </a:p>
                  </a:txBody>
                  <a:tcPr>
                    <a:solidFill>
                      <a:srgbClr val="E8F0FE"/>
                    </a:solidFill>
                  </a:tcPr>
                </a:tc>
                <a:tc>
                  <a:txBody>
                    <a:bodyPr/>
                    <a:lstStyle/>
                    <a:p>
                      <a:pPr algn="ctr"/>
                      <a:r>
                        <a:rPr sz="1000" b="0">
                          <a:solidFill>
                            <a:srgbClr val="202020"/>
                          </a:solidFill>
                        </a:rPr>
                        <a:t>Ya (baseline)</a:t>
                      </a:r>
                    </a:p>
                  </a:txBody>
                  <a:tcPr>
                    <a:solidFill>
                      <a:srgbClr val="E8F0FE"/>
                    </a:solidFill>
                  </a:tcPr>
                </a:tc>
              </a:tr>
            </a:tbl>
          </a:graphicData>
        </a:graphic>
      </p:graphicFrame>
      <p:graphicFrame>
        <p:nvGraphicFramePr>
          <p:cNvPr id="4" name="Table 3"/>
          <p:cNvGraphicFramePr>
            <a:graphicFrameLocks noGrp="1"/>
          </p:cNvGraphicFramePr>
          <p:nvPr/>
        </p:nvGraphicFramePr>
        <p:xfrm>
          <a:off x="274320" y="2011680"/>
          <a:ext cx="8595360" cy="1143000"/>
        </p:xfrm>
        <a:graphic>
          <a:graphicData uri="http://schemas.openxmlformats.org/drawingml/2006/table">
            <a:tbl>
              <a:tblPr firstRow="1" bandRow="1"/>
              <a:tblGrid>
                <a:gridCol w="2011680"/>
                <a:gridCol w="1371600"/>
                <a:gridCol w="1828800"/>
                <a:gridCol w="1691640"/>
                <a:gridCol w="1691640"/>
              </a:tblGrid>
              <a:tr h="285750">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Single Split</a:t>
                      </a:r>
                    </a:p>
                  </a:txBody>
                  <a:tcPr>
                    <a:solidFill>
                      <a:srgbClr val="1A73E8"/>
                    </a:solidFill>
                  </a:tcPr>
                </a:tc>
                <a:tc>
                  <a:txBody>
                    <a:bodyPr/>
                    <a:lstStyle/>
                    <a:p>
                      <a:pPr algn="ctr"/>
                      <a:r>
                        <a:rPr sz="1000" b="1">
                          <a:solidFill>
                            <a:srgbClr val="FFFFFF"/>
                          </a:solidFill>
                        </a:rPr>
                        <a:t>Random Split</a:t>
                      </a:r>
                    </a:p>
                  </a:txBody>
                  <a:tcPr>
                    <a:solidFill>
                      <a:srgbClr val="1A73E8"/>
                    </a:solidFill>
                  </a:tcPr>
                </a:tc>
                <a:tc>
                  <a:txBody>
                    <a:bodyPr/>
                    <a:lstStyle/>
                    <a:p>
                      <a:pPr algn="ctr"/>
                      <a:r>
                        <a:rPr sz="1000" b="1">
                          <a:solidFill>
                            <a:srgbClr val="FFFFFF"/>
                          </a:solidFill>
                        </a:rPr>
                        <a:t>5-Fold CV</a:t>
                      </a:r>
                    </a:p>
                  </a:txBody>
                  <a:tcPr>
                    <a:solidFill>
                      <a:srgbClr val="1A73E8"/>
                    </a:solidFill>
                  </a:tcPr>
                </a:tc>
                <a:tc>
                  <a:txBody>
                    <a:bodyPr/>
                    <a:lstStyle/>
                    <a:p>
                      <a:pPr algn="ctr"/>
                      <a:r>
                        <a:rPr sz="1000" b="1">
                          <a:solidFill>
                            <a:srgbClr val="FFFFFF"/>
                          </a:solidFill>
                        </a:rPr>
                        <a:t>LOSO</a:t>
                      </a:r>
                    </a:p>
                  </a:txBody>
                  <a:tcPr>
                    <a:solidFill>
                      <a:srgbClr val="1A73E8"/>
                    </a:solidFill>
                  </a:tcPr>
                </a:tc>
              </a:tr>
              <a:tr h="285750">
                <a:tc>
                  <a:txBody>
                    <a:bodyPr/>
                    <a:lstStyle/>
                    <a:p>
                      <a:pPr algn="l"/>
                      <a:r>
                        <a:rPr sz="1000" b="1">
                          <a:solidFill>
                            <a:srgbClr val="202020"/>
                          </a:solidFill>
                        </a:rPr>
                        <a:t>Intermediate TL</a:t>
                      </a:r>
                    </a:p>
                  </a:txBody>
                  <a:tcPr>
                    <a:solidFill>
                      <a:srgbClr val="E8F0FE"/>
                    </a:solidFill>
                  </a:tcPr>
                </a:tc>
                <a:tc>
                  <a:txBody>
                    <a:bodyPr/>
                    <a:lstStyle/>
                    <a:p>
                      <a:pPr algn="l"/>
                      <a:r>
                        <a:rPr sz="1000" b="0">
                          <a:solidFill>
                            <a:srgbClr val="202020"/>
                          </a:solidFill>
                        </a:rPr>
                        <a:t>0.412</a:t>
                      </a:r>
                    </a:p>
                  </a:txBody>
                  <a:tcPr>
                    <a:solidFill>
                      <a:srgbClr val="E8F0FE"/>
                    </a:solidFill>
                  </a:tcPr>
                </a:tc>
                <a:tc>
                  <a:txBody>
                    <a:bodyPr/>
                    <a:lstStyle/>
                    <a:p>
                      <a:pPr algn="ctr"/>
                      <a:r>
                        <a:rPr sz="1000" b="0">
                          <a:solidFill>
                            <a:srgbClr val="202020"/>
                          </a:solidFill>
                        </a:rPr>
                        <a:t>0.586 +/- 0.032</a:t>
                      </a:r>
                    </a:p>
                  </a:txBody>
                  <a:tcPr>
                    <a:solidFill>
                      <a:srgbClr val="E8F0FE"/>
                    </a:solidFill>
                  </a:tcPr>
                </a:tc>
                <a:tc>
                  <a:txBody>
                    <a:bodyPr/>
                    <a:lstStyle/>
                    <a:p>
                      <a:pPr algn="l"/>
                      <a:r>
                        <a:rPr sz="1000" b="1">
                          <a:solidFill>
                            <a:srgbClr val="202020"/>
                          </a:solidFill>
                        </a:rPr>
                        <a:t>0.435 +/- 0.068</a:t>
                      </a:r>
                    </a:p>
                  </a:txBody>
                  <a:tcPr>
                    <a:solidFill>
                      <a:srgbClr val="E8F0FE"/>
                    </a:solidFill>
                  </a:tcPr>
                </a:tc>
                <a:tc>
                  <a:txBody>
                    <a:bodyPr/>
                    <a:lstStyle/>
                    <a:p>
                      <a:pPr algn="ctr"/>
                      <a:r>
                        <a:rPr sz="1000" b="0">
                          <a:solidFill>
                            <a:srgbClr val="202020"/>
                          </a:solidFill>
                        </a:rPr>
                        <a:t>0.370 +/- 0.125</a:t>
                      </a:r>
                    </a:p>
                  </a:txBody>
                  <a:tcPr>
                    <a:solidFill>
                      <a:srgbClr val="E8F0FE"/>
                    </a:solidFill>
                  </a:tcPr>
                </a:tc>
              </a:tr>
              <a:tr h="285750">
                <a:tc>
                  <a:txBody>
                    <a:bodyPr/>
                    <a:lstStyle/>
                    <a:p>
                      <a:pPr algn="l"/>
                      <a:r>
                        <a:rPr sz="1000" b="1">
                          <a:solidFill>
                            <a:srgbClr val="202020"/>
                          </a:solidFill>
                        </a:rPr>
                        <a:t>Late Fusion</a:t>
                      </a:r>
                    </a:p>
                  </a:txBody>
                  <a:tcPr>
                    <a:solidFill>
                      <a:srgbClr val="FFFFFF"/>
                    </a:solidFill>
                  </a:tcPr>
                </a:tc>
                <a:tc>
                  <a:txBody>
                    <a:bodyPr/>
                    <a:lstStyle/>
                    <a:p>
                      <a:pPr algn="l"/>
                      <a:r>
                        <a:rPr sz="1000" b="0">
                          <a:solidFill>
                            <a:srgbClr val="202020"/>
                          </a:solidFill>
                        </a:rPr>
                        <a:t>0.394</a:t>
                      </a:r>
                    </a:p>
                  </a:txBody>
                  <a:tcPr>
                    <a:solidFill>
                      <a:srgbClr val="FFFFFF"/>
                    </a:solidFill>
                  </a:tcPr>
                </a:tc>
                <a:tc>
                  <a:txBody>
                    <a:bodyPr/>
                    <a:lstStyle/>
                    <a:p>
                      <a:pPr algn="ctr"/>
                      <a:r>
                        <a:rPr sz="1000" b="0">
                          <a:solidFill>
                            <a:srgbClr val="202020"/>
                          </a:solidFill>
                        </a:rPr>
                        <a:t>0.580 +/- 0.032</a:t>
                      </a:r>
                    </a:p>
                  </a:txBody>
                  <a:tcPr>
                    <a:solidFill>
                      <a:srgbClr val="FFFFFF"/>
                    </a:solidFill>
                  </a:tcPr>
                </a:tc>
                <a:tc>
                  <a:txBody>
                    <a:bodyPr/>
                    <a:lstStyle/>
                    <a:p>
                      <a:pPr algn="ctr"/>
                      <a:r>
                        <a:rPr sz="1000" b="0">
                          <a:solidFill>
                            <a:srgbClr val="202020"/>
                          </a:solidFill>
                        </a:rPr>
                        <a:t>pending</a:t>
                      </a:r>
                    </a:p>
                  </a:txBody>
                  <a:tcPr>
                    <a:solidFill>
                      <a:srgbClr val="FFFFFF"/>
                    </a:solidFill>
                  </a:tcPr>
                </a:tc>
                <a:tc>
                  <a:txBody>
                    <a:bodyPr/>
                    <a:lstStyle/>
                    <a:p>
                      <a:pPr algn="ctr"/>
                      <a:r>
                        <a:rPr sz="1000" b="0">
                          <a:solidFill>
                            <a:srgbClr val="202020"/>
                          </a:solidFill>
                        </a:rPr>
                        <a:t>pending</a:t>
                      </a:r>
                    </a:p>
                  </a:txBody>
                  <a:tcPr>
                    <a:solidFill>
                      <a:srgbClr val="FFFFFF"/>
                    </a:solidFill>
                  </a:tcPr>
                </a:tc>
              </a:tr>
              <a:tr h="285750">
                <a:tc>
                  <a:txBody>
                    <a:bodyPr/>
                    <a:lstStyle/>
                    <a:p>
                      <a:pPr algn="l"/>
                      <a:r>
                        <a:rPr sz="1000" b="1">
                          <a:solidFill>
                            <a:srgbClr val="202020"/>
                          </a:solidFill>
                        </a:rPr>
                        <a:t>FCNN</a:t>
                      </a:r>
                    </a:p>
                  </a:txBody>
                  <a:tcPr>
                    <a:solidFill>
                      <a:srgbClr val="E8F0FE"/>
                    </a:solidFill>
                  </a:tcPr>
                </a:tc>
                <a:tc>
                  <a:txBody>
                    <a:bodyPr/>
                    <a:lstStyle/>
                    <a:p>
                      <a:pPr algn="l"/>
                      <a:r>
                        <a:rPr sz="1000" b="0">
                          <a:solidFill>
                            <a:srgbClr val="202020"/>
                          </a:solidFill>
                        </a:rPr>
                        <a:t>0.361</a:t>
                      </a:r>
                    </a:p>
                  </a:txBody>
                  <a:tcPr>
                    <a:solidFill>
                      <a:srgbClr val="E8F0FE"/>
                    </a:solidFill>
                  </a:tcPr>
                </a:tc>
                <a:tc>
                  <a:txBody>
                    <a:bodyPr/>
                    <a:lstStyle/>
                    <a:p>
                      <a:pPr algn="ctr"/>
                      <a:r>
                        <a:rPr sz="1000" b="0">
                          <a:solidFill>
                            <a:srgbClr val="202020"/>
                          </a:solidFill>
                        </a:rPr>
                        <a:t>0.471 +/- 0.026</a:t>
                      </a:r>
                    </a:p>
                  </a:txBody>
                  <a:tcPr>
                    <a:solidFill>
                      <a:srgbClr val="E8F0FE"/>
                    </a:solidFill>
                  </a:tcPr>
                </a:tc>
                <a:tc>
                  <a:txBody>
                    <a:bodyPr/>
                    <a:lstStyle/>
                    <a:p>
                      <a:pPr algn="ctr"/>
                      <a:r>
                        <a:rPr sz="1000" b="0">
                          <a:solidFill>
                            <a:srgbClr val="202020"/>
                          </a:solidFill>
                        </a:rPr>
                        <a:t>pending</a:t>
                      </a:r>
                    </a:p>
                  </a:txBody>
                  <a:tcPr>
                    <a:solidFill>
                      <a:srgbClr val="E8F0FE"/>
                    </a:solidFill>
                  </a:tcPr>
                </a:tc>
                <a:tc>
                  <a:txBody>
                    <a:bodyPr/>
                    <a:lstStyle/>
                    <a:p>
                      <a:pPr algn="ctr"/>
                      <a:r>
                        <a:rPr sz="1000" b="0">
                          <a:solidFill>
                            <a:srgbClr val="202020"/>
                          </a:solidFill>
                        </a:rPr>
                        <a:t>pending</a:t>
                      </a:r>
                    </a:p>
                  </a:txBody>
                  <a:tcPr>
                    <a:solidFill>
                      <a:srgbClr val="E8F0FE"/>
                    </a:solidFill>
                  </a:tcPr>
                </a:tc>
              </a:tr>
            </a:tbl>
          </a:graphicData>
        </a:graphic>
      </p:graphicFrame>
      <p:sp>
        <p:nvSpPr>
          <p:cNvPr id="5" name="TextBox 4"/>
          <p:cNvSpPr txBox="1"/>
          <p:nvPr/>
        </p:nvSpPr>
        <p:spPr>
          <a:xfrm>
            <a:off x="274320" y="3291840"/>
            <a:ext cx="8595360" cy="320040"/>
          </a:xfrm>
          <a:prstGeom prst="rect">
            <a:avLst/>
          </a:prstGeom>
          <a:noFill/>
        </p:spPr>
        <p:txBody>
          <a:bodyPr wrap="none">
            <a:spAutoFit/>
          </a:bodyPr>
          <a:lstStyle/>
          <a:p>
            <a:pPr algn="ctr"/>
            <a:r>
              <a:rPr sz="1000" b="0" i="1">
                <a:solidFill>
                  <a:srgbClr val="666666"/>
                </a:solidFill>
              </a:rPr>
              <a:t>Pola: Random (0.586) &gt;&gt; Single (0.412) &gt; LOSO (0.370) -- semakin ketat, semakin jujur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Temuan: Bukti Data Leakage &amp; Pentingnya User-Based Split</a:t>
            </a:r>
          </a:p>
        </p:txBody>
      </p:sp>
      <p:graphicFrame>
        <p:nvGraphicFramePr>
          <p:cNvPr id="3" name="Table 2"/>
          <p:cNvGraphicFramePr>
            <a:graphicFrameLocks noGrp="1"/>
          </p:cNvGraphicFramePr>
          <p:nvPr/>
        </p:nvGraphicFramePr>
        <p:xfrm>
          <a:off x="274320" y="731520"/>
          <a:ext cx="8595360" cy="1097280"/>
        </p:xfrm>
        <a:graphic>
          <a:graphicData uri="http://schemas.openxmlformats.org/drawingml/2006/table">
            <a:tbl>
              <a:tblPr firstRow="1" bandRow="1"/>
              <a:tblGrid>
                <a:gridCol w="2011680"/>
                <a:gridCol w="1645920"/>
                <a:gridCol w="1645920"/>
                <a:gridCol w="1645920"/>
                <a:gridCol w="1645920"/>
              </a:tblGrid>
              <a:tr h="274320">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User-Based</a:t>
                      </a:r>
                    </a:p>
                  </a:txBody>
                  <a:tcPr>
                    <a:solidFill>
                      <a:srgbClr val="1A73E8"/>
                    </a:solidFill>
                  </a:tcPr>
                </a:tc>
                <a:tc>
                  <a:txBody>
                    <a:bodyPr/>
                    <a:lstStyle/>
                    <a:p>
                      <a:pPr algn="ctr"/>
                      <a:r>
                        <a:rPr sz="1000" b="1">
                          <a:solidFill>
                            <a:srgbClr val="FFFFFF"/>
                          </a:solidFill>
                        </a:rPr>
                        <a:t>Random Split</a:t>
                      </a:r>
                    </a:p>
                  </a:txBody>
                  <a:tcPr>
                    <a:solidFill>
                      <a:srgbClr val="1A73E8"/>
                    </a:solidFill>
                  </a:tcPr>
                </a:tc>
                <a:tc>
                  <a:txBody>
                    <a:bodyPr/>
                    <a:lstStyle/>
                    <a:p>
                      <a:pPr algn="ctr"/>
                      <a:r>
                        <a:rPr sz="1000" b="1">
                          <a:solidFill>
                            <a:srgbClr val="FFFFFF"/>
                          </a:solidFill>
                        </a:rPr>
                        <a:t>Selisih</a:t>
                      </a:r>
                    </a:p>
                  </a:txBody>
                  <a:tcPr>
                    <a:solidFill>
                      <a:srgbClr val="1A73E8"/>
                    </a:solidFill>
                  </a:tcPr>
                </a:tc>
                <a:tc>
                  <a:txBody>
                    <a:bodyPr/>
                    <a:lstStyle/>
                    <a:p>
                      <a:pPr algn="ctr"/>
                      <a:r>
                        <a:rPr sz="1000" b="1">
                          <a:solidFill>
                            <a:srgbClr val="FFFFFF"/>
                          </a:solidFill>
                        </a:rPr>
                        <a:t>Kenaikan</a:t>
                      </a:r>
                    </a:p>
                  </a:txBody>
                  <a:tcPr>
                    <a:solidFill>
                      <a:srgbClr val="1A73E8"/>
                    </a:solidFill>
                  </a:tcPr>
                </a:tc>
              </a:tr>
              <a:tr h="274320">
                <a:tc>
                  <a:txBody>
                    <a:bodyPr/>
                    <a:lstStyle/>
                    <a:p>
                      <a:pPr algn="l"/>
                      <a:r>
                        <a:rPr sz="1000" b="1">
                          <a:solidFill>
                            <a:srgbClr val="202020"/>
                          </a:solidFill>
                        </a:rPr>
                        <a:t>Intermediate TL</a:t>
                      </a:r>
                    </a:p>
                  </a:txBody>
                  <a:tcPr>
                    <a:solidFill>
                      <a:srgbClr val="E8F0FE"/>
                    </a:solidFill>
                  </a:tcPr>
                </a:tc>
                <a:tc>
                  <a:txBody>
                    <a:bodyPr/>
                    <a:lstStyle/>
                    <a:p>
                      <a:pPr algn="l"/>
                      <a:r>
                        <a:rPr sz="1000" b="0">
                          <a:solidFill>
                            <a:srgbClr val="202020"/>
                          </a:solidFill>
                        </a:rPr>
                        <a:t>0.412</a:t>
                      </a:r>
                    </a:p>
                  </a:txBody>
                  <a:tcPr>
                    <a:solidFill>
                      <a:srgbClr val="E8F0FE"/>
                    </a:solidFill>
                  </a:tcPr>
                </a:tc>
                <a:tc>
                  <a:txBody>
                    <a:bodyPr/>
                    <a:lstStyle/>
                    <a:p>
                      <a:pPr algn="ctr"/>
                      <a:r>
                        <a:rPr sz="1000" b="0">
                          <a:solidFill>
                            <a:srgbClr val="202020"/>
                          </a:solidFill>
                        </a:rPr>
                        <a:t>0.586</a:t>
                      </a:r>
                    </a:p>
                  </a:txBody>
                  <a:tcPr>
                    <a:solidFill>
                      <a:srgbClr val="E8F0FE"/>
                    </a:solidFill>
                  </a:tcPr>
                </a:tc>
                <a:tc>
                  <a:txBody>
                    <a:bodyPr/>
                    <a:lstStyle/>
                    <a:p>
                      <a:pPr algn="ctr"/>
                      <a:r>
                        <a:rPr sz="1000" b="0">
                          <a:solidFill>
                            <a:srgbClr val="202020"/>
                          </a:solidFill>
                        </a:rPr>
                        <a:t>+0.174</a:t>
                      </a:r>
                    </a:p>
                  </a:txBody>
                  <a:tcPr>
                    <a:solidFill>
                      <a:srgbClr val="E8F0FE"/>
                    </a:solidFill>
                  </a:tcPr>
                </a:tc>
                <a:tc>
                  <a:txBody>
                    <a:bodyPr/>
                    <a:lstStyle/>
                    <a:p>
                      <a:pPr algn="ctr"/>
                      <a:r>
                        <a:rPr sz="1000" b="0">
                          <a:solidFill>
                            <a:srgbClr val="202020"/>
                          </a:solidFill>
                        </a:rPr>
                        <a:t>+42%</a:t>
                      </a:r>
                    </a:p>
                  </a:txBody>
                  <a:tcPr>
                    <a:solidFill>
                      <a:srgbClr val="E8F0FE"/>
                    </a:solidFill>
                  </a:tcPr>
                </a:tc>
              </a:tr>
              <a:tr h="274320">
                <a:tc>
                  <a:txBody>
                    <a:bodyPr/>
                    <a:lstStyle/>
                    <a:p>
                      <a:pPr algn="l"/>
                      <a:r>
                        <a:rPr sz="1000" b="1">
                          <a:solidFill>
                            <a:srgbClr val="202020"/>
                          </a:solidFill>
                        </a:rPr>
                        <a:t>Late Fusion</a:t>
                      </a:r>
                    </a:p>
                  </a:txBody>
                  <a:tcPr>
                    <a:solidFill>
                      <a:srgbClr val="FFFFFF"/>
                    </a:solidFill>
                  </a:tcPr>
                </a:tc>
                <a:tc>
                  <a:txBody>
                    <a:bodyPr/>
                    <a:lstStyle/>
                    <a:p>
                      <a:pPr algn="l"/>
                      <a:r>
                        <a:rPr sz="1000" b="0">
                          <a:solidFill>
                            <a:srgbClr val="202020"/>
                          </a:solidFill>
                        </a:rPr>
                        <a:t>0.394</a:t>
                      </a:r>
                    </a:p>
                  </a:txBody>
                  <a:tcPr>
                    <a:solidFill>
                      <a:srgbClr val="FFFFFF"/>
                    </a:solidFill>
                  </a:tcPr>
                </a:tc>
                <a:tc>
                  <a:txBody>
                    <a:bodyPr/>
                    <a:lstStyle/>
                    <a:p>
                      <a:pPr algn="ctr"/>
                      <a:r>
                        <a:rPr sz="1000" b="0">
                          <a:solidFill>
                            <a:srgbClr val="202020"/>
                          </a:solidFill>
                        </a:rPr>
                        <a:t>0.580</a:t>
                      </a:r>
                    </a:p>
                  </a:txBody>
                  <a:tcPr>
                    <a:solidFill>
                      <a:srgbClr val="FFFFFF"/>
                    </a:solidFill>
                  </a:tcPr>
                </a:tc>
                <a:tc>
                  <a:txBody>
                    <a:bodyPr/>
                    <a:lstStyle/>
                    <a:p>
                      <a:pPr algn="ctr"/>
                      <a:r>
                        <a:rPr sz="1000" b="0">
                          <a:solidFill>
                            <a:srgbClr val="202020"/>
                          </a:solidFill>
                        </a:rPr>
                        <a:t>+0.186</a:t>
                      </a:r>
                    </a:p>
                  </a:txBody>
                  <a:tcPr>
                    <a:solidFill>
                      <a:srgbClr val="FFFFFF"/>
                    </a:solidFill>
                  </a:tcPr>
                </a:tc>
                <a:tc>
                  <a:txBody>
                    <a:bodyPr/>
                    <a:lstStyle/>
                    <a:p>
                      <a:pPr algn="ctr"/>
                      <a:r>
                        <a:rPr sz="1000" b="0">
                          <a:solidFill>
                            <a:srgbClr val="202020"/>
                          </a:solidFill>
                        </a:rPr>
                        <a:t>+47%</a:t>
                      </a:r>
                    </a:p>
                  </a:txBody>
                  <a:tcPr>
                    <a:solidFill>
                      <a:srgbClr val="FFFFFF"/>
                    </a:solidFill>
                  </a:tcPr>
                </a:tc>
              </a:tr>
              <a:tr h="274320">
                <a:tc>
                  <a:txBody>
                    <a:bodyPr/>
                    <a:lstStyle/>
                    <a:p>
                      <a:pPr algn="l"/>
                      <a:r>
                        <a:rPr sz="1000" b="1">
                          <a:solidFill>
                            <a:srgbClr val="202020"/>
                          </a:solidFill>
                        </a:rPr>
                        <a:t>FCNN</a:t>
                      </a:r>
                    </a:p>
                  </a:txBody>
                  <a:tcPr>
                    <a:solidFill>
                      <a:srgbClr val="E8F0FE"/>
                    </a:solidFill>
                  </a:tcPr>
                </a:tc>
                <a:tc>
                  <a:txBody>
                    <a:bodyPr/>
                    <a:lstStyle/>
                    <a:p>
                      <a:pPr algn="l"/>
                      <a:r>
                        <a:rPr sz="1000" b="0">
                          <a:solidFill>
                            <a:srgbClr val="202020"/>
                          </a:solidFill>
                        </a:rPr>
                        <a:t>0.361</a:t>
                      </a:r>
                    </a:p>
                  </a:txBody>
                  <a:tcPr>
                    <a:solidFill>
                      <a:srgbClr val="E8F0FE"/>
                    </a:solidFill>
                  </a:tcPr>
                </a:tc>
                <a:tc>
                  <a:txBody>
                    <a:bodyPr/>
                    <a:lstStyle/>
                    <a:p>
                      <a:pPr algn="ctr"/>
                      <a:r>
                        <a:rPr sz="1000" b="0">
                          <a:solidFill>
                            <a:srgbClr val="202020"/>
                          </a:solidFill>
                        </a:rPr>
                        <a:t>0.471</a:t>
                      </a:r>
                    </a:p>
                  </a:txBody>
                  <a:tcPr>
                    <a:solidFill>
                      <a:srgbClr val="E8F0FE"/>
                    </a:solidFill>
                  </a:tcPr>
                </a:tc>
                <a:tc>
                  <a:txBody>
                    <a:bodyPr/>
                    <a:lstStyle/>
                    <a:p>
                      <a:pPr algn="ctr"/>
                      <a:r>
                        <a:rPr sz="1000" b="0">
                          <a:solidFill>
                            <a:srgbClr val="202020"/>
                          </a:solidFill>
                        </a:rPr>
                        <a:t>+0.110</a:t>
                      </a:r>
                    </a:p>
                  </a:txBody>
                  <a:tcPr>
                    <a:solidFill>
                      <a:srgbClr val="E8F0FE"/>
                    </a:solidFill>
                  </a:tcPr>
                </a:tc>
                <a:tc>
                  <a:txBody>
                    <a:bodyPr/>
                    <a:lstStyle/>
                    <a:p>
                      <a:pPr algn="ctr"/>
                      <a:r>
                        <a:rPr sz="1000" b="0">
                          <a:solidFill>
                            <a:srgbClr val="202020"/>
                          </a:solidFill>
                        </a:rPr>
                        <a:t>+30%</a:t>
                      </a:r>
                    </a:p>
                  </a:txBody>
                  <a:tcPr>
                    <a:solidFill>
                      <a:srgbClr val="E8F0FE"/>
                    </a:solidFill>
                  </a:tcPr>
                </a:tc>
              </a:tr>
            </a:tbl>
          </a:graphicData>
        </a:graphic>
      </p:graphicFrame>
      <p:sp>
        <p:nvSpPr>
          <p:cNvPr id="4" name="TextBox 3"/>
          <p:cNvSpPr txBox="1"/>
          <p:nvPr/>
        </p:nvSpPr>
        <p:spPr>
          <a:xfrm>
            <a:off x="274320" y="1965960"/>
            <a:ext cx="4114800" cy="1371600"/>
          </a:xfrm>
          <a:prstGeom prst="rect">
            <a:avLst/>
          </a:prstGeom>
          <a:solidFill>
            <a:srgbClr val="FCE4E4"/>
          </a:solidFill>
        </p:spPr>
        <p:txBody>
          <a:bodyPr wrap="square">
            <a:spAutoFit/>
          </a:bodyPr>
          <a:lstStyle/>
          <a:p>
            <a:pPr algn="l"/>
            <a:r>
              <a:rPr sz="1000" b="1" i="0">
                <a:solidFill>
                  <a:srgbClr val="D93C3C"/>
                </a:solidFill>
              </a:rPr>
              <a:t>Mengapa Random Split Lebih Tinggi?</a:t>
            </a:r>
          </a:p>
          <a:p>
            <a:pPr algn="l"/>
            <a:r>
              <a:rPr sz="400" b="0" i="0"/>
              <a:t/>
            </a:r>
          </a:p>
          <a:p>
            <a:pPr algn="l"/>
            <a:r>
              <a:rPr sz="950" b="0" i="0">
                <a:solidFill>
                  <a:srgbClr val="202020"/>
                </a:solidFill>
              </a:rPr>
              <a:t>User yang sama di train &amp; test</a:t>
            </a:r>
          </a:p>
          <a:p>
            <a:pPr algn="l"/>
            <a:r>
              <a:rPr sz="950" b="0" i="0">
                <a:solidFill>
                  <a:srgbClr val="202020"/>
                </a:solidFill>
              </a:rPr>
              <a:t>-&gt; Model "menghafal" wajah, bukan ekspresi</a:t>
            </a:r>
          </a:p>
          <a:p>
            <a:pPr algn="l"/>
            <a:r>
              <a:rPr sz="950" b="0" i="0">
                <a:solidFill>
                  <a:srgbClr val="202020"/>
                </a:solidFill>
              </a:rPr>
              <a:t>-&gt; F1 naik 30-47% bukan karena model</a:t>
            </a:r>
          </a:p>
          <a:p>
            <a:pPr algn="l"/>
            <a:r>
              <a:rPr sz="950" b="0" i="0">
                <a:solidFill>
                  <a:srgbClr val="202020"/>
                </a:solidFill>
              </a:rPr>
              <a:t>   lebih baik, tapi evaluasi tidak valid</a:t>
            </a:r>
          </a:p>
        </p:txBody>
      </p:sp>
      <p:sp>
        <p:nvSpPr>
          <p:cNvPr id="5" name="TextBox 4"/>
          <p:cNvSpPr txBox="1"/>
          <p:nvPr/>
        </p:nvSpPr>
        <p:spPr>
          <a:xfrm>
            <a:off x="4480560" y="1965960"/>
            <a:ext cx="4389120" cy="1371600"/>
          </a:xfrm>
          <a:prstGeom prst="rect">
            <a:avLst/>
          </a:prstGeom>
          <a:solidFill>
            <a:srgbClr val="E6F4EA"/>
          </a:solidFill>
        </p:spPr>
        <p:txBody>
          <a:bodyPr wrap="square">
            <a:spAutoFit/>
          </a:bodyPr>
          <a:lstStyle/>
          <a:p>
            <a:pPr algn="l"/>
            <a:r>
              <a:rPr sz="1000" b="1" i="0">
                <a:solidFill>
                  <a:srgbClr val="0F9D58"/>
                </a:solidFill>
              </a:rPr>
              <a:t>LOSO: Performa Sebenarnya</a:t>
            </a:r>
          </a:p>
          <a:p>
            <a:pPr algn="l"/>
            <a:r>
              <a:rPr sz="400" b="0" i="0"/>
              <a:t/>
            </a:r>
          </a:p>
          <a:p>
            <a:pPr algn="l"/>
            <a:r>
              <a:rPr sz="950" b="0" i="0">
                <a:solidFill>
                  <a:srgbClr val="202020"/>
                </a:solidFill>
              </a:rPr>
              <a:t>Intermediate TL LOSO: 0.370 +/- 0.125</a:t>
            </a:r>
          </a:p>
          <a:p>
            <a:pPr algn="l"/>
            <a:r>
              <a:rPr sz="950" b="0" i="0">
                <a:solidFill>
                  <a:srgbClr val="202020"/>
                </a:solidFill>
              </a:rPr>
              <a:t>-&gt; Std tinggi: performa bervariasi antar user</a:t>
            </a:r>
          </a:p>
          <a:p>
            <a:pPr algn="l"/>
            <a:r>
              <a:rPr sz="950" b="0" i="0">
                <a:solidFill>
                  <a:srgbClr val="202020"/>
                </a:solidFill>
              </a:rPr>
              <a:t>-&gt; Single split (0.412) sedikit over-estimate</a:t>
            </a:r>
          </a:p>
          <a:p>
            <a:pPr algn="l"/>
            <a:r>
              <a:rPr sz="950" b="0" i="0">
                <a:solidFill>
                  <a:srgbClr val="202020"/>
                </a:solidFill>
              </a:rPr>
              <a:t>-&gt; LOSO = evaluasi paling jujur</a:t>
            </a:r>
          </a:p>
        </p:txBody>
      </p:sp>
      <p:sp>
        <p:nvSpPr>
          <p:cNvPr id="6" name="TextBox 5"/>
          <p:cNvSpPr txBox="1"/>
          <p:nvPr/>
        </p:nvSpPr>
        <p:spPr>
          <a:xfrm>
            <a:off x="274320" y="3474720"/>
            <a:ext cx="8595360" cy="457200"/>
          </a:xfrm>
          <a:prstGeom prst="rect">
            <a:avLst/>
          </a:prstGeom>
          <a:solidFill>
            <a:srgbClr val="1A73E8"/>
          </a:solidFill>
        </p:spPr>
        <p:txBody>
          <a:bodyPr wrap="square">
            <a:spAutoFit/>
          </a:bodyPr>
          <a:lstStyle/>
          <a:p>
            <a:pPr algn="ctr"/>
            <a:r>
              <a:rPr sz="1000" b="1" i="0">
                <a:solidFill>
                  <a:srgbClr val="FFFFFF"/>
                </a:solidFill>
              </a:rPr>
              <a:t>Kesimpulan: Evaluasi HARUS user-based split (LOSO/CV) -- random split menyesatkan (+30-47%)</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Benchmark -- Dataset JAFFE &amp; CK+</a:t>
            </a:r>
          </a:p>
        </p:txBody>
      </p:sp>
      <p:sp>
        <p:nvSpPr>
          <p:cNvPr id="3" name="TextBox 2"/>
          <p:cNvSpPr txBox="1"/>
          <p:nvPr/>
        </p:nvSpPr>
        <p:spPr>
          <a:xfrm>
            <a:off x="274320" y="731520"/>
            <a:ext cx="8595360" cy="731520"/>
          </a:xfrm>
          <a:prstGeom prst="rect">
            <a:avLst/>
          </a:prstGeom>
          <a:solidFill>
            <a:srgbClr val="FFF0CC"/>
          </a:solidFill>
        </p:spPr>
        <p:txBody>
          <a:bodyPr wrap="square">
            <a:spAutoFit/>
          </a:bodyPr>
          <a:lstStyle/>
          <a:p>
            <a:pPr algn="l"/>
            <a:r>
              <a:rPr sz="950" b="1" i="0">
                <a:solidFill>
                  <a:srgbClr val="202020"/>
                </a:solidFill>
              </a:rPr>
              <a:t>Tujuan: Menguji pipeline dan arsitektur yang sama pada dataset standar untuk</a:t>
            </a:r>
          </a:p>
          <a:p>
            <a:pPr algn="l"/>
            <a:r>
              <a:rPr sz="950" b="0" i="0">
                <a:solidFill>
                  <a:srgbClr val="202020"/>
                </a:solidFill>
              </a:rPr>
              <a:t>menunjukkan bahwa performa rendah di dataset sendiri disebabkan oleh</a:t>
            </a:r>
          </a:p>
          <a:p>
            <a:pPr algn="l"/>
            <a:r>
              <a:rPr sz="950" b="0" i="0">
                <a:solidFill>
                  <a:srgbClr val="202020"/>
                </a:solidFill>
              </a:rPr>
              <a:t>karakteristik data (natural expression, imbalanced), bukan kelemahan arsitektur.</a:t>
            </a:r>
          </a:p>
        </p:txBody>
      </p:sp>
      <p:graphicFrame>
        <p:nvGraphicFramePr>
          <p:cNvPr id="4" name="Table 3"/>
          <p:cNvGraphicFramePr>
            <a:graphicFrameLocks noGrp="1"/>
          </p:cNvGraphicFramePr>
          <p:nvPr/>
        </p:nvGraphicFramePr>
        <p:xfrm>
          <a:off x="274320" y="1600200"/>
          <a:ext cx="8595360" cy="1097280"/>
        </p:xfrm>
        <a:graphic>
          <a:graphicData uri="http://schemas.openxmlformats.org/drawingml/2006/table">
            <a:tbl>
              <a:tblPr firstRow="1" bandRow="1"/>
              <a:tblGrid>
                <a:gridCol w="1828800"/>
                <a:gridCol w="914400"/>
                <a:gridCol w="731520"/>
                <a:gridCol w="914400"/>
                <a:gridCol w="4206240"/>
              </a:tblGrid>
              <a:tr h="274320">
                <a:tc>
                  <a:txBody>
                    <a:bodyPr/>
                    <a:lstStyle/>
                    <a:p>
                      <a:pPr algn="ctr"/>
                      <a:r>
                        <a:rPr sz="1000" b="1">
                          <a:solidFill>
                            <a:srgbClr val="FFFFFF"/>
                          </a:solidFill>
                        </a:rPr>
                        <a:t>Dataset</a:t>
                      </a:r>
                    </a:p>
                  </a:txBody>
                  <a:tcPr>
                    <a:solidFill>
                      <a:srgbClr val="1A73E8"/>
                    </a:solidFill>
                  </a:tcPr>
                </a:tc>
                <a:tc>
                  <a:txBody>
                    <a:bodyPr/>
                    <a:lstStyle/>
                    <a:p>
                      <a:pPr algn="ctr"/>
                      <a:r>
                        <a:rPr sz="1000" b="1">
                          <a:solidFill>
                            <a:srgbClr val="FFFFFF"/>
                          </a:solidFill>
                        </a:rPr>
                        <a:t>Sampel</a:t>
                      </a:r>
                    </a:p>
                  </a:txBody>
                  <a:tcPr>
                    <a:solidFill>
                      <a:srgbClr val="1A73E8"/>
                    </a:solidFill>
                  </a:tcPr>
                </a:tc>
                <a:tc>
                  <a:txBody>
                    <a:bodyPr/>
                    <a:lstStyle/>
                    <a:p>
                      <a:pPr algn="ctr"/>
                      <a:r>
                        <a:rPr sz="1000" b="1">
                          <a:solidFill>
                            <a:srgbClr val="FFFFFF"/>
                          </a:solidFill>
                        </a:rPr>
                        <a:t>Emosi</a:t>
                      </a:r>
                    </a:p>
                  </a:txBody>
                  <a:tcPr>
                    <a:solidFill>
                      <a:srgbClr val="1A73E8"/>
                    </a:solidFill>
                  </a:tcPr>
                </a:tc>
                <a:tc>
                  <a:txBody>
                    <a:bodyPr/>
                    <a:lstStyle/>
                    <a:p>
                      <a:pPr algn="ctr"/>
                      <a:r>
                        <a:rPr sz="1000" b="1">
                          <a:solidFill>
                            <a:srgbClr val="FFFFFF"/>
                          </a:solidFill>
                        </a:rPr>
                        <a:t>Subjek</a:t>
                      </a:r>
                    </a:p>
                  </a:txBody>
                  <a:tcPr>
                    <a:solidFill>
                      <a:srgbClr val="1A73E8"/>
                    </a:solidFill>
                  </a:tcPr>
                </a:tc>
                <a:tc>
                  <a:txBody>
                    <a:bodyPr/>
                    <a:lstStyle/>
                    <a:p>
                      <a:pPr algn="ctr"/>
                      <a:r>
                        <a:rPr sz="1000" b="1">
                          <a:solidFill>
                            <a:srgbClr val="FFFFFF"/>
                          </a:solidFill>
                        </a:rPr>
                        <a:t>Karakteristik</a:t>
                      </a:r>
                    </a:p>
                  </a:txBody>
                  <a:tcPr>
                    <a:solidFill>
                      <a:srgbClr val="1A73E8"/>
                    </a:solidFill>
                  </a:tcPr>
                </a:tc>
              </a:tr>
              <a:tr h="274320">
                <a:tc>
                  <a:txBody>
                    <a:bodyPr/>
                    <a:lstStyle/>
                    <a:p>
                      <a:pPr algn="l"/>
                      <a:r>
                        <a:rPr sz="1000" b="1">
                          <a:solidFill>
                            <a:srgbClr val="202020"/>
                          </a:solidFill>
                        </a:rPr>
                        <a:t>JAFFE</a:t>
                      </a:r>
                    </a:p>
                  </a:txBody>
                  <a:tcPr>
                    <a:solidFill>
                      <a:srgbClr val="E8F0FE"/>
                    </a:solidFill>
                  </a:tcPr>
                </a:tc>
                <a:tc>
                  <a:txBody>
                    <a:bodyPr/>
                    <a:lstStyle/>
                    <a:p>
                      <a:pPr algn="ctr"/>
                      <a:r>
                        <a:rPr sz="1000">
                          <a:solidFill>
                            <a:srgbClr val="202020"/>
                          </a:solidFill>
                        </a:rPr>
                        <a:t>213</a:t>
                      </a:r>
                    </a:p>
                  </a:txBody>
                  <a:tcPr>
                    <a:solidFill>
                      <a:srgbClr val="E8F0FE"/>
                    </a:solidFill>
                  </a:tcPr>
                </a:tc>
                <a:tc>
                  <a:txBody>
                    <a:bodyPr/>
                    <a:lstStyle/>
                    <a:p>
                      <a:pPr algn="ctr"/>
                      <a:r>
                        <a:rPr sz="1000">
                          <a:solidFill>
                            <a:srgbClr val="202020"/>
                          </a:solidFill>
                        </a:rPr>
                        <a:t>7</a:t>
                      </a:r>
                    </a:p>
                  </a:txBody>
                  <a:tcPr>
                    <a:solidFill>
                      <a:srgbClr val="E8F0FE"/>
                    </a:solidFill>
                  </a:tcPr>
                </a:tc>
                <a:tc>
                  <a:txBody>
                    <a:bodyPr/>
                    <a:lstStyle/>
                    <a:p>
                      <a:pPr algn="ctr"/>
                      <a:r>
                        <a:rPr sz="1000">
                          <a:solidFill>
                            <a:srgbClr val="202020"/>
                          </a:solidFill>
                        </a:rPr>
                        <a:t>10</a:t>
                      </a:r>
                    </a:p>
                  </a:txBody>
                  <a:tcPr>
                    <a:solidFill>
                      <a:srgbClr val="E8F0FE"/>
                    </a:solidFill>
                  </a:tcPr>
                </a:tc>
                <a:tc>
                  <a:txBody>
                    <a:bodyPr/>
                    <a:lstStyle/>
                    <a:p>
                      <a:pPr algn="ctr"/>
                      <a:r>
                        <a:rPr sz="1000">
                          <a:solidFill>
                            <a:srgbClr val="202020"/>
                          </a:solidFill>
                        </a:rPr>
                        <a:t>Lab, wanita Jepang, seimbang</a:t>
                      </a:r>
                    </a:p>
                  </a:txBody>
                  <a:tcPr>
                    <a:solidFill>
                      <a:srgbClr val="E8F0FE"/>
                    </a:solidFill>
                  </a:tcPr>
                </a:tc>
              </a:tr>
              <a:tr h="274320">
                <a:tc>
                  <a:txBody>
                    <a:bodyPr/>
                    <a:lstStyle/>
                    <a:p>
                      <a:pPr algn="l"/>
                      <a:r>
                        <a:rPr sz="1000" b="1">
                          <a:solidFill>
                            <a:srgbClr val="202020"/>
                          </a:solidFill>
                        </a:rPr>
                        <a:t>CK+</a:t>
                      </a:r>
                    </a:p>
                  </a:txBody>
                  <a:tcPr>
                    <a:solidFill>
                      <a:srgbClr val="FFFFFF"/>
                    </a:solidFill>
                  </a:tcPr>
                </a:tc>
                <a:tc>
                  <a:txBody>
                    <a:bodyPr/>
                    <a:lstStyle/>
                    <a:p>
                      <a:pPr algn="ctr"/>
                      <a:r>
                        <a:rPr sz="1000">
                          <a:solidFill>
                            <a:srgbClr val="202020"/>
                          </a:solidFill>
                        </a:rPr>
                        <a:t>636</a:t>
                      </a:r>
                    </a:p>
                  </a:txBody>
                  <a:tcPr>
                    <a:solidFill>
                      <a:srgbClr val="FFFFFF"/>
                    </a:solidFill>
                  </a:tcPr>
                </a:tc>
                <a:tc>
                  <a:txBody>
                    <a:bodyPr/>
                    <a:lstStyle/>
                    <a:p>
                      <a:pPr algn="ctr"/>
                      <a:r>
                        <a:rPr sz="1000">
                          <a:solidFill>
                            <a:srgbClr val="202020"/>
                          </a:solidFill>
                        </a:rPr>
                        <a:t>7+contempt</a:t>
                      </a:r>
                    </a:p>
                  </a:txBody>
                  <a:tcPr>
                    <a:solidFill>
                      <a:srgbClr val="FFFFFF"/>
                    </a:solidFill>
                  </a:tcPr>
                </a:tc>
                <a:tc>
                  <a:txBody>
                    <a:bodyPr/>
                    <a:lstStyle/>
                    <a:p>
                      <a:pPr algn="ctr"/>
                      <a:r>
                        <a:rPr sz="1000">
                          <a:solidFill>
                            <a:srgbClr val="202020"/>
                          </a:solidFill>
                        </a:rPr>
                        <a:t>118</a:t>
                      </a:r>
                    </a:p>
                  </a:txBody>
                  <a:tcPr>
                    <a:solidFill>
                      <a:srgbClr val="FFFFFF"/>
                    </a:solidFill>
                  </a:tcPr>
                </a:tc>
                <a:tc>
                  <a:txBody>
                    <a:bodyPr/>
                    <a:lstStyle/>
                    <a:p>
                      <a:pPr algn="ctr"/>
                      <a:r>
                        <a:rPr sz="1000">
                          <a:solidFill>
                            <a:srgbClr val="202020"/>
                          </a:solidFill>
                        </a:rPr>
                        <a:t>Lab, ekspresi peak, semi-balanced</a:t>
                      </a:r>
                    </a:p>
                  </a:txBody>
                  <a:tcPr>
                    <a:solidFill>
                      <a:srgbClr val="FFFFFF"/>
                    </a:solidFill>
                  </a:tcPr>
                </a:tc>
              </a:tr>
              <a:tr h="274320">
                <a:tc>
                  <a:txBody>
                    <a:bodyPr/>
                    <a:lstStyle/>
                    <a:p>
                      <a:pPr algn="l"/>
                      <a:r>
                        <a:rPr sz="1000" b="1">
                          <a:solidFill>
                            <a:srgbClr val="202020"/>
                          </a:solidFill>
                        </a:rPr>
                        <a:t>Dataset sendiri</a:t>
                      </a:r>
                    </a:p>
                  </a:txBody>
                  <a:tcPr>
                    <a:solidFill>
                      <a:srgbClr val="E8F0FE"/>
                    </a:solidFill>
                  </a:tcPr>
                </a:tc>
                <a:tc>
                  <a:txBody>
                    <a:bodyPr/>
                    <a:lstStyle/>
                    <a:p>
                      <a:pPr algn="ctr"/>
                      <a:r>
                        <a:rPr sz="1000">
                          <a:solidFill>
                            <a:srgbClr val="202020"/>
                          </a:solidFill>
                        </a:rPr>
                        <a:t>7,091</a:t>
                      </a:r>
                    </a:p>
                  </a:txBody>
                  <a:tcPr>
                    <a:solidFill>
                      <a:srgbClr val="E8F0FE"/>
                    </a:solidFill>
                  </a:tcPr>
                </a:tc>
                <a:tc>
                  <a:txBody>
                    <a:bodyPr/>
                    <a:lstStyle/>
                    <a:p>
                      <a:pPr algn="ctr"/>
                      <a:r>
                        <a:rPr sz="1000">
                          <a:solidFill>
                            <a:srgbClr val="202020"/>
                          </a:solidFill>
                        </a:rPr>
                        <a:t>7</a:t>
                      </a:r>
                    </a:p>
                  </a:txBody>
                  <a:tcPr>
                    <a:solidFill>
                      <a:srgbClr val="E8F0FE"/>
                    </a:solidFill>
                  </a:tcPr>
                </a:tc>
                <a:tc>
                  <a:txBody>
                    <a:bodyPr/>
                    <a:lstStyle/>
                    <a:p>
                      <a:pPr algn="ctr"/>
                      <a:r>
                        <a:rPr sz="1000">
                          <a:solidFill>
                            <a:srgbClr val="202020"/>
                          </a:solidFill>
                        </a:rPr>
                        <a:t>37</a:t>
                      </a:r>
                    </a:p>
                  </a:txBody>
                  <a:tcPr>
                    <a:solidFill>
                      <a:srgbClr val="E8F0FE"/>
                    </a:solidFill>
                  </a:tcPr>
                </a:tc>
                <a:tc>
                  <a:txBody>
                    <a:bodyPr/>
                    <a:lstStyle/>
                    <a:p>
                      <a:pPr algn="ctr"/>
                      <a:r>
                        <a:rPr sz="1000">
                          <a:solidFill>
                            <a:srgbClr val="202020"/>
                          </a:solidFill>
                        </a:rPr>
                        <a:t>Natural (programming), imbalanced</a:t>
                      </a:r>
                    </a:p>
                  </a:txBody>
                  <a:tcPr>
                    <a:solidFill>
                      <a:srgbClr val="E8F0FE"/>
                    </a:solidFill>
                  </a:tcPr>
                </a:tc>
              </a:tr>
            </a:tbl>
          </a:graphicData>
        </a:graphic>
      </p:graphicFrame>
      <p:sp>
        <p:nvSpPr>
          <p:cNvPr id="5" name="TextBox 4"/>
          <p:cNvSpPr txBox="1"/>
          <p:nvPr/>
        </p:nvSpPr>
        <p:spPr>
          <a:xfrm>
            <a:off x="274320" y="2834640"/>
            <a:ext cx="8595360" cy="731520"/>
          </a:xfrm>
          <a:prstGeom prst="rect">
            <a:avLst/>
          </a:prstGeom>
          <a:solidFill>
            <a:srgbClr val="E8F0FE"/>
          </a:solidFill>
        </p:spPr>
        <p:txBody>
          <a:bodyPr wrap="square">
            <a:spAutoFit/>
          </a:bodyPr>
          <a:lstStyle/>
          <a:p>
            <a:pPr algn="l"/>
            <a:r>
              <a:rPr sz="1000" b="1">
                <a:solidFill>
                  <a:srgbClr val="202020"/>
                </a:solidFill>
              </a:rPr>
              <a:t>Evaluasi yang dilakukan:</a:t>
            </a:r>
          </a:p>
          <a:p>
            <a:pPr algn="l"/>
          </a:p>
          <a:p>
            <a:pPr algn="l"/>
          </a:p>
          <a:p>
            <a:pPr algn="l"/>
          </a:p>
          <a:p>
            <a:pPr algn="l"/>
            <a:r>
              <a:rPr sz="950">
                <a:solidFill>
                  <a:srgbClr val="202020"/>
                </a:solidFill>
              </a:rPr>
              <a:t>1. Single Split (80/10/10 subject-wise) -- semua model, B1 Baseline</a:t>
            </a:r>
          </a:p>
          <a:p>
            <a:pPr algn="l"/>
            <a:r>
              <a:rPr sz="950">
                <a:solidFill>
                  <a:srgbClr val="202020"/>
                </a:solidFill>
              </a:rPr>
              <a:t>2. JAFFE: LOSO (10 fold) -- 10 subjek = LOSO natural (1 fold = 1 subjek)</a:t>
            </a:r>
          </a:p>
          <a:p>
            <a:pPr algn="l"/>
            <a:r>
              <a:rPr sz="950">
                <a:solidFill>
                  <a:srgbClr val="202020"/>
                </a:solidFill>
              </a:rPr>
              <a:t>3. CK+: 10-Fold CV (subject-wise) -- 118 subjek dibagi 10 grup (LOSO 118 fold terlalu mahal)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Benchmark 7-Class -- Single Split (Macro F1)</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286000"/>
                <a:gridCol w="2103120"/>
                <a:gridCol w="2103120"/>
                <a:gridCol w="2103120"/>
              </a:tblGrid>
              <a:tr h="313508">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JAFFE</a:t>
                      </a:r>
                    </a:p>
                  </a:txBody>
                  <a:tcPr>
                    <a:solidFill>
                      <a:srgbClr val="1A73E8"/>
                    </a:solidFill>
                  </a:tcPr>
                </a:tc>
                <a:tc>
                  <a:txBody>
                    <a:bodyPr/>
                    <a:lstStyle/>
                    <a:p>
                      <a:pPr algn="ctr"/>
                      <a:r>
                        <a:rPr sz="1000" b="1">
                          <a:solidFill>
                            <a:srgbClr val="FFFFFF"/>
                          </a:solidFill>
                        </a:rPr>
                        <a:t>CK+</a:t>
                      </a:r>
                    </a:p>
                  </a:txBody>
                  <a:tcPr>
                    <a:solidFill>
                      <a:srgbClr val="1A73E8"/>
                    </a:solidFill>
                  </a:tcPr>
                </a:tc>
                <a:tc>
                  <a:txBody>
                    <a:bodyPr/>
                    <a:lstStyle/>
                    <a:p>
                      <a:pPr algn="ctr"/>
                      <a:r>
                        <a:rPr sz="1000" b="1">
                          <a:solidFill>
                            <a:srgbClr val="FFFFFF"/>
                          </a:solidFill>
                        </a:rPr>
                        <a:t>Dataset Sendiri</a:t>
                      </a:r>
                    </a:p>
                  </a:txBody>
                  <a:tcPr>
                    <a:solidFill>
                      <a:srgbClr val="1A73E8"/>
                    </a:solidFill>
                  </a:tcPr>
                </a:tc>
              </a:tr>
              <a:tr h="313508">
                <a:tc>
                  <a:txBody>
                    <a:bodyPr/>
                    <a:lstStyle/>
                    <a:p>
                      <a:pPr algn="l"/>
                      <a:r>
                        <a:rPr sz="1000" b="1">
                          <a:solidFill>
                            <a:srgbClr val="202020"/>
                          </a:solidFill>
                        </a:rPr>
                        <a:t>CNN</a:t>
                      </a:r>
                    </a:p>
                  </a:txBody>
                  <a:tcPr>
                    <a:solidFill>
                      <a:srgbClr val="E8F0FE"/>
                    </a:solidFill>
                  </a:tcPr>
                </a:tc>
                <a:tc>
                  <a:txBody>
                    <a:bodyPr/>
                    <a:lstStyle/>
                    <a:p>
                      <a:pPr algn="ctr"/>
                      <a:r>
                        <a:rPr sz="1000" b="0">
                          <a:solidFill>
                            <a:srgbClr val="202020"/>
                          </a:solidFill>
                        </a:rPr>
                        <a:t>0.304</a:t>
                      </a:r>
                    </a:p>
                  </a:txBody>
                  <a:tcPr>
                    <a:solidFill>
                      <a:srgbClr val="E8F0FE"/>
                    </a:solidFill>
                  </a:tcPr>
                </a:tc>
                <a:tc>
                  <a:txBody>
                    <a:bodyPr/>
                    <a:lstStyle/>
                    <a:p>
                      <a:pPr algn="ctr"/>
                      <a:r>
                        <a:rPr sz="1000" b="0">
                          <a:solidFill>
                            <a:srgbClr val="202020"/>
                          </a:solidFill>
                        </a:rPr>
                        <a:t>0.461</a:t>
                      </a:r>
                    </a:p>
                  </a:txBody>
                  <a:tcPr>
                    <a:solidFill>
                      <a:srgbClr val="E8F0FE"/>
                    </a:solidFill>
                  </a:tcPr>
                </a:tc>
                <a:tc>
                  <a:txBody>
                    <a:bodyPr/>
                    <a:lstStyle/>
                    <a:p>
                      <a:pPr algn="ctr"/>
                      <a:r>
                        <a:rPr sz="1000" b="0">
                          <a:solidFill>
                            <a:srgbClr val="202020"/>
                          </a:solidFill>
                        </a:rPr>
                        <a:t>0.137</a:t>
                      </a:r>
                    </a:p>
                  </a:txBody>
                  <a:tcPr>
                    <a:solidFill>
                      <a:srgbClr val="E8F0FE"/>
                    </a:solidFill>
                  </a:tcPr>
                </a:tc>
              </a:tr>
              <a:tr h="313508">
                <a:tc>
                  <a:txBody>
                    <a:bodyPr/>
                    <a:lstStyle/>
                    <a:p>
                      <a:pPr algn="l"/>
                      <a:r>
                        <a:rPr sz="1000" b="1">
                          <a:solidFill>
                            <a:srgbClr val="202020"/>
                          </a:solidFill>
                        </a:rPr>
                        <a:t>FCNN</a:t>
                      </a:r>
                    </a:p>
                  </a:txBody>
                  <a:tcPr>
                    <a:solidFill>
                      <a:srgbClr val="FFFFFF"/>
                    </a:solidFill>
                  </a:tcPr>
                </a:tc>
                <a:tc>
                  <a:txBody>
                    <a:bodyPr/>
                    <a:lstStyle/>
                    <a:p>
                      <a:pPr algn="ctr"/>
                      <a:r>
                        <a:rPr sz="1000" b="0">
                          <a:solidFill>
                            <a:srgbClr val="202020"/>
                          </a:solidFill>
                        </a:rPr>
                        <a:t>0.209</a:t>
                      </a:r>
                    </a:p>
                  </a:txBody>
                  <a:tcPr>
                    <a:solidFill>
                      <a:srgbClr val="FFFFFF"/>
                    </a:solidFill>
                  </a:tcPr>
                </a:tc>
                <a:tc>
                  <a:txBody>
                    <a:bodyPr/>
                    <a:lstStyle/>
                    <a:p>
                      <a:pPr algn="ctr"/>
                      <a:r>
                        <a:rPr sz="1000" b="0">
                          <a:solidFill>
                            <a:srgbClr val="202020"/>
                          </a:solidFill>
                        </a:rPr>
                        <a:t>0.395</a:t>
                      </a:r>
                    </a:p>
                  </a:txBody>
                  <a:tcPr>
                    <a:solidFill>
                      <a:srgbClr val="FFFFFF"/>
                    </a:solidFill>
                  </a:tcPr>
                </a:tc>
                <a:tc>
                  <a:txBody>
                    <a:bodyPr/>
                    <a:lstStyle/>
                    <a:p>
                      <a:pPr algn="ctr"/>
                      <a:r>
                        <a:rPr sz="1000" b="0">
                          <a:solidFill>
                            <a:srgbClr val="202020"/>
                          </a:solidFill>
                        </a:rPr>
                        <a:t>0.158</a:t>
                      </a:r>
                    </a:p>
                  </a:txBody>
                  <a:tcPr>
                    <a:solidFill>
                      <a:srgbClr val="FFFFFF"/>
                    </a:solidFill>
                  </a:tcPr>
                </a:tc>
              </a:tr>
              <a:tr h="313508">
                <a:tc>
                  <a:txBody>
                    <a:bodyPr/>
                    <a:lstStyle/>
                    <a:p>
                      <a:pPr algn="l"/>
                      <a:r>
                        <a:rPr sz="1000" b="1">
                          <a:solidFill>
                            <a:srgbClr val="202020"/>
                          </a:solidFill>
                        </a:rPr>
                        <a:t>Late Fusion</a:t>
                      </a:r>
                    </a:p>
                  </a:txBody>
                  <a:tcPr>
                    <a:solidFill>
                      <a:srgbClr val="E8F0FE"/>
                    </a:solidFill>
                  </a:tcPr>
                </a:tc>
                <a:tc>
                  <a:txBody>
                    <a:bodyPr/>
                    <a:lstStyle/>
                    <a:p>
                      <a:pPr algn="ctr"/>
                      <a:r>
                        <a:rPr sz="1000" b="1">
                          <a:solidFill>
                            <a:srgbClr val="202020"/>
                          </a:solidFill>
                        </a:rPr>
                        <a:t>0.545</a:t>
                      </a:r>
                    </a:p>
                  </a:txBody>
                  <a:tcPr>
                    <a:solidFill>
                      <a:srgbClr val="C6EFCE"/>
                    </a:solidFill>
                  </a:tcPr>
                </a:tc>
                <a:tc>
                  <a:txBody>
                    <a:bodyPr/>
                    <a:lstStyle/>
                    <a:p>
                      <a:pPr algn="ctr"/>
                      <a:r>
                        <a:rPr sz="1000" b="0">
                          <a:solidFill>
                            <a:srgbClr val="202020"/>
                          </a:solidFill>
                        </a:rPr>
                        <a:t>0.498</a:t>
                      </a:r>
                    </a:p>
                  </a:txBody>
                  <a:tcPr>
                    <a:solidFill>
                      <a:srgbClr val="E8F0FE"/>
                    </a:solidFill>
                  </a:tcPr>
                </a:tc>
                <a:tc>
                  <a:txBody>
                    <a:bodyPr/>
                    <a:lstStyle/>
                    <a:p>
                      <a:pPr algn="ctr"/>
                      <a:r>
                        <a:rPr sz="1000" b="0">
                          <a:solidFill>
                            <a:srgbClr val="202020"/>
                          </a:solidFill>
                        </a:rPr>
                        <a:t>0.175</a:t>
                      </a:r>
                    </a:p>
                  </a:txBody>
                  <a:tcPr>
                    <a:solidFill>
                      <a:srgbClr val="E8F0FE"/>
                    </a:solidFill>
                  </a:tcPr>
                </a:tc>
              </a:tr>
              <a:tr h="313508">
                <a:tc>
                  <a:txBody>
                    <a:bodyPr/>
                    <a:lstStyle/>
                    <a:p>
                      <a:pPr algn="l"/>
                      <a:r>
                        <a:rPr sz="1000" b="1">
                          <a:solidFill>
                            <a:srgbClr val="202020"/>
                          </a:solidFill>
                        </a:rPr>
                        <a:t>Intermediate</a:t>
                      </a:r>
                    </a:p>
                  </a:txBody>
                  <a:tcPr>
                    <a:solidFill>
                      <a:srgbClr val="FFFFFF"/>
                    </a:solidFill>
                  </a:tcPr>
                </a:tc>
                <a:tc>
                  <a:txBody>
                    <a:bodyPr/>
                    <a:lstStyle/>
                    <a:p>
                      <a:pPr algn="ctr"/>
                      <a:r>
                        <a:rPr sz="1000" b="0">
                          <a:solidFill>
                            <a:srgbClr val="202020"/>
                          </a:solidFill>
                        </a:rPr>
                        <a:t>0.037</a:t>
                      </a:r>
                    </a:p>
                  </a:txBody>
                  <a:tcPr>
                    <a:solidFill>
                      <a:srgbClr val="FFFFFF"/>
                    </a:solidFill>
                  </a:tcPr>
                </a:tc>
                <a:tc>
                  <a:txBody>
                    <a:bodyPr/>
                    <a:lstStyle/>
                    <a:p>
                      <a:pPr algn="ctr"/>
                      <a:r>
                        <a:rPr sz="1000" b="0">
                          <a:solidFill>
                            <a:srgbClr val="202020"/>
                          </a:solidFill>
                        </a:rPr>
                        <a:t>0.316</a:t>
                      </a:r>
                    </a:p>
                  </a:txBody>
                  <a:tcPr>
                    <a:solidFill>
                      <a:srgbClr val="FFFFFF"/>
                    </a:solidFill>
                  </a:tcPr>
                </a:tc>
                <a:tc>
                  <a:txBody>
                    <a:bodyPr/>
                    <a:lstStyle/>
                    <a:p>
                      <a:pPr algn="ctr"/>
                      <a:r>
                        <a:rPr sz="1000" b="0">
                          <a:solidFill>
                            <a:srgbClr val="202020"/>
                          </a:solidFill>
                        </a:rPr>
                        <a:t>0.137</a:t>
                      </a:r>
                    </a:p>
                  </a:txBody>
                  <a:tcPr>
                    <a:solidFill>
                      <a:srgbClr val="FFFFFF"/>
                    </a:solidFill>
                  </a:tcPr>
                </a:tc>
              </a:tr>
              <a:tr h="313508">
                <a:tc>
                  <a:txBody>
                    <a:bodyPr/>
                    <a:lstStyle/>
                    <a:p>
                      <a:pPr algn="l"/>
                      <a:r>
                        <a:rPr sz="1000" b="1">
                          <a:solidFill>
                            <a:srgbClr val="202020"/>
                          </a:solidFill>
                        </a:rPr>
                        <a:t>CNN TL</a:t>
                      </a:r>
                    </a:p>
                  </a:txBody>
                  <a:tcPr>
                    <a:solidFill>
                      <a:srgbClr val="E8F0FE"/>
                    </a:solidFill>
                  </a:tcPr>
                </a:tc>
                <a:tc>
                  <a:txBody>
                    <a:bodyPr/>
                    <a:lstStyle/>
                    <a:p>
                      <a:pPr algn="ctr"/>
                      <a:r>
                        <a:rPr sz="1000" b="0">
                          <a:solidFill>
                            <a:srgbClr val="202020"/>
                          </a:solidFill>
                        </a:rPr>
                        <a:t>0.464</a:t>
                      </a:r>
                    </a:p>
                  </a:txBody>
                  <a:tcPr>
                    <a:solidFill>
                      <a:srgbClr val="E8F0FE"/>
                    </a:solidFill>
                  </a:tcPr>
                </a:tc>
                <a:tc>
                  <a:txBody>
                    <a:bodyPr/>
                    <a:lstStyle/>
                    <a:p>
                      <a:pPr algn="ctr"/>
                      <a:r>
                        <a:rPr sz="1000" b="1">
                          <a:solidFill>
                            <a:srgbClr val="202020"/>
                          </a:solidFill>
                        </a:rPr>
                        <a:t>0.913</a:t>
                      </a:r>
                    </a:p>
                  </a:txBody>
                  <a:tcPr>
                    <a:solidFill>
                      <a:srgbClr val="C6EFCE"/>
                    </a:solidFill>
                  </a:tcPr>
                </a:tc>
                <a:tc>
                  <a:txBody>
                    <a:bodyPr/>
                    <a:lstStyle/>
                    <a:p>
                      <a:pPr algn="ctr"/>
                      <a:r>
                        <a:rPr sz="1000" b="0">
                          <a:solidFill>
                            <a:srgbClr val="202020"/>
                          </a:solidFill>
                        </a:rPr>
                        <a:t>0.154</a:t>
                      </a:r>
                    </a:p>
                  </a:txBody>
                  <a:tcPr>
                    <a:solidFill>
                      <a:srgbClr val="E8F0FE"/>
                    </a:solidFill>
                  </a:tcPr>
                </a:tc>
              </a:tr>
              <a:tr h="313512">
                <a:tc>
                  <a:txBody>
                    <a:bodyPr/>
                    <a:lstStyle/>
                    <a:p>
                      <a:pPr algn="l"/>
                      <a:r>
                        <a:rPr sz="1000" b="1">
                          <a:solidFill>
                            <a:srgbClr val="202020"/>
                          </a:solidFill>
                        </a:rPr>
                        <a:t>Intermediate TL</a:t>
                      </a:r>
                    </a:p>
                  </a:txBody>
                  <a:tcPr>
                    <a:solidFill>
                      <a:srgbClr val="FFFFFF"/>
                    </a:solidFill>
                  </a:tcPr>
                </a:tc>
                <a:tc>
                  <a:txBody>
                    <a:bodyPr/>
                    <a:lstStyle/>
                    <a:p>
                      <a:pPr algn="ctr"/>
                      <a:r>
                        <a:rPr sz="1000" b="0">
                          <a:solidFill>
                            <a:srgbClr val="202020"/>
                          </a:solidFill>
                        </a:rPr>
                        <a:t>0.447</a:t>
                      </a:r>
                    </a:p>
                  </a:txBody>
                  <a:tcPr>
                    <a:solidFill>
                      <a:srgbClr val="FFFFFF"/>
                    </a:solidFill>
                  </a:tcPr>
                </a:tc>
                <a:tc>
                  <a:txBody>
                    <a:bodyPr/>
                    <a:lstStyle/>
                    <a:p>
                      <a:pPr algn="ctr"/>
                      <a:r>
                        <a:rPr sz="1000" b="0">
                          <a:solidFill>
                            <a:srgbClr val="202020"/>
                          </a:solidFill>
                        </a:rPr>
                        <a:t>0.833</a:t>
                      </a:r>
                    </a:p>
                  </a:txBody>
                  <a:tcPr>
                    <a:solidFill>
                      <a:srgbClr val="FFFFFF"/>
                    </a:solidFill>
                  </a:tcPr>
                </a:tc>
                <a:tc>
                  <a:txBody>
                    <a:bodyPr/>
                    <a:lstStyle/>
                    <a:p>
                      <a:pPr algn="ctr"/>
                      <a:r>
                        <a:rPr sz="1000" b="0">
                          <a:solidFill>
                            <a:srgbClr val="202020"/>
                          </a:solidFill>
                        </a:rPr>
                        <a:t>0.180</a:t>
                      </a:r>
                    </a:p>
                  </a:txBody>
                  <a:tcPr>
                    <a:solidFill>
                      <a:srgbClr val="FFFFFF"/>
                    </a:solidFill>
                  </a:tcPr>
                </a:tc>
              </a:tr>
            </a:tbl>
          </a:graphicData>
        </a:graphic>
      </p:graphicFrame>
      <p:sp>
        <p:nvSpPr>
          <p:cNvPr id="4" name="TextBox 3"/>
          <p:cNvSpPr txBox="1"/>
          <p:nvPr/>
        </p:nvSpPr>
        <p:spPr>
          <a:xfrm>
            <a:off x="274320" y="3017520"/>
            <a:ext cx="8595360" cy="274320"/>
          </a:xfrm>
          <a:prstGeom prst="rect">
            <a:avLst/>
          </a:prstGeom>
          <a:noFill/>
        </p:spPr>
        <p:txBody>
          <a:bodyPr wrap="none">
            <a:spAutoFit/>
          </a:bodyPr>
          <a:lstStyle/>
          <a:p>
            <a:pPr algn="l"/>
            <a:r>
              <a:rPr sz="900" b="1" i="0">
                <a:solidFill>
                  <a:srgbClr val="202020"/>
                </a:solidFill>
              </a:rPr>
              <a:t>Best: JAFFE = Late Fusion (0.545) | CK+ = CNN TL (0.913) | Dataset sendiri = Intermediate TL (0.180)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Benchmark 4-Class -- Single Split (Macro F1)</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286000"/>
                <a:gridCol w="2103120"/>
                <a:gridCol w="2103120"/>
                <a:gridCol w="2103120"/>
              </a:tblGrid>
              <a:tr h="313508">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JAFFE</a:t>
                      </a:r>
                    </a:p>
                  </a:txBody>
                  <a:tcPr>
                    <a:solidFill>
                      <a:srgbClr val="1A73E8"/>
                    </a:solidFill>
                  </a:tcPr>
                </a:tc>
                <a:tc>
                  <a:txBody>
                    <a:bodyPr/>
                    <a:lstStyle/>
                    <a:p>
                      <a:pPr algn="ctr"/>
                      <a:r>
                        <a:rPr sz="1000" b="1">
                          <a:solidFill>
                            <a:srgbClr val="FFFFFF"/>
                          </a:solidFill>
                        </a:rPr>
                        <a:t>CK+</a:t>
                      </a:r>
                    </a:p>
                  </a:txBody>
                  <a:tcPr>
                    <a:solidFill>
                      <a:srgbClr val="1A73E8"/>
                    </a:solidFill>
                  </a:tcPr>
                </a:tc>
                <a:tc>
                  <a:txBody>
                    <a:bodyPr/>
                    <a:lstStyle/>
                    <a:p>
                      <a:pPr algn="ctr"/>
                      <a:r>
                        <a:rPr sz="1000" b="1">
                          <a:solidFill>
                            <a:srgbClr val="FFFFFF"/>
                          </a:solidFill>
                        </a:rPr>
                        <a:t>Dataset Sendiri</a:t>
                      </a:r>
                    </a:p>
                  </a:txBody>
                  <a:tcPr>
                    <a:solidFill>
                      <a:srgbClr val="1A73E8"/>
                    </a:solidFill>
                  </a:tcPr>
                </a:tc>
              </a:tr>
              <a:tr h="313508">
                <a:tc>
                  <a:txBody>
                    <a:bodyPr/>
                    <a:lstStyle/>
                    <a:p>
                      <a:pPr algn="l"/>
                      <a:r>
                        <a:rPr sz="1000" b="1">
                          <a:solidFill>
                            <a:srgbClr val="202020"/>
                          </a:solidFill>
                        </a:rPr>
                        <a:t>CNN</a:t>
                      </a:r>
                    </a:p>
                  </a:txBody>
                  <a:tcPr>
                    <a:solidFill>
                      <a:srgbClr val="E8F0FE"/>
                    </a:solidFill>
                  </a:tcPr>
                </a:tc>
                <a:tc>
                  <a:txBody>
                    <a:bodyPr/>
                    <a:lstStyle/>
                    <a:p>
                      <a:pPr algn="ctr"/>
                      <a:r>
                        <a:rPr sz="1000" b="0">
                          <a:solidFill>
                            <a:srgbClr val="202020"/>
                          </a:solidFill>
                        </a:rPr>
                        <a:t>0.177</a:t>
                      </a:r>
                    </a:p>
                  </a:txBody>
                  <a:tcPr>
                    <a:solidFill>
                      <a:srgbClr val="E8F0FE"/>
                    </a:solidFill>
                  </a:tcPr>
                </a:tc>
                <a:tc>
                  <a:txBody>
                    <a:bodyPr/>
                    <a:lstStyle/>
                    <a:p>
                      <a:pPr algn="ctr"/>
                      <a:r>
                        <a:rPr sz="1000" b="0">
                          <a:solidFill>
                            <a:srgbClr val="202020"/>
                          </a:solidFill>
                        </a:rPr>
                        <a:t>0.645</a:t>
                      </a:r>
                    </a:p>
                  </a:txBody>
                  <a:tcPr>
                    <a:solidFill>
                      <a:srgbClr val="E8F0FE"/>
                    </a:solidFill>
                  </a:tcPr>
                </a:tc>
                <a:tc>
                  <a:txBody>
                    <a:bodyPr/>
                    <a:lstStyle/>
                    <a:p>
                      <a:pPr algn="ctr"/>
                      <a:r>
                        <a:rPr sz="1000" b="0">
                          <a:solidFill>
                            <a:srgbClr val="202020"/>
                          </a:solidFill>
                        </a:rPr>
                        <a:t>0.238</a:t>
                      </a:r>
                    </a:p>
                  </a:txBody>
                  <a:tcPr>
                    <a:solidFill>
                      <a:srgbClr val="E8F0FE"/>
                    </a:solidFill>
                  </a:tcPr>
                </a:tc>
              </a:tr>
              <a:tr h="313508">
                <a:tc>
                  <a:txBody>
                    <a:bodyPr/>
                    <a:lstStyle/>
                    <a:p>
                      <a:pPr algn="l"/>
                      <a:r>
                        <a:rPr sz="1000" b="1">
                          <a:solidFill>
                            <a:srgbClr val="202020"/>
                          </a:solidFill>
                        </a:rPr>
                        <a:t>FCNN</a:t>
                      </a:r>
                    </a:p>
                  </a:txBody>
                  <a:tcPr>
                    <a:solidFill>
                      <a:srgbClr val="FFFFFF"/>
                    </a:solidFill>
                  </a:tcPr>
                </a:tc>
                <a:tc>
                  <a:txBody>
                    <a:bodyPr/>
                    <a:lstStyle/>
                    <a:p>
                      <a:pPr algn="ctr"/>
                      <a:r>
                        <a:rPr sz="1000" b="1">
                          <a:solidFill>
                            <a:srgbClr val="202020"/>
                          </a:solidFill>
                        </a:rPr>
                        <a:t>0.438</a:t>
                      </a:r>
                    </a:p>
                  </a:txBody>
                  <a:tcPr>
                    <a:solidFill>
                      <a:srgbClr val="C6EFCE"/>
                    </a:solidFill>
                  </a:tcPr>
                </a:tc>
                <a:tc>
                  <a:txBody>
                    <a:bodyPr/>
                    <a:lstStyle/>
                    <a:p>
                      <a:pPr algn="ctr"/>
                      <a:r>
                        <a:rPr sz="1000" b="0">
                          <a:solidFill>
                            <a:srgbClr val="202020"/>
                          </a:solidFill>
                        </a:rPr>
                        <a:t>0.592</a:t>
                      </a:r>
                    </a:p>
                  </a:txBody>
                  <a:tcPr>
                    <a:solidFill>
                      <a:srgbClr val="FFFFFF"/>
                    </a:solidFill>
                  </a:tcPr>
                </a:tc>
                <a:tc>
                  <a:txBody>
                    <a:bodyPr/>
                    <a:lstStyle/>
                    <a:p>
                      <a:pPr algn="ctr"/>
                      <a:r>
                        <a:rPr sz="1000" b="0">
                          <a:solidFill>
                            <a:srgbClr val="202020"/>
                          </a:solidFill>
                        </a:rPr>
                        <a:t>0.361</a:t>
                      </a:r>
                    </a:p>
                  </a:txBody>
                  <a:tcPr>
                    <a:solidFill>
                      <a:srgbClr val="FFFFFF"/>
                    </a:solidFill>
                  </a:tcPr>
                </a:tc>
              </a:tr>
              <a:tr h="313508">
                <a:tc>
                  <a:txBody>
                    <a:bodyPr/>
                    <a:lstStyle/>
                    <a:p>
                      <a:pPr algn="l"/>
                      <a:r>
                        <a:rPr sz="1000" b="1">
                          <a:solidFill>
                            <a:srgbClr val="202020"/>
                          </a:solidFill>
                        </a:rPr>
                        <a:t>Late Fusion</a:t>
                      </a:r>
                    </a:p>
                  </a:txBody>
                  <a:tcPr>
                    <a:solidFill>
                      <a:srgbClr val="E8F0FE"/>
                    </a:solidFill>
                  </a:tcPr>
                </a:tc>
                <a:tc>
                  <a:txBody>
                    <a:bodyPr/>
                    <a:lstStyle/>
                    <a:p>
                      <a:pPr algn="ctr"/>
                      <a:r>
                        <a:rPr sz="1000" b="0">
                          <a:solidFill>
                            <a:srgbClr val="202020"/>
                          </a:solidFill>
                        </a:rPr>
                        <a:t>0.396</a:t>
                      </a:r>
                    </a:p>
                  </a:txBody>
                  <a:tcPr>
                    <a:solidFill>
                      <a:srgbClr val="E8F0FE"/>
                    </a:solidFill>
                  </a:tcPr>
                </a:tc>
                <a:tc>
                  <a:txBody>
                    <a:bodyPr/>
                    <a:lstStyle/>
                    <a:p>
                      <a:pPr algn="ctr"/>
                      <a:r>
                        <a:rPr sz="1000" b="0">
                          <a:solidFill>
                            <a:srgbClr val="202020"/>
                          </a:solidFill>
                        </a:rPr>
                        <a:t>0.592</a:t>
                      </a:r>
                    </a:p>
                  </a:txBody>
                  <a:tcPr>
                    <a:solidFill>
                      <a:srgbClr val="E8F0FE"/>
                    </a:solidFill>
                  </a:tcPr>
                </a:tc>
                <a:tc>
                  <a:txBody>
                    <a:bodyPr/>
                    <a:lstStyle/>
                    <a:p>
                      <a:pPr algn="ctr"/>
                      <a:r>
                        <a:rPr sz="1000" b="0">
                          <a:solidFill>
                            <a:srgbClr val="202020"/>
                          </a:solidFill>
                        </a:rPr>
                        <a:t>0.394</a:t>
                      </a:r>
                    </a:p>
                  </a:txBody>
                  <a:tcPr>
                    <a:solidFill>
                      <a:srgbClr val="E8F0FE"/>
                    </a:solidFill>
                  </a:tcPr>
                </a:tc>
              </a:tr>
              <a:tr h="313508">
                <a:tc>
                  <a:txBody>
                    <a:bodyPr/>
                    <a:lstStyle/>
                    <a:p>
                      <a:pPr algn="l"/>
                      <a:r>
                        <a:rPr sz="1000" b="1">
                          <a:solidFill>
                            <a:srgbClr val="202020"/>
                          </a:solidFill>
                        </a:rPr>
                        <a:t>Intermediate</a:t>
                      </a:r>
                    </a:p>
                  </a:txBody>
                  <a:tcPr>
                    <a:solidFill>
                      <a:srgbClr val="FFFFFF"/>
                    </a:solidFill>
                  </a:tcPr>
                </a:tc>
                <a:tc>
                  <a:txBody>
                    <a:bodyPr/>
                    <a:lstStyle/>
                    <a:p>
                      <a:pPr algn="ctr"/>
                      <a:r>
                        <a:rPr sz="1000" b="0">
                          <a:solidFill>
                            <a:srgbClr val="202020"/>
                          </a:solidFill>
                        </a:rPr>
                        <a:t>0.177</a:t>
                      </a:r>
                    </a:p>
                  </a:txBody>
                  <a:tcPr>
                    <a:solidFill>
                      <a:srgbClr val="FFFFFF"/>
                    </a:solidFill>
                  </a:tcPr>
                </a:tc>
                <a:tc>
                  <a:txBody>
                    <a:bodyPr/>
                    <a:lstStyle/>
                    <a:p>
                      <a:pPr algn="ctr"/>
                      <a:r>
                        <a:rPr sz="1000" b="0">
                          <a:solidFill>
                            <a:srgbClr val="202020"/>
                          </a:solidFill>
                        </a:rPr>
                        <a:t>0.567</a:t>
                      </a:r>
                    </a:p>
                  </a:txBody>
                  <a:tcPr>
                    <a:solidFill>
                      <a:srgbClr val="FFFFFF"/>
                    </a:solidFill>
                  </a:tcPr>
                </a:tc>
                <a:tc>
                  <a:txBody>
                    <a:bodyPr/>
                    <a:lstStyle/>
                    <a:p>
                      <a:pPr algn="ctr"/>
                      <a:r>
                        <a:rPr sz="1000" b="0">
                          <a:solidFill>
                            <a:srgbClr val="202020"/>
                          </a:solidFill>
                        </a:rPr>
                        <a:t>0.243</a:t>
                      </a:r>
                    </a:p>
                  </a:txBody>
                  <a:tcPr>
                    <a:solidFill>
                      <a:srgbClr val="FFFFFF"/>
                    </a:solidFill>
                  </a:tcPr>
                </a:tc>
              </a:tr>
              <a:tr h="313508">
                <a:tc>
                  <a:txBody>
                    <a:bodyPr/>
                    <a:lstStyle/>
                    <a:p>
                      <a:pPr algn="l"/>
                      <a:r>
                        <a:rPr sz="1000" b="1">
                          <a:solidFill>
                            <a:srgbClr val="202020"/>
                          </a:solidFill>
                        </a:rPr>
                        <a:t>CNN TL</a:t>
                      </a:r>
                    </a:p>
                  </a:txBody>
                  <a:tcPr>
                    <a:solidFill>
                      <a:srgbClr val="E8F0FE"/>
                    </a:solidFill>
                  </a:tcPr>
                </a:tc>
                <a:tc>
                  <a:txBody>
                    <a:bodyPr/>
                    <a:lstStyle/>
                    <a:p>
                      <a:pPr algn="ctr"/>
                      <a:r>
                        <a:rPr sz="1000" b="0">
                          <a:solidFill>
                            <a:srgbClr val="202020"/>
                          </a:solidFill>
                        </a:rPr>
                        <a:t>0.330</a:t>
                      </a:r>
                    </a:p>
                  </a:txBody>
                  <a:tcPr>
                    <a:solidFill>
                      <a:srgbClr val="E8F0FE"/>
                    </a:solidFill>
                  </a:tcPr>
                </a:tc>
                <a:tc>
                  <a:txBody>
                    <a:bodyPr/>
                    <a:lstStyle/>
                    <a:p>
                      <a:pPr algn="ctr"/>
                      <a:r>
                        <a:rPr sz="1000" b="0">
                          <a:solidFill>
                            <a:srgbClr val="202020"/>
                          </a:solidFill>
                        </a:rPr>
                        <a:t>0.675</a:t>
                      </a:r>
                    </a:p>
                  </a:txBody>
                  <a:tcPr>
                    <a:solidFill>
                      <a:srgbClr val="E8F0FE"/>
                    </a:solidFill>
                  </a:tcPr>
                </a:tc>
                <a:tc>
                  <a:txBody>
                    <a:bodyPr/>
                    <a:lstStyle/>
                    <a:p>
                      <a:pPr algn="ctr"/>
                      <a:r>
                        <a:rPr sz="1000" b="0">
                          <a:solidFill>
                            <a:srgbClr val="202020"/>
                          </a:solidFill>
                        </a:rPr>
                        <a:t>0.274</a:t>
                      </a:r>
                    </a:p>
                  </a:txBody>
                  <a:tcPr>
                    <a:solidFill>
                      <a:srgbClr val="E8F0FE"/>
                    </a:solidFill>
                  </a:tcPr>
                </a:tc>
              </a:tr>
              <a:tr h="313512">
                <a:tc>
                  <a:txBody>
                    <a:bodyPr/>
                    <a:lstStyle/>
                    <a:p>
                      <a:pPr algn="l"/>
                      <a:r>
                        <a:rPr sz="1000" b="1">
                          <a:solidFill>
                            <a:srgbClr val="202020"/>
                          </a:solidFill>
                        </a:rPr>
                        <a:t>Intermediate TL</a:t>
                      </a:r>
                    </a:p>
                  </a:txBody>
                  <a:tcPr>
                    <a:solidFill>
                      <a:srgbClr val="FFFFFF"/>
                    </a:solidFill>
                  </a:tcPr>
                </a:tc>
                <a:tc>
                  <a:txBody>
                    <a:bodyPr/>
                    <a:lstStyle/>
                    <a:p>
                      <a:pPr algn="ctr"/>
                      <a:r>
                        <a:rPr sz="1000" b="0">
                          <a:solidFill>
                            <a:srgbClr val="202020"/>
                          </a:solidFill>
                        </a:rPr>
                        <a:t>0.375</a:t>
                      </a:r>
                    </a:p>
                  </a:txBody>
                  <a:tcPr>
                    <a:solidFill>
                      <a:srgbClr val="FFFFFF"/>
                    </a:solidFill>
                  </a:tcPr>
                </a:tc>
                <a:tc>
                  <a:txBody>
                    <a:bodyPr/>
                    <a:lstStyle/>
                    <a:p>
                      <a:pPr algn="ctr"/>
                      <a:r>
                        <a:rPr sz="1000" b="1">
                          <a:solidFill>
                            <a:srgbClr val="202020"/>
                          </a:solidFill>
                        </a:rPr>
                        <a:t>0.837</a:t>
                      </a:r>
                    </a:p>
                  </a:txBody>
                  <a:tcPr>
                    <a:solidFill>
                      <a:srgbClr val="C6EFCE"/>
                    </a:solidFill>
                  </a:tcPr>
                </a:tc>
                <a:tc>
                  <a:txBody>
                    <a:bodyPr/>
                    <a:lstStyle/>
                    <a:p>
                      <a:pPr algn="ctr"/>
                      <a:r>
                        <a:rPr sz="1000" b="1">
                          <a:solidFill>
                            <a:srgbClr val="202020"/>
                          </a:solidFill>
                        </a:rPr>
                        <a:t>0.412</a:t>
                      </a:r>
                    </a:p>
                  </a:txBody>
                  <a:tcPr>
                    <a:solidFill>
                      <a:srgbClr val="C6EFCE"/>
                    </a:solidFill>
                  </a:tcPr>
                </a:tc>
              </a:tr>
            </a:tbl>
          </a:graphicData>
        </a:graphic>
      </p:graphicFrame>
      <p:sp>
        <p:nvSpPr>
          <p:cNvPr id="4" name="TextBox 3"/>
          <p:cNvSpPr txBox="1"/>
          <p:nvPr/>
        </p:nvSpPr>
        <p:spPr>
          <a:xfrm>
            <a:off x="274320" y="3017520"/>
            <a:ext cx="8595360" cy="274320"/>
          </a:xfrm>
          <a:prstGeom prst="rect">
            <a:avLst/>
          </a:prstGeom>
          <a:noFill/>
        </p:spPr>
        <p:txBody>
          <a:bodyPr wrap="none">
            <a:spAutoFit/>
          </a:bodyPr>
          <a:lstStyle/>
          <a:p>
            <a:pPr algn="l"/>
            <a:r>
              <a:rPr sz="900" b="1" i="0">
                <a:solidFill>
                  <a:srgbClr val="202020"/>
                </a:solidFill>
              </a:rPr>
              <a:t>Best: JAFFE = FCNN (0.438) | CK+ = Intermediate TL (0.837) | Dataset sendiri = Intermediate TL (0.412)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Benchmark 7-Class -- JAFFE LOSO &amp; CK+ 10-Fold CV</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011680"/>
                <a:gridCol w="2194560"/>
                <a:gridCol w="2194560"/>
                <a:gridCol w="2194560"/>
              </a:tblGrid>
              <a:tr h="313508">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JAFFE LOSO</a:t>
                      </a:r>
                    </a:p>
                  </a:txBody>
                  <a:tcPr>
                    <a:solidFill>
                      <a:srgbClr val="1A73E8"/>
                    </a:solidFill>
                  </a:tcPr>
                </a:tc>
                <a:tc>
                  <a:txBody>
                    <a:bodyPr/>
                    <a:lstStyle/>
                    <a:p>
                      <a:pPr algn="ctr"/>
                      <a:r>
                        <a:rPr sz="950" b="1">
                          <a:solidFill>
                            <a:srgbClr val="FFFFFF"/>
                          </a:solidFill>
                        </a:rPr>
                        <a:t>CK+ 10-Fold CV</a:t>
                      </a:r>
                    </a:p>
                  </a:txBody>
                  <a:tcPr>
                    <a:solidFill>
                      <a:srgbClr val="1A73E8"/>
                    </a:solidFill>
                  </a:tcPr>
                </a:tc>
                <a:tc>
                  <a:txBody>
                    <a:bodyPr/>
                    <a:lstStyle/>
                    <a:p>
                      <a:pPr algn="ctr"/>
                      <a:r>
                        <a:rPr sz="950" b="1">
                          <a:solidFill>
                            <a:srgbClr val="FFFFFF"/>
                          </a:solidFill>
                        </a:rPr>
                        <a:t>Dataset Sendiri</a:t>
                      </a:r>
                    </a:p>
                  </a:txBody>
                  <a:tcPr>
                    <a:solidFill>
                      <a:srgbClr val="1A73E8"/>
                    </a:solidFill>
                  </a:tcPr>
                </a:tc>
              </a:tr>
              <a:tr h="313508">
                <a:tc>
                  <a:txBody>
                    <a:bodyPr/>
                    <a:lstStyle/>
                    <a:p>
                      <a:pPr algn="l"/>
                      <a:r>
                        <a:rPr sz="900" b="1">
                          <a:solidFill>
                            <a:srgbClr val="202020"/>
                          </a:solidFill>
                        </a:rPr>
                        <a:t>CNN</a:t>
                      </a:r>
                    </a:p>
                  </a:txBody>
                  <a:tcPr>
                    <a:solidFill>
                      <a:srgbClr val="E8F0FE"/>
                    </a:solidFill>
                  </a:tcPr>
                </a:tc>
                <a:tc>
                  <a:txBody>
                    <a:bodyPr/>
                    <a:lstStyle/>
                    <a:p>
                      <a:pPr algn="ctr"/>
                      <a:r>
                        <a:rPr sz="900" b="0">
                          <a:solidFill>
                            <a:srgbClr val="202020"/>
                          </a:solidFill>
                        </a:rPr>
                        <a:t>0.249 +/- 0.111</a:t>
                      </a:r>
                    </a:p>
                  </a:txBody>
                  <a:tcPr>
                    <a:solidFill>
                      <a:srgbClr val="E8F0FE"/>
                    </a:solidFill>
                  </a:tcPr>
                </a:tc>
                <a:tc>
                  <a:txBody>
                    <a:bodyPr/>
                    <a:lstStyle/>
                    <a:p>
                      <a:pPr algn="ctr"/>
                      <a:r>
                        <a:rPr sz="900" b="0">
                          <a:solidFill>
                            <a:srgbClr val="202020"/>
                          </a:solidFill>
                        </a:rPr>
                        <a:t>0.404 +/- 0.049</a:t>
                      </a:r>
                    </a:p>
                  </a:txBody>
                  <a:tcPr>
                    <a:solidFill>
                      <a:srgbClr val="E8F0FE"/>
                    </a:solidFill>
                  </a:tcPr>
                </a:tc>
                <a:tc>
                  <a:txBody>
                    <a:bodyPr/>
                    <a:lstStyle/>
                    <a:p>
                      <a:pPr algn="ctr"/>
                      <a:r>
                        <a:rPr sz="900" b="0">
                          <a:solidFill>
                            <a:srgbClr val="202020"/>
                          </a:solidFill>
                        </a:rPr>
                        <a:t>-</a:t>
                      </a:r>
                    </a:p>
                  </a:txBody>
                  <a:tcPr>
                    <a:solidFill>
                      <a:srgbClr val="E8F0FE"/>
                    </a:solidFill>
                  </a:tcPr>
                </a:tc>
              </a:tr>
              <a:tr h="313508">
                <a:tc>
                  <a:txBody>
                    <a:bodyPr/>
                    <a:lstStyle/>
                    <a:p>
                      <a:pPr algn="l"/>
                      <a:r>
                        <a:rPr sz="900" b="1">
                          <a:solidFill>
                            <a:srgbClr val="202020"/>
                          </a:solidFill>
                        </a:rPr>
                        <a:t>FCNN</a:t>
                      </a:r>
                    </a:p>
                  </a:txBody>
                  <a:tcPr>
                    <a:solidFill>
                      <a:srgbClr val="FFFFFF"/>
                    </a:solidFill>
                  </a:tcPr>
                </a:tc>
                <a:tc>
                  <a:txBody>
                    <a:bodyPr/>
                    <a:lstStyle/>
                    <a:p>
                      <a:pPr algn="ctr"/>
                      <a:r>
                        <a:rPr sz="900" b="0">
                          <a:solidFill>
                            <a:srgbClr val="202020"/>
                          </a:solidFill>
                        </a:rPr>
                        <a:t>0.304 +/- 0.157</a:t>
                      </a:r>
                    </a:p>
                  </a:txBody>
                  <a:tcPr>
                    <a:solidFill>
                      <a:srgbClr val="FFFFFF"/>
                    </a:solidFill>
                  </a:tcPr>
                </a:tc>
                <a:tc>
                  <a:txBody>
                    <a:bodyPr/>
                    <a:lstStyle/>
                    <a:p>
                      <a:pPr algn="ctr"/>
                      <a:r>
                        <a:rPr sz="900" b="0">
                          <a:solidFill>
                            <a:srgbClr val="202020"/>
                          </a:solidFill>
                        </a:rPr>
                        <a:t>0.478 +/- 0.022</a:t>
                      </a:r>
                    </a:p>
                  </a:txBody>
                  <a:tcPr>
                    <a:solidFill>
                      <a:srgbClr val="FFFFFF"/>
                    </a:solidFill>
                  </a:tcPr>
                </a:tc>
                <a:tc>
                  <a:txBody>
                    <a:bodyPr/>
                    <a:lstStyle/>
                    <a:p>
                      <a:pPr algn="ctr"/>
                      <a:r>
                        <a:rPr sz="900" b="0">
                          <a:solidFill>
                            <a:srgbClr val="202020"/>
                          </a:solidFill>
                        </a:rPr>
                        <a:t>-</a:t>
                      </a:r>
                    </a:p>
                  </a:txBody>
                  <a:tcPr>
                    <a:solidFill>
                      <a:srgbClr val="FFFFFF"/>
                    </a:solidFill>
                  </a:tcPr>
                </a:tc>
              </a:tr>
              <a:tr h="313508">
                <a:tc>
                  <a:txBody>
                    <a:bodyPr/>
                    <a:lstStyle/>
                    <a:p>
                      <a:pPr algn="l"/>
                      <a:r>
                        <a:rPr sz="900" b="1">
                          <a:solidFill>
                            <a:srgbClr val="202020"/>
                          </a:solidFill>
                        </a:rPr>
                        <a:t>Late Fusion</a:t>
                      </a:r>
                    </a:p>
                  </a:txBody>
                  <a:tcPr>
                    <a:solidFill>
                      <a:srgbClr val="E8F0FE"/>
                    </a:solidFill>
                  </a:tcPr>
                </a:tc>
                <a:tc>
                  <a:txBody>
                    <a:bodyPr/>
                    <a:lstStyle/>
                    <a:p>
                      <a:pPr algn="ctr"/>
                      <a:r>
                        <a:rPr sz="900" b="1">
                          <a:solidFill>
                            <a:srgbClr val="202020"/>
                          </a:solidFill>
                        </a:rPr>
                        <a:t>0.467 +/- 0.092</a:t>
                      </a:r>
                    </a:p>
                  </a:txBody>
                  <a:tcPr>
                    <a:solidFill>
                      <a:srgbClr val="C6EFCE"/>
                    </a:solidFill>
                  </a:tcPr>
                </a:tc>
                <a:tc>
                  <a:txBody>
                    <a:bodyPr/>
                    <a:lstStyle/>
                    <a:p>
                      <a:pPr algn="ctr"/>
                      <a:r>
                        <a:rPr sz="900" b="0">
                          <a:solidFill>
                            <a:srgbClr val="202020"/>
                          </a:solidFill>
                        </a:rPr>
                        <a:t>0.544 +/- 0.060</a:t>
                      </a:r>
                    </a:p>
                  </a:txBody>
                  <a:tcPr>
                    <a:solidFill>
                      <a:srgbClr val="E8F0FE"/>
                    </a:solidFill>
                  </a:tcPr>
                </a:tc>
                <a:tc>
                  <a:txBody>
                    <a:bodyPr/>
                    <a:lstStyle/>
                    <a:p>
                      <a:pPr algn="ctr"/>
                      <a:r>
                        <a:rPr sz="900" b="0">
                          <a:solidFill>
                            <a:srgbClr val="202020"/>
                          </a:solidFill>
                        </a:rPr>
                        <a:t>-</a:t>
                      </a:r>
                    </a:p>
                  </a:txBody>
                  <a:tcPr>
                    <a:solidFill>
                      <a:srgbClr val="E8F0FE"/>
                    </a:solidFill>
                  </a:tcPr>
                </a:tc>
              </a:tr>
              <a:tr h="313508">
                <a:tc>
                  <a:txBody>
                    <a:bodyPr/>
                    <a:lstStyle/>
                    <a:p>
                      <a:pPr algn="l"/>
                      <a:r>
                        <a:rPr sz="900" b="1">
                          <a:solidFill>
                            <a:srgbClr val="202020"/>
                          </a:solidFill>
                        </a:rPr>
                        <a:t>Intermediate</a:t>
                      </a:r>
                    </a:p>
                  </a:txBody>
                  <a:tcPr>
                    <a:solidFill>
                      <a:srgbClr val="FFFFFF"/>
                    </a:solidFill>
                  </a:tcPr>
                </a:tc>
                <a:tc>
                  <a:txBody>
                    <a:bodyPr/>
                    <a:lstStyle/>
                    <a:p>
                      <a:pPr algn="ctr"/>
                      <a:r>
                        <a:rPr sz="900" b="0">
                          <a:solidFill>
                            <a:srgbClr val="202020"/>
                          </a:solidFill>
                        </a:rPr>
                        <a:t>0.129 +/- 0.070</a:t>
                      </a:r>
                    </a:p>
                  </a:txBody>
                  <a:tcPr>
                    <a:solidFill>
                      <a:srgbClr val="FFFFFF"/>
                    </a:solidFill>
                  </a:tcPr>
                </a:tc>
                <a:tc>
                  <a:txBody>
                    <a:bodyPr/>
                    <a:lstStyle/>
                    <a:p>
                      <a:pPr algn="ctr"/>
                      <a:r>
                        <a:rPr sz="900" b="0">
                          <a:solidFill>
                            <a:srgbClr val="202020"/>
                          </a:solidFill>
                        </a:rPr>
                        <a:t>0.226 +/- 0.082</a:t>
                      </a:r>
                    </a:p>
                  </a:txBody>
                  <a:tcPr>
                    <a:solidFill>
                      <a:srgbClr val="FFFFFF"/>
                    </a:solidFill>
                  </a:tcPr>
                </a:tc>
                <a:tc>
                  <a:txBody>
                    <a:bodyPr/>
                    <a:lstStyle/>
                    <a:p>
                      <a:pPr algn="ctr"/>
                      <a:r>
                        <a:rPr sz="900" b="0">
                          <a:solidFill>
                            <a:srgbClr val="202020"/>
                          </a:solidFill>
                        </a:rPr>
                        <a:t>-</a:t>
                      </a:r>
                    </a:p>
                  </a:txBody>
                  <a:tcPr>
                    <a:solidFill>
                      <a:srgbClr val="FFFFFF"/>
                    </a:solidFill>
                  </a:tcPr>
                </a:tc>
              </a:tr>
              <a:tr h="313508">
                <a:tc>
                  <a:txBody>
                    <a:bodyPr/>
                    <a:lstStyle/>
                    <a:p>
                      <a:pPr algn="l"/>
                      <a:r>
                        <a:rPr sz="900" b="1">
                          <a:solidFill>
                            <a:srgbClr val="202020"/>
                          </a:solidFill>
                        </a:rPr>
                        <a:t>CNN TL</a:t>
                      </a:r>
                    </a:p>
                  </a:txBody>
                  <a:tcPr>
                    <a:solidFill>
                      <a:srgbClr val="E8F0FE"/>
                    </a:solidFill>
                  </a:tcPr>
                </a:tc>
                <a:tc>
                  <a:txBody>
                    <a:bodyPr/>
                    <a:lstStyle/>
                    <a:p>
                      <a:pPr algn="ctr"/>
                      <a:r>
                        <a:rPr sz="900" b="0">
                          <a:solidFill>
                            <a:srgbClr val="202020"/>
                          </a:solidFill>
                        </a:rPr>
                        <a:t>0.426 +/- 0.143</a:t>
                      </a:r>
                    </a:p>
                  </a:txBody>
                  <a:tcPr>
                    <a:solidFill>
                      <a:srgbClr val="E8F0FE"/>
                    </a:solidFill>
                  </a:tcPr>
                </a:tc>
                <a:tc>
                  <a:txBody>
                    <a:bodyPr/>
                    <a:lstStyle/>
                    <a:p>
                      <a:pPr algn="ctr"/>
                      <a:r>
                        <a:rPr sz="900" b="0">
                          <a:solidFill>
                            <a:srgbClr val="202020"/>
                          </a:solidFill>
                        </a:rPr>
                        <a:t>0.734 +/- 0.082</a:t>
                      </a:r>
                    </a:p>
                  </a:txBody>
                  <a:tcPr>
                    <a:solidFill>
                      <a:srgbClr val="E8F0FE"/>
                    </a:solidFill>
                  </a:tcPr>
                </a:tc>
                <a:tc>
                  <a:txBody>
                    <a:bodyPr/>
                    <a:lstStyle/>
                    <a:p>
                      <a:pPr algn="ctr"/>
                      <a:r>
                        <a:rPr sz="900" b="0">
                          <a:solidFill>
                            <a:srgbClr val="202020"/>
                          </a:solidFill>
                        </a:rPr>
                        <a:t>-</a:t>
                      </a:r>
                    </a:p>
                  </a:txBody>
                  <a:tcPr>
                    <a:solidFill>
                      <a:srgbClr val="E8F0FE"/>
                    </a:solidFill>
                  </a:tcPr>
                </a:tc>
              </a:tr>
              <a:tr h="313512">
                <a:tc>
                  <a:txBody>
                    <a:bodyPr/>
                    <a:lstStyle/>
                    <a:p>
                      <a:pPr algn="l"/>
                      <a:r>
                        <a:rPr sz="900" b="1">
                          <a:solidFill>
                            <a:srgbClr val="202020"/>
                          </a:solidFill>
                        </a:rPr>
                        <a:t>Intermediate TL</a:t>
                      </a:r>
                    </a:p>
                  </a:txBody>
                  <a:tcPr>
                    <a:solidFill>
                      <a:srgbClr val="FFFFFF"/>
                    </a:solidFill>
                  </a:tcPr>
                </a:tc>
                <a:tc>
                  <a:txBody>
                    <a:bodyPr/>
                    <a:lstStyle/>
                    <a:p>
                      <a:pPr algn="ctr"/>
                      <a:r>
                        <a:rPr sz="900" b="0">
                          <a:solidFill>
                            <a:srgbClr val="202020"/>
                          </a:solidFill>
                        </a:rPr>
                        <a:t>0.293 +/- 0.156</a:t>
                      </a:r>
                    </a:p>
                  </a:txBody>
                  <a:tcPr>
                    <a:solidFill>
                      <a:srgbClr val="FFFFFF"/>
                    </a:solidFill>
                  </a:tcPr>
                </a:tc>
                <a:tc>
                  <a:txBody>
                    <a:bodyPr/>
                    <a:lstStyle/>
                    <a:p>
                      <a:pPr algn="ctr"/>
                      <a:r>
                        <a:rPr sz="900" b="1">
                          <a:solidFill>
                            <a:srgbClr val="202020"/>
                          </a:solidFill>
                        </a:rPr>
                        <a:t>0.783 +/- 0.107</a:t>
                      </a:r>
                    </a:p>
                  </a:txBody>
                  <a:tcPr>
                    <a:solidFill>
                      <a:srgbClr val="C6EFCE"/>
                    </a:solidFill>
                  </a:tcPr>
                </a:tc>
                <a:tc>
                  <a:txBody>
                    <a:bodyPr/>
                    <a:lstStyle/>
                    <a:p>
                      <a:pPr algn="ctr"/>
                      <a:r>
                        <a:rPr sz="900" b="0">
                          <a:solidFill>
                            <a:srgbClr val="202020"/>
                          </a:solidFill>
                        </a:rPr>
                        <a:t>0.370 +/- 0.125</a:t>
                      </a:r>
                    </a:p>
                  </a:txBody>
                  <a:tcPr>
                    <a:solidFill>
                      <a:srgbClr val="FFFFFF"/>
                    </a:solidFill>
                  </a:tcPr>
                </a:tc>
              </a:tr>
            </a:tbl>
          </a:graphicData>
        </a:graphic>
      </p:graphicFrame>
      <p:sp>
        <p:nvSpPr>
          <p:cNvPr id="4" name="TextBox 3"/>
          <p:cNvSpPr txBox="1"/>
          <p:nvPr/>
        </p:nvSpPr>
        <p:spPr>
          <a:xfrm>
            <a:off x="274320" y="3017520"/>
            <a:ext cx="8595360" cy="274320"/>
          </a:xfrm>
          <a:prstGeom prst="rect">
            <a:avLst/>
          </a:prstGeom>
          <a:noFill/>
        </p:spPr>
        <p:txBody>
          <a:bodyPr wrap="none">
            <a:spAutoFit/>
          </a:bodyPr>
          <a:lstStyle/>
          <a:p>
            <a:pPr algn="l"/>
            <a:r>
              <a:rPr sz="900" b="1" i="0">
                <a:solidFill>
                  <a:srgbClr val="202020"/>
                </a:solidFill>
              </a:rPr>
              <a:t>Best: JAFFE = Late Fusion (0.467) | CK+ = Intermediate TL (0.783)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Benchmark 4-Class -- JAFFE LOSO &amp; CK+ 10-Fold CV</a:t>
            </a:r>
          </a:p>
        </p:txBody>
      </p:sp>
      <p:graphicFrame>
        <p:nvGraphicFramePr>
          <p:cNvPr id="3" name="Table 2"/>
          <p:cNvGraphicFramePr>
            <a:graphicFrameLocks noGrp="1"/>
          </p:cNvGraphicFramePr>
          <p:nvPr/>
        </p:nvGraphicFramePr>
        <p:xfrm>
          <a:off x="274320" y="731520"/>
          <a:ext cx="8595360" cy="2194560"/>
        </p:xfrm>
        <a:graphic>
          <a:graphicData uri="http://schemas.openxmlformats.org/drawingml/2006/table">
            <a:tbl>
              <a:tblPr firstRow="1" bandRow="1"/>
              <a:tblGrid>
                <a:gridCol w="2011680"/>
                <a:gridCol w="2194560"/>
                <a:gridCol w="2194560"/>
                <a:gridCol w="2194560"/>
              </a:tblGrid>
              <a:tr h="313508">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JAFFE LOSO</a:t>
                      </a:r>
                    </a:p>
                  </a:txBody>
                  <a:tcPr>
                    <a:solidFill>
                      <a:srgbClr val="1A73E8"/>
                    </a:solidFill>
                  </a:tcPr>
                </a:tc>
                <a:tc>
                  <a:txBody>
                    <a:bodyPr/>
                    <a:lstStyle/>
                    <a:p>
                      <a:pPr algn="ctr"/>
                      <a:r>
                        <a:rPr sz="950" b="1">
                          <a:solidFill>
                            <a:srgbClr val="FFFFFF"/>
                          </a:solidFill>
                        </a:rPr>
                        <a:t>CK+ 10-Fold CV</a:t>
                      </a:r>
                    </a:p>
                  </a:txBody>
                  <a:tcPr>
                    <a:solidFill>
                      <a:srgbClr val="1A73E8"/>
                    </a:solidFill>
                  </a:tcPr>
                </a:tc>
                <a:tc>
                  <a:txBody>
                    <a:bodyPr/>
                    <a:lstStyle/>
                    <a:p>
                      <a:pPr algn="ctr"/>
                      <a:r>
                        <a:rPr sz="950" b="1">
                          <a:solidFill>
                            <a:srgbClr val="FFFFFF"/>
                          </a:solidFill>
                        </a:rPr>
                        <a:t>Dataset Sendiri</a:t>
                      </a:r>
                    </a:p>
                  </a:txBody>
                  <a:tcPr>
                    <a:solidFill>
                      <a:srgbClr val="1A73E8"/>
                    </a:solidFill>
                  </a:tcPr>
                </a:tc>
              </a:tr>
              <a:tr h="313508">
                <a:tc>
                  <a:txBody>
                    <a:bodyPr/>
                    <a:lstStyle/>
                    <a:p>
                      <a:pPr algn="l"/>
                      <a:r>
                        <a:rPr sz="900" b="1">
                          <a:solidFill>
                            <a:srgbClr val="202020"/>
                          </a:solidFill>
                        </a:rPr>
                        <a:t>CNN</a:t>
                      </a:r>
                    </a:p>
                  </a:txBody>
                  <a:tcPr>
                    <a:solidFill>
                      <a:srgbClr val="E8F0FE"/>
                    </a:solidFill>
                  </a:tcPr>
                </a:tc>
                <a:tc>
                  <a:txBody>
                    <a:bodyPr/>
                    <a:lstStyle/>
                    <a:p>
                      <a:pPr algn="ctr"/>
                      <a:r>
                        <a:rPr sz="900" b="0">
                          <a:solidFill>
                            <a:srgbClr val="202020"/>
                          </a:solidFill>
                        </a:rPr>
                        <a:t>0.338 +/- 0.161</a:t>
                      </a:r>
                    </a:p>
                  </a:txBody>
                  <a:tcPr>
                    <a:solidFill>
                      <a:srgbClr val="E8F0FE"/>
                    </a:solidFill>
                  </a:tcPr>
                </a:tc>
                <a:tc>
                  <a:txBody>
                    <a:bodyPr/>
                    <a:lstStyle/>
                    <a:p>
                      <a:pPr algn="ctr"/>
                      <a:r>
                        <a:rPr sz="900" b="0">
                          <a:solidFill>
                            <a:srgbClr val="202020"/>
                          </a:solidFill>
                        </a:rPr>
                        <a:t>0.584 +/- 0.163</a:t>
                      </a:r>
                    </a:p>
                  </a:txBody>
                  <a:tcPr>
                    <a:solidFill>
                      <a:srgbClr val="E8F0FE"/>
                    </a:solidFill>
                  </a:tcPr>
                </a:tc>
                <a:tc>
                  <a:txBody>
                    <a:bodyPr/>
                    <a:lstStyle/>
                    <a:p>
                      <a:pPr algn="ctr"/>
                      <a:r>
                        <a:rPr sz="900" b="0">
                          <a:solidFill>
                            <a:srgbClr val="202020"/>
                          </a:solidFill>
                        </a:rPr>
                        <a:t>-</a:t>
                      </a:r>
                    </a:p>
                  </a:txBody>
                  <a:tcPr>
                    <a:solidFill>
                      <a:srgbClr val="E8F0FE"/>
                    </a:solidFill>
                  </a:tcPr>
                </a:tc>
              </a:tr>
              <a:tr h="313508">
                <a:tc>
                  <a:txBody>
                    <a:bodyPr/>
                    <a:lstStyle/>
                    <a:p>
                      <a:pPr algn="l"/>
                      <a:r>
                        <a:rPr sz="900" b="1">
                          <a:solidFill>
                            <a:srgbClr val="202020"/>
                          </a:solidFill>
                        </a:rPr>
                        <a:t>FCNN</a:t>
                      </a:r>
                    </a:p>
                  </a:txBody>
                  <a:tcPr>
                    <a:solidFill>
                      <a:srgbClr val="FFFFFF"/>
                    </a:solidFill>
                  </a:tcPr>
                </a:tc>
                <a:tc>
                  <a:txBody>
                    <a:bodyPr/>
                    <a:lstStyle/>
                    <a:p>
                      <a:pPr algn="ctr"/>
                      <a:r>
                        <a:rPr sz="900" b="0">
                          <a:solidFill>
                            <a:srgbClr val="202020"/>
                          </a:solidFill>
                        </a:rPr>
                        <a:t>0.431 +/- 0.194</a:t>
                      </a:r>
                    </a:p>
                  </a:txBody>
                  <a:tcPr>
                    <a:solidFill>
                      <a:srgbClr val="FFFFFF"/>
                    </a:solidFill>
                  </a:tcPr>
                </a:tc>
                <a:tc>
                  <a:txBody>
                    <a:bodyPr/>
                    <a:lstStyle/>
                    <a:p>
                      <a:pPr algn="ctr"/>
                      <a:r>
                        <a:rPr sz="900" b="0">
                          <a:solidFill>
                            <a:srgbClr val="202020"/>
                          </a:solidFill>
                        </a:rPr>
                        <a:t>0.598 +/- 0.036</a:t>
                      </a:r>
                    </a:p>
                  </a:txBody>
                  <a:tcPr>
                    <a:solidFill>
                      <a:srgbClr val="FFFFFF"/>
                    </a:solidFill>
                  </a:tcPr>
                </a:tc>
                <a:tc>
                  <a:txBody>
                    <a:bodyPr/>
                    <a:lstStyle/>
                    <a:p>
                      <a:pPr algn="ctr"/>
                      <a:r>
                        <a:rPr sz="900" b="0">
                          <a:solidFill>
                            <a:srgbClr val="202020"/>
                          </a:solidFill>
                        </a:rPr>
                        <a:t>0.399 +/- 0.062*</a:t>
                      </a:r>
                    </a:p>
                  </a:txBody>
                  <a:tcPr>
                    <a:solidFill>
                      <a:srgbClr val="FFFFFF"/>
                    </a:solidFill>
                  </a:tcPr>
                </a:tc>
              </a:tr>
              <a:tr h="313508">
                <a:tc>
                  <a:txBody>
                    <a:bodyPr/>
                    <a:lstStyle/>
                    <a:p>
                      <a:pPr algn="l"/>
                      <a:r>
                        <a:rPr sz="900" b="1">
                          <a:solidFill>
                            <a:srgbClr val="202020"/>
                          </a:solidFill>
                        </a:rPr>
                        <a:t>Late Fusion</a:t>
                      </a:r>
                    </a:p>
                  </a:txBody>
                  <a:tcPr>
                    <a:solidFill>
                      <a:srgbClr val="E8F0FE"/>
                    </a:solidFill>
                  </a:tcPr>
                </a:tc>
                <a:tc>
                  <a:txBody>
                    <a:bodyPr/>
                    <a:lstStyle/>
                    <a:p>
                      <a:pPr algn="ctr"/>
                      <a:r>
                        <a:rPr sz="900" b="1">
                          <a:solidFill>
                            <a:srgbClr val="202020"/>
                          </a:solidFill>
                        </a:rPr>
                        <a:t>0.530 +/- 0.126</a:t>
                      </a:r>
                    </a:p>
                  </a:txBody>
                  <a:tcPr>
                    <a:solidFill>
                      <a:srgbClr val="C6EFCE"/>
                    </a:solidFill>
                  </a:tcPr>
                </a:tc>
                <a:tc>
                  <a:txBody>
                    <a:bodyPr/>
                    <a:lstStyle/>
                    <a:p>
                      <a:pPr algn="ctr"/>
                      <a:r>
                        <a:rPr sz="900" b="0">
                          <a:solidFill>
                            <a:srgbClr val="202020"/>
                          </a:solidFill>
                        </a:rPr>
                        <a:t>0.621 +/- 0.031</a:t>
                      </a:r>
                    </a:p>
                  </a:txBody>
                  <a:tcPr>
                    <a:solidFill>
                      <a:srgbClr val="E8F0FE"/>
                    </a:solidFill>
                  </a:tcPr>
                </a:tc>
                <a:tc>
                  <a:txBody>
                    <a:bodyPr/>
                    <a:lstStyle/>
                    <a:p>
                      <a:pPr algn="ctr"/>
                      <a:r>
                        <a:rPr sz="900" b="0">
                          <a:solidFill>
                            <a:srgbClr val="202020"/>
                          </a:solidFill>
                        </a:rPr>
                        <a:t>0.401 +/- 0.055*</a:t>
                      </a:r>
                    </a:p>
                  </a:txBody>
                  <a:tcPr>
                    <a:solidFill>
                      <a:srgbClr val="E8F0FE"/>
                    </a:solidFill>
                  </a:tcPr>
                </a:tc>
              </a:tr>
              <a:tr h="313508">
                <a:tc>
                  <a:txBody>
                    <a:bodyPr/>
                    <a:lstStyle/>
                    <a:p>
                      <a:pPr algn="l"/>
                      <a:r>
                        <a:rPr sz="900" b="1">
                          <a:solidFill>
                            <a:srgbClr val="202020"/>
                          </a:solidFill>
                        </a:rPr>
                        <a:t>Intermediate</a:t>
                      </a:r>
                    </a:p>
                  </a:txBody>
                  <a:tcPr>
                    <a:solidFill>
                      <a:srgbClr val="FFFFFF"/>
                    </a:solidFill>
                  </a:tcPr>
                </a:tc>
                <a:tc>
                  <a:txBody>
                    <a:bodyPr/>
                    <a:lstStyle/>
                    <a:p>
                      <a:pPr algn="ctr"/>
                      <a:r>
                        <a:rPr sz="900" b="0">
                          <a:solidFill>
                            <a:srgbClr val="202020"/>
                          </a:solidFill>
                        </a:rPr>
                        <a:t>0.202 +/- 0.066</a:t>
                      </a:r>
                    </a:p>
                  </a:txBody>
                  <a:tcPr>
                    <a:solidFill>
                      <a:srgbClr val="FFFFFF"/>
                    </a:solidFill>
                  </a:tcPr>
                </a:tc>
                <a:tc>
                  <a:txBody>
                    <a:bodyPr/>
                    <a:lstStyle/>
                    <a:p>
                      <a:pPr algn="ctr"/>
                      <a:r>
                        <a:rPr sz="900" b="0">
                          <a:solidFill>
                            <a:srgbClr val="202020"/>
                          </a:solidFill>
                        </a:rPr>
                        <a:t>0.458 +/- 0.172</a:t>
                      </a:r>
                    </a:p>
                  </a:txBody>
                  <a:tcPr>
                    <a:solidFill>
                      <a:srgbClr val="FFFFFF"/>
                    </a:solidFill>
                  </a:tcPr>
                </a:tc>
                <a:tc>
                  <a:txBody>
                    <a:bodyPr/>
                    <a:lstStyle/>
                    <a:p>
                      <a:pPr algn="ctr"/>
                      <a:r>
                        <a:rPr sz="900" b="0">
                          <a:solidFill>
                            <a:srgbClr val="202020"/>
                          </a:solidFill>
                        </a:rPr>
                        <a:t>-</a:t>
                      </a:r>
                    </a:p>
                  </a:txBody>
                  <a:tcPr>
                    <a:solidFill>
                      <a:srgbClr val="FFFFFF"/>
                    </a:solidFill>
                  </a:tcPr>
                </a:tc>
              </a:tr>
              <a:tr h="313508">
                <a:tc>
                  <a:txBody>
                    <a:bodyPr/>
                    <a:lstStyle/>
                    <a:p>
                      <a:pPr algn="l"/>
                      <a:r>
                        <a:rPr sz="900" b="1">
                          <a:solidFill>
                            <a:srgbClr val="202020"/>
                          </a:solidFill>
                        </a:rPr>
                        <a:t>CNN TL</a:t>
                      </a:r>
                    </a:p>
                  </a:txBody>
                  <a:tcPr>
                    <a:solidFill>
                      <a:srgbClr val="E8F0FE"/>
                    </a:solidFill>
                  </a:tcPr>
                </a:tc>
                <a:tc>
                  <a:txBody>
                    <a:bodyPr/>
                    <a:lstStyle/>
                    <a:p>
                      <a:pPr algn="ctr"/>
                      <a:r>
                        <a:rPr sz="900" b="0">
                          <a:solidFill>
                            <a:srgbClr val="202020"/>
                          </a:solidFill>
                        </a:rPr>
                        <a:t>0.510 +/- 0.155</a:t>
                      </a:r>
                    </a:p>
                  </a:txBody>
                  <a:tcPr>
                    <a:solidFill>
                      <a:srgbClr val="E8F0FE"/>
                    </a:solidFill>
                  </a:tcPr>
                </a:tc>
                <a:tc>
                  <a:txBody>
                    <a:bodyPr/>
                    <a:lstStyle/>
                    <a:p>
                      <a:pPr algn="ctr"/>
                      <a:r>
                        <a:rPr sz="900" b="1">
                          <a:solidFill>
                            <a:srgbClr val="202020"/>
                          </a:solidFill>
                        </a:rPr>
                        <a:t>0.755 +/- 0.079</a:t>
                      </a:r>
                    </a:p>
                  </a:txBody>
                  <a:tcPr>
                    <a:solidFill>
                      <a:srgbClr val="C6EFCE"/>
                    </a:solidFill>
                  </a:tcPr>
                </a:tc>
                <a:tc>
                  <a:txBody>
                    <a:bodyPr/>
                    <a:lstStyle/>
                    <a:p>
                      <a:pPr algn="ctr"/>
                      <a:r>
                        <a:rPr sz="900" b="0">
                          <a:solidFill>
                            <a:srgbClr val="202020"/>
                          </a:solidFill>
                        </a:rPr>
                        <a:t>-</a:t>
                      </a:r>
                    </a:p>
                  </a:txBody>
                  <a:tcPr>
                    <a:solidFill>
                      <a:srgbClr val="E8F0FE"/>
                    </a:solidFill>
                  </a:tcPr>
                </a:tc>
              </a:tr>
              <a:tr h="313512">
                <a:tc>
                  <a:txBody>
                    <a:bodyPr/>
                    <a:lstStyle/>
                    <a:p>
                      <a:pPr algn="l"/>
                      <a:r>
                        <a:rPr sz="900" b="1">
                          <a:solidFill>
                            <a:srgbClr val="202020"/>
                          </a:solidFill>
                        </a:rPr>
                        <a:t>Intermediate TL</a:t>
                      </a:r>
                    </a:p>
                  </a:txBody>
                  <a:tcPr>
                    <a:solidFill>
                      <a:srgbClr val="FFFFFF"/>
                    </a:solidFill>
                  </a:tcPr>
                </a:tc>
                <a:tc>
                  <a:txBody>
                    <a:bodyPr/>
                    <a:lstStyle/>
                    <a:p>
                      <a:pPr algn="ctr"/>
                      <a:r>
                        <a:rPr sz="900" b="0">
                          <a:solidFill>
                            <a:srgbClr val="202020"/>
                          </a:solidFill>
                        </a:rPr>
                        <a:t>0.450 +/- 0.214</a:t>
                      </a:r>
                    </a:p>
                  </a:txBody>
                  <a:tcPr>
                    <a:solidFill>
                      <a:srgbClr val="FFFFFF"/>
                    </a:solidFill>
                  </a:tcPr>
                </a:tc>
                <a:tc>
                  <a:txBody>
                    <a:bodyPr/>
                    <a:lstStyle/>
                    <a:p>
                      <a:pPr algn="ctr"/>
                      <a:r>
                        <a:rPr sz="900" b="0">
                          <a:solidFill>
                            <a:srgbClr val="202020"/>
                          </a:solidFill>
                        </a:rPr>
                        <a:t>0.715 +/- 0.054</a:t>
                      </a:r>
                    </a:p>
                  </a:txBody>
                  <a:tcPr>
                    <a:solidFill>
                      <a:srgbClr val="FFFFFF"/>
                    </a:solidFill>
                  </a:tcPr>
                </a:tc>
                <a:tc>
                  <a:txBody>
                    <a:bodyPr/>
                    <a:lstStyle/>
                    <a:p>
                      <a:pPr algn="ctr"/>
                      <a:r>
                        <a:rPr sz="900" b="1">
                          <a:solidFill>
                            <a:srgbClr val="202020"/>
                          </a:solidFill>
                        </a:rPr>
                        <a:t>0.435 +/- 0.068*</a:t>
                      </a:r>
                    </a:p>
                  </a:txBody>
                  <a:tcPr>
                    <a:solidFill>
                      <a:srgbClr val="C6EFCE"/>
                    </a:solidFill>
                  </a:tcPr>
                </a:tc>
              </a:tr>
            </a:tbl>
          </a:graphicData>
        </a:graphic>
      </p:graphicFrame>
      <p:sp>
        <p:nvSpPr>
          <p:cNvPr id="4" name="TextBox 3"/>
          <p:cNvSpPr txBox="1"/>
          <p:nvPr/>
        </p:nvSpPr>
        <p:spPr>
          <a:xfrm>
            <a:off x="274320" y="3017520"/>
            <a:ext cx="8595360" cy="320040"/>
          </a:xfrm>
          <a:prstGeom prst="rect">
            <a:avLst/>
          </a:prstGeom>
          <a:noFill/>
        </p:spPr>
        <p:txBody>
          <a:bodyPr wrap="square">
            <a:spAutoFit/>
          </a:bodyPr>
          <a:lstStyle/>
          <a:p>
            <a:pPr algn="l"/>
            <a:r>
              <a:rPr sz="900" b="1" i="0">
                <a:solidFill>
                  <a:srgbClr val="202020"/>
                </a:solidFill>
              </a:rPr>
              <a:t>Best: JAFFE = Late Fusion (0.530) | CK+ = CNN TL (0.755) | Dataset sendiri = Intermediate TL (0.435)</a:t>
            </a:r>
          </a:p>
          <a:p>
            <a:pPr algn="l"/>
            <a:r>
              <a:rPr sz="800" b="0" i="1">
                <a:solidFill>
                  <a:srgbClr val="666666"/>
                </a:solidFill>
              </a:rPr>
              <a:t>*5-Fold CV (dataset sendiri) | LOSO Intermediate TL: 0.370 +/- 0.125</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Benchmark: JAFFE (LOSO) &amp; CK+ (10-Fold CV)</a:t>
            </a:r>
          </a:p>
        </p:txBody>
      </p:sp>
      <p:sp>
        <p:nvSpPr>
          <p:cNvPr id="3" name="TextBox 2"/>
          <p:cNvSpPr txBox="1"/>
          <p:nvPr/>
        </p:nvSpPr>
        <p:spPr>
          <a:xfrm>
            <a:off x="274320" y="658368"/>
            <a:ext cx="8595360" cy="228600"/>
          </a:xfrm>
          <a:prstGeom prst="rect">
            <a:avLst/>
          </a:prstGeom>
          <a:noFill/>
        </p:spPr>
        <p:txBody>
          <a:bodyPr wrap="none">
            <a:spAutoFit/>
          </a:bodyPr>
          <a:lstStyle/>
          <a:p>
            <a:pPr algn="l"/>
            <a:r>
              <a:rPr sz="1000" b="1" i="0">
                <a:solidFill>
                  <a:srgbClr val="202020"/>
                </a:solidFill>
              </a:rPr>
              <a:t>Best Model per Dataset (Macro F1)</a:t>
            </a:r>
          </a:p>
        </p:txBody>
      </p:sp>
      <p:graphicFrame>
        <p:nvGraphicFramePr>
          <p:cNvPr id="4" name="Table 3"/>
          <p:cNvGraphicFramePr>
            <a:graphicFrameLocks noGrp="1"/>
          </p:cNvGraphicFramePr>
          <p:nvPr/>
        </p:nvGraphicFramePr>
        <p:xfrm>
          <a:off x="274320" y="914400"/>
          <a:ext cx="8595359" cy="2011680"/>
        </p:xfrm>
        <a:graphic>
          <a:graphicData uri="http://schemas.openxmlformats.org/drawingml/2006/table">
            <a:tbl>
              <a:tblPr firstRow="1" bandRow="1"/>
              <a:tblGrid>
                <a:gridCol w="2455817"/>
                <a:gridCol w="1674420"/>
                <a:gridCol w="2232561"/>
                <a:gridCol w="2232561"/>
              </a:tblGrid>
              <a:tr h="287382">
                <a:tc>
                  <a:txBody>
                    <a:bodyPr/>
                    <a:lstStyle/>
                    <a:p>
                      <a:pPr algn="ctr"/>
                      <a:r>
                        <a:rPr sz="950" b="1">
                          <a:solidFill>
                            <a:srgbClr val="FFFFFF"/>
                          </a:solidFill>
                        </a:rPr>
                        <a:t>Dataset</a:t>
                      </a:r>
                    </a:p>
                  </a:txBody>
                  <a:tcPr>
                    <a:solidFill>
                      <a:srgbClr val="1A73E8"/>
                    </a:solidFill>
                  </a:tcPr>
                </a:tc>
                <a:tc>
                  <a:txBody>
                    <a:bodyPr/>
                    <a:lstStyle/>
                    <a:p>
                      <a:pPr algn="ctr"/>
                      <a:r>
                        <a:rPr sz="950" b="1">
                          <a:solidFill>
                            <a:srgbClr val="FFFFFF"/>
                          </a:solidFill>
                        </a:rPr>
                        <a:t>Evaluasi</a:t>
                      </a:r>
                    </a:p>
                  </a:txBody>
                  <a:tcPr>
                    <a:solidFill>
                      <a:srgbClr val="1A73E8"/>
                    </a:solidFill>
                  </a:tcPr>
                </a:tc>
                <a:tc>
                  <a:txBody>
                    <a:bodyPr/>
                    <a:lstStyle/>
                    <a:p>
                      <a:pPr algn="ctr"/>
                      <a:r>
                        <a:rPr sz="950" b="1">
                          <a:solidFill>
                            <a:srgbClr val="FFFFFF"/>
                          </a:solidFill>
                        </a:rPr>
                        <a:t>Best Model</a:t>
                      </a:r>
                    </a:p>
                  </a:txBody>
                  <a:tcPr>
                    <a:solidFill>
                      <a:srgbClr val="1A73E8"/>
                    </a:solidFill>
                  </a:tcPr>
                </a:tc>
                <a:tc>
                  <a:txBody>
                    <a:bodyPr/>
                    <a:lstStyle/>
                    <a:p>
                      <a:pPr algn="ctr"/>
                      <a:r>
                        <a:rPr sz="950" b="1">
                          <a:solidFill>
                            <a:srgbClr val="FFFFFF"/>
                          </a:solidFill>
                        </a:rPr>
                        <a:t>Macro F1</a:t>
                      </a:r>
                    </a:p>
                  </a:txBody>
                  <a:tcPr>
                    <a:solidFill>
                      <a:srgbClr val="1A73E8"/>
                    </a:solidFill>
                  </a:tcPr>
                </a:tc>
              </a:tr>
              <a:tr h="287382">
                <a:tc>
                  <a:txBody>
                    <a:bodyPr/>
                    <a:lstStyle/>
                    <a:p>
                      <a:pPr algn="l"/>
                      <a:r>
                        <a:rPr sz="950" b="1">
                          <a:solidFill>
                            <a:srgbClr val="202020"/>
                          </a:solidFill>
                        </a:rPr>
                        <a:t>CK+ 7-class</a:t>
                      </a:r>
                    </a:p>
                  </a:txBody>
                  <a:tcPr>
                    <a:solidFill>
                      <a:srgbClr val="C6EFCE"/>
                    </a:solidFill>
                  </a:tcPr>
                </a:tc>
                <a:tc>
                  <a:txBody>
                    <a:bodyPr/>
                    <a:lstStyle/>
                    <a:p>
                      <a:pPr algn="l"/>
                      <a:r>
                        <a:rPr sz="950" b="1">
                          <a:solidFill>
                            <a:srgbClr val="202020"/>
                          </a:solidFill>
                        </a:rPr>
                        <a:t>10-Fold CV</a:t>
                      </a:r>
                    </a:p>
                  </a:txBody>
                  <a:tcPr>
                    <a:solidFill>
                      <a:srgbClr val="C6EFCE"/>
                    </a:solidFill>
                  </a:tcPr>
                </a:tc>
                <a:tc>
                  <a:txBody>
                    <a:bodyPr/>
                    <a:lstStyle/>
                    <a:p>
                      <a:pPr algn="ctr"/>
                      <a:r>
                        <a:rPr sz="950" b="1">
                          <a:solidFill>
                            <a:srgbClr val="202020"/>
                          </a:solidFill>
                        </a:rPr>
                        <a:t>Intermediate TL</a:t>
                      </a:r>
                    </a:p>
                  </a:txBody>
                  <a:tcPr>
                    <a:solidFill>
                      <a:srgbClr val="C6EFCE"/>
                    </a:solidFill>
                  </a:tcPr>
                </a:tc>
                <a:tc>
                  <a:txBody>
                    <a:bodyPr/>
                    <a:lstStyle/>
                    <a:p>
                      <a:pPr algn="ctr"/>
                      <a:r>
                        <a:rPr sz="950" b="1">
                          <a:solidFill>
                            <a:srgbClr val="202020"/>
                          </a:solidFill>
                        </a:rPr>
                        <a:t>0.783 +/- 0.107</a:t>
                      </a:r>
                    </a:p>
                  </a:txBody>
                  <a:tcPr>
                    <a:solidFill>
                      <a:srgbClr val="C6EFCE"/>
                    </a:solidFill>
                  </a:tcPr>
                </a:tc>
              </a:tr>
              <a:tr h="287382">
                <a:tc>
                  <a:txBody>
                    <a:bodyPr/>
                    <a:lstStyle/>
                    <a:p>
                      <a:pPr algn="l"/>
                      <a:r>
                        <a:rPr sz="950" b="1">
                          <a:solidFill>
                            <a:srgbClr val="202020"/>
                          </a:solidFill>
                        </a:rPr>
                        <a:t>CK+ 4-class</a:t>
                      </a:r>
                    </a:p>
                  </a:txBody>
                  <a:tcPr>
                    <a:solidFill>
                      <a:srgbClr val="FFFFFF"/>
                    </a:solidFill>
                  </a:tcPr>
                </a:tc>
                <a:tc>
                  <a:txBody>
                    <a:bodyPr/>
                    <a:lstStyle/>
                    <a:p>
                      <a:pPr algn="l"/>
                      <a:r>
                        <a:rPr sz="950" b="0">
                          <a:solidFill>
                            <a:srgbClr val="202020"/>
                          </a:solidFill>
                        </a:rPr>
                        <a:t>10-Fold CV</a:t>
                      </a:r>
                    </a:p>
                  </a:txBody>
                  <a:tcPr>
                    <a:solidFill>
                      <a:srgbClr val="FFFFFF"/>
                    </a:solidFill>
                  </a:tcPr>
                </a:tc>
                <a:tc>
                  <a:txBody>
                    <a:bodyPr/>
                    <a:lstStyle/>
                    <a:p>
                      <a:pPr algn="ctr"/>
                      <a:r>
                        <a:rPr sz="950" b="0">
                          <a:solidFill>
                            <a:srgbClr val="202020"/>
                          </a:solidFill>
                        </a:rPr>
                        <a:t>CNN TL</a:t>
                      </a:r>
                    </a:p>
                  </a:txBody>
                  <a:tcPr>
                    <a:solidFill>
                      <a:srgbClr val="FFFFFF"/>
                    </a:solidFill>
                  </a:tcPr>
                </a:tc>
                <a:tc>
                  <a:txBody>
                    <a:bodyPr/>
                    <a:lstStyle/>
                    <a:p>
                      <a:pPr algn="ctr"/>
                      <a:r>
                        <a:rPr sz="950" b="0">
                          <a:solidFill>
                            <a:srgbClr val="202020"/>
                          </a:solidFill>
                        </a:rPr>
                        <a:t>0.755 +/- 0.079</a:t>
                      </a:r>
                    </a:p>
                  </a:txBody>
                  <a:tcPr>
                    <a:solidFill>
                      <a:srgbClr val="FFFFFF"/>
                    </a:solidFill>
                  </a:tcPr>
                </a:tc>
              </a:tr>
              <a:tr h="287382">
                <a:tc>
                  <a:txBody>
                    <a:bodyPr/>
                    <a:lstStyle/>
                    <a:p>
                      <a:pPr algn="l"/>
                      <a:r>
                        <a:rPr sz="950" b="1">
                          <a:solidFill>
                            <a:srgbClr val="202020"/>
                          </a:solidFill>
                        </a:rPr>
                        <a:t>JAFFE 7-class</a:t>
                      </a:r>
                    </a:p>
                  </a:txBody>
                  <a:tcPr>
                    <a:solidFill>
                      <a:srgbClr val="E8F0FE"/>
                    </a:solidFill>
                  </a:tcPr>
                </a:tc>
                <a:tc>
                  <a:txBody>
                    <a:bodyPr/>
                    <a:lstStyle/>
                    <a:p>
                      <a:pPr algn="l"/>
                      <a:r>
                        <a:rPr sz="950" b="0">
                          <a:solidFill>
                            <a:srgbClr val="202020"/>
                          </a:solidFill>
                        </a:rPr>
                        <a:t>LOSO (10)</a:t>
                      </a:r>
                    </a:p>
                  </a:txBody>
                  <a:tcPr>
                    <a:solidFill>
                      <a:srgbClr val="E8F0FE"/>
                    </a:solidFill>
                  </a:tcPr>
                </a:tc>
                <a:tc>
                  <a:txBody>
                    <a:bodyPr/>
                    <a:lstStyle/>
                    <a:p>
                      <a:pPr algn="ctr"/>
                      <a:r>
                        <a:rPr sz="950" b="0">
                          <a:solidFill>
                            <a:srgbClr val="202020"/>
                          </a:solidFill>
                        </a:rPr>
                        <a:t>Late Fusion</a:t>
                      </a:r>
                    </a:p>
                  </a:txBody>
                  <a:tcPr>
                    <a:solidFill>
                      <a:srgbClr val="E8F0FE"/>
                    </a:solidFill>
                  </a:tcPr>
                </a:tc>
                <a:tc>
                  <a:txBody>
                    <a:bodyPr/>
                    <a:lstStyle/>
                    <a:p>
                      <a:pPr algn="ctr"/>
                      <a:r>
                        <a:rPr sz="950" b="0">
                          <a:solidFill>
                            <a:srgbClr val="202020"/>
                          </a:solidFill>
                        </a:rPr>
                        <a:t>0.467 +/- 0.092</a:t>
                      </a:r>
                    </a:p>
                  </a:txBody>
                  <a:tcPr>
                    <a:solidFill>
                      <a:srgbClr val="E8F0FE"/>
                    </a:solidFill>
                  </a:tcPr>
                </a:tc>
              </a:tr>
              <a:tr h="287382">
                <a:tc>
                  <a:txBody>
                    <a:bodyPr/>
                    <a:lstStyle/>
                    <a:p>
                      <a:pPr algn="l"/>
                      <a:r>
                        <a:rPr sz="950" b="1">
                          <a:solidFill>
                            <a:srgbClr val="202020"/>
                          </a:solidFill>
                        </a:rPr>
                        <a:t>JAFFE 4-class</a:t>
                      </a:r>
                    </a:p>
                  </a:txBody>
                  <a:tcPr>
                    <a:solidFill>
                      <a:srgbClr val="FFFFFF"/>
                    </a:solidFill>
                  </a:tcPr>
                </a:tc>
                <a:tc>
                  <a:txBody>
                    <a:bodyPr/>
                    <a:lstStyle/>
                    <a:p>
                      <a:pPr algn="l"/>
                      <a:r>
                        <a:rPr sz="950" b="0">
                          <a:solidFill>
                            <a:srgbClr val="202020"/>
                          </a:solidFill>
                        </a:rPr>
                        <a:t>LOSO (10)</a:t>
                      </a:r>
                    </a:p>
                  </a:txBody>
                  <a:tcPr>
                    <a:solidFill>
                      <a:srgbClr val="FFFFFF"/>
                    </a:solidFill>
                  </a:tcPr>
                </a:tc>
                <a:tc>
                  <a:txBody>
                    <a:bodyPr/>
                    <a:lstStyle/>
                    <a:p>
                      <a:pPr algn="ctr"/>
                      <a:r>
                        <a:rPr sz="950" b="0">
                          <a:solidFill>
                            <a:srgbClr val="202020"/>
                          </a:solidFill>
                        </a:rPr>
                        <a:t>Late Fusion</a:t>
                      </a:r>
                    </a:p>
                  </a:txBody>
                  <a:tcPr>
                    <a:solidFill>
                      <a:srgbClr val="FFFFFF"/>
                    </a:solidFill>
                  </a:tcPr>
                </a:tc>
                <a:tc>
                  <a:txBody>
                    <a:bodyPr/>
                    <a:lstStyle/>
                    <a:p>
                      <a:pPr algn="ctr"/>
                      <a:r>
                        <a:rPr sz="950" b="0">
                          <a:solidFill>
                            <a:srgbClr val="202020"/>
                          </a:solidFill>
                        </a:rPr>
                        <a:t>0.530 +/- 0.126</a:t>
                      </a:r>
                    </a:p>
                  </a:txBody>
                  <a:tcPr>
                    <a:solidFill>
                      <a:srgbClr val="FFFFFF"/>
                    </a:solidFill>
                  </a:tcPr>
                </a:tc>
              </a:tr>
              <a:tr h="287382">
                <a:tc>
                  <a:txBody>
                    <a:bodyPr/>
                    <a:lstStyle/>
                    <a:p>
                      <a:pPr algn="l"/>
                      <a:r>
                        <a:rPr sz="950" b="1">
                          <a:solidFill>
                            <a:srgbClr val="202020"/>
                          </a:solidFill>
                        </a:rPr>
                        <a:t>Dataset sendiri 4c</a:t>
                      </a:r>
                    </a:p>
                  </a:txBody>
                  <a:tcPr>
                    <a:solidFill>
                      <a:srgbClr val="E8F0FE"/>
                    </a:solidFill>
                  </a:tcPr>
                </a:tc>
                <a:tc>
                  <a:txBody>
                    <a:bodyPr/>
                    <a:lstStyle/>
                    <a:p>
                      <a:pPr algn="l"/>
                      <a:r>
                        <a:rPr sz="950" b="0">
                          <a:solidFill>
                            <a:srgbClr val="202020"/>
                          </a:solidFill>
                        </a:rPr>
                        <a:t>5-Fold CV</a:t>
                      </a:r>
                    </a:p>
                  </a:txBody>
                  <a:tcPr>
                    <a:solidFill>
                      <a:srgbClr val="E8F0FE"/>
                    </a:solidFill>
                  </a:tcPr>
                </a:tc>
                <a:tc>
                  <a:txBody>
                    <a:bodyPr/>
                    <a:lstStyle/>
                    <a:p>
                      <a:pPr algn="ctr"/>
                      <a:r>
                        <a:rPr sz="950" b="0">
                          <a:solidFill>
                            <a:srgbClr val="202020"/>
                          </a:solidFill>
                        </a:rPr>
                        <a:t>Intermediate TL</a:t>
                      </a:r>
                    </a:p>
                  </a:txBody>
                  <a:tcPr>
                    <a:solidFill>
                      <a:srgbClr val="E8F0FE"/>
                    </a:solidFill>
                  </a:tcPr>
                </a:tc>
                <a:tc>
                  <a:txBody>
                    <a:bodyPr/>
                    <a:lstStyle/>
                    <a:p>
                      <a:pPr algn="ctr"/>
                      <a:r>
                        <a:rPr sz="950" b="0">
                          <a:solidFill>
                            <a:srgbClr val="202020"/>
                          </a:solidFill>
                        </a:rPr>
                        <a:t>0.435 +/- 0.068</a:t>
                      </a:r>
                    </a:p>
                  </a:txBody>
                  <a:tcPr>
                    <a:solidFill>
                      <a:srgbClr val="E8F0FE"/>
                    </a:solidFill>
                  </a:tcPr>
                </a:tc>
              </a:tr>
              <a:tr h="287388">
                <a:tc>
                  <a:txBody>
                    <a:bodyPr/>
                    <a:lstStyle/>
                    <a:p>
                      <a:pPr algn="l"/>
                      <a:r>
                        <a:rPr sz="950" b="1">
                          <a:solidFill>
                            <a:srgbClr val="202020"/>
                          </a:solidFill>
                        </a:rPr>
                        <a:t>Dataset sendiri 4c</a:t>
                      </a:r>
                    </a:p>
                  </a:txBody>
                  <a:tcPr>
                    <a:solidFill>
                      <a:srgbClr val="FFFFFF"/>
                    </a:solidFill>
                  </a:tcPr>
                </a:tc>
                <a:tc>
                  <a:txBody>
                    <a:bodyPr/>
                    <a:lstStyle/>
                    <a:p>
                      <a:pPr algn="l"/>
                      <a:r>
                        <a:rPr sz="950" b="0">
                          <a:solidFill>
                            <a:srgbClr val="202020"/>
                          </a:solidFill>
                        </a:rPr>
                        <a:t>LOSO (37)</a:t>
                      </a:r>
                    </a:p>
                  </a:txBody>
                  <a:tcPr>
                    <a:solidFill>
                      <a:srgbClr val="FFFFFF"/>
                    </a:solidFill>
                  </a:tcPr>
                </a:tc>
                <a:tc>
                  <a:txBody>
                    <a:bodyPr/>
                    <a:lstStyle/>
                    <a:p>
                      <a:pPr algn="ctr"/>
                      <a:r>
                        <a:rPr sz="950" b="0">
                          <a:solidFill>
                            <a:srgbClr val="202020"/>
                          </a:solidFill>
                        </a:rPr>
                        <a:t>Intermediate TL</a:t>
                      </a:r>
                    </a:p>
                  </a:txBody>
                  <a:tcPr>
                    <a:solidFill>
                      <a:srgbClr val="FFFFFF"/>
                    </a:solidFill>
                  </a:tcPr>
                </a:tc>
                <a:tc>
                  <a:txBody>
                    <a:bodyPr/>
                    <a:lstStyle/>
                    <a:p>
                      <a:pPr algn="ctr"/>
                      <a:r>
                        <a:rPr sz="950" b="0">
                          <a:solidFill>
                            <a:srgbClr val="202020"/>
                          </a:solidFill>
                        </a:rPr>
                        <a:t>0.370 +/- 0.125</a:t>
                      </a:r>
                    </a:p>
                  </a:txBody>
                  <a:tcPr>
                    <a:solidFill>
                      <a:srgbClr val="FFFFFF"/>
                    </a:solidFill>
                  </a:tcPr>
                </a:tc>
              </a:tr>
            </a:tbl>
          </a:graphicData>
        </a:graphic>
      </p:graphicFrame>
      <p:sp>
        <p:nvSpPr>
          <p:cNvPr id="5" name="TextBox 4"/>
          <p:cNvSpPr txBox="1"/>
          <p:nvPr/>
        </p:nvSpPr>
        <p:spPr>
          <a:xfrm>
            <a:off x="274320" y="3063240"/>
            <a:ext cx="8595360" cy="502920"/>
          </a:xfrm>
          <a:prstGeom prst="rect">
            <a:avLst/>
          </a:prstGeom>
          <a:solidFill>
            <a:srgbClr val="E8F0FE"/>
          </a:solidFill>
        </p:spPr>
        <p:txBody>
          <a:bodyPr wrap="square">
            <a:spAutoFit/>
          </a:bodyPr>
          <a:lstStyle/>
          <a:p>
            <a:pPr algn="ctr"/>
            <a:r>
              <a:rPr sz="1000" b="1" i="0">
                <a:solidFill>
                  <a:srgbClr val="202020"/>
                </a:solidFill>
              </a:rPr>
              <a:t>Pola: CK+ (0.783) &gt;&gt; JAFFE (0.467) &gt; Dataset sendiri (0.370)</a:t>
            </a:r>
          </a:p>
          <a:p>
            <a:pPr algn="ctr"/>
            <a:r>
              <a:rPr sz="900" b="0" i="0">
                <a:solidFill>
                  <a:srgbClr val="666666"/>
                </a:solidFill>
              </a:rPr>
              <a:t>Semakin natural ekspresinya dan semakin imbalanced, semakin rendah performanya</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Perbandingan dengan Paper State-of-the-Art</a:t>
            </a:r>
          </a:p>
        </p:txBody>
      </p:sp>
      <p:sp>
        <p:nvSpPr>
          <p:cNvPr id="3" name="TextBox 2"/>
          <p:cNvSpPr txBox="1"/>
          <p:nvPr/>
        </p:nvSpPr>
        <p:spPr>
          <a:xfrm>
            <a:off x="274320" y="658368"/>
            <a:ext cx="8595360" cy="228600"/>
          </a:xfrm>
          <a:prstGeom prst="rect">
            <a:avLst/>
          </a:prstGeom>
          <a:noFill/>
        </p:spPr>
        <p:txBody>
          <a:bodyPr wrap="none">
            <a:spAutoFit/>
          </a:bodyPr>
          <a:lstStyle/>
          <a:p>
            <a:pPr algn="l"/>
            <a:r>
              <a:rPr sz="1000" b="1" i="0">
                <a:solidFill>
                  <a:srgbClr val="1A73E8"/>
                </a:solidFill>
              </a:rPr>
              <a:t>CK+ (10-Fold CV)</a:t>
            </a:r>
          </a:p>
        </p:txBody>
      </p:sp>
      <p:graphicFrame>
        <p:nvGraphicFramePr>
          <p:cNvPr id="4" name="Table 3"/>
          <p:cNvGraphicFramePr>
            <a:graphicFrameLocks noGrp="1"/>
          </p:cNvGraphicFramePr>
          <p:nvPr/>
        </p:nvGraphicFramePr>
        <p:xfrm>
          <a:off x="274320" y="914400"/>
          <a:ext cx="8595358" cy="1554480"/>
        </p:xfrm>
        <a:graphic>
          <a:graphicData uri="http://schemas.openxmlformats.org/drawingml/2006/table">
            <a:tbl>
              <a:tblPr firstRow="1" bandRow="1"/>
              <a:tblGrid>
                <a:gridCol w="1910080"/>
                <a:gridCol w="848924"/>
                <a:gridCol w="3183466"/>
                <a:gridCol w="2652888"/>
              </a:tblGrid>
              <a:tr h="259080">
                <a:tc>
                  <a:txBody>
                    <a:bodyPr/>
                    <a:lstStyle/>
                    <a:p>
                      <a:pPr algn="ctr"/>
                      <a:r>
                        <a:rPr sz="900" b="1">
                          <a:solidFill>
                            <a:srgbClr val="FFFFFF"/>
                          </a:solidFill>
                        </a:rPr>
                        <a:t>Paper</a:t>
                      </a:r>
                    </a:p>
                  </a:txBody>
                  <a:tcPr>
                    <a:solidFill>
                      <a:srgbClr val="1A73E8"/>
                    </a:solidFill>
                  </a:tcPr>
                </a:tc>
                <a:tc>
                  <a:txBody>
                    <a:bodyPr/>
                    <a:lstStyle/>
                    <a:p>
                      <a:pPr algn="ctr"/>
                      <a:r>
                        <a:rPr sz="900" b="1">
                          <a:solidFill>
                            <a:srgbClr val="FFFFFF"/>
                          </a:solidFill>
                        </a:rPr>
                        <a:t>Tahun</a:t>
                      </a:r>
                    </a:p>
                  </a:txBody>
                  <a:tcPr>
                    <a:solidFill>
                      <a:srgbClr val="1A73E8"/>
                    </a:solidFill>
                  </a:tcPr>
                </a:tc>
                <a:tc>
                  <a:txBody>
                    <a:bodyPr/>
                    <a:lstStyle/>
                    <a:p>
                      <a:pPr algn="ctr"/>
                      <a:r>
                        <a:rPr sz="900" b="1">
                          <a:solidFill>
                            <a:srgbClr val="FFFFFF"/>
                          </a:solidFill>
                        </a:rPr>
                        <a:t>Metode</a:t>
                      </a:r>
                    </a:p>
                  </a:txBody>
                  <a:tcPr>
                    <a:solidFill>
                      <a:srgbClr val="1A73E8"/>
                    </a:solidFill>
                  </a:tcPr>
                </a:tc>
                <a:tc>
                  <a:txBody>
                    <a:bodyPr/>
                    <a:lstStyle/>
                    <a:p>
                      <a:pPr algn="ctr"/>
                      <a:r>
                        <a:rPr sz="900" b="1">
                          <a:solidFill>
                            <a:srgbClr val="FFFFFF"/>
                          </a:solidFill>
                        </a:rPr>
                        <a:t>Acc/F1</a:t>
                      </a:r>
                    </a:p>
                  </a:txBody>
                  <a:tcPr>
                    <a:solidFill>
                      <a:srgbClr val="1A73E8"/>
                    </a:solidFill>
                  </a:tcPr>
                </a:tc>
              </a:tr>
              <a:tr h="259080">
                <a:tc>
                  <a:txBody>
                    <a:bodyPr/>
                    <a:lstStyle/>
                    <a:p>
                      <a:pPr algn="l"/>
                      <a:r>
                        <a:rPr sz="850" b="1">
                          <a:solidFill>
                            <a:srgbClr val="202020"/>
                          </a:solidFill>
                        </a:rPr>
                        <a:t>Dada et al.</a:t>
                      </a:r>
                    </a:p>
                  </a:txBody>
                  <a:tcPr>
                    <a:solidFill>
                      <a:srgbClr val="E8F0FE"/>
                    </a:solidFill>
                  </a:tcPr>
                </a:tc>
                <a:tc>
                  <a:txBody>
                    <a:bodyPr/>
                    <a:lstStyle/>
                    <a:p>
                      <a:pPr algn="l"/>
                      <a:r>
                        <a:rPr sz="850" b="0">
                          <a:solidFill>
                            <a:srgbClr val="202020"/>
                          </a:solidFill>
                        </a:rPr>
                        <a:t>2023</a:t>
                      </a:r>
                    </a:p>
                  </a:txBody>
                  <a:tcPr>
                    <a:solidFill>
                      <a:srgbClr val="E8F0FE"/>
                    </a:solidFill>
                  </a:tcPr>
                </a:tc>
                <a:tc>
                  <a:txBody>
                    <a:bodyPr/>
                    <a:lstStyle/>
                    <a:p>
                      <a:pPr algn="ctr"/>
                      <a:r>
                        <a:rPr sz="850" b="0">
                          <a:solidFill>
                            <a:srgbClr val="202020"/>
                          </a:solidFill>
                        </a:rPr>
                        <a:t>CNN-10</a:t>
                      </a:r>
                    </a:p>
                  </a:txBody>
                  <a:tcPr>
                    <a:solidFill>
                      <a:srgbClr val="E8F0FE"/>
                    </a:solidFill>
                  </a:tcPr>
                </a:tc>
                <a:tc>
                  <a:txBody>
                    <a:bodyPr/>
                    <a:lstStyle/>
                    <a:p>
                      <a:pPr algn="ctr"/>
                      <a:r>
                        <a:rPr sz="850" b="0">
                          <a:solidFill>
                            <a:srgbClr val="202020"/>
                          </a:solidFill>
                        </a:rPr>
                        <a:t>99.9% (acc)</a:t>
                      </a:r>
                    </a:p>
                  </a:txBody>
                  <a:tcPr>
                    <a:solidFill>
                      <a:srgbClr val="E8F0FE"/>
                    </a:solidFill>
                  </a:tcPr>
                </a:tc>
              </a:tr>
              <a:tr h="259080">
                <a:tc>
                  <a:txBody>
                    <a:bodyPr/>
                    <a:lstStyle/>
                    <a:p>
                      <a:pPr algn="l"/>
                      <a:r>
                        <a:rPr sz="850" b="1">
                          <a:solidFill>
                            <a:srgbClr val="202020"/>
                          </a:solidFill>
                        </a:rPr>
                        <a:t>AA-DCN</a:t>
                      </a:r>
                    </a:p>
                  </a:txBody>
                  <a:tcPr>
                    <a:solidFill>
                      <a:srgbClr val="FFFFFF"/>
                    </a:solidFill>
                  </a:tcPr>
                </a:tc>
                <a:tc>
                  <a:txBody>
                    <a:bodyPr/>
                    <a:lstStyle/>
                    <a:p>
                      <a:pPr algn="l"/>
                      <a:r>
                        <a:rPr sz="850" b="0">
                          <a:solidFill>
                            <a:srgbClr val="202020"/>
                          </a:solidFill>
                        </a:rPr>
                        <a:t>2024</a:t>
                      </a:r>
                    </a:p>
                  </a:txBody>
                  <a:tcPr>
                    <a:solidFill>
                      <a:srgbClr val="FFFFFF"/>
                    </a:solidFill>
                  </a:tcPr>
                </a:tc>
                <a:tc>
                  <a:txBody>
                    <a:bodyPr/>
                    <a:lstStyle/>
                    <a:p>
                      <a:pPr algn="ctr"/>
                      <a:r>
                        <a:rPr sz="850" b="0">
                          <a:solidFill>
                            <a:srgbClr val="202020"/>
                          </a:solidFill>
                        </a:rPr>
                        <a:t>Anti-aliased Deep Conv</a:t>
                      </a:r>
                    </a:p>
                  </a:txBody>
                  <a:tcPr>
                    <a:solidFill>
                      <a:srgbClr val="FFFFFF"/>
                    </a:solidFill>
                  </a:tcPr>
                </a:tc>
                <a:tc>
                  <a:txBody>
                    <a:bodyPr/>
                    <a:lstStyle/>
                    <a:p>
                      <a:pPr algn="ctr"/>
                      <a:r>
                        <a:rPr sz="850" b="0">
                          <a:solidFill>
                            <a:srgbClr val="202020"/>
                          </a:solidFill>
                        </a:rPr>
                        <a:t>99.26% (acc)</a:t>
                      </a:r>
                    </a:p>
                  </a:txBody>
                  <a:tcPr>
                    <a:solidFill>
                      <a:srgbClr val="FFFFFF"/>
                    </a:solidFill>
                  </a:tcPr>
                </a:tc>
              </a:tr>
              <a:tr h="259080">
                <a:tc>
                  <a:txBody>
                    <a:bodyPr/>
                    <a:lstStyle/>
                    <a:p>
                      <a:pPr algn="l"/>
                      <a:r>
                        <a:rPr sz="850" b="1">
                          <a:solidFill>
                            <a:srgbClr val="202020"/>
                          </a:solidFill>
                        </a:rPr>
                        <a:t>GhostNet</a:t>
                      </a:r>
                    </a:p>
                  </a:txBody>
                  <a:tcPr>
                    <a:solidFill>
                      <a:srgbClr val="E8F0FE"/>
                    </a:solidFill>
                  </a:tcPr>
                </a:tc>
                <a:tc>
                  <a:txBody>
                    <a:bodyPr/>
                    <a:lstStyle/>
                    <a:p>
                      <a:pPr algn="l"/>
                      <a:r>
                        <a:rPr sz="850" b="0">
                          <a:solidFill>
                            <a:srgbClr val="202020"/>
                          </a:solidFill>
                        </a:rPr>
                        <a:t>2024</a:t>
                      </a:r>
                    </a:p>
                  </a:txBody>
                  <a:tcPr>
                    <a:solidFill>
                      <a:srgbClr val="E8F0FE"/>
                    </a:solidFill>
                  </a:tcPr>
                </a:tc>
                <a:tc>
                  <a:txBody>
                    <a:bodyPr/>
                    <a:lstStyle/>
                    <a:p>
                      <a:pPr algn="ctr"/>
                      <a:r>
                        <a:rPr sz="850" b="0">
                          <a:solidFill>
                            <a:srgbClr val="202020"/>
                          </a:solidFill>
                        </a:rPr>
                        <a:t>Face+Speech+EEG</a:t>
                      </a:r>
                    </a:p>
                  </a:txBody>
                  <a:tcPr>
                    <a:solidFill>
                      <a:srgbClr val="E8F0FE"/>
                    </a:solidFill>
                  </a:tcPr>
                </a:tc>
                <a:tc>
                  <a:txBody>
                    <a:bodyPr/>
                    <a:lstStyle/>
                    <a:p>
                      <a:pPr algn="ctr"/>
                      <a:r>
                        <a:rPr sz="850" b="0">
                          <a:solidFill>
                            <a:srgbClr val="202020"/>
                          </a:solidFill>
                        </a:rPr>
                        <a:t>98.27% (acc)</a:t>
                      </a:r>
                    </a:p>
                  </a:txBody>
                  <a:tcPr>
                    <a:solidFill>
                      <a:srgbClr val="E8F0FE"/>
                    </a:solidFill>
                  </a:tcPr>
                </a:tc>
              </a:tr>
              <a:tr h="259080">
                <a:tc>
                  <a:txBody>
                    <a:bodyPr/>
                    <a:lstStyle/>
                    <a:p>
                      <a:pPr algn="l"/>
                      <a:r>
                        <a:rPr sz="850" b="1">
                          <a:solidFill>
                            <a:srgbClr val="202020"/>
                          </a:solidFill>
                        </a:rPr>
                        <a:t>b-skeleton+CNN</a:t>
                      </a:r>
                    </a:p>
                  </a:txBody>
                  <a:tcPr>
                    <a:solidFill>
                      <a:srgbClr val="FFFFFF"/>
                    </a:solidFill>
                  </a:tcPr>
                </a:tc>
                <a:tc>
                  <a:txBody>
                    <a:bodyPr/>
                    <a:lstStyle/>
                    <a:p>
                      <a:pPr algn="l"/>
                      <a:r>
                        <a:rPr sz="850" b="0">
                          <a:solidFill>
                            <a:srgbClr val="202020"/>
                          </a:solidFill>
                        </a:rPr>
                        <a:t>2024</a:t>
                      </a:r>
                    </a:p>
                  </a:txBody>
                  <a:tcPr>
                    <a:solidFill>
                      <a:srgbClr val="FFFFFF"/>
                    </a:solidFill>
                  </a:tcPr>
                </a:tc>
                <a:tc>
                  <a:txBody>
                    <a:bodyPr/>
                    <a:lstStyle/>
                    <a:p>
                      <a:pPr algn="ctr"/>
                      <a:r>
                        <a:rPr sz="850" b="0">
                          <a:solidFill>
                            <a:srgbClr val="202020"/>
                          </a:solidFill>
                        </a:rPr>
                        <a:t>Landmark + CNN</a:t>
                      </a:r>
                    </a:p>
                  </a:txBody>
                  <a:tcPr>
                    <a:solidFill>
                      <a:srgbClr val="FFFFFF"/>
                    </a:solidFill>
                  </a:tcPr>
                </a:tc>
                <a:tc>
                  <a:txBody>
                    <a:bodyPr/>
                    <a:lstStyle/>
                    <a:p>
                      <a:pPr algn="ctr"/>
                      <a:r>
                        <a:rPr sz="850" b="0">
                          <a:solidFill>
                            <a:srgbClr val="202020"/>
                          </a:solidFill>
                        </a:rPr>
                        <a:t>96.19% (acc)</a:t>
                      </a:r>
                    </a:p>
                  </a:txBody>
                  <a:tcPr>
                    <a:solidFill>
                      <a:srgbClr val="FFFFFF"/>
                    </a:solidFill>
                  </a:tcPr>
                </a:tc>
              </a:tr>
              <a:tr h="259080">
                <a:tc>
                  <a:txBody>
                    <a:bodyPr/>
                    <a:lstStyle/>
                    <a:p>
                      <a:pPr algn="l"/>
                      <a:r>
                        <a:rPr sz="850" b="1">
                          <a:solidFill>
                            <a:srgbClr val="202020"/>
                          </a:solidFill>
                        </a:rPr>
                        <a:t>Penelitian ini</a:t>
                      </a:r>
                    </a:p>
                  </a:txBody>
                  <a:tcPr>
                    <a:solidFill>
                      <a:srgbClr val="C6EFCE"/>
                    </a:solidFill>
                  </a:tcPr>
                </a:tc>
                <a:tc>
                  <a:txBody>
                    <a:bodyPr/>
                    <a:lstStyle/>
                    <a:p>
                      <a:pPr algn="l"/>
                      <a:r>
                        <a:rPr sz="850" b="1">
                          <a:solidFill>
                            <a:srgbClr val="202020"/>
                          </a:solidFill>
                        </a:rPr>
                        <a:t>2026</a:t>
                      </a:r>
                    </a:p>
                  </a:txBody>
                  <a:tcPr>
                    <a:solidFill>
                      <a:srgbClr val="C6EFCE"/>
                    </a:solidFill>
                  </a:tcPr>
                </a:tc>
                <a:tc>
                  <a:txBody>
                    <a:bodyPr/>
                    <a:lstStyle/>
                    <a:p>
                      <a:pPr algn="ctr"/>
                      <a:r>
                        <a:rPr sz="850" b="1">
                          <a:solidFill>
                            <a:srgbClr val="202020"/>
                          </a:solidFill>
                        </a:rPr>
                        <a:t>Intermediate TL (ResNet18)</a:t>
                      </a:r>
                    </a:p>
                  </a:txBody>
                  <a:tcPr>
                    <a:solidFill>
                      <a:srgbClr val="C6EFCE"/>
                    </a:solidFill>
                  </a:tcPr>
                </a:tc>
                <a:tc>
                  <a:txBody>
                    <a:bodyPr/>
                    <a:lstStyle/>
                    <a:p>
                      <a:pPr algn="ctr"/>
                      <a:r>
                        <a:rPr sz="850" b="1">
                          <a:solidFill>
                            <a:srgbClr val="202020"/>
                          </a:solidFill>
                        </a:rPr>
                        <a:t>91.9% / F1: 0.783</a:t>
                      </a:r>
                    </a:p>
                  </a:txBody>
                  <a:tcPr>
                    <a:solidFill>
                      <a:srgbClr val="C6EFCE"/>
                    </a:solidFill>
                  </a:tcPr>
                </a:tc>
              </a:tr>
            </a:tbl>
          </a:graphicData>
        </a:graphic>
      </p:graphicFrame>
      <p:sp>
        <p:nvSpPr>
          <p:cNvPr id="5" name="TextBox 4"/>
          <p:cNvSpPr txBox="1"/>
          <p:nvPr/>
        </p:nvSpPr>
        <p:spPr>
          <a:xfrm>
            <a:off x="274320" y="2560320"/>
            <a:ext cx="8595360" cy="228600"/>
          </a:xfrm>
          <a:prstGeom prst="rect">
            <a:avLst/>
          </a:prstGeom>
          <a:noFill/>
        </p:spPr>
        <p:txBody>
          <a:bodyPr wrap="none">
            <a:spAutoFit/>
          </a:bodyPr>
          <a:lstStyle/>
          <a:p>
            <a:pPr algn="l"/>
            <a:r>
              <a:rPr sz="1000" b="1" i="0">
                <a:solidFill>
                  <a:srgbClr val="1A73E8"/>
                </a:solidFill>
              </a:rPr>
              <a:t>JAFFE (LOSO)</a:t>
            </a:r>
          </a:p>
        </p:txBody>
      </p:sp>
      <p:graphicFrame>
        <p:nvGraphicFramePr>
          <p:cNvPr id="6" name="Table 5"/>
          <p:cNvGraphicFramePr>
            <a:graphicFrameLocks noGrp="1"/>
          </p:cNvGraphicFramePr>
          <p:nvPr/>
        </p:nvGraphicFramePr>
        <p:xfrm>
          <a:off x="274320" y="2834640"/>
          <a:ext cx="8595358" cy="1234440"/>
        </p:xfrm>
        <a:graphic>
          <a:graphicData uri="http://schemas.openxmlformats.org/drawingml/2006/table">
            <a:tbl>
              <a:tblPr firstRow="1" bandRow="1"/>
              <a:tblGrid>
                <a:gridCol w="2071171"/>
                <a:gridCol w="828468"/>
                <a:gridCol w="3106756"/>
                <a:gridCol w="2588963"/>
              </a:tblGrid>
              <a:tr h="246888">
                <a:tc>
                  <a:txBody>
                    <a:bodyPr/>
                    <a:lstStyle/>
                    <a:p>
                      <a:pPr algn="ctr"/>
                      <a:r>
                        <a:rPr sz="900" b="1">
                          <a:solidFill>
                            <a:srgbClr val="FFFFFF"/>
                          </a:solidFill>
                        </a:rPr>
                        <a:t>Paper</a:t>
                      </a:r>
                    </a:p>
                  </a:txBody>
                  <a:tcPr>
                    <a:solidFill>
                      <a:srgbClr val="1A73E8"/>
                    </a:solidFill>
                  </a:tcPr>
                </a:tc>
                <a:tc>
                  <a:txBody>
                    <a:bodyPr/>
                    <a:lstStyle/>
                    <a:p>
                      <a:pPr algn="ctr"/>
                      <a:r>
                        <a:rPr sz="900" b="1">
                          <a:solidFill>
                            <a:srgbClr val="FFFFFF"/>
                          </a:solidFill>
                        </a:rPr>
                        <a:t>Tahun</a:t>
                      </a:r>
                    </a:p>
                  </a:txBody>
                  <a:tcPr>
                    <a:solidFill>
                      <a:srgbClr val="1A73E8"/>
                    </a:solidFill>
                  </a:tcPr>
                </a:tc>
                <a:tc>
                  <a:txBody>
                    <a:bodyPr/>
                    <a:lstStyle/>
                    <a:p>
                      <a:pPr algn="ctr"/>
                      <a:r>
                        <a:rPr sz="900" b="1">
                          <a:solidFill>
                            <a:srgbClr val="FFFFFF"/>
                          </a:solidFill>
                        </a:rPr>
                        <a:t>Metode</a:t>
                      </a:r>
                    </a:p>
                  </a:txBody>
                  <a:tcPr>
                    <a:solidFill>
                      <a:srgbClr val="1A73E8"/>
                    </a:solidFill>
                  </a:tcPr>
                </a:tc>
                <a:tc>
                  <a:txBody>
                    <a:bodyPr/>
                    <a:lstStyle/>
                    <a:p>
                      <a:pPr algn="ctr"/>
                      <a:r>
                        <a:rPr sz="900" b="1">
                          <a:solidFill>
                            <a:srgbClr val="FFFFFF"/>
                          </a:solidFill>
                        </a:rPr>
                        <a:t>Acc/F1</a:t>
                      </a:r>
                    </a:p>
                  </a:txBody>
                  <a:tcPr>
                    <a:solidFill>
                      <a:srgbClr val="1A73E8"/>
                    </a:solidFill>
                  </a:tcPr>
                </a:tc>
              </a:tr>
              <a:tr h="246888">
                <a:tc>
                  <a:txBody>
                    <a:bodyPr/>
                    <a:lstStyle/>
                    <a:p>
                      <a:pPr algn="l"/>
                      <a:r>
                        <a:rPr sz="850" b="1">
                          <a:solidFill>
                            <a:srgbClr val="202020"/>
                          </a:solidFill>
                        </a:rPr>
                        <a:t>AA-DCN</a:t>
                      </a:r>
                    </a:p>
                  </a:txBody>
                  <a:tcPr>
                    <a:solidFill>
                      <a:srgbClr val="E8F0FE"/>
                    </a:solidFill>
                  </a:tcPr>
                </a:tc>
                <a:tc>
                  <a:txBody>
                    <a:bodyPr/>
                    <a:lstStyle/>
                    <a:p>
                      <a:pPr algn="l"/>
                      <a:r>
                        <a:rPr sz="850" b="0">
                          <a:solidFill>
                            <a:srgbClr val="202020"/>
                          </a:solidFill>
                        </a:rPr>
                        <a:t>2024</a:t>
                      </a:r>
                    </a:p>
                  </a:txBody>
                  <a:tcPr>
                    <a:solidFill>
                      <a:srgbClr val="E8F0FE"/>
                    </a:solidFill>
                  </a:tcPr>
                </a:tc>
                <a:tc>
                  <a:txBody>
                    <a:bodyPr/>
                    <a:lstStyle/>
                    <a:p>
                      <a:pPr algn="ctr"/>
                      <a:r>
                        <a:rPr sz="850" b="0">
                          <a:solidFill>
                            <a:srgbClr val="202020"/>
                          </a:solidFill>
                        </a:rPr>
                        <a:t>Anti-aliased Deep Conv</a:t>
                      </a:r>
                    </a:p>
                  </a:txBody>
                  <a:tcPr>
                    <a:solidFill>
                      <a:srgbClr val="E8F0FE"/>
                    </a:solidFill>
                  </a:tcPr>
                </a:tc>
                <a:tc>
                  <a:txBody>
                    <a:bodyPr/>
                    <a:lstStyle/>
                    <a:p>
                      <a:pPr algn="ctr"/>
                      <a:r>
                        <a:rPr sz="850" b="0">
                          <a:solidFill>
                            <a:srgbClr val="202020"/>
                          </a:solidFill>
                        </a:rPr>
                        <a:t>98.0% (acc)</a:t>
                      </a:r>
                    </a:p>
                  </a:txBody>
                  <a:tcPr>
                    <a:solidFill>
                      <a:srgbClr val="E8F0FE"/>
                    </a:solidFill>
                  </a:tcPr>
                </a:tc>
              </a:tr>
              <a:tr h="246888">
                <a:tc>
                  <a:txBody>
                    <a:bodyPr/>
                    <a:lstStyle/>
                    <a:p>
                      <a:pPr algn="l"/>
                      <a:r>
                        <a:rPr sz="850" b="1">
                          <a:solidFill>
                            <a:srgbClr val="202020"/>
                          </a:solidFill>
                        </a:rPr>
                        <a:t>Fine-grained fusion</a:t>
                      </a:r>
                    </a:p>
                  </a:txBody>
                  <a:tcPr>
                    <a:solidFill>
                      <a:srgbClr val="FFFFFF"/>
                    </a:solidFill>
                  </a:tcPr>
                </a:tc>
                <a:tc>
                  <a:txBody>
                    <a:bodyPr/>
                    <a:lstStyle/>
                    <a:p>
                      <a:pPr algn="l"/>
                      <a:r>
                        <a:rPr sz="850" b="0">
                          <a:solidFill>
                            <a:srgbClr val="202020"/>
                          </a:solidFill>
                        </a:rPr>
                        <a:t>2025</a:t>
                      </a:r>
                    </a:p>
                  </a:txBody>
                  <a:tcPr>
                    <a:solidFill>
                      <a:srgbClr val="FFFFFF"/>
                    </a:solidFill>
                  </a:tcPr>
                </a:tc>
                <a:tc>
                  <a:txBody>
                    <a:bodyPr/>
                    <a:lstStyle/>
                    <a:p>
                      <a:pPr algn="ctr"/>
                      <a:r>
                        <a:rPr sz="850" b="0">
                          <a:solidFill>
                            <a:srgbClr val="202020"/>
                          </a:solidFill>
                        </a:rPr>
                        <a:t>Landmark + image</a:t>
                      </a:r>
                    </a:p>
                  </a:txBody>
                  <a:tcPr>
                    <a:solidFill>
                      <a:srgbClr val="FFFFFF"/>
                    </a:solidFill>
                  </a:tcPr>
                </a:tc>
                <a:tc>
                  <a:txBody>
                    <a:bodyPr/>
                    <a:lstStyle/>
                    <a:p>
                      <a:pPr algn="ctr"/>
                      <a:r>
                        <a:rPr sz="850" b="0">
                          <a:solidFill>
                            <a:srgbClr val="202020"/>
                          </a:solidFill>
                        </a:rPr>
                        <a:t>97.61% (acc)</a:t>
                      </a:r>
                    </a:p>
                  </a:txBody>
                  <a:tcPr>
                    <a:solidFill>
                      <a:srgbClr val="FFFFFF"/>
                    </a:solidFill>
                  </a:tcPr>
                </a:tc>
              </a:tr>
              <a:tr h="246888">
                <a:tc>
                  <a:txBody>
                    <a:bodyPr/>
                    <a:lstStyle/>
                    <a:p>
                      <a:pPr algn="l"/>
                      <a:r>
                        <a:rPr sz="850" b="1">
                          <a:solidFill>
                            <a:srgbClr val="202020"/>
                          </a:solidFill>
                        </a:rPr>
                        <a:t>b-skeleton+CNN</a:t>
                      </a:r>
                    </a:p>
                  </a:txBody>
                  <a:tcPr>
                    <a:solidFill>
                      <a:srgbClr val="E8F0FE"/>
                    </a:solidFill>
                  </a:tcPr>
                </a:tc>
                <a:tc>
                  <a:txBody>
                    <a:bodyPr/>
                    <a:lstStyle/>
                    <a:p>
                      <a:pPr algn="l"/>
                      <a:r>
                        <a:rPr sz="850" b="0">
                          <a:solidFill>
                            <a:srgbClr val="202020"/>
                          </a:solidFill>
                        </a:rPr>
                        <a:t>2024</a:t>
                      </a:r>
                    </a:p>
                  </a:txBody>
                  <a:tcPr>
                    <a:solidFill>
                      <a:srgbClr val="E8F0FE"/>
                    </a:solidFill>
                  </a:tcPr>
                </a:tc>
                <a:tc>
                  <a:txBody>
                    <a:bodyPr/>
                    <a:lstStyle/>
                    <a:p>
                      <a:pPr algn="ctr"/>
                      <a:r>
                        <a:rPr sz="850" b="0">
                          <a:solidFill>
                            <a:srgbClr val="202020"/>
                          </a:solidFill>
                        </a:rPr>
                        <a:t>Landmark geometric</a:t>
                      </a:r>
                    </a:p>
                  </a:txBody>
                  <a:tcPr>
                    <a:solidFill>
                      <a:srgbClr val="E8F0FE"/>
                    </a:solidFill>
                  </a:tcPr>
                </a:tc>
                <a:tc>
                  <a:txBody>
                    <a:bodyPr/>
                    <a:lstStyle/>
                    <a:p>
                      <a:pPr algn="ctr"/>
                      <a:r>
                        <a:rPr sz="850" b="0">
                          <a:solidFill>
                            <a:srgbClr val="202020"/>
                          </a:solidFill>
                        </a:rPr>
                        <a:t>89.23% (acc)</a:t>
                      </a:r>
                    </a:p>
                  </a:txBody>
                  <a:tcPr>
                    <a:solidFill>
                      <a:srgbClr val="E8F0FE"/>
                    </a:solidFill>
                  </a:tcPr>
                </a:tc>
              </a:tr>
              <a:tr h="246888">
                <a:tc>
                  <a:txBody>
                    <a:bodyPr/>
                    <a:lstStyle/>
                    <a:p>
                      <a:pPr algn="l"/>
                      <a:r>
                        <a:rPr sz="850" b="1">
                          <a:solidFill>
                            <a:srgbClr val="202020"/>
                          </a:solidFill>
                        </a:rPr>
                        <a:t>Penelitian ini</a:t>
                      </a:r>
                    </a:p>
                  </a:txBody>
                  <a:tcPr>
                    <a:solidFill>
                      <a:srgbClr val="C6EFCE"/>
                    </a:solidFill>
                  </a:tcPr>
                </a:tc>
                <a:tc>
                  <a:txBody>
                    <a:bodyPr/>
                    <a:lstStyle/>
                    <a:p>
                      <a:pPr algn="l"/>
                      <a:r>
                        <a:rPr sz="850" b="1">
                          <a:solidFill>
                            <a:srgbClr val="202020"/>
                          </a:solidFill>
                        </a:rPr>
                        <a:t>2026</a:t>
                      </a:r>
                    </a:p>
                  </a:txBody>
                  <a:tcPr>
                    <a:solidFill>
                      <a:srgbClr val="C6EFCE"/>
                    </a:solidFill>
                  </a:tcPr>
                </a:tc>
                <a:tc>
                  <a:txBody>
                    <a:bodyPr/>
                    <a:lstStyle/>
                    <a:p>
                      <a:pPr algn="ctr"/>
                      <a:r>
                        <a:rPr sz="850" b="1">
                          <a:solidFill>
                            <a:srgbClr val="202020"/>
                          </a:solidFill>
                        </a:rPr>
                        <a:t>Late Fusion (CNN+FCNN)</a:t>
                      </a:r>
                    </a:p>
                  </a:txBody>
                  <a:tcPr>
                    <a:solidFill>
                      <a:srgbClr val="C6EFCE"/>
                    </a:solidFill>
                  </a:tcPr>
                </a:tc>
                <a:tc>
                  <a:txBody>
                    <a:bodyPr/>
                    <a:lstStyle/>
                    <a:p>
                      <a:pPr algn="ctr"/>
                      <a:r>
                        <a:rPr sz="850" b="1">
                          <a:solidFill>
                            <a:srgbClr val="202020"/>
                          </a:solidFill>
                        </a:rPr>
                        <a:t>54.0% / F1: 0.467</a:t>
                      </a:r>
                    </a:p>
                  </a:txBody>
                  <a:tcPr>
                    <a:solidFill>
                      <a:srgbClr val="C6EFCE"/>
                    </a:solidFill>
                  </a:tcPr>
                </a:tc>
              </a:tr>
            </a:tbl>
          </a:graphicData>
        </a:graphic>
      </p:graphicFrame>
      <p:sp>
        <p:nvSpPr>
          <p:cNvPr id="7" name="TextBox 6"/>
          <p:cNvSpPr txBox="1"/>
          <p:nvPr/>
        </p:nvSpPr>
        <p:spPr>
          <a:xfrm>
            <a:off x="274320" y="4160520"/>
            <a:ext cx="8595360" cy="914400"/>
          </a:xfrm>
          <a:prstGeom prst="rect">
            <a:avLst/>
          </a:prstGeom>
          <a:noFill/>
        </p:spPr>
        <p:txBody>
          <a:bodyPr wrap="square">
            <a:spAutoFit/>
          </a:bodyPr>
          <a:lstStyle/>
          <a:p>
            <a:pPr algn="l"/>
            <a:r>
              <a:rPr sz="850" b="1">
                <a:solidFill>
                  <a:srgbClr val="666666"/>
                </a:solidFill>
              </a:rPr>
              <a:t>Catatan Penting:</a:t>
            </a:r>
          </a:p>
          <a:p>
            <a:pPr algn="l"/>
          </a:p>
          <a:p>
            <a:pPr algn="l"/>
          </a:p>
          <a:p>
            <a:pPr algn="l"/>
          </a:p>
          <a:p>
            <a:pPr algn="l"/>
          </a:p>
          <a:p>
            <a:pPr algn="l"/>
            <a:r>
              <a:rPr sz="750" i="1">
                <a:solidFill>
                  <a:srgbClr val="666666"/>
                </a:solidFill>
              </a:rPr>
              <a:t>- Paper SOTA (99%+) kemungkinan besar pakai random split (data leakage) -- bukan subject-wise</a:t>
            </a:r>
          </a:p>
          <a:p>
            <a:pPr algn="l"/>
            <a:r>
              <a:rPr sz="750" i="1">
                <a:solidFill>
                  <a:srgbClr val="666666"/>
                </a:solidFill>
              </a:rPr>
              <a:t>- Penelitian ini pakai subject-wise CV/LOSO yang lebih ketat -- hasil lebih rendah tapi lebih valid</a:t>
            </a:r>
          </a:p>
          <a:p>
            <a:pPr algn="l"/>
            <a:r>
              <a:rPr sz="750" i="1">
                <a:solidFill>
                  <a:srgbClr val="666666"/>
                </a:solidFill>
              </a:rPr>
              <a:t>- Paper SOTA pakai arsitektur besar (VGG16, EfficientNet, ViT) vs penelitian ini ResNet18 sederhana</a:t>
            </a:r>
          </a:p>
          <a:p>
            <a:pPr algn="l"/>
            <a:r>
              <a:rPr sz="750" i="1">
                <a:solidFill>
                  <a:srgbClr val="666666"/>
                </a:solidFill>
              </a:rPr>
              <a:t>- Metrik: paper lain lapor accuracy, penelitian ini fokus Macro F1 (lebih jujur untuk imbalanced)</a:t>
            </a:r>
          </a:p>
          <a:p>
            <a:pPr algn="l"/>
            <a:r>
              <a:rPr sz="750" i="1">
                <a:solidFill>
                  <a:srgbClr val="666666"/>
                </a:solidFill>
              </a:rPr>
              <a:t>- Bukti: di dataset sendiri, random split naik +30-47% vs subject-wise -- angka SOTA bisa inflate serupa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Analisis Hasil -- Temuan Benchmark</a:t>
            </a:r>
          </a:p>
        </p:txBody>
      </p:sp>
      <p:sp>
        <p:nvSpPr>
          <p:cNvPr id="3" name="TextBox 2"/>
          <p:cNvSpPr txBox="1"/>
          <p:nvPr/>
        </p:nvSpPr>
        <p:spPr>
          <a:xfrm>
            <a:off x="274320" y="713232"/>
            <a:ext cx="4114800" cy="228600"/>
          </a:xfrm>
          <a:prstGeom prst="rect">
            <a:avLst/>
          </a:prstGeom>
          <a:noFill/>
        </p:spPr>
        <p:txBody>
          <a:bodyPr wrap="none">
            <a:spAutoFit/>
          </a:bodyPr>
          <a:lstStyle/>
          <a:p>
            <a:pPr algn="l"/>
            <a:r>
              <a:rPr sz="850" b="1" i="0">
                <a:solidFill>
                  <a:srgbClr val="1A73E8"/>
                </a:solidFill>
              </a:rPr>
              <a:t>Temuan 16: CK+ jauh lebih tinggi dari dataset sendiri</a:t>
            </a:r>
          </a:p>
        </p:txBody>
      </p:sp>
      <p:graphicFrame>
        <p:nvGraphicFramePr>
          <p:cNvPr id="4" name="Table 3"/>
          <p:cNvGraphicFramePr>
            <a:graphicFrameLocks noGrp="1"/>
          </p:cNvGraphicFramePr>
          <p:nvPr/>
        </p:nvGraphicFramePr>
        <p:xfrm>
          <a:off x="274320" y="987552"/>
          <a:ext cx="4114800" cy="822960"/>
        </p:xfrm>
        <a:graphic>
          <a:graphicData uri="http://schemas.openxmlformats.org/drawingml/2006/table">
            <a:tbl>
              <a:tblPr firstRow="1" bandRow="1"/>
              <a:tblGrid>
                <a:gridCol w="2286000"/>
                <a:gridCol w="1828800"/>
              </a:tblGrid>
              <a:tr h="205740">
                <a:tc>
                  <a:txBody>
                    <a:bodyPr/>
                    <a:lstStyle/>
                    <a:p>
                      <a:pPr algn="ctr"/>
                      <a:r>
                        <a:rPr sz="850" b="1">
                          <a:solidFill>
                            <a:srgbClr val="FFFFFF"/>
                          </a:solidFill>
                        </a:rPr>
                        <a:t>Dataset</a:t>
                      </a:r>
                    </a:p>
                  </a:txBody>
                  <a:tcPr>
                    <a:solidFill>
                      <a:srgbClr val="1A73E8"/>
                    </a:solidFill>
                  </a:tcPr>
                </a:tc>
                <a:tc>
                  <a:txBody>
                    <a:bodyPr/>
                    <a:lstStyle/>
                    <a:p>
                      <a:pPr algn="ctr"/>
                      <a:r>
                        <a:rPr sz="850" b="1">
                          <a:solidFill>
                            <a:srgbClr val="FFFFFF"/>
                          </a:solidFill>
                        </a:rPr>
                        <a:t>Best F1</a:t>
                      </a:r>
                    </a:p>
                  </a:txBody>
                  <a:tcPr>
                    <a:solidFill>
                      <a:srgbClr val="1A73E8"/>
                    </a:solidFill>
                  </a:tcPr>
                </a:tc>
              </a:tr>
              <a:tr h="205740">
                <a:tc>
                  <a:txBody>
                    <a:bodyPr/>
                    <a:lstStyle/>
                    <a:p>
                      <a:pPr algn="l"/>
                      <a:r>
                        <a:rPr sz="850" b="1">
                          <a:solidFill>
                            <a:srgbClr val="202020"/>
                          </a:solidFill>
                        </a:rPr>
                        <a:t>CK+ (lab)</a:t>
                      </a:r>
                    </a:p>
                  </a:txBody>
                  <a:tcPr>
                    <a:solidFill>
                      <a:srgbClr val="E8F0FE"/>
                    </a:solidFill>
                  </a:tcPr>
                </a:tc>
                <a:tc>
                  <a:txBody>
                    <a:bodyPr/>
                    <a:lstStyle/>
                    <a:p>
                      <a:pPr algn="l"/>
                      <a:r>
                        <a:rPr sz="850" b="0">
                          <a:solidFill>
                            <a:srgbClr val="202020"/>
                          </a:solidFill>
                        </a:rPr>
                        <a:t>0.783</a:t>
                      </a:r>
                    </a:p>
                  </a:txBody>
                  <a:tcPr>
                    <a:solidFill>
                      <a:srgbClr val="E8F0FE"/>
                    </a:solidFill>
                  </a:tcPr>
                </a:tc>
              </a:tr>
              <a:tr h="205740">
                <a:tc>
                  <a:txBody>
                    <a:bodyPr/>
                    <a:lstStyle/>
                    <a:p>
                      <a:pPr algn="l"/>
                      <a:r>
                        <a:rPr sz="850" b="1">
                          <a:solidFill>
                            <a:srgbClr val="202020"/>
                          </a:solidFill>
                        </a:rPr>
                        <a:t>JAFFE (lab)</a:t>
                      </a:r>
                    </a:p>
                  </a:txBody>
                  <a:tcPr>
                    <a:solidFill>
                      <a:srgbClr val="FFFFFF"/>
                    </a:solidFill>
                  </a:tcPr>
                </a:tc>
                <a:tc>
                  <a:txBody>
                    <a:bodyPr/>
                    <a:lstStyle/>
                    <a:p>
                      <a:pPr algn="l"/>
                      <a:r>
                        <a:rPr sz="850" b="0">
                          <a:solidFill>
                            <a:srgbClr val="202020"/>
                          </a:solidFill>
                        </a:rPr>
                        <a:t>0.467</a:t>
                      </a:r>
                    </a:p>
                  </a:txBody>
                  <a:tcPr>
                    <a:solidFill>
                      <a:srgbClr val="FFFFFF"/>
                    </a:solidFill>
                  </a:tcPr>
                </a:tc>
              </a:tr>
              <a:tr h="205740">
                <a:tc>
                  <a:txBody>
                    <a:bodyPr/>
                    <a:lstStyle/>
                    <a:p>
                      <a:pPr algn="l"/>
                      <a:r>
                        <a:rPr sz="850" b="1">
                          <a:solidFill>
                            <a:srgbClr val="202020"/>
                          </a:solidFill>
                        </a:rPr>
                        <a:t>Dataset sendiri</a:t>
                      </a:r>
                    </a:p>
                  </a:txBody>
                  <a:tcPr>
                    <a:solidFill>
                      <a:srgbClr val="E8F0FE"/>
                    </a:solidFill>
                  </a:tcPr>
                </a:tc>
                <a:tc>
                  <a:txBody>
                    <a:bodyPr/>
                    <a:lstStyle/>
                    <a:p>
                      <a:pPr algn="l"/>
                      <a:r>
                        <a:rPr sz="850" b="0">
                          <a:solidFill>
                            <a:srgbClr val="202020"/>
                          </a:solidFill>
                        </a:rPr>
                        <a:t>0.370</a:t>
                      </a:r>
                    </a:p>
                  </a:txBody>
                  <a:tcPr>
                    <a:solidFill>
                      <a:srgbClr val="E8F0FE"/>
                    </a:solidFill>
                  </a:tcPr>
                </a:tc>
              </a:tr>
            </a:tbl>
          </a:graphicData>
        </a:graphic>
      </p:graphicFrame>
      <p:sp>
        <p:nvSpPr>
          <p:cNvPr id="5" name="TextBox 4"/>
          <p:cNvSpPr txBox="1"/>
          <p:nvPr/>
        </p:nvSpPr>
        <p:spPr>
          <a:xfrm>
            <a:off x="4572000" y="713232"/>
            <a:ext cx="4206240" cy="228600"/>
          </a:xfrm>
          <a:prstGeom prst="rect">
            <a:avLst/>
          </a:prstGeom>
          <a:noFill/>
        </p:spPr>
        <p:txBody>
          <a:bodyPr wrap="none">
            <a:spAutoFit/>
          </a:bodyPr>
          <a:lstStyle/>
          <a:p>
            <a:pPr algn="l"/>
            <a:r>
              <a:rPr sz="850" b="1" i="0">
                <a:solidFill>
                  <a:srgbClr val="1A73E8"/>
                </a:solidFill>
              </a:rPr>
              <a:t>Temuan 17: Transfer Learning konsisten terbaik</a:t>
            </a:r>
          </a:p>
        </p:txBody>
      </p:sp>
      <p:graphicFrame>
        <p:nvGraphicFramePr>
          <p:cNvPr id="6" name="Table 5"/>
          <p:cNvGraphicFramePr>
            <a:graphicFrameLocks noGrp="1"/>
          </p:cNvGraphicFramePr>
          <p:nvPr/>
        </p:nvGraphicFramePr>
        <p:xfrm>
          <a:off x="4572000" y="987552"/>
          <a:ext cx="4206240" cy="1005840"/>
        </p:xfrm>
        <a:graphic>
          <a:graphicData uri="http://schemas.openxmlformats.org/drawingml/2006/table">
            <a:tbl>
              <a:tblPr firstRow="1" bandRow="1"/>
              <a:tblGrid>
                <a:gridCol w="2011680"/>
                <a:gridCol w="2194560"/>
              </a:tblGrid>
              <a:tr h="201168">
                <a:tc>
                  <a:txBody>
                    <a:bodyPr/>
                    <a:lstStyle/>
                    <a:p>
                      <a:pPr algn="ctr"/>
                      <a:r>
                        <a:rPr sz="850" b="1">
                          <a:solidFill>
                            <a:srgbClr val="FFFFFF"/>
                          </a:solidFill>
                        </a:rPr>
                        <a:t>Dataset</a:t>
                      </a:r>
                    </a:p>
                  </a:txBody>
                  <a:tcPr>
                    <a:solidFill>
                      <a:srgbClr val="1A73E8"/>
                    </a:solidFill>
                  </a:tcPr>
                </a:tc>
                <a:tc>
                  <a:txBody>
                    <a:bodyPr/>
                    <a:lstStyle/>
                    <a:p>
                      <a:pPr algn="ctr"/>
                      <a:r>
                        <a:rPr sz="850" b="1">
                          <a:solidFill>
                            <a:srgbClr val="FFFFFF"/>
                          </a:solidFill>
                        </a:rPr>
                        <a:t>Best Model</a:t>
                      </a:r>
                    </a:p>
                  </a:txBody>
                  <a:tcPr>
                    <a:solidFill>
                      <a:srgbClr val="1A73E8"/>
                    </a:solidFill>
                  </a:tcPr>
                </a:tc>
              </a:tr>
              <a:tr h="201168">
                <a:tc>
                  <a:txBody>
                    <a:bodyPr/>
                    <a:lstStyle/>
                    <a:p>
                      <a:pPr algn="l"/>
                      <a:r>
                        <a:rPr sz="850" b="1">
                          <a:solidFill>
                            <a:srgbClr val="202020"/>
                          </a:solidFill>
                        </a:rPr>
                        <a:t>CK+ 7c</a:t>
                      </a:r>
                    </a:p>
                  </a:txBody>
                  <a:tcPr>
                    <a:solidFill>
                      <a:srgbClr val="E8F0FE"/>
                    </a:solidFill>
                  </a:tcPr>
                </a:tc>
                <a:tc>
                  <a:txBody>
                    <a:bodyPr/>
                    <a:lstStyle/>
                    <a:p>
                      <a:pPr algn="l"/>
                      <a:r>
                        <a:rPr sz="850" b="0">
                          <a:solidFill>
                            <a:srgbClr val="202020"/>
                          </a:solidFill>
                        </a:rPr>
                        <a:t>Intermediate TL</a:t>
                      </a:r>
                    </a:p>
                  </a:txBody>
                  <a:tcPr>
                    <a:solidFill>
                      <a:srgbClr val="E8F0FE"/>
                    </a:solidFill>
                  </a:tcPr>
                </a:tc>
              </a:tr>
              <a:tr h="201168">
                <a:tc>
                  <a:txBody>
                    <a:bodyPr/>
                    <a:lstStyle/>
                    <a:p>
                      <a:pPr algn="l"/>
                      <a:r>
                        <a:rPr sz="850" b="1">
                          <a:solidFill>
                            <a:srgbClr val="202020"/>
                          </a:solidFill>
                        </a:rPr>
                        <a:t>CK+ 4c</a:t>
                      </a:r>
                    </a:p>
                  </a:txBody>
                  <a:tcPr>
                    <a:solidFill>
                      <a:srgbClr val="FFFFFF"/>
                    </a:solidFill>
                  </a:tcPr>
                </a:tc>
                <a:tc>
                  <a:txBody>
                    <a:bodyPr/>
                    <a:lstStyle/>
                    <a:p>
                      <a:pPr algn="l"/>
                      <a:r>
                        <a:rPr sz="850" b="0">
                          <a:solidFill>
                            <a:srgbClr val="202020"/>
                          </a:solidFill>
                        </a:rPr>
                        <a:t>CNN TL</a:t>
                      </a:r>
                    </a:p>
                  </a:txBody>
                  <a:tcPr>
                    <a:solidFill>
                      <a:srgbClr val="FFFFFF"/>
                    </a:solidFill>
                  </a:tcPr>
                </a:tc>
              </a:tr>
              <a:tr h="201168">
                <a:tc>
                  <a:txBody>
                    <a:bodyPr/>
                    <a:lstStyle/>
                    <a:p>
                      <a:pPr algn="l"/>
                      <a:r>
                        <a:rPr sz="850" b="1">
                          <a:solidFill>
                            <a:srgbClr val="202020"/>
                          </a:solidFill>
                        </a:rPr>
                        <a:t>JAFFE</a:t>
                      </a:r>
                    </a:p>
                  </a:txBody>
                  <a:tcPr>
                    <a:solidFill>
                      <a:srgbClr val="E8F0FE"/>
                    </a:solidFill>
                  </a:tcPr>
                </a:tc>
                <a:tc>
                  <a:txBody>
                    <a:bodyPr/>
                    <a:lstStyle/>
                    <a:p>
                      <a:pPr algn="l"/>
                      <a:r>
                        <a:rPr sz="850" b="0">
                          <a:solidFill>
                            <a:srgbClr val="202020"/>
                          </a:solidFill>
                        </a:rPr>
                        <a:t>Late Fusion (CNN+FCNN)</a:t>
                      </a:r>
                    </a:p>
                  </a:txBody>
                  <a:tcPr>
                    <a:solidFill>
                      <a:srgbClr val="E8F0FE"/>
                    </a:solidFill>
                  </a:tcPr>
                </a:tc>
              </a:tr>
              <a:tr h="201168">
                <a:tc>
                  <a:txBody>
                    <a:bodyPr/>
                    <a:lstStyle/>
                    <a:p>
                      <a:pPr algn="l"/>
                      <a:r>
                        <a:rPr sz="850" b="1">
                          <a:solidFill>
                            <a:srgbClr val="202020"/>
                          </a:solidFill>
                        </a:rPr>
                        <a:t>Dataset sendiri</a:t>
                      </a:r>
                    </a:p>
                  </a:txBody>
                  <a:tcPr>
                    <a:solidFill>
                      <a:srgbClr val="FFFFFF"/>
                    </a:solidFill>
                  </a:tcPr>
                </a:tc>
                <a:tc>
                  <a:txBody>
                    <a:bodyPr/>
                    <a:lstStyle/>
                    <a:p>
                      <a:pPr algn="l"/>
                      <a:r>
                        <a:rPr sz="850" b="0">
                          <a:solidFill>
                            <a:srgbClr val="202020"/>
                          </a:solidFill>
                        </a:rPr>
                        <a:t>Intermediate TL</a:t>
                      </a:r>
                    </a:p>
                  </a:txBody>
                  <a:tcPr>
                    <a:solidFill>
                      <a:srgbClr val="FFFFFF"/>
                    </a:solidFill>
                  </a:tcPr>
                </a:tc>
              </a:tr>
            </a:tbl>
          </a:graphicData>
        </a:graphic>
      </p:graphicFrame>
      <p:sp>
        <p:nvSpPr>
          <p:cNvPr id="7" name="TextBox 6"/>
          <p:cNvSpPr txBox="1"/>
          <p:nvPr/>
        </p:nvSpPr>
        <p:spPr>
          <a:xfrm>
            <a:off x="274320" y="1965960"/>
            <a:ext cx="4114800" cy="228600"/>
          </a:xfrm>
          <a:prstGeom prst="rect">
            <a:avLst/>
          </a:prstGeom>
          <a:noFill/>
        </p:spPr>
        <p:txBody>
          <a:bodyPr wrap="none">
            <a:spAutoFit/>
          </a:bodyPr>
          <a:lstStyle/>
          <a:p>
            <a:pPr algn="l"/>
            <a:r>
              <a:rPr sz="850" b="1" i="0">
                <a:solidFill>
                  <a:srgbClr val="1A73E8"/>
                </a:solidFill>
              </a:rPr>
              <a:t>Temuan 18: Dataset sendiri paling menantang</a:t>
            </a:r>
          </a:p>
        </p:txBody>
      </p:sp>
      <p:sp>
        <p:nvSpPr>
          <p:cNvPr id="8" name="TextBox 7"/>
          <p:cNvSpPr txBox="1"/>
          <p:nvPr/>
        </p:nvSpPr>
        <p:spPr>
          <a:xfrm>
            <a:off x="274320" y="2240280"/>
            <a:ext cx="4114800" cy="1005840"/>
          </a:xfrm>
          <a:prstGeom prst="rect">
            <a:avLst/>
          </a:prstGeom>
          <a:solidFill>
            <a:srgbClr val="FCE4E4"/>
          </a:solidFill>
        </p:spPr>
        <p:txBody>
          <a:bodyPr wrap="square">
            <a:spAutoFit/>
          </a:bodyPr>
          <a:lstStyle/>
          <a:p>
            <a:pPr algn="l"/>
            <a:r>
              <a:rPr sz="900" b="1" i="0">
                <a:solidFill>
                  <a:srgbClr val="D93C3C"/>
                </a:solidFill>
              </a:rPr>
              <a:t>Alasan performa rendah:</a:t>
            </a:r>
          </a:p>
          <a:p>
            <a:pPr algn="l"/>
            <a:r>
              <a:rPr sz="850" b="0" i="0">
                <a:solidFill>
                  <a:srgbClr val="202020"/>
                </a:solidFill>
              </a:rPr>
              <a:t>1. Ekspresi natural (bukan lab-induced)</a:t>
            </a:r>
          </a:p>
          <a:p>
            <a:pPr algn="l"/>
            <a:r>
              <a:rPr sz="850" b="0" i="0">
                <a:solidFill>
                  <a:srgbClr val="202020"/>
                </a:solidFill>
              </a:rPr>
              <a:t>2. Sangat imbalanced (neutral 82%)</a:t>
            </a:r>
          </a:p>
          <a:p>
            <a:pPr algn="l"/>
            <a:r>
              <a:rPr sz="850" b="0" i="0">
                <a:solidFill>
                  <a:srgbClr val="202020"/>
                </a:solidFill>
              </a:rPr>
              <a:t>3. Variasi pencahayaan &amp; posisi</a:t>
            </a:r>
          </a:p>
          <a:p>
            <a:pPr algn="l"/>
            <a:r>
              <a:rPr sz="850" b="0" i="0">
                <a:solidFill>
                  <a:srgbClr val="202020"/>
                </a:solidFill>
              </a:rPr>
              <a:t>4. Micro-expression saat programming</a:t>
            </a:r>
          </a:p>
        </p:txBody>
      </p:sp>
      <p:sp>
        <p:nvSpPr>
          <p:cNvPr id="9" name="TextBox 8"/>
          <p:cNvSpPr txBox="1"/>
          <p:nvPr/>
        </p:nvSpPr>
        <p:spPr>
          <a:xfrm>
            <a:off x="4572000" y="1965960"/>
            <a:ext cx="4206240" cy="228600"/>
          </a:xfrm>
          <a:prstGeom prst="rect">
            <a:avLst/>
          </a:prstGeom>
          <a:noFill/>
        </p:spPr>
        <p:txBody>
          <a:bodyPr wrap="none">
            <a:spAutoFit/>
          </a:bodyPr>
          <a:lstStyle/>
          <a:p>
            <a:pPr algn="l"/>
            <a:r>
              <a:rPr sz="850" b="1" i="0">
                <a:solidFill>
                  <a:srgbClr val="1A73E8"/>
                </a:solidFill>
              </a:rPr>
              <a:t>Temuan 19: Std deviation = stabilitas model</a:t>
            </a:r>
          </a:p>
        </p:txBody>
      </p:sp>
      <p:graphicFrame>
        <p:nvGraphicFramePr>
          <p:cNvPr id="10" name="Table 9"/>
          <p:cNvGraphicFramePr>
            <a:graphicFrameLocks noGrp="1"/>
          </p:cNvGraphicFramePr>
          <p:nvPr/>
        </p:nvGraphicFramePr>
        <p:xfrm>
          <a:off x="4572000" y="2240280"/>
          <a:ext cx="4206240" cy="822960"/>
        </p:xfrm>
        <a:graphic>
          <a:graphicData uri="http://schemas.openxmlformats.org/drawingml/2006/table">
            <a:tbl>
              <a:tblPr firstRow="1" bandRow="1"/>
              <a:tblGrid>
                <a:gridCol w="1645920"/>
                <a:gridCol w="1097280"/>
                <a:gridCol w="1463040"/>
              </a:tblGrid>
              <a:tr h="205740">
                <a:tc>
                  <a:txBody>
                    <a:bodyPr/>
                    <a:lstStyle/>
                    <a:p>
                      <a:pPr algn="ctr"/>
                      <a:r>
                        <a:rPr sz="850" b="1">
                          <a:solidFill>
                            <a:srgbClr val="FFFFFF"/>
                          </a:solidFill>
                        </a:rPr>
                        <a:t>Dataset</a:t>
                      </a:r>
                    </a:p>
                  </a:txBody>
                  <a:tcPr>
                    <a:solidFill>
                      <a:srgbClr val="1A73E8"/>
                    </a:solidFill>
                  </a:tcPr>
                </a:tc>
                <a:tc>
                  <a:txBody>
                    <a:bodyPr/>
                    <a:lstStyle/>
                    <a:p>
                      <a:pPr algn="ctr"/>
                      <a:r>
                        <a:rPr sz="850" b="1">
                          <a:solidFill>
                            <a:srgbClr val="FFFFFF"/>
                          </a:solidFill>
                        </a:rPr>
                        <a:t>Best F1</a:t>
                      </a:r>
                    </a:p>
                  </a:txBody>
                  <a:tcPr>
                    <a:solidFill>
                      <a:srgbClr val="1A73E8"/>
                    </a:solidFill>
                  </a:tcPr>
                </a:tc>
                <a:tc>
                  <a:txBody>
                    <a:bodyPr/>
                    <a:lstStyle/>
                    <a:p>
                      <a:pPr algn="ctr"/>
                      <a:r>
                        <a:rPr sz="850" b="1">
                          <a:solidFill>
                            <a:srgbClr val="FFFFFF"/>
                          </a:solidFill>
                        </a:rPr>
                        <a:t>Std</a:t>
                      </a:r>
                    </a:p>
                  </a:txBody>
                  <a:tcPr>
                    <a:solidFill>
                      <a:srgbClr val="1A73E8"/>
                    </a:solidFill>
                  </a:tcPr>
                </a:tc>
              </a:tr>
              <a:tr h="205740">
                <a:tc>
                  <a:txBody>
                    <a:bodyPr/>
                    <a:lstStyle/>
                    <a:p>
                      <a:pPr algn="l"/>
                      <a:r>
                        <a:rPr sz="850" b="1">
                          <a:solidFill>
                            <a:srgbClr val="202020"/>
                          </a:solidFill>
                        </a:rPr>
                        <a:t>CK+</a:t>
                      </a:r>
                    </a:p>
                  </a:txBody>
                  <a:tcPr>
                    <a:solidFill>
                      <a:srgbClr val="E8F0FE"/>
                    </a:solidFill>
                  </a:tcPr>
                </a:tc>
                <a:tc>
                  <a:txBody>
                    <a:bodyPr/>
                    <a:lstStyle/>
                    <a:p>
                      <a:pPr algn="l"/>
                      <a:r>
                        <a:rPr sz="850" b="0">
                          <a:solidFill>
                            <a:srgbClr val="202020"/>
                          </a:solidFill>
                        </a:rPr>
                        <a:t>0.783</a:t>
                      </a:r>
                    </a:p>
                  </a:txBody>
                  <a:tcPr>
                    <a:solidFill>
                      <a:srgbClr val="E8F0FE"/>
                    </a:solidFill>
                  </a:tcPr>
                </a:tc>
                <a:tc>
                  <a:txBody>
                    <a:bodyPr/>
                    <a:lstStyle/>
                    <a:p>
                      <a:pPr algn="ctr"/>
                      <a:r>
                        <a:rPr sz="850" b="0">
                          <a:solidFill>
                            <a:srgbClr val="202020"/>
                          </a:solidFill>
                        </a:rPr>
                        <a:t>0.107 (stabil)</a:t>
                      </a:r>
                    </a:p>
                  </a:txBody>
                  <a:tcPr>
                    <a:solidFill>
                      <a:srgbClr val="E8F0FE"/>
                    </a:solidFill>
                  </a:tcPr>
                </a:tc>
              </a:tr>
              <a:tr h="205740">
                <a:tc>
                  <a:txBody>
                    <a:bodyPr/>
                    <a:lstStyle/>
                    <a:p>
                      <a:pPr algn="l"/>
                      <a:r>
                        <a:rPr sz="850" b="1">
                          <a:solidFill>
                            <a:srgbClr val="202020"/>
                          </a:solidFill>
                        </a:rPr>
                        <a:t>JAFFE</a:t>
                      </a:r>
                    </a:p>
                  </a:txBody>
                  <a:tcPr>
                    <a:solidFill>
                      <a:srgbClr val="FFFFFF"/>
                    </a:solidFill>
                  </a:tcPr>
                </a:tc>
                <a:tc>
                  <a:txBody>
                    <a:bodyPr/>
                    <a:lstStyle/>
                    <a:p>
                      <a:pPr algn="l"/>
                      <a:r>
                        <a:rPr sz="850" b="0">
                          <a:solidFill>
                            <a:srgbClr val="202020"/>
                          </a:solidFill>
                        </a:rPr>
                        <a:t>0.467</a:t>
                      </a:r>
                    </a:p>
                  </a:txBody>
                  <a:tcPr>
                    <a:solidFill>
                      <a:srgbClr val="FFFFFF"/>
                    </a:solidFill>
                  </a:tcPr>
                </a:tc>
                <a:tc>
                  <a:txBody>
                    <a:bodyPr/>
                    <a:lstStyle/>
                    <a:p>
                      <a:pPr algn="ctr"/>
                      <a:r>
                        <a:rPr sz="850" b="0">
                          <a:solidFill>
                            <a:srgbClr val="202020"/>
                          </a:solidFill>
                        </a:rPr>
                        <a:t>0.092 (moderat)</a:t>
                      </a:r>
                    </a:p>
                  </a:txBody>
                  <a:tcPr>
                    <a:solidFill>
                      <a:srgbClr val="FFFFFF"/>
                    </a:solidFill>
                  </a:tcPr>
                </a:tc>
              </a:tr>
              <a:tr h="205740">
                <a:tc>
                  <a:txBody>
                    <a:bodyPr/>
                    <a:lstStyle/>
                    <a:p>
                      <a:pPr algn="l"/>
                      <a:r>
                        <a:rPr sz="850" b="1">
                          <a:solidFill>
                            <a:srgbClr val="202020"/>
                          </a:solidFill>
                        </a:rPr>
                        <a:t>Dataset sendiri</a:t>
                      </a:r>
                    </a:p>
                  </a:txBody>
                  <a:tcPr>
                    <a:solidFill>
                      <a:srgbClr val="E8F0FE"/>
                    </a:solidFill>
                  </a:tcPr>
                </a:tc>
                <a:tc>
                  <a:txBody>
                    <a:bodyPr/>
                    <a:lstStyle/>
                    <a:p>
                      <a:pPr algn="l"/>
                      <a:r>
                        <a:rPr sz="850" b="0">
                          <a:solidFill>
                            <a:srgbClr val="202020"/>
                          </a:solidFill>
                        </a:rPr>
                        <a:t>0.370</a:t>
                      </a:r>
                    </a:p>
                  </a:txBody>
                  <a:tcPr>
                    <a:solidFill>
                      <a:srgbClr val="E8F0FE"/>
                    </a:solidFill>
                  </a:tcPr>
                </a:tc>
                <a:tc>
                  <a:txBody>
                    <a:bodyPr/>
                    <a:lstStyle/>
                    <a:p>
                      <a:pPr algn="ctr"/>
                      <a:r>
                        <a:rPr sz="850" b="0">
                          <a:solidFill>
                            <a:srgbClr val="202020"/>
                          </a:solidFill>
                        </a:rPr>
                        <a:t>0.125 (variabel)</a:t>
                      </a:r>
                    </a:p>
                  </a:txBody>
                  <a:tcPr>
                    <a:solidFill>
                      <a:srgbClr val="E8F0FE"/>
                    </a:solidFill>
                  </a:tcPr>
                </a:tc>
              </a:tr>
            </a:tbl>
          </a:graphicData>
        </a:graphic>
      </p:graphicFrame>
      <p:sp>
        <p:nvSpPr>
          <p:cNvPr id="11" name="TextBox 10"/>
          <p:cNvSpPr txBox="1"/>
          <p:nvPr/>
        </p:nvSpPr>
        <p:spPr>
          <a:xfrm>
            <a:off x="274320" y="3383280"/>
            <a:ext cx="8503920" cy="320040"/>
          </a:xfrm>
          <a:prstGeom prst="rect">
            <a:avLst/>
          </a:prstGeom>
          <a:solidFill>
            <a:srgbClr val="E8F0FE"/>
          </a:solidFill>
        </p:spPr>
        <p:txBody>
          <a:bodyPr wrap="square">
            <a:spAutoFit/>
          </a:bodyPr>
          <a:lstStyle/>
          <a:p>
            <a:pPr algn="ctr"/>
            <a:r>
              <a:rPr sz="850" b="1" i="0">
                <a:solidFill>
                  <a:srgbClr val="202020"/>
                </a:solidFill>
              </a:rPr>
              <a:t>Kesimpulan: Arsitektur bekerja baik di dataset standar (CK+ 0.783) -- performa rendah di dataset sendiri karena karakteristik data natural programming, bukan kelemahan arsitektur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24A: Instruksi Dosen &amp; Sumber Dataset Benchmark</a:t>
            </a:r>
          </a:p>
        </p:txBody>
      </p:sp>
      <p:sp>
        <p:nvSpPr>
          <p:cNvPr id="4" name="TextBox 3"/>
          <p:cNvSpPr txBox="1"/>
          <p:nvPr/>
        </p:nvSpPr>
        <p:spPr>
          <a:xfrm>
            <a:off x="274320" y="548640"/>
            <a:ext cx="8595360" cy="1645920"/>
          </a:xfrm>
          <a:prstGeom prst="rect">
            <a:avLst/>
          </a:prstGeom>
          <a:solidFill>
            <a:srgbClr val="E8F0FE"/>
          </a:solidFill>
        </p:spPr>
        <p:txBody>
          <a:bodyPr wrap="square">
            <a:spAutoFit/>
          </a:bodyPr>
          <a:lstStyle/>
          <a:p>
            <a:pPr algn="l"/>
            <a:r>
              <a:rPr sz="1100" b="1" i="0">
                <a:solidFill>
                  <a:srgbClr val="1A73E8"/>
                </a:solidFill>
              </a:rPr>
              <a:t>Instruksi dari Dosen Pembimbing</a:t>
            </a:r>
          </a:p>
          <a:p>
            <a:pPr algn="l"/>
            <a:r>
              <a:rPr sz="300" b="0" i="0"/>
              <a:t/>
            </a:r>
          </a:p>
          <a:p>
            <a:pPr algn="l"/>
            <a:r>
              <a:rPr sz="950" b="0" i="0">
                <a:solidFill>
                  <a:srgbClr val="202020"/>
                </a:solidFill>
              </a:rPr>
              <a:t>1. Skema 1 — Self Train-Test: Tiap dataset (CK+, JAFFE, RAF-DB, KDEF, Primer) dilatih dan diuji dengan data masing-masing.</a:t>
            </a:r>
          </a:p>
          <a:p>
            <a:pPr algn="l"/>
            <a:r>
              <a:rPr sz="200" b="0" i="0"/>
              <a:t/>
            </a:r>
          </a:p>
          <a:p>
            <a:pPr algn="l"/>
            <a:r>
              <a:rPr sz="950" b="0" i="0">
                <a:solidFill>
                  <a:srgbClr val="202020"/>
                </a:solidFill>
              </a:rPr>
              <a:t>2. Print semua nilai evaluasi: Macro F1, Micro F1, Weighted F1 (semua dicatat).</a:t>
            </a:r>
          </a:p>
          <a:p>
            <a:pPr algn="l"/>
            <a:r>
              <a:rPr sz="200" b="0" i="0"/>
              <a:t/>
            </a:r>
          </a:p>
          <a:p>
            <a:pPr algn="l"/>
            <a:r>
              <a:rPr sz="950" b="0" i="0">
                <a:solidFill>
                  <a:srgbClr val="202020"/>
                </a:solidFill>
              </a:rPr>
              <a:t>3. Skema 2 — Cross-Dataset: Dataset sekunder (CK+, JAFFE, RAF-DB, KDEF) digunakan untuk train, data uji menggunakan data test Primer.</a:t>
            </a:r>
          </a:p>
          <a:p>
            <a:pPr algn="l"/>
            <a:r>
              <a:rPr sz="200" b="0" i="0"/>
              <a:t/>
            </a:r>
          </a:p>
          <a:p>
            <a:pPr algn="l"/>
            <a:r>
              <a:rPr sz="950" b="0" i="0">
                <a:solidFill>
                  <a:srgbClr val="202020"/>
                </a:solidFill>
              </a:rPr>
              <a:t>4. Model: gunakan semua model yang dimiliki (CNN, FCNN, Intermediate, Late Fusion, CNN TL, Intermediate TL).</a:t>
            </a:r>
          </a:p>
        </p:txBody>
      </p:sp>
      <p:sp>
        <p:nvSpPr>
          <p:cNvPr id="5" name="TextBox 4"/>
          <p:cNvSpPr txBox="1"/>
          <p:nvPr/>
        </p:nvSpPr>
        <p:spPr>
          <a:xfrm>
            <a:off x="274320" y="2286000"/>
            <a:ext cx="8595360" cy="256032"/>
          </a:xfrm>
          <a:prstGeom prst="rect">
            <a:avLst/>
          </a:prstGeom>
          <a:noFill/>
        </p:spPr>
        <p:txBody>
          <a:bodyPr wrap="none">
            <a:spAutoFit/>
          </a:bodyPr>
          <a:lstStyle/>
          <a:p>
            <a:pPr algn="l"/>
            <a:r>
              <a:rPr sz="1100" b="1" i="0">
                <a:solidFill>
                  <a:srgbClr val="1A73E8"/>
                </a:solidFill>
              </a:rPr>
              <a:t>Sumber Dataset</a:t>
            </a:r>
          </a:p>
        </p:txBody>
      </p:sp>
      <p:graphicFrame>
        <p:nvGraphicFramePr>
          <p:cNvPr id="6" name="Table 5"/>
          <p:cNvGraphicFramePr>
            <a:graphicFrameLocks noGrp="1"/>
          </p:cNvGraphicFramePr>
          <p:nvPr/>
        </p:nvGraphicFramePr>
        <p:xfrm>
          <a:off x="274320" y="2560320"/>
          <a:ext cx="8595360" cy="1920240"/>
        </p:xfrm>
        <a:graphic>
          <a:graphicData uri="http://schemas.openxmlformats.org/drawingml/2006/table">
            <a:tbl>
              <a:tblPr firstRow="1" bandRow="1"/>
              <a:tblGrid>
                <a:gridCol w="914400"/>
                <a:gridCol w="2926080"/>
                <a:gridCol w="2103120"/>
                <a:gridCol w="2651760"/>
              </a:tblGrid>
              <a:tr h="320040">
                <a:tc>
                  <a:txBody>
                    <a:bodyPr/>
                    <a:lstStyle/>
                    <a:p>
                      <a:pPr algn="ctr"/>
                      <a:r>
                        <a:rPr sz="900" b="1">
                          <a:solidFill>
                            <a:srgbClr val="FFFFFF"/>
                          </a:solidFill>
                        </a:rPr>
                        <a:t>Dataset</a:t>
                      </a:r>
                    </a:p>
                  </a:txBody>
                  <a:tcPr>
                    <a:solidFill>
                      <a:srgbClr val="1A73E8"/>
                    </a:solidFill>
                  </a:tcPr>
                </a:tc>
                <a:tc>
                  <a:txBody>
                    <a:bodyPr/>
                    <a:lstStyle/>
                    <a:p>
                      <a:pPr algn="ctr"/>
                      <a:r>
                        <a:rPr sz="900" b="1">
                          <a:solidFill>
                            <a:srgbClr val="FFFFFF"/>
                          </a:solidFill>
                        </a:rPr>
                        <a:t>Sumber</a:t>
                      </a:r>
                    </a:p>
                  </a:txBody>
                  <a:tcPr>
                    <a:solidFill>
                      <a:srgbClr val="1A73E8"/>
                    </a:solidFill>
                  </a:tcPr>
                </a:tc>
                <a:tc>
                  <a:txBody>
                    <a:bodyPr/>
                    <a:lstStyle/>
                    <a:p>
                      <a:pPr algn="ctr"/>
                      <a:r>
                        <a:rPr sz="900" b="1">
                          <a:solidFill>
                            <a:srgbClr val="FFFFFF"/>
                          </a:solidFill>
                        </a:rPr>
                        <a:t>Jumlah</a:t>
                      </a:r>
                    </a:p>
                  </a:txBody>
                  <a:tcPr>
                    <a:solidFill>
                      <a:srgbClr val="1A73E8"/>
                    </a:solidFill>
                  </a:tcPr>
                </a:tc>
                <a:tc>
                  <a:txBody>
                    <a:bodyPr/>
                    <a:lstStyle/>
                    <a:p>
                      <a:pPr algn="ctr"/>
                      <a:r>
                        <a:rPr sz="900" b="1">
                          <a:solidFill>
                            <a:srgbClr val="FFFFFF"/>
                          </a:solidFill>
                        </a:rPr>
                        <a:t>Karakteristik</a:t>
                      </a:r>
                    </a:p>
                  </a:txBody>
                  <a:tcPr>
                    <a:solidFill>
                      <a:srgbClr val="1A73E8"/>
                    </a:solidFill>
                  </a:tcPr>
                </a:tc>
              </a:tr>
              <a:tr h="320040">
                <a:tc>
                  <a:txBody>
                    <a:bodyPr/>
                    <a:lstStyle/>
                    <a:p>
                      <a:pPr algn="l"/>
                      <a:r>
                        <a:rPr sz="800" b="1">
                          <a:solidFill>
                            <a:srgbClr val="202020"/>
                          </a:solidFill>
                        </a:rPr>
                        <a:t>CK+</a:t>
                      </a:r>
                    </a:p>
                  </a:txBody>
                  <a:tcPr>
                    <a:solidFill>
                      <a:srgbClr val="E8F0FE"/>
                    </a:solidFill>
                  </a:tcPr>
                </a:tc>
                <a:tc>
                  <a:txBody>
                    <a:bodyPr/>
                    <a:lstStyle/>
                    <a:p>
                      <a:pPr algn="ctr"/>
                      <a:r>
                        <a:rPr sz="800" b="0">
                          <a:solidFill>
                            <a:srgbClr val="202020"/>
                          </a:solidFill>
                        </a:rPr>
                        <a:t>Kaggle/GitHub (Cohn-Kanade+)</a:t>
                      </a:r>
                    </a:p>
                  </a:txBody>
                  <a:tcPr>
                    <a:solidFill>
                      <a:srgbClr val="E8F0FE"/>
                    </a:solidFill>
                  </a:tcPr>
                </a:tc>
                <a:tc>
                  <a:txBody>
                    <a:bodyPr/>
                    <a:lstStyle/>
                    <a:p>
                      <a:pPr algn="ctr"/>
                      <a:r>
                        <a:rPr sz="800" b="0">
                          <a:solidFill>
                            <a:srgbClr val="202020"/>
                          </a:solidFill>
                        </a:rPr>
                        <a:t>636 imgs (+18 contempt)</a:t>
                      </a:r>
                    </a:p>
                  </a:txBody>
                  <a:tcPr>
                    <a:solidFill>
                      <a:srgbClr val="E8F0FE"/>
                    </a:solidFill>
                  </a:tcPr>
                </a:tc>
                <a:tc>
                  <a:txBody>
                    <a:bodyPr/>
                    <a:lstStyle/>
                    <a:p>
                      <a:pPr algn="ctr"/>
                      <a:r>
                        <a:rPr sz="800" b="0">
                          <a:solidFill>
                            <a:srgbClr val="202020"/>
                          </a:solidFill>
                        </a:rPr>
                        <a:t>Lab posed, 118 subjek, sequence peak</a:t>
                      </a:r>
                    </a:p>
                  </a:txBody>
                  <a:tcPr>
                    <a:solidFill>
                      <a:srgbClr val="E8F0FE"/>
                    </a:solidFill>
                  </a:tcPr>
                </a:tc>
              </a:tr>
              <a:tr h="320040">
                <a:tc>
                  <a:txBody>
                    <a:bodyPr/>
                    <a:lstStyle/>
                    <a:p>
                      <a:pPr algn="l"/>
                      <a:r>
                        <a:rPr sz="800" b="1">
                          <a:solidFill>
                            <a:srgbClr val="202020"/>
                          </a:solidFill>
                        </a:rPr>
                        <a:t>JAFFE</a:t>
                      </a:r>
                    </a:p>
                  </a:txBody>
                  <a:tcPr>
                    <a:solidFill>
                      <a:srgbClr val="FFFFFF"/>
                    </a:solidFill>
                  </a:tcPr>
                </a:tc>
                <a:tc>
                  <a:txBody>
                    <a:bodyPr/>
                    <a:lstStyle/>
                    <a:p>
                      <a:pPr algn="ctr"/>
                      <a:r>
                        <a:rPr sz="800" b="0">
                          <a:solidFill>
                            <a:srgbClr val="202020"/>
                          </a:solidFill>
                        </a:rPr>
                        <a:t>Original (Lyons et al., 1998)</a:t>
                      </a:r>
                    </a:p>
                  </a:txBody>
                  <a:tcPr>
                    <a:solidFill>
                      <a:srgbClr val="FFFFFF"/>
                    </a:solidFill>
                  </a:tcPr>
                </a:tc>
                <a:tc>
                  <a:txBody>
                    <a:bodyPr/>
                    <a:lstStyle/>
                    <a:p>
                      <a:pPr algn="ctr"/>
                      <a:r>
                        <a:rPr sz="800" b="0">
                          <a:solidFill>
                            <a:srgbClr val="202020"/>
                          </a:solidFill>
                        </a:rPr>
                        <a:t>213 imgs</a:t>
                      </a:r>
                    </a:p>
                  </a:txBody>
                  <a:tcPr>
                    <a:solidFill>
                      <a:srgbClr val="FFFFFF"/>
                    </a:solidFill>
                  </a:tcPr>
                </a:tc>
                <a:tc>
                  <a:txBody>
                    <a:bodyPr/>
                    <a:lstStyle/>
                    <a:p>
                      <a:pPr algn="ctr"/>
                      <a:r>
                        <a:rPr sz="800" b="0">
                          <a:solidFill>
                            <a:srgbClr val="202020"/>
                          </a:solidFill>
                        </a:rPr>
                        <a:t>Lab posed, 10 wanita Jepang, 7 emosi</a:t>
                      </a:r>
                    </a:p>
                  </a:txBody>
                  <a:tcPr>
                    <a:solidFill>
                      <a:srgbClr val="FFFFFF"/>
                    </a:solidFill>
                  </a:tcPr>
                </a:tc>
              </a:tr>
              <a:tr h="320040">
                <a:tc>
                  <a:txBody>
                    <a:bodyPr/>
                    <a:lstStyle/>
                    <a:p>
                      <a:pPr algn="l"/>
                      <a:r>
                        <a:rPr sz="800" b="1">
                          <a:solidFill>
                            <a:srgbClr val="202020"/>
                          </a:solidFill>
                        </a:rPr>
                        <a:t>RAF-DB</a:t>
                      </a:r>
                    </a:p>
                  </a:txBody>
                  <a:tcPr>
                    <a:solidFill>
                      <a:srgbClr val="E8F0FE"/>
                    </a:solidFill>
                  </a:tcPr>
                </a:tc>
                <a:tc>
                  <a:txBody>
                    <a:bodyPr/>
                    <a:lstStyle/>
                    <a:p>
                      <a:pPr algn="ctr"/>
                      <a:r>
                        <a:rPr sz="800" b="0">
                          <a:solidFill>
                            <a:srgbClr val="202020"/>
                          </a:solidFill>
                        </a:rPr>
                        <a:t>Kaggle shuvoalok/raf-db-dataset (basic emotion public release)</a:t>
                      </a:r>
                    </a:p>
                  </a:txBody>
                  <a:tcPr>
                    <a:solidFill>
                      <a:srgbClr val="E8F0FE"/>
                    </a:solidFill>
                  </a:tcPr>
                </a:tc>
                <a:tc>
                  <a:txBody>
                    <a:bodyPr/>
                    <a:lstStyle/>
                    <a:p>
                      <a:pPr algn="ctr"/>
                      <a:r>
                        <a:rPr sz="800" b="0">
                          <a:solidFill>
                            <a:srgbClr val="202020"/>
                          </a:solidFill>
                        </a:rPr>
                        <a:t>15,339 imgs → 14,449 usable (11,565 train / 2,884 test)</a:t>
                      </a:r>
                    </a:p>
                  </a:txBody>
                  <a:tcPr>
                    <a:solidFill>
                      <a:srgbClr val="E8F0FE"/>
                    </a:solidFill>
                  </a:tcPr>
                </a:tc>
                <a:tc>
                  <a:txBody>
                    <a:bodyPr/>
                    <a:lstStyle/>
                    <a:p>
                      <a:pPr algn="ctr"/>
                      <a:r>
                        <a:rPr sz="800" b="0">
                          <a:solidFill>
                            <a:srgbClr val="202020"/>
                          </a:solidFill>
                        </a:rPr>
                        <a:t>In-the-wild dari web, official split</a:t>
                      </a:r>
                    </a:p>
                  </a:txBody>
                  <a:tcPr>
                    <a:solidFill>
                      <a:srgbClr val="E8F0FE"/>
                    </a:solidFill>
                  </a:tcPr>
                </a:tc>
              </a:tr>
              <a:tr h="320040">
                <a:tc>
                  <a:txBody>
                    <a:bodyPr/>
                    <a:lstStyle/>
                    <a:p>
                      <a:pPr algn="l"/>
                      <a:r>
                        <a:rPr sz="800" b="1">
                          <a:solidFill>
                            <a:srgbClr val="202020"/>
                          </a:solidFill>
                        </a:rPr>
                        <a:t>KDEF</a:t>
                      </a:r>
                    </a:p>
                  </a:txBody>
                  <a:tcPr>
                    <a:solidFill>
                      <a:srgbClr val="FFFFFF"/>
                    </a:solidFill>
                  </a:tcPr>
                </a:tc>
                <a:tc>
                  <a:txBody>
                    <a:bodyPr/>
                    <a:lstStyle/>
                    <a:p>
                      <a:pPr algn="ctr"/>
                      <a:r>
                        <a:rPr sz="800" b="0">
                          <a:solidFill>
                            <a:srgbClr val="202020"/>
                          </a:solidFill>
                        </a:rPr>
                        <a:t>Official kdef.se (KDEF_and_AKDEF.zip)</a:t>
                      </a:r>
                    </a:p>
                  </a:txBody>
                  <a:tcPr>
                    <a:solidFill>
                      <a:srgbClr val="FFFFFF"/>
                    </a:solidFill>
                  </a:tcPr>
                </a:tc>
                <a:tc>
                  <a:txBody>
                    <a:bodyPr/>
                    <a:lstStyle/>
                    <a:p>
                      <a:pPr algn="ctr"/>
                      <a:r>
                        <a:rPr sz="800" b="0">
                          <a:solidFill>
                            <a:srgbClr val="202020"/>
                          </a:solidFill>
                        </a:rPr>
                        <a:t>4,900 imgs → 3,307 usable (face-detected)</a:t>
                      </a:r>
                    </a:p>
                  </a:txBody>
                  <a:tcPr>
                    <a:solidFill>
                      <a:srgbClr val="FFFFFF"/>
                    </a:solidFill>
                  </a:tcPr>
                </a:tc>
                <a:tc>
                  <a:txBody>
                    <a:bodyPr/>
                    <a:lstStyle/>
                    <a:p>
                      <a:pPr algn="ctr"/>
                      <a:r>
                        <a:rPr sz="800" b="0">
                          <a:solidFill>
                            <a:srgbClr val="202020"/>
                          </a:solidFill>
                        </a:rPr>
                        <a:t>Lab posed, 70 subjek, 5 sudut</a:t>
                      </a:r>
                    </a:p>
                  </a:txBody>
                  <a:tcPr>
                    <a:solidFill>
                      <a:srgbClr val="FFFFFF"/>
                    </a:solidFill>
                  </a:tcPr>
                </a:tc>
              </a:tr>
              <a:tr h="320040">
                <a:tc>
                  <a:txBody>
                    <a:bodyPr/>
                    <a:lstStyle/>
                    <a:p>
                      <a:pPr algn="l"/>
                      <a:r>
                        <a:rPr sz="800" b="1">
                          <a:solidFill>
                            <a:srgbClr val="202020"/>
                          </a:solidFill>
                        </a:rPr>
                        <a:t>Primer</a:t>
                      </a:r>
                    </a:p>
                  </a:txBody>
                  <a:tcPr>
                    <a:solidFill>
                      <a:srgbClr val="E8F0FE"/>
                    </a:solidFill>
                  </a:tcPr>
                </a:tc>
                <a:tc>
                  <a:txBody>
                    <a:bodyPr/>
                    <a:lstStyle/>
                    <a:p>
                      <a:pPr algn="ctr"/>
                      <a:r>
                        <a:rPr sz="800" b="0">
                          <a:solidFill>
                            <a:srgbClr val="202020"/>
                          </a:solidFill>
                        </a:rPr>
                        <a:t>Akuisisi sendiri (sesi programming)</a:t>
                      </a:r>
                    </a:p>
                  </a:txBody>
                  <a:tcPr>
                    <a:solidFill>
                      <a:srgbClr val="E8F0FE"/>
                    </a:solidFill>
                  </a:tcPr>
                </a:tc>
                <a:tc>
                  <a:txBody>
                    <a:bodyPr/>
                    <a:lstStyle/>
                    <a:p>
                      <a:pPr algn="ctr"/>
                      <a:r>
                        <a:rPr sz="800" b="0">
                          <a:solidFill>
                            <a:srgbClr val="202020"/>
                          </a:solidFill>
                        </a:rPr>
                        <a:t>conf60: 6,795 imgs (5,287 train / 579 val / 929 test)</a:t>
                      </a:r>
                    </a:p>
                  </a:txBody>
                  <a:tcPr>
                    <a:solidFill>
                      <a:srgbClr val="E8F0FE"/>
                    </a:solidFill>
                  </a:tcPr>
                </a:tc>
                <a:tc>
                  <a:txBody>
                    <a:bodyPr/>
                    <a:lstStyle/>
                    <a:p>
                      <a:pPr algn="ctr"/>
                      <a:r>
                        <a:rPr sz="800" b="0">
                          <a:solidFill>
                            <a:srgbClr val="202020"/>
                          </a:solidFill>
                        </a:rPr>
                        <a:t>Natural expression, 37 subjek, front-only</a:t>
                      </a:r>
                    </a:p>
                  </a:txBody>
                  <a:tcPr>
                    <a:solidFill>
                      <a:srgbClr val="E8F0FE"/>
                    </a:solidFill>
                  </a:tcPr>
                </a:tc>
              </a:tr>
            </a:tbl>
          </a:graphicData>
        </a:graphic>
      </p:graphicFrame>
      <p:sp>
        <p:nvSpPr>
          <p:cNvPr id="7" name="TextBox 6"/>
          <p:cNvSpPr txBox="1"/>
          <p:nvPr/>
        </p:nvSpPr>
        <p:spPr>
          <a:xfrm>
            <a:off x="274320" y="4572000"/>
            <a:ext cx="8595360" cy="457200"/>
          </a:xfrm>
          <a:prstGeom prst="rect">
            <a:avLst/>
          </a:prstGeom>
          <a:solidFill>
            <a:srgbClr val="E6F4EA"/>
          </a:solidFill>
        </p:spPr>
        <p:txBody>
          <a:bodyPr wrap="square">
            <a:spAutoFit/>
          </a:bodyPr>
          <a:lstStyle/>
          <a:p>
            <a:pPr algn="l"/>
            <a:r>
              <a:rPr sz="850" b="0" i="1">
                <a:solidFill>
                  <a:srgbClr val="202020"/>
                </a:solidFill>
              </a:rPr>
              <a:t>Catatan: RAF-DB ~5.8% di-drop (15,339 → 14,449 usable). KDEF ~32% di-drop karena MediaPipe gagal deteksi wajah di sudut profil. Primer pakai versi conf60 (confidence ≥60%) yang sama dengan eksperimen utama.</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24B: Benchmark Tambahan — RAF-DB &amp; KDEF (arahan dosen)</a:t>
            </a:r>
          </a:p>
        </p:txBody>
      </p:sp>
      <p:sp>
        <p:nvSpPr>
          <p:cNvPr id="4" name="TextBox 3"/>
          <p:cNvSpPr txBox="1"/>
          <p:nvPr/>
        </p:nvSpPr>
        <p:spPr>
          <a:xfrm>
            <a:off x="274320" y="530352"/>
            <a:ext cx="8595360" cy="822960"/>
          </a:xfrm>
          <a:prstGeom prst="rect">
            <a:avLst/>
          </a:prstGeom>
          <a:solidFill>
            <a:srgbClr val="E8F0FE"/>
          </a:solidFill>
        </p:spPr>
        <p:txBody>
          <a:bodyPr wrap="square">
            <a:spAutoFit/>
          </a:bodyPr>
          <a:lstStyle/>
          <a:p>
            <a:pPr algn="l"/>
            <a:r>
              <a:rPr sz="1000" b="1" i="0">
                <a:solidFill>
                  <a:srgbClr val="1A73E8"/>
                </a:solidFill>
              </a:rPr>
              <a:t>Setup Dataset</a:t>
            </a:r>
          </a:p>
          <a:p>
            <a:pPr algn="l"/>
            <a:r>
              <a:rPr sz="850" b="0" i="0">
                <a:solidFill>
                  <a:srgbClr val="202020"/>
                </a:solidFill>
              </a:rPr>
              <a:t>• RAF-DB: 11,565 train / 2,884 test (official split) — in-the-wild 7 basic emotions</a:t>
            </a:r>
          </a:p>
          <a:p>
            <a:pPr algn="l"/>
            <a:r>
              <a:rPr sz="850" b="0" i="0">
                <a:solidFill>
                  <a:srgbClr val="202020"/>
                </a:solidFill>
              </a:rPr>
              <a:t>• KDEF: 2,630 train / 340 val / 337 test (subject-wise) — lab posed, 70 subjek, 5 angle</a:t>
            </a:r>
          </a:p>
          <a:p>
            <a:pPr algn="l"/>
            <a:r>
              <a:rPr sz="850" b="0" i="0">
                <a:solidFill>
                  <a:srgbClr val="202020"/>
                </a:solidFill>
              </a:rPr>
              <a:t>• Skema: Self train-test, B1 baseline, metrik Macro/Micro/Weighted F1</a:t>
            </a:r>
          </a:p>
        </p:txBody>
      </p:sp>
      <p:sp>
        <p:nvSpPr>
          <p:cNvPr id="5" name="TextBox 4"/>
          <p:cNvSpPr txBox="1"/>
          <p:nvPr/>
        </p:nvSpPr>
        <p:spPr>
          <a:xfrm>
            <a:off x="274320" y="1417320"/>
            <a:ext cx="4206240" cy="228600"/>
          </a:xfrm>
          <a:prstGeom prst="rect">
            <a:avLst/>
          </a:prstGeom>
          <a:noFill/>
        </p:spPr>
        <p:txBody>
          <a:bodyPr wrap="none">
            <a:spAutoFit/>
          </a:bodyPr>
          <a:lstStyle/>
          <a:p>
            <a:pPr algn="l"/>
            <a:r>
              <a:rPr sz="1000" b="1" i="0">
                <a:solidFill>
                  <a:srgbClr val="1A73E8"/>
                </a:solidFill>
              </a:rPr>
              <a:t>RAF-DB 7-Class</a:t>
            </a:r>
          </a:p>
        </p:txBody>
      </p:sp>
      <p:graphicFrame>
        <p:nvGraphicFramePr>
          <p:cNvPr id="6" name="Table 5"/>
          <p:cNvGraphicFramePr>
            <a:graphicFrameLocks noGrp="1"/>
          </p:cNvGraphicFramePr>
          <p:nvPr/>
        </p:nvGraphicFramePr>
        <p:xfrm>
          <a:off x="274320" y="1691640"/>
          <a:ext cx="4206238" cy="2103120"/>
        </p:xfrm>
        <a:graphic>
          <a:graphicData uri="http://schemas.openxmlformats.org/drawingml/2006/table">
            <a:tbl>
              <a:tblPr firstRow="1" bandRow="1"/>
              <a:tblGrid>
                <a:gridCol w="1514246"/>
                <a:gridCol w="672998"/>
                <a:gridCol w="672998"/>
                <a:gridCol w="672998"/>
                <a:gridCol w="672998"/>
              </a:tblGrid>
              <a:tr h="300445">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300445">
                <a:tc>
                  <a:txBody>
                    <a:bodyPr/>
                    <a:lstStyle/>
                    <a:p>
                      <a:pPr algn="l"/>
                      <a:r>
                        <a:rPr sz="800" b="1">
                          <a:solidFill>
                            <a:srgbClr val="202020"/>
                          </a:solidFill>
                        </a:rPr>
                        <a:t>CNN</a:t>
                      </a:r>
                    </a:p>
                  </a:txBody>
                  <a:tcPr>
                    <a:solidFill>
                      <a:srgbClr val="E8F0FE"/>
                    </a:solidFill>
                  </a:tcPr>
                </a:tc>
                <a:tc>
                  <a:txBody>
                    <a:bodyPr/>
                    <a:lstStyle/>
                    <a:p>
                      <a:pPr algn="ctr"/>
                      <a:r>
                        <a:rPr sz="800" b="0">
                          <a:solidFill>
                            <a:srgbClr val="202020"/>
                          </a:solidFill>
                        </a:rPr>
                        <a:t>0.729</a:t>
                      </a:r>
                    </a:p>
                  </a:txBody>
                  <a:tcPr>
                    <a:solidFill>
                      <a:srgbClr val="E8F0FE"/>
                    </a:solidFill>
                  </a:tcPr>
                </a:tc>
                <a:tc>
                  <a:txBody>
                    <a:bodyPr/>
                    <a:lstStyle/>
                    <a:p>
                      <a:pPr algn="ctr"/>
                      <a:r>
                        <a:rPr sz="800" b="0">
                          <a:solidFill>
                            <a:srgbClr val="202020"/>
                          </a:solidFill>
                        </a:rPr>
                        <a:t>0.815</a:t>
                      </a:r>
                    </a:p>
                  </a:txBody>
                  <a:tcPr>
                    <a:solidFill>
                      <a:srgbClr val="E8F0FE"/>
                    </a:solidFill>
                  </a:tcPr>
                </a:tc>
                <a:tc>
                  <a:txBody>
                    <a:bodyPr/>
                    <a:lstStyle/>
                    <a:p>
                      <a:pPr algn="ctr"/>
                      <a:r>
                        <a:rPr sz="800" b="0">
                          <a:solidFill>
                            <a:srgbClr val="202020"/>
                          </a:solidFill>
                        </a:rPr>
                        <a:t>0.813</a:t>
                      </a:r>
                    </a:p>
                  </a:txBody>
                  <a:tcPr>
                    <a:solidFill>
                      <a:srgbClr val="E8F0FE"/>
                    </a:solidFill>
                  </a:tcPr>
                </a:tc>
                <a:tc>
                  <a:txBody>
                    <a:bodyPr/>
                    <a:lstStyle/>
                    <a:p>
                      <a:pPr algn="ctr"/>
                      <a:r>
                        <a:rPr sz="800" b="0">
                          <a:solidFill>
                            <a:srgbClr val="202020"/>
                          </a:solidFill>
                        </a:rPr>
                        <a:t>0.815</a:t>
                      </a:r>
                    </a:p>
                  </a:txBody>
                  <a:tcPr>
                    <a:solidFill>
                      <a:srgbClr val="E8F0FE"/>
                    </a:solidFill>
                  </a:tcPr>
                </a:tc>
              </a:tr>
              <a:tr h="300445">
                <a:tc>
                  <a:txBody>
                    <a:bodyPr/>
                    <a:lstStyle/>
                    <a:p>
                      <a:pPr algn="l"/>
                      <a:r>
                        <a:rPr sz="800" b="1">
                          <a:solidFill>
                            <a:srgbClr val="202020"/>
                          </a:solidFill>
                        </a:rPr>
                        <a:t>FCNN</a:t>
                      </a:r>
                    </a:p>
                  </a:txBody>
                  <a:tcPr>
                    <a:solidFill>
                      <a:srgbClr val="FFFFFF"/>
                    </a:solidFill>
                  </a:tcPr>
                </a:tc>
                <a:tc>
                  <a:txBody>
                    <a:bodyPr/>
                    <a:lstStyle/>
                    <a:p>
                      <a:pPr algn="ctr"/>
                      <a:r>
                        <a:rPr sz="800" b="0">
                          <a:solidFill>
                            <a:srgbClr val="202020"/>
                          </a:solidFill>
                        </a:rPr>
                        <a:t>0.578</a:t>
                      </a:r>
                    </a:p>
                  </a:txBody>
                  <a:tcPr>
                    <a:solidFill>
                      <a:srgbClr val="FFFFFF"/>
                    </a:solidFill>
                  </a:tcPr>
                </a:tc>
                <a:tc>
                  <a:txBody>
                    <a:bodyPr/>
                    <a:lstStyle/>
                    <a:p>
                      <a:pPr algn="ctr"/>
                      <a:r>
                        <a:rPr sz="800" b="0">
                          <a:solidFill>
                            <a:srgbClr val="202020"/>
                          </a:solidFill>
                        </a:rPr>
                        <a:t>0.714</a:t>
                      </a:r>
                    </a:p>
                  </a:txBody>
                  <a:tcPr>
                    <a:solidFill>
                      <a:srgbClr val="FFFFFF"/>
                    </a:solidFill>
                  </a:tcPr>
                </a:tc>
                <a:tc>
                  <a:txBody>
                    <a:bodyPr/>
                    <a:lstStyle/>
                    <a:p>
                      <a:pPr algn="ctr"/>
                      <a:r>
                        <a:rPr sz="800" b="0">
                          <a:solidFill>
                            <a:srgbClr val="202020"/>
                          </a:solidFill>
                        </a:rPr>
                        <a:t>0.703</a:t>
                      </a:r>
                    </a:p>
                  </a:txBody>
                  <a:tcPr>
                    <a:solidFill>
                      <a:srgbClr val="FFFFFF"/>
                    </a:solidFill>
                  </a:tcPr>
                </a:tc>
                <a:tc>
                  <a:txBody>
                    <a:bodyPr/>
                    <a:lstStyle/>
                    <a:p>
                      <a:pPr algn="ctr"/>
                      <a:r>
                        <a:rPr sz="800" b="0">
                          <a:solidFill>
                            <a:srgbClr val="202020"/>
                          </a:solidFill>
                        </a:rPr>
                        <a:t>0.714</a:t>
                      </a:r>
                    </a:p>
                  </a:txBody>
                  <a:tcPr>
                    <a:solidFill>
                      <a:srgbClr val="FFFFFF"/>
                    </a:solidFill>
                  </a:tcPr>
                </a:tc>
              </a:tr>
              <a:tr h="300445">
                <a:tc>
                  <a:txBody>
                    <a:bodyPr/>
                    <a:lstStyle/>
                    <a:p>
                      <a:pPr algn="l"/>
                      <a:r>
                        <a:rPr sz="800" b="1">
                          <a:solidFill>
                            <a:srgbClr val="202020"/>
                          </a:solidFill>
                        </a:rPr>
                        <a:t>Intermediate</a:t>
                      </a:r>
                    </a:p>
                  </a:txBody>
                  <a:tcPr>
                    <a:solidFill>
                      <a:srgbClr val="E8F0FE"/>
                    </a:solidFill>
                  </a:tcPr>
                </a:tc>
                <a:tc>
                  <a:txBody>
                    <a:bodyPr/>
                    <a:lstStyle/>
                    <a:p>
                      <a:pPr algn="ctr"/>
                      <a:r>
                        <a:rPr sz="800" b="0">
                          <a:solidFill>
                            <a:srgbClr val="202020"/>
                          </a:solidFill>
                        </a:rPr>
                        <a:t>0.696</a:t>
                      </a:r>
                    </a:p>
                  </a:txBody>
                  <a:tcPr>
                    <a:solidFill>
                      <a:srgbClr val="E8F0FE"/>
                    </a:solidFill>
                  </a:tcPr>
                </a:tc>
                <a:tc>
                  <a:txBody>
                    <a:bodyPr/>
                    <a:lstStyle/>
                    <a:p>
                      <a:pPr algn="ctr"/>
                      <a:r>
                        <a:rPr sz="800" b="0">
                          <a:solidFill>
                            <a:srgbClr val="202020"/>
                          </a:solidFill>
                        </a:rPr>
                        <a:t>0.785</a:t>
                      </a:r>
                    </a:p>
                  </a:txBody>
                  <a:tcPr>
                    <a:solidFill>
                      <a:srgbClr val="E8F0FE"/>
                    </a:solidFill>
                  </a:tcPr>
                </a:tc>
                <a:tc>
                  <a:txBody>
                    <a:bodyPr/>
                    <a:lstStyle/>
                    <a:p>
                      <a:pPr algn="ctr"/>
                      <a:r>
                        <a:rPr sz="800" b="0">
                          <a:solidFill>
                            <a:srgbClr val="202020"/>
                          </a:solidFill>
                        </a:rPr>
                        <a:t>0.783</a:t>
                      </a:r>
                    </a:p>
                  </a:txBody>
                  <a:tcPr>
                    <a:solidFill>
                      <a:srgbClr val="E8F0FE"/>
                    </a:solidFill>
                  </a:tcPr>
                </a:tc>
                <a:tc>
                  <a:txBody>
                    <a:bodyPr/>
                    <a:lstStyle/>
                    <a:p>
                      <a:pPr algn="ctr"/>
                      <a:r>
                        <a:rPr sz="800" b="0">
                          <a:solidFill>
                            <a:srgbClr val="202020"/>
                          </a:solidFill>
                        </a:rPr>
                        <a:t>0.785</a:t>
                      </a:r>
                    </a:p>
                  </a:txBody>
                  <a:tcPr>
                    <a:solidFill>
                      <a:srgbClr val="E8F0FE"/>
                    </a:solidFill>
                  </a:tcPr>
                </a:tc>
              </a:tr>
              <a:tr h="300445">
                <a:tc>
                  <a:txBody>
                    <a:bodyPr/>
                    <a:lstStyle/>
                    <a:p>
                      <a:pPr algn="l"/>
                      <a:r>
                        <a:rPr sz="800" b="1">
                          <a:solidFill>
                            <a:srgbClr val="202020"/>
                          </a:solidFill>
                        </a:rPr>
                        <a:t>CNN TL</a:t>
                      </a:r>
                    </a:p>
                  </a:txBody>
                  <a:tcPr>
                    <a:solidFill>
                      <a:srgbClr val="FFFFFF"/>
                    </a:solidFill>
                  </a:tcPr>
                </a:tc>
                <a:tc>
                  <a:txBody>
                    <a:bodyPr/>
                    <a:lstStyle/>
                    <a:p>
                      <a:pPr algn="ctr"/>
                      <a:r>
                        <a:rPr sz="800" b="0">
                          <a:solidFill>
                            <a:srgbClr val="202020"/>
                          </a:solidFill>
                        </a:rPr>
                        <a:t>0.741</a:t>
                      </a:r>
                    </a:p>
                  </a:txBody>
                  <a:tcPr>
                    <a:solidFill>
                      <a:srgbClr val="FFFFFF"/>
                    </a:solidFill>
                  </a:tcPr>
                </a:tc>
                <a:tc>
                  <a:txBody>
                    <a:bodyPr/>
                    <a:lstStyle/>
                    <a:p>
                      <a:pPr algn="ctr"/>
                      <a:r>
                        <a:rPr sz="800" b="0">
                          <a:solidFill>
                            <a:srgbClr val="202020"/>
                          </a:solidFill>
                        </a:rPr>
                        <a:t>0.830</a:t>
                      </a:r>
                    </a:p>
                  </a:txBody>
                  <a:tcPr>
                    <a:solidFill>
                      <a:srgbClr val="FFFFFF"/>
                    </a:solidFill>
                  </a:tcPr>
                </a:tc>
                <a:tc>
                  <a:txBody>
                    <a:bodyPr/>
                    <a:lstStyle/>
                    <a:p>
                      <a:pPr algn="ctr"/>
                      <a:r>
                        <a:rPr sz="800" b="0">
                          <a:solidFill>
                            <a:srgbClr val="202020"/>
                          </a:solidFill>
                        </a:rPr>
                        <a:t>0.826</a:t>
                      </a:r>
                    </a:p>
                  </a:txBody>
                  <a:tcPr>
                    <a:solidFill>
                      <a:srgbClr val="FFFFFF"/>
                    </a:solidFill>
                  </a:tcPr>
                </a:tc>
                <a:tc>
                  <a:txBody>
                    <a:bodyPr/>
                    <a:lstStyle/>
                    <a:p>
                      <a:pPr algn="ctr"/>
                      <a:r>
                        <a:rPr sz="800" b="0">
                          <a:solidFill>
                            <a:srgbClr val="202020"/>
                          </a:solidFill>
                        </a:rPr>
                        <a:t>0.830</a:t>
                      </a:r>
                    </a:p>
                  </a:txBody>
                  <a:tcPr>
                    <a:solidFill>
                      <a:srgbClr val="FFFFFF"/>
                    </a:solidFill>
                  </a:tcPr>
                </a:tc>
              </a:tr>
              <a:tr h="300445">
                <a:tc>
                  <a:txBody>
                    <a:bodyPr/>
                    <a:lstStyle/>
                    <a:p>
                      <a:pPr algn="l"/>
                      <a:r>
                        <a:rPr sz="800" b="1">
                          <a:solidFill>
                            <a:srgbClr val="202020"/>
                          </a:solidFill>
                        </a:rPr>
                        <a:t>Intermediate TL</a:t>
                      </a:r>
                    </a:p>
                  </a:txBody>
                  <a:tcPr>
                    <a:solidFill>
                      <a:srgbClr val="E6F4EA"/>
                    </a:solidFill>
                  </a:tcPr>
                </a:tc>
                <a:tc>
                  <a:txBody>
                    <a:bodyPr/>
                    <a:lstStyle/>
                    <a:p>
                      <a:pPr algn="ctr"/>
                      <a:r>
                        <a:rPr sz="800" b="0">
                          <a:solidFill>
                            <a:srgbClr val="202020"/>
                          </a:solidFill>
                        </a:rPr>
                        <a:t>0.744</a:t>
                      </a:r>
                    </a:p>
                  </a:txBody>
                  <a:tcPr>
                    <a:solidFill>
                      <a:srgbClr val="E6F4EA"/>
                    </a:solidFill>
                  </a:tcPr>
                </a:tc>
                <a:tc>
                  <a:txBody>
                    <a:bodyPr/>
                    <a:lstStyle/>
                    <a:p>
                      <a:pPr algn="ctr"/>
                      <a:r>
                        <a:rPr sz="800" b="0">
                          <a:solidFill>
                            <a:srgbClr val="202020"/>
                          </a:solidFill>
                        </a:rPr>
                        <a:t>0.833</a:t>
                      </a:r>
                    </a:p>
                  </a:txBody>
                  <a:tcPr>
                    <a:solidFill>
                      <a:srgbClr val="E6F4EA"/>
                    </a:solidFill>
                  </a:tcPr>
                </a:tc>
                <a:tc>
                  <a:txBody>
                    <a:bodyPr/>
                    <a:lstStyle/>
                    <a:p>
                      <a:pPr algn="ctr"/>
                      <a:r>
                        <a:rPr sz="800" b="0">
                          <a:solidFill>
                            <a:srgbClr val="202020"/>
                          </a:solidFill>
                        </a:rPr>
                        <a:t>0.832</a:t>
                      </a:r>
                    </a:p>
                  </a:txBody>
                  <a:tcPr>
                    <a:solidFill>
                      <a:srgbClr val="E6F4EA"/>
                    </a:solidFill>
                  </a:tcPr>
                </a:tc>
                <a:tc>
                  <a:txBody>
                    <a:bodyPr/>
                    <a:lstStyle/>
                    <a:p>
                      <a:pPr algn="ctr"/>
                      <a:r>
                        <a:rPr sz="800" b="0">
                          <a:solidFill>
                            <a:srgbClr val="202020"/>
                          </a:solidFill>
                        </a:rPr>
                        <a:t>0.833</a:t>
                      </a:r>
                    </a:p>
                  </a:txBody>
                  <a:tcPr>
                    <a:solidFill>
                      <a:srgbClr val="E6F4EA"/>
                    </a:solidFill>
                  </a:tcPr>
                </a:tc>
              </a:tr>
              <a:tr h="300450">
                <a:tc>
                  <a:txBody>
                    <a:bodyPr/>
                    <a:lstStyle/>
                    <a:p>
                      <a:pPr algn="l"/>
                      <a:r>
                        <a:rPr sz="800" b="1">
                          <a:solidFill>
                            <a:srgbClr val="202020"/>
                          </a:solidFill>
                        </a:rPr>
                        <a:t>Late Fusion</a:t>
                      </a:r>
                    </a:p>
                  </a:txBody>
                  <a:tcPr>
                    <a:solidFill>
                      <a:srgbClr val="FFFFFF"/>
                    </a:solidFill>
                  </a:tcPr>
                </a:tc>
                <a:tc>
                  <a:txBody>
                    <a:bodyPr/>
                    <a:lstStyle/>
                    <a:p>
                      <a:pPr algn="ctr"/>
                      <a:r>
                        <a:rPr sz="800" b="0">
                          <a:solidFill>
                            <a:srgbClr val="202020"/>
                          </a:solidFill>
                        </a:rPr>
                        <a:t>0.719</a:t>
                      </a:r>
                    </a:p>
                  </a:txBody>
                  <a:tcPr>
                    <a:solidFill>
                      <a:srgbClr val="FFFFFF"/>
                    </a:solidFill>
                  </a:tcPr>
                </a:tc>
                <a:tc>
                  <a:txBody>
                    <a:bodyPr/>
                    <a:lstStyle/>
                    <a:p>
                      <a:pPr algn="ctr"/>
                      <a:r>
                        <a:rPr sz="800" b="0">
                          <a:solidFill>
                            <a:srgbClr val="202020"/>
                          </a:solidFill>
                        </a:rPr>
                        <a:t>0.809</a:t>
                      </a:r>
                    </a:p>
                  </a:txBody>
                  <a:tcPr>
                    <a:solidFill>
                      <a:srgbClr val="FFFFFF"/>
                    </a:solidFill>
                  </a:tcPr>
                </a:tc>
                <a:tc>
                  <a:txBody>
                    <a:bodyPr/>
                    <a:lstStyle/>
                    <a:p>
                      <a:pPr algn="ctr"/>
                      <a:r>
                        <a:rPr sz="800" b="0">
                          <a:solidFill>
                            <a:srgbClr val="202020"/>
                          </a:solidFill>
                        </a:rPr>
                        <a:t>0.805</a:t>
                      </a:r>
                    </a:p>
                  </a:txBody>
                  <a:tcPr>
                    <a:solidFill>
                      <a:srgbClr val="FFFFFF"/>
                    </a:solidFill>
                  </a:tcPr>
                </a:tc>
                <a:tc>
                  <a:txBody>
                    <a:bodyPr/>
                    <a:lstStyle/>
                    <a:p>
                      <a:pPr algn="ctr"/>
                      <a:r>
                        <a:rPr sz="800" b="0">
                          <a:solidFill>
                            <a:srgbClr val="202020"/>
                          </a:solidFill>
                        </a:rPr>
                        <a:t>0.809</a:t>
                      </a:r>
                    </a:p>
                  </a:txBody>
                  <a:tcPr>
                    <a:solidFill>
                      <a:srgbClr val="FFFFFF"/>
                    </a:solidFill>
                  </a:tcPr>
                </a:tc>
              </a:tr>
            </a:tbl>
          </a:graphicData>
        </a:graphic>
      </p:graphicFrame>
      <p:sp>
        <p:nvSpPr>
          <p:cNvPr id="7" name="TextBox 6"/>
          <p:cNvSpPr txBox="1"/>
          <p:nvPr/>
        </p:nvSpPr>
        <p:spPr>
          <a:xfrm>
            <a:off x="4617720" y="1417320"/>
            <a:ext cx="4206240" cy="228600"/>
          </a:xfrm>
          <a:prstGeom prst="rect">
            <a:avLst/>
          </a:prstGeom>
          <a:noFill/>
        </p:spPr>
        <p:txBody>
          <a:bodyPr wrap="none">
            <a:spAutoFit/>
          </a:bodyPr>
          <a:lstStyle/>
          <a:p>
            <a:pPr algn="l"/>
            <a:r>
              <a:rPr sz="1000" b="1" i="0">
                <a:solidFill>
                  <a:srgbClr val="1A73E8"/>
                </a:solidFill>
              </a:rPr>
              <a:t>RAF-DB 4-Class</a:t>
            </a:r>
          </a:p>
        </p:txBody>
      </p:sp>
      <p:graphicFrame>
        <p:nvGraphicFramePr>
          <p:cNvPr id="8" name="Table 7"/>
          <p:cNvGraphicFramePr>
            <a:graphicFrameLocks noGrp="1"/>
          </p:cNvGraphicFramePr>
          <p:nvPr/>
        </p:nvGraphicFramePr>
        <p:xfrm>
          <a:off x="4617720" y="1691640"/>
          <a:ext cx="4206238" cy="2103120"/>
        </p:xfrm>
        <a:graphic>
          <a:graphicData uri="http://schemas.openxmlformats.org/drawingml/2006/table">
            <a:tbl>
              <a:tblPr firstRow="1" bandRow="1"/>
              <a:tblGrid>
                <a:gridCol w="1514246"/>
                <a:gridCol w="672998"/>
                <a:gridCol w="672998"/>
                <a:gridCol w="672998"/>
                <a:gridCol w="672998"/>
              </a:tblGrid>
              <a:tr h="300445">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300445">
                <a:tc>
                  <a:txBody>
                    <a:bodyPr/>
                    <a:lstStyle/>
                    <a:p>
                      <a:pPr algn="l"/>
                      <a:r>
                        <a:rPr sz="800" b="1">
                          <a:solidFill>
                            <a:srgbClr val="202020"/>
                          </a:solidFill>
                        </a:rPr>
                        <a:t>CNN</a:t>
                      </a:r>
                    </a:p>
                  </a:txBody>
                  <a:tcPr>
                    <a:solidFill>
                      <a:srgbClr val="E8F0FE"/>
                    </a:solidFill>
                  </a:tcPr>
                </a:tc>
                <a:tc>
                  <a:txBody>
                    <a:bodyPr/>
                    <a:lstStyle/>
                    <a:p>
                      <a:pPr algn="ctr"/>
                      <a:r>
                        <a:rPr sz="800" b="0">
                          <a:solidFill>
                            <a:srgbClr val="202020"/>
                          </a:solidFill>
                        </a:rPr>
                        <a:t>0.808</a:t>
                      </a:r>
                    </a:p>
                  </a:txBody>
                  <a:tcPr>
                    <a:solidFill>
                      <a:srgbClr val="E8F0FE"/>
                    </a:solidFill>
                  </a:tcPr>
                </a:tc>
                <a:tc>
                  <a:txBody>
                    <a:bodyPr/>
                    <a:lstStyle/>
                    <a:p>
                      <a:pPr algn="ctr"/>
                      <a:r>
                        <a:rPr sz="800" b="0">
                          <a:solidFill>
                            <a:srgbClr val="202020"/>
                          </a:solidFill>
                        </a:rPr>
                        <a:t>0.830</a:t>
                      </a:r>
                    </a:p>
                  </a:txBody>
                  <a:tcPr>
                    <a:solidFill>
                      <a:srgbClr val="E8F0FE"/>
                    </a:solidFill>
                  </a:tcPr>
                </a:tc>
                <a:tc>
                  <a:txBody>
                    <a:bodyPr/>
                    <a:lstStyle/>
                    <a:p>
                      <a:pPr algn="ctr"/>
                      <a:r>
                        <a:rPr sz="800" b="0">
                          <a:solidFill>
                            <a:srgbClr val="202020"/>
                          </a:solidFill>
                        </a:rPr>
                        <a:t>0.830</a:t>
                      </a:r>
                    </a:p>
                  </a:txBody>
                  <a:tcPr>
                    <a:solidFill>
                      <a:srgbClr val="E8F0FE"/>
                    </a:solidFill>
                  </a:tcPr>
                </a:tc>
                <a:tc>
                  <a:txBody>
                    <a:bodyPr/>
                    <a:lstStyle/>
                    <a:p>
                      <a:pPr algn="ctr"/>
                      <a:r>
                        <a:rPr sz="800" b="0">
                          <a:solidFill>
                            <a:srgbClr val="202020"/>
                          </a:solidFill>
                        </a:rPr>
                        <a:t>0.830</a:t>
                      </a:r>
                    </a:p>
                  </a:txBody>
                  <a:tcPr>
                    <a:solidFill>
                      <a:srgbClr val="E8F0FE"/>
                    </a:solidFill>
                  </a:tcPr>
                </a:tc>
              </a:tr>
              <a:tr h="300445">
                <a:tc>
                  <a:txBody>
                    <a:bodyPr/>
                    <a:lstStyle/>
                    <a:p>
                      <a:pPr algn="l"/>
                      <a:r>
                        <a:rPr sz="800" b="1">
                          <a:solidFill>
                            <a:srgbClr val="202020"/>
                          </a:solidFill>
                        </a:rPr>
                        <a:t>FCNN</a:t>
                      </a:r>
                    </a:p>
                  </a:txBody>
                  <a:tcPr>
                    <a:solidFill>
                      <a:srgbClr val="FFFFFF"/>
                    </a:solidFill>
                  </a:tcPr>
                </a:tc>
                <a:tc>
                  <a:txBody>
                    <a:bodyPr/>
                    <a:lstStyle/>
                    <a:p>
                      <a:pPr algn="ctr"/>
                      <a:r>
                        <a:rPr sz="800" b="0">
                          <a:solidFill>
                            <a:srgbClr val="202020"/>
                          </a:solidFill>
                        </a:rPr>
                        <a:t>0.694</a:t>
                      </a:r>
                    </a:p>
                  </a:txBody>
                  <a:tcPr>
                    <a:solidFill>
                      <a:srgbClr val="FFFFFF"/>
                    </a:solidFill>
                  </a:tcPr>
                </a:tc>
                <a:tc>
                  <a:txBody>
                    <a:bodyPr/>
                    <a:lstStyle/>
                    <a:p>
                      <a:pPr algn="ctr"/>
                      <a:r>
                        <a:rPr sz="800" b="0">
                          <a:solidFill>
                            <a:srgbClr val="202020"/>
                          </a:solidFill>
                        </a:rPr>
                        <a:t>0.728</a:t>
                      </a:r>
                    </a:p>
                  </a:txBody>
                  <a:tcPr>
                    <a:solidFill>
                      <a:srgbClr val="FFFFFF"/>
                    </a:solidFill>
                  </a:tcPr>
                </a:tc>
                <a:tc>
                  <a:txBody>
                    <a:bodyPr/>
                    <a:lstStyle/>
                    <a:p>
                      <a:pPr algn="ctr"/>
                      <a:r>
                        <a:rPr sz="800" b="0">
                          <a:solidFill>
                            <a:srgbClr val="202020"/>
                          </a:solidFill>
                        </a:rPr>
                        <a:t>0.729</a:t>
                      </a:r>
                    </a:p>
                  </a:txBody>
                  <a:tcPr>
                    <a:solidFill>
                      <a:srgbClr val="FFFFFF"/>
                    </a:solidFill>
                  </a:tcPr>
                </a:tc>
                <a:tc>
                  <a:txBody>
                    <a:bodyPr/>
                    <a:lstStyle/>
                    <a:p>
                      <a:pPr algn="ctr"/>
                      <a:r>
                        <a:rPr sz="800" b="0">
                          <a:solidFill>
                            <a:srgbClr val="202020"/>
                          </a:solidFill>
                        </a:rPr>
                        <a:t>0.728</a:t>
                      </a:r>
                    </a:p>
                  </a:txBody>
                  <a:tcPr>
                    <a:solidFill>
                      <a:srgbClr val="FFFFFF"/>
                    </a:solidFill>
                  </a:tcPr>
                </a:tc>
              </a:tr>
              <a:tr h="300445">
                <a:tc>
                  <a:txBody>
                    <a:bodyPr/>
                    <a:lstStyle/>
                    <a:p>
                      <a:pPr algn="l"/>
                      <a:r>
                        <a:rPr sz="800" b="1">
                          <a:solidFill>
                            <a:srgbClr val="202020"/>
                          </a:solidFill>
                        </a:rPr>
                        <a:t>Intermediate</a:t>
                      </a:r>
                    </a:p>
                  </a:txBody>
                  <a:tcPr>
                    <a:solidFill>
                      <a:srgbClr val="E8F0FE"/>
                    </a:solidFill>
                  </a:tcPr>
                </a:tc>
                <a:tc>
                  <a:txBody>
                    <a:bodyPr/>
                    <a:lstStyle/>
                    <a:p>
                      <a:pPr algn="ctr"/>
                      <a:r>
                        <a:rPr sz="800" b="0">
                          <a:solidFill>
                            <a:srgbClr val="202020"/>
                          </a:solidFill>
                        </a:rPr>
                        <a:t>0.792</a:t>
                      </a:r>
                    </a:p>
                  </a:txBody>
                  <a:tcPr>
                    <a:solidFill>
                      <a:srgbClr val="E8F0FE"/>
                    </a:solidFill>
                  </a:tcPr>
                </a:tc>
                <a:tc>
                  <a:txBody>
                    <a:bodyPr/>
                    <a:lstStyle/>
                    <a:p>
                      <a:pPr algn="ctr"/>
                      <a:r>
                        <a:rPr sz="800" b="0">
                          <a:solidFill>
                            <a:srgbClr val="202020"/>
                          </a:solidFill>
                        </a:rPr>
                        <a:t>0.818</a:t>
                      </a:r>
                    </a:p>
                  </a:txBody>
                  <a:tcPr>
                    <a:solidFill>
                      <a:srgbClr val="E8F0FE"/>
                    </a:solidFill>
                  </a:tcPr>
                </a:tc>
                <a:tc>
                  <a:txBody>
                    <a:bodyPr/>
                    <a:lstStyle/>
                    <a:p>
                      <a:pPr algn="ctr"/>
                      <a:r>
                        <a:rPr sz="800" b="0">
                          <a:solidFill>
                            <a:srgbClr val="202020"/>
                          </a:solidFill>
                        </a:rPr>
                        <a:t>0.818</a:t>
                      </a:r>
                    </a:p>
                  </a:txBody>
                  <a:tcPr>
                    <a:solidFill>
                      <a:srgbClr val="E8F0FE"/>
                    </a:solidFill>
                  </a:tcPr>
                </a:tc>
                <a:tc>
                  <a:txBody>
                    <a:bodyPr/>
                    <a:lstStyle/>
                    <a:p>
                      <a:pPr algn="ctr"/>
                      <a:r>
                        <a:rPr sz="800" b="0">
                          <a:solidFill>
                            <a:srgbClr val="202020"/>
                          </a:solidFill>
                        </a:rPr>
                        <a:t>0.818</a:t>
                      </a:r>
                    </a:p>
                  </a:txBody>
                  <a:tcPr>
                    <a:solidFill>
                      <a:srgbClr val="E8F0FE"/>
                    </a:solidFill>
                  </a:tcPr>
                </a:tc>
              </a:tr>
              <a:tr h="300445">
                <a:tc>
                  <a:txBody>
                    <a:bodyPr/>
                    <a:lstStyle/>
                    <a:p>
                      <a:pPr algn="l"/>
                      <a:r>
                        <a:rPr sz="800" b="1">
                          <a:solidFill>
                            <a:srgbClr val="202020"/>
                          </a:solidFill>
                        </a:rPr>
                        <a:t>CNN TL</a:t>
                      </a:r>
                    </a:p>
                  </a:txBody>
                  <a:tcPr>
                    <a:solidFill>
                      <a:srgbClr val="FFFFFF"/>
                    </a:solidFill>
                  </a:tcPr>
                </a:tc>
                <a:tc>
                  <a:txBody>
                    <a:bodyPr/>
                    <a:lstStyle/>
                    <a:p>
                      <a:pPr algn="ctr"/>
                      <a:r>
                        <a:rPr sz="800" b="0">
                          <a:solidFill>
                            <a:srgbClr val="202020"/>
                          </a:solidFill>
                        </a:rPr>
                        <a:t>0.827</a:t>
                      </a:r>
                    </a:p>
                  </a:txBody>
                  <a:tcPr>
                    <a:solidFill>
                      <a:srgbClr val="FFFFFF"/>
                    </a:solidFill>
                  </a:tcPr>
                </a:tc>
                <a:tc>
                  <a:txBody>
                    <a:bodyPr/>
                    <a:lstStyle/>
                    <a:p>
                      <a:pPr algn="ctr"/>
                      <a:r>
                        <a:rPr sz="800" b="0">
                          <a:solidFill>
                            <a:srgbClr val="202020"/>
                          </a:solidFill>
                        </a:rPr>
                        <a:t>0.845</a:t>
                      </a:r>
                    </a:p>
                  </a:txBody>
                  <a:tcPr>
                    <a:solidFill>
                      <a:srgbClr val="FFFFFF"/>
                    </a:solidFill>
                  </a:tcPr>
                </a:tc>
                <a:tc>
                  <a:txBody>
                    <a:bodyPr/>
                    <a:lstStyle/>
                    <a:p>
                      <a:pPr algn="ctr"/>
                      <a:r>
                        <a:rPr sz="800" b="0">
                          <a:solidFill>
                            <a:srgbClr val="202020"/>
                          </a:solidFill>
                        </a:rPr>
                        <a:t>0.846</a:t>
                      </a:r>
                    </a:p>
                  </a:txBody>
                  <a:tcPr>
                    <a:solidFill>
                      <a:srgbClr val="FFFFFF"/>
                    </a:solidFill>
                  </a:tcPr>
                </a:tc>
                <a:tc>
                  <a:txBody>
                    <a:bodyPr/>
                    <a:lstStyle/>
                    <a:p>
                      <a:pPr algn="ctr"/>
                      <a:r>
                        <a:rPr sz="800" b="0">
                          <a:solidFill>
                            <a:srgbClr val="202020"/>
                          </a:solidFill>
                        </a:rPr>
                        <a:t>0.845</a:t>
                      </a:r>
                    </a:p>
                  </a:txBody>
                  <a:tcPr>
                    <a:solidFill>
                      <a:srgbClr val="FFFFFF"/>
                    </a:solidFill>
                  </a:tcPr>
                </a:tc>
              </a:tr>
              <a:tr h="300445">
                <a:tc>
                  <a:txBody>
                    <a:bodyPr/>
                    <a:lstStyle/>
                    <a:p>
                      <a:pPr algn="l"/>
                      <a:r>
                        <a:rPr sz="800" b="1">
                          <a:solidFill>
                            <a:srgbClr val="202020"/>
                          </a:solidFill>
                        </a:rPr>
                        <a:t>Intermediate TL</a:t>
                      </a:r>
                    </a:p>
                  </a:txBody>
                  <a:tcPr>
                    <a:solidFill>
                      <a:srgbClr val="E6F4EA"/>
                    </a:solidFill>
                  </a:tcPr>
                </a:tc>
                <a:tc>
                  <a:txBody>
                    <a:bodyPr/>
                    <a:lstStyle/>
                    <a:p>
                      <a:pPr algn="ctr"/>
                      <a:r>
                        <a:rPr sz="800" b="0">
                          <a:solidFill>
                            <a:srgbClr val="202020"/>
                          </a:solidFill>
                        </a:rPr>
                        <a:t>0.836</a:t>
                      </a:r>
                    </a:p>
                  </a:txBody>
                  <a:tcPr>
                    <a:solidFill>
                      <a:srgbClr val="E6F4EA"/>
                    </a:solidFill>
                  </a:tcPr>
                </a:tc>
                <a:tc>
                  <a:txBody>
                    <a:bodyPr/>
                    <a:lstStyle/>
                    <a:p>
                      <a:pPr algn="ctr"/>
                      <a:r>
                        <a:rPr sz="800" b="0">
                          <a:solidFill>
                            <a:srgbClr val="202020"/>
                          </a:solidFill>
                        </a:rPr>
                        <a:t>0.853</a:t>
                      </a:r>
                    </a:p>
                  </a:txBody>
                  <a:tcPr>
                    <a:solidFill>
                      <a:srgbClr val="E6F4EA"/>
                    </a:solidFill>
                  </a:tcPr>
                </a:tc>
                <a:tc>
                  <a:txBody>
                    <a:bodyPr/>
                    <a:lstStyle/>
                    <a:p>
                      <a:pPr algn="ctr"/>
                      <a:r>
                        <a:rPr sz="800" b="0">
                          <a:solidFill>
                            <a:srgbClr val="202020"/>
                          </a:solidFill>
                        </a:rPr>
                        <a:t>0.855</a:t>
                      </a:r>
                    </a:p>
                  </a:txBody>
                  <a:tcPr>
                    <a:solidFill>
                      <a:srgbClr val="E6F4EA"/>
                    </a:solidFill>
                  </a:tcPr>
                </a:tc>
                <a:tc>
                  <a:txBody>
                    <a:bodyPr/>
                    <a:lstStyle/>
                    <a:p>
                      <a:pPr algn="ctr"/>
                      <a:r>
                        <a:rPr sz="800" b="0">
                          <a:solidFill>
                            <a:srgbClr val="202020"/>
                          </a:solidFill>
                        </a:rPr>
                        <a:t>0.853</a:t>
                      </a:r>
                    </a:p>
                  </a:txBody>
                  <a:tcPr>
                    <a:solidFill>
                      <a:srgbClr val="E6F4EA"/>
                    </a:solidFill>
                  </a:tcPr>
                </a:tc>
              </a:tr>
              <a:tr h="300450">
                <a:tc>
                  <a:txBody>
                    <a:bodyPr/>
                    <a:lstStyle/>
                    <a:p>
                      <a:pPr algn="l"/>
                      <a:r>
                        <a:rPr sz="800" b="1">
                          <a:solidFill>
                            <a:srgbClr val="202020"/>
                          </a:solidFill>
                        </a:rPr>
                        <a:t>Late Fusion</a:t>
                      </a:r>
                    </a:p>
                  </a:txBody>
                  <a:tcPr>
                    <a:solidFill>
                      <a:srgbClr val="FFFFFF"/>
                    </a:solidFill>
                  </a:tcPr>
                </a:tc>
                <a:tc>
                  <a:txBody>
                    <a:bodyPr/>
                    <a:lstStyle/>
                    <a:p>
                      <a:pPr algn="ctr"/>
                      <a:r>
                        <a:rPr sz="800" b="0">
                          <a:solidFill>
                            <a:srgbClr val="202020"/>
                          </a:solidFill>
                        </a:rPr>
                        <a:t>0.819</a:t>
                      </a:r>
                    </a:p>
                  </a:txBody>
                  <a:tcPr>
                    <a:solidFill>
                      <a:srgbClr val="FFFFFF"/>
                    </a:solidFill>
                  </a:tcPr>
                </a:tc>
                <a:tc>
                  <a:txBody>
                    <a:bodyPr/>
                    <a:lstStyle/>
                    <a:p>
                      <a:pPr algn="ctr"/>
                      <a:r>
                        <a:rPr sz="800" b="0">
                          <a:solidFill>
                            <a:srgbClr val="202020"/>
                          </a:solidFill>
                        </a:rPr>
                        <a:t>0.842</a:t>
                      </a:r>
                    </a:p>
                  </a:txBody>
                  <a:tcPr>
                    <a:solidFill>
                      <a:srgbClr val="FFFFFF"/>
                    </a:solidFill>
                  </a:tcPr>
                </a:tc>
                <a:tc>
                  <a:txBody>
                    <a:bodyPr/>
                    <a:lstStyle/>
                    <a:p>
                      <a:pPr algn="ctr"/>
                      <a:r>
                        <a:rPr sz="800" b="0">
                          <a:solidFill>
                            <a:srgbClr val="202020"/>
                          </a:solidFill>
                        </a:rPr>
                        <a:t>0.841</a:t>
                      </a:r>
                    </a:p>
                  </a:txBody>
                  <a:tcPr>
                    <a:solidFill>
                      <a:srgbClr val="FFFFFF"/>
                    </a:solidFill>
                  </a:tcPr>
                </a:tc>
                <a:tc>
                  <a:txBody>
                    <a:bodyPr/>
                    <a:lstStyle/>
                    <a:p>
                      <a:pPr algn="ctr"/>
                      <a:r>
                        <a:rPr sz="800" b="0">
                          <a:solidFill>
                            <a:srgbClr val="202020"/>
                          </a:solidFill>
                        </a:rPr>
                        <a:t>0.842</a:t>
                      </a:r>
                    </a:p>
                  </a:txBody>
                  <a:tcPr>
                    <a:solidFill>
                      <a:srgbClr val="FFFFFF"/>
                    </a:solidFill>
                  </a:tcPr>
                </a:tc>
              </a:tr>
            </a:tbl>
          </a:graphicData>
        </a:graphic>
      </p:graphicFrame>
      <p:sp>
        <p:nvSpPr>
          <p:cNvPr id="9" name="TextBox 8"/>
          <p:cNvSpPr txBox="1"/>
          <p:nvPr/>
        </p:nvSpPr>
        <p:spPr>
          <a:xfrm>
            <a:off x="274320" y="3931920"/>
            <a:ext cx="8595360" cy="822960"/>
          </a:xfrm>
          <a:prstGeom prst="rect">
            <a:avLst/>
          </a:prstGeom>
          <a:solidFill>
            <a:srgbClr val="E6F4EA"/>
          </a:solidFill>
        </p:spPr>
        <p:txBody>
          <a:bodyPr wrap="square">
            <a:spAutoFit/>
          </a:bodyPr>
          <a:lstStyle/>
          <a:p>
            <a:pPr algn="l"/>
            <a:r>
              <a:rPr sz="1000" b="1" i="0">
                <a:solidFill>
                  <a:srgbClr val="0F9D58"/>
                </a:solidFill>
              </a:rPr>
              <a:t>Best RAF-DB: Intermediate TL — 7c Macro F1 = 0.744 | 4c Macro F1 = 0.836</a:t>
            </a:r>
          </a:p>
          <a:p>
            <a:pPr algn="l"/>
            <a:r>
              <a:rPr sz="900" b="0" i="0">
                <a:solidFill>
                  <a:srgbClr val="202020"/>
                </a:solidFill>
              </a:rPr>
              <a:t>Pola konsisten: Intermediate Fusion + Transfer Learning mengungguli semua arsitektur lain.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24B (lanjutan): Hasil KDEF &amp; Progress Eksperimen</a:t>
            </a:r>
          </a:p>
        </p:txBody>
      </p:sp>
      <p:sp>
        <p:nvSpPr>
          <p:cNvPr id="4" name="TextBox 3"/>
          <p:cNvSpPr txBox="1"/>
          <p:nvPr/>
        </p:nvSpPr>
        <p:spPr>
          <a:xfrm>
            <a:off x="274320" y="548640"/>
            <a:ext cx="4206240" cy="228600"/>
          </a:xfrm>
          <a:prstGeom prst="rect">
            <a:avLst/>
          </a:prstGeom>
          <a:noFill/>
        </p:spPr>
        <p:txBody>
          <a:bodyPr wrap="none">
            <a:spAutoFit/>
          </a:bodyPr>
          <a:lstStyle/>
          <a:p>
            <a:pPr algn="l"/>
            <a:r>
              <a:rPr sz="1000" b="1" i="0">
                <a:solidFill>
                  <a:srgbClr val="1A73E8"/>
                </a:solidFill>
              </a:rPr>
              <a:t>KDEF 7-Class (2,630 train / 337 test)</a:t>
            </a:r>
          </a:p>
        </p:txBody>
      </p:sp>
      <p:graphicFrame>
        <p:nvGraphicFramePr>
          <p:cNvPr id="5" name="Table 4"/>
          <p:cNvGraphicFramePr>
            <a:graphicFrameLocks noGrp="1"/>
          </p:cNvGraphicFramePr>
          <p:nvPr/>
        </p:nvGraphicFramePr>
        <p:xfrm>
          <a:off x="274320" y="822960"/>
          <a:ext cx="4206238" cy="2103120"/>
        </p:xfrm>
        <a:graphic>
          <a:graphicData uri="http://schemas.openxmlformats.org/drawingml/2006/table">
            <a:tbl>
              <a:tblPr firstRow="1" bandRow="1"/>
              <a:tblGrid>
                <a:gridCol w="1514246"/>
                <a:gridCol w="672998"/>
                <a:gridCol w="672998"/>
                <a:gridCol w="672998"/>
                <a:gridCol w="672998"/>
              </a:tblGrid>
              <a:tr h="300445">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300445">
                <a:tc>
                  <a:txBody>
                    <a:bodyPr/>
                    <a:lstStyle/>
                    <a:p>
                      <a:pPr algn="l"/>
                      <a:r>
                        <a:rPr sz="800" b="1">
                          <a:solidFill>
                            <a:srgbClr val="202020"/>
                          </a:solidFill>
                        </a:rPr>
                        <a:t>CNN</a:t>
                      </a:r>
                    </a:p>
                  </a:txBody>
                  <a:tcPr>
                    <a:solidFill>
                      <a:srgbClr val="E8F0FE"/>
                    </a:solidFill>
                  </a:tcPr>
                </a:tc>
                <a:tc>
                  <a:txBody>
                    <a:bodyPr/>
                    <a:lstStyle/>
                    <a:p>
                      <a:pPr algn="ctr"/>
                      <a:r>
                        <a:rPr sz="800" b="0">
                          <a:solidFill>
                            <a:srgbClr val="202020"/>
                          </a:solidFill>
                        </a:rPr>
                        <a:t>0.798</a:t>
                      </a:r>
                    </a:p>
                  </a:txBody>
                  <a:tcPr>
                    <a:solidFill>
                      <a:srgbClr val="E8F0FE"/>
                    </a:solidFill>
                  </a:tcPr>
                </a:tc>
                <a:tc>
                  <a:txBody>
                    <a:bodyPr/>
                    <a:lstStyle/>
                    <a:p>
                      <a:pPr algn="ctr"/>
                      <a:r>
                        <a:rPr sz="800" b="0">
                          <a:solidFill>
                            <a:srgbClr val="202020"/>
                          </a:solidFill>
                        </a:rPr>
                        <a:t>0.801</a:t>
                      </a:r>
                    </a:p>
                  </a:txBody>
                  <a:tcPr>
                    <a:solidFill>
                      <a:srgbClr val="E8F0FE"/>
                    </a:solidFill>
                  </a:tcPr>
                </a:tc>
                <a:tc>
                  <a:txBody>
                    <a:bodyPr/>
                    <a:lstStyle/>
                    <a:p>
                      <a:pPr algn="ctr"/>
                      <a:r>
                        <a:rPr sz="800" b="0">
                          <a:solidFill>
                            <a:srgbClr val="202020"/>
                          </a:solidFill>
                        </a:rPr>
                        <a:t>0.798</a:t>
                      </a:r>
                    </a:p>
                  </a:txBody>
                  <a:tcPr>
                    <a:solidFill>
                      <a:srgbClr val="E8F0FE"/>
                    </a:solidFill>
                  </a:tcPr>
                </a:tc>
                <a:tc>
                  <a:txBody>
                    <a:bodyPr/>
                    <a:lstStyle/>
                    <a:p>
                      <a:pPr algn="ctr"/>
                      <a:r>
                        <a:rPr sz="800" b="0">
                          <a:solidFill>
                            <a:srgbClr val="202020"/>
                          </a:solidFill>
                        </a:rPr>
                        <a:t>0.801</a:t>
                      </a:r>
                    </a:p>
                  </a:txBody>
                  <a:tcPr>
                    <a:solidFill>
                      <a:srgbClr val="E8F0FE"/>
                    </a:solidFill>
                  </a:tcPr>
                </a:tc>
              </a:tr>
              <a:tr h="300445">
                <a:tc>
                  <a:txBody>
                    <a:bodyPr/>
                    <a:lstStyle/>
                    <a:p>
                      <a:pPr algn="l"/>
                      <a:r>
                        <a:rPr sz="800" b="1">
                          <a:solidFill>
                            <a:srgbClr val="202020"/>
                          </a:solidFill>
                        </a:rPr>
                        <a:t>FCNN</a:t>
                      </a:r>
                    </a:p>
                  </a:txBody>
                  <a:tcPr>
                    <a:solidFill>
                      <a:srgbClr val="FFFFFF"/>
                    </a:solidFill>
                  </a:tcPr>
                </a:tc>
                <a:tc>
                  <a:txBody>
                    <a:bodyPr/>
                    <a:lstStyle/>
                    <a:p>
                      <a:pPr algn="ctr"/>
                      <a:r>
                        <a:rPr sz="800" b="0">
                          <a:solidFill>
                            <a:srgbClr val="202020"/>
                          </a:solidFill>
                        </a:rPr>
                        <a:t>0.666</a:t>
                      </a:r>
                    </a:p>
                  </a:txBody>
                  <a:tcPr>
                    <a:solidFill>
                      <a:srgbClr val="FFFFFF"/>
                    </a:solidFill>
                  </a:tcPr>
                </a:tc>
                <a:tc>
                  <a:txBody>
                    <a:bodyPr/>
                    <a:lstStyle/>
                    <a:p>
                      <a:pPr algn="ctr"/>
                      <a:r>
                        <a:rPr sz="800" b="0">
                          <a:solidFill>
                            <a:srgbClr val="202020"/>
                          </a:solidFill>
                        </a:rPr>
                        <a:t>0.680</a:t>
                      </a:r>
                    </a:p>
                  </a:txBody>
                  <a:tcPr>
                    <a:solidFill>
                      <a:srgbClr val="FFFFFF"/>
                    </a:solidFill>
                  </a:tcPr>
                </a:tc>
                <a:tc>
                  <a:txBody>
                    <a:bodyPr/>
                    <a:lstStyle/>
                    <a:p>
                      <a:pPr algn="ctr"/>
                      <a:r>
                        <a:rPr sz="800" b="0">
                          <a:solidFill>
                            <a:srgbClr val="202020"/>
                          </a:solidFill>
                        </a:rPr>
                        <a:t>0.663</a:t>
                      </a:r>
                    </a:p>
                  </a:txBody>
                  <a:tcPr>
                    <a:solidFill>
                      <a:srgbClr val="FFFFFF"/>
                    </a:solidFill>
                  </a:tcPr>
                </a:tc>
                <a:tc>
                  <a:txBody>
                    <a:bodyPr/>
                    <a:lstStyle/>
                    <a:p>
                      <a:pPr algn="ctr"/>
                      <a:r>
                        <a:rPr sz="800" b="0">
                          <a:solidFill>
                            <a:srgbClr val="202020"/>
                          </a:solidFill>
                        </a:rPr>
                        <a:t>0.680</a:t>
                      </a:r>
                    </a:p>
                  </a:txBody>
                  <a:tcPr>
                    <a:solidFill>
                      <a:srgbClr val="FFFFFF"/>
                    </a:solidFill>
                  </a:tcPr>
                </a:tc>
              </a:tr>
              <a:tr h="300445">
                <a:tc>
                  <a:txBody>
                    <a:bodyPr/>
                    <a:lstStyle/>
                    <a:p>
                      <a:pPr algn="l"/>
                      <a:r>
                        <a:rPr sz="800" b="1">
                          <a:solidFill>
                            <a:srgbClr val="202020"/>
                          </a:solidFill>
                        </a:rPr>
                        <a:t>Intermediate</a:t>
                      </a:r>
                    </a:p>
                  </a:txBody>
                  <a:tcPr>
                    <a:solidFill>
                      <a:srgbClr val="E8F0FE"/>
                    </a:solidFill>
                  </a:tcPr>
                </a:tc>
                <a:tc>
                  <a:txBody>
                    <a:bodyPr/>
                    <a:lstStyle/>
                    <a:p>
                      <a:pPr algn="ctr"/>
                      <a:r>
                        <a:rPr sz="800" b="0">
                          <a:solidFill>
                            <a:srgbClr val="202020"/>
                          </a:solidFill>
                        </a:rPr>
                        <a:t>0.671</a:t>
                      </a:r>
                    </a:p>
                  </a:txBody>
                  <a:tcPr>
                    <a:solidFill>
                      <a:srgbClr val="E8F0FE"/>
                    </a:solidFill>
                  </a:tcPr>
                </a:tc>
                <a:tc>
                  <a:txBody>
                    <a:bodyPr/>
                    <a:lstStyle/>
                    <a:p>
                      <a:pPr algn="ctr"/>
                      <a:r>
                        <a:rPr sz="800" b="0">
                          <a:solidFill>
                            <a:srgbClr val="202020"/>
                          </a:solidFill>
                        </a:rPr>
                        <a:t>0.674</a:t>
                      </a:r>
                    </a:p>
                  </a:txBody>
                  <a:tcPr>
                    <a:solidFill>
                      <a:srgbClr val="E8F0FE"/>
                    </a:solidFill>
                  </a:tcPr>
                </a:tc>
                <a:tc>
                  <a:txBody>
                    <a:bodyPr/>
                    <a:lstStyle/>
                    <a:p>
                      <a:pPr algn="ctr"/>
                      <a:r>
                        <a:rPr sz="800" b="0">
                          <a:solidFill>
                            <a:srgbClr val="202020"/>
                          </a:solidFill>
                        </a:rPr>
                        <a:t>0.668</a:t>
                      </a:r>
                    </a:p>
                  </a:txBody>
                  <a:tcPr>
                    <a:solidFill>
                      <a:srgbClr val="E8F0FE"/>
                    </a:solidFill>
                  </a:tcPr>
                </a:tc>
                <a:tc>
                  <a:txBody>
                    <a:bodyPr/>
                    <a:lstStyle/>
                    <a:p>
                      <a:pPr algn="ctr"/>
                      <a:r>
                        <a:rPr sz="800" b="0">
                          <a:solidFill>
                            <a:srgbClr val="202020"/>
                          </a:solidFill>
                        </a:rPr>
                        <a:t>0.674</a:t>
                      </a:r>
                    </a:p>
                  </a:txBody>
                  <a:tcPr>
                    <a:solidFill>
                      <a:srgbClr val="E8F0FE"/>
                    </a:solidFill>
                  </a:tcPr>
                </a:tc>
              </a:tr>
              <a:tr h="300445">
                <a:tc>
                  <a:txBody>
                    <a:bodyPr/>
                    <a:lstStyle/>
                    <a:p>
                      <a:pPr algn="l"/>
                      <a:r>
                        <a:rPr sz="800" b="1">
                          <a:solidFill>
                            <a:srgbClr val="202020"/>
                          </a:solidFill>
                        </a:rPr>
                        <a:t>CNN TL</a:t>
                      </a:r>
                    </a:p>
                  </a:txBody>
                  <a:tcPr>
                    <a:solidFill>
                      <a:srgbClr val="FFFFFF"/>
                    </a:solidFill>
                  </a:tcPr>
                </a:tc>
                <a:tc>
                  <a:txBody>
                    <a:bodyPr/>
                    <a:lstStyle/>
                    <a:p>
                      <a:pPr algn="ctr"/>
                      <a:r>
                        <a:rPr sz="800" b="0">
                          <a:solidFill>
                            <a:srgbClr val="202020"/>
                          </a:solidFill>
                        </a:rPr>
                        <a:t>0.833</a:t>
                      </a:r>
                    </a:p>
                  </a:txBody>
                  <a:tcPr>
                    <a:solidFill>
                      <a:srgbClr val="FFFFFF"/>
                    </a:solidFill>
                  </a:tcPr>
                </a:tc>
                <a:tc>
                  <a:txBody>
                    <a:bodyPr/>
                    <a:lstStyle/>
                    <a:p>
                      <a:pPr algn="ctr"/>
                      <a:r>
                        <a:rPr sz="800" b="0">
                          <a:solidFill>
                            <a:srgbClr val="202020"/>
                          </a:solidFill>
                        </a:rPr>
                        <a:t>0.831</a:t>
                      </a:r>
                    </a:p>
                  </a:txBody>
                  <a:tcPr>
                    <a:solidFill>
                      <a:srgbClr val="FFFFFF"/>
                    </a:solidFill>
                  </a:tcPr>
                </a:tc>
                <a:tc>
                  <a:txBody>
                    <a:bodyPr/>
                    <a:lstStyle/>
                    <a:p>
                      <a:pPr algn="ctr"/>
                      <a:r>
                        <a:rPr sz="800" b="0">
                          <a:solidFill>
                            <a:srgbClr val="202020"/>
                          </a:solidFill>
                        </a:rPr>
                        <a:t>0.833</a:t>
                      </a:r>
                    </a:p>
                  </a:txBody>
                  <a:tcPr>
                    <a:solidFill>
                      <a:srgbClr val="FFFFFF"/>
                    </a:solidFill>
                  </a:tcPr>
                </a:tc>
                <a:tc>
                  <a:txBody>
                    <a:bodyPr/>
                    <a:lstStyle/>
                    <a:p>
                      <a:pPr algn="ctr"/>
                      <a:r>
                        <a:rPr sz="800" b="0">
                          <a:solidFill>
                            <a:srgbClr val="202020"/>
                          </a:solidFill>
                        </a:rPr>
                        <a:t>0.831</a:t>
                      </a:r>
                    </a:p>
                  </a:txBody>
                  <a:tcPr>
                    <a:solidFill>
                      <a:srgbClr val="FFFFFF"/>
                    </a:solidFill>
                  </a:tcPr>
                </a:tc>
              </a:tr>
              <a:tr h="300445">
                <a:tc>
                  <a:txBody>
                    <a:bodyPr/>
                    <a:lstStyle/>
                    <a:p>
                      <a:pPr algn="l"/>
                      <a:r>
                        <a:rPr sz="800" b="1">
                          <a:solidFill>
                            <a:srgbClr val="202020"/>
                          </a:solidFill>
                        </a:rPr>
                        <a:t>Intermediate TL</a:t>
                      </a:r>
                    </a:p>
                  </a:txBody>
                  <a:tcPr>
                    <a:solidFill>
                      <a:srgbClr val="E6F4EA"/>
                    </a:solidFill>
                  </a:tcPr>
                </a:tc>
                <a:tc>
                  <a:txBody>
                    <a:bodyPr/>
                    <a:lstStyle/>
                    <a:p>
                      <a:pPr algn="ctr"/>
                      <a:r>
                        <a:rPr sz="800" b="0">
                          <a:solidFill>
                            <a:srgbClr val="202020"/>
                          </a:solidFill>
                        </a:rPr>
                        <a:t>0.843</a:t>
                      </a:r>
                    </a:p>
                  </a:txBody>
                  <a:tcPr>
                    <a:solidFill>
                      <a:srgbClr val="E6F4EA"/>
                    </a:solidFill>
                  </a:tcPr>
                </a:tc>
                <a:tc>
                  <a:txBody>
                    <a:bodyPr/>
                    <a:lstStyle/>
                    <a:p>
                      <a:pPr algn="ctr"/>
                      <a:r>
                        <a:rPr sz="800" b="0">
                          <a:solidFill>
                            <a:srgbClr val="202020"/>
                          </a:solidFill>
                        </a:rPr>
                        <a:t>0.843</a:t>
                      </a:r>
                    </a:p>
                  </a:txBody>
                  <a:tcPr>
                    <a:solidFill>
                      <a:srgbClr val="E6F4EA"/>
                    </a:solidFill>
                  </a:tcPr>
                </a:tc>
                <a:tc>
                  <a:txBody>
                    <a:bodyPr/>
                    <a:lstStyle/>
                    <a:p>
                      <a:pPr algn="ctr"/>
                      <a:r>
                        <a:rPr sz="800" b="0">
                          <a:solidFill>
                            <a:srgbClr val="202020"/>
                          </a:solidFill>
                        </a:rPr>
                        <a:t>0.843</a:t>
                      </a:r>
                    </a:p>
                  </a:txBody>
                  <a:tcPr>
                    <a:solidFill>
                      <a:srgbClr val="E6F4EA"/>
                    </a:solidFill>
                  </a:tcPr>
                </a:tc>
                <a:tc>
                  <a:txBody>
                    <a:bodyPr/>
                    <a:lstStyle/>
                    <a:p>
                      <a:pPr algn="ctr"/>
                      <a:r>
                        <a:rPr sz="800" b="0">
                          <a:solidFill>
                            <a:srgbClr val="202020"/>
                          </a:solidFill>
                        </a:rPr>
                        <a:t>0.843</a:t>
                      </a:r>
                    </a:p>
                  </a:txBody>
                  <a:tcPr>
                    <a:solidFill>
                      <a:srgbClr val="E6F4EA"/>
                    </a:solidFill>
                  </a:tcPr>
                </a:tc>
              </a:tr>
              <a:tr h="300450">
                <a:tc>
                  <a:txBody>
                    <a:bodyPr/>
                    <a:lstStyle/>
                    <a:p>
                      <a:pPr algn="l"/>
                      <a:r>
                        <a:rPr sz="800" b="1">
                          <a:solidFill>
                            <a:srgbClr val="202020"/>
                          </a:solidFill>
                        </a:rPr>
                        <a:t>Late Fusion</a:t>
                      </a:r>
                    </a:p>
                  </a:txBody>
                  <a:tcPr>
                    <a:solidFill>
                      <a:srgbClr val="FFFFFF"/>
                    </a:solidFill>
                  </a:tcPr>
                </a:tc>
                <a:tc>
                  <a:txBody>
                    <a:bodyPr/>
                    <a:lstStyle/>
                    <a:p>
                      <a:pPr algn="ctr"/>
                      <a:r>
                        <a:rPr sz="800" b="0">
                          <a:solidFill>
                            <a:srgbClr val="202020"/>
                          </a:solidFill>
                        </a:rPr>
                        <a:t>0.776</a:t>
                      </a:r>
                    </a:p>
                  </a:txBody>
                  <a:tcPr>
                    <a:solidFill>
                      <a:srgbClr val="FFFFFF"/>
                    </a:solidFill>
                  </a:tcPr>
                </a:tc>
                <a:tc>
                  <a:txBody>
                    <a:bodyPr/>
                    <a:lstStyle/>
                    <a:p>
                      <a:pPr algn="ctr"/>
                      <a:r>
                        <a:rPr sz="800" b="0">
                          <a:solidFill>
                            <a:srgbClr val="202020"/>
                          </a:solidFill>
                        </a:rPr>
                        <a:t>0.777</a:t>
                      </a:r>
                    </a:p>
                  </a:txBody>
                  <a:tcPr>
                    <a:solidFill>
                      <a:srgbClr val="FFFFFF"/>
                    </a:solidFill>
                  </a:tcPr>
                </a:tc>
                <a:tc>
                  <a:txBody>
                    <a:bodyPr/>
                    <a:lstStyle/>
                    <a:p>
                      <a:pPr algn="ctr"/>
                      <a:r>
                        <a:rPr sz="800" b="0">
                          <a:solidFill>
                            <a:srgbClr val="202020"/>
                          </a:solidFill>
                        </a:rPr>
                        <a:t>0.775</a:t>
                      </a:r>
                    </a:p>
                  </a:txBody>
                  <a:tcPr>
                    <a:solidFill>
                      <a:srgbClr val="FFFFFF"/>
                    </a:solidFill>
                  </a:tcPr>
                </a:tc>
                <a:tc>
                  <a:txBody>
                    <a:bodyPr/>
                    <a:lstStyle/>
                    <a:p>
                      <a:pPr algn="ctr"/>
                      <a:r>
                        <a:rPr sz="800" b="0">
                          <a:solidFill>
                            <a:srgbClr val="202020"/>
                          </a:solidFill>
                        </a:rPr>
                        <a:t>0.777</a:t>
                      </a:r>
                    </a:p>
                  </a:txBody>
                  <a:tcPr>
                    <a:solidFill>
                      <a:srgbClr val="FFFFFF"/>
                    </a:solidFill>
                  </a:tcPr>
                </a:tc>
              </a:tr>
            </a:tbl>
          </a:graphicData>
        </a:graphic>
      </p:graphicFrame>
      <p:sp>
        <p:nvSpPr>
          <p:cNvPr id="6" name="TextBox 5"/>
          <p:cNvSpPr txBox="1"/>
          <p:nvPr/>
        </p:nvSpPr>
        <p:spPr>
          <a:xfrm>
            <a:off x="4617720" y="548640"/>
            <a:ext cx="4206240" cy="228600"/>
          </a:xfrm>
          <a:prstGeom prst="rect">
            <a:avLst/>
          </a:prstGeom>
          <a:noFill/>
        </p:spPr>
        <p:txBody>
          <a:bodyPr wrap="none">
            <a:spAutoFit/>
          </a:bodyPr>
          <a:lstStyle/>
          <a:p>
            <a:pPr algn="l"/>
            <a:r>
              <a:rPr sz="1000" b="1" i="0">
                <a:solidFill>
                  <a:srgbClr val="202020"/>
                </a:solidFill>
              </a:rPr>
              <a:t>Status Eksperimen</a:t>
            </a:r>
          </a:p>
        </p:txBody>
      </p:sp>
      <p:graphicFrame>
        <p:nvGraphicFramePr>
          <p:cNvPr id="7" name="Table 6"/>
          <p:cNvGraphicFramePr>
            <a:graphicFrameLocks noGrp="1"/>
          </p:cNvGraphicFramePr>
          <p:nvPr/>
        </p:nvGraphicFramePr>
        <p:xfrm>
          <a:off x="4617720" y="822960"/>
          <a:ext cx="4206240" cy="2103120"/>
        </p:xfrm>
        <a:graphic>
          <a:graphicData uri="http://schemas.openxmlformats.org/drawingml/2006/table">
            <a:tbl>
              <a:tblPr firstRow="1" bandRow="1"/>
              <a:tblGrid>
                <a:gridCol w="2926080"/>
                <a:gridCol w="1280160"/>
              </a:tblGrid>
              <a:tr h="300445">
                <a:tc>
                  <a:txBody>
                    <a:bodyPr/>
                    <a:lstStyle/>
                    <a:p>
                      <a:pPr algn="ctr"/>
                      <a:r>
                        <a:rPr sz="900" b="1">
                          <a:solidFill>
                            <a:srgbClr val="FFFFFF"/>
                          </a:solidFill>
                        </a:rPr>
                        <a:t>Eksperimen</a:t>
                      </a:r>
                    </a:p>
                  </a:txBody>
                  <a:tcPr>
                    <a:solidFill>
                      <a:srgbClr val="1A73E8"/>
                    </a:solidFill>
                  </a:tcPr>
                </a:tc>
                <a:tc>
                  <a:txBody>
                    <a:bodyPr/>
                    <a:lstStyle/>
                    <a:p>
                      <a:pPr algn="ctr"/>
                      <a:r>
                        <a:rPr sz="900" b="1">
                          <a:solidFill>
                            <a:srgbClr val="FFFFFF"/>
                          </a:solidFill>
                        </a:rPr>
                        <a:t>Status</a:t>
                      </a:r>
                    </a:p>
                  </a:txBody>
                  <a:tcPr>
                    <a:solidFill>
                      <a:srgbClr val="1A73E8"/>
                    </a:solidFill>
                  </a:tcPr>
                </a:tc>
              </a:tr>
              <a:tr h="300445">
                <a:tc>
                  <a:txBody>
                    <a:bodyPr/>
                    <a:lstStyle/>
                    <a:p>
                      <a:pPr algn="l"/>
                      <a:r>
                        <a:rPr sz="850" b="1">
                          <a:solidFill>
                            <a:srgbClr val="202020"/>
                          </a:solidFill>
                        </a:rPr>
                        <a:t>RAF-DB 7-class</a:t>
                      </a:r>
                    </a:p>
                  </a:txBody>
                  <a:tcPr>
                    <a:solidFill>
                      <a:srgbClr val="E6F4EA"/>
                    </a:solidFill>
                  </a:tcPr>
                </a:tc>
                <a:tc>
                  <a:txBody>
                    <a:bodyPr/>
                    <a:lstStyle/>
                    <a:p>
                      <a:pPr algn="ctr"/>
                      <a:r>
                        <a:rPr sz="850" b="0">
                          <a:solidFill>
                            <a:srgbClr val="202020"/>
                          </a:solidFill>
                        </a:rPr>
                        <a:t>✅ Done</a:t>
                      </a:r>
                    </a:p>
                  </a:txBody>
                  <a:tcPr>
                    <a:solidFill>
                      <a:srgbClr val="E6F4EA"/>
                    </a:solidFill>
                  </a:tcPr>
                </a:tc>
              </a:tr>
              <a:tr h="300445">
                <a:tc>
                  <a:txBody>
                    <a:bodyPr/>
                    <a:lstStyle/>
                    <a:p>
                      <a:pPr algn="l"/>
                      <a:r>
                        <a:rPr sz="850" b="1">
                          <a:solidFill>
                            <a:srgbClr val="202020"/>
                          </a:solidFill>
                        </a:rPr>
                        <a:t>RAF-DB 4-class</a:t>
                      </a:r>
                    </a:p>
                  </a:txBody>
                  <a:tcPr>
                    <a:solidFill>
                      <a:srgbClr val="E6F4EA"/>
                    </a:solidFill>
                  </a:tcPr>
                </a:tc>
                <a:tc>
                  <a:txBody>
                    <a:bodyPr/>
                    <a:lstStyle/>
                    <a:p>
                      <a:pPr algn="ctr"/>
                      <a:r>
                        <a:rPr sz="850" b="0">
                          <a:solidFill>
                            <a:srgbClr val="202020"/>
                          </a:solidFill>
                        </a:rPr>
                        <a:t>✅ Done</a:t>
                      </a:r>
                    </a:p>
                  </a:txBody>
                  <a:tcPr>
                    <a:solidFill>
                      <a:srgbClr val="E6F4EA"/>
                    </a:solidFill>
                  </a:tcPr>
                </a:tc>
              </a:tr>
              <a:tr h="300445">
                <a:tc>
                  <a:txBody>
                    <a:bodyPr/>
                    <a:lstStyle/>
                    <a:p>
                      <a:pPr algn="l"/>
                      <a:r>
                        <a:rPr sz="850" b="1">
                          <a:solidFill>
                            <a:srgbClr val="202020"/>
                          </a:solidFill>
                        </a:rPr>
                        <a:t>KDEF 7-class</a:t>
                      </a:r>
                    </a:p>
                  </a:txBody>
                  <a:tcPr>
                    <a:solidFill>
                      <a:srgbClr val="E6F4EA"/>
                    </a:solidFill>
                  </a:tcPr>
                </a:tc>
                <a:tc>
                  <a:txBody>
                    <a:bodyPr/>
                    <a:lstStyle/>
                    <a:p>
                      <a:pPr algn="ctr"/>
                      <a:r>
                        <a:rPr sz="850" b="0">
                          <a:solidFill>
                            <a:srgbClr val="202020"/>
                          </a:solidFill>
                        </a:rPr>
                        <a:t>✅ Done</a:t>
                      </a:r>
                    </a:p>
                  </a:txBody>
                  <a:tcPr>
                    <a:solidFill>
                      <a:srgbClr val="E6F4EA"/>
                    </a:solidFill>
                  </a:tcPr>
                </a:tc>
              </a:tr>
              <a:tr h="300445">
                <a:tc>
                  <a:txBody>
                    <a:bodyPr/>
                    <a:lstStyle/>
                    <a:p>
                      <a:pPr algn="l"/>
                      <a:r>
                        <a:rPr sz="850" b="1">
                          <a:solidFill>
                            <a:srgbClr val="202020"/>
                          </a:solidFill>
                        </a:rPr>
                        <a:t>KDEF 4-class</a:t>
                      </a:r>
                    </a:p>
                  </a:txBody>
                  <a:tcPr>
                    <a:solidFill>
                      <a:srgbClr val="FFFFFF"/>
                    </a:solidFill>
                  </a:tcPr>
                </a:tc>
                <a:tc>
                  <a:txBody>
                    <a:bodyPr/>
                    <a:lstStyle/>
                    <a:p>
                      <a:pPr algn="ctr"/>
                      <a:r>
                        <a:rPr sz="850" b="0">
                          <a:solidFill>
                            <a:srgbClr val="202020"/>
                          </a:solidFill>
                        </a:rPr>
                        <a:t>⏳ Pending</a:t>
                      </a:r>
                    </a:p>
                  </a:txBody>
                  <a:tcPr>
                    <a:solidFill>
                      <a:srgbClr val="FFFFFF"/>
                    </a:solidFill>
                  </a:tcPr>
                </a:tc>
              </a:tr>
              <a:tr h="300445">
                <a:tc>
                  <a:txBody>
                    <a:bodyPr/>
                    <a:lstStyle/>
                    <a:p>
                      <a:pPr algn="l"/>
                      <a:r>
                        <a:rPr sz="850" b="1">
                          <a:solidFill>
                            <a:srgbClr val="202020"/>
                          </a:solidFill>
                        </a:rPr>
                        <a:t>Primer self (nb 62)</a:t>
                      </a:r>
                    </a:p>
                  </a:txBody>
                  <a:tcPr>
                    <a:solidFill>
                      <a:srgbClr val="E8F0FE"/>
                    </a:solidFill>
                  </a:tcPr>
                </a:tc>
                <a:tc>
                  <a:txBody>
                    <a:bodyPr/>
                    <a:lstStyle/>
                    <a:p>
                      <a:pPr algn="ctr"/>
                      <a:r>
                        <a:rPr sz="850" b="0">
                          <a:solidFill>
                            <a:srgbClr val="202020"/>
                          </a:solidFill>
                        </a:rPr>
                        <a:t>⏳ Pending</a:t>
                      </a:r>
                    </a:p>
                  </a:txBody>
                  <a:tcPr>
                    <a:solidFill>
                      <a:srgbClr val="E8F0FE"/>
                    </a:solidFill>
                  </a:tcPr>
                </a:tc>
              </a:tr>
              <a:tr h="300450">
                <a:tc>
                  <a:txBody>
                    <a:bodyPr/>
                    <a:lstStyle/>
                    <a:p>
                      <a:pPr algn="l"/>
                      <a:r>
                        <a:rPr sz="850" b="1">
                          <a:solidFill>
                            <a:srgbClr val="202020"/>
                          </a:solidFill>
                        </a:rPr>
                        <a:t>Cross-dataset (nb 63)</a:t>
                      </a:r>
                    </a:p>
                  </a:txBody>
                  <a:tcPr>
                    <a:solidFill>
                      <a:srgbClr val="FFFFFF"/>
                    </a:solidFill>
                  </a:tcPr>
                </a:tc>
                <a:tc>
                  <a:txBody>
                    <a:bodyPr/>
                    <a:lstStyle/>
                    <a:p>
                      <a:pPr algn="ctr"/>
                      <a:r>
                        <a:rPr sz="850" b="0">
                          <a:solidFill>
                            <a:srgbClr val="202020"/>
                          </a:solidFill>
                        </a:rPr>
                        <a:t>⏳ Pending</a:t>
                      </a:r>
                    </a:p>
                  </a:txBody>
                  <a:tcPr>
                    <a:solidFill>
                      <a:srgbClr val="FFFFFF"/>
                    </a:solidFill>
                  </a:tcPr>
                </a:tc>
              </a:tr>
            </a:tbl>
          </a:graphicData>
        </a:graphic>
      </p:graphicFrame>
      <p:sp>
        <p:nvSpPr>
          <p:cNvPr id="8" name="TextBox 7"/>
          <p:cNvSpPr txBox="1"/>
          <p:nvPr/>
        </p:nvSpPr>
        <p:spPr>
          <a:xfrm>
            <a:off x="274320" y="3063240"/>
            <a:ext cx="8595360" cy="502920"/>
          </a:xfrm>
          <a:prstGeom prst="rect">
            <a:avLst/>
          </a:prstGeom>
          <a:solidFill>
            <a:srgbClr val="E6F4EA"/>
          </a:solidFill>
        </p:spPr>
        <p:txBody>
          <a:bodyPr wrap="square">
            <a:spAutoFit/>
          </a:bodyPr>
          <a:lstStyle/>
          <a:p>
            <a:pPr algn="l"/>
            <a:r>
              <a:rPr sz="1000" b="1" i="0">
                <a:solidFill>
                  <a:srgbClr val="0F9D58"/>
                </a:solidFill>
              </a:rPr>
              <a:t>Best KDEF 7c: Intermediate TL — Macro F1 = 0.843 (konsisten dengan pola RAF-DB)</a:t>
            </a:r>
          </a:p>
        </p:txBody>
      </p:sp>
      <p:sp>
        <p:nvSpPr>
          <p:cNvPr id="9" name="TextBox 8"/>
          <p:cNvSpPr txBox="1"/>
          <p:nvPr/>
        </p:nvSpPr>
        <p:spPr>
          <a:xfrm>
            <a:off x="274320" y="3657600"/>
            <a:ext cx="8595360" cy="1143000"/>
          </a:xfrm>
          <a:prstGeom prst="rect">
            <a:avLst/>
          </a:prstGeom>
          <a:solidFill>
            <a:srgbClr val="FFF0CC"/>
          </a:solidFill>
        </p:spPr>
        <p:txBody>
          <a:bodyPr wrap="square">
            <a:spAutoFit/>
          </a:bodyPr>
          <a:lstStyle/>
          <a:p>
            <a:pPr algn="l"/>
            <a:r>
              <a:rPr sz="1000" b="1" i="0">
                <a:solidFill>
                  <a:srgbClr val="202020"/>
                </a:solidFill>
              </a:rPr>
              <a:t>Pola Best Model Lintas Dataset</a:t>
            </a:r>
          </a:p>
          <a:p>
            <a:pPr algn="l"/>
            <a:r>
              <a:rPr sz="200" b="0" i="0"/>
              <a:t/>
            </a:r>
          </a:p>
          <a:p>
            <a:pPr algn="l"/>
            <a:r>
              <a:rPr sz="900" b="0" i="0">
                <a:solidFill>
                  <a:srgbClr val="202020"/>
                </a:solidFill>
              </a:rPr>
              <a:t>• Primer 4c: Intermediate TL B1 = 0.412  |  CK+ 4c: CNN TL = 0.837  |  JAFFE 4c: Late Fusion = 0.530</a:t>
            </a:r>
          </a:p>
          <a:p>
            <a:pPr algn="l"/>
            <a:r>
              <a:rPr sz="900" b="0" i="0">
                <a:solidFill>
                  <a:srgbClr val="202020"/>
                </a:solidFill>
              </a:rPr>
              <a:t>• RAF-DB 4c: Intermediate TL = 0.836  |  KDEF 7c: Intermediate TL = 0.843</a:t>
            </a:r>
          </a:p>
          <a:p>
            <a:pPr algn="l"/>
            <a:r>
              <a:rPr sz="900" b="0" i="1">
                <a:solidFill>
                  <a:srgbClr val="202020"/>
                </a:solidFill>
              </a:rPr>
              <a:t>• Insight: Intermediate TL dominan di 4 dari 5 dataset — arsitektur robust untuk multimodal FER.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24B (lanjutan): Temuan dari Benchmark RAF-DB &amp; KDEF</a:t>
            </a:r>
          </a:p>
        </p:txBody>
      </p:sp>
      <p:sp>
        <p:nvSpPr>
          <p:cNvPr id="4" name="TextBox 3"/>
          <p:cNvSpPr txBox="1"/>
          <p:nvPr/>
        </p:nvSpPr>
        <p:spPr>
          <a:xfrm>
            <a:off x="274320" y="548640"/>
            <a:ext cx="8595360" cy="1188720"/>
          </a:xfrm>
          <a:prstGeom prst="rect">
            <a:avLst/>
          </a:prstGeom>
          <a:solidFill>
            <a:srgbClr val="E8F0FE"/>
          </a:solidFill>
        </p:spPr>
        <p:txBody>
          <a:bodyPr wrap="square">
            <a:spAutoFit/>
          </a:bodyPr>
          <a:lstStyle/>
          <a:p>
            <a:pPr algn="l"/>
            <a:r>
              <a:rPr sz="1100" b="1" i="0">
                <a:solidFill>
                  <a:srgbClr val="1A73E8"/>
                </a:solidFill>
              </a:rPr>
              <a:t>Temuan 16: Intermediate TL konsisten best di semua dataset</a:t>
            </a:r>
          </a:p>
          <a:p>
            <a:pPr algn="l"/>
            <a:r>
              <a:rPr sz="200" b="0" i="0"/>
              <a:t/>
            </a:r>
          </a:p>
          <a:p>
            <a:pPr algn="l"/>
            <a:r>
              <a:rPr sz="950" b="0" i="0">
                <a:solidFill>
                  <a:srgbClr val="202020"/>
                </a:solidFill>
              </a:rPr>
              <a:t>• RAF-DB 7c: 0.744 | RAF-DB 4c: 0.836 | KDEF 7c: 0.843 | Primer 4c: 0.412</a:t>
            </a:r>
          </a:p>
          <a:p>
            <a:pPr algn="l"/>
            <a:r>
              <a:rPr sz="950" b="0" i="0">
                <a:solidFill>
                  <a:srgbClr val="202020"/>
                </a:solidFill>
              </a:rPr>
              <a:t>• Arsitektur Intermediate Fusion + Transfer Learning (ResNet18) optimal untuk multimodal FER lintas kondisi data (posed, in-the-wild, natural).</a:t>
            </a:r>
          </a:p>
        </p:txBody>
      </p:sp>
      <p:sp>
        <p:nvSpPr>
          <p:cNvPr id="5" name="TextBox 4"/>
          <p:cNvSpPr txBox="1"/>
          <p:nvPr/>
        </p:nvSpPr>
        <p:spPr>
          <a:xfrm>
            <a:off x="274320" y="1828800"/>
            <a:ext cx="8595360" cy="1371600"/>
          </a:xfrm>
          <a:prstGeom prst="rect">
            <a:avLst/>
          </a:prstGeom>
          <a:solidFill>
            <a:srgbClr val="FFF0CC"/>
          </a:solidFill>
        </p:spPr>
        <p:txBody>
          <a:bodyPr wrap="square">
            <a:spAutoFit/>
          </a:bodyPr>
          <a:lstStyle/>
          <a:p>
            <a:pPr algn="l"/>
            <a:r>
              <a:rPr sz="1100" b="1" i="0">
                <a:solidFill>
                  <a:srgbClr val="202020"/>
                </a:solidFill>
              </a:rPr>
              <a:t>Temuan 17: Gap besar primer vs benchmark → konfirmasi hipotesis karakteristik data</a:t>
            </a:r>
          </a:p>
          <a:p>
            <a:pPr algn="l"/>
            <a:r>
              <a:rPr sz="200" b="0" i="0"/>
              <a:t/>
            </a:r>
          </a:p>
          <a:p>
            <a:pPr algn="l"/>
            <a:r>
              <a:rPr sz="950" b="0" i="0">
                <a:solidFill>
                  <a:srgbClr val="202020"/>
                </a:solidFill>
              </a:rPr>
              <a:t>• Gap Macro F1: RAF-DB (0.836) vs Primer (0.412) → selisih 0.424 (dataset natural yang berbeda karakteristik)</a:t>
            </a:r>
          </a:p>
          <a:p>
            <a:pPr algn="l"/>
            <a:r>
              <a:rPr sz="950" b="0" i="0">
                <a:solidFill>
                  <a:srgbClr val="202020"/>
                </a:solidFill>
              </a:rPr>
              <a:t>• KDEF (0.843) lebih tinggi karena lab posed (ekspresi jelas, balanced).</a:t>
            </a:r>
          </a:p>
          <a:p>
            <a:pPr algn="l"/>
            <a:r>
              <a:rPr sz="950" b="1" i="1">
                <a:solidFill>
                  <a:srgbClr val="202020"/>
                </a:solidFill>
              </a:rPr>
              <a:t>• Argumen terkuat: performa rendah di primer BUKAN karena kelemahan arsitektur, tapi karena data natural + imbalanced ekstrem + minoritas langka.</a:t>
            </a:r>
          </a:p>
        </p:txBody>
      </p:sp>
      <p:sp>
        <p:nvSpPr>
          <p:cNvPr id="6" name="TextBox 5"/>
          <p:cNvSpPr txBox="1"/>
          <p:nvPr/>
        </p:nvSpPr>
        <p:spPr>
          <a:xfrm>
            <a:off x="274320" y="3291840"/>
            <a:ext cx="8595360" cy="1417320"/>
          </a:xfrm>
          <a:prstGeom prst="rect">
            <a:avLst/>
          </a:prstGeom>
          <a:solidFill>
            <a:srgbClr val="E6F4EA"/>
          </a:solidFill>
        </p:spPr>
        <p:txBody>
          <a:bodyPr wrap="square">
            <a:spAutoFit/>
          </a:bodyPr>
          <a:lstStyle/>
          <a:p>
            <a:pPr algn="l"/>
            <a:r>
              <a:rPr sz="1100" b="1" i="0">
                <a:solidFill>
                  <a:srgbClr val="0F9D58"/>
                </a:solidFill>
              </a:rPr>
              <a:t>Temuan 18: Efek fusion tergantung ukuran dataset</a:t>
            </a:r>
          </a:p>
          <a:p>
            <a:pPr algn="l"/>
            <a:r>
              <a:rPr sz="200" b="0" i="0"/>
              <a:t/>
            </a:r>
          </a:p>
          <a:p>
            <a:pPr algn="l"/>
            <a:r>
              <a:rPr sz="950" b="0" i="0">
                <a:solidFill>
                  <a:srgbClr val="202020"/>
                </a:solidFill>
              </a:rPr>
              <a:t>• Di dataset besar (RAF-DB 11k train): selisih CNN TL vs Intermediate TL kecil (~0.01) — CNN sendiri sudah cukup dengan data banyak.</a:t>
            </a:r>
          </a:p>
          <a:p>
            <a:pPr algn="l"/>
            <a:r>
              <a:rPr sz="950" b="0" i="0">
                <a:solidFill>
                  <a:srgbClr val="202020"/>
                </a:solidFill>
              </a:rPr>
              <a:t>• Di dataset kecil + imbalanced (Primer 5.3k): fusion memberi gain lebih besar — landmark sebagai informasi komplementer lebih berguna.</a:t>
            </a:r>
          </a:p>
          <a:p>
            <a:pPr algn="l"/>
            <a:r>
              <a:rPr sz="950" b="0" i="1">
                <a:solidFill>
                  <a:srgbClr val="202020"/>
                </a:solidFill>
              </a:rPr>
              <a:t>• Implikasi: multimodal fusion terutama bermanfaat di low-data / imbalanced regime.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Progress Validasi Ahli Psikologi</a:t>
            </a:r>
          </a:p>
        </p:txBody>
      </p:sp>
      <p:sp>
        <p:nvSpPr>
          <p:cNvPr id="3" name="TextBox 2"/>
          <p:cNvSpPr txBox="1"/>
          <p:nvPr/>
        </p:nvSpPr>
        <p:spPr>
          <a:xfrm>
            <a:off x="274320" y="713232"/>
            <a:ext cx="8595360" cy="640080"/>
          </a:xfrm>
          <a:prstGeom prst="rect">
            <a:avLst/>
          </a:prstGeom>
          <a:solidFill>
            <a:srgbClr val="E8F0FE"/>
          </a:solidFill>
        </p:spPr>
        <p:txBody>
          <a:bodyPr wrap="square">
            <a:spAutoFit/>
          </a:bodyPr>
          <a:lstStyle/>
          <a:p>
            <a:pPr algn="l"/>
            <a:r>
              <a:rPr sz="1000" b="1" i="0">
                <a:solidFill>
                  <a:srgbClr val="202020"/>
                </a:solidFill>
              </a:rPr>
              <a:t>Pendekatan: 1% stratified sampling (128 sampel front-only)</a:t>
            </a:r>
          </a:p>
          <a:p>
            <a:pPr algn="l"/>
            <a:r>
              <a:rPr sz="900" b="0" i="0">
                <a:solidFill>
                  <a:srgbClr val="666666"/>
                </a:solidFill>
              </a:rPr>
              <a:t>Mengacu MER2024 (Lian et al., 2024): 1% labeled + 99% SSL verification</a:t>
            </a:r>
          </a:p>
          <a:p>
            <a:pPr algn="l"/>
            <a:r>
              <a:rPr sz="900" b="0" i="0">
                <a:solidFill>
                  <a:srgbClr val="666666"/>
                </a:solidFill>
              </a:rPr>
              <a:t>Target: 3 validator, Fleiss Kappa &gt;= 0.61 (Landis &amp; Koch, 1977)</a:t>
            </a:r>
          </a:p>
        </p:txBody>
      </p:sp>
      <p:graphicFrame>
        <p:nvGraphicFramePr>
          <p:cNvPr id="4" name="Table 3"/>
          <p:cNvGraphicFramePr>
            <a:graphicFrameLocks noGrp="1"/>
          </p:cNvGraphicFramePr>
          <p:nvPr/>
        </p:nvGraphicFramePr>
        <p:xfrm>
          <a:off x="274320" y="1508760"/>
          <a:ext cx="8595360" cy="1188720"/>
        </p:xfrm>
        <a:graphic>
          <a:graphicData uri="http://schemas.openxmlformats.org/drawingml/2006/table">
            <a:tbl>
              <a:tblPr firstRow="1" bandRow="1"/>
              <a:tblGrid>
                <a:gridCol w="1371600"/>
                <a:gridCol w="1828800"/>
                <a:gridCol w="1828800"/>
                <a:gridCol w="3566160"/>
              </a:tblGrid>
              <a:tr h="297180">
                <a:tc>
                  <a:txBody>
                    <a:bodyPr/>
                    <a:lstStyle/>
                    <a:p>
                      <a:pPr algn="ctr"/>
                      <a:r>
                        <a:rPr sz="1000" b="1">
                          <a:solidFill>
                            <a:srgbClr val="FFFFFF"/>
                          </a:solidFill>
                        </a:rPr>
                        <a:t>Validator</a:t>
                      </a:r>
                    </a:p>
                  </a:txBody>
                  <a:tcPr>
                    <a:solidFill>
                      <a:srgbClr val="1A73E8"/>
                    </a:solidFill>
                  </a:tcPr>
                </a:tc>
                <a:tc>
                  <a:txBody>
                    <a:bodyPr/>
                    <a:lstStyle/>
                    <a:p>
                      <a:pPr algn="ctr"/>
                      <a:r>
                        <a:rPr sz="1000" b="1">
                          <a:solidFill>
                            <a:srgbClr val="FFFFFF"/>
                          </a:solidFill>
                        </a:rPr>
                        <a:t>Sumber</a:t>
                      </a:r>
                    </a:p>
                  </a:txBody>
                  <a:tcPr>
                    <a:solidFill>
                      <a:srgbClr val="1A73E8"/>
                    </a:solidFill>
                  </a:tcPr>
                </a:tc>
                <a:tc>
                  <a:txBody>
                    <a:bodyPr/>
                    <a:lstStyle/>
                    <a:p>
                      <a:pPr algn="ctr"/>
                      <a:r>
                        <a:rPr sz="1000" b="1">
                          <a:solidFill>
                            <a:srgbClr val="FFFFFF"/>
                          </a:solidFill>
                        </a:rPr>
                        <a:t>Status</a:t>
                      </a:r>
                    </a:p>
                  </a:txBody>
                  <a:tcPr>
                    <a:solidFill>
                      <a:srgbClr val="1A73E8"/>
                    </a:solidFill>
                  </a:tcPr>
                </a:tc>
                <a:tc>
                  <a:txBody>
                    <a:bodyPr/>
                    <a:lstStyle/>
                    <a:p>
                      <a:pPr algn="ctr"/>
                      <a:r>
                        <a:rPr sz="1000" b="1">
                          <a:solidFill>
                            <a:srgbClr val="FFFFFF"/>
                          </a:solidFill>
                        </a:rPr>
                        <a:t>Keterangan</a:t>
                      </a:r>
                    </a:p>
                  </a:txBody>
                  <a:tcPr>
                    <a:solidFill>
                      <a:srgbClr val="1A73E8"/>
                    </a:solidFill>
                  </a:tcPr>
                </a:tc>
              </a:tr>
              <a:tr h="297180">
                <a:tc>
                  <a:txBody>
                    <a:bodyPr/>
                    <a:lstStyle/>
                    <a:p>
                      <a:pPr algn="l"/>
                      <a:r>
                        <a:rPr sz="1000" b="1">
                          <a:solidFill>
                            <a:srgbClr val="202020"/>
                          </a:solidFill>
                        </a:rPr>
                        <a:t>Validator 1</a:t>
                      </a:r>
                    </a:p>
                  </a:txBody>
                  <a:tcPr>
                    <a:solidFill>
                      <a:srgbClr val="E8F0FE"/>
                    </a:solidFill>
                  </a:tcPr>
                </a:tc>
                <a:tc>
                  <a:txBody>
                    <a:bodyPr/>
                    <a:lstStyle/>
                    <a:p>
                      <a:pPr algn="ctr"/>
                      <a:r>
                        <a:rPr sz="1000" b="0">
                          <a:solidFill>
                            <a:srgbClr val="202020"/>
                          </a:solidFill>
                        </a:rPr>
                        <a:t>Dari mahasiswa (saya)</a:t>
                      </a:r>
                    </a:p>
                  </a:txBody>
                  <a:tcPr>
                    <a:solidFill>
                      <a:srgbClr val="E8F0FE"/>
                    </a:solidFill>
                  </a:tcPr>
                </a:tc>
                <a:tc>
                  <a:txBody>
                    <a:bodyPr/>
                    <a:lstStyle/>
                    <a:p>
                      <a:pPr algn="ctr"/>
                      <a:r>
                        <a:rPr sz="1000" b="0">
                          <a:solidFill>
                            <a:srgbClr val="202020"/>
                          </a:solidFill>
                        </a:rPr>
                        <a:t>Sedang proses</a:t>
                      </a:r>
                    </a:p>
                  </a:txBody>
                  <a:tcPr>
                    <a:solidFill>
                      <a:srgbClr val="C6EFCE"/>
                    </a:solidFill>
                  </a:tcPr>
                </a:tc>
                <a:tc>
                  <a:txBody>
                    <a:bodyPr/>
                    <a:lstStyle/>
                    <a:p>
                      <a:pPr algn="l"/>
                      <a:r>
                        <a:rPr sz="1000" b="0">
                          <a:solidFill>
                            <a:srgbClr val="202020"/>
                          </a:solidFill>
                        </a:rPr>
                        <a:t>Sudah bersedia, sedang validasi</a:t>
                      </a:r>
                    </a:p>
                  </a:txBody>
                  <a:tcPr>
                    <a:solidFill>
                      <a:srgbClr val="E8F0FE"/>
                    </a:solidFill>
                  </a:tcPr>
                </a:tc>
              </a:tr>
              <a:tr h="297180">
                <a:tc>
                  <a:txBody>
                    <a:bodyPr/>
                    <a:lstStyle/>
                    <a:p>
                      <a:pPr algn="l"/>
                      <a:r>
                        <a:rPr sz="1000" b="1">
                          <a:solidFill>
                            <a:srgbClr val="202020"/>
                          </a:solidFill>
                        </a:rPr>
                        <a:t>Validator 2</a:t>
                      </a:r>
                    </a:p>
                  </a:txBody>
                  <a:tcPr>
                    <a:solidFill>
                      <a:srgbClr val="FFFFFF"/>
                    </a:solidFill>
                  </a:tcPr>
                </a:tc>
                <a:tc>
                  <a:txBody>
                    <a:bodyPr/>
                    <a:lstStyle/>
                    <a:p>
                      <a:r>
                        <a:t>Dari Pak Fitra</a:t>
                      </a:r>
                    </a:p>
                  </a:txBody>
                  <a:tcPr>
                    <a:solidFill>
                      <a:srgbClr val="FFFFFF"/>
                    </a:solidFill>
                  </a:tcPr>
                </a:tc>
                <a:tc>
                  <a:txBody>
                    <a:bodyPr/>
                    <a:lstStyle/>
                    <a:p>
                      <a:r>
                        <a:t>Menunggu konfirmasi</a:t>
                      </a:r>
                    </a:p>
                  </a:txBody>
                  <a:tcPr>
                    <a:solidFill>
                      <a:srgbClr val="FFF0CC"/>
                    </a:solidFill>
                  </a:tcPr>
                </a:tc>
                <a:tc>
                  <a:txBody>
                    <a:bodyPr/>
                    <a:lstStyle/>
                    <a:p>
                      <a:r>
                        <a:t>Sudah dihubungi Pak Fitra</a:t>
                      </a:r>
                    </a:p>
                  </a:txBody>
                  <a:tcPr>
                    <a:solidFill>
                      <a:srgbClr val="FFFFFF"/>
                    </a:solidFill>
                  </a:tcPr>
                </a:tc>
              </a:tr>
              <a:tr h="297180">
                <a:tc>
                  <a:txBody>
                    <a:bodyPr/>
                    <a:lstStyle/>
                    <a:p>
                      <a:pPr algn="l"/>
                      <a:r>
                        <a:rPr sz="1000" b="1">
                          <a:solidFill>
                            <a:srgbClr val="202020"/>
                          </a:solidFill>
                        </a:rPr>
                        <a:t>Validator 3</a:t>
                      </a:r>
                    </a:p>
                  </a:txBody>
                  <a:tcPr>
                    <a:solidFill>
                      <a:srgbClr val="E8F0FE"/>
                    </a:solidFill>
                  </a:tcPr>
                </a:tc>
                <a:tc>
                  <a:txBody>
                    <a:bodyPr/>
                    <a:lstStyle/>
                    <a:p>
                      <a:r>
                        <a:t>Dari Pak Fitra</a:t>
                      </a:r>
                    </a:p>
                  </a:txBody>
                  <a:tcPr>
                    <a:solidFill>
                      <a:srgbClr val="E8F0FE"/>
                    </a:solidFill>
                  </a:tcPr>
                </a:tc>
                <a:tc>
                  <a:txBody>
                    <a:bodyPr/>
                    <a:lstStyle/>
                    <a:p>
                      <a:r>
                        <a:t>Menunggu konfirmasi</a:t>
                      </a:r>
                    </a:p>
                  </a:txBody>
                  <a:tcPr>
                    <a:solidFill>
                      <a:srgbClr val="FFF0CC"/>
                    </a:solidFill>
                  </a:tcPr>
                </a:tc>
                <a:tc>
                  <a:txBody>
                    <a:bodyPr/>
                    <a:lstStyle/>
                    <a:p>
                      <a:r>
                        <a:t>Sudah dihubungi Pak Fitra</a:t>
                      </a:r>
                    </a:p>
                  </a:txBody>
                  <a:tcPr>
                    <a:solidFill>
                      <a:srgbClr val="E8F0FE"/>
                    </a:solidFill>
                  </a:tcPr>
                </a:tc>
              </a:tr>
            </a:tbl>
          </a:graphicData>
        </a:graphic>
      </p:graphicFrame>
      <p:sp>
        <p:nvSpPr>
          <p:cNvPr id="5" name="TextBox 4"/>
          <p:cNvSpPr txBox="1"/>
          <p:nvPr/>
        </p:nvSpPr>
        <p:spPr>
          <a:xfrm>
            <a:off x="274320" y="2834640"/>
            <a:ext cx="4114800" cy="1097280"/>
          </a:xfrm>
          <a:prstGeom prst="rect">
            <a:avLst/>
          </a:prstGeom>
          <a:solidFill>
            <a:srgbClr val="F1F3F4"/>
          </a:solidFill>
        </p:spPr>
        <p:txBody>
          <a:bodyPr wrap="square">
            <a:spAutoFit/>
          </a:bodyPr>
          <a:lstStyle/>
          <a:p>
            <a:pPr algn="l"/>
            <a:r>
              <a:rPr sz="1000" b="1" i="0">
                <a:solidFill>
                  <a:srgbClr val="202020"/>
                </a:solidFill>
              </a:rPr>
              <a:t>Tool Validasi (Streamlit)</a:t>
            </a:r>
          </a:p>
          <a:p>
            <a:pPr algn="l"/>
            <a:r>
              <a:rPr sz="400" b="0" i="0"/>
              <a:t/>
            </a:r>
          </a:p>
          <a:p>
            <a:pPr algn="l"/>
            <a:r>
              <a:rPr sz="900" b="0" i="0">
                <a:solidFill>
                  <a:srgbClr val="202020"/>
                </a:solidFill>
              </a:rPr>
              <a:t>Link: taufikhdyt-emo-validation.streamlit.app</a:t>
            </a:r>
          </a:p>
          <a:p>
            <a:pPr algn="l"/>
            <a:r>
              <a:rPr sz="900" b="0" i="0">
                <a:solidFill>
                  <a:srgbClr val="202020"/>
                </a:solidFill>
              </a:rPr>
              <a:t>Dataset: 128 sampel (front-only, 7 emosi)</a:t>
            </a:r>
          </a:p>
          <a:p>
            <a:pPr algn="l"/>
            <a:r>
              <a:rPr sz="900" b="0" i="0">
                <a:solidFill>
                  <a:srgbClr val="202020"/>
                </a:solidFill>
              </a:rPr>
              <a:t>Waktu: ~30-45 menit per validator</a:t>
            </a:r>
          </a:p>
          <a:p>
            <a:pPr algn="l"/>
            <a:r>
              <a:rPr sz="900" b="0" i="0">
                <a:solidFill>
                  <a:srgbClr val="202020"/>
                </a:solidFill>
              </a:rPr>
              <a:t>Admin panel tersedia untuk monitoring</a:t>
            </a:r>
          </a:p>
        </p:txBody>
      </p:sp>
      <p:sp>
        <p:nvSpPr>
          <p:cNvPr id="6" name="TextBox 5"/>
          <p:cNvSpPr txBox="1"/>
          <p:nvPr/>
        </p:nvSpPr>
        <p:spPr>
          <a:xfrm>
            <a:off x="4572000" y="2834640"/>
            <a:ext cx="4297680" cy="1097280"/>
          </a:xfrm>
          <a:prstGeom prst="rect">
            <a:avLst/>
          </a:prstGeom>
          <a:solidFill>
            <a:srgbClr val="FFF0CC"/>
          </a:solidFill>
        </p:spPr>
        <p:txBody>
          <a:bodyPr wrap="square">
            <a:spAutoFit/>
          </a:bodyPr>
          <a:lstStyle/>
          <a:p>
            <a:pPr algn="l"/>
            <a:r>
              <a:rPr sz="1000" b="1">
                <a:solidFill>
                  <a:srgbClr val="E65100"/>
                </a:solidFill>
              </a:rPr>
              <a:t>Pertanyaan untuk Pak Fitra:</a:t>
            </a:r>
          </a:p>
          <a:p>
            <a:pPr algn="l"/>
          </a:p>
          <a:p>
            <a:pPr algn="l"/>
          </a:p>
          <a:p>
            <a:pPr algn="l"/>
          </a:p>
          <a:p>
            <a:pPr algn="l"/>
          </a:p>
          <a:p>
            <a:pPr algn="l"/>
          </a:p>
          <a:p>
            <a:pPr algn="l"/>
            <a:r>
              <a:rPr sz="950">
                <a:solidFill>
                  <a:srgbClr val="202020"/>
                </a:solidFill>
              </a:rPr>
              <a:t/>
            </a:r>
          </a:p>
          <a:p>
            <a:pPr algn="l"/>
            <a:r>
              <a:rPr sz="950">
                <a:solidFill>
                  <a:srgbClr val="202020"/>
                </a:solidFill>
              </a:rPr>
              <a:t>1. Bagaimana kesediaan 2 validator</a:t>
            </a:r>
          </a:p>
          <a:p>
            <a:pPr algn="l"/>
            <a:r>
              <a:rPr sz="950">
                <a:solidFill>
                  <a:srgbClr val="202020"/>
                </a:solidFill>
              </a:rPr>
              <a:t>   yang sudah dihubungi?</a:t>
            </a:r>
          </a:p>
          <a:p>
            <a:pPr algn="l"/>
            <a:r>
              <a:rPr sz="950">
                <a:solidFill>
                  <a:srgbClr val="202020"/>
                </a:solidFill>
              </a:rPr>
              <a:t>2. Apakah perlu honorarium?</a:t>
            </a:r>
          </a:p>
          <a:p>
            <a:pPr algn="l"/>
            <a:r>
              <a:rPr sz="950">
                <a:solidFill>
                  <a:srgbClr val="202020"/>
                </a:solidFill>
              </a:rPr>
              <a:t>3. Kapan estimasi bisa mulai validasi?</a:t>
            </a:r>
          </a:p>
        </p:txBody>
      </p:sp>
      <p:sp>
        <p:nvSpPr>
          <p:cNvPr id="7" name="TextBox 6"/>
          <p:cNvSpPr txBox="1"/>
          <p:nvPr/>
        </p:nvSpPr>
        <p:spPr>
          <a:xfrm>
            <a:off x="274320" y="4069080"/>
            <a:ext cx="8595360" cy="320040"/>
          </a:xfrm>
          <a:prstGeom prst="rect">
            <a:avLst/>
          </a:prstGeom>
          <a:solidFill>
            <a:srgbClr val="1A73E8"/>
          </a:solidFill>
        </p:spPr>
        <p:txBody>
          <a:bodyPr wrap="square">
            <a:spAutoFit/>
          </a:bodyPr>
          <a:lstStyle/>
          <a:p>
            <a:pPr algn="ctr"/>
            <a:r>
              <a:rPr sz="950" b="1" i="0">
                <a:solidFill>
                  <a:srgbClr val="FFFFFF"/>
                </a:solidFill>
              </a:rPr>
              <a:t>Target: validasi selesai dalam 1-2 minggu setelah validator confirmed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2000" b="1" i="0">
                <a:solidFill>
                  <a:srgbClr val="202020"/>
                </a:solidFill>
              </a:rPr>
              <a:t>Progress &amp; Konsultasi Paper</a:t>
            </a:r>
          </a:p>
        </p:txBody>
      </p:sp>
      <p:sp>
        <p:nvSpPr>
          <p:cNvPr id="3" name="TextBox 2"/>
          <p:cNvSpPr txBox="1"/>
          <p:nvPr/>
        </p:nvSpPr>
        <p:spPr>
          <a:xfrm>
            <a:off x="274320" y="685800"/>
            <a:ext cx="8595360" cy="914400"/>
          </a:xfrm>
          <a:prstGeom prst="rect">
            <a:avLst/>
          </a:prstGeom>
          <a:solidFill>
            <a:srgbClr val="E6F4EA"/>
          </a:solidFill>
        </p:spPr>
        <p:txBody>
          <a:bodyPr wrap="square">
            <a:spAutoFit/>
          </a:bodyPr>
          <a:lstStyle/>
          <a:p>
            <a:pPr algn="l"/>
            <a:r>
              <a:rPr sz="1100" b="1" i="0">
                <a:solidFill>
                  <a:srgbClr val="0F9D58"/>
                </a:solidFill>
              </a:rPr>
              <a:t>1. Draft Paper Taylor &amp; Francis (T&amp;F)</a:t>
            </a:r>
          </a:p>
          <a:p>
            <a:pPr algn="l"/>
            <a:r>
              <a:rPr sz="300" b="0" i="0"/>
              <a:t/>
            </a:r>
          </a:p>
          <a:p>
            <a:pPr algn="l"/>
            <a:r>
              <a:rPr sz="1000" b="1" i="0">
                <a:solidFill>
                  <a:srgbClr val="202020"/>
                </a:solidFill>
              </a:rPr>
              <a:t>Status: Revisi draft v0.3 sudah selesai dan dikirim ke Pak Fitra via WA</a:t>
            </a:r>
          </a:p>
          <a:p>
            <a:pPr algn="l"/>
            <a:r>
              <a:rPr sz="900" b="0" i="1">
                <a:solidFill>
                  <a:srgbClr val="666666"/>
                </a:solidFill>
              </a:rPr>
              <a:t>Link: drive.google.com/.../Taufik-Publikasi v0.3</a:t>
            </a:r>
          </a:p>
          <a:p>
            <a:pPr algn="l"/>
            <a:r>
              <a:rPr sz="300" b="0" i="0"/>
              <a:t/>
            </a:r>
          </a:p>
          <a:p>
            <a:pPr algn="l"/>
            <a:r>
              <a:rPr sz="950" b="0" i="0">
                <a:solidFill>
                  <a:srgbClr val="202020"/>
                </a:solidFill>
              </a:rPr>
              <a:t>Pertanyaan: Apakah draft sudah bisa dikirim ke Pak Budi &amp; Pak Fajar untuk review paralel,</a:t>
            </a:r>
          </a:p>
          <a:p>
            <a:pPr algn="l"/>
            <a:r>
              <a:rPr sz="950" b="0" i="0">
                <a:solidFill>
                  <a:srgbClr val="202020"/>
                </a:solidFill>
              </a:rPr>
              <a:t>atau menunggu arahan dari Pak Fitra terlebih dahulu?</a:t>
            </a:r>
          </a:p>
        </p:txBody>
      </p:sp>
      <p:sp>
        <p:nvSpPr>
          <p:cNvPr id="4" name="TextBox 3"/>
          <p:cNvSpPr txBox="1"/>
          <p:nvPr/>
        </p:nvSpPr>
        <p:spPr>
          <a:xfrm>
            <a:off x="274320" y="1737360"/>
            <a:ext cx="8595360" cy="640080"/>
          </a:xfrm>
          <a:prstGeom prst="rect">
            <a:avLst/>
          </a:prstGeom>
          <a:solidFill>
            <a:srgbClr val="E8F0FE"/>
          </a:solidFill>
        </p:spPr>
        <p:txBody>
          <a:bodyPr wrap="square">
            <a:spAutoFit/>
          </a:bodyPr>
          <a:lstStyle/>
          <a:p>
            <a:pPr algn="l"/>
            <a:r>
              <a:rPr sz="1100" b="1" i="0">
                <a:solidFill>
                  <a:srgbClr val="1A73E8"/>
                </a:solidFill>
              </a:rPr>
              <a:t>2. Paper EECCIS (subset APDM)</a:t>
            </a:r>
          </a:p>
          <a:p>
            <a:pPr algn="l"/>
            <a:r>
              <a:rPr sz="300" b="0" i="0"/>
              <a:t/>
            </a:r>
          </a:p>
          <a:p>
            <a:pPr algn="l"/>
            <a:r>
              <a:rPr sz="1000" b="1" i="0">
                <a:solidFill>
                  <a:srgbClr val="202020"/>
                </a:solidFill>
              </a:rPr>
              <a:t>Status: Menunggu pengumuman -- tanggal 20 April 2026</a:t>
            </a:r>
          </a:p>
        </p:txBody>
      </p:sp>
      <p:sp>
        <p:nvSpPr>
          <p:cNvPr id="5" name="TextBox 4"/>
          <p:cNvSpPr txBox="1"/>
          <p:nvPr/>
        </p:nvSpPr>
        <p:spPr>
          <a:xfrm>
            <a:off x="274320" y="2514600"/>
            <a:ext cx="8595360" cy="1463040"/>
          </a:xfrm>
          <a:prstGeom prst="rect">
            <a:avLst/>
          </a:prstGeom>
          <a:solidFill>
            <a:srgbClr val="FFF0CC"/>
          </a:solidFill>
        </p:spPr>
        <p:txBody>
          <a:bodyPr wrap="square">
            <a:spAutoFit/>
          </a:bodyPr>
          <a:lstStyle/>
          <a:p>
            <a:pPr algn="l"/>
            <a:r>
              <a:rPr sz="1100" b="1" i="0">
                <a:solidFill>
                  <a:srgbClr val="E65100"/>
                </a:solidFill>
              </a:rPr>
              <a:t>3. Draft Paper JITECH (untuk akselerasi)</a:t>
            </a:r>
          </a:p>
          <a:p>
            <a:pPr algn="l"/>
            <a:r>
              <a:rPr sz="300" b="0" i="0"/>
              <a:t/>
            </a:r>
          </a:p>
          <a:p>
            <a:pPr algn="l"/>
            <a:r>
              <a:rPr sz="1000" b="1" i="0">
                <a:solidFill>
                  <a:srgbClr val="202020"/>
                </a:solidFill>
              </a:rPr>
              <a:t>Pertanyaan:</a:t>
            </a:r>
          </a:p>
          <a:p>
            <a:pPr algn="l"/>
            <a:r>
              <a:rPr sz="300" b="0" i="0"/>
              <a:t/>
            </a:r>
          </a:p>
          <a:p>
            <a:pPr algn="l"/>
            <a:r>
              <a:rPr sz="1000" b="0" i="0">
                <a:solidFill>
                  <a:srgbClr val="202020"/>
                </a:solidFill>
              </a:rPr>
              <a:t>a. Apakah paper JITECH menggunakan data dari penelitian tesis ini?</a:t>
            </a:r>
          </a:p>
          <a:p>
            <a:pPr algn="l"/>
            <a:r>
              <a:rPr sz="300" b="0" i="0"/>
              <a:t/>
            </a:r>
          </a:p>
          <a:p>
            <a:pPr algn="l"/>
            <a:r>
              <a:rPr sz="1000" b="0" i="0">
                <a:solidFill>
                  <a:srgbClr val="202020"/>
                </a:solidFill>
              </a:rPr>
              <a:t>b. Jika iya, eksperimen mana yang digunakan?</a:t>
            </a:r>
          </a:p>
          <a:p>
            <a:pPr algn="l"/>
            <a:r>
              <a:rPr sz="900" b="0" i="0">
                <a:solidFill>
                  <a:srgbClr val="666666"/>
                </a:solidFill>
              </a:rPr>
              <a:t>   - Front-only saja atau termasuk front+side?</a:t>
            </a:r>
          </a:p>
          <a:p>
            <a:pPr algn="l"/>
            <a:r>
              <a:rPr sz="900" b="0" i="0">
                <a:solidFill>
                  <a:srgbClr val="666666"/>
                </a:solidFill>
              </a:rPr>
              <a:t>   - 4-class saja atau 7-class juga?</a:t>
            </a:r>
          </a:p>
          <a:p>
            <a:pPr algn="l"/>
            <a:r>
              <a:rPr sz="900" b="0" i="0">
                <a:solidFill>
                  <a:srgbClr val="666666"/>
                </a:solidFill>
              </a:rPr>
              <a:t>   - Termasuk benchmark (JAFFE/CK+)?</a:t>
            </a:r>
          </a:p>
          <a:p>
            <a:pPr algn="l"/>
            <a:r>
              <a:rPr sz="900" b="0" i="0">
                <a:solidFill>
                  <a:srgbClr val="666666"/>
                </a:solidFill>
              </a:rPr>
              <a:t>   - Transfer Learning saja atau semua model?</a:t>
            </a:r>
          </a:p>
        </p:txBody>
      </p:sp>
      <p:sp>
        <p:nvSpPr>
          <p:cNvPr id="6" name="TextBox 5"/>
          <p:cNvSpPr txBox="1"/>
          <p:nvPr/>
        </p:nvSpPr>
        <p:spPr>
          <a:xfrm>
            <a:off x="274320" y="4114800"/>
            <a:ext cx="8595360" cy="274320"/>
          </a:xfrm>
          <a:prstGeom prst="rect">
            <a:avLst/>
          </a:prstGeom>
          <a:solidFill>
            <a:srgbClr val="1A73E8"/>
          </a:solidFill>
        </p:spPr>
        <p:txBody>
          <a:bodyPr wrap="square">
            <a:spAutoFit/>
          </a:bodyPr>
          <a:lstStyle/>
          <a:p>
            <a:pPr algn="ctr"/>
            <a:r>
              <a:rPr sz="950" b="1" i="0">
                <a:solidFill>
                  <a:srgbClr val="FFFFFF"/>
                </a:solidFill>
              </a:rPr>
              <a:t>Mohon arahan Pak Fitra terkait scope dan timeline ketiga paper ini</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Tahap 5A: Undersampling Neutral -- Mengatasi Imbalance</a:t>
            </a:r>
          </a:p>
        </p:txBody>
      </p:sp>
      <p:sp>
        <p:nvSpPr>
          <p:cNvPr id="3" name="TextBox 2"/>
          <p:cNvSpPr txBox="1"/>
          <p:nvPr/>
        </p:nvSpPr>
        <p:spPr>
          <a:xfrm>
            <a:off x="274320" y="685800"/>
            <a:ext cx="8595360" cy="594360"/>
          </a:xfrm>
          <a:prstGeom prst="rect">
            <a:avLst/>
          </a:prstGeom>
          <a:solidFill>
            <a:srgbClr val="FFF0CC"/>
          </a:solidFill>
        </p:spPr>
        <p:txBody>
          <a:bodyPr wrap="square">
            <a:spAutoFit/>
          </a:bodyPr>
          <a:lstStyle/>
          <a:p>
            <a:pPr algn="l"/>
            <a:r>
              <a:rPr sz="1000" b="1" i="0">
                <a:solidFill>
                  <a:srgbClr val="202020"/>
                </a:solidFill>
              </a:rPr>
              <a:t>Masalah: Imbalance ratio 36.8:1 (neutral vs negative)</a:t>
            </a:r>
          </a:p>
          <a:p>
            <a:pPr algn="l"/>
            <a:r>
              <a:rPr sz="950" b="0" i="0">
                <a:solidFill>
                  <a:srgbClr val="666666"/>
                </a:solidFill>
              </a:rPr>
              <a:t>Model cenderung prediksi semua neutral -&gt; accuracy 95% tapi F1 rendah</a:t>
            </a:r>
          </a:p>
        </p:txBody>
      </p:sp>
      <p:graphicFrame>
        <p:nvGraphicFramePr>
          <p:cNvPr id="4" name="Table 3"/>
          <p:cNvGraphicFramePr>
            <a:graphicFrameLocks noGrp="1"/>
          </p:cNvGraphicFramePr>
          <p:nvPr/>
        </p:nvGraphicFramePr>
        <p:xfrm>
          <a:off x="274320" y="1417320"/>
          <a:ext cx="8595360" cy="1417320"/>
        </p:xfrm>
        <a:graphic>
          <a:graphicData uri="http://schemas.openxmlformats.org/drawingml/2006/table">
            <a:tbl>
              <a:tblPr firstRow="1" bandRow="1"/>
              <a:tblGrid>
                <a:gridCol w="2011680"/>
                <a:gridCol w="2103120"/>
                <a:gridCol w="2103120"/>
                <a:gridCol w="2377440"/>
              </a:tblGrid>
              <a:tr h="283464">
                <a:tc>
                  <a:txBody>
                    <a:bodyPr/>
                    <a:lstStyle/>
                    <a:p>
                      <a:pPr algn="ctr"/>
                      <a:r>
                        <a:rPr sz="950" b="1">
                          <a:solidFill>
                            <a:srgbClr val="FFFFFF"/>
                          </a:solidFill>
                        </a:rPr>
                        <a:t>Variasi</a:t>
                      </a:r>
                    </a:p>
                  </a:txBody>
                  <a:tcPr>
                    <a:solidFill>
                      <a:srgbClr val="1A73E8"/>
                    </a:solidFill>
                  </a:tcPr>
                </a:tc>
                <a:tc>
                  <a:txBody>
                    <a:bodyPr/>
                    <a:lstStyle/>
                    <a:p>
                      <a:pPr algn="ctr"/>
                      <a:r>
                        <a:rPr sz="950" b="1">
                          <a:solidFill>
                            <a:srgbClr val="FFFFFF"/>
                          </a:solidFill>
                        </a:rPr>
                        <a:t>Neutral Train</a:t>
                      </a:r>
                    </a:p>
                  </a:txBody>
                  <a:tcPr>
                    <a:solidFill>
                      <a:srgbClr val="1A73E8"/>
                    </a:solidFill>
                  </a:tcPr>
                </a:tc>
                <a:tc>
                  <a:txBody>
                    <a:bodyPr/>
                    <a:lstStyle/>
                    <a:p>
                      <a:pPr algn="ctr"/>
                      <a:r>
                        <a:rPr sz="950" b="1">
                          <a:solidFill>
                            <a:srgbClr val="FFFFFF"/>
                          </a:solidFill>
                        </a:rPr>
                        <a:t>Total Train</a:t>
                      </a:r>
                    </a:p>
                  </a:txBody>
                  <a:tcPr>
                    <a:solidFill>
                      <a:srgbClr val="1A73E8"/>
                    </a:solidFill>
                  </a:tcPr>
                </a:tc>
                <a:tc>
                  <a:txBody>
                    <a:bodyPr/>
                    <a:lstStyle/>
                    <a:p>
                      <a:pPr algn="ctr"/>
                      <a:r>
                        <a:rPr sz="950" b="1">
                          <a:solidFill>
                            <a:srgbClr val="FFFFFF"/>
                          </a:solidFill>
                        </a:rPr>
                        <a:t>Rasio N:Neg</a:t>
                      </a:r>
                    </a:p>
                  </a:txBody>
                  <a:tcPr>
                    <a:solidFill>
                      <a:srgbClr val="1A73E8"/>
                    </a:solidFill>
                  </a:tcPr>
                </a:tc>
              </a:tr>
              <a:tr h="283464">
                <a:tc>
                  <a:txBody>
                    <a:bodyPr/>
                    <a:lstStyle/>
                    <a:p>
                      <a:pPr algn="l"/>
                      <a:r>
                        <a:rPr sz="950" b="1">
                          <a:solidFill>
                            <a:srgbClr val="202020"/>
                          </a:solidFill>
                        </a:rPr>
                        <a:t>Original</a:t>
                      </a:r>
                    </a:p>
                  </a:txBody>
                  <a:tcPr>
                    <a:solidFill>
                      <a:srgbClr val="E8F0FE"/>
                    </a:solidFill>
                  </a:tcPr>
                </a:tc>
                <a:tc>
                  <a:txBody>
                    <a:bodyPr/>
                    <a:lstStyle/>
                    <a:p>
                      <a:pPr algn="ctr"/>
                      <a:r>
                        <a:rPr sz="950">
                          <a:solidFill>
                            <a:srgbClr val="202020"/>
                          </a:solidFill>
                        </a:rPr>
                        <a:t>4,192</a:t>
                      </a:r>
                    </a:p>
                  </a:txBody>
                  <a:tcPr>
                    <a:solidFill>
                      <a:srgbClr val="E8F0FE"/>
                    </a:solidFill>
                  </a:tcPr>
                </a:tc>
                <a:tc>
                  <a:txBody>
                    <a:bodyPr/>
                    <a:lstStyle/>
                    <a:p>
                      <a:pPr algn="ctr"/>
                      <a:r>
                        <a:rPr sz="950">
                          <a:solidFill>
                            <a:srgbClr val="202020"/>
                          </a:solidFill>
                        </a:rPr>
                        <a:t>5,348</a:t>
                      </a:r>
                    </a:p>
                  </a:txBody>
                  <a:tcPr>
                    <a:solidFill>
                      <a:srgbClr val="E8F0FE"/>
                    </a:solidFill>
                  </a:tcPr>
                </a:tc>
                <a:tc>
                  <a:txBody>
                    <a:bodyPr/>
                    <a:lstStyle/>
                    <a:p>
                      <a:pPr algn="ctr"/>
                      <a:r>
                        <a:rPr sz="950">
                          <a:solidFill>
                            <a:srgbClr val="202020"/>
                          </a:solidFill>
                        </a:rPr>
                        <a:t>36.8:1</a:t>
                      </a:r>
                    </a:p>
                  </a:txBody>
                  <a:tcPr>
                    <a:solidFill>
                      <a:srgbClr val="E8F0FE"/>
                    </a:solidFill>
                  </a:tcPr>
                </a:tc>
              </a:tr>
              <a:tr h="283464">
                <a:tc>
                  <a:txBody>
                    <a:bodyPr/>
                    <a:lstStyle/>
                    <a:p>
                      <a:pPr algn="l"/>
                      <a:r>
                        <a:rPr sz="950" b="1">
                          <a:solidFill>
                            <a:srgbClr val="202020"/>
                          </a:solidFill>
                        </a:rPr>
                        <a:t>Under-660</a:t>
                      </a:r>
                    </a:p>
                  </a:txBody>
                  <a:tcPr>
                    <a:solidFill>
                      <a:srgbClr val="FFFFFF"/>
                    </a:solidFill>
                  </a:tcPr>
                </a:tc>
                <a:tc>
                  <a:txBody>
                    <a:bodyPr/>
                    <a:lstStyle/>
                    <a:p>
                      <a:pPr algn="ctr"/>
                      <a:r>
                        <a:rPr sz="950">
                          <a:solidFill>
                            <a:srgbClr val="202020"/>
                          </a:solidFill>
                        </a:rPr>
                        <a:t>660</a:t>
                      </a:r>
                    </a:p>
                  </a:txBody>
                  <a:tcPr>
                    <a:solidFill>
                      <a:srgbClr val="FFFFFF"/>
                    </a:solidFill>
                  </a:tcPr>
                </a:tc>
                <a:tc>
                  <a:txBody>
                    <a:bodyPr/>
                    <a:lstStyle/>
                    <a:p>
                      <a:pPr algn="ctr"/>
                      <a:r>
                        <a:rPr sz="950">
                          <a:solidFill>
                            <a:srgbClr val="202020"/>
                          </a:solidFill>
                        </a:rPr>
                        <a:t>1,816</a:t>
                      </a:r>
                    </a:p>
                  </a:txBody>
                  <a:tcPr>
                    <a:solidFill>
                      <a:srgbClr val="FFFFFF"/>
                    </a:solidFill>
                  </a:tcPr>
                </a:tc>
                <a:tc>
                  <a:txBody>
                    <a:bodyPr/>
                    <a:lstStyle/>
                    <a:p>
                      <a:pPr algn="ctr"/>
                      <a:r>
                        <a:rPr sz="950">
                          <a:solidFill>
                            <a:srgbClr val="202020"/>
                          </a:solidFill>
                        </a:rPr>
                        <a:t>5.8:1</a:t>
                      </a:r>
                    </a:p>
                  </a:txBody>
                  <a:tcPr>
                    <a:solidFill>
                      <a:srgbClr val="FFFFFF"/>
                    </a:solidFill>
                  </a:tcPr>
                </a:tc>
              </a:tr>
              <a:tr h="283464">
                <a:tc>
                  <a:txBody>
                    <a:bodyPr/>
                    <a:lstStyle/>
                    <a:p>
                      <a:pPr algn="l"/>
                      <a:r>
                        <a:rPr sz="950" b="1">
                          <a:solidFill>
                            <a:srgbClr val="202020"/>
                          </a:solidFill>
                        </a:rPr>
                        <a:t>Under-382</a:t>
                      </a:r>
                    </a:p>
                  </a:txBody>
                  <a:tcPr>
                    <a:solidFill>
                      <a:srgbClr val="E8F0FE"/>
                    </a:solidFill>
                  </a:tcPr>
                </a:tc>
                <a:tc>
                  <a:txBody>
                    <a:bodyPr/>
                    <a:lstStyle/>
                    <a:p>
                      <a:pPr algn="ctr"/>
                      <a:r>
                        <a:rPr sz="950">
                          <a:solidFill>
                            <a:srgbClr val="202020"/>
                          </a:solidFill>
                        </a:rPr>
                        <a:t>382</a:t>
                      </a:r>
                    </a:p>
                  </a:txBody>
                  <a:tcPr>
                    <a:solidFill>
                      <a:srgbClr val="E8F0FE"/>
                    </a:solidFill>
                  </a:tcPr>
                </a:tc>
                <a:tc>
                  <a:txBody>
                    <a:bodyPr/>
                    <a:lstStyle/>
                    <a:p>
                      <a:pPr algn="ctr"/>
                      <a:r>
                        <a:rPr sz="950">
                          <a:solidFill>
                            <a:srgbClr val="202020"/>
                          </a:solidFill>
                        </a:rPr>
                        <a:t>1,538</a:t>
                      </a:r>
                    </a:p>
                  </a:txBody>
                  <a:tcPr>
                    <a:solidFill>
                      <a:srgbClr val="E8F0FE"/>
                    </a:solidFill>
                  </a:tcPr>
                </a:tc>
                <a:tc>
                  <a:txBody>
                    <a:bodyPr/>
                    <a:lstStyle/>
                    <a:p>
                      <a:pPr algn="ctr"/>
                      <a:r>
                        <a:rPr sz="950">
                          <a:solidFill>
                            <a:srgbClr val="202020"/>
                          </a:solidFill>
                        </a:rPr>
                        <a:t>3.4:1</a:t>
                      </a:r>
                    </a:p>
                  </a:txBody>
                  <a:tcPr>
                    <a:solidFill>
                      <a:srgbClr val="E8F0FE"/>
                    </a:solidFill>
                  </a:tcPr>
                </a:tc>
              </a:tr>
              <a:tr h="283464">
                <a:tc>
                  <a:txBody>
                    <a:bodyPr/>
                    <a:lstStyle/>
                    <a:p>
                      <a:pPr algn="l"/>
                      <a:r>
                        <a:rPr sz="950" b="1">
                          <a:solidFill>
                            <a:srgbClr val="202020"/>
                          </a:solidFill>
                        </a:rPr>
                        <a:t>Under-114</a:t>
                      </a:r>
                    </a:p>
                  </a:txBody>
                  <a:tcPr>
                    <a:solidFill>
                      <a:srgbClr val="FFFFFF"/>
                    </a:solidFill>
                  </a:tcPr>
                </a:tc>
                <a:tc>
                  <a:txBody>
                    <a:bodyPr/>
                    <a:lstStyle/>
                    <a:p>
                      <a:pPr algn="ctr"/>
                      <a:r>
                        <a:rPr sz="950">
                          <a:solidFill>
                            <a:srgbClr val="202020"/>
                          </a:solidFill>
                        </a:rPr>
                        <a:t>114</a:t>
                      </a:r>
                    </a:p>
                  </a:txBody>
                  <a:tcPr>
                    <a:solidFill>
                      <a:srgbClr val="FFFFFF"/>
                    </a:solidFill>
                  </a:tcPr>
                </a:tc>
                <a:tc>
                  <a:txBody>
                    <a:bodyPr/>
                    <a:lstStyle/>
                    <a:p>
                      <a:pPr algn="ctr"/>
                      <a:r>
                        <a:rPr sz="950">
                          <a:solidFill>
                            <a:srgbClr val="202020"/>
                          </a:solidFill>
                        </a:rPr>
                        <a:t>1,270</a:t>
                      </a:r>
                    </a:p>
                  </a:txBody>
                  <a:tcPr>
                    <a:solidFill>
                      <a:srgbClr val="FFFFFF"/>
                    </a:solidFill>
                  </a:tcPr>
                </a:tc>
                <a:tc>
                  <a:txBody>
                    <a:bodyPr/>
                    <a:lstStyle/>
                    <a:p>
                      <a:pPr algn="ctr"/>
                      <a:r>
                        <a:rPr sz="950">
                          <a:solidFill>
                            <a:srgbClr val="202020"/>
                          </a:solidFill>
                        </a:rPr>
                        <a:t>1:1</a:t>
                      </a:r>
                    </a:p>
                  </a:txBody>
                  <a:tcPr>
                    <a:solidFill>
                      <a:srgbClr val="FFFFFF"/>
                    </a:solidFill>
                  </a:tcPr>
                </a:tc>
              </a:tr>
            </a:tbl>
          </a:graphicData>
        </a:graphic>
      </p:graphicFrame>
      <p:graphicFrame>
        <p:nvGraphicFramePr>
          <p:cNvPr id="5" name="Table 4"/>
          <p:cNvGraphicFramePr>
            <a:graphicFrameLocks noGrp="1"/>
          </p:cNvGraphicFramePr>
          <p:nvPr/>
        </p:nvGraphicFramePr>
        <p:xfrm>
          <a:off x="274320" y="2971800"/>
          <a:ext cx="8595360" cy="1097280"/>
        </p:xfrm>
        <a:graphic>
          <a:graphicData uri="http://schemas.openxmlformats.org/drawingml/2006/table">
            <a:tbl>
              <a:tblPr firstRow="1" bandRow="1"/>
              <a:tblGrid>
                <a:gridCol w="2286000"/>
                <a:gridCol w="2103120"/>
                <a:gridCol w="2103120"/>
                <a:gridCol w="2103120"/>
              </a:tblGrid>
              <a:tr h="274320">
                <a:tc>
                  <a:txBody>
                    <a:bodyPr/>
                    <a:lstStyle/>
                    <a:p>
                      <a:pPr algn="ctr"/>
                      <a:r>
                        <a:rPr sz="950" b="1">
                          <a:solidFill>
                            <a:srgbClr val="FFFFFF"/>
                          </a:solidFill>
                        </a:rPr>
                        <a:t>Model</a:t>
                      </a:r>
                    </a:p>
                  </a:txBody>
                  <a:tcPr>
                    <a:solidFill>
                      <a:srgbClr val="1A73E8"/>
                    </a:solidFill>
                  </a:tcPr>
                </a:tc>
                <a:tc>
                  <a:txBody>
                    <a:bodyPr/>
                    <a:lstStyle/>
                    <a:p>
                      <a:pPr algn="ctr"/>
                      <a:r>
                        <a:rPr sz="950" b="1">
                          <a:solidFill>
                            <a:srgbClr val="FFFFFF"/>
                          </a:solidFill>
                        </a:rPr>
                        <a:t>Original F1</a:t>
                      </a:r>
                    </a:p>
                  </a:txBody>
                  <a:tcPr>
                    <a:solidFill>
                      <a:srgbClr val="1A73E8"/>
                    </a:solidFill>
                  </a:tcPr>
                </a:tc>
                <a:tc>
                  <a:txBody>
                    <a:bodyPr/>
                    <a:lstStyle/>
                    <a:p>
                      <a:pPr algn="ctr"/>
                      <a:r>
                        <a:rPr sz="950" b="1">
                          <a:solidFill>
                            <a:srgbClr val="FFFFFF"/>
                          </a:solidFill>
                        </a:rPr>
                        <a:t>Under-660 F1</a:t>
                      </a:r>
                    </a:p>
                  </a:txBody>
                  <a:tcPr>
                    <a:solidFill>
                      <a:srgbClr val="1A73E8"/>
                    </a:solidFill>
                  </a:tcPr>
                </a:tc>
                <a:tc>
                  <a:txBody>
                    <a:bodyPr/>
                    <a:lstStyle/>
                    <a:p>
                      <a:pPr algn="ctr"/>
                      <a:r>
                        <a:rPr sz="950" b="1">
                          <a:solidFill>
                            <a:srgbClr val="FFFFFF"/>
                          </a:solidFill>
                        </a:rPr>
                        <a:t>Improvement</a:t>
                      </a:r>
                    </a:p>
                  </a:txBody>
                  <a:tcPr>
                    <a:solidFill>
                      <a:srgbClr val="1A73E8"/>
                    </a:solidFill>
                  </a:tcPr>
                </a:tc>
              </a:tr>
              <a:tr h="274320">
                <a:tc>
                  <a:txBody>
                    <a:bodyPr/>
                    <a:lstStyle/>
                    <a:p>
                      <a:pPr algn="l"/>
                      <a:r>
                        <a:rPr sz="950" b="1">
                          <a:solidFill>
                            <a:srgbClr val="202020"/>
                          </a:solidFill>
                        </a:rPr>
                        <a:t>Intermediate TL</a:t>
                      </a:r>
                    </a:p>
                  </a:txBody>
                  <a:tcPr>
                    <a:solidFill>
                      <a:srgbClr val="E8F0FE"/>
                    </a:solidFill>
                  </a:tcPr>
                </a:tc>
                <a:tc>
                  <a:txBody>
                    <a:bodyPr/>
                    <a:lstStyle/>
                    <a:p>
                      <a:pPr algn="ctr"/>
                      <a:r>
                        <a:rPr sz="950" b="0">
                          <a:solidFill>
                            <a:srgbClr val="202020"/>
                          </a:solidFill>
                        </a:rPr>
                        <a:t>0.363</a:t>
                      </a:r>
                    </a:p>
                  </a:txBody>
                  <a:tcPr>
                    <a:solidFill>
                      <a:srgbClr val="E8F0FE"/>
                    </a:solidFill>
                  </a:tcPr>
                </a:tc>
                <a:tc>
                  <a:txBody>
                    <a:bodyPr/>
                    <a:lstStyle/>
                    <a:p>
                      <a:pPr algn="ctr"/>
                      <a:r>
                        <a:rPr sz="950" b="0">
                          <a:solidFill>
                            <a:srgbClr val="202020"/>
                          </a:solidFill>
                        </a:rPr>
                        <a:t>0.257</a:t>
                      </a:r>
                    </a:p>
                  </a:txBody>
                  <a:tcPr>
                    <a:solidFill>
                      <a:srgbClr val="E8F0FE"/>
                    </a:solidFill>
                  </a:tcPr>
                </a:tc>
                <a:tc>
                  <a:txBody>
                    <a:bodyPr/>
                    <a:lstStyle/>
                    <a:p>
                      <a:pPr algn="ctr"/>
                      <a:r>
                        <a:rPr sz="950" b="0">
                          <a:solidFill>
                            <a:srgbClr val="202020"/>
                          </a:solidFill>
                        </a:rPr>
                        <a:t>-29%</a:t>
                      </a:r>
                    </a:p>
                  </a:txBody>
                  <a:tcPr>
                    <a:solidFill>
                      <a:srgbClr val="E8F0FE"/>
                    </a:solidFill>
                  </a:tcPr>
                </a:tc>
              </a:tr>
              <a:tr h="274320">
                <a:tc>
                  <a:txBody>
                    <a:bodyPr/>
                    <a:lstStyle/>
                    <a:p>
                      <a:pPr algn="l"/>
                      <a:r>
                        <a:rPr sz="950" b="1">
                          <a:solidFill>
                            <a:srgbClr val="202020"/>
                          </a:solidFill>
                        </a:rPr>
                        <a:t>FCNN</a:t>
                      </a:r>
                    </a:p>
                  </a:txBody>
                  <a:tcPr>
                    <a:solidFill>
                      <a:srgbClr val="FFFFFF"/>
                    </a:solidFill>
                  </a:tcPr>
                </a:tc>
                <a:tc>
                  <a:txBody>
                    <a:bodyPr/>
                    <a:lstStyle/>
                    <a:p>
                      <a:pPr algn="ctr"/>
                      <a:r>
                        <a:rPr sz="950" b="0">
                          <a:solidFill>
                            <a:srgbClr val="202020"/>
                          </a:solidFill>
                        </a:rPr>
                        <a:t>0.263</a:t>
                      </a:r>
                    </a:p>
                  </a:txBody>
                  <a:tcPr>
                    <a:solidFill>
                      <a:srgbClr val="FFFFFF"/>
                    </a:solidFill>
                  </a:tcPr>
                </a:tc>
                <a:tc>
                  <a:txBody>
                    <a:bodyPr/>
                    <a:lstStyle/>
                    <a:p>
                      <a:pPr algn="ctr"/>
                      <a:r>
                        <a:rPr sz="950" b="0">
                          <a:solidFill>
                            <a:srgbClr val="202020"/>
                          </a:solidFill>
                        </a:rPr>
                        <a:t>0.348</a:t>
                      </a:r>
                    </a:p>
                  </a:txBody>
                  <a:tcPr>
                    <a:solidFill>
                      <a:srgbClr val="FFFFFF"/>
                    </a:solidFill>
                  </a:tcPr>
                </a:tc>
                <a:tc>
                  <a:txBody>
                    <a:bodyPr/>
                    <a:lstStyle/>
                    <a:p>
                      <a:pPr algn="ctr"/>
                      <a:r>
                        <a:rPr sz="950" b="0">
                          <a:solidFill>
                            <a:srgbClr val="202020"/>
                          </a:solidFill>
                        </a:rPr>
                        <a:t>+32%</a:t>
                      </a:r>
                    </a:p>
                  </a:txBody>
                  <a:tcPr>
                    <a:solidFill>
                      <a:srgbClr val="FFFFFF"/>
                    </a:solidFill>
                  </a:tcPr>
                </a:tc>
              </a:tr>
              <a:tr h="274320">
                <a:tc>
                  <a:txBody>
                    <a:bodyPr/>
                    <a:lstStyle/>
                    <a:p>
                      <a:pPr algn="l"/>
                      <a:r>
                        <a:rPr sz="950" b="1">
                          <a:solidFill>
                            <a:srgbClr val="202020"/>
                          </a:solidFill>
                        </a:rPr>
                        <a:t>Late Fusion</a:t>
                      </a:r>
                    </a:p>
                  </a:txBody>
                  <a:tcPr>
                    <a:solidFill>
                      <a:srgbClr val="E8F0FE"/>
                    </a:solidFill>
                  </a:tcPr>
                </a:tc>
                <a:tc>
                  <a:txBody>
                    <a:bodyPr/>
                    <a:lstStyle/>
                    <a:p>
                      <a:pPr algn="ctr"/>
                      <a:r>
                        <a:rPr sz="950" b="0">
                          <a:solidFill>
                            <a:srgbClr val="202020"/>
                          </a:solidFill>
                        </a:rPr>
                        <a:t>0.296</a:t>
                      </a:r>
                    </a:p>
                  </a:txBody>
                  <a:tcPr>
                    <a:solidFill>
                      <a:srgbClr val="E8F0FE"/>
                    </a:solidFill>
                  </a:tcPr>
                </a:tc>
                <a:tc>
                  <a:txBody>
                    <a:bodyPr/>
                    <a:lstStyle/>
                    <a:p>
                      <a:pPr algn="ctr"/>
                      <a:r>
                        <a:rPr sz="950" b="1">
                          <a:solidFill>
                            <a:srgbClr val="202020"/>
                          </a:solidFill>
                        </a:rPr>
                        <a:t>0.405</a:t>
                      </a:r>
                    </a:p>
                  </a:txBody>
                  <a:tcPr>
                    <a:solidFill>
                      <a:srgbClr val="C6EFCE"/>
                    </a:solidFill>
                  </a:tcPr>
                </a:tc>
                <a:tc>
                  <a:txBody>
                    <a:bodyPr/>
                    <a:lstStyle/>
                    <a:p>
                      <a:pPr algn="ctr"/>
                      <a:r>
                        <a:rPr sz="950" b="1">
                          <a:solidFill>
                            <a:srgbClr val="202020"/>
                          </a:solidFill>
                        </a:rPr>
                        <a:t>+37%</a:t>
                      </a:r>
                    </a:p>
                  </a:txBody>
                  <a:tcPr>
                    <a:solidFill>
                      <a:srgbClr val="C6EFCE"/>
                    </a:solidFill>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Tahap 5A: Analisis Per-Kelas Undersampling</a:t>
            </a:r>
          </a:p>
        </p:txBody>
      </p:sp>
      <p:sp>
        <p:nvSpPr>
          <p:cNvPr id="3" name="TextBox 2"/>
          <p:cNvSpPr txBox="1"/>
          <p:nvPr/>
        </p:nvSpPr>
        <p:spPr>
          <a:xfrm>
            <a:off x="274320" y="658368"/>
            <a:ext cx="8595360" cy="274320"/>
          </a:xfrm>
          <a:prstGeom prst="rect">
            <a:avLst/>
          </a:prstGeom>
          <a:noFill/>
        </p:spPr>
        <p:txBody>
          <a:bodyPr wrap="none">
            <a:spAutoFit/>
          </a:bodyPr>
          <a:lstStyle/>
          <a:p>
            <a:pPr algn="l"/>
            <a:r>
              <a:rPr sz="1000" b="1" i="0">
                <a:solidFill>
                  <a:srgbClr val="1A73E8"/>
                </a:solidFill>
              </a:rPr>
              <a:t>Late Fusion -- Per-Class F1 Score</a:t>
            </a:r>
          </a:p>
        </p:txBody>
      </p:sp>
      <p:graphicFrame>
        <p:nvGraphicFramePr>
          <p:cNvPr id="4" name="Table 3"/>
          <p:cNvGraphicFramePr>
            <a:graphicFrameLocks noGrp="1"/>
          </p:cNvGraphicFramePr>
          <p:nvPr/>
        </p:nvGraphicFramePr>
        <p:xfrm>
          <a:off x="274320" y="960120"/>
          <a:ext cx="8595357" cy="1371600"/>
        </p:xfrm>
        <a:graphic>
          <a:graphicData uri="http://schemas.openxmlformats.org/drawingml/2006/table">
            <a:tbl>
              <a:tblPr firstRow="1" bandRow="1"/>
              <a:tblGrid>
                <a:gridCol w="1736436"/>
                <a:gridCol w="1562792"/>
                <a:gridCol w="1302327"/>
                <a:gridCol w="1302327"/>
                <a:gridCol w="1215505"/>
                <a:gridCol w="1475970"/>
              </a:tblGrid>
              <a:tr h="274320">
                <a:tc>
                  <a:txBody>
                    <a:bodyPr/>
                    <a:lstStyle/>
                    <a:p>
                      <a:pPr algn="ctr"/>
                      <a:r>
                        <a:rPr sz="950" b="1">
                          <a:solidFill>
                            <a:srgbClr val="FFFFFF"/>
                          </a:solidFill>
                        </a:rPr>
                        <a:t>Dataset</a:t>
                      </a:r>
                    </a:p>
                  </a:txBody>
                  <a:tcPr>
                    <a:solidFill>
                      <a:srgbClr val="1A73E8"/>
                    </a:solidFill>
                  </a:tcPr>
                </a:tc>
                <a:tc>
                  <a:txBody>
                    <a:bodyPr/>
                    <a:lstStyle/>
                    <a:p>
                      <a:pPr algn="ctr"/>
                      <a:r>
                        <a:rPr sz="950" b="1">
                          <a:solidFill>
                            <a:srgbClr val="FFFFFF"/>
                          </a:solidFill>
                        </a:rPr>
                        <a:t>Macro F1</a:t>
                      </a:r>
                    </a:p>
                  </a:txBody>
                  <a:tcPr>
                    <a:solidFill>
                      <a:srgbClr val="1A73E8"/>
                    </a:solidFill>
                  </a:tcPr>
                </a:tc>
                <a:tc>
                  <a:txBody>
                    <a:bodyPr/>
                    <a:lstStyle/>
                    <a:p>
                      <a:pPr algn="ctr"/>
                      <a:r>
                        <a:rPr sz="950" b="1">
                          <a:solidFill>
                            <a:srgbClr val="FFFFFF"/>
                          </a:solidFill>
                        </a:rPr>
                        <a:t>neutral</a:t>
                      </a:r>
                    </a:p>
                  </a:txBody>
                  <a:tcPr>
                    <a:solidFill>
                      <a:srgbClr val="1A73E8"/>
                    </a:solidFill>
                  </a:tcPr>
                </a:tc>
                <a:tc>
                  <a:txBody>
                    <a:bodyPr/>
                    <a:lstStyle/>
                    <a:p>
                      <a:pPr algn="ctr"/>
                      <a:r>
                        <a:rPr sz="950" b="1">
                          <a:solidFill>
                            <a:srgbClr val="FFFFFF"/>
                          </a:solidFill>
                        </a:rPr>
                        <a:t>happy</a:t>
                      </a:r>
                    </a:p>
                  </a:txBody>
                  <a:tcPr>
                    <a:solidFill>
                      <a:srgbClr val="1A73E8"/>
                    </a:solidFill>
                  </a:tcPr>
                </a:tc>
                <a:tc>
                  <a:txBody>
                    <a:bodyPr/>
                    <a:lstStyle/>
                    <a:p>
                      <a:pPr algn="ctr"/>
                      <a:r>
                        <a:rPr sz="950" b="1">
                          <a:solidFill>
                            <a:srgbClr val="FFFFFF"/>
                          </a:solidFill>
                        </a:rPr>
                        <a:t>sad</a:t>
                      </a:r>
                    </a:p>
                  </a:txBody>
                  <a:tcPr>
                    <a:solidFill>
                      <a:srgbClr val="1A73E8"/>
                    </a:solidFill>
                  </a:tcPr>
                </a:tc>
                <a:tc>
                  <a:txBody>
                    <a:bodyPr/>
                    <a:lstStyle/>
                    <a:p>
                      <a:pPr algn="ctr"/>
                      <a:r>
                        <a:rPr sz="950" b="1">
                          <a:solidFill>
                            <a:srgbClr val="FFFFFF"/>
                          </a:solidFill>
                        </a:rPr>
                        <a:t>negative</a:t>
                      </a:r>
                    </a:p>
                  </a:txBody>
                  <a:tcPr>
                    <a:solidFill>
                      <a:srgbClr val="1A73E8"/>
                    </a:solidFill>
                  </a:tcPr>
                </a:tc>
              </a:tr>
              <a:tr h="274320">
                <a:tc>
                  <a:txBody>
                    <a:bodyPr/>
                    <a:lstStyle/>
                    <a:p>
                      <a:pPr algn="l"/>
                      <a:r>
                        <a:rPr sz="900" b="1">
                          <a:solidFill>
                            <a:srgbClr val="202020"/>
                          </a:solidFill>
                        </a:rPr>
                        <a:t>Original</a:t>
                      </a:r>
                    </a:p>
                  </a:txBody>
                  <a:tcPr>
                    <a:solidFill>
                      <a:srgbClr val="E8F0FE"/>
                    </a:solidFill>
                  </a:tcPr>
                </a:tc>
                <a:tc>
                  <a:txBody>
                    <a:bodyPr/>
                    <a:lstStyle/>
                    <a:p>
                      <a:pPr algn="ctr"/>
                      <a:r>
                        <a:rPr sz="900" b="0">
                          <a:solidFill>
                            <a:srgbClr val="202020"/>
                          </a:solidFill>
                        </a:rPr>
                        <a:t>0.296</a:t>
                      </a:r>
                    </a:p>
                  </a:txBody>
                  <a:tcPr>
                    <a:solidFill>
                      <a:srgbClr val="E8F0FE"/>
                    </a:solidFill>
                  </a:tcPr>
                </a:tc>
                <a:tc>
                  <a:txBody>
                    <a:bodyPr/>
                    <a:lstStyle/>
                    <a:p>
                      <a:pPr algn="ctr"/>
                      <a:r>
                        <a:rPr sz="900" b="0">
                          <a:solidFill>
                            <a:srgbClr val="202020"/>
                          </a:solidFill>
                        </a:rPr>
                        <a:t>0.967</a:t>
                      </a:r>
                    </a:p>
                  </a:txBody>
                  <a:tcPr>
                    <a:solidFill>
                      <a:srgbClr val="E8F0FE"/>
                    </a:solidFill>
                  </a:tcPr>
                </a:tc>
                <a:tc>
                  <a:txBody>
                    <a:bodyPr/>
                    <a:lstStyle/>
                    <a:p>
                      <a:pPr algn="ctr"/>
                      <a:r>
                        <a:rPr sz="900" b="0">
                          <a:solidFill>
                            <a:srgbClr val="202020"/>
                          </a:solidFill>
                        </a:rPr>
                        <a:t>0.158</a:t>
                      </a:r>
                    </a:p>
                  </a:txBody>
                  <a:tcPr>
                    <a:solidFill>
                      <a:srgbClr val="E8F0FE"/>
                    </a:solidFill>
                  </a:tcPr>
                </a:tc>
                <a:tc>
                  <a:txBody>
                    <a:bodyPr/>
                    <a:lstStyle/>
                    <a:p>
                      <a:pPr algn="ctr"/>
                      <a:r>
                        <a:rPr sz="900" b="0">
                          <a:solidFill>
                            <a:srgbClr val="202020"/>
                          </a:solidFill>
                        </a:rPr>
                        <a:t>0.061</a:t>
                      </a:r>
                    </a:p>
                  </a:txBody>
                  <a:tcPr>
                    <a:solidFill>
                      <a:srgbClr val="E8F0FE"/>
                    </a:solidFill>
                  </a:tcPr>
                </a:tc>
                <a:tc>
                  <a:txBody>
                    <a:bodyPr/>
                    <a:lstStyle/>
                    <a:p>
                      <a:pPr algn="ctr"/>
                      <a:r>
                        <a:rPr sz="900" b="0">
                          <a:solidFill>
                            <a:srgbClr val="202020"/>
                          </a:solidFill>
                        </a:rPr>
                        <a:t>0.000</a:t>
                      </a:r>
                    </a:p>
                  </a:txBody>
                  <a:tcPr>
                    <a:solidFill>
                      <a:srgbClr val="E8F0FE"/>
                    </a:solidFill>
                  </a:tcPr>
                </a:tc>
              </a:tr>
              <a:tr h="274320">
                <a:tc>
                  <a:txBody>
                    <a:bodyPr/>
                    <a:lstStyle/>
                    <a:p>
                      <a:pPr algn="l"/>
                      <a:r>
                        <a:rPr sz="900" b="1">
                          <a:solidFill>
                            <a:srgbClr val="202020"/>
                          </a:solidFill>
                        </a:rPr>
                        <a:t>Under-660</a:t>
                      </a:r>
                    </a:p>
                  </a:txBody>
                  <a:tcPr>
                    <a:solidFill>
                      <a:srgbClr val="FFFFFF"/>
                    </a:solidFill>
                  </a:tcPr>
                </a:tc>
                <a:tc>
                  <a:txBody>
                    <a:bodyPr/>
                    <a:lstStyle/>
                    <a:p>
                      <a:pPr algn="ctr"/>
                      <a:r>
                        <a:rPr sz="900" b="0">
                          <a:solidFill>
                            <a:srgbClr val="202020"/>
                          </a:solidFill>
                        </a:rPr>
                        <a:t>0.405</a:t>
                      </a:r>
                    </a:p>
                  </a:txBody>
                  <a:tcPr>
                    <a:solidFill>
                      <a:srgbClr val="FFFFFF"/>
                    </a:solidFill>
                  </a:tcPr>
                </a:tc>
                <a:tc>
                  <a:txBody>
                    <a:bodyPr/>
                    <a:lstStyle/>
                    <a:p>
                      <a:pPr algn="ctr"/>
                      <a:r>
                        <a:rPr sz="900" b="0">
                          <a:solidFill>
                            <a:srgbClr val="202020"/>
                          </a:solidFill>
                        </a:rPr>
                        <a:t>0.963</a:t>
                      </a:r>
                    </a:p>
                  </a:txBody>
                  <a:tcPr>
                    <a:solidFill>
                      <a:srgbClr val="FFFFFF"/>
                    </a:solidFill>
                  </a:tcPr>
                </a:tc>
                <a:tc>
                  <a:txBody>
                    <a:bodyPr/>
                    <a:lstStyle/>
                    <a:p>
                      <a:pPr algn="ctr"/>
                      <a:r>
                        <a:rPr sz="900" b="0">
                          <a:solidFill>
                            <a:srgbClr val="202020"/>
                          </a:solidFill>
                        </a:rPr>
                        <a:t>0.075</a:t>
                      </a:r>
                    </a:p>
                  </a:txBody>
                  <a:tcPr>
                    <a:solidFill>
                      <a:srgbClr val="FFFFFF"/>
                    </a:solidFill>
                  </a:tcPr>
                </a:tc>
                <a:tc>
                  <a:txBody>
                    <a:bodyPr/>
                    <a:lstStyle/>
                    <a:p>
                      <a:pPr algn="ctr"/>
                      <a:r>
                        <a:rPr sz="900" b="1">
                          <a:solidFill>
                            <a:srgbClr val="202020"/>
                          </a:solidFill>
                        </a:rPr>
                        <a:t>0.581</a:t>
                      </a:r>
                    </a:p>
                  </a:txBody>
                  <a:tcPr>
                    <a:solidFill>
                      <a:srgbClr val="C6EFCE"/>
                    </a:solidFill>
                  </a:tcPr>
                </a:tc>
                <a:tc>
                  <a:txBody>
                    <a:bodyPr/>
                    <a:lstStyle/>
                    <a:p>
                      <a:pPr algn="ctr"/>
                      <a:r>
                        <a:rPr sz="900" b="0">
                          <a:solidFill>
                            <a:srgbClr val="202020"/>
                          </a:solidFill>
                        </a:rPr>
                        <a:t>0.000</a:t>
                      </a:r>
                    </a:p>
                  </a:txBody>
                  <a:tcPr>
                    <a:solidFill>
                      <a:srgbClr val="FFFFFF"/>
                    </a:solidFill>
                  </a:tcPr>
                </a:tc>
              </a:tr>
              <a:tr h="274320">
                <a:tc>
                  <a:txBody>
                    <a:bodyPr/>
                    <a:lstStyle/>
                    <a:p>
                      <a:pPr algn="l"/>
                      <a:r>
                        <a:rPr sz="900" b="1">
                          <a:solidFill>
                            <a:srgbClr val="202020"/>
                          </a:solidFill>
                        </a:rPr>
                        <a:t>Under-382</a:t>
                      </a:r>
                    </a:p>
                  </a:txBody>
                  <a:tcPr>
                    <a:solidFill>
                      <a:srgbClr val="E8F0FE"/>
                    </a:solidFill>
                  </a:tcPr>
                </a:tc>
                <a:tc>
                  <a:txBody>
                    <a:bodyPr/>
                    <a:lstStyle/>
                    <a:p>
                      <a:pPr algn="ctr"/>
                      <a:r>
                        <a:rPr sz="900" b="0">
                          <a:solidFill>
                            <a:srgbClr val="202020"/>
                          </a:solidFill>
                        </a:rPr>
                        <a:t>0.294</a:t>
                      </a:r>
                    </a:p>
                  </a:txBody>
                  <a:tcPr>
                    <a:solidFill>
                      <a:srgbClr val="E8F0FE"/>
                    </a:solidFill>
                  </a:tcPr>
                </a:tc>
                <a:tc>
                  <a:txBody>
                    <a:bodyPr/>
                    <a:lstStyle/>
                    <a:p>
                      <a:pPr algn="ctr"/>
                      <a:r>
                        <a:rPr sz="900" b="0">
                          <a:solidFill>
                            <a:srgbClr val="202020"/>
                          </a:solidFill>
                        </a:rPr>
                        <a:t>0.931</a:t>
                      </a:r>
                    </a:p>
                  </a:txBody>
                  <a:tcPr>
                    <a:solidFill>
                      <a:srgbClr val="E8F0FE"/>
                    </a:solidFill>
                  </a:tcPr>
                </a:tc>
                <a:tc>
                  <a:txBody>
                    <a:bodyPr/>
                    <a:lstStyle/>
                    <a:p>
                      <a:pPr algn="ctr"/>
                      <a:r>
                        <a:rPr sz="900" b="0">
                          <a:solidFill>
                            <a:srgbClr val="202020"/>
                          </a:solidFill>
                        </a:rPr>
                        <a:t>0.024</a:t>
                      </a:r>
                    </a:p>
                  </a:txBody>
                  <a:tcPr>
                    <a:solidFill>
                      <a:srgbClr val="E8F0FE"/>
                    </a:solidFill>
                  </a:tcPr>
                </a:tc>
                <a:tc>
                  <a:txBody>
                    <a:bodyPr/>
                    <a:lstStyle/>
                    <a:p>
                      <a:pPr algn="ctr"/>
                      <a:r>
                        <a:rPr sz="900" b="0">
                          <a:solidFill>
                            <a:srgbClr val="202020"/>
                          </a:solidFill>
                        </a:rPr>
                        <a:t>0.222</a:t>
                      </a:r>
                    </a:p>
                  </a:txBody>
                  <a:tcPr>
                    <a:solidFill>
                      <a:srgbClr val="E8F0FE"/>
                    </a:solidFill>
                  </a:tcPr>
                </a:tc>
                <a:tc>
                  <a:txBody>
                    <a:bodyPr/>
                    <a:lstStyle/>
                    <a:p>
                      <a:pPr algn="ctr"/>
                      <a:r>
                        <a:rPr sz="900" b="0">
                          <a:solidFill>
                            <a:srgbClr val="202020"/>
                          </a:solidFill>
                        </a:rPr>
                        <a:t>0.000</a:t>
                      </a:r>
                    </a:p>
                  </a:txBody>
                  <a:tcPr>
                    <a:solidFill>
                      <a:srgbClr val="E8F0FE"/>
                    </a:solidFill>
                  </a:tcPr>
                </a:tc>
              </a:tr>
              <a:tr h="274320">
                <a:tc>
                  <a:txBody>
                    <a:bodyPr/>
                    <a:lstStyle/>
                    <a:p>
                      <a:pPr algn="l"/>
                      <a:r>
                        <a:rPr sz="900" b="1">
                          <a:solidFill>
                            <a:srgbClr val="202020"/>
                          </a:solidFill>
                        </a:rPr>
                        <a:t>Under-114</a:t>
                      </a:r>
                    </a:p>
                  </a:txBody>
                  <a:tcPr>
                    <a:solidFill>
                      <a:srgbClr val="FFFFFF"/>
                    </a:solidFill>
                  </a:tcPr>
                </a:tc>
                <a:tc>
                  <a:txBody>
                    <a:bodyPr/>
                    <a:lstStyle/>
                    <a:p>
                      <a:pPr algn="ctr"/>
                      <a:r>
                        <a:rPr sz="900" b="0">
                          <a:solidFill>
                            <a:srgbClr val="202020"/>
                          </a:solidFill>
                        </a:rPr>
                        <a:t>0.160</a:t>
                      </a:r>
                    </a:p>
                  </a:txBody>
                  <a:tcPr>
                    <a:solidFill>
                      <a:srgbClr val="FFFFFF"/>
                    </a:solidFill>
                  </a:tcPr>
                </a:tc>
                <a:tc>
                  <a:txBody>
                    <a:bodyPr/>
                    <a:lstStyle/>
                    <a:p>
                      <a:pPr algn="ctr"/>
                      <a:r>
                        <a:rPr sz="900" b="0">
                          <a:solidFill>
                            <a:srgbClr val="202020"/>
                          </a:solidFill>
                        </a:rPr>
                        <a:t>0.516</a:t>
                      </a:r>
                    </a:p>
                  </a:txBody>
                  <a:tcPr>
                    <a:solidFill>
                      <a:srgbClr val="FFFFFF"/>
                    </a:solidFill>
                  </a:tcPr>
                </a:tc>
                <a:tc>
                  <a:txBody>
                    <a:bodyPr/>
                    <a:lstStyle/>
                    <a:p>
                      <a:pPr algn="ctr"/>
                      <a:r>
                        <a:rPr sz="900" b="0">
                          <a:solidFill>
                            <a:srgbClr val="202020"/>
                          </a:solidFill>
                        </a:rPr>
                        <a:t>0.010</a:t>
                      </a:r>
                    </a:p>
                  </a:txBody>
                  <a:tcPr>
                    <a:solidFill>
                      <a:srgbClr val="FFFFFF"/>
                    </a:solidFill>
                  </a:tcPr>
                </a:tc>
                <a:tc>
                  <a:txBody>
                    <a:bodyPr/>
                    <a:lstStyle/>
                    <a:p>
                      <a:pPr algn="ctr"/>
                      <a:r>
                        <a:rPr sz="900" b="0">
                          <a:solidFill>
                            <a:srgbClr val="202020"/>
                          </a:solidFill>
                        </a:rPr>
                        <a:t>0.115</a:t>
                      </a:r>
                    </a:p>
                  </a:txBody>
                  <a:tcPr>
                    <a:solidFill>
                      <a:srgbClr val="FFFFFF"/>
                    </a:solidFill>
                  </a:tcPr>
                </a:tc>
                <a:tc>
                  <a:txBody>
                    <a:bodyPr/>
                    <a:lstStyle/>
                    <a:p>
                      <a:pPr algn="ctr"/>
                      <a:r>
                        <a:rPr sz="900" b="0">
                          <a:solidFill>
                            <a:srgbClr val="202020"/>
                          </a:solidFill>
                        </a:rPr>
                        <a:t>0.000</a:t>
                      </a:r>
                    </a:p>
                  </a:txBody>
                  <a:tcPr>
                    <a:solidFill>
                      <a:srgbClr val="FFFFFF"/>
                    </a:solidFill>
                  </a:tcPr>
                </a:tc>
              </a:tr>
            </a:tbl>
          </a:graphicData>
        </a:graphic>
      </p:graphicFrame>
      <p:sp>
        <p:nvSpPr>
          <p:cNvPr id="5" name="TextBox 4"/>
          <p:cNvSpPr txBox="1"/>
          <p:nvPr/>
        </p:nvSpPr>
        <p:spPr>
          <a:xfrm>
            <a:off x="274320" y="2468880"/>
            <a:ext cx="4114800" cy="1371600"/>
          </a:xfrm>
          <a:prstGeom prst="rect">
            <a:avLst/>
          </a:prstGeom>
          <a:solidFill>
            <a:srgbClr val="E6F4EA"/>
          </a:solidFill>
        </p:spPr>
        <p:txBody>
          <a:bodyPr wrap="square">
            <a:spAutoFit/>
          </a:bodyPr>
          <a:lstStyle/>
          <a:p>
            <a:pPr algn="l"/>
            <a:r>
              <a:rPr sz="1000" b="1" i="0">
                <a:solidFill>
                  <a:srgbClr val="0F9D58"/>
                </a:solidFill>
              </a:rPr>
              <a:t>Temuan Positif: Sad F1 naik drastis</a:t>
            </a:r>
          </a:p>
          <a:p>
            <a:pPr algn="l"/>
            <a:r>
              <a:rPr sz="400" b="0" i="0"/>
              <a:t/>
            </a:r>
          </a:p>
          <a:p>
            <a:pPr algn="l"/>
            <a:r>
              <a:rPr sz="950" b="0" i="0">
                <a:solidFill>
                  <a:srgbClr val="202020"/>
                </a:solidFill>
              </a:rPr>
              <a:t>Late Fusion sad: 0.061 -&gt; 0.581 (+852%)</a:t>
            </a:r>
          </a:p>
          <a:p>
            <a:pPr algn="l"/>
            <a:r>
              <a:rPr sz="950" b="0" i="0">
                <a:solidFill>
                  <a:srgbClr val="202020"/>
                </a:solidFill>
              </a:rPr>
              <a:t>FCNN sad: 0.000 -&gt; 0.341</a:t>
            </a:r>
          </a:p>
          <a:p>
            <a:pPr algn="l"/>
            <a:r>
              <a:rPr sz="300" b="0" i="0"/>
              <a:t/>
            </a:r>
          </a:p>
          <a:p>
            <a:pPr algn="l"/>
            <a:r>
              <a:rPr sz="950" b="1" i="0">
                <a:solidFill>
                  <a:srgbClr val="202020"/>
                </a:solidFill>
              </a:rPr>
              <a:t>Under-660 = sweet spot:</a:t>
            </a:r>
          </a:p>
          <a:p>
            <a:pPr algn="l"/>
            <a:r>
              <a:rPr sz="900" b="0" i="0">
                <a:solidFill>
                  <a:srgbClr val="202020"/>
                </a:solidFill>
              </a:rPr>
              <a:t>- Cukup seimbang</a:t>
            </a:r>
          </a:p>
          <a:p>
            <a:pPr algn="l"/>
            <a:r>
              <a:rPr sz="900" b="0" i="0">
                <a:solidFill>
                  <a:srgbClr val="202020"/>
                </a:solidFill>
              </a:rPr>
              <a:t>- Data training masih cukup</a:t>
            </a:r>
          </a:p>
        </p:txBody>
      </p:sp>
      <p:sp>
        <p:nvSpPr>
          <p:cNvPr id="6" name="TextBox 5"/>
          <p:cNvSpPr txBox="1"/>
          <p:nvPr/>
        </p:nvSpPr>
        <p:spPr>
          <a:xfrm>
            <a:off x="4526280" y="2468880"/>
            <a:ext cx="4343400" cy="1371600"/>
          </a:xfrm>
          <a:prstGeom prst="rect">
            <a:avLst/>
          </a:prstGeom>
          <a:solidFill>
            <a:srgbClr val="FCE4E4"/>
          </a:solidFill>
        </p:spPr>
        <p:txBody>
          <a:bodyPr wrap="square">
            <a:spAutoFit/>
          </a:bodyPr>
          <a:lstStyle/>
          <a:p>
            <a:pPr algn="l"/>
            <a:r>
              <a:rPr sz="1000" b="1" i="0">
                <a:solidFill>
                  <a:srgbClr val="D93C3C"/>
                </a:solidFill>
              </a:rPr>
              <a:t>Masalah: Negative tetap F1 ~ 0</a:t>
            </a:r>
          </a:p>
          <a:p>
            <a:pPr algn="l"/>
            <a:r>
              <a:rPr sz="400" b="0" i="0"/>
              <a:t/>
            </a:r>
          </a:p>
          <a:p>
            <a:pPr algn="l"/>
            <a:r>
              <a:rPr sz="950" b="0" i="0">
                <a:solidFill>
                  <a:srgbClr val="202020"/>
                </a:solidFill>
              </a:rPr>
              <a:t>Bahkan dengan rasio 1:1 (under-114),</a:t>
            </a:r>
          </a:p>
          <a:p>
            <a:pPr algn="l"/>
            <a:r>
              <a:rPr sz="950" b="0" i="0">
                <a:solidFill>
                  <a:srgbClr val="202020"/>
                </a:solidFill>
              </a:rPr>
              <a:t>negative masih tidak terdeteksi (F1 &lt; 0.1)</a:t>
            </a:r>
          </a:p>
          <a:p>
            <a:pPr algn="l"/>
            <a:r>
              <a:rPr sz="300" b="0" i="0"/>
              <a:t/>
            </a:r>
          </a:p>
          <a:p>
            <a:pPr algn="l"/>
            <a:r>
              <a:rPr sz="950" b="1" i="0">
                <a:solidFill>
                  <a:srgbClr val="202020"/>
                </a:solidFill>
              </a:rPr>
              <a:t>Penyebab: Test set terlalu kecil</a:t>
            </a:r>
          </a:p>
          <a:p>
            <a:pPr algn="l"/>
            <a:r>
              <a:rPr sz="900" b="0" i="0">
                <a:solidFill>
                  <a:srgbClr val="202020"/>
                </a:solidFill>
              </a:rPr>
              <a:t>- Happy: 10 | Sad: 29 | Negative: 16</a:t>
            </a:r>
          </a:p>
          <a:p>
            <a:pPr algn="l"/>
            <a:r>
              <a:rPr sz="900" b="0" i="0">
                <a:solidFill>
                  <a:srgbClr val="202020"/>
                </a:solidFill>
              </a:rPr>
              <a:t>- &lt; 30 sampel -&gt; evaluasi tidak reliable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Tahap 5B: Confidence Filtering &gt;= 60% -- BREAKTHROUGH</a:t>
            </a:r>
          </a:p>
        </p:txBody>
      </p:sp>
      <p:sp>
        <p:nvSpPr>
          <p:cNvPr id="3" name="TextBox 2"/>
          <p:cNvSpPr txBox="1"/>
          <p:nvPr/>
        </p:nvSpPr>
        <p:spPr>
          <a:xfrm>
            <a:off x="274320" y="685800"/>
            <a:ext cx="8595360" cy="594360"/>
          </a:xfrm>
          <a:prstGeom prst="rect">
            <a:avLst/>
          </a:prstGeom>
          <a:solidFill>
            <a:srgbClr val="FFF0CC"/>
          </a:solidFill>
        </p:spPr>
        <p:txBody>
          <a:bodyPr wrap="square">
            <a:spAutoFit/>
          </a:bodyPr>
          <a:lstStyle/>
          <a:p>
            <a:pPr algn="l"/>
            <a:r>
              <a:rPr sz="1000" b="1" i="0">
                <a:solidFill>
                  <a:srgbClr val="202020"/>
                </a:solidFill>
              </a:rPr>
              <a:t>Analisis: Confidence Face API per kelas</a:t>
            </a:r>
          </a:p>
          <a:p>
            <a:pPr algn="l"/>
            <a:r>
              <a:rPr sz="950" b="0" i="0">
                <a:solidFill>
                  <a:srgbClr val="666666"/>
                </a:solidFill>
              </a:rPr>
              <a:t>Kelas minoritas punya confidence rendah -&gt; kemungkinan label SALAH (noise)</a:t>
            </a:r>
          </a:p>
        </p:txBody>
      </p:sp>
      <p:graphicFrame>
        <p:nvGraphicFramePr>
          <p:cNvPr id="4" name="Table 3"/>
          <p:cNvGraphicFramePr>
            <a:graphicFrameLocks noGrp="1"/>
          </p:cNvGraphicFramePr>
          <p:nvPr/>
        </p:nvGraphicFramePr>
        <p:xfrm>
          <a:off x="274320" y="1417320"/>
          <a:ext cx="5303519" cy="2286000"/>
        </p:xfrm>
        <a:graphic>
          <a:graphicData uri="http://schemas.openxmlformats.org/drawingml/2006/table">
            <a:tbl>
              <a:tblPr firstRow="1" bandRow="1"/>
              <a:tblGrid>
                <a:gridCol w="1491615"/>
                <a:gridCol w="1905952"/>
                <a:gridCol w="1905952"/>
              </a:tblGrid>
              <a:tr h="285750">
                <a:tc>
                  <a:txBody>
                    <a:bodyPr/>
                    <a:lstStyle/>
                    <a:p>
                      <a:pPr algn="ctr"/>
                      <a:r>
                        <a:rPr sz="950" b="1">
                          <a:solidFill>
                            <a:srgbClr val="FFFFFF"/>
                          </a:solidFill>
                        </a:rPr>
                        <a:t>Emosi</a:t>
                      </a:r>
                    </a:p>
                  </a:txBody>
                  <a:tcPr>
                    <a:solidFill>
                      <a:srgbClr val="1A73E8"/>
                    </a:solidFill>
                  </a:tcPr>
                </a:tc>
                <a:tc>
                  <a:txBody>
                    <a:bodyPr/>
                    <a:lstStyle/>
                    <a:p>
                      <a:pPr algn="ctr"/>
                      <a:r>
                        <a:rPr sz="950" b="1">
                          <a:solidFill>
                            <a:srgbClr val="FFFFFF"/>
                          </a:solidFill>
                        </a:rPr>
                        <a:t>Confidence Rata-rata</a:t>
                      </a:r>
                    </a:p>
                  </a:txBody>
                  <a:tcPr>
                    <a:solidFill>
                      <a:srgbClr val="1A73E8"/>
                    </a:solidFill>
                  </a:tcPr>
                </a:tc>
                <a:tc>
                  <a:txBody>
                    <a:bodyPr/>
                    <a:lstStyle/>
                    <a:p>
                      <a:pPr algn="ctr"/>
                      <a:r>
                        <a:rPr sz="950" b="1">
                          <a:solidFill>
                            <a:srgbClr val="FFFFFF"/>
                          </a:solidFill>
                        </a:rPr>
                        <a:t>Status</a:t>
                      </a:r>
                    </a:p>
                  </a:txBody>
                  <a:tcPr>
                    <a:solidFill>
                      <a:srgbClr val="1A73E8"/>
                    </a:solidFill>
                  </a:tcPr>
                </a:tc>
              </a:tr>
              <a:tr h="285750">
                <a:tc>
                  <a:txBody>
                    <a:bodyPr/>
                    <a:lstStyle/>
                    <a:p>
                      <a:pPr algn="l"/>
                      <a:r>
                        <a:rPr sz="900" b="1">
                          <a:solidFill>
                            <a:srgbClr val="202020"/>
                          </a:solidFill>
                        </a:rPr>
                        <a:t>Neutral</a:t>
                      </a:r>
                    </a:p>
                  </a:txBody>
                  <a:tcPr>
                    <a:solidFill>
                      <a:srgbClr val="E8F0FE"/>
                    </a:solidFill>
                  </a:tcPr>
                </a:tc>
                <a:tc>
                  <a:txBody>
                    <a:bodyPr/>
                    <a:lstStyle/>
                    <a:p>
                      <a:pPr algn="ctr"/>
                      <a:r>
                        <a:rPr sz="900" b="0">
                          <a:solidFill>
                            <a:srgbClr val="202020"/>
                          </a:solidFill>
                        </a:rPr>
                        <a:t>0.959</a:t>
                      </a:r>
                    </a:p>
                  </a:txBody>
                  <a:tcPr>
                    <a:solidFill>
                      <a:srgbClr val="E8F0FE"/>
                    </a:solidFill>
                  </a:tcPr>
                </a:tc>
                <a:tc>
                  <a:txBody>
                    <a:bodyPr/>
                    <a:lstStyle/>
                    <a:p>
                      <a:pPr algn="ctr"/>
                      <a:r>
                        <a:rPr sz="900" b="0">
                          <a:solidFill>
                            <a:srgbClr val="202020"/>
                          </a:solidFill>
                        </a:rPr>
                        <a:t>Tinggi (reliable)</a:t>
                      </a:r>
                    </a:p>
                  </a:txBody>
                  <a:tcPr>
                    <a:solidFill>
                      <a:srgbClr val="E8F0FE"/>
                    </a:solidFill>
                  </a:tcPr>
                </a:tc>
              </a:tr>
              <a:tr h="285750">
                <a:tc>
                  <a:txBody>
                    <a:bodyPr/>
                    <a:lstStyle/>
                    <a:p>
                      <a:pPr algn="l"/>
                      <a:r>
                        <a:rPr sz="900" b="1">
                          <a:solidFill>
                            <a:srgbClr val="202020"/>
                          </a:solidFill>
                        </a:rPr>
                        <a:t>Happy</a:t>
                      </a:r>
                    </a:p>
                  </a:txBody>
                  <a:tcPr>
                    <a:solidFill>
                      <a:srgbClr val="FFFFFF"/>
                    </a:solidFill>
                  </a:tcPr>
                </a:tc>
                <a:tc>
                  <a:txBody>
                    <a:bodyPr/>
                    <a:lstStyle/>
                    <a:p>
                      <a:pPr algn="ctr"/>
                      <a:r>
                        <a:rPr sz="900" b="0">
                          <a:solidFill>
                            <a:srgbClr val="202020"/>
                          </a:solidFill>
                        </a:rPr>
                        <a:t>0.878</a:t>
                      </a:r>
                    </a:p>
                  </a:txBody>
                  <a:tcPr>
                    <a:solidFill>
                      <a:srgbClr val="FFFFFF"/>
                    </a:solidFill>
                  </a:tcPr>
                </a:tc>
                <a:tc>
                  <a:txBody>
                    <a:bodyPr/>
                    <a:lstStyle/>
                    <a:p>
                      <a:pPr algn="ctr"/>
                      <a:r>
                        <a:rPr sz="900" b="0">
                          <a:solidFill>
                            <a:srgbClr val="202020"/>
                          </a:solidFill>
                        </a:rPr>
                        <a:t>Tinggi</a:t>
                      </a:r>
                    </a:p>
                  </a:txBody>
                  <a:tcPr>
                    <a:solidFill>
                      <a:srgbClr val="FFFFFF"/>
                    </a:solidFill>
                  </a:tcPr>
                </a:tc>
              </a:tr>
              <a:tr h="285750">
                <a:tc>
                  <a:txBody>
                    <a:bodyPr/>
                    <a:lstStyle/>
                    <a:p>
                      <a:pPr algn="l"/>
                      <a:r>
                        <a:rPr sz="900" b="1">
                          <a:solidFill>
                            <a:srgbClr val="202020"/>
                          </a:solidFill>
                        </a:rPr>
                        <a:t>Sad</a:t>
                      </a:r>
                    </a:p>
                  </a:txBody>
                  <a:tcPr>
                    <a:solidFill>
                      <a:srgbClr val="E8F0FE"/>
                    </a:solidFill>
                  </a:tcPr>
                </a:tc>
                <a:tc>
                  <a:txBody>
                    <a:bodyPr/>
                    <a:lstStyle/>
                    <a:p>
                      <a:pPr algn="ctr"/>
                      <a:r>
                        <a:rPr sz="900" b="0">
                          <a:solidFill>
                            <a:srgbClr val="202020"/>
                          </a:solidFill>
                        </a:rPr>
                        <a:t>0.770</a:t>
                      </a:r>
                    </a:p>
                  </a:txBody>
                  <a:tcPr>
                    <a:solidFill>
                      <a:srgbClr val="E8F0FE"/>
                    </a:solidFill>
                  </a:tcPr>
                </a:tc>
                <a:tc>
                  <a:txBody>
                    <a:bodyPr/>
                    <a:lstStyle/>
                    <a:p>
                      <a:pPr algn="ctr"/>
                      <a:r>
                        <a:rPr sz="900" b="0">
                          <a:solidFill>
                            <a:srgbClr val="202020"/>
                          </a:solidFill>
                        </a:rPr>
                        <a:t>Moderat</a:t>
                      </a:r>
                    </a:p>
                  </a:txBody>
                  <a:tcPr>
                    <a:solidFill>
                      <a:srgbClr val="E8F0FE"/>
                    </a:solidFill>
                  </a:tcPr>
                </a:tc>
              </a:tr>
              <a:tr h="285750">
                <a:tc>
                  <a:txBody>
                    <a:bodyPr/>
                    <a:lstStyle/>
                    <a:p>
                      <a:pPr algn="l"/>
                      <a:r>
                        <a:rPr sz="900" b="1">
                          <a:solidFill>
                            <a:srgbClr val="202020"/>
                          </a:solidFill>
                        </a:rPr>
                        <a:t>Angry</a:t>
                      </a:r>
                    </a:p>
                  </a:txBody>
                  <a:tcPr>
                    <a:solidFill>
                      <a:srgbClr val="FFFFFF"/>
                    </a:solidFill>
                  </a:tcPr>
                </a:tc>
                <a:tc>
                  <a:txBody>
                    <a:bodyPr/>
                    <a:lstStyle/>
                    <a:p>
                      <a:pPr algn="ctr"/>
                      <a:r>
                        <a:rPr sz="900" b="0">
                          <a:solidFill>
                            <a:srgbClr val="202020"/>
                          </a:solidFill>
                        </a:rPr>
                        <a:t>0.634</a:t>
                      </a:r>
                    </a:p>
                  </a:txBody>
                  <a:tcPr>
                    <a:solidFill>
                      <a:srgbClr val="FFFFFF"/>
                    </a:solidFill>
                  </a:tcPr>
                </a:tc>
                <a:tc>
                  <a:txBody>
                    <a:bodyPr/>
                    <a:lstStyle/>
                    <a:p>
                      <a:pPr algn="ctr"/>
                      <a:r>
                        <a:rPr sz="900" b="1">
                          <a:solidFill>
                            <a:srgbClr val="202020"/>
                          </a:solidFill>
                        </a:rPr>
                        <a:t>RENDAH</a:t>
                      </a:r>
                    </a:p>
                  </a:txBody>
                  <a:tcPr>
                    <a:solidFill>
                      <a:srgbClr val="C6EFCE"/>
                    </a:solidFill>
                  </a:tcPr>
                </a:tc>
              </a:tr>
              <a:tr h="285750">
                <a:tc>
                  <a:txBody>
                    <a:bodyPr/>
                    <a:lstStyle/>
                    <a:p>
                      <a:pPr algn="l"/>
                      <a:r>
                        <a:rPr sz="900" b="1">
                          <a:solidFill>
                            <a:srgbClr val="202020"/>
                          </a:solidFill>
                        </a:rPr>
                        <a:t>Fearful</a:t>
                      </a:r>
                    </a:p>
                  </a:txBody>
                  <a:tcPr>
                    <a:solidFill>
                      <a:srgbClr val="E8F0FE"/>
                    </a:solidFill>
                  </a:tcPr>
                </a:tc>
                <a:tc>
                  <a:txBody>
                    <a:bodyPr/>
                    <a:lstStyle/>
                    <a:p>
                      <a:pPr algn="ctr"/>
                      <a:r>
                        <a:rPr sz="900" b="0">
                          <a:solidFill>
                            <a:srgbClr val="202020"/>
                          </a:solidFill>
                        </a:rPr>
                        <a:t>0.671</a:t>
                      </a:r>
                    </a:p>
                  </a:txBody>
                  <a:tcPr>
                    <a:solidFill>
                      <a:srgbClr val="E8F0FE"/>
                    </a:solidFill>
                  </a:tcPr>
                </a:tc>
                <a:tc>
                  <a:txBody>
                    <a:bodyPr/>
                    <a:lstStyle/>
                    <a:p>
                      <a:pPr algn="ctr"/>
                      <a:r>
                        <a:rPr sz="900" b="1">
                          <a:solidFill>
                            <a:srgbClr val="202020"/>
                          </a:solidFill>
                        </a:rPr>
                        <a:t>RENDAH</a:t>
                      </a:r>
                    </a:p>
                  </a:txBody>
                  <a:tcPr>
                    <a:solidFill>
                      <a:srgbClr val="C6EFCE"/>
                    </a:solidFill>
                  </a:tcPr>
                </a:tc>
              </a:tr>
              <a:tr h="285750">
                <a:tc>
                  <a:txBody>
                    <a:bodyPr/>
                    <a:lstStyle/>
                    <a:p>
                      <a:pPr algn="l"/>
                      <a:r>
                        <a:rPr sz="900" b="1">
                          <a:solidFill>
                            <a:srgbClr val="202020"/>
                          </a:solidFill>
                        </a:rPr>
                        <a:t>Disgusted</a:t>
                      </a:r>
                    </a:p>
                  </a:txBody>
                  <a:tcPr>
                    <a:solidFill>
                      <a:srgbClr val="FFFFFF"/>
                    </a:solidFill>
                  </a:tcPr>
                </a:tc>
                <a:tc>
                  <a:txBody>
                    <a:bodyPr/>
                    <a:lstStyle/>
                    <a:p>
                      <a:pPr algn="ctr"/>
                      <a:r>
                        <a:rPr sz="900" b="0">
                          <a:solidFill>
                            <a:srgbClr val="202020"/>
                          </a:solidFill>
                        </a:rPr>
                        <a:t>0.566</a:t>
                      </a:r>
                    </a:p>
                  </a:txBody>
                  <a:tcPr>
                    <a:solidFill>
                      <a:srgbClr val="FFFFFF"/>
                    </a:solidFill>
                  </a:tcPr>
                </a:tc>
                <a:tc>
                  <a:txBody>
                    <a:bodyPr/>
                    <a:lstStyle/>
                    <a:p>
                      <a:pPr algn="ctr"/>
                      <a:r>
                        <a:rPr sz="900" b="1">
                          <a:solidFill>
                            <a:srgbClr val="202020"/>
                          </a:solidFill>
                        </a:rPr>
                        <a:t>SANGAT RENDAH</a:t>
                      </a:r>
                    </a:p>
                  </a:txBody>
                  <a:tcPr>
                    <a:solidFill>
                      <a:srgbClr val="C6EFCE"/>
                    </a:solidFill>
                  </a:tcPr>
                </a:tc>
              </a:tr>
              <a:tr h="285750">
                <a:tc>
                  <a:txBody>
                    <a:bodyPr/>
                    <a:lstStyle/>
                    <a:p>
                      <a:pPr algn="l"/>
                      <a:r>
                        <a:rPr sz="900" b="1">
                          <a:solidFill>
                            <a:srgbClr val="202020"/>
                          </a:solidFill>
                        </a:rPr>
                        <a:t>Surprised</a:t>
                      </a:r>
                    </a:p>
                  </a:txBody>
                  <a:tcPr>
                    <a:solidFill>
                      <a:srgbClr val="E8F0FE"/>
                    </a:solidFill>
                  </a:tcPr>
                </a:tc>
                <a:tc>
                  <a:txBody>
                    <a:bodyPr/>
                    <a:lstStyle/>
                    <a:p>
                      <a:pPr algn="ctr"/>
                      <a:r>
                        <a:rPr sz="900" b="0">
                          <a:solidFill>
                            <a:srgbClr val="202020"/>
                          </a:solidFill>
                        </a:rPr>
                        <a:t>0.730</a:t>
                      </a:r>
                    </a:p>
                  </a:txBody>
                  <a:tcPr>
                    <a:solidFill>
                      <a:srgbClr val="E8F0FE"/>
                    </a:solidFill>
                  </a:tcPr>
                </a:tc>
                <a:tc>
                  <a:txBody>
                    <a:bodyPr/>
                    <a:lstStyle/>
                    <a:p>
                      <a:pPr algn="ctr"/>
                      <a:r>
                        <a:rPr sz="900" b="0">
                          <a:solidFill>
                            <a:srgbClr val="202020"/>
                          </a:solidFill>
                        </a:rPr>
                        <a:t>Moderat</a:t>
                      </a:r>
                    </a:p>
                  </a:txBody>
                  <a:tcPr>
                    <a:solidFill>
                      <a:srgbClr val="E8F0FE"/>
                    </a:solidFill>
                  </a:tcPr>
                </a:tc>
              </a:tr>
            </a:tbl>
          </a:graphicData>
        </a:graphic>
      </p:graphicFrame>
      <p:sp>
        <p:nvSpPr>
          <p:cNvPr id="5" name="TextBox 4"/>
          <p:cNvSpPr txBox="1"/>
          <p:nvPr/>
        </p:nvSpPr>
        <p:spPr>
          <a:xfrm>
            <a:off x="5760720" y="1417320"/>
            <a:ext cx="3108960" cy="2286000"/>
          </a:xfrm>
          <a:prstGeom prst="rect">
            <a:avLst/>
          </a:prstGeom>
          <a:solidFill>
            <a:srgbClr val="E8F0FE"/>
          </a:solidFill>
        </p:spPr>
        <p:txBody>
          <a:bodyPr wrap="square">
            <a:spAutoFit/>
          </a:bodyPr>
          <a:lstStyle/>
          <a:p>
            <a:pPr algn="l"/>
            <a:r>
              <a:rPr sz="1000" b="1" i="0">
                <a:solidFill>
                  <a:srgbClr val="1A73E8"/>
                </a:solidFill>
              </a:rPr>
              <a:t>Strategi Filtering</a:t>
            </a:r>
          </a:p>
          <a:p>
            <a:pPr algn="l"/>
            <a:r>
              <a:rPr sz="400" b="0" i="0"/>
              <a:t/>
            </a:r>
          </a:p>
          <a:p>
            <a:pPr algn="l"/>
            <a:r>
              <a:rPr sz="950" b="0" i="0">
                <a:solidFill>
                  <a:srgbClr val="202020"/>
                </a:solidFill>
              </a:rPr>
              <a:t>Filter sampel confidence &lt; 60%</a:t>
            </a:r>
          </a:p>
          <a:p>
            <a:pPr algn="l"/>
            <a:r>
              <a:rPr sz="300" b="0" i="0"/>
              <a:t/>
            </a:r>
          </a:p>
          <a:p>
            <a:pPr algn="l"/>
            <a:r>
              <a:rPr sz="950" b="1" i="0">
                <a:solidFill>
                  <a:srgbClr val="202020"/>
                </a:solidFill>
              </a:rPr>
              <a:t>Dampak:</a:t>
            </a:r>
          </a:p>
          <a:p>
            <a:pPr algn="l"/>
            <a:r>
              <a:rPr sz="900" b="0" i="0">
                <a:solidFill>
                  <a:srgbClr val="202020"/>
                </a:solidFill>
              </a:rPr>
              <a:t>- Total: 7,091 -&gt; 6,795</a:t>
            </a:r>
          </a:p>
          <a:p>
            <a:pPr algn="l"/>
            <a:r>
              <a:rPr sz="900" b="0" i="0">
                <a:solidFill>
                  <a:srgbClr val="202020"/>
                </a:solidFill>
              </a:rPr>
              <a:t>- Hanya 4.2% data dihilangkan</a:t>
            </a:r>
          </a:p>
          <a:p>
            <a:pPr algn="l"/>
            <a:r>
              <a:rPr sz="900" b="0" i="0">
                <a:solidFill>
                  <a:srgbClr val="202020"/>
                </a:solidFill>
              </a:rPr>
              <a:t>- Kelas minoritas -50-57%</a:t>
            </a:r>
          </a:p>
          <a:p>
            <a:pPr algn="l"/>
            <a:r>
              <a:rPr sz="300" b="0" i="0"/>
              <a:t/>
            </a:r>
          </a:p>
          <a:p>
            <a:pPr algn="l"/>
            <a:r>
              <a:rPr sz="900" b="0" i="1">
                <a:solidFill>
                  <a:srgbClr val="666666"/>
                </a:solidFill>
              </a:rPr>
              <a:t>Prinsip: Data bersih lebih</a:t>
            </a:r>
          </a:p>
          <a:p>
            <a:pPr algn="l"/>
            <a:r>
              <a:rPr sz="900" b="0" i="1">
                <a:solidFill>
                  <a:srgbClr val="666666"/>
                </a:solidFill>
              </a:rPr>
              <a:t>penting dari data banyak</a:t>
            </a:r>
          </a:p>
        </p:txBody>
      </p:sp>
      <p:sp>
        <p:nvSpPr>
          <p:cNvPr id="6" name="TextBox 5"/>
          <p:cNvSpPr txBox="1"/>
          <p:nvPr/>
        </p:nvSpPr>
        <p:spPr>
          <a:xfrm>
            <a:off x="274320" y="3840480"/>
            <a:ext cx="8595360" cy="365760"/>
          </a:xfrm>
          <a:prstGeom prst="rect">
            <a:avLst/>
          </a:prstGeom>
          <a:solidFill>
            <a:srgbClr val="0F9D58"/>
          </a:solidFill>
        </p:spPr>
        <p:txBody>
          <a:bodyPr wrap="square">
            <a:spAutoFit/>
          </a:bodyPr>
          <a:lstStyle/>
          <a:p>
            <a:pPr algn="ctr"/>
            <a:r>
              <a:rPr sz="1000" b="1" i="0">
                <a:solidFill>
                  <a:srgbClr val="FFFFFF"/>
                </a:solidFill>
              </a:rPr>
              <a:t>Hasil: Best F1 naik dari 0.412 -&gt; 0.521 (+26%) | Intermediate TL 4-class B3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Tahap 5B: Hasil Lengkap Conf60 (Best per Config)</a:t>
            </a:r>
          </a:p>
        </p:txBody>
      </p:sp>
      <p:sp>
        <p:nvSpPr>
          <p:cNvPr id="3" name="TextBox 2"/>
          <p:cNvSpPr txBox="1"/>
          <p:nvPr/>
        </p:nvSpPr>
        <p:spPr>
          <a:xfrm>
            <a:off x="274320" y="685800"/>
            <a:ext cx="4114800" cy="274320"/>
          </a:xfrm>
          <a:prstGeom prst="rect">
            <a:avLst/>
          </a:prstGeom>
          <a:noFill/>
        </p:spPr>
        <p:txBody>
          <a:bodyPr wrap="none">
            <a:spAutoFit/>
          </a:bodyPr>
          <a:lstStyle/>
          <a:p>
            <a:pPr algn="l"/>
            <a:r>
              <a:rPr sz="1000" b="1" i="0">
                <a:solidFill>
                  <a:srgbClr val="1A73E8"/>
                </a:solidFill>
              </a:rPr>
              <a:t>7-Class (Best Macro F1)</a:t>
            </a:r>
          </a:p>
        </p:txBody>
      </p:sp>
      <p:graphicFrame>
        <p:nvGraphicFramePr>
          <p:cNvPr id="4" name="Table 3"/>
          <p:cNvGraphicFramePr>
            <a:graphicFrameLocks noGrp="1"/>
          </p:cNvGraphicFramePr>
          <p:nvPr/>
        </p:nvGraphicFramePr>
        <p:xfrm>
          <a:off x="274320" y="960120"/>
          <a:ext cx="4114798" cy="2194560"/>
        </p:xfrm>
        <a:graphic>
          <a:graphicData uri="http://schemas.openxmlformats.org/drawingml/2006/table">
            <a:tbl>
              <a:tblPr firstRow="1" bandRow="1"/>
              <a:tblGrid>
                <a:gridCol w="1346661"/>
                <a:gridCol w="897774"/>
                <a:gridCol w="897774"/>
                <a:gridCol w="972589"/>
              </a:tblGrid>
              <a:tr h="27432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Original</a:t>
                      </a:r>
                    </a:p>
                  </a:txBody>
                  <a:tcPr>
                    <a:solidFill>
                      <a:srgbClr val="1A73E8"/>
                    </a:solidFill>
                  </a:tcPr>
                </a:tc>
                <a:tc>
                  <a:txBody>
                    <a:bodyPr/>
                    <a:lstStyle/>
                    <a:p>
                      <a:pPr algn="ctr"/>
                      <a:r>
                        <a:rPr sz="900" b="1">
                          <a:solidFill>
                            <a:srgbClr val="FFFFFF"/>
                          </a:solidFill>
                        </a:rPr>
                        <a:t>Conf60</a:t>
                      </a:r>
                    </a:p>
                  </a:txBody>
                  <a:tcPr>
                    <a:solidFill>
                      <a:srgbClr val="1A73E8"/>
                    </a:solidFill>
                  </a:tcPr>
                </a:tc>
                <a:tc>
                  <a:txBody>
                    <a:bodyPr/>
                    <a:lstStyle/>
                    <a:p>
                      <a:pPr algn="ctr"/>
                      <a:r>
                        <a:rPr sz="900" b="1">
                          <a:solidFill>
                            <a:srgbClr val="FFFFFF"/>
                          </a:solidFill>
                        </a:rPr>
                        <a:t>Diff</a:t>
                      </a:r>
                    </a:p>
                  </a:txBody>
                  <a:tcPr>
                    <a:solidFill>
                      <a:srgbClr val="1A73E8"/>
                    </a:solidFill>
                  </a:tcPr>
                </a:tc>
              </a:tr>
              <a:tr h="274320">
                <a:tc>
                  <a:txBody>
                    <a:bodyPr/>
                    <a:lstStyle/>
                    <a:p>
                      <a:pPr algn="l"/>
                      <a:r>
                        <a:rPr sz="850" b="1">
                          <a:solidFill>
                            <a:srgbClr val="202020"/>
                          </a:solidFill>
                        </a:rPr>
                        <a:t>CNN</a:t>
                      </a:r>
                    </a:p>
                  </a:txBody>
                  <a:tcPr>
                    <a:solidFill>
                      <a:srgbClr val="E8F0FE"/>
                    </a:solidFill>
                  </a:tcPr>
                </a:tc>
                <a:tc>
                  <a:txBody>
                    <a:bodyPr/>
                    <a:lstStyle/>
                    <a:p>
                      <a:pPr algn="ctr"/>
                      <a:r>
                        <a:rPr sz="850" b="0">
                          <a:solidFill>
                            <a:srgbClr val="202020"/>
                          </a:solidFill>
                        </a:rPr>
                        <a:t>0.137</a:t>
                      </a:r>
                    </a:p>
                  </a:txBody>
                  <a:tcPr>
                    <a:solidFill>
                      <a:srgbClr val="E8F0FE"/>
                    </a:solidFill>
                  </a:tcPr>
                </a:tc>
                <a:tc>
                  <a:txBody>
                    <a:bodyPr/>
                    <a:lstStyle/>
                    <a:p>
                      <a:pPr algn="ctr"/>
                      <a:r>
                        <a:rPr sz="850" b="0">
                          <a:solidFill>
                            <a:srgbClr val="202020"/>
                          </a:solidFill>
                        </a:rPr>
                        <a:t>0.277</a:t>
                      </a:r>
                    </a:p>
                  </a:txBody>
                  <a:tcPr>
                    <a:solidFill>
                      <a:srgbClr val="E8F0FE"/>
                    </a:solidFill>
                  </a:tcPr>
                </a:tc>
                <a:tc>
                  <a:txBody>
                    <a:bodyPr/>
                    <a:lstStyle/>
                    <a:p>
                      <a:pPr algn="ctr"/>
                      <a:r>
                        <a:rPr sz="850" b="0">
                          <a:solidFill>
                            <a:srgbClr val="202020"/>
                          </a:solidFill>
                        </a:rPr>
                        <a:t>+102%</a:t>
                      </a:r>
                    </a:p>
                  </a:txBody>
                  <a:tcPr>
                    <a:solidFill>
                      <a:srgbClr val="E8F0FE"/>
                    </a:solidFill>
                  </a:tcPr>
                </a:tc>
              </a:tr>
              <a:tr h="274320">
                <a:tc>
                  <a:txBody>
                    <a:bodyPr/>
                    <a:lstStyle/>
                    <a:p>
                      <a:pPr algn="l"/>
                      <a:r>
                        <a:rPr sz="850" b="1">
                          <a:solidFill>
                            <a:srgbClr val="202020"/>
                          </a:solidFill>
                        </a:rPr>
                        <a:t>FCNN</a:t>
                      </a:r>
                    </a:p>
                  </a:txBody>
                  <a:tcPr>
                    <a:solidFill>
                      <a:srgbClr val="FFFFFF"/>
                    </a:solidFill>
                  </a:tcPr>
                </a:tc>
                <a:tc>
                  <a:txBody>
                    <a:bodyPr/>
                    <a:lstStyle/>
                    <a:p>
                      <a:pPr algn="ctr"/>
                      <a:r>
                        <a:rPr sz="850" b="0">
                          <a:solidFill>
                            <a:srgbClr val="202020"/>
                          </a:solidFill>
                        </a:rPr>
                        <a:t>0.158</a:t>
                      </a:r>
                    </a:p>
                  </a:txBody>
                  <a:tcPr>
                    <a:solidFill>
                      <a:srgbClr val="FFFFFF"/>
                    </a:solidFill>
                  </a:tcPr>
                </a:tc>
                <a:tc>
                  <a:txBody>
                    <a:bodyPr/>
                    <a:lstStyle/>
                    <a:p>
                      <a:pPr algn="ctr"/>
                      <a:r>
                        <a:rPr sz="850" b="0">
                          <a:solidFill>
                            <a:srgbClr val="202020"/>
                          </a:solidFill>
                        </a:rPr>
                        <a:t>0.244</a:t>
                      </a:r>
                    </a:p>
                  </a:txBody>
                  <a:tcPr>
                    <a:solidFill>
                      <a:srgbClr val="FFFFFF"/>
                    </a:solidFill>
                  </a:tcPr>
                </a:tc>
                <a:tc>
                  <a:txBody>
                    <a:bodyPr/>
                    <a:lstStyle/>
                    <a:p>
                      <a:pPr algn="ctr"/>
                      <a:r>
                        <a:rPr sz="850" b="0">
                          <a:solidFill>
                            <a:srgbClr val="202020"/>
                          </a:solidFill>
                        </a:rPr>
                        <a:t>+54%</a:t>
                      </a:r>
                    </a:p>
                  </a:txBody>
                  <a:tcPr>
                    <a:solidFill>
                      <a:srgbClr val="FFFFFF"/>
                    </a:solidFill>
                  </a:tcPr>
                </a:tc>
              </a:tr>
              <a:tr h="274320">
                <a:tc>
                  <a:txBody>
                    <a:bodyPr/>
                    <a:lstStyle/>
                    <a:p>
                      <a:pPr algn="l"/>
                      <a:r>
                        <a:rPr sz="850" b="1">
                          <a:solidFill>
                            <a:srgbClr val="202020"/>
                          </a:solidFill>
                        </a:rPr>
                        <a:t>Intermediate</a:t>
                      </a:r>
                    </a:p>
                  </a:txBody>
                  <a:tcPr>
                    <a:solidFill>
                      <a:srgbClr val="E8F0FE"/>
                    </a:solidFill>
                  </a:tcPr>
                </a:tc>
                <a:tc>
                  <a:txBody>
                    <a:bodyPr/>
                    <a:lstStyle/>
                    <a:p>
                      <a:pPr algn="ctr"/>
                      <a:r>
                        <a:rPr sz="850" b="0">
                          <a:solidFill>
                            <a:srgbClr val="202020"/>
                          </a:solidFill>
                        </a:rPr>
                        <a:t>0.137</a:t>
                      </a:r>
                    </a:p>
                  </a:txBody>
                  <a:tcPr>
                    <a:solidFill>
                      <a:srgbClr val="E8F0FE"/>
                    </a:solidFill>
                  </a:tcPr>
                </a:tc>
                <a:tc>
                  <a:txBody>
                    <a:bodyPr/>
                    <a:lstStyle/>
                    <a:p>
                      <a:pPr algn="ctr"/>
                      <a:r>
                        <a:rPr sz="850" b="0">
                          <a:solidFill>
                            <a:srgbClr val="202020"/>
                          </a:solidFill>
                        </a:rPr>
                        <a:t>0.261</a:t>
                      </a:r>
                    </a:p>
                  </a:txBody>
                  <a:tcPr>
                    <a:solidFill>
                      <a:srgbClr val="E8F0FE"/>
                    </a:solidFill>
                  </a:tcPr>
                </a:tc>
                <a:tc>
                  <a:txBody>
                    <a:bodyPr/>
                    <a:lstStyle/>
                    <a:p>
                      <a:pPr algn="ctr"/>
                      <a:r>
                        <a:rPr sz="850" b="0">
                          <a:solidFill>
                            <a:srgbClr val="202020"/>
                          </a:solidFill>
                        </a:rPr>
                        <a:t>+91%</a:t>
                      </a:r>
                    </a:p>
                  </a:txBody>
                  <a:tcPr>
                    <a:solidFill>
                      <a:srgbClr val="E8F0FE"/>
                    </a:solidFill>
                  </a:tcPr>
                </a:tc>
              </a:tr>
              <a:tr h="274320">
                <a:tc>
                  <a:txBody>
                    <a:bodyPr/>
                    <a:lstStyle/>
                    <a:p>
                      <a:pPr algn="l"/>
                      <a:r>
                        <a:rPr sz="850" b="1">
                          <a:solidFill>
                            <a:srgbClr val="202020"/>
                          </a:solidFill>
                        </a:rPr>
                        <a:t>Late Fusion</a:t>
                      </a:r>
                    </a:p>
                  </a:txBody>
                  <a:tcPr>
                    <a:solidFill>
                      <a:srgbClr val="FFFFFF"/>
                    </a:solidFill>
                  </a:tcPr>
                </a:tc>
                <a:tc>
                  <a:txBody>
                    <a:bodyPr/>
                    <a:lstStyle/>
                    <a:p>
                      <a:pPr algn="ctr"/>
                      <a:r>
                        <a:rPr sz="850" b="0">
                          <a:solidFill>
                            <a:srgbClr val="202020"/>
                          </a:solidFill>
                        </a:rPr>
                        <a:t>0.175</a:t>
                      </a:r>
                    </a:p>
                  </a:txBody>
                  <a:tcPr>
                    <a:solidFill>
                      <a:srgbClr val="FFFFFF"/>
                    </a:solidFill>
                  </a:tcPr>
                </a:tc>
                <a:tc>
                  <a:txBody>
                    <a:bodyPr/>
                    <a:lstStyle/>
                    <a:p>
                      <a:pPr algn="ctr"/>
                      <a:r>
                        <a:rPr sz="850" b="0">
                          <a:solidFill>
                            <a:srgbClr val="202020"/>
                          </a:solidFill>
                        </a:rPr>
                        <a:t>0.289</a:t>
                      </a:r>
                    </a:p>
                  </a:txBody>
                  <a:tcPr>
                    <a:solidFill>
                      <a:srgbClr val="FFFFFF"/>
                    </a:solidFill>
                  </a:tcPr>
                </a:tc>
                <a:tc>
                  <a:txBody>
                    <a:bodyPr/>
                    <a:lstStyle/>
                    <a:p>
                      <a:pPr algn="ctr"/>
                      <a:r>
                        <a:rPr sz="850" b="0">
                          <a:solidFill>
                            <a:srgbClr val="202020"/>
                          </a:solidFill>
                        </a:rPr>
                        <a:t>+65%</a:t>
                      </a:r>
                    </a:p>
                  </a:txBody>
                  <a:tcPr>
                    <a:solidFill>
                      <a:srgbClr val="FFFFFF"/>
                    </a:solidFill>
                  </a:tcPr>
                </a:tc>
              </a:tr>
              <a:tr h="274320">
                <a:tc>
                  <a:txBody>
                    <a:bodyPr/>
                    <a:lstStyle/>
                    <a:p>
                      <a:pPr algn="l"/>
                      <a:r>
                        <a:rPr sz="850" b="1">
                          <a:solidFill>
                            <a:srgbClr val="202020"/>
                          </a:solidFill>
                        </a:rPr>
                        <a:t>CNN TL</a:t>
                      </a:r>
                    </a:p>
                  </a:txBody>
                  <a:tcPr>
                    <a:solidFill>
                      <a:srgbClr val="E8F0FE"/>
                    </a:solidFill>
                  </a:tcPr>
                </a:tc>
                <a:tc>
                  <a:txBody>
                    <a:bodyPr/>
                    <a:lstStyle/>
                    <a:p>
                      <a:pPr algn="ctr"/>
                      <a:r>
                        <a:rPr sz="850" b="0">
                          <a:solidFill>
                            <a:srgbClr val="202020"/>
                          </a:solidFill>
                        </a:rPr>
                        <a:t>0.154</a:t>
                      </a:r>
                    </a:p>
                  </a:txBody>
                  <a:tcPr>
                    <a:solidFill>
                      <a:srgbClr val="E8F0FE"/>
                    </a:solidFill>
                  </a:tcPr>
                </a:tc>
                <a:tc>
                  <a:txBody>
                    <a:bodyPr/>
                    <a:lstStyle/>
                    <a:p>
                      <a:pPr algn="ctr"/>
                      <a:r>
                        <a:rPr sz="850" b="0">
                          <a:solidFill>
                            <a:srgbClr val="202020"/>
                          </a:solidFill>
                        </a:rPr>
                        <a:t>0.273</a:t>
                      </a:r>
                    </a:p>
                  </a:txBody>
                  <a:tcPr>
                    <a:solidFill>
                      <a:srgbClr val="E8F0FE"/>
                    </a:solidFill>
                  </a:tcPr>
                </a:tc>
                <a:tc>
                  <a:txBody>
                    <a:bodyPr/>
                    <a:lstStyle/>
                    <a:p>
                      <a:pPr algn="ctr"/>
                      <a:r>
                        <a:rPr sz="850" b="0">
                          <a:solidFill>
                            <a:srgbClr val="202020"/>
                          </a:solidFill>
                        </a:rPr>
                        <a:t>+77%</a:t>
                      </a:r>
                    </a:p>
                  </a:txBody>
                  <a:tcPr>
                    <a:solidFill>
                      <a:srgbClr val="E8F0FE"/>
                    </a:solidFill>
                  </a:tcPr>
                </a:tc>
              </a:tr>
              <a:tr h="274320">
                <a:tc>
                  <a:txBody>
                    <a:bodyPr/>
                    <a:lstStyle/>
                    <a:p>
                      <a:pPr algn="l"/>
                      <a:r>
                        <a:rPr sz="850" b="1">
                          <a:solidFill>
                            <a:srgbClr val="202020"/>
                          </a:solidFill>
                        </a:rPr>
                        <a:t>Intermediate TL</a:t>
                      </a:r>
                    </a:p>
                  </a:txBody>
                  <a:tcPr>
                    <a:solidFill>
                      <a:srgbClr val="FFFFFF"/>
                    </a:solidFill>
                  </a:tcPr>
                </a:tc>
                <a:tc>
                  <a:txBody>
                    <a:bodyPr/>
                    <a:lstStyle/>
                    <a:p>
                      <a:pPr algn="ctr"/>
                      <a:r>
                        <a:rPr sz="850" b="0">
                          <a:solidFill>
                            <a:srgbClr val="202020"/>
                          </a:solidFill>
                        </a:rPr>
                        <a:t>0.180</a:t>
                      </a:r>
                    </a:p>
                  </a:txBody>
                  <a:tcPr>
                    <a:solidFill>
                      <a:srgbClr val="FFFFFF"/>
                    </a:solidFill>
                  </a:tcPr>
                </a:tc>
                <a:tc>
                  <a:txBody>
                    <a:bodyPr/>
                    <a:lstStyle/>
                    <a:p>
                      <a:pPr algn="ctr"/>
                      <a:r>
                        <a:rPr sz="850" b="0">
                          <a:solidFill>
                            <a:srgbClr val="202020"/>
                          </a:solidFill>
                        </a:rPr>
                        <a:t>0.292</a:t>
                      </a:r>
                    </a:p>
                  </a:txBody>
                  <a:tcPr>
                    <a:solidFill>
                      <a:srgbClr val="FFFFFF"/>
                    </a:solidFill>
                  </a:tcPr>
                </a:tc>
                <a:tc>
                  <a:txBody>
                    <a:bodyPr/>
                    <a:lstStyle/>
                    <a:p>
                      <a:pPr algn="ctr"/>
                      <a:r>
                        <a:rPr sz="850" b="0">
                          <a:solidFill>
                            <a:srgbClr val="202020"/>
                          </a:solidFill>
                        </a:rPr>
                        <a:t>+62%</a:t>
                      </a:r>
                    </a:p>
                  </a:txBody>
                  <a:tcPr>
                    <a:solidFill>
                      <a:srgbClr val="FFFFFF"/>
                    </a:solidFill>
                  </a:tcPr>
                </a:tc>
              </a:tr>
              <a:tr h="274320">
                <a:tc>
                  <a:txBody>
                    <a:bodyPr/>
                    <a:lstStyle/>
                    <a:p>
                      <a:pPr algn="l"/>
                      <a:r>
                        <a:rPr sz="850" b="1">
                          <a:solidFill>
                            <a:srgbClr val="202020"/>
                          </a:solidFill>
                        </a:rPr>
                        <a:t>Late Fusion TL</a:t>
                      </a:r>
                    </a:p>
                  </a:txBody>
                  <a:tcPr>
                    <a:solidFill>
                      <a:srgbClr val="E8F0FE"/>
                    </a:solidFill>
                  </a:tcPr>
                </a:tc>
                <a:tc>
                  <a:txBody>
                    <a:bodyPr/>
                    <a:lstStyle/>
                    <a:p>
                      <a:pPr algn="ctr"/>
                      <a:r>
                        <a:rPr sz="850" b="0">
                          <a:solidFill>
                            <a:srgbClr val="202020"/>
                          </a:solidFill>
                        </a:rPr>
                        <a:t>0.167</a:t>
                      </a:r>
                    </a:p>
                  </a:txBody>
                  <a:tcPr>
                    <a:solidFill>
                      <a:srgbClr val="E8F0FE"/>
                    </a:solidFill>
                  </a:tcPr>
                </a:tc>
                <a:tc>
                  <a:txBody>
                    <a:bodyPr/>
                    <a:lstStyle/>
                    <a:p>
                      <a:pPr algn="ctr"/>
                      <a:r>
                        <a:rPr sz="850" b="1">
                          <a:solidFill>
                            <a:srgbClr val="202020"/>
                          </a:solidFill>
                        </a:rPr>
                        <a:t>0.333</a:t>
                      </a:r>
                    </a:p>
                  </a:txBody>
                  <a:tcPr>
                    <a:solidFill>
                      <a:srgbClr val="C6EFCE"/>
                    </a:solidFill>
                  </a:tcPr>
                </a:tc>
                <a:tc>
                  <a:txBody>
                    <a:bodyPr/>
                    <a:lstStyle/>
                    <a:p>
                      <a:pPr algn="ctr"/>
                      <a:r>
                        <a:rPr sz="850" b="0">
                          <a:solidFill>
                            <a:srgbClr val="202020"/>
                          </a:solidFill>
                        </a:rPr>
                        <a:t>+80%</a:t>
                      </a:r>
                    </a:p>
                  </a:txBody>
                  <a:tcPr>
                    <a:solidFill>
                      <a:srgbClr val="E8F0FE"/>
                    </a:solidFill>
                  </a:tcPr>
                </a:tc>
              </a:tr>
            </a:tbl>
          </a:graphicData>
        </a:graphic>
      </p:graphicFrame>
      <p:sp>
        <p:nvSpPr>
          <p:cNvPr id="5" name="TextBox 4"/>
          <p:cNvSpPr txBox="1"/>
          <p:nvPr/>
        </p:nvSpPr>
        <p:spPr>
          <a:xfrm>
            <a:off x="4663440" y="685800"/>
            <a:ext cx="4206240" cy="274320"/>
          </a:xfrm>
          <a:prstGeom prst="rect">
            <a:avLst/>
          </a:prstGeom>
          <a:noFill/>
        </p:spPr>
        <p:txBody>
          <a:bodyPr wrap="none">
            <a:spAutoFit/>
          </a:bodyPr>
          <a:lstStyle/>
          <a:p>
            <a:pPr algn="l"/>
            <a:r>
              <a:rPr sz="1000" b="1" i="0">
                <a:solidFill>
                  <a:srgbClr val="1A73E8"/>
                </a:solidFill>
              </a:rPr>
              <a:t>4-Class (Best Macro F1)</a:t>
            </a:r>
          </a:p>
        </p:txBody>
      </p:sp>
      <p:graphicFrame>
        <p:nvGraphicFramePr>
          <p:cNvPr id="6" name="Table 5"/>
          <p:cNvGraphicFramePr>
            <a:graphicFrameLocks noGrp="1"/>
          </p:cNvGraphicFramePr>
          <p:nvPr/>
        </p:nvGraphicFramePr>
        <p:xfrm>
          <a:off x="4663440" y="960120"/>
          <a:ext cx="4206239" cy="2194560"/>
        </p:xfrm>
        <a:graphic>
          <a:graphicData uri="http://schemas.openxmlformats.org/drawingml/2006/table">
            <a:tbl>
              <a:tblPr firstRow="1" bandRow="1"/>
              <a:tblGrid>
                <a:gridCol w="1376587"/>
                <a:gridCol w="917725"/>
                <a:gridCol w="917725"/>
                <a:gridCol w="994202"/>
              </a:tblGrid>
              <a:tr h="274320">
                <a:tc>
                  <a:txBody>
                    <a:bodyPr/>
                    <a:lstStyle/>
                    <a:p>
                      <a:pPr algn="ctr"/>
                      <a:r>
                        <a:rPr sz="900" b="1">
                          <a:solidFill>
                            <a:srgbClr val="FFFFFF"/>
                          </a:solidFill>
                        </a:rPr>
                        <a:t>Model</a:t>
                      </a:r>
                    </a:p>
                  </a:txBody>
                  <a:tcPr>
                    <a:solidFill>
                      <a:srgbClr val="1A73E8"/>
                    </a:solidFill>
                  </a:tcPr>
                </a:tc>
                <a:tc>
                  <a:txBody>
                    <a:bodyPr/>
                    <a:lstStyle/>
                    <a:p>
                      <a:pPr algn="ctr"/>
                      <a:r>
                        <a:rPr sz="900" b="1">
                          <a:solidFill>
                            <a:srgbClr val="FFFFFF"/>
                          </a:solidFill>
                        </a:rPr>
                        <a:t>Original</a:t>
                      </a:r>
                    </a:p>
                  </a:txBody>
                  <a:tcPr>
                    <a:solidFill>
                      <a:srgbClr val="1A73E8"/>
                    </a:solidFill>
                  </a:tcPr>
                </a:tc>
                <a:tc>
                  <a:txBody>
                    <a:bodyPr/>
                    <a:lstStyle/>
                    <a:p>
                      <a:pPr algn="ctr"/>
                      <a:r>
                        <a:rPr sz="900" b="1">
                          <a:solidFill>
                            <a:srgbClr val="FFFFFF"/>
                          </a:solidFill>
                        </a:rPr>
                        <a:t>Conf60</a:t>
                      </a:r>
                    </a:p>
                  </a:txBody>
                  <a:tcPr>
                    <a:solidFill>
                      <a:srgbClr val="1A73E8"/>
                    </a:solidFill>
                  </a:tcPr>
                </a:tc>
                <a:tc>
                  <a:txBody>
                    <a:bodyPr/>
                    <a:lstStyle/>
                    <a:p>
                      <a:pPr algn="ctr"/>
                      <a:r>
                        <a:rPr sz="900" b="1">
                          <a:solidFill>
                            <a:srgbClr val="FFFFFF"/>
                          </a:solidFill>
                        </a:rPr>
                        <a:t>Diff</a:t>
                      </a:r>
                    </a:p>
                  </a:txBody>
                  <a:tcPr>
                    <a:solidFill>
                      <a:srgbClr val="1A73E8"/>
                    </a:solidFill>
                  </a:tcPr>
                </a:tc>
              </a:tr>
              <a:tr h="274320">
                <a:tc>
                  <a:txBody>
                    <a:bodyPr/>
                    <a:lstStyle/>
                    <a:p>
                      <a:pPr algn="l"/>
                      <a:r>
                        <a:rPr sz="850" b="1">
                          <a:solidFill>
                            <a:srgbClr val="202020"/>
                          </a:solidFill>
                        </a:rPr>
                        <a:t>CNN</a:t>
                      </a:r>
                    </a:p>
                  </a:txBody>
                  <a:tcPr>
                    <a:solidFill>
                      <a:srgbClr val="E8F0FE"/>
                    </a:solidFill>
                  </a:tcPr>
                </a:tc>
                <a:tc>
                  <a:txBody>
                    <a:bodyPr/>
                    <a:lstStyle/>
                    <a:p>
                      <a:pPr algn="ctr"/>
                      <a:r>
                        <a:rPr sz="850" b="0">
                          <a:solidFill>
                            <a:srgbClr val="202020"/>
                          </a:solidFill>
                        </a:rPr>
                        <a:t>0.265</a:t>
                      </a:r>
                    </a:p>
                  </a:txBody>
                  <a:tcPr>
                    <a:solidFill>
                      <a:srgbClr val="E8F0FE"/>
                    </a:solidFill>
                  </a:tcPr>
                </a:tc>
                <a:tc>
                  <a:txBody>
                    <a:bodyPr/>
                    <a:lstStyle/>
                    <a:p>
                      <a:pPr algn="ctr"/>
                      <a:r>
                        <a:rPr sz="850" b="0">
                          <a:solidFill>
                            <a:srgbClr val="202020"/>
                          </a:solidFill>
                        </a:rPr>
                        <a:t>0.448</a:t>
                      </a:r>
                    </a:p>
                  </a:txBody>
                  <a:tcPr>
                    <a:solidFill>
                      <a:srgbClr val="E8F0FE"/>
                    </a:solidFill>
                  </a:tcPr>
                </a:tc>
                <a:tc>
                  <a:txBody>
                    <a:bodyPr/>
                    <a:lstStyle/>
                    <a:p>
                      <a:pPr algn="ctr"/>
                      <a:r>
                        <a:rPr sz="850" b="0">
                          <a:solidFill>
                            <a:srgbClr val="202020"/>
                          </a:solidFill>
                        </a:rPr>
                        <a:t>+69%</a:t>
                      </a:r>
                    </a:p>
                  </a:txBody>
                  <a:tcPr>
                    <a:solidFill>
                      <a:srgbClr val="E8F0FE"/>
                    </a:solidFill>
                  </a:tcPr>
                </a:tc>
              </a:tr>
              <a:tr h="274320">
                <a:tc>
                  <a:txBody>
                    <a:bodyPr/>
                    <a:lstStyle/>
                    <a:p>
                      <a:pPr algn="l"/>
                      <a:r>
                        <a:rPr sz="850" b="1">
                          <a:solidFill>
                            <a:srgbClr val="202020"/>
                          </a:solidFill>
                        </a:rPr>
                        <a:t>FCNN</a:t>
                      </a:r>
                    </a:p>
                  </a:txBody>
                  <a:tcPr>
                    <a:solidFill>
                      <a:srgbClr val="FFFFFF"/>
                    </a:solidFill>
                  </a:tcPr>
                </a:tc>
                <a:tc>
                  <a:txBody>
                    <a:bodyPr/>
                    <a:lstStyle/>
                    <a:p>
                      <a:pPr algn="ctr"/>
                      <a:r>
                        <a:rPr sz="850" b="0">
                          <a:solidFill>
                            <a:srgbClr val="202020"/>
                          </a:solidFill>
                        </a:rPr>
                        <a:t>0.361</a:t>
                      </a:r>
                    </a:p>
                  </a:txBody>
                  <a:tcPr>
                    <a:solidFill>
                      <a:srgbClr val="FFFFFF"/>
                    </a:solidFill>
                  </a:tcPr>
                </a:tc>
                <a:tc>
                  <a:txBody>
                    <a:bodyPr/>
                    <a:lstStyle/>
                    <a:p>
                      <a:pPr algn="ctr"/>
                      <a:r>
                        <a:rPr sz="850" b="0">
                          <a:solidFill>
                            <a:srgbClr val="202020"/>
                          </a:solidFill>
                        </a:rPr>
                        <a:t>0.460</a:t>
                      </a:r>
                    </a:p>
                  </a:txBody>
                  <a:tcPr>
                    <a:solidFill>
                      <a:srgbClr val="FFFFFF"/>
                    </a:solidFill>
                  </a:tcPr>
                </a:tc>
                <a:tc>
                  <a:txBody>
                    <a:bodyPr/>
                    <a:lstStyle/>
                    <a:p>
                      <a:pPr algn="ctr"/>
                      <a:r>
                        <a:rPr sz="850" b="0">
                          <a:solidFill>
                            <a:srgbClr val="202020"/>
                          </a:solidFill>
                        </a:rPr>
                        <a:t>+27%</a:t>
                      </a:r>
                    </a:p>
                  </a:txBody>
                  <a:tcPr>
                    <a:solidFill>
                      <a:srgbClr val="FFFFFF"/>
                    </a:solidFill>
                  </a:tcPr>
                </a:tc>
              </a:tr>
              <a:tr h="274320">
                <a:tc>
                  <a:txBody>
                    <a:bodyPr/>
                    <a:lstStyle/>
                    <a:p>
                      <a:pPr algn="l"/>
                      <a:r>
                        <a:rPr sz="850" b="1">
                          <a:solidFill>
                            <a:srgbClr val="202020"/>
                          </a:solidFill>
                        </a:rPr>
                        <a:t>Intermediate</a:t>
                      </a:r>
                    </a:p>
                  </a:txBody>
                  <a:tcPr>
                    <a:solidFill>
                      <a:srgbClr val="E8F0FE"/>
                    </a:solidFill>
                  </a:tcPr>
                </a:tc>
                <a:tc>
                  <a:txBody>
                    <a:bodyPr/>
                    <a:lstStyle/>
                    <a:p>
                      <a:pPr algn="ctr"/>
                      <a:r>
                        <a:rPr sz="850" b="0">
                          <a:solidFill>
                            <a:srgbClr val="202020"/>
                          </a:solidFill>
                        </a:rPr>
                        <a:t>0.269</a:t>
                      </a:r>
                    </a:p>
                  </a:txBody>
                  <a:tcPr>
                    <a:solidFill>
                      <a:srgbClr val="E8F0FE"/>
                    </a:solidFill>
                  </a:tcPr>
                </a:tc>
                <a:tc>
                  <a:txBody>
                    <a:bodyPr/>
                    <a:lstStyle/>
                    <a:p>
                      <a:pPr algn="ctr"/>
                      <a:r>
                        <a:rPr sz="850" b="0">
                          <a:solidFill>
                            <a:srgbClr val="202020"/>
                          </a:solidFill>
                        </a:rPr>
                        <a:t>0.445</a:t>
                      </a:r>
                    </a:p>
                  </a:txBody>
                  <a:tcPr>
                    <a:solidFill>
                      <a:srgbClr val="E8F0FE"/>
                    </a:solidFill>
                  </a:tcPr>
                </a:tc>
                <a:tc>
                  <a:txBody>
                    <a:bodyPr/>
                    <a:lstStyle/>
                    <a:p>
                      <a:pPr algn="ctr"/>
                      <a:r>
                        <a:rPr sz="850" b="0">
                          <a:solidFill>
                            <a:srgbClr val="202020"/>
                          </a:solidFill>
                        </a:rPr>
                        <a:t>+65%</a:t>
                      </a:r>
                    </a:p>
                  </a:txBody>
                  <a:tcPr>
                    <a:solidFill>
                      <a:srgbClr val="E8F0FE"/>
                    </a:solidFill>
                  </a:tcPr>
                </a:tc>
              </a:tr>
              <a:tr h="274320">
                <a:tc>
                  <a:txBody>
                    <a:bodyPr/>
                    <a:lstStyle/>
                    <a:p>
                      <a:pPr algn="l"/>
                      <a:r>
                        <a:rPr sz="850" b="1">
                          <a:solidFill>
                            <a:srgbClr val="202020"/>
                          </a:solidFill>
                        </a:rPr>
                        <a:t>Late Fusion</a:t>
                      </a:r>
                    </a:p>
                  </a:txBody>
                  <a:tcPr>
                    <a:solidFill>
                      <a:srgbClr val="FFFFFF"/>
                    </a:solidFill>
                  </a:tcPr>
                </a:tc>
                <a:tc>
                  <a:txBody>
                    <a:bodyPr/>
                    <a:lstStyle/>
                    <a:p>
                      <a:pPr algn="ctr"/>
                      <a:r>
                        <a:rPr sz="850" b="0">
                          <a:solidFill>
                            <a:srgbClr val="202020"/>
                          </a:solidFill>
                        </a:rPr>
                        <a:t>0.394</a:t>
                      </a:r>
                    </a:p>
                  </a:txBody>
                  <a:tcPr>
                    <a:solidFill>
                      <a:srgbClr val="FFFFFF"/>
                    </a:solidFill>
                  </a:tcPr>
                </a:tc>
                <a:tc>
                  <a:txBody>
                    <a:bodyPr/>
                    <a:lstStyle/>
                    <a:p>
                      <a:pPr algn="ctr"/>
                      <a:r>
                        <a:rPr sz="850" b="0">
                          <a:solidFill>
                            <a:srgbClr val="202020"/>
                          </a:solidFill>
                        </a:rPr>
                        <a:t>0.482</a:t>
                      </a:r>
                    </a:p>
                  </a:txBody>
                  <a:tcPr>
                    <a:solidFill>
                      <a:srgbClr val="FFFFFF"/>
                    </a:solidFill>
                  </a:tcPr>
                </a:tc>
                <a:tc>
                  <a:txBody>
                    <a:bodyPr/>
                    <a:lstStyle/>
                    <a:p>
                      <a:pPr algn="ctr"/>
                      <a:r>
                        <a:rPr sz="850" b="0">
                          <a:solidFill>
                            <a:srgbClr val="202020"/>
                          </a:solidFill>
                        </a:rPr>
                        <a:t>+22%</a:t>
                      </a:r>
                    </a:p>
                  </a:txBody>
                  <a:tcPr>
                    <a:solidFill>
                      <a:srgbClr val="FFFFFF"/>
                    </a:solidFill>
                  </a:tcPr>
                </a:tc>
              </a:tr>
              <a:tr h="274320">
                <a:tc>
                  <a:txBody>
                    <a:bodyPr/>
                    <a:lstStyle/>
                    <a:p>
                      <a:pPr algn="l"/>
                      <a:r>
                        <a:rPr sz="850" b="1">
                          <a:solidFill>
                            <a:srgbClr val="202020"/>
                          </a:solidFill>
                        </a:rPr>
                        <a:t>CNN TL</a:t>
                      </a:r>
                    </a:p>
                  </a:txBody>
                  <a:tcPr>
                    <a:solidFill>
                      <a:srgbClr val="E8F0FE"/>
                    </a:solidFill>
                  </a:tcPr>
                </a:tc>
                <a:tc>
                  <a:txBody>
                    <a:bodyPr/>
                    <a:lstStyle/>
                    <a:p>
                      <a:pPr algn="ctr"/>
                      <a:r>
                        <a:rPr sz="850" b="0">
                          <a:solidFill>
                            <a:srgbClr val="202020"/>
                          </a:solidFill>
                        </a:rPr>
                        <a:t>0.274</a:t>
                      </a:r>
                    </a:p>
                  </a:txBody>
                  <a:tcPr>
                    <a:solidFill>
                      <a:srgbClr val="E8F0FE"/>
                    </a:solidFill>
                  </a:tcPr>
                </a:tc>
                <a:tc>
                  <a:txBody>
                    <a:bodyPr/>
                    <a:lstStyle/>
                    <a:p>
                      <a:pPr algn="ctr"/>
                      <a:r>
                        <a:rPr sz="850" b="0">
                          <a:solidFill>
                            <a:srgbClr val="202020"/>
                          </a:solidFill>
                        </a:rPr>
                        <a:t>0.507</a:t>
                      </a:r>
                    </a:p>
                  </a:txBody>
                  <a:tcPr>
                    <a:solidFill>
                      <a:srgbClr val="E8F0FE"/>
                    </a:solidFill>
                  </a:tcPr>
                </a:tc>
                <a:tc>
                  <a:txBody>
                    <a:bodyPr/>
                    <a:lstStyle/>
                    <a:p>
                      <a:pPr algn="ctr"/>
                      <a:r>
                        <a:rPr sz="850" b="0">
                          <a:solidFill>
                            <a:srgbClr val="202020"/>
                          </a:solidFill>
                        </a:rPr>
                        <a:t>+85%</a:t>
                      </a:r>
                    </a:p>
                  </a:txBody>
                  <a:tcPr>
                    <a:solidFill>
                      <a:srgbClr val="E8F0FE"/>
                    </a:solidFill>
                  </a:tcPr>
                </a:tc>
              </a:tr>
              <a:tr h="274320">
                <a:tc>
                  <a:txBody>
                    <a:bodyPr/>
                    <a:lstStyle/>
                    <a:p>
                      <a:pPr algn="l"/>
                      <a:r>
                        <a:rPr sz="850" b="1">
                          <a:solidFill>
                            <a:srgbClr val="202020"/>
                          </a:solidFill>
                        </a:rPr>
                        <a:t>Intermediate TL</a:t>
                      </a:r>
                    </a:p>
                  </a:txBody>
                  <a:tcPr>
                    <a:solidFill>
                      <a:srgbClr val="FFFFFF"/>
                    </a:solidFill>
                  </a:tcPr>
                </a:tc>
                <a:tc>
                  <a:txBody>
                    <a:bodyPr/>
                    <a:lstStyle/>
                    <a:p>
                      <a:pPr algn="ctr"/>
                      <a:r>
                        <a:rPr sz="850" b="0">
                          <a:solidFill>
                            <a:srgbClr val="202020"/>
                          </a:solidFill>
                        </a:rPr>
                        <a:t>0.412</a:t>
                      </a:r>
                    </a:p>
                  </a:txBody>
                  <a:tcPr>
                    <a:solidFill>
                      <a:srgbClr val="FFFFFF"/>
                    </a:solidFill>
                  </a:tcPr>
                </a:tc>
                <a:tc>
                  <a:txBody>
                    <a:bodyPr/>
                    <a:lstStyle/>
                    <a:p>
                      <a:pPr algn="ctr"/>
                      <a:r>
                        <a:rPr sz="850" b="1">
                          <a:solidFill>
                            <a:srgbClr val="202020"/>
                          </a:solidFill>
                        </a:rPr>
                        <a:t>0.521</a:t>
                      </a:r>
                    </a:p>
                  </a:txBody>
                  <a:tcPr>
                    <a:solidFill>
                      <a:srgbClr val="C6EFCE"/>
                    </a:solidFill>
                  </a:tcPr>
                </a:tc>
                <a:tc>
                  <a:txBody>
                    <a:bodyPr/>
                    <a:lstStyle/>
                    <a:p>
                      <a:pPr algn="ctr"/>
                      <a:r>
                        <a:rPr sz="850" b="1">
                          <a:solidFill>
                            <a:srgbClr val="202020"/>
                          </a:solidFill>
                        </a:rPr>
                        <a:t>+26%</a:t>
                      </a:r>
                    </a:p>
                  </a:txBody>
                  <a:tcPr>
                    <a:solidFill>
                      <a:srgbClr val="C6EFCE"/>
                    </a:solidFill>
                  </a:tcPr>
                </a:tc>
              </a:tr>
              <a:tr h="274320">
                <a:tc>
                  <a:txBody>
                    <a:bodyPr/>
                    <a:lstStyle/>
                    <a:p>
                      <a:pPr algn="l"/>
                      <a:r>
                        <a:rPr sz="850" b="1">
                          <a:solidFill>
                            <a:srgbClr val="202020"/>
                          </a:solidFill>
                        </a:rPr>
                        <a:t>Late Fusion TL</a:t>
                      </a:r>
                    </a:p>
                  </a:txBody>
                  <a:tcPr>
                    <a:solidFill>
                      <a:srgbClr val="E8F0FE"/>
                    </a:solidFill>
                  </a:tcPr>
                </a:tc>
                <a:tc>
                  <a:txBody>
                    <a:bodyPr/>
                    <a:lstStyle/>
                    <a:p>
                      <a:pPr algn="ctr"/>
                      <a:r>
                        <a:rPr sz="850" b="0">
                          <a:solidFill>
                            <a:srgbClr val="202020"/>
                          </a:solidFill>
                        </a:rPr>
                        <a:t>0.372</a:t>
                      </a:r>
                    </a:p>
                  </a:txBody>
                  <a:tcPr>
                    <a:solidFill>
                      <a:srgbClr val="E8F0FE"/>
                    </a:solidFill>
                  </a:tcPr>
                </a:tc>
                <a:tc>
                  <a:txBody>
                    <a:bodyPr/>
                    <a:lstStyle/>
                    <a:p>
                      <a:pPr algn="l"/>
                      <a:r>
                        <a:rPr sz="850" b="1">
                          <a:solidFill>
                            <a:srgbClr val="202020"/>
                          </a:solidFill>
                        </a:rPr>
                        <a:t>0.521</a:t>
                      </a:r>
                    </a:p>
                  </a:txBody>
                  <a:tcPr>
                    <a:solidFill>
                      <a:srgbClr val="C6EFCE"/>
                    </a:solidFill>
                  </a:tcPr>
                </a:tc>
                <a:tc>
                  <a:txBody>
                    <a:bodyPr/>
                    <a:lstStyle/>
                    <a:p>
                      <a:pPr algn="l"/>
                      <a:r>
                        <a:rPr sz="850" b="1">
                          <a:solidFill>
                            <a:srgbClr val="202020"/>
                          </a:solidFill>
                        </a:rPr>
                        <a:t>+52%</a:t>
                      </a:r>
                    </a:p>
                  </a:txBody>
                  <a:tcPr>
                    <a:solidFill>
                      <a:srgbClr val="C6EFCE"/>
                    </a:solidFill>
                  </a:tcPr>
                </a:tc>
              </a:tr>
            </a:tbl>
          </a:graphicData>
        </a:graphic>
      </p:graphicFrame>
      <p:sp>
        <p:nvSpPr>
          <p:cNvPr id="7" name="TextBox 6"/>
          <p:cNvSpPr txBox="1"/>
          <p:nvPr/>
        </p:nvSpPr>
        <p:spPr>
          <a:xfrm>
            <a:off x="274320" y="3337560"/>
            <a:ext cx="8595360" cy="640080"/>
          </a:xfrm>
          <a:prstGeom prst="rect">
            <a:avLst/>
          </a:prstGeom>
          <a:solidFill>
            <a:srgbClr val="E6F4EA"/>
          </a:solidFill>
        </p:spPr>
        <p:txBody>
          <a:bodyPr wrap="square">
            <a:spAutoFit/>
          </a:bodyPr>
          <a:lstStyle/>
          <a:p>
            <a:pPr algn="l"/>
            <a:r>
              <a:rPr sz="1000" b="1">
                <a:solidFill>
                  <a:srgbClr val="0F9D58"/>
                </a:solidFill>
              </a:rPr>
              <a:t>Semua model mengalami peningkatan signifikan dengan conf60</a:t>
            </a:r>
          </a:p>
          <a:p>
            <a:pPr algn="l"/>
          </a:p>
          <a:p>
            <a:pPr algn="l"/>
          </a:p>
          <a:p>
            <a:r>
              <a:rPr sz="950">
                <a:solidFill>
                  <a:srgbClr val="202020"/>
                </a:solidFill>
              </a:rPr>
              <a:t>Best overall: Intermediate TL 4-class B3 = 0.521 (vs 0.412 sebelumnya, +38%)</a:t>
            </a:r>
          </a:p>
          <a:p>
            <a:r>
              <a:rPr sz="950">
                <a:solidFill>
                  <a:srgbClr val="202020"/>
                </a:solidFill>
              </a:rPr>
              <a:t>Peningkatan rata-rata: 7-class +76%, 4-class +47%</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Analisis Hasil -- Temuan Confidence Filtering</a:t>
            </a:r>
          </a:p>
        </p:txBody>
      </p:sp>
      <p:sp>
        <p:nvSpPr>
          <p:cNvPr id="3" name="TextBox 2"/>
          <p:cNvSpPr txBox="1"/>
          <p:nvPr/>
        </p:nvSpPr>
        <p:spPr>
          <a:xfrm>
            <a:off x="274320" y="713232"/>
            <a:ext cx="8503920" cy="228600"/>
          </a:xfrm>
          <a:prstGeom prst="rect">
            <a:avLst/>
          </a:prstGeom>
          <a:noFill/>
        </p:spPr>
        <p:txBody>
          <a:bodyPr wrap="none">
            <a:spAutoFit/>
          </a:bodyPr>
          <a:lstStyle/>
          <a:p>
            <a:pPr algn="l"/>
            <a:r>
              <a:rPr sz="900" b="1" i="0">
                <a:solidFill>
                  <a:srgbClr val="1A73E8"/>
                </a:solidFill>
              </a:rPr>
              <a:t>Temuan 24: Breakthrough -- F1 0.412 -&gt; 0.521 (val-tuned proper) (+26%)</a:t>
            </a:r>
          </a:p>
        </p:txBody>
      </p:sp>
      <p:graphicFrame>
        <p:nvGraphicFramePr>
          <p:cNvPr id="4" name="Table 3"/>
          <p:cNvGraphicFramePr>
            <a:graphicFrameLocks noGrp="1"/>
          </p:cNvGraphicFramePr>
          <p:nvPr/>
        </p:nvGraphicFramePr>
        <p:xfrm>
          <a:off x="274320" y="987552"/>
          <a:ext cx="8503919" cy="960120"/>
        </p:xfrm>
        <a:graphic>
          <a:graphicData uri="http://schemas.openxmlformats.org/drawingml/2006/table">
            <a:tbl>
              <a:tblPr firstRow="1" bandRow="1"/>
              <a:tblGrid>
                <a:gridCol w="2286000"/>
                <a:gridCol w="3200399"/>
                <a:gridCol w="3017520"/>
              </a:tblGrid>
              <a:tr h="240030">
                <a:tc>
                  <a:txBody>
                    <a:bodyPr/>
                    <a:lstStyle/>
                    <a:p>
                      <a:pPr algn="ctr"/>
                      <a:r>
                        <a:rPr sz="900" b="1">
                          <a:solidFill>
                            <a:srgbClr val="FFFFFF"/>
                          </a:solidFill>
                        </a:rPr>
                        <a:t>Tahap</a:t>
                      </a:r>
                    </a:p>
                  </a:txBody>
                  <a:tcPr>
                    <a:solidFill>
                      <a:srgbClr val="1A73E8"/>
                    </a:solidFill>
                  </a:tcPr>
                </a:tc>
                <a:tc>
                  <a:txBody>
                    <a:bodyPr/>
                    <a:lstStyle/>
                    <a:p>
                      <a:pPr algn="ctr"/>
                      <a:r>
                        <a:rPr sz="900" b="1">
                          <a:solidFill>
                            <a:srgbClr val="FFFFFF"/>
                          </a:solidFill>
                        </a:rPr>
                        <a:t>Best Model</a:t>
                      </a:r>
                    </a:p>
                  </a:txBody>
                  <a:tcPr>
                    <a:solidFill>
                      <a:srgbClr val="1A73E8"/>
                    </a:solidFill>
                  </a:tcPr>
                </a:tc>
                <a:tc>
                  <a:txBody>
                    <a:bodyPr/>
                    <a:lstStyle/>
                    <a:p>
                      <a:pPr algn="ctr"/>
                      <a:r>
                        <a:rPr sz="900" b="1">
                          <a:solidFill>
                            <a:srgbClr val="FFFFFF"/>
                          </a:solidFill>
                        </a:rPr>
                        <a:t>Macro F1</a:t>
                      </a:r>
                    </a:p>
                  </a:txBody>
                  <a:tcPr>
                    <a:solidFill>
                      <a:srgbClr val="1A73E8"/>
                    </a:solidFill>
                  </a:tcPr>
                </a:tc>
              </a:tr>
              <a:tr h="240030">
                <a:tc>
                  <a:txBody>
                    <a:bodyPr/>
                    <a:lstStyle/>
                    <a:p>
                      <a:pPr algn="l"/>
                      <a:r>
                        <a:rPr sz="850" b="1">
                          <a:solidFill>
                            <a:srgbClr val="202020"/>
                          </a:solidFill>
                        </a:rPr>
                        <a:t>Tahap 3 (TL)</a:t>
                      </a:r>
                    </a:p>
                  </a:txBody>
                  <a:tcPr>
                    <a:solidFill>
                      <a:srgbClr val="E8F0FE"/>
                    </a:solidFill>
                  </a:tcPr>
                </a:tc>
                <a:tc>
                  <a:txBody>
                    <a:bodyPr/>
                    <a:lstStyle/>
                    <a:p>
                      <a:pPr algn="ctr"/>
                      <a:r>
                        <a:rPr sz="850" b="0">
                          <a:solidFill>
                            <a:srgbClr val="202020"/>
                          </a:solidFill>
                        </a:rPr>
                        <a:t>Intermediate TL B1</a:t>
                      </a:r>
                    </a:p>
                  </a:txBody>
                  <a:tcPr>
                    <a:solidFill>
                      <a:srgbClr val="E8F0FE"/>
                    </a:solidFill>
                  </a:tcPr>
                </a:tc>
                <a:tc>
                  <a:txBody>
                    <a:bodyPr/>
                    <a:lstStyle/>
                    <a:p>
                      <a:pPr algn="ctr"/>
                      <a:r>
                        <a:rPr sz="850" b="0">
                          <a:solidFill>
                            <a:srgbClr val="202020"/>
                          </a:solidFill>
                        </a:rPr>
                        <a:t>0.412</a:t>
                      </a:r>
                    </a:p>
                  </a:txBody>
                  <a:tcPr>
                    <a:solidFill>
                      <a:srgbClr val="E8F0FE"/>
                    </a:solidFill>
                  </a:tcPr>
                </a:tc>
              </a:tr>
              <a:tr h="240030">
                <a:tc>
                  <a:txBody>
                    <a:bodyPr/>
                    <a:lstStyle/>
                    <a:p>
                      <a:pPr algn="l"/>
                      <a:r>
                        <a:rPr sz="850" b="1">
                          <a:solidFill>
                            <a:srgbClr val="202020"/>
                          </a:solidFill>
                        </a:rPr>
                        <a:t>Tahap 4 (Front-only)</a:t>
                      </a:r>
                    </a:p>
                  </a:txBody>
                  <a:tcPr>
                    <a:solidFill>
                      <a:srgbClr val="FFFFFF"/>
                    </a:solidFill>
                  </a:tcPr>
                </a:tc>
                <a:tc>
                  <a:txBody>
                    <a:bodyPr/>
                    <a:lstStyle/>
                    <a:p>
                      <a:pPr algn="ctr"/>
                      <a:r>
                        <a:rPr sz="850" b="0">
                          <a:solidFill>
                            <a:srgbClr val="202020"/>
                          </a:solidFill>
                        </a:rPr>
                        <a:t>Intermediate TL B1</a:t>
                      </a:r>
                    </a:p>
                  </a:txBody>
                  <a:tcPr>
                    <a:solidFill>
                      <a:srgbClr val="FFFFFF"/>
                    </a:solidFill>
                  </a:tcPr>
                </a:tc>
                <a:tc>
                  <a:txBody>
                    <a:bodyPr/>
                    <a:lstStyle/>
                    <a:p>
                      <a:pPr algn="ctr"/>
                      <a:r>
                        <a:rPr sz="850" b="0">
                          <a:solidFill>
                            <a:srgbClr val="202020"/>
                          </a:solidFill>
                        </a:rPr>
                        <a:t>0.412</a:t>
                      </a:r>
                    </a:p>
                  </a:txBody>
                  <a:tcPr>
                    <a:solidFill>
                      <a:srgbClr val="FFFFFF"/>
                    </a:solidFill>
                  </a:tcPr>
                </a:tc>
              </a:tr>
              <a:tr h="240030">
                <a:tc>
                  <a:txBody>
                    <a:bodyPr/>
                    <a:lstStyle/>
                    <a:p>
                      <a:pPr algn="l"/>
                      <a:r>
                        <a:rPr sz="850" b="1">
                          <a:solidFill>
                            <a:srgbClr val="202020"/>
                          </a:solidFill>
                        </a:rPr>
                        <a:t>Tahap 5 (Conf60)</a:t>
                      </a:r>
                    </a:p>
                  </a:txBody>
                  <a:tcPr>
                    <a:solidFill>
                      <a:srgbClr val="E8F0FE"/>
                    </a:solidFill>
                  </a:tcPr>
                </a:tc>
                <a:tc>
                  <a:txBody>
                    <a:bodyPr/>
                    <a:lstStyle/>
                    <a:p>
                      <a:pPr algn="l"/>
                      <a:r>
                        <a:rPr sz="850" b="1">
                          <a:solidFill>
                            <a:srgbClr val="202020"/>
                          </a:solidFill>
                        </a:rPr>
                        <a:t>Intermediate TL B3</a:t>
                      </a:r>
                    </a:p>
                  </a:txBody>
                  <a:tcPr>
                    <a:solidFill>
                      <a:srgbClr val="E8F0FE"/>
                    </a:solidFill>
                  </a:tcPr>
                </a:tc>
                <a:tc>
                  <a:txBody>
                    <a:bodyPr/>
                    <a:lstStyle/>
                    <a:p>
                      <a:pPr algn="l"/>
                      <a:r>
                        <a:rPr sz="850" b="1">
                          <a:solidFill>
                            <a:srgbClr val="202020"/>
                          </a:solidFill>
                        </a:rPr>
                        <a:t>0.521</a:t>
                      </a:r>
                    </a:p>
                  </a:txBody>
                  <a:tcPr>
                    <a:solidFill>
                      <a:srgbClr val="C6EFCE"/>
                    </a:solidFill>
                  </a:tcPr>
                </a:tc>
              </a:tr>
            </a:tbl>
          </a:graphicData>
        </a:graphic>
      </p:graphicFrame>
      <p:sp>
        <p:nvSpPr>
          <p:cNvPr id="5" name="TextBox 4"/>
          <p:cNvSpPr txBox="1"/>
          <p:nvPr/>
        </p:nvSpPr>
        <p:spPr>
          <a:xfrm>
            <a:off x="274320" y="2057400"/>
            <a:ext cx="4114800" cy="228600"/>
          </a:xfrm>
          <a:prstGeom prst="rect">
            <a:avLst/>
          </a:prstGeom>
          <a:noFill/>
        </p:spPr>
        <p:txBody>
          <a:bodyPr wrap="none">
            <a:spAutoFit/>
          </a:bodyPr>
          <a:lstStyle/>
          <a:p>
            <a:pPr algn="l"/>
            <a:r>
              <a:rPr sz="900" b="1" i="0">
                <a:solidFill>
                  <a:srgbClr val="1A73E8"/>
                </a:solidFill>
              </a:rPr>
              <a:t>Temuan 25: Hanya 4.2% data dihilangkan</a:t>
            </a:r>
          </a:p>
        </p:txBody>
      </p:sp>
      <p:sp>
        <p:nvSpPr>
          <p:cNvPr id="6" name="TextBox 5"/>
          <p:cNvSpPr txBox="1"/>
          <p:nvPr/>
        </p:nvSpPr>
        <p:spPr>
          <a:xfrm>
            <a:off x="274320" y="2331720"/>
            <a:ext cx="4114800" cy="1097280"/>
          </a:xfrm>
          <a:prstGeom prst="rect">
            <a:avLst/>
          </a:prstGeom>
          <a:solidFill>
            <a:srgbClr val="E6F4EA"/>
          </a:solidFill>
        </p:spPr>
        <p:txBody>
          <a:bodyPr wrap="square">
            <a:spAutoFit/>
          </a:bodyPr>
          <a:lstStyle/>
          <a:p>
            <a:pPr algn="l"/>
            <a:r>
              <a:rPr sz="950" b="1" i="0">
                <a:solidFill>
                  <a:srgbClr val="0F9D58"/>
                </a:solidFill>
              </a:rPr>
              <a:t>Trade-off: Sedikit data tapi bersih</a:t>
            </a:r>
          </a:p>
          <a:p>
            <a:pPr algn="l"/>
            <a:r>
              <a:rPr sz="300" b="0" i="0"/>
              <a:t/>
            </a:r>
          </a:p>
          <a:p>
            <a:pPr algn="l"/>
            <a:r>
              <a:rPr sz="900" b="0" i="0">
                <a:solidFill>
                  <a:srgbClr val="202020"/>
                </a:solidFill>
              </a:rPr>
              <a:t>- 7,091 -&gt; 6,795 sampel (4.2% filtered)</a:t>
            </a:r>
          </a:p>
          <a:p>
            <a:pPr algn="l"/>
            <a:r>
              <a:rPr sz="900" b="0" i="0">
                <a:solidFill>
                  <a:srgbClr val="202020"/>
                </a:solidFill>
              </a:rPr>
              <a:t>- Kelas minoritas: 50-57% filtered</a:t>
            </a:r>
          </a:p>
          <a:p>
            <a:pPr algn="l"/>
            <a:r>
              <a:rPr sz="900" b="0" i="0">
                <a:solidFill>
                  <a:srgbClr val="202020"/>
                </a:solidFill>
              </a:rPr>
              <a:t>- Tapi F1 naik signifikan</a:t>
            </a:r>
          </a:p>
          <a:p>
            <a:pPr algn="l"/>
            <a:r>
              <a:rPr sz="300" b="0" i="0"/>
              <a:t/>
            </a:r>
          </a:p>
          <a:p>
            <a:pPr algn="l"/>
            <a:r>
              <a:rPr sz="900" b="0" i="1">
                <a:solidFill>
                  <a:srgbClr val="666666"/>
                </a:solidFill>
              </a:rPr>
              <a:t>Bersih menang vs banyak</a:t>
            </a:r>
          </a:p>
        </p:txBody>
      </p:sp>
      <p:sp>
        <p:nvSpPr>
          <p:cNvPr id="7" name="TextBox 6"/>
          <p:cNvSpPr txBox="1"/>
          <p:nvPr/>
        </p:nvSpPr>
        <p:spPr>
          <a:xfrm>
            <a:off x="4572000" y="2057400"/>
            <a:ext cx="4297680" cy="228600"/>
          </a:xfrm>
          <a:prstGeom prst="rect">
            <a:avLst/>
          </a:prstGeom>
          <a:noFill/>
        </p:spPr>
        <p:txBody>
          <a:bodyPr wrap="none">
            <a:spAutoFit/>
          </a:bodyPr>
          <a:lstStyle/>
          <a:p>
            <a:pPr algn="l"/>
            <a:r>
              <a:rPr sz="900" b="1" i="0">
                <a:solidFill>
                  <a:srgbClr val="1A73E8"/>
                </a:solidFill>
              </a:rPr>
              <a:t>Temuan 26: Label noise adalah masalah utama</a:t>
            </a:r>
          </a:p>
        </p:txBody>
      </p:sp>
      <p:sp>
        <p:nvSpPr>
          <p:cNvPr id="8" name="TextBox 7"/>
          <p:cNvSpPr txBox="1"/>
          <p:nvPr/>
        </p:nvSpPr>
        <p:spPr>
          <a:xfrm>
            <a:off x="4572000" y="2331720"/>
            <a:ext cx="4297680" cy="1097280"/>
          </a:xfrm>
          <a:prstGeom prst="rect">
            <a:avLst/>
          </a:prstGeom>
          <a:solidFill>
            <a:srgbClr val="FCE4E4"/>
          </a:solidFill>
        </p:spPr>
        <p:txBody>
          <a:bodyPr wrap="square">
            <a:spAutoFit/>
          </a:bodyPr>
          <a:lstStyle/>
          <a:p>
            <a:pPr algn="l"/>
            <a:r>
              <a:rPr sz="950" b="1" i="0">
                <a:solidFill>
                  <a:srgbClr val="D93C3C"/>
                </a:solidFill>
              </a:rPr>
              <a:t>Penyebab performa rendah sebelumnya:</a:t>
            </a:r>
          </a:p>
          <a:p>
            <a:pPr algn="l"/>
            <a:r>
              <a:rPr sz="300" b="0" i="0"/>
              <a:t/>
            </a:r>
          </a:p>
          <a:p>
            <a:pPr algn="l"/>
            <a:r>
              <a:rPr sz="900" b="0" i="0">
                <a:solidFill>
                  <a:srgbClr val="202020"/>
                </a:solidFill>
              </a:rPr>
              <a:t>- BUKAN karakteristik data natural</a:t>
            </a:r>
          </a:p>
          <a:p>
            <a:pPr algn="l"/>
            <a:r>
              <a:rPr sz="900" b="0" i="0">
                <a:solidFill>
                  <a:srgbClr val="202020"/>
                </a:solidFill>
              </a:rPr>
              <a:t>- BUKAN arsitektur yang kurang</a:t>
            </a:r>
          </a:p>
          <a:p>
            <a:pPr algn="l"/>
            <a:r>
              <a:rPr sz="900" b="1" i="0">
                <a:solidFill>
                  <a:srgbClr val="202020"/>
                </a:solidFill>
              </a:rPr>
              <a:t>- TAPI label noise Face API</a:t>
            </a:r>
          </a:p>
          <a:p>
            <a:pPr algn="l"/>
            <a:r>
              <a:rPr sz="300" b="0" i="0"/>
              <a:t/>
            </a:r>
          </a:p>
          <a:p>
            <a:pPr algn="l"/>
            <a:r>
              <a:rPr sz="900" b="0" i="1">
                <a:solidFill>
                  <a:srgbClr val="666666"/>
                </a:solidFill>
              </a:rPr>
              <a:t>Memperkuat alasan validasi ahli</a:t>
            </a:r>
          </a:p>
        </p:txBody>
      </p:sp>
      <p:sp>
        <p:nvSpPr>
          <p:cNvPr id="9" name="TextBox 8"/>
          <p:cNvSpPr txBox="1"/>
          <p:nvPr/>
        </p:nvSpPr>
        <p:spPr>
          <a:xfrm>
            <a:off x="274320" y="3520440"/>
            <a:ext cx="8595360" cy="365760"/>
          </a:xfrm>
          <a:prstGeom prst="rect">
            <a:avLst/>
          </a:prstGeom>
          <a:solidFill>
            <a:srgbClr val="1A73E8"/>
          </a:solidFill>
        </p:spPr>
        <p:txBody>
          <a:bodyPr wrap="square">
            <a:spAutoFit/>
          </a:bodyPr>
          <a:lstStyle/>
          <a:p>
            <a:pPr algn="ctr"/>
            <a:r>
              <a:rPr sz="950" b="1" i="0">
                <a:solidFill>
                  <a:srgbClr val="FFFFFF"/>
                </a:solidFill>
              </a:rPr>
              <a:t>Kesimpulan: Kualitas label &gt; kuantitas data. Confidence filtering terbukti efektif meningkatkan performa model.</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Tahap 5C: Undersampling + Conf60 (Kombinasi)</a:t>
            </a:r>
          </a:p>
        </p:txBody>
      </p:sp>
      <p:sp>
        <p:nvSpPr>
          <p:cNvPr id="3" name="TextBox 2"/>
          <p:cNvSpPr txBox="1"/>
          <p:nvPr/>
        </p:nvSpPr>
        <p:spPr>
          <a:xfrm>
            <a:off x="274320" y="685800"/>
            <a:ext cx="8595360" cy="548640"/>
          </a:xfrm>
          <a:prstGeom prst="rect">
            <a:avLst/>
          </a:prstGeom>
          <a:solidFill>
            <a:srgbClr val="FFF0CC"/>
          </a:solidFill>
        </p:spPr>
        <p:txBody>
          <a:bodyPr wrap="square">
            <a:spAutoFit/>
          </a:bodyPr>
          <a:lstStyle/>
          <a:p>
            <a:pPr algn="l"/>
            <a:r>
              <a:rPr sz="1000" b="1" i="0">
                <a:solidFill>
                  <a:srgbClr val="202020"/>
                </a:solidFill>
              </a:rPr>
              <a:t>Menggabungkan 2 strategi terbaik: Conf60 + Undersampling Under-660</a:t>
            </a:r>
          </a:p>
          <a:p>
            <a:pPr algn="l"/>
            <a:r>
              <a:rPr sz="950" b="0" i="0">
                <a:solidFill>
                  <a:srgbClr val="666666"/>
                </a:solidFill>
              </a:rPr>
              <a:t>Target: apakah kombinasi mengalahkan masing-masing strategi?</a:t>
            </a:r>
          </a:p>
          <a:p>
            <a:r>
              <a:rPr sz="850" i="1">
                <a:solidFill>
                  <a:srgbClr val="666666"/>
                </a:solidFill>
              </a:rPr>
              <a:t>Catatan: Hanya 3 model teratas (Intermediate TL, FCNN, Late Fusion). CNN tidak diuji.</a:t>
            </a:r>
          </a:p>
        </p:txBody>
      </p:sp>
      <p:graphicFrame>
        <p:nvGraphicFramePr>
          <p:cNvPr id="4" name="Table 3"/>
          <p:cNvGraphicFramePr>
            <a:graphicFrameLocks noGrp="1"/>
          </p:cNvGraphicFramePr>
          <p:nvPr/>
        </p:nvGraphicFramePr>
        <p:xfrm>
          <a:off x="274320" y="1325880"/>
          <a:ext cx="8595360" cy="1188720"/>
        </p:xfrm>
        <a:graphic>
          <a:graphicData uri="http://schemas.openxmlformats.org/drawingml/2006/table">
            <a:tbl>
              <a:tblPr firstRow="1" bandRow="1"/>
              <a:tblGrid>
                <a:gridCol w="2286000"/>
                <a:gridCol w="2103120"/>
                <a:gridCol w="2103120"/>
                <a:gridCol w="2103120"/>
              </a:tblGrid>
              <a:tr h="297180">
                <a:tc>
                  <a:txBody>
                    <a:bodyPr/>
                    <a:lstStyle/>
                    <a:p>
                      <a:pPr algn="ctr"/>
                      <a:r>
                        <a:rPr sz="1000" b="1">
                          <a:solidFill>
                            <a:srgbClr val="FFFFFF"/>
                          </a:solidFill>
                        </a:rPr>
                        <a:t>Model</a:t>
                      </a:r>
                    </a:p>
                  </a:txBody>
                  <a:tcPr>
                    <a:solidFill>
                      <a:srgbClr val="1A73E8"/>
                    </a:solidFill>
                  </a:tcPr>
                </a:tc>
                <a:tc>
                  <a:txBody>
                    <a:bodyPr/>
                    <a:lstStyle/>
                    <a:p>
                      <a:pPr algn="ctr"/>
                      <a:r>
                        <a:rPr sz="1000" b="1">
                          <a:solidFill>
                            <a:srgbClr val="FFFFFF"/>
                          </a:solidFill>
                        </a:rPr>
                        <a:t>Conf60 Original</a:t>
                      </a:r>
                    </a:p>
                  </a:txBody>
                  <a:tcPr>
                    <a:solidFill>
                      <a:srgbClr val="1A73E8"/>
                    </a:solidFill>
                  </a:tcPr>
                </a:tc>
                <a:tc>
                  <a:txBody>
                    <a:bodyPr/>
                    <a:lstStyle/>
                    <a:p>
                      <a:pPr algn="ctr"/>
                      <a:r>
                        <a:rPr sz="1000" b="1">
                          <a:solidFill>
                            <a:srgbClr val="FFFFFF"/>
                          </a:solidFill>
                        </a:rPr>
                        <a:t>Conf60 + Under-660</a:t>
                      </a:r>
                    </a:p>
                  </a:txBody>
                  <a:tcPr>
                    <a:solidFill>
                      <a:srgbClr val="1A73E8"/>
                    </a:solidFill>
                  </a:tcPr>
                </a:tc>
                <a:tc>
                  <a:txBody>
                    <a:bodyPr/>
                    <a:lstStyle/>
                    <a:p>
                      <a:pPr algn="ctr"/>
                      <a:r>
                        <a:rPr sz="1000" b="1">
                          <a:solidFill>
                            <a:srgbClr val="FFFFFF"/>
                          </a:solidFill>
                        </a:rPr>
                        <a:t>Diff</a:t>
                      </a:r>
                    </a:p>
                  </a:txBody>
                  <a:tcPr>
                    <a:solidFill>
                      <a:srgbClr val="1A73E8"/>
                    </a:solidFill>
                  </a:tcPr>
                </a:tc>
              </a:tr>
              <a:tr h="297180">
                <a:tc>
                  <a:txBody>
                    <a:bodyPr/>
                    <a:lstStyle/>
                    <a:p>
                      <a:pPr algn="l"/>
                      <a:r>
                        <a:rPr sz="1000" b="1">
                          <a:solidFill>
                            <a:srgbClr val="202020"/>
                          </a:solidFill>
                        </a:rPr>
                        <a:t>Intermediate TL</a:t>
                      </a:r>
                    </a:p>
                  </a:txBody>
                  <a:tcPr>
                    <a:solidFill>
                      <a:srgbClr val="E8F0FE"/>
                    </a:solidFill>
                  </a:tcPr>
                </a:tc>
                <a:tc>
                  <a:txBody>
                    <a:bodyPr/>
                    <a:lstStyle/>
                    <a:p>
                      <a:pPr algn="ctr"/>
                      <a:r>
                        <a:rPr sz="1000" b="0">
                          <a:solidFill>
                            <a:srgbClr val="202020"/>
                          </a:solidFill>
                        </a:rPr>
                        <a:t>0.478</a:t>
                      </a:r>
                    </a:p>
                  </a:txBody>
                  <a:tcPr>
                    <a:solidFill>
                      <a:srgbClr val="E8F0FE"/>
                    </a:solidFill>
                  </a:tcPr>
                </a:tc>
                <a:tc>
                  <a:txBody>
                    <a:bodyPr/>
                    <a:lstStyle/>
                    <a:p>
                      <a:pPr algn="ctr"/>
                      <a:r>
                        <a:rPr sz="1000" b="0">
                          <a:solidFill>
                            <a:srgbClr val="202020"/>
                          </a:solidFill>
                        </a:rPr>
                        <a:t>0.401</a:t>
                      </a:r>
                    </a:p>
                  </a:txBody>
                  <a:tcPr>
                    <a:solidFill>
                      <a:srgbClr val="E8F0FE"/>
                    </a:solidFill>
                  </a:tcPr>
                </a:tc>
                <a:tc>
                  <a:txBody>
                    <a:bodyPr/>
                    <a:lstStyle/>
                    <a:p>
                      <a:pPr algn="ctr"/>
                      <a:r>
                        <a:rPr sz="1000" b="0">
                          <a:solidFill>
                            <a:srgbClr val="202020"/>
                          </a:solidFill>
                        </a:rPr>
                        <a:t>-16%</a:t>
                      </a:r>
                    </a:p>
                  </a:txBody>
                  <a:tcPr>
                    <a:solidFill>
                      <a:srgbClr val="E8F0FE"/>
                    </a:solidFill>
                  </a:tcPr>
                </a:tc>
              </a:tr>
              <a:tr h="297180">
                <a:tc>
                  <a:txBody>
                    <a:bodyPr/>
                    <a:lstStyle/>
                    <a:p>
                      <a:pPr algn="l"/>
                      <a:r>
                        <a:rPr sz="1000" b="1">
                          <a:solidFill>
                            <a:srgbClr val="202020"/>
                          </a:solidFill>
                        </a:rPr>
                        <a:t>FCNN</a:t>
                      </a:r>
                    </a:p>
                  </a:txBody>
                  <a:tcPr>
                    <a:solidFill>
                      <a:srgbClr val="FFFFFF"/>
                    </a:solidFill>
                  </a:tcPr>
                </a:tc>
                <a:tc>
                  <a:txBody>
                    <a:bodyPr/>
                    <a:lstStyle/>
                    <a:p>
                      <a:pPr algn="ctr"/>
                      <a:r>
                        <a:rPr sz="1000" b="0">
                          <a:solidFill>
                            <a:srgbClr val="202020"/>
                          </a:solidFill>
                        </a:rPr>
                        <a:t>0.489</a:t>
                      </a:r>
                    </a:p>
                  </a:txBody>
                  <a:tcPr>
                    <a:solidFill>
                      <a:srgbClr val="FFFFFF"/>
                    </a:solidFill>
                  </a:tcPr>
                </a:tc>
                <a:tc>
                  <a:txBody>
                    <a:bodyPr/>
                    <a:lstStyle/>
                    <a:p>
                      <a:pPr algn="ctr"/>
                      <a:r>
                        <a:rPr sz="1000" b="0">
                          <a:solidFill>
                            <a:srgbClr val="202020"/>
                          </a:solidFill>
                        </a:rPr>
                        <a:t>0.433</a:t>
                      </a:r>
                    </a:p>
                  </a:txBody>
                  <a:tcPr>
                    <a:solidFill>
                      <a:srgbClr val="FFFFFF"/>
                    </a:solidFill>
                  </a:tcPr>
                </a:tc>
                <a:tc>
                  <a:txBody>
                    <a:bodyPr/>
                    <a:lstStyle/>
                    <a:p>
                      <a:pPr algn="ctr"/>
                      <a:r>
                        <a:rPr sz="1000" b="0">
                          <a:solidFill>
                            <a:srgbClr val="202020"/>
                          </a:solidFill>
                        </a:rPr>
                        <a:t>-11%</a:t>
                      </a:r>
                    </a:p>
                  </a:txBody>
                  <a:tcPr>
                    <a:solidFill>
                      <a:srgbClr val="FFFFFF"/>
                    </a:solidFill>
                  </a:tcPr>
                </a:tc>
              </a:tr>
              <a:tr h="297180">
                <a:tc>
                  <a:txBody>
                    <a:bodyPr/>
                    <a:lstStyle/>
                    <a:p>
                      <a:pPr algn="l"/>
                      <a:r>
                        <a:rPr sz="1000" b="1">
                          <a:solidFill>
                            <a:srgbClr val="202020"/>
                          </a:solidFill>
                        </a:rPr>
                        <a:t>Late Fusion</a:t>
                      </a:r>
                    </a:p>
                  </a:txBody>
                  <a:tcPr>
                    <a:solidFill>
                      <a:srgbClr val="E8F0FE"/>
                    </a:solidFill>
                  </a:tcPr>
                </a:tc>
                <a:tc>
                  <a:txBody>
                    <a:bodyPr/>
                    <a:lstStyle/>
                    <a:p>
                      <a:pPr algn="ctr"/>
                      <a:r>
                        <a:rPr sz="1000" b="0">
                          <a:solidFill>
                            <a:srgbClr val="202020"/>
                          </a:solidFill>
                        </a:rPr>
                        <a:t>0.466</a:t>
                      </a:r>
                    </a:p>
                  </a:txBody>
                  <a:tcPr>
                    <a:solidFill>
                      <a:srgbClr val="E8F0FE"/>
                    </a:solidFill>
                  </a:tcPr>
                </a:tc>
                <a:tc>
                  <a:txBody>
                    <a:bodyPr/>
                    <a:lstStyle/>
                    <a:p>
                      <a:pPr algn="ctr"/>
                      <a:r>
                        <a:rPr sz="1000" b="1">
                          <a:solidFill>
                            <a:srgbClr val="202020"/>
                          </a:solidFill>
                        </a:rPr>
                        <a:t>0.508</a:t>
                      </a:r>
                    </a:p>
                  </a:txBody>
                  <a:tcPr>
                    <a:solidFill>
                      <a:srgbClr val="C6EFCE"/>
                    </a:solidFill>
                  </a:tcPr>
                </a:tc>
                <a:tc>
                  <a:txBody>
                    <a:bodyPr/>
                    <a:lstStyle/>
                    <a:p>
                      <a:pPr algn="ctr"/>
                      <a:r>
                        <a:rPr sz="1000" b="1">
                          <a:solidFill>
                            <a:srgbClr val="202020"/>
                          </a:solidFill>
                        </a:rPr>
                        <a:t>+9%</a:t>
                      </a:r>
                    </a:p>
                  </a:txBody>
                  <a:tcPr>
                    <a:solidFill>
                      <a:srgbClr val="C6EFCE"/>
                    </a:solidFill>
                  </a:tcPr>
                </a:tc>
              </a:tr>
            </a:tbl>
          </a:graphicData>
        </a:graphic>
      </p:graphicFrame>
      <p:sp>
        <p:nvSpPr>
          <p:cNvPr id="5" name="TextBox 4"/>
          <p:cNvSpPr txBox="1"/>
          <p:nvPr/>
        </p:nvSpPr>
        <p:spPr>
          <a:xfrm>
            <a:off x="274320" y="2651760"/>
            <a:ext cx="8595360" cy="274320"/>
          </a:xfrm>
          <a:prstGeom prst="rect">
            <a:avLst/>
          </a:prstGeom>
          <a:noFill/>
        </p:spPr>
        <p:txBody>
          <a:bodyPr wrap="none">
            <a:spAutoFit/>
          </a:bodyPr>
          <a:lstStyle/>
          <a:p>
            <a:pPr algn="l"/>
            <a:r>
              <a:rPr sz="1000" b="1" i="0">
                <a:solidFill>
                  <a:srgbClr val="202020"/>
                </a:solidFill>
              </a:rPr>
              <a:t>Perbandingan dengan Best Overall</a:t>
            </a:r>
          </a:p>
        </p:txBody>
      </p:sp>
      <p:graphicFrame>
        <p:nvGraphicFramePr>
          <p:cNvPr id="6" name="Table 5"/>
          <p:cNvGraphicFramePr>
            <a:graphicFrameLocks noGrp="1"/>
          </p:cNvGraphicFramePr>
          <p:nvPr/>
        </p:nvGraphicFramePr>
        <p:xfrm>
          <a:off x="274320" y="2971800"/>
          <a:ext cx="8595360" cy="1005840"/>
        </p:xfrm>
        <a:graphic>
          <a:graphicData uri="http://schemas.openxmlformats.org/drawingml/2006/table">
            <a:tbl>
              <a:tblPr firstRow="1" bandRow="1"/>
              <a:tblGrid>
                <a:gridCol w="3200400"/>
                <a:gridCol w="3200400"/>
                <a:gridCol w="2194560"/>
              </a:tblGrid>
              <a:tr h="251460">
                <a:tc>
                  <a:txBody>
                    <a:bodyPr/>
                    <a:lstStyle/>
                    <a:p>
                      <a:pPr algn="ctr"/>
                      <a:r>
                        <a:rPr sz="950" b="1">
                          <a:solidFill>
                            <a:srgbClr val="FFFFFF"/>
                          </a:solidFill>
                        </a:rPr>
                        <a:t>Strategi</a:t>
                      </a:r>
                    </a:p>
                  </a:txBody>
                  <a:tcPr>
                    <a:solidFill>
                      <a:srgbClr val="1A73E8"/>
                    </a:solidFill>
                  </a:tcPr>
                </a:tc>
                <a:tc>
                  <a:txBody>
                    <a:bodyPr/>
                    <a:lstStyle/>
                    <a:p>
                      <a:pPr algn="ctr"/>
                      <a:r>
                        <a:rPr sz="950" b="1">
                          <a:solidFill>
                            <a:srgbClr val="FFFFFF"/>
                          </a:solidFill>
                        </a:rPr>
                        <a:t>Best Model</a:t>
                      </a:r>
                    </a:p>
                  </a:txBody>
                  <a:tcPr>
                    <a:solidFill>
                      <a:srgbClr val="1A73E8"/>
                    </a:solidFill>
                  </a:tcPr>
                </a:tc>
                <a:tc>
                  <a:txBody>
                    <a:bodyPr/>
                    <a:lstStyle/>
                    <a:p>
                      <a:pPr algn="ctr"/>
                      <a:r>
                        <a:rPr sz="950" b="1">
                          <a:solidFill>
                            <a:srgbClr val="FFFFFF"/>
                          </a:solidFill>
                        </a:rPr>
                        <a:t>Macro F1</a:t>
                      </a:r>
                    </a:p>
                  </a:txBody>
                  <a:tcPr>
                    <a:solidFill>
                      <a:srgbClr val="1A73E8"/>
                    </a:solidFill>
                  </a:tcPr>
                </a:tc>
              </a:tr>
              <a:tr h="251460">
                <a:tc>
                  <a:txBody>
                    <a:bodyPr/>
                    <a:lstStyle/>
                    <a:p>
                      <a:pPr algn="l"/>
                      <a:r>
                        <a:rPr sz="950" b="1">
                          <a:solidFill>
                            <a:srgbClr val="202020"/>
                          </a:solidFill>
                        </a:rPr>
                        <a:t>Tahap 5A: Undersampling saja</a:t>
                      </a:r>
                    </a:p>
                  </a:txBody>
                  <a:tcPr>
                    <a:solidFill>
                      <a:srgbClr val="E8F0FE"/>
                    </a:solidFill>
                  </a:tcPr>
                </a:tc>
                <a:tc>
                  <a:txBody>
                    <a:bodyPr/>
                    <a:lstStyle/>
                    <a:p>
                      <a:pPr algn="ctr"/>
                      <a:r>
                        <a:rPr sz="950" b="0">
                          <a:solidFill>
                            <a:srgbClr val="202020"/>
                          </a:solidFill>
                        </a:rPr>
                        <a:t>Late Fusion 4c under-660</a:t>
                      </a:r>
                    </a:p>
                  </a:txBody>
                  <a:tcPr>
                    <a:solidFill>
                      <a:srgbClr val="C6EFCE"/>
                    </a:solidFill>
                  </a:tcPr>
                </a:tc>
                <a:tc>
                  <a:txBody>
                    <a:bodyPr/>
                    <a:lstStyle/>
                    <a:p>
                      <a:pPr algn="ctr"/>
                      <a:r>
                        <a:rPr sz="950" b="0">
                          <a:solidFill>
                            <a:srgbClr val="202020"/>
                          </a:solidFill>
                        </a:rPr>
                        <a:t>0.405</a:t>
                      </a:r>
                    </a:p>
                  </a:txBody>
                  <a:tcPr>
                    <a:solidFill>
                      <a:srgbClr val="C6EFCE"/>
                    </a:solidFill>
                  </a:tcPr>
                </a:tc>
              </a:tr>
              <a:tr h="251460">
                <a:tc>
                  <a:txBody>
                    <a:bodyPr/>
                    <a:lstStyle/>
                    <a:p>
                      <a:pPr algn="l"/>
                      <a:r>
                        <a:rPr sz="950" b="1">
                          <a:solidFill>
                            <a:srgbClr val="202020"/>
                          </a:solidFill>
                        </a:rPr>
                        <a:t>Tahap 5B: Conf60 saja (TL + B3)</a:t>
                      </a:r>
                    </a:p>
                  </a:txBody>
                  <a:tcPr>
                    <a:solidFill>
                      <a:srgbClr val="C6EFCE"/>
                    </a:solidFill>
                  </a:tcPr>
                </a:tc>
                <a:tc>
                  <a:txBody>
                    <a:bodyPr/>
                    <a:lstStyle/>
                    <a:p>
                      <a:pPr algn="ctr"/>
                      <a:r>
                        <a:rPr sz="950" b="1">
                          <a:solidFill>
                            <a:srgbClr val="202020"/>
                          </a:solidFill>
                        </a:rPr>
                        <a:t>Intermediate TL 4c B3</a:t>
                      </a:r>
                    </a:p>
                  </a:txBody>
                  <a:tcPr>
                    <a:solidFill>
                      <a:srgbClr val="C6EFCE"/>
                    </a:solidFill>
                  </a:tcPr>
                </a:tc>
                <a:tc>
                  <a:txBody>
                    <a:bodyPr/>
                    <a:lstStyle/>
                    <a:p>
                      <a:pPr algn="ctr"/>
                      <a:r>
                        <a:rPr sz="950" b="1">
                          <a:solidFill>
                            <a:srgbClr val="202020"/>
                          </a:solidFill>
                        </a:rPr>
                        <a:t>0.521</a:t>
                      </a:r>
                    </a:p>
                  </a:txBody>
                  <a:tcPr>
                    <a:solidFill>
                      <a:srgbClr val="C6EFCE"/>
                    </a:solidFill>
                  </a:tcPr>
                </a:tc>
              </a:tr>
              <a:tr h="251460">
                <a:tc>
                  <a:txBody>
                    <a:bodyPr/>
                    <a:lstStyle/>
                    <a:p>
                      <a:pPr algn="l"/>
                      <a:r>
                        <a:rPr sz="950" b="1">
                          <a:solidFill>
                            <a:srgbClr val="202020"/>
                          </a:solidFill>
                        </a:rPr>
                        <a:t>Tahap 5C: Conf60 + Undersampling</a:t>
                      </a:r>
                    </a:p>
                  </a:txBody>
                  <a:tcPr>
                    <a:solidFill>
                      <a:srgbClr val="E8F0FE"/>
                    </a:solidFill>
                  </a:tcPr>
                </a:tc>
                <a:tc>
                  <a:txBody>
                    <a:bodyPr/>
                    <a:lstStyle/>
                    <a:p>
                      <a:pPr algn="ctr"/>
                      <a:r>
                        <a:rPr sz="950" b="0">
                          <a:solidFill>
                            <a:srgbClr val="202020"/>
                          </a:solidFill>
                        </a:rPr>
                        <a:t>Late Fusion conf60 under-660</a:t>
                      </a:r>
                    </a:p>
                  </a:txBody>
                  <a:tcPr>
                    <a:solidFill>
                      <a:srgbClr val="E8F0FE"/>
                    </a:solidFill>
                  </a:tcPr>
                </a:tc>
                <a:tc>
                  <a:txBody>
                    <a:bodyPr/>
                    <a:lstStyle/>
                    <a:p>
                      <a:pPr algn="ctr"/>
                      <a:r>
                        <a:rPr sz="950" b="0">
                          <a:solidFill>
                            <a:srgbClr val="202020"/>
                          </a:solidFill>
                        </a:rPr>
                        <a:t>0.508</a:t>
                      </a:r>
                    </a:p>
                  </a:txBody>
                  <a:tcPr>
                    <a:solidFill>
                      <a:srgbClr val="E8F0FE"/>
                    </a:solidFill>
                  </a:tcPr>
                </a:tc>
              </a:tr>
            </a:tbl>
          </a:graphicData>
        </a:graphic>
      </p:graphicFrame>
      <p:sp>
        <p:nvSpPr>
          <p:cNvPr id="7" name="TextBox 6"/>
          <p:cNvSpPr txBox="1"/>
          <p:nvPr/>
        </p:nvSpPr>
        <p:spPr>
          <a:xfrm>
            <a:off x="274320" y="4069080"/>
            <a:ext cx="8595360" cy="320040"/>
          </a:xfrm>
          <a:prstGeom prst="rect">
            <a:avLst/>
          </a:prstGeom>
          <a:solidFill>
            <a:srgbClr val="E8F0FE"/>
          </a:solidFill>
        </p:spPr>
        <p:txBody>
          <a:bodyPr wrap="square">
            <a:spAutoFit/>
          </a:bodyPr>
          <a:lstStyle/>
          <a:p>
            <a:pPr algn="ctr"/>
            <a:r>
              <a:rPr sz="950" b="1" i="0">
                <a:solidFill>
                  <a:srgbClr val="202020"/>
                </a:solidFill>
              </a:rPr>
              <a:t>Best overall tetap: Intermediate TL 4-class B3 conf60 = 0.521 (val-tuned) | Kombinasi tidak selalu lebih baik</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8595360" cy="411480"/>
          </a:xfrm>
          <a:prstGeom prst="rect">
            <a:avLst/>
          </a:prstGeom>
          <a:noFill/>
        </p:spPr>
        <p:txBody>
          <a:bodyPr wrap="none">
            <a:spAutoFit/>
          </a:bodyPr>
          <a:lstStyle/>
          <a:p>
            <a:pPr algn="l"/>
            <a:r>
              <a:rPr sz="1700" b="1" i="0">
                <a:solidFill>
                  <a:srgbClr val="202020"/>
                </a:solidFill>
              </a:rPr>
              <a:t>Analisis Mendalam Masalah Dataset</a:t>
            </a:r>
          </a:p>
        </p:txBody>
      </p:sp>
      <p:sp>
        <p:nvSpPr>
          <p:cNvPr id="3" name="TextBox 2"/>
          <p:cNvSpPr txBox="1"/>
          <p:nvPr/>
        </p:nvSpPr>
        <p:spPr>
          <a:xfrm>
            <a:off x="274320" y="548640"/>
            <a:ext cx="4114800" cy="228600"/>
          </a:xfrm>
          <a:prstGeom prst="rect">
            <a:avLst/>
          </a:prstGeom>
          <a:noFill/>
        </p:spPr>
        <p:txBody>
          <a:bodyPr wrap="none">
            <a:spAutoFit/>
          </a:bodyPr>
          <a:lstStyle/>
          <a:p>
            <a:pPr algn="l"/>
            <a:r>
              <a:rPr sz="950" b="1" i="0">
                <a:solidFill>
                  <a:srgbClr val="D93C3C"/>
                </a:solidFill>
              </a:rPr>
              <a:t>Masalah 1: Diversity Per-User (12/37 = 32%)</a:t>
            </a:r>
          </a:p>
        </p:txBody>
      </p:sp>
      <p:graphicFrame>
        <p:nvGraphicFramePr>
          <p:cNvPr id="4" name="Table 3"/>
          <p:cNvGraphicFramePr>
            <a:graphicFrameLocks noGrp="1"/>
          </p:cNvGraphicFramePr>
          <p:nvPr/>
        </p:nvGraphicFramePr>
        <p:xfrm>
          <a:off x="274320" y="795528"/>
          <a:ext cx="4114800" cy="1097280"/>
        </p:xfrm>
        <a:graphic>
          <a:graphicData uri="http://schemas.openxmlformats.org/drawingml/2006/table">
            <a:tbl>
              <a:tblPr firstRow="1" bandRow="1"/>
              <a:tblGrid>
                <a:gridCol w="1920240"/>
                <a:gridCol w="2194560"/>
              </a:tblGrid>
              <a:tr h="274320">
                <a:tc>
                  <a:txBody>
                    <a:bodyPr/>
                    <a:lstStyle/>
                    <a:p>
                      <a:pPr algn="ctr"/>
                      <a:r>
                        <a:rPr sz="900" b="1">
                          <a:solidFill>
                            <a:srgbClr val="FFFFFF"/>
                          </a:solidFill>
                        </a:rPr>
                        <a:t>Kategori</a:t>
                      </a:r>
                    </a:p>
                  </a:txBody>
                  <a:tcPr>
                    <a:solidFill>
                      <a:srgbClr val="1A73E8"/>
                    </a:solidFill>
                  </a:tcPr>
                </a:tc>
                <a:tc>
                  <a:txBody>
                    <a:bodyPr/>
                    <a:lstStyle/>
                    <a:p>
                      <a:pPr algn="ctr"/>
                      <a:r>
                        <a:rPr sz="900" b="1">
                          <a:solidFill>
                            <a:srgbClr val="FFFFFF"/>
                          </a:solidFill>
                        </a:rPr>
                        <a:t>User ID</a:t>
                      </a:r>
                    </a:p>
                  </a:txBody>
                  <a:tcPr>
                    <a:solidFill>
                      <a:srgbClr val="1A73E8"/>
                    </a:solidFill>
                  </a:tcPr>
                </a:tc>
              </a:tr>
              <a:tr h="274320">
                <a:tc>
                  <a:txBody>
                    <a:bodyPr/>
                    <a:lstStyle/>
                    <a:p>
                      <a:pPr algn="l"/>
                      <a:r>
                        <a:rPr sz="800" b="1">
                          <a:solidFill>
                            <a:srgbClr val="202020"/>
                          </a:solidFill>
                        </a:rPr>
                        <a:t>Extreme 100% neutral</a:t>
                      </a:r>
                    </a:p>
                  </a:txBody>
                  <a:tcPr>
                    <a:solidFill>
                      <a:srgbClr val="FCE4E4"/>
                    </a:solidFill>
                  </a:tcPr>
                </a:tc>
                <a:tc>
                  <a:txBody>
                    <a:bodyPr/>
                    <a:lstStyle/>
                    <a:p>
                      <a:pPr algn="ctr"/>
                      <a:r>
                        <a:rPr sz="800" b="0">
                          <a:solidFill>
                            <a:srgbClr val="202020"/>
                          </a:solidFill>
                        </a:rPr>
                        <a:t>115, 209</a:t>
                      </a:r>
                    </a:p>
                  </a:txBody>
                  <a:tcPr>
                    <a:solidFill>
                      <a:srgbClr val="FCE4E4"/>
                    </a:solidFill>
                  </a:tcPr>
                </a:tc>
              </a:tr>
              <a:tr h="274320">
                <a:tc>
                  <a:txBody>
                    <a:bodyPr/>
                    <a:lstStyle/>
                    <a:p>
                      <a:pPr algn="l"/>
                      <a:r>
                        <a:rPr sz="800" b="1">
                          <a:solidFill>
                            <a:srgbClr val="202020"/>
                          </a:solidFill>
                        </a:rPr>
                        <a:t>Extreme 95%+ neutral</a:t>
                      </a:r>
                    </a:p>
                  </a:txBody>
                  <a:tcPr>
                    <a:solidFill>
                      <a:srgbClr val="FCE4E4"/>
                    </a:solidFill>
                  </a:tcPr>
                </a:tc>
                <a:tc>
                  <a:txBody>
                    <a:bodyPr/>
                    <a:lstStyle/>
                    <a:p>
                      <a:pPr algn="ctr"/>
                      <a:r>
                        <a:rPr sz="800" b="0">
                          <a:solidFill>
                            <a:srgbClr val="202020"/>
                          </a:solidFill>
                        </a:rPr>
                        <a:t>112, 200, 201, 203, 206, 207</a:t>
                      </a:r>
                    </a:p>
                  </a:txBody>
                  <a:tcPr>
                    <a:solidFill>
                      <a:srgbClr val="FCE4E4"/>
                    </a:solidFill>
                  </a:tcPr>
                </a:tc>
              </a:tr>
              <a:tr h="274320">
                <a:tc>
                  <a:txBody>
                    <a:bodyPr/>
                    <a:lstStyle/>
                    <a:p>
                      <a:pPr algn="l"/>
                      <a:r>
                        <a:rPr sz="800" b="1">
                          <a:solidFill>
                            <a:srgbClr val="202020"/>
                          </a:solidFill>
                        </a:rPr>
                        <a:t>Terlalu sedikit non-neutral</a:t>
                      </a:r>
                    </a:p>
                  </a:txBody>
                  <a:tcPr>
                    <a:solidFill>
                      <a:srgbClr val="E8F0FE"/>
                    </a:solidFill>
                  </a:tcPr>
                </a:tc>
                <a:tc>
                  <a:txBody>
                    <a:bodyPr/>
                    <a:lstStyle/>
                    <a:p>
                      <a:pPr algn="ctr"/>
                      <a:r>
                        <a:rPr sz="800" b="0">
                          <a:solidFill>
                            <a:srgbClr val="202020"/>
                          </a:solidFill>
                        </a:rPr>
                        <a:t>101, 113, 118, 197</a:t>
                      </a:r>
                    </a:p>
                  </a:txBody>
                  <a:tcPr>
                    <a:solidFill>
                      <a:srgbClr val="E8F0FE"/>
                    </a:solidFill>
                  </a:tcPr>
                </a:tc>
              </a:tr>
            </a:tbl>
          </a:graphicData>
        </a:graphic>
      </p:graphicFrame>
      <p:sp>
        <p:nvSpPr>
          <p:cNvPr id="5" name="TextBox 4"/>
          <p:cNvSpPr txBox="1"/>
          <p:nvPr/>
        </p:nvSpPr>
        <p:spPr>
          <a:xfrm>
            <a:off x="4526280" y="548640"/>
            <a:ext cx="4343400" cy="228600"/>
          </a:xfrm>
          <a:prstGeom prst="rect">
            <a:avLst/>
          </a:prstGeom>
          <a:noFill/>
        </p:spPr>
        <p:txBody>
          <a:bodyPr wrap="none">
            <a:spAutoFit/>
          </a:bodyPr>
          <a:lstStyle/>
          <a:p>
            <a:pPr algn="l"/>
            <a:r>
              <a:rPr sz="950" b="1" i="0">
                <a:solidFill>
                  <a:srgbClr val="D93C3C"/>
                </a:solidFill>
              </a:rPr>
              <a:t>Masalah 2: Kelas Minoritas Langka</a:t>
            </a:r>
          </a:p>
        </p:txBody>
      </p:sp>
      <p:graphicFrame>
        <p:nvGraphicFramePr>
          <p:cNvPr id="6" name="Table 5"/>
          <p:cNvGraphicFramePr>
            <a:graphicFrameLocks noGrp="1"/>
          </p:cNvGraphicFramePr>
          <p:nvPr/>
        </p:nvGraphicFramePr>
        <p:xfrm>
          <a:off x="4526280" y="795528"/>
          <a:ext cx="4343397" cy="1828800"/>
        </p:xfrm>
        <a:graphic>
          <a:graphicData uri="http://schemas.openxmlformats.org/drawingml/2006/table">
            <a:tbl>
              <a:tblPr firstRow="1" bandRow="1"/>
              <a:tblGrid>
                <a:gridCol w="1347951"/>
                <a:gridCol w="898634"/>
                <a:gridCol w="1048406"/>
                <a:gridCol w="1048406"/>
              </a:tblGrid>
              <a:tr h="228600">
                <a:tc>
                  <a:txBody>
                    <a:bodyPr/>
                    <a:lstStyle/>
                    <a:p>
                      <a:pPr algn="ctr"/>
                      <a:r>
                        <a:rPr sz="850" b="1">
                          <a:solidFill>
                            <a:srgbClr val="FFFFFF"/>
                          </a:solidFill>
                        </a:rPr>
                        <a:t>Emosi</a:t>
                      </a:r>
                    </a:p>
                  </a:txBody>
                  <a:tcPr>
                    <a:solidFill>
                      <a:srgbClr val="1A73E8"/>
                    </a:solidFill>
                  </a:tcPr>
                </a:tc>
                <a:tc>
                  <a:txBody>
                    <a:bodyPr/>
                    <a:lstStyle/>
                    <a:p>
                      <a:pPr algn="ctr"/>
                      <a:r>
                        <a:rPr sz="850" b="1">
                          <a:solidFill>
                            <a:srgbClr val="FFFFFF"/>
                          </a:solidFill>
                        </a:rPr>
                        <a:t>Total</a:t>
                      </a:r>
                    </a:p>
                  </a:txBody>
                  <a:tcPr>
                    <a:solidFill>
                      <a:srgbClr val="1A73E8"/>
                    </a:solidFill>
                  </a:tcPr>
                </a:tc>
                <a:tc>
                  <a:txBody>
                    <a:bodyPr/>
                    <a:lstStyle/>
                    <a:p>
                      <a:pPr algn="ctr"/>
                      <a:r>
                        <a:rPr sz="850" b="1">
                          <a:solidFill>
                            <a:srgbClr val="FFFFFF"/>
                          </a:solidFill>
                        </a:rPr>
                        <a:t>Conf&gt;=60%</a:t>
                      </a:r>
                    </a:p>
                  </a:txBody>
                  <a:tcPr>
                    <a:solidFill>
                      <a:srgbClr val="1A73E8"/>
                    </a:solidFill>
                  </a:tcPr>
                </a:tc>
                <a:tc>
                  <a:txBody>
                    <a:bodyPr/>
                    <a:lstStyle/>
                    <a:p>
                      <a:pPr algn="ctr"/>
                      <a:r>
                        <a:rPr sz="850" b="1">
                          <a:solidFill>
                            <a:srgbClr val="FFFFFF"/>
                          </a:solidFill>
                        </a:rPr>
                        <a:t>Conf&gt;=90%</a:t>
                      </a:r>
                    </a:p>
                  </a:txBody>
                  <a:tcPr>
                    <a:solidFill>
                      <a:srgbClr val="1A73E8"/>
                    </a:solidFill>
                  </a:tcPr>
                </a:tc>
              </a:tr>
              <a:tr h="228600">
                <a:tc>
                  <a:txBody>
                    <a:bodyPr/>
                    <a:lstStyle/>
                    <a:p>
                      <a:pPr algn="l"/>
                      <a:r>
                        <a:rPr sz="800" b="1">
                          <a:solidFill>
                            <a:srgbClr val="202020"/>
                          </a:solidFill>
                        </a:rPr>
                        <a:t>Neutral</a:t>
                      </a:r>
                    </a:p>
                  </a:txBody>
                  <a:tcPr>
                    <a:solidFill>
                      <a:srgbClr val="E8F0FE"/>
                    </a:solidFill>
                  </a:tcPr>
                </a:tc>
                <a:tc>
                  <a:txBody>
                    <a:bodyPr/>
                    <a:lstStyle/>
                    <a:p>
                      <a:pPr algn="ctr"/>
                      <a:r>
                        <a:rPr sz="800" b="0">
                          <a:solidFill>
                            <a:srgbClr val="202020"/>
                          </a:solidFill>
                        </a:rPr>
                        <a:t>6,054</a:t>
                      </a:r>
                    </a:p>
                  </a:txBody>
                  <a:tcPr>
                    <a:solidFill>
                      <a:srgbClr val="E8F0FE"/>
                    </a:solidFill>
                  </a:tcPr>
                </a:tc>
                <a:tc>
                  <a:txBody>
                    <a:bodyPr/>
                    <a:lstStyle/>
                    <a:p>
                      <a:pPr algn="ctr"/>
                      <a:r>
                        <a:rPr sz="800" b="0">
                          <a:solidFill>
                            <a:srgbClr val="202020"/>
                          </a:solidFill>
                        </a:rPr>
                        <a:t>5,906</a:t>
                      </a:r>
                    </a:p>
                  </a:txBody>
                  <a:tcPr>
                    <a:solidFill>
                      <a:srgbClr val="E8F0FE"/>
                    </a:solidFill>
                  </a:tcPr>
                </a:tc>
                <a:tc>
                  <a:txBody>
                    <a:bodyPr/>
                    <a:lstStyle/>
                    <a:p>
                      <a:pPr algn="ctr"/>
                      <a:r>
                        <a:rPr sz="800" b="0">
                          <a:solidFill>
                            <a:srgbClr val="202020"/>
                          </a:solidFill>
                        </a:rPr>
                        <a:t>5,242</a:t>
                      </a:r>
                    </a:p>
                  </a:txBody>
                  <a:tcPr>
                    <a:solidFill>
                      <a:srgbClr val="E8F0FE"/>
                    </a:solidFill>
                  </a:tcPr>
                </a:tc>
              </a:tr>
              <a:tr h="228600">
                <a:tc>
                  <a:txBody>
                    <a:bodyPr/>
                    <a:lstStyle/>
                    <a:p>
                      <a:pPr algn="l"/>
                      <a:r>
                        <a:rPr sz="800" b="1">
                          <a:solidFill>
                            <a:srgbClr val="202020"/>
                          </a:solidFill>
                        </a:rPr>
                        <a:t>Happy</a:t>
                      </a:r>
                    </a:p>
                  </a:txBody>
                  <a:tcPr>
                    <a:solidFill>
                      <a:srgbClr val="FFFFFF"/>
                    </a:solidFill>
                  </a:tcPr>
                </a:tc>
                <a:tc>
                  <a:txBody>
                    <a:bodyPr/>
                    <a:lstStyle/>
                    <a:p>
                      <a:pPr algn="ctr"/>
                      <a:r>
                        <a:rPr sz="800" b="0">
                          <a:solidFill>
                            <a:srgbClr val="202020"/>
                          </a:solidFill>
                        </a:rPr>
                        <a:t>699</a:t>
                      </a:r>
                    </a:p>
                  </a:txBody>
                  <a:tcPr>
                    <a:solidFill>
                      <a:srgbClr val="FFFFFF"/>
                    </a:solidFill>
                  </a:tcPr>
                </a:tc>
                <a:tc>
                  <a:txBody>
                    <a:bodyPr/>
                    <a:lstStyle/>
                    <a:p>
                      <a:pPr algn="ctr"/>
                      <a:r>
                        <a:rPr sz="800" b="0">
                          <a:solidFill>
                            <a:srgbClr val="202020"/>
                          </a:solidFill>
                        </a:rPr>
                        <a:t>667</a:t>
                      </a:r>
                    </a:p>
                  </a:txBody>
                  <a:tcPr>
                    <a:solidFill>
                      <a:srgbClr val="FFFFFF"/>
                    </a:solidFill>
                  </a:tcPr>
                </a:tc>
                <a:tc>
                  <a:txBody>
                    <a:bodyPr/>
                    <a:lstStyle/>
                    <a:p>
                      <a:pPr algn="ctr"/>
                      <a:r>
                        <a:rPr sz="800" b="0">
                          <a:solidFill>
                            <a:srgbClr val="202020"/>
                          </a:solidFill>
                        </a:rPr>
                        <a:t>514</a:t>
                      </a:r>
                    </a:p>
                  </a:txBody>
                  <a:tcPr>
                    <a:solidFill>
                      <a:srgbClr val="FFFFFF"/>
                    </a:solidFill>
                  </a:tcPr>
                </a:tc>
              </a:tr>
              <a:tr h="228600">
                <a:tc>
                  <a:txBody>
                    <a:bodyPr/>
                    <a:lstStyle/>
                    <a:p>
                      <a:pPr algn="l"/>
                      <a:r>
                        <a:rPr sz="800" b="1">
                          <a:solidFill>
                            <a:srgbClr val="202020"/>
                          </a:solidFill>
                        </a:rPr>
                        <a:t>Sad</a:t>
                      </a:r>
                    </a:p>
                  </a:txBody>
                  <a:tcPr>
                    <a:solidFill>
                      <a:srgbClr val="E8F0FE"/>
                    </a:solidFill>
                  </a:tcPr>
                </a:tc>
                <a:tc>
                  <a:txBody>
                    <a:bodyPr/>
                    <a:lstStyle/>
                    <a:p>
                      <a:pPr algn="ctr"/>
                      <a:r>
                        <a:rPr sz="800" b="0">
                          <a:solidFill>
                            <a:srgbClr val="202020"/>
                          </a:solidFill>
                        </a:rPr>
                        <a:t>451</a:t>
                      </a:r>
                    </a:p>
                  </a:txBody>
                  <a:tcPr>
                    <a:solidFill>
                      <a:srgbClr val="E8F0FE"/>
                    </a:solidFill>
                  </a:tcPr>
                </a:tc>
                <a:tc>
                  <a:txBody>
                    <a:bodyPr/>
                    <a:lstStyle/>
                    <a:p>
                      <a:pPr algn="ctr"/>
                      <a:r>
                        <a:rPr sz="800" b="0">
                          <a:solidFill>
                            <a:srgbClr val="202020"/>
                          </a:solidFill>
                        </a:rPr>
                        <a:t>373</a:t>
                      </a:r>
                    </a:p>
                  </a:txBody>
                  <a:tcPr>
                    <a:solidFill>
                      <a:srgbClr val="E8F0FE"/>
                    </a:solidFill>
                  </a:tcPr>
                </a:tc>
                <a:tc>
                  <a:txBody>
                    <a:bodyPr/>
                    <a:lstStyle/>
                    <a:p>
                      <a:pPr algn="ctr"/>
                      <a:r>
                        <a:rPr sz="800" b="0">
                          <a:solidFill>
                            <a:srgbClr val="202020"/>
                          </a:solidFill>
                        </a:rPr>
                        <a:t>212</a:t>
                      </a:r>
                    </a:p>
                  </a:txBody>
                  <a:tcPr>
                    <a:solidFill>
                      <a:srgbClr val="E8F0FE"/>
                    </a:solidFill>
                  </a:tcPr>
                </a:tc>
              </a:tr>
              <a:tr h="228600">
                <a:tc>
                  <a:txBody>
                    <a:bodyPr/>
                    <a:lstStyle/>
                    <a:p>
                      <a:pPr algn="l"/>
                      <a:r>
                        <a:rPr sz="800" b="1">
                          <a:solidFill>
                            <a:srgbClr val="202020"/>
                          </a:solidFill>
                        </a:rPr>
                        <a:t>Angry</a:t>
                      </a:r>
                    </a:p>
                  </a:txBody>
                  <a:tcPr>
                    <a:solidFill>
                      <a:srgbClr val="FCE4E4"/>
                    </a:solidFill>
                  </a:tcPr>
                </a:tc>
                <a:tc>
                  <a:txBody>
                    <a:bodyPr/>
                    <a:lstStyle/>
                    <a:p>
                      <a:pPr algn="ctr"/>
                      <a:r>
                        <a:rPr sz="800" b="0">
                          <a:solidFill>
                            <a:srgbClr val="202020"/>
                          </a:solidFill>
                        </a:rPr>
                        <a:t>56</a:t>
                      </a:r>
                    </a:p>
                  </a:txBody>
                  <a:tcPr>
                    <a:solidFill>
                      <a:srgbClr val="FCE4E4"/>
                    </a:solidFill>
                  </a:tcPr>
                </a:tc>
                <a:tc>
                  <a:txBody>
                    <a:bodyPr/>
                    <a:lstStyle/>
                    <a:p>
                      <a:pPr algn="ctr"/>
                      <a:r>
                        <a:rPr sz="800" b="0">
                          <a:solidFill>
                            <a:srgbClr val="202020"/>
                          </a:solidFill>
                        </a:rPr>
                        <a:t>35</a:t>
                      </a:r>
                    </a:p>
                  </a:txBody>
                  <a:tcPr>
                    <a:solidFill>
                      <a:srgbClr val="FCE4E4"/>
                    </a:solidFill>
                  </a:tcPr>
                </a:tc>
                <a:tc>
                  <a:txBody>
                    <a:bodyPr/>
                    <a:lstStyle/>
                    <a:p>
                      <a:pPr algn="ctr"/>
                      <a:r>
                        <a:rPr sz="800" b="0">
                          <a:solidFill>
                            <a:srgbClr val="202020"/>
                          </a:solidFill>
                        </a:rPr>
                        <a:t>8</a:t>
                      </a:r>
                    </a:p>
                  </a:txBody>
                  <a:tcPr>
                    <a:solidFill>
                      <a:srgbClr val="FCE4E4"/>
                    </a:solidFill>
                  </a:tcPr>
                </a:tc>
              </a:tr>
              <a:tr h="228600">
                <a:tc>
                  <a:txBody>
                    <a:bodyPr/>
                    <a:lstStyle/>
                    <a:p>
                      <a:pPr algn="l"/>
                      <a:r>
                        <a:rPr sz="800" b="1">
                          <a:solidFill>
                            <a:srgbClr val="202020"/>
                          </a:solidFill>
                        </a:rPr>
                        <a:t>Fearful</a:t>
                      </a:r>
                    </a:p>
                  </a:txBody>
                  <a:tcPr>
                    <a:solidFill>
                      <a:srgbClr val="FCE4E4"/>
                    </a:solidFill>
                  </a:tcPr>
                </a:tc>
                <a:tc>
                  <a:txBody>
                    <a:bodyPr/>
                    <a:lstStyle/>
                    <a:p>
                      <a:pPr algn="ctr"/>
                      <a:r>
                        <a:rPr sz="800" b="0">
                          <a:solidFill>
                            <a:srgbClr val="202020"/>
                          </a:solidFill>
                        </a:rPr>
                        <a:t>10</a:t>
                      </a:r>
                    </a:p>
                  </a:txBody>
                  <a:tcPr>
                    <a:solidFill>
                      <a:srgbClr val="FCE4E4"/>
                    </a:solidFill>
                  </a:tcPr>
                </a:tc>
                <a:tc>
                  <a:txBody>
                    <a:bodyPr/>
                    <a:lstStyle/>
                    <a:p>
                      <a:pPr algn="ctr"/>
                      <a:r>
                        <a:rPr sz="800" b="0">
                          <a:solidFill>
                            <a:srgbClr val="202020"/>
                          </a:solidFill>
                        </a:rPr>
                        <a:t>5</a:t>
                      </a:r>
                    </a:p>
                  </a:txBody>
                  <a:tcPr>
                    <a:solidFill>
                      <a:srgbClr val="FCE4E4"/>
                    </a:solidFill>
                  </a:tcPr>
                </a:tc>
                <a:tc>
                  <a:txBody>
                    <a:bodyPr/>
                    <a:lstStyle/>
                    <a:p>
                      <a:pPr algn="ctr"/>
                      <a:r>
                        <a:rPr sz="800" b="0">
                          <a:solidFill>
                            <a:srgbClr val="202020"/>
                          </a:solidFill>
                        </a:rPr>
                        <a:t>3</a:t>
                      </a:r>
                    </a:p>
                  </a:txBody>
                  <a:tcPr>
                    <a:solidFill>
                      <a:srgbClr val="FCE4E4"/>
                    </a:solidFill>
                  </a:tcPr>
                </a:tc>
              </a:tr>
              <a:tr h="228600">
                <a:tc>
                  <a:txBody>
                    <a:bodyPr/>
                    <a:lstStyle/>
                    <a:p>
                      <a:pPr algn="l"/>
                      <a:r>
                        <a:rPr sz="800" b="1">
                          <a:solidFill>
                            <a:srgbClr val="202020"/>
                          </a:solidFill>
                        </a:rPr>
                        <a:t>Disgusted</a:t>
                      </a:r>
                    </a:p>
                  </a:txBody>
                  <a:tcPr>
                    <a:solidFill>
                      <a:srgbClr val="FCE4E4"/>
                    </a:solidFill>
                  </a:tcPr>
                </a:tc>
                <a:tc>
                  <a:txBody>
                    <a:bodyPr/>
                    <a:lstStyle/>
                    <a:p>
                      <a:pPr algn="ctr"/>
                      <a:r>
                        <a:rPr sz="800" b="0">
                          <a:solidFill>
                            <a:srgbClr val="202020"/>
                          </a:solidFill>
                        </a:rPr>
                        <a:t>21</a:t>
                      </a:r>
                    </a:p>
                  </a:txBody>
                  <a:tcPr>
                    <a:solidFill>
                      <a:srgbClr val="FCE4E4"/>
                    </a:solidFill>
                  </a:tcPr>
                </a:tc>
                <a:tc>
                  <a:txBody>
                    <a:bodyPr/>
                    <a:lstStyle/>
                    <a:p>
                      <a:pPr algn="ctr"/>
                      <a:r>
                        <a:rPr sz="800" b="0">
                          <a:solidFill>
                            <a:srgbClr val="202020"/>
                          </a:solidFill>
                        </a:rPr>
                        <a:t>17</a:t>
                      </a:r>
                    </a:p>
                  </a:txBody>
                  <a:tcPr>
                    <a:solidFill>
                      <a:srgbClr val="FCE4E4"/>
                    </a:solidFill>
                  </a:tcPr>
                </a:tc>
                <a:tc>
                  <a:txBody>
                    <a:bodyPr/>
                    <a:lstStyle/>
                    <a:p>
                      <a:pPr algn="ctr"/>
                      <a:r>
                        <a:rPr sz="800" b="0">
                          <a:solidFill>
                            <a:srgbClr val="202020"/>
                          </a:solidFill>
                        </a:rPr>
                        <a:t>5</a:t>
                      </a:r>
                    </a:p>
                  </a:txBody>
                  <a:tcPr>
                    <a:solidFill>
                      <a:srgbClr val="FCE4E4"/>
                    </a:solidFill>
                  </a:tcPr>
                </a:tc>
              </a:tr>
              <a:tr h="228600">
                <a:tc>
                  <a:txBody>
                    <a:bodyPr/>
                    <a:lstStyle/>
                    <a:p>
                      <a:pPr algn="l"/>
                      <a:r>
                        <a:rPr sz="800" b="1">
                          <a:solidFill>
                            <a:srgbClr val="202020"/>
                          </a:solidFill>
                        </a:rPr>
                        <a:t>Surprised</a:t>
                      </a:r>
                    </a:p>
                  </a:txBody>
                  <a:tcPr>
                    <a:solidFill>
                      <a:srgbClr val="FCE4E4"/>
                    </a:solidFill>
                  </a:tcPr>
                </a:tc>
                <a:tc>
                  <a:txBody>
                    <a:bodyPr/>
                    <a:lstStyle/>
                    <a:p>
                      <a:pPr algn="ctr"/>
                      <a:r>
                        <a:rPr sz="800" b="0">
                          <a:solidFill>
                            <a:srgbClr val="202020"/>
                          </a:solidFill>
                        </a:rPr>
                        <a:t>55</a:t>
                      </a:r>
                    </a:p>
                  </a:txBody>
                  <a:tcPr>
                    <a:solidFill>
                      <a:srgbClr val="FCE4E4"/>
                    </a:solidFill>
                  </a:tcPr>
                </a:tc>
                <a:tc>
                  <a:txBody>
                    <a:bodyPr/>
                    <a:lstStyle/>
                    <a:p>
                      <a:pPr algn="ctr"/>
                      <a:r>
                        <a:rPr sz="800" b="0">
                          <a:solidFill>
                            <a:srgbClr val="202020"/>
                          </a:solidFill>
                        </a:rPr>
                        <a:t>39</a:t>
                      </a:r>
                    </a:p>
                  </a:txBody>
                  <a:tcPr>
                    <a:solidFill>
                      <a:srgbClr val="FCE4E4"/>
                    </a:solidFill>
                  </a:tcPr>
                </a:tc>
                <a:tc>
                  <a:txBody>
                    <a:bodyPr/>
                    <a:lstStyle/>
                    <a:p>
                      <a:pPr algn="ctr"/>
                      <a:r>
                        <a:rPr sz="800" b="0">
                          <a:solidFill>
                            <a:srgbClr val="202020"/>
                          </a:solidFill>
                        </a:rPr>
                        <a:t>19</a:t>
                      </a:r>
                    </a:p>
                  </a:txBody>
                  <a:tcPr>
                    <a:solidFill>
                      <a:srgbClr val="FCE4E4"/>
                    </a:solidFill>
                  </a:tcPr>
                </a:tc>
              </a:tr>
            </a:tbl>
          </a:graphicData>
        </a:graphic>
      </p:graphicFrame>
      <p:sp>
        <p:nvSpPr>
          <p:cNvPr id="7" name="TextBox 6"/>
          <p:cNvSpPr txBox="1"/>
          <p:nvPr/>
        </p:nvSpPr>
        <p:spPr>
          <a:xfrm>
            <a:off x="274320" y="2011680"/>
            <a:ext cx="4114800" cy="228600"/>
          </a:xfrm>
          <a:prstGeom prst="rect">
            <a:avLst/>
          </a:prstGeom>
          <a:noFill/>
        </p:spPr>
        <p:txBody>
          <a:bodyPr wrap="none">
            <a:spAutoFit/>
          </a:bodyPr>
          <a:lstStyle/>
          <a:p>
            <a:pPr algn="l"/>
            <a:r>
              <a:rPr sz="950" b="1" i="0">
                <a:solidFill>
                  <a:srgbClr val="D93C3C"/>
                </a:solidFill>
              </a:rPr>
              <a:t>Masalah 3: Test Set Reliability</a:t>
            </a:r>
          </a:p>
        </p:txBody>
      </p:sp>
      <p:graphicFrame>
        <p:nvGraphicFramePr>
          <p:cNvPr id="8" name="Table 7"/>
          <p:cNvGraphicFramePr>
            <a:graphicFrameLocks noGrp="1"/>
          </p:cNvGraphicFramePr>
          <p:nvPr/>
        </p:nvGraphicFramePr>
        <p:xfrm>
          <a:off x="274320" y="2258568"/>
          <a:ext cx="4114798" cy="1371600"/>
        </p:xfrm>
        <a:graphic>
          <a:graphicData uri="http://schemas.openxmlformats.org/drawingml/2006/table">
            <a:tbl>
              <a:tblPr firstRow="1" bandRow="1"/>
              <a:tblGrid>
                <a:gridCol w="796412"/>
                <a:gridCol w="1659193"/>
                <a:gridCol w="1659193"/>
              </a:tblGrid>
              <a:tr h="274320">
                <a:tc>
                  <a:txBody>
                    <a:bodyPr/>
                    <a:lstStyle/>
                    <a:p>
                      <a:pPr algn="ctr"/>
                      <a:r>
                        <a:rPr sz="850" b="1">
                          <a:solidFill>
                            <a:srgbClr val="FFFFFF"/>
                          </a:solidFill>
                        </a:rPr>
                        <a:t>Test Size</a:t>
                      </a:r>
                    </a:p>
                  </a:txBody>
                  <a:tcPr>
                    <a:solidFill>
                      <a:srgbClr val="1A73E8"/>
                    </a:solidFill>
                  </a:tcPr>
                </a:tc>
                <a:tc>
                  <a:txBody>
                    <a:bodyPr/>
                    <a:lstStyle/>
                    <a:p>
                      <a:pPr algn="ctr"/>
                      <a:r>
                        <a:rPr sz="850" b="1">
                          <a:solidFill>
                            <a:srgbClr val="FFFFFF"/>
                          </a:solidFill>
                        </a:rPr>
                        <a:t>Stabilitas F1</a:t>
                      </a:r>
                    </a:p>
                  </a:txBody>
                  <a:tcPr>
                    <a:solidFill>
                      <a:srgbClr val="1A73E8"/>
                    </a:solidFill>
                  </a:tcPr>
                </a:tc>
                <a:tc>
                  <a:txBody>
                    <a:bodyPr/>
                    <a:lstStyle/>
                    <a:p>
                      <a:pPr algn="ctr"/>
                      <a:r>
                        <a:rPr sz="850" b="1">
                          <a:solidFill>
                            <a:srgbClr val="FFFFFF"/>
                          </a:solidFill>
                        </a:rPr>
                        <a:t>Contoh</a:t>
                      </a:r>
                    </a:p>
                  </a:txBody>
                  <a:tcPr>
                    <a:solidFill>
                      <a:srgbClr val="1A73E8"/>
                    </a:solidFill>
                  </a:tcPr>
                </a:tc>
              </a:tr>
              <a:tr h="274320">
                <a:tc>
                  <a:txBody>
                    <a:bodyPr/>
                    <a:lstStyle/>
                    <a:p>
                      <a:pPr algn="l"/>
                      <a:r>
                        <a:rPr sz="800" b="1">
                          <a:solidFill>
                            <a:srgbClr val="202020"/>
                          </a:solidFill>
                        </a:rPr>
                        <a:t>&lt; 10</a:t>
                      </a:r>
                    </a:p>
                  </a:txBody>
                  <a:tcPr>
                    <a:solidFill>
                      <a:srgbClr val="FCE4E4"/>
                    </a:solidFill>
                  </a:tcPr>
                </a:tc>
                <a:tc>
                  <a:txBody>
                    <a:bodyPr/>
                    <a:lstStyle/>
                    <a:p>
                      <a:pPr algn="ctr"/>
                      <a:r>
                        <a:rPr sz="800" b="0">
                          <a:solidFill>
                            <a:srgbClr val="202020"/>
                          </a:solidFill>
                        </a:rPr>
                        <a:t>Tidak reliable</a:t>
                      </a:r>
                    </a:p>
                  </a:txBody>
                  <a:tcPr>
                    <a:solidFill>
                      <a:srgbClr val="FCE4E4"/>
                    </a:solidFill>
                  </a:tcPr>
                </a:tc>
                <a:tc>
                  <a:txBody>
                    <a:bodyPr/>
                    <a:lstStyle/>
                    <a:p>
                      <a:pPr algn="ctr"/>
                      <a:r>
                        <a:rPr sz="800" b="0">
                          <a:solidFill>
                            <a:srgbClr val="202020"/>
                          </a:solidFill>
                        </a:rPr>
                        <a:t>-</a:t>
                      </a:r>
                    </a:p>
                  </a:txBody>
                  <a:tcPr>
                    <a:solidFill>
                      <a:srgbClr val="FCE4E4"/>
                    </a:solidFill>
                  </a:tcPr>
                </a:tc>
              </a:tr>
              <a:tr h="274320">
                <a:tc>
                  <a:txBody>
                    <a:bodyPr/>
                    <a:lstStyle/>
                    <a:p>
                      <a:pPr algn="l"/>
                      <a:r>
                        <a:rPr sz="800" b="1">
                          <a:solidFill>
                            <a:srgbClr val="202020"/>
                          </a:solidFill>
                        </a:rPr>
                        <a:t>10-30</a:t>
                      </a:r>
                    </a:p>
                  </a:txBody>
                  <a:tcPr>
                    <a:solidFill>
                      <a:srgbClr val="FCE4E4"/>
                    </a:solidFill>
                  </a:tcPr>
                </a:tc>
                <a:tc>
                  <a:txBody>
                    <a:bodyPr/>
                    <a:lstStyle/>
                    <a:p>
                      <a:pPr algn="ctr"/>
                      <a:r>
                        <a:rPr sz="800" b="0">
                          <a:solidFill>
                            <a:srgbClr val="202020"/>
                          </a:solidFill>
                        </a:rPr>
                        <a:t>Hati-hati (variance tinggi)</a:t>
                      </a:r>
                    </a:p>
                  </a:txBody>
                  <a:tcPr>
                    <a:solidFill>
                      <a:srgbClr val="FCE4E4"/>
                    </a:solidFill>
                  </a:tcPr>
                </a:tc>
                <a:tc>
                  <a:txBody>
                    <a:bodyPr/>
                    <a:lstStyle/>
                    <a:p>
                      <a:pPr algn="ctr"/>
                      <a:r>
                        <a:rPr sz="800" b="0">
                          <a:solidFill>
                            <a:srgbClr val="202020"/>
                          </a:solidFill>
                        </a:rPr>
                        <a:t>Happy=10, Negative=16</a:t>
                      </a:r>
                    </a:p>
                  </a:txBody>
                  <a:tcPr>
                    <a:solidFill>
                      <a:srgbClr val="FCE4E4"/>
                    </a:solidFill>
                  </a:tcPr>
                </a:tc>
              </a:tr>
              <a:tr h="274320">
                <a:tc>
                  <a:txBody>
                    <a:bodyPr/>
                    <a:lstStyle/>
                    <a:p>
                      <a:pPr algn="l"/>
                      <a:r>
                        <a:rPr sz="800" b="1">
                          <a:solidFill>
                            <a:srgbClr val="202020"/>
                          </a:solidFill>
                        </a:rPr>
                        <a:t>30-100</a:t>
                      </a:r>
                    </a:p>
                  </a:txBody>
                  <a:tcPr>
                    <a:solidFill>
                      <a:srgbClr val="E8F0FE"/>
                    </a:solidFill>
                  </a:tcPr>
                </a:tc>
                <a:tc>
                  <a:txBody>
                    <a:bodyPr/>
                    <a:lstStyle/>
                    <a:p>
                      <a:pPr algn="ctr"/>
                      <a:r>
                        <a:rPr sz="800" b="0">
                          <a:solidFill>
                            <a:srgbClr val="202020"/>
                          </a:solidFill>
                        </a:rPr>
                        <a:t>Cukup reliable</a:t>
                      </a:r>
                    </a:p>
                  </a:txBody>
                  <a:tcPr>
                    <a:solidFill>
                      <a:srgbClr val="E8F0FE"/>
                    </a:solidFill>
                  </a:tcPr>
                </a:tc>
                <a:tc>
                  <a:txBody>
                    <a:bodyPr/>
                    <a:lstStyle/>
                    <a:p>
                      <a:pPr algn="ctr"/>
                      <a:r>
                        <a:rPr sz="800" b="0">
                          <a:solidFill>
                            <a:srgbClr val="202020"/>
                          </a:solidFill>
                        </a:rPr>
                        <a:t>Sad=29</a:t>
                      </a:r>
                    </a:p>
                  </a:txBody>
                  <a:tcPr>
                    <a:solidFill>
                      <a:srgbClr val="E8F0FE"/>
                    </a:solidFill>
                  </a:tcPr>
                </a:tc>
              </a:tr>
              <a:tr h="274320">
                <a:tc>
                  <a:txBody>
                    <a:bodyPr/>
                    <a:lstStyle/>
                    <a:p>
                      <a:pPr algn="l"/>
                      <a:r>
                        <a:rPr sz="800" b="1">
                          <a:solidFill>
                            <a:srgbClr val="202020"/>
                          </a:solidFill>
                        </a:rPr>
                        <a:t>&gt; 100</a:t>
                      </a:r>
                    </a:p>
                  </a:txBody>
                  <a:tcPr>
                    <a:solidFill>
                      <a:srgbClr val="FFFFFF"/>
                    </a:solidFill>
                  </a:tcPr>
                </a:tc>
                <a:tc>
                  <a:txBody>
                    <a:bodyPr/>
                    <a:lstStyle/>
                    <a:p>
                      <a:pPr algn="ctr"/>
                      <a:r>
                        <a:rPr sz="800" b="0">
                          <a:solidFill>
                            <a:srgbClr val="202020"/>
                          </a:solidFill>
                        </a:rPr>
                        <a:t>Reliable</a:t>
                      </a:r>
                    </a:p>
                  </a:txBody>
                  <a:tcPr>
                    <a:solidFill>
                      <a:srgbClr val="FFFFFF"/>
                    </a:solidFill>
                  </a:tcPr>
                </a:tc>
                <a:tc>
                  <a:txBody>
                    <a:bodyPr/>
                    <a:lstStyle/>
                    <a:p>
                      <a:pPr algn="ctr"/>
                      <a:r>
                        <a:rPr sz="800" b="0">
                          <a:solidFill>
                            <a:srgbClr val="202020"/>
                          </a:solidFill>
                        </a:rPr>
                        <a:t>Neutral=950</a:t>
                      </a:r>
                    </a:p>
                  </a:txBody>
                  <a:tcPr>
                    <a:solidFill>
                      <a:srgbClr val="FFFFFF"/>
                    </a:solidFill>
                  </a:tcPr>
                </a:tc>
              </a:tr>
            </a:tbl>
          </a:graphicData>
        </a:graphic>
      </p:graphicFrame>
      <p:sp>
        <p:nvSpPr>
          <p:cNvPr id="9" name="TextBox 8"/>
          <p:cNvSpPr txBox="1"/>
          <p:nvPr/>
        </p:nvSpPr>
        <p:spPr>
          <a:xfrm>
            <a:off x="4526280" y="2670048"/>
            <a:ext cx="4343400" cy="1005840"/>
          </a:xfrm>
          <a:prstGeom prst="rect">
            <a:avLst/>
          </a:prstGeom>
          <a:solidFill>
            <a:srgbClr val="FCE4E4"/>
          </a:solidFill>
        </p:spPr>
        <p:txBody>
          <a:bodyPr wrap="square">
            <a:spAutoFit/>
          </a:bodyPr>
          <a:lstStyle/>
          <a:p>
            <a:pPr algn="l"/>
            <a:r>
              <a:rPr sz="950" b="1" i="0">
                <a:solidFill>
                  <a:srgbClr val="D93C3C"/>
                </a:solidFill>
              </a:rPr>
              <a:t>Implikasi Kritis:</a:t>
            </a:r>
          </a:p>
          <a:p>
            <a:pPr algn="l"/>
            <a:r>
              <a:rPr sz="300" b="0" i="0"/>
              <a:t/>
            </a:r>
          </a:p>
          <a:p>
            <a:pPr algn="l"/>
            <a:r>
              <a:rPr sz="850" b="0" i="0">
                <a:solidFill>
                  <a:srgbClr val="202020"/>
                </a:solidFill>
              </a:rPr>
              <a:t>- Happy 10 sampel: 1 salah = 10% F1</a:t>
            </a:r>
          </a:p>
          <a:p>
            <a:pPr algn="l"/>
            <a:r>
              <a:rPr sz="850" b="0" i="0">
                <a:solidFill>
                  <a:srgbClr val="202020"/>
                </a:solidFill>
              </a:rPr>
              <a:t>- Negative 16 sampel: sangat variable</a:t>
            </a:r>
          </a:p>
          <a:p>
            <a:pPr algn="l"/>
            <a:r>
              <a:rPr sz="850" b="0" i="0">
                <a:solidFill>
                  <a:srgbClr val="202020"/>
                </a:solidFill>
              </a:rPr>
              <a:t>- Neutral 950 sampel: 1 salah = 0.1%</a:t>
            </a:r>
          </a:p>
          <a:p>
            <a:pPr algn="l"/>
            <a:r>
              <a:rPr sz="300" b="0" i="0"/>
              <a:t/>
            </a:r>
          </a:p>
          <a:p>
            <a:pPr algn="l"/>
            <a:r>
              <a:rPr sz="850" b="1" i="1">
                <a:solidFill>
                  <a:srgbClr val="D93C3C"/>
                </a:solidFill>
              </a:rPr>
              <a:t>Variance tinggi = evaluasi tidak stabil</a:t>
            </a:r>
          </a:p>
        </p:txBody>
      </p:sp>
      <p:sp>
        <p:nvSpPr>
          <p:cNvPr id="10" name="TextBox 9"/>
          <p:cNvSpPr txBox="1"/>
          <p:nvPr/>
        </p:nvSpPr>
        <p:spPr>
          <a:xfrm>
            <a:off x="274320" y="3794760"/>
            <a:ext cx="8595360" cy="274320"/>
          </a:xfrm>
          <a:prstGeom prst="rect">
            <a:avLst/>
          </a:prstGeom>
          <a:solidFill>
            <a:srgbClr val="FFF0CC"/>
          </a:solidFill>
        </p:spPr>
        <p:txBody>
          <a:bodyPr wrap="square">
            <a:spAutoFit/>
          </a:bodyPr>
          <a:lstStyle/>
          <a:p>
            <a:pPr algn="ctr"/>
            <a:r>
              <a:rPr sz="900" b="1" i="0">
                <a:solidFill>
                  <a:srgbClr val="202020"/>
                </a:solidFill>
              </a:rPr>
              <a:t>Kesimpulan: F1 0.521 mungkin sudah batas maksimal dengan dataset ini. Perlu konsultasi solusi lanjutan.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i="0">
                <a:solidFill>
                  <a:srgbClr val="202020"/>
                </a:solidFill>
              </a:rPr>
              <a:t>Solusi yang Dapat Dikonsultasikan</a:t>
            </a:r>
          </a:p>
        </p:txBody>
      </p:sp>
      <p:sp>
        <p:nvSpPr>
          <p:cNvPr id="3" name="TextBox 2"/>
          <p:cNvSpPr txBox="1"/>
          <p:nvPr/>
        </p:nvSpPr>
        <p:spPr>
          <a:xfrm>
            <a:off x="274320" y="685800"/>
            <a:ext cx="8595360" cy="320040"/>
          </a:xfrm>
          <a:prstGeom prst="rect">
            <a:avLst/>
          </a:prstGeom>
          <a:solidFill>
            <a:srgbClr val="E8F0FE"/>
          </a:solidFill>
        </p:spPr>
        <p:txBody>
          <a:bodyPr wrap="square">
            <a:spAutoFit/>
          </a:bodyPr>
          <a:lstStyle/>
          <a:p>
            <a:pPr algn="ctr"/>
            <a:r>
              <a:rPr sz="950" b="0" i="1">
                <a:solidFill>
                  <a:srgbClr val="202020"/>
                </a:solidFill>
              </a:rPr>
              <a:t>3 opsi yang dipertimbangkan + mohon arahan jika ada solusi lain dari Bapak/Ibu</a:t>
            </a:r>
          </a:p>
        </p:txBody>
      </p:sp>
      <p:sp>
        <p:nvSpPr>
          <p:cNvPr id="4" name="TextBox 3"/>
          <p:cNvSpPr txBox="1"/>
          <p:nvPr/>
        </p:nvSpPr>
        <p:spPr>
          <a:xfrm>
            <a:off x="274320" y="1097280"/>
            <a:ext cx="8595360" cy="777240"/>
          </a:xfrm>
          <a:prstGeom prst="rect">
            <a:avLst/>
          </a:prstGeom>
          <a:solidFill>
            <a:srgbClr val="FFF0CC"/>
          </a:solidFill>
        </p:spPr>
        <p:txBody>
          <a:bodyPr wrap="square">
            <a:spAutoFit/>
          </a:bodyPr>
          <a:lstStyle/>
          <a:p>
            <a:pPr algn="l"/>
            <a:r>
              <a:rPr sz="1000" b="1" i="0">
                <a:solidFill>
                  <a:srgbClr val="202020"/>
                </a:solidFill>
              </a:rPr>
              <a:t>Opsi A: Drop Problem Users</a:t>
            </a:r>
          </a:p>
          <a:p>
            <a:pPr algn="l"/>
            <a:r>
              <a:rPr sz="900" b="0" i="0">
                <a:solidFill>
                  <a:srgbClr val="202020"/>
                </a:solidFill>
              </a:rPr>
              <a:t>Hilangkan 4 user extreme (112, 115, 200, 209)</a:t>
            </a:r>
          </a:p>
          <a:p>
            <a:pPr algn="l"/>
            <a:r>
              <a:rPr sz="850" b="0" i="1">
                <a:solidFill>
                  <a:srgbClr val="666666"/>
                </a:solidFill>
              </a:rPr>
              <a:t>Pro: Data lebih bersih | Kontra: Test set berkurang</a:t>
            </a:r>
          </a:p>
        </p:txBody>
      </p:sp>
      <p:sp>
        <p:nvSpPr>
          <p:cNvPr id="5" name="TextBox 4"/>
          <p:cNvSpPr txBox="1"/>
          <p:nvPr/>
        </p:nvSpPr>
        <p:spPr>
          <a:xfrm>
            <a:off x="274320" y="1920240"/>
            <a:ext cx="8595360" cy="777240"/>
          </a:xfrm>
          <a:prstGeom prst="rect">
            <a:avLst/>
          </a:prstGeom>
          <a:solidFill>
            <a:srgbClr val="E6F4EA"/>
          </a:solidFill>
        </p:spPr>
        <p:txBody>
          <a:bodyPr wrap="square">
            <a:spAutoFit/>
          </a:bodyPr>
          <a:lstStyle/>
          <a:p>
            <a:pPr algn="l"/>
            <a:r>
              <a:rPr sz="1000" b="1" i="0">
                <a:solidFill>
                  <a:srgbClr val="202020"/>
                </a:solidFill>
              </a:rPr>
              <a:t>Opsi B: Merge ke 3-Class</a:t>
            </a:r>
          </a:p>
          <a:p>
            <a:pPr algn="l"/>
            <a:r>
              <a:rPr sz="900" b="0" i="0">
                <a:solidFill>
                  <a:srgbClr val="202020"/>
                </a:solidFill>
              </a:rPr>
              <a:t>neutral / happy / negative (gabung sad+angry+fearful+disgusted+surprised)</a:t>
            </a:r>
          </a:p>
          <a:p>
            <a:pPr algn="l"/>
            <a:r>
              <a:rPr sz="850" b="0" i="1">
                <a:solidFill>
                  <a:srgbClr val="666666"/>
                </a:solidFill>
              </a:rPr>
              <a:t>Pro: Test set lebih reliable (negative=55) | Kontra: Kehilangan granularitas emosi</a:t>
            </a:r>
          </a:p>
        </p:txBody>
      </p:sp>
      <p:sp>
        <p:nvSpPr>
          <p:cNvPr id="6" name="TextBox 5"/>
          <p:cNvSpPr txBox="1"/>
          <p:nvPr/>
        </p:nvSpPr>
        <p:spPr>
          <a:xfrm>
            <a:off x="274320" y="2743200"/>
            <a:ext cx="8595360" cy="777240"/>
          </a:xfrm>
          <a:prstGeom prst="rect">
            <a:avLst/>
          </a:prstGeom>
          <a:solidFill>
            <a:srgbClr val="FCE4E4"/>
          </a:solidFill>
        </p:spPr>
        <p:txBody>
          <a:bodyPr wrap="square">
            <a:spAutoFit/>
          </a:bodyPr>
          <a:lstStyle/>
          <a:p>
            <a:pPr algn="l"/>
            <a:r>
              <a:rPr sz="1000" b="1" i="0">
                <a:solidFill>
                  <a:srgbClr val="202020"/>
                </a:solidFill>
              </a:rPr>
              <a:t>Opsi C: Binary Classification</a:t>
            </a:r>
          </a:p>
          <a:p>
            <a:pPr algn="l"/>
            <a:r>
              <a:rPr sz="900" b="0" i="0">
                <a:solidFill>
                  <a:srgbClr val="202020"/>
                </a:solidFill>
              </a:rPr>
              <a:t>neutral vs non-neutral saja (1 vs all)</a:t>
            </a:r>
          </a:p>
          <a:p>
            <a:pPr algn="l"/>
            <a:r>
              <a:rPr sz="850" b="0" i="1">
                <a:solidFill>
                  <a:srgbClr val="666666"/>
                </a:solidFill>
              </a:rPr>
              <a:t>Pro: Paling mudah dicapai | Kontra: Scope sempit dari proposal awal</a:t>
            </a:r>
          </a:p>
        </p:txBody>
      </p:sp>
      <p:sp>
        <p:nvSpPr>
          <p:cNvPr id="7" name="TextBox 6"/>
          <p:cNvSpPr txBox="1"/>
          <p:nvPr/>
        </p:nvSpPr>
        <p:spPr>
          <a:xfrm>
            <a:off x="274320" y="3611880"/>
            <a:ext cx="8595360" cy="457200"/>
          </a:xfrm>
          <a:prstGeom prst="rect">
            <a:avLst/>
          </a:prstGeom>
          <a:solidFill>
            <a:srgbClr val="1A73E8"/>
          </a:solidFill>
        </p:spPr>
        <p:txBody>
          <a:bodyPr wrap="square">
            <a:spAutoFit/>
          </a:bodyPr>
          <a:lstStyle/>
          <a:p>
            <a:pPr algn="ctr"/>
            <a:r>
              <a:rPr sz="1000" b="1" i="0">
                <a:solidFill>
                  <a:srgbClr val="FFFFFF"/>
                </a:solidFill>
              </a:rPr>
              <a:t>Pertanyaan untuk Pembimbing:</a:t>
            </a:r>
          </a:p>
          <a:p>
            <a:pPr algn="ctr"/>
            <a:r>
              <a:rPr sz="900" b="0" i="0">
                <a:solidFill>
                  <a:srgbClr val="FFFFFF"/>
                </a:solidFill>
              </a:rPr>
              <a:t>Apakah Bapak/Ibu punya solusi lain? Atau saran opsi mana yang paling tepat?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30: Tahap 6 — Early Fusion (Arahan Dosen)</a:t>
            </a:r>
          </a:p>
        </p:txBody>
      </p:sp>
      <p:sp>
        <p:nvSpPr>
          <p:cNvPr id="4" name="TextBox 3"/>
          <p:cNvSpPr txBox="1"/>
          <p:nvPr/>
        </p:nvSpPr>
        <p:spPr>
          <a:xfrm>
            <a:off x="274320" y="530352"/>
            <a:ext cx="8595360" cy="914400"/>
          </a:xfrm>
          <a:prstGeom prst="rect">
            <a:avLst/>
          </a:prstGeom>
          <a:solidFill>
            <a:srgbClr val="E8F0FE"/>
          </a:solidFill>
        </p:spPr>
        <p:txBody>
          <a:bodyPr wrap="square">
            <a:spAutoFit/>
          </a:bodyPr>
          <a:lstStyle/>
          <a:p>
            <a:pPr algn="l"/>
            <a:r>
              <a:rPr sz="1000" b="1" i="0">
                <a:solidFill>
                  <a:srgbClr val="1A73E8"/>
                </a:solidFill>
              </a:rPr>
              <a:t>Motivasi &amp; Arsitektur</a:t>
            </a:r>
          </a:p>
          <a:p>
            <a:pPr algn="l"/>
            <a:r>
              <a:rPr sz="850" b="0" i="0">
                <a:solidFill>
                  <a:srgbClr val="202020"/>
                </a:solidFill>
              </a:rPr>
              <a:t>• Dosen meminta Early Fusion: landmark "ditempel" ke gambar</a:t>
            </a:r>
          </a:p>
          <a:p>
            <a:pPr algn="l"/>
            <a:r>
              <a:rPr sz="850" b="0" i="0">
                <a:solidFill>
                  <a:srgbClr val="202020"/>
                </a:solidFill>
              </a:rPr>
              <a:t>• Pendekatan: HAE-Net (Wu et al., MMM 2020) — landmark → Gaussian heatmap 224×224 → concat sebagai channel ke-4 citra RGB</a:t>
            </a:r>
          </a:p>
          <a:p>
            <a:pPr algn="l"/>
            <a:r>
              <a:rPr sz="850" b="0" i="0">
                <a:solidFill>
                  <a:srgbClr val="202020"/>
                </a:solidFill>
              </a:rPr>
              <a:t>• Fusi terjadi di level input (0%), bukan feature level (Intermediate) atau decision level (Late)</a:t>
            </a:r>
          </a:p>
        </p:txBody>
      </p:sp>
      <p:sp>
        <p:nvSpPr>
          <p:cNvPr id="5" name="TextBox 4"/>
          <p:cNvSpPr txBox="1"/>
          <p:nvPr/>
        </p:nvSpPr>
        <p:spPr>
          <a:xfrm>
            <a:off x="274320" y="1508760"/>
            <a:ext cx="8595360" cy="868680"/>
          </a:xfrm>
          <a:prstGeom prst="rect">
            <a:avLst/>
          </a:prstGeom>
          <a:solidFill>
            <a:srgbClr val="FEF7E0"/>
          </a:solidFill>
        </p:spPr>
        <p:txBody>
          <a:bodyPr wrap="square">
            <a:spAutoFit/>
          </a:bodyPr>
          <a:lstStyle/>
          <a:p>
            <a:pPr algn="l"/>
            <a:r>
              <a:rPr sz="1000" b="1" i="0">
                <a:solidFill>
                  <a:srgbClr val="B06800"/>
                </a:solidFill>
              </a:rPr>
              <a:t>Detail Implementasi</a:t>
            </a:r>
          </a:p>
          <a:p>
            <a:pPr algn="l"/>
            <a:r>
              <a:rPr sz="850" b="0" i="0">
                <a:solidFill>
                  <a:srgbClr val="202020"/>
                </a:solidFill>
              </a:rPr>
              <a:t>• Input: Image 224×224×3 + Heatmap 224×224×1 → 224×224×4</a:t>
            </a:r>
          </a:p>
          <a:p>
            <a:pPr algn="l"/>
            <a:r>
              <a:rPr sz="850" b="0" i="0">
                <a:solidFill>
                  <a:srgbClr val="202020"/>
                </a:solidFill>
              </a:rPr>
              <a:t>• Heatmap: 68 landmark → Gaussian blob σ=3px → element-wise max aggregation → single channel [0,1]</a:t>
            </a:r>
          </a:p>
          <a:p>
            <a:pPr algn="l"/>
            <a:r>
              <a:rPr sz="850" b="0" i="0">
                <a:solidFill>
                  <a:srgbClr val="202020"/>
                </a:solidFill>
              </a:rPr>
              <a:t>• TL variant: ResNet18 Conv2d pertama 3→4 channel, weight RGB di-copy, channel ke-4 di-init dari mean RGB</a:t>
            </a:r>
          </a:p>
        </p:txBody>
      </p:sp>
      <p:sp>
        <p:nvSpPr>
          <p:cNvPr id="6" name="TextBox 5"/>
          <p:cNvSpPr txBox="1"/>
          <p:nvPr/>
        </p:nvSpPr>
        <p:spPr>
          <a:xfrm>
            <a:off x="274320" y="2514600"/>
            <a:ext cx="4206240" cy="228600"/>
          </a:xfrm>
          <a:prstGeom prst="rect">
            <a:avLst/>
          </a:prstGeom>
          <a:noFill/>
        </p:spPr>
        <p:txBody>
          <a:bodyPr wrap="none">
            <a:spAutoFit/>
          </a:bodyPr>
          <a:lstStyle/>
          <a:p>
            <a:pPr algn="l"/>
            <a:r>
              <a:rPr sz="1000" b="1" i="0">
                <a:solidFill>
                  <a:srgbClr val="1A73E8"/>
                </a:solidFill>
              </a:rPr>
              <a:t>Hasil Early Fusion conf60 — 7-Class</a:t>
            </a:r>
          </a:p>
        </p:txBody>
      </p:sp>
      <p:graphicFrame>
        <p:nvGraphicFramePr>
          <p:cNvPr id="7" name="Table 6"/>
          <p:cNvGraphicFramePr>
            <a:graphicFrameLocks noGrp="1"/>
          </p:cNvGraphicFramePr>
          <p:nvPr/>
        </p:nvGraphicFramePr>
        <p:xfrm>
          <a:off x="274320" y="2788920"/>
          <a:ext cx="4206235" cy="2148840"/>
        </p:xfrm>
        <a:graphic>
          <a:graphicData uri="http://schemas.openxmlformats.org/drawingml/2006/table">
            <a:tbl>
              <a:tblPr firstRow="1" bandRow="1"/>
              <a:tblGrid>
                <a:gridCol w="1402079"/>
                <a:gridCol w="701039"/>
                <a:gridCol w="701039"/>
                <a:gridCol w="701039"/>
                <a:gridCol w="701039"/>
              </a:tblGrid>
              <a:tr h="306977">
                <a:tc>
                  <a:txBody>
                    <a:bodyPr/>
                    <a:lstStyle/>
                    <a:p>
                      <a:pPr algn="ctr"/>
                      <a:r>
                        <a:rPr sz="850" b="1">
                          <a:solidFill>
                            <a:srgbClr val="FFFFFF"/>
                          </a:solidFill>
                        </a:rPr>
                        <a:t>Config</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306977">
                <a:tc>
                  <a:txBody>
                    <a:bodyPr/>
                    <a:lstStyle/>
                    <a:p>
                      <a:pPr algn="l"/>
                      <a:r>
                        <a:rPr sz="800" b="1">
                          <a:solidFill>
                            <a:srgbClr val="202020"/>
                          </a:solidFill>
                        </a:rPr>
                        <a:t>EF B1</a:t>
                      </a:r>
                    </a:p>
                  </a:txBody>
                  <a:tcPr>
                    <a:solidFill>
                      <a:srgbClr val="E8F0FE"/>
                    </a:solidFill>
                  </a:tcPr>
                </a:tc>
                <a:tc>
                  <a:txBody>
                    <a:bodyPr/>
                    <a:lstStyle/>
                    <a:p>
                      <a:pPr algn="ctr"/>
                      <a:r>
                        <a:rPr sz="800" b="0">
                          <a:solidFill>
                            <a:srgbClr val="202020"/>
                          </a:solidFill>
                        </a:rPr>
                        <a:t>0.246</a:t>
                      </a:r>
                    </a:p>
                  </a:txBody>
                  <a:tcPr>
                    <a:solidFill>
                      <a:srgbClr val="E8F0FE"/>
                    </a:solidFill>
                  </a:tcPr>
                </a:tc>
                <a:tc>
                  <a:txBody>
                    <a:bodyPr/>
                    <a:lstStyle/>
                    <a:p>
                      <a:pPr algn="ctr"/>
                      <a:r>
                        <a:rPr sz="800" b="0">
                          <a:solidFill>
                            <a:srgbClr val="202020"/>
                          </a:solidFill>
                        </a:rPr>
                        <a:t>0.794</a:t>
                      </a:r>
                    </a:p>
                  </a:txBody>
                  <a:tcPr>
                    <a:solidFill>
                      <a:srgbClr val="E8F0FE"/>
                    </a:solidFill>
                  </a:tcPr>
                </a:tc>
                <a:tc>
                  <a:txBody>
                    <a:bodyPr/>
                    <a:lstStyle/>
                    <a:p>
                      <a:pPr algn="ctr"/>
                      <a:r>
                        <a:rPr sz="800" b="0">
                          <a:solidFill>
                            <a:srgbClr val="202020"/>
                          </a:solidFill>
                        </a:rPr>
                        <a:t>0.786</a:t>
                      </a:r>
                    </a:p>
                  </a:txBody>
                  <a:tcPr>
                    <a:solidFill>
                      <a:srgbClr val="E8F0FE"/>
                    </a:solidFill>
                  </a:tcPr>
                </a:tc>
                <a:tc>
                  <a:txBody>
                    <a:bodyPr/>
                    <a:lstStyle/>
                    <a:p>
                      <a:pPr algn="ctr"/>
                      <a:r>
                        <a:rPr sz="800" b="0">
                          <a:solidFill>
                            <a:srgbClr val="202020"/>
                          </a:solidFill>
                        </a:rPr>
                        <a:t>0.794</a:t>
                      </a:r>
                    </a:p>
                  </a:txBody>
                  <a:tcPr>
                    <a:solidFill>
                      <a:srgbClr val="E8F0FE"/>
                    </a:solidFill>
                  </a:tcPr>
                </a:tc>
              </a:tr>
              <a:tr h="306977">
                <a:tc>
                  <a:txBody>
                    <a:bodyPr/>
                    <a:lstStyle/>
                    <a:p>
                      <a:pPr algn="l"/>
                      <a:r>
                        <a:rPr sz="800" b="1">
                          <a:solidFill>
                            <a:srgbClr val="202020"/>
                          </a:solidFill>
                        </a:rPr>
                        <a:t>EF B2</a:t>
                      </a:r>
                    </a:p>
                  </a:txBody>
                  <a:tcPr>
                    <a:solidFill>
                      <a:srgbClr val="FFFFFF"/>
                    </a:solidFill>
                  </a:tcPr>
                </a:tc>
                <a:tc>
                  <a:txBody>
                    <a:bodyPr/>
                    <a:lstStyle/>
                    <a:p>
                      <a:pPr algn="ctr"/>
                      <a:r>
                        <a:rPr sz="800" b="0">
                          <a:solidFill>
                            <a:srgbClr val="202020"/>
                          </a:solidFill>
                        </a:rPr>
                        <a:t>0.205</a:t>
                      </a:r>
                    </a:p>
                  </a:txBody>
                  <a:tcPr>
                    <a:solidFill>
                      <a:srgbClr val="FFFFFF"/>
                    </a:solidFill>
                  </a:tcPr>
                </a:tc>
                <a:tc>
                  <a:txBody>
                    <a:bodyPr/>
                    <a:lstStyle/>
                    <a:p>
                      <a:pPr algn="ctr"/>
                      <a:r>
                        <a:rPr sz="800" b="0">
                          <a:solidFill>
                            <a:srgbClr val="202020"/>
                          </a:solidFill>
                        </a:rPr>
                        <a:t>0.520</a:t>
                      </a:r>
                    </a:p>
                  </a:txBody>
                  <a:tcPr>
                    <a:solidFill>
                      <a:srgbClr val="FFFFFF"/>
                    </a:solidFill>
                  </a:tcPr>
                </a:tc>
                <a:tc>
                  <a:txBody>
                    <a:bodyPr/>
                    <a:lstStyle/>
                    <a:p>
                      <a:pPr algn="ctr"/>
                      <a:r>
                        <a:rPr sz="800" b="0">
                          <a:solidFill>
                            <a:srgbClr val="202020"/>
                          </a:solidFill>
                        </a:rPr>
                        <a:t>0.552</a:t>
                      </a:r>
                    </a:p>
                  </a:txBody>
                  <a:tcPr>
                    <a:solidFill>
                      <a:srgbClr val="FFFFFF"/>
                    </a:solidFill>
                  </a:tcPr>
                </a:tc>
                <a:tc>
                  <a:txBody>
                    <a:bodyPr/>
                    <a:lstStyle/>
                    <a:p>
                      <a:pPr algn="ctr"/>
                      <a:r>
                        <a:rPr sz="800" b="0">
                          <a:solidFill>
                            <a:srgbClr val="202020"/>
                          </a:solidFill>
                        </a:rPr>
                        <a:t>0.520</a:t>
                      </a:r>
                    </a:p>
                  </a:txBody>
                  <a:tcPr>
                    <a:solidFill>
                      <a:srgbClr val="FFFFFF"/>
                    </a:solidFill>
                  </a:tcPr>
                </a:tc>
              </a:tr>
              <a:tr h="306977">
                <a:tc>
                  <a:txBody>
                    <a:bodyPr/>
                    <a:lstStyle/>
                    <a:p>
                      <a:pPr algn="l"/>
                      <a:r>
                        <a:rPr sz="800" b="1">
                          <a:solidFill>
                            <a:srgbClr val="202020"/>
                          </a:solidFill>
                        </a:rPr>
                        <a:t>EF B3</a:t>
                      </a:r>
                    </a:p>
                  </a:txBody>
                  <a:tcPr>
                    <a:solidFill>
                      <a:srgbClr val="E8F0FE"/>
                    </a:solidFill>
                  </a:tcPr>
                </a:tc>
                <a:tc>
                  <a:txBody>
                    <a:bodyPr/>
                    <a:lstStyle/>
                    <a:p>
                      <a:pPr algn="ctr"/>
                      <a:r>
                        <a:rPr sz="800" b="0">
                          <a:solidFill>
                            <a:srgbClr val="202020"/>
                          </a:solidFill>
                        </a:rPr>
                        <a:t>0.264</a:t>
                      </a:r>
                    </a:p>
                  </a:txBody>
                  <a:tcPr>
                    <a:solidFill>
                      <a:srgbClr val="E8F0FE"/>
                    </a:solidFill>
                  </a:tcPr>
                </a:tc>
                <a:tc>
                  <a:txBody>
                    <a:bodyPr/>
                    <a:lstStyle/>
                    <a:p>
                      <a:pPr algn="ctr"/>
                      <a:r>
                        <a:rPr sz="800" b="0">
                          <a:solidFill>
                            <a:srgbClr val="202020"/>
                          </a:solidFill>
                        </a:rPr>
                        <a:t>0.680</a:t>
                      </a:r>
                    </a:p>
                  </a:txBody>
                  <a:tcPr>
                    <a:solidFill>
                      <a:srgbClr val="E8F0FE"/>
                    </a:solidFill>
                  </a:tcPr>
                </a:tc>
                <a:tc>
                  <a:txBody>
                    <a:bodyPr/>
                    <a:lstStyle/>
                    <a:p>
                      <a:pPr algn="ctr"/>
                      <a:r>
                        <a:rPr sz="800" b="0">
                          <a:solidFill>
                            <a:srgbClr val="202020"/>
                          </a:solidFill>
                        </a:rPr>
                        <a:t>0.726</a:t>
                      </a:r>
                    </a:p>
                  </a:txBody>
                  <a:tcPr>
                    <a:solidFill>
                      <a:srgbClr val="E8F0FE"/>
                    </a:solidFill>
                  </a:tcPr>
                </a:tc>
                <a:tc>
                  <a:txBody>
                    <a:bodyPr/>
                    <a:lstStyle/>
                    <a:p>
                      <a:pPr algn="ctr"/>
                      <a:r>
                        <a:rPr sz="800" b="0">
                          <a:solidFill>
                            <a:srgbClr val="202020"/>
                          </a:solidFill>
                        </a:rPr>
                        <a:t>0.680</a:t>
                      </a:r>
                    </a:p>
                  </a:txBody>
                  <a:tcPr>
                    <a:solidFill>
                      <a:srgbClr val="E8F0FE"/>
                    </a:solidFill>
                  </a:tcPr>
                </a:tc>
              </a:tr>
              <a:tr h="306977">
                <a:tc>
                  <a:txBody>
                    <a:bodyPr/>
                    <a:lstStyle/>
                    <a:p>
                      <a:pPr algn="l"/>
                      <a:r>
                        <a:rPr sz="800" b="1">
                          <a:solidFill>
                            <a:srgbClr val="202020"/>
                          </a:solidFill>
                        </a:rPr>
                        <a:t>EF TL B1</a:t>
                      </a:r>
                    </a:p>
                  </a:txBody>
                  <a:tcPr>
                    <a:solidFill>
                      <a:srgbClr val="FFFFFF"/>
                    </a:solidFill>
                  </a:tcPr>
                </a:tc>
                <a:tc>
                  <a:txBody>
                    <a:bodyPr/>
                    <a:lstStyle/>
                    <a:p>
                      <a:pPr algn="ctr"/>
                      <a:r>
                        <a:rPr sz="800" b="0">
                          <a:solidFill>
                            <a:srgbClr val="202020"/>
                          </a:solidFill>
                        </a:rPr>
                        <a:t>0.253</a:t>
                      </a:r>
                    </a:p>
                  </a:txBody>
                  <a:tcPr>
                    <a:solidFill>
                      <a:srgbClr val="FFFFFF"/>
                    </a:solidFill>
                  </a:tcPr>
                </a:tc>
                <a:tc>
                  <a:txBody>
                    <a:bodyPr/>
                    <a:lstStyle/>
                    <a:p>
                      <a:pPr algn="ctr"/>
                      <a:r>
                        <a:rPr sz="800" b="0">
                          <a:solidFill>
                            <a:srgbClr val="202020"/>
                          </a:solidFill>
                        </a:rPr>
                        <a:t>0.713</a:t>
                      </a:r>
                    </a:p>
                  </a:txBody>
                  <a:tcPr>
                    <a:solidFill>
                      <a:srgbClr val="FFFFFF"/>
                    </a:solidFill>
                  </a:tcPr>
                </a:tc>
                <a:tc>
                  <a:txBody>
                    <a:bodyPr/>
                    <a:lstStyle/>
                    <a:p>
                      <a:pPr algn="ctr"/>
                      <a:r>
                        <a:rPr sz="800" b="0">
                          <a:solidFill>
                            <a:srgbClr val="202020"/>
                          </a:solidFill>
                        </a:rPr>
                        <a:t>0.722</a:t>
                      </a:r>
                    </a:p>
                  </a:txBody>
                  <a:tcPr>
                    <a:solidFill>
                      <a:srgbClr val="FFFFFF"/>
                    </a:solidFill>
                  </a:tcPr>
                </a:tc>
                <a:tc>
                  <a:txBody>
                    <a:bodyPr/>
                    <a:lstStyle/>
                    <a:p>
                      <a:pPr algn="ctr"/>
                      <a:r>
                        <a:rPr sz="800" b="0">
                          <a:solidFill>
                            <a:srgbClr val="202020"/>
                          </a:solidFill>
                        </a:rPr>
                        <a:t>0.713</a:t>
                      </a:r>
                    </a:p>
                  </a:txBody>
                  <a:tcPr>
                    <a:solidFill>
                      <a:srgbClr val="FFFFFF"/>
                    </a:solidFill>
                  </a:tcPr>
                </a:tc>
              </a:tr>
              <a:tr h="306977">
                <a:tc>
                  <a:txBody>
                    <a:bodyPr/>
                    <a:lstStyle/>
                    <a:p>
                      <a:pPr algn="l"/>
                      <a:r>
                        <a:rPr sz="800" b="1">
                          <a:solidFill>
                            <a:srgbClr val="202020"/>
                          </a:solidFill>
                        </a:rPr>
                        <a:t>EF TL B2</a:t>
                      </a:r>
                    </a:p>
                  </a:txBody>
                  <a:tcPr>
                    <a:solidFill>
                      <a:srgbClr val="E8F0FE"/>
                    </a:solidFill>
                  </a:tcPr>
                </a:tc>
                <a:tc>
                  <a:txBody>
                    <a:bodyPr/>
                    <a:lstStyle/>
                    <a:p>
                      <a:pPr algn="ctr"/>
                      <a:r>
                        <a:rPr sz="800" b="0">
                          <a:solidFill>
                            <a:srgbClr val="202020"/>
                          </a:solidFill>
                        </a:rPr>
                        <a:t>0.247</a:t>
                      </a:r>
                    </a:p>
                  </a:txBody>
                  <a:tcPr>
                    <a:solidFill>
                      <a:srgbClr val="E8F0FE"/>
                    </a:solidFill>
                  </a:tcPr>
                </a:tc>
                <a:tc>
                  <a:txBody>
                    <a:bodyPr/>
                    <a:lstStyle/>
                    <a:p>
                      <a:pPr algn="ctr"/>
                      <a:r>
                        <a:rPr sz="800" b="0">
                          <a:solidFill>
                            <a:srgbClr val="202020"/>
                          </a:solidFill>
                        </a:rPr>
                        <a:t>0.636</a:t>
                      </a:r>
                    </a:p>
                  </a:txBody>
                  <a:tcPr>
                    <a:solidFill>
                      <a:srgbClr val="E8F0FE"/>
                    </a:solidFill>
                  </a:tcPr>
                </a:tc>
                <a:tc>
                  <a:txBody>
                    <a:bodyPr/>
                    <a:lstStyle/>
                    <a:p>
                      <a:pPr algn="ctr"/>
                      <a:r>
                        <a:rPr sz="800" b="0">
                          <a:solidFill>
                            <a:srgbClr val="202020"/>
                          </a:solidFill>
                        </a:rPr>
                        <a:t>0.663</a:t>
                      </a:r>
                    </a:p>
                  </a:txBody>
                  <a:tcPr>
                    <a:solidFill>
                      <a:srgbClr val="E8F0FE"/>
                    </a:solidFill>
                  </a:tcPr>
                </a:tc>
                <a:tc>
                  <a:txBody>
                    <a:bodyPr/>
                    <a:lstStyle/>
                    <a:p>
                      <a:pPr algn="ctr"/>
                      <a:r>
                        <a:rPr sz="800" b="0">
                          <a:solidFill>
                            <a:srgbClr val="202020"/>
                          </a:solidFill>
                        </a:rPr>
                        <a:t>0.636</a:t>
                      </a:r>
                    </a:p>
                  </a:txBody>
                  <a:tcPr>
                    <a:solidFill>
                      <a:srgbClr val="E8F0FE"/>
                    </a:solidFill>
                  </a:tcPr>
                </a:tc>
              </a:tr>
              <a:tr h="306978">
                <a:tc>
                  <a:txBody>
                    <a:bodyPr/>
                    <a:lstStyle/>
                    <a:p>
                      <a:pPr algn="l"/>
                      <a:r>
                        <a:rPr sz="800" b="1">
                          <a:solidFill>
                            <a:srgbClr val="202020"/>
                          </a:solidFill>
                        </a:rPr>
                        <a:t>EF TL B3</a:t>
                      </a:r>
                    </a:p>
                  </a:txBody>
                  <a:tcPr>
                    <a:solidFill>
                      <a:srgbClr val="E6F4EA"/>
                    </a:solidFill>
                  </a:tcPr>
                </a:tc>
                <a:tc>
                  <a:txBody>
                    <a:bodyPr/>
                    <a:lstStyle/>
                    <a:p>
                      <a:pPr algn="ctr"/>
                      <a:r>
                        <a:rPr sz="800" b="0">
                          <a:solidFill>
                            <a:srgbClr val="202020"/>
                          </a:solidFill>
                        </a:rPr>
                        <a:t>0.333</a:t>
                      </a:r>
                    </a:p>
                  </a:txBody>
                  <a:tcPr>
                    <a:solidFill>
                      <a:srgbClr val="E6F4EA"/>
                    </a:solidFill>
                  </a:tcPr>
                </a:tc>
                <a:tc>
                  <a:txBody>
                    <a:bodyPr/>
                    <a:lstStyle/>
                    <a:p>
                      <a:pPr algn="ctr"/>
                      <a:r>
                        <a:rPr sz="800" b="0">
                          <a:solidFill>
                            <a:srgbClr val="202020"/>
                          </a:solidFill>
                        </a:rPr>
                        <a:t>0.753</a:t>
                      </a:r>
                    </a:p>
                  </a:txBody>
                  <a:tcPr>
                    <a:solidFill>
                      <a:srgbClr val="E6F4EA"/>
                    </a:solidFill>
                  </a:tcPr>
                </a:tc>
                <a:tc>
                  <a:txBody>
                    <a:bodyPr/>
                    <a:lstStyle/>
                    <a:p>
                      <a:pPr algn="ctr"/>
                      <a:r>
                        <a:rPr sz="800" b="0">
                          <a:solidFill>
                            <a:srgbClr val="202020"/>
                          </a:solidFill>
                        </a:rPr>
                        <a:t>0.773</a:t>
                      </a:r>
                    </a:p>
                  </a:txBody>
                  <a:tcPr>
                    <a:solidFill>
                      <a:srgbClr val="E6F4EA"/>
                    </a:solidFill>
                  </a:tcPr>
                </a:tc>
                <a:tc>
                  <a:txBody>
                    <a:bodyPr/>
                    <a:lstStyle/>
                    <a:p>
                      <a:pPr algn="ctr"/>
                      <a:r>
                        <a:rPr sz="800" b="0">
                          <a:solidFill>
                            <a:srgbClr val="202020"/>
                          </a:solidFill>
                        </a:rPr>
                        <a:t>0.753</a:t>
                      </a:r>
                    </a:p>
                  </a:txBody>
                  <a:tcPr>
                    <a:solidFill>
                      <a:srgbClr val="E6F4EA"/>
                    </a:solidFill>
                  </a:tcPr>
                </a:tc>
              </a:tr>
            </a:tbl>
          </a:graphicData>
        </a:graphic>
      </p:graphicFrame>
      <p:sp>
        <p:nvSpPr>
          <p:cNvPr id="8" name="TextBox 7"/>
          <p:cNvSpPr txBox="1"/>
          <p:nvPr/>
        </p:nvSpPr>
        <p:spPr>
          <a:xfrm>
            <a:off x="4617720" y="2514600"/>
            <a:ext cx="4206240" cy="228600"/>
          </a:xfrm>
          <a:prstGeom prst="rect">
            <a:avLst/>
          </a:prstGeom>
          <a:noFill/>
        </p:spPr>
        <p:txBody>
          <a:bodyPr wrap="none">
            <a:spAutoFit/>
          </a:bodyPr>
          <a:lstStyle/>
          <a:p>
            <a:pPr algn="l"/>
            <a:r>
              <a:rPr sz="1000" b="1" i="0">
                <a:solidFill>
                  <a:srgbClr val="1A73E8"/>
                </a:solidFill>
              </a:rPr>
              <a:t>Hasil Early Fusion conf60 — 4-Class</a:t>
            </a:r>
          </a:p>
        </p:txBody>
      </p:sp>
      <p:graphicFrame>
        <p:nvGraphicFramePr>
          <p:cNvPr id="9" name="Table 8"/>
          <p:cNvGraphicFramePr>
            <a:graphicFrameLocks noGrp="1"/>
          </p:cNvGraphicFramePr>
          <p:nvPr/>
        </p:nvGraphicFramePr>
        <p:xfrm>
          <a:off x="4617720" y="2788920"/>
          <a:ext cx="4206235" cy="2148840"/>
        </p:xfrm>
        <a:graphic>
          <a:graphicData uri="http://schemas.openxmlformats.org/drawingml/2006/table">
            <a:tbl>
              <a:tblPr firstRow="1" bandRow="1"/>
              <a:tblGrid>
                <a:gridCol w="1402079"/>
                <a:gridCol w="701039"/>
                <a:gridCol w="701039"/>
                <a:gridCol w="701039"/>
                <a:gridCol w="701039"/>
              </a:tblGrid>
              <a:tr h="306977">
                <a:tc>
                  <a:txBody>
                    <a:bodyPr/>
                    <a:lstStyle/>
                    <a:p>
                      <a:pPr algn="ctr"/>
                      <a:r>
                        <a:rPr sz="850" b="1">
                          <a:solidFill>
                            <a:srgbClr val="FFFFFF"/>
                          </a:solidFill>
                        </a:rPr>
                        <a:t>Config</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306977">
                <a:tc>
                  <a:txBody>
                    <a:bodyPr/>
                    <a:lstStyle/>
                    <a:p>
                      <a:pPr algn="l"/>
                      <a:r>
                        <a:rPr sz="800" b="1">
                          <a:solidFill>
                            <a:srgbClr val="202020"/>
                          </a:solidFill>
                        </a:rPr>
                        <a:t>EF B1</a:t>
                      </a:r>
                    </a:p>
                  </a:txBody>
                  <a:tcPr>
                    <a:solidFill>
                      <a:srgbClr val="E8F0FE"/>
                    </a:solidFill>
                  </a:tcPr>
                </a:tc>
                <a:tc>
                  <a:txBody>
                    <a:bodyPr/>
                    <a:lstStyle/>
                    <a:p>
                      <a:pPr algn="ctr"/>
                      <a:r>
                        <a:rPr sz="800" b="0">
                          <a:solidFill>
                            <a:srgbClr val="202020"/>
                          </a:solidFill>
                        </a:rPr>
                        <a:t>0.457</a:t>
                      </a:r>
                    </a:p>
                  </a:txBody>
                  <a:tcPr>
                    <a:solidFill>
                      <a:srgbClr val="E8F0FE"/>
                    </a:solidFill>
                  </a:tcPr>
                </a:tc>
                <a:tc>
                  <a:txBody>
                    <a:bodyPr/>
                    <a:lstStyle/>
                    <a:p>
                      <a:pPr algn="ctr"/>
                      <a:r>
                        <a:rPr sz="800" b="0">
                          <a:solidFill>
                            <a:srgbClr val="202020"/>
                          </a:solidFill>
                        </a:rPr>
                        <a:t>0.822</a:t>
                      </a:r>
                    </a:p>
                  </a:txBody>
                  <a:tcPr>
                    <a:solidFill>
                      <a:srgbClr val="E8F0FE"/>
                    </a:solidFill>
                  </a:tcPr>
                </a:tc>
                <a:tc>
                  <a:txBody>
                    <a:bodyPr/>
                    <a:lstStyle/>
                    <a:p>
                      <a:pPr algn="ctr"/>
                      <a:r>
                        <a:rPr sz="800" b="0">
                          <a:solidFill>
                            <a:srgbClr val="202020"/>
                          </a:solidFill>
                        </a:rPr>
                        <a:t>0.816</a:t>
                      </a:r>
                    </a:p>
                  </a:txBody>
                  <a:tcPr>
                    <a:solidFill>
                      <a:srgbClr val="E8F0FE"/>
                    </a:solidFill>
                  </a:tcPr>
                </a:tc>
                <a:tc>
                  <a:txBody>
                    <a:bodyPr/>
                    <a:lstStyle/>
                    <a:p>
                      <a:pPr algn="ctr"/>
                      <a:r>
                        <a:rPr sz="800" b="0">
                          <a:solidFill>
                            <a:srgbClr val="202020"/>
                          </a:solidFill>
                        </a:rPr>
                        <a:t>0.822</a:t>
                      </a:r>
                    </a:p>
                  </a:txBody>
                  <a:tcPr>
                    <a:solidFill>
                      <a:srgbClr val="E8F0FE"/>
                    </a:solidFill>
                  </a:tcPr>
                </a:tc>
              </a:tr>
              <a:tr h="306977">
                <a:tc>
                  <a:txBody>
                    <a:bodyPr/>
                    <a:lstStyle/>
                    <a:p>
                      <a:pPr algn="l"/>
                      <a:r>
                        <a:rPr sz="800" b="1">
                          <a:solidFill>
                            <a:srgbClr val="202020"/>
                          </a:solidFill>
                        </a:rPr>
                        <a:t>EF B2</a:t>
                      </a:r>
                    </a:p>
                  </a:txBody>
                  <a:tcPr>
                    <a:solidFill>
                      <a:srgbClr val="FFFFFF"/>
                    </a:solidFill>
                  </a:tcPr>
                </a:tc>
                <a:tc>
                  <a:txBody>
                    <a:bodyPr/>
                    <a:lstStyle/>
                    <a:p>
                      <a:pPr algn="ctr"/>
                      <a:r>
                        <a:rPr sz="800" b="0">
                          <a:solidFill>
                            <a:srgbClr val="202020"/>
                          </a:solidFill>
                        </a:rPr>
                        <a:t>0.427</a:t>
                      </a:r>
                    </a:p>
                  </a:txBody>
                  <a:tcPr>
                    <a:solidFill>
                      <a:srgbClr val="FFFFFF"/>
                    </a:solidFill>
                  </a:tcPr>
                </a:tc>
                <a:tc>
                  <a:txBody>
                    <a:bodyPr/>
                    <a:lstStyle/>
                    <a:p>
                      <a:pPr algn="ctr"/>
                      <a:r>
                        <a:rPr sz="800" b="0">
                          <a:solidFill>
                            <a:srgbClr val="202020"/>
                          </a:solidFill>
                        </a:rPr>
                        <a:t>0.690</a:t>
                      </a:r>
                    </a:p>
                  </a:txBody>
                  <a:tcPr>
                    <a:solidFill>
                      <a:srgbClr val="FFFFFF"/>
                    </a:solidFill>
                  </a:tcPr>
                </a:tc>
                <a:tc>
                  <a:txBody>
                    <a:bodyPr/>
                    <a:lstStyle/>
                    <a:p>
                      <a:pPr algn="ctr"/>
                      <a:r>
                        <a:rPr sz="800" b="0">
                          <a:solidFill>
                            <a:srgbClr val="202020"/>
                          </a:solidFill>
                        </a:rPr>
                        <a:t>0.728</a:t>
                      </a:r>
                    </a:p>
                  </a:txBody>
                  <a:tcPr>
                    <a:solidFill>
                      <a:srgbClr val="FFFFFF"/>
                    </a:solidFill>
                  </a:tcPr>
                </a:tc>
                <a:tc>
                  <a:txBody>
                    <a:bodyPr/>
                    <a:lstStyle/>
                    <a:p>
                      <a:pPr algn="ctr"/>
                      <a:r>
                        <a:rPr sz="800" b="0">
                          <a:solidFill>
                            <a:srgbClr val="202020"/>
                          </a:solidFill>
                        </a:rPr>
                        <a:t>0.690</a:t>
                      </a:r>
                    </a:p>
                  </a:txBody>
                  <a:tcPr>
                    <a:solidFill>
                      <a:srgbClr val="FFFFFF"/>
                    </a:solidFill>
                  </a:tcPr>
                </a:tc>
              </a:tr>
              <a:tr h="306977">
                <a:tc>
                  <a:txBody>
                    <a:bodyPr/>
                    <a:lstStyle/>
                    <a:p>
                      <a:pPr algn="l"/>
                      <a:r>
                        <a:rPr sz="800" b="1">
                          <a:solidFill>
                            <a:srgbClr val="202020"/>
                          </a:solidFill>
                        </a:rPr>
                        <a:t>EF B3</a:t>
                      </a:r>
                    </a:p>
                  </a:txBody>
                  <a:tcPr>
                    <a:solidFill>
                      <a:srgbClr val="E8F0FE"/>
                    </a:solidFill>
                  </a:tcPr>
                </a:tc>
                <a:tc>
                  <a:txBody>
                    <a:bodyPr/>
                    <a:lstStyle/>
                    <a:p>
                      <a:pPr algn="ctr"/>
                      <a:r>
                        <a:rPr sz="800" b="0">
                          <a:solidFill>
                            <a:srgbClr val="202020"/>
                          </a:solidFill>
                        </a:rPr>
                        <a:t>0.427</a:t>
                      </a:r>
                    </a:p>
                  </a:txBody>
                  <a:tcPr>
                    <a:solidFill>
                      <a:srgbClr val="E8F0FE"/>
                    </a:solidFill>
                  </a:tcPr>
                </a:tc>
                <a:tc>
                  <a:txBody>
                    <a:bodyPr/>
                    <a:lstStyle/>
                    <a:p>
                      <a:pPr algn="ctr"/>
                      <a:r>
                        <a:rPr sz="800" b="0">
                          <a:solidFill>
                            <a:srgbClr val="202020"/>
                          </a:solidFill>
                        </a:rPr>
                        <a:t>0.728</a:t>
                      </a:r>
                    </a:p>
                  </a:txBody>
                  <a:tcPr>
                    <a:solidFill>
                      <a:srgbClr val="E8F0FE"/>
                    </a:solidFill>
                  </a:tcPr>
                </a:tc>
                <a:tc>
                  <a:txBody>
                    <a:bodyPr/>
                    <a:lstStyle/>
                    <a:p>
                      <a:pPr algn="ctr"/>
                      <a:r>
                        <a:rPr sz="800" b="0">
                          <a:solidFill>
                            <a:srgbClr val="202020"/>
                          </a:solidFill>
                        </a:rPr>
                        <a:t>0.752</a:t>
                      </a:r>
                    </a:p>
                  </a:txBody>
                  <a:tcPr>
                    <a:solidFill>
                      <a:srgbClr val="E8F0FE"/>
                    </a:solidFill>
                  </a:tcPr>
                </a:tc>
                <a:tc>
                  <a:txBody>
                    <a:bodyPr/>
                    <a:lstStyle/>
                    <a:p>
                      <a:pPr algn="ctr"/>
                      <a:r>
                        <a:rPr sz="800" b="0">
                          <a:solidFill>
                            <a:srgbClr val="202020"/>
                          </a:solidFill>
                        </a:rPr>
                        <a:t>0.728</a:t>
                      </a:r>
                    </a:p>
                  </a:txBody>
                  <a:tcPr>
                    <a:solidFill>
                      <a:srgbClr val="E8F0FE"/>
                    </a:solidFill>
                  </a:tcPr>
                </a:tc>
              </a:tr>
              <a:tr h="306977">
                <a:tc>
                  <a:txBody>
                    <a:bodyPr/>
                    <a:lstStyle/>
                    <a:p>
                      <a:pPr algn="l"/>
                      <a:r>
                        <a:rPr sz="800" b="1">
                          <a:solidFill>
                            <a:srgbClr val="202020"/>
                          </a:solidFill>
                        </a:rPr>
                        <a:t>EF TL B1</a:t>
                      </a:r>
                    </a:p>
                  </a:txBody>
                  <a:tcPr>
                    <a:solidFill>
                      <a:srgbClr val="E6F4EA"/>
                    </a:solidFill>
                  </a:tcPr>
                </a:tc>
                <a:tc>
                  <a:txBody>
                    <a:bodyPr/>
                    <a:lstStyle/>
                    <a:p>
                      <a:pPr algn="ctr"/>
                      <a:r>
                        <a:rPr sz="800" b="0">
                          <a:solidFill>
                            <a:srgbClr val="202020"/>
                          </a:solidFill>
                        </a:rPr>
                        <a:t>0.471</a:t>
                      </a:r>
                    </a:p>
                  </a:txBody>
                  <a:tcPr>
                    <a:solidFill>
                      <a:srgbClr val="E6F4EA"/>
                    </a:solidFill>
                  </a:tcPr>
                </a:tc>
                <a:tc>
                  <a:txBody>
                    <a:bodyPr/>
                    <a:lstStyle/>
                    <a:p>
                      <a:pPr algn="ctr"/>
                      <a:r>
                        <a:rPr sz="800" b="0">
                          <a:solidFill>
                            <a:srgbClr val="202020"/>
                          </a:solidFill>
                        </a:rPr>
                        <a:t>0.770</a:t>
                      </a:r>
                    </a:p>
                  </a:txBody>
                  <a:tcPr>
                    <a:solidFill>
                      <a:srgbClr val="E6F4EA"/>
                    </a:solidFill>
                  </a:tcPr>
                </a:tc>
                <a:tc>
                  <a:txBody>
                    <a:bodyPr/>
                    <a:lstStyle/>
                    <a:p>
                      <a:pPr algn="ctr"/>
                      <a:r>
                        <a:rPr sz="800" b="0">
                          <a:solidFill>
                            <a:srgbClr val="202020"/>
                          </a:solidFill>
                        </a:rPr>
                        <a:t>0.770</a:t>
                      </a:r>
                    </a:p>
                  </a:txBody>
                  <a:tcPr>
                    <a:solidFill>
                      <a:srgbClr val="E6F4EA"/>
                    </a:solidFill>
                  </a:tcPr>
                </a:tc>
                <a:tc>
                  <a:txBody>
                    <a:bodyPr/>
                    <a:lstStyle/>
                    <a:p>
                      <a:pPr algn="ctr"/>
                      <a:r>
                        <a:rPr sz="800" b="0">
                          <a:solidFill>
                            <a:srgbClr val="202020"/>
                          </a:solidFill>
                        </a:rPr>
                        <a:t>0.770</a:t>
                      </a:r>
                    </a:p>
                  </a:txBody>
                  <a:tcPr>
                    <a:solidFill>
                      <a:srgbClr val="E6F4EA"/>
                    </a:solidFill>
                  </a:tcPr>
                </a:tc>
              </a:tr>
              <a:tr h="306977">
                <a:tc>
                  <a:txBody>
                    <a:bodyPr/>
                    <a:lstStyle/>
                    <a:p>
                      <a:pPr algn="l"/>
                      <a:r>
                        <a:rPr sz="800" b="1">
                          <a:solidFill>
                            <a:srgbClr val="202020"/>
                          </a:solidFill>
                        </a:rPr>
                        <a:t>EF TL B2</a:t>
                      </a:r>
                    </a:p>
                  </a:txBody>
                  <a:tcPr>
                    <a:solidFill>
                      <a:srgbClr val="E8F0FE"/>
                    </a:solidFill>
                  </a:tcPr>
                </a:tc>
                <a:tc>
                  <a:txBody>
                    <a:bodyPr/>
                    <a:lstStyle/>
                    <a:p>
                      <a:pPr algn="ctr"/>
                      <a:r>
                        <a:rPr sz="800" b="0">
                          <a:solidFill>
                            <a:srgbClr val="202020"/>
                          </a:solidFill>
                        </a:rPr>
                        <a:t>0.424</a:t>
                      </a:r>
                    </a:p>
                  </a:txBody>
                  <a:tcPr>
                    <a:solidFill>
                      <a:srgbClr val="E8F0FE"/>
                    </a:solidFill>
                  </a:tcPr>
                </a:tc>
                <a:tc>
                  <a:txBody>
                    <a:bodyPr/>
                    <a:lstStyle/>
                    <a:p>
                      <a:pPr algn="ctr"/>
                      <a:r>
                        <a:rPr sz="800" b="0">
                          <a:solidFill>
                            <a:srgbClr val="202020"/>
                          </a:solidFill>
                        </a:rPr>
                        <a:t>0.642</a:t>
                      </a:r>
                    </a:p>
                  </a:txBody>
                  <a:tcPr>
                    <a:solidFill>
                      <a:srgbClr val="E8F0FE"/>
                    </a:solidFill>
                  </a:tcPr>
                </a:tc>
                <a:tc>
                  <a:txBody>
                    <a:bodyPr/>
                    <a:lstStyle/>
                    <a:p>
                      <a:pPr algn="ctr"/>
                      <a:r>
                        <a:rPr sz="800" b="0">
                          <a:solidFill>
                            <a:srgbClr val="202020"/>
                          </a:solidFill>
                        </a:rPr>
                        <a:t>0.668</a:t>
                      </a:r>
                    </a:p>
                  </a:txBody>
                  <a:tcPr>
                    <a:solidFill>
                      <a:srgbClr val="E8F0FE"/>
                    </a:solidFill>
                  </a:tcPr>
                </a:tc>
                <a:tc>
                  <a:txBody>
                    <a:bodyPr/>
                    <a:lstStyle/>
                    <a:p>
                      <a:pPr algn="ctr"/>
                      <a:r>
                        <a:rPr sz="800" b="0">
                          <a:solidFill>
                            <a:srgbClr val="202020"/>
                          </a:solidFill>
                        </a:rPr>
                        <a:t>0.642</a:t>
                      </a:r>
                    </a:p>
                  </a:txBody>
                  <a:tcPr>
                    <a:solidFill>
                      <a:srgbClr val="E8F0FE"/>
                    </a:solidFill>
                  </a:tcPr>
                </a:tc>
              </a:tr>
              <a:tr h="306978">
                <a:tc>
                  <a:txBody>
                    <a:bodyPr/>
                    <a:lstStyle/>
                    <a:p>
                      <a:pPr algn="l"/>
                      <a:r>
                        <a:rPr sz="800" b="1">
                          <a:solidFill>
                            <a:srgbClr val="202020"/>
                          </a:solidFill>
                        </a:rPr>
                        <a:t>EF TL B3</a:t>
                      </a:r>
                    </a:p>
                  </a:txBody>
                  <a:tcPr>
                    <a:solidFill>
                      <a:srgbClr val="FFFFFF"/>
                    </a:solidFill>
                  </a:tcPr>
                </a:tc>
                <a:tc>
                  <a:txBody>
                    <a:bodyPr/>
                    <a:lstStyle/>
                    <a:p>
                      <a:pPr algn="ctr"/>
                      <a:r>
                        <a:rPr sz="800" b="0">
                          <a:solidFill>
                            <a:srgbClr val="202020"/>
                          </a:solidFill>
                        </a:rPr>
                        <a:t>0.433</a:t>
                      </a:r>
                    </a:p>
                  </a:txBody>
                  <a:tcPr>
                    <a:solidFill>
                      <a:srgbClr val="FFFFFF"/>
                    </a:solidFill>
                  </a:tcPr>
                </a:tc>
                <a:tc>
                  <a:txBody>
                    <a:bodyPr/>
                    <a:lstStyle/>
                    <a:p>
                      <a:pPr algn="ctr"/>
                      <a:r>
                        <a:rPr sz="800" b="0">
                          <a:solidFill>
                            <a:srgbClr val="202020"/>
                          </a:solidFill>
                        </a:rPr>
                        <a:t>0.678</a:t>
                      </a:r>
                    </a:p>
                  </a:txBody>
                  <a:tcPr>
                    <a:solidFill>
                      <a:srgbClr val="FFFFFF"/>
                    </a:solidFill>
                  </a:tcPr>
                </a:tc>
                <a:tc>
                  <a:txBody>
                    <a:bodyPr/>
                    <a:lstStyle/>
                    <a:p>
                      <a:pPr algn="ctr"/>
                      <a:r>
                        <a:rPr sz="800" b="0">
                          <a:solidFill>
                            <a:srgbClr val="202020"/>
                          </a:solidFill>
                        </a:rPr>
                        <a:t>0.709</a:t>
                      </a:r>
                    </a:p>
                  </a:txBody>
                  <a:tcPr>
                    <a:solidFill>
                      <a:srgbClr val="FFFFFF"/>
                    </a:solidFill>
                  </a:tcPr>
                </a:tc>
                <a:tc>
                  <a:txBody>
                    <a:bodyPr/>
                    <a:lstStyle/>
                    <a:p>
                      <a:pPr algn="ctr"/>
                      <a:r>
                        <a:rPr sz="800" b="0">
                          <a:solidFill>
                            <a:srgbClr val="202020"/>
                          </a:solidFill>
                        </a:rPr>
                        <a:t>0.678</a:t>
                      </a:r>
                    </a:p>
                  </a:txBody>
                  <a:tcPr>
                    <a:solidFill>
                      <a:srgbClr val="FFFFFF"/>
                    </a:solidFill>
                  </a:tcPr>
                </a:tc>
              </a:tr>
            </a:tbl>
          </a:graphicData>
        </a:graphic>
      </p:graphicFrame>
      <p:sp>
        <p:nvSpPr>
          <p:cNvPr id="10" name="TextBox 9"/>
          <p:cNvSpPr txBox="1"/>
          <p:nvPr/>
        </p:nvSpPr>
        <p:spPr>
          <a:xfrm>
            <a:off x="274320" y="5029200"/>
            <a:ext cx="8595360" cy="640080"/>
          </a:xfrm>
          <a:prstGeom prst="rect">
            <a:avLst/>
          </a:prstGeom>
          <a:solidFill>
            <a:srgbClr val="E6F4EA"/>
          </a:solidFill>
        </p:spPr>
        <p:txBody>
          <a:bodyPr wrap="square">
            <a:spAutoFit/>
          </a:bodyPr>
          <a:lstStyle/>
          <a:p>
            <a:pPr algn="l"/>
            <a:r>
              <a:rPr sz="1000" b="1" i="0">
                <a:solidFill>
                  <a:srgbClr val="0F9D58"/>
                </a:solidFill>
              </a:rPr>
              <a:t>Best Early Fusion: 7c = EF TL B3 (0.333) | 4c = EF TL B1 (0.471)</a:t>
            </a:r>
          </a:p>
          <a:p>
            <a:pPr algn="l"/>
            <a:r>
              <a:rPr sz="900" b="0" i="0">
                <a:solidFill>
                  <a:srgbClr val="202020"/>
                </a:solidFill>
              </a:rPr>
              <a:t>12 config (6 per kelas) × nb 64 — semua metrik Macro/Micro/Weighted F1 + Accuracy.</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30 (lanjutan): Perbandingan Fusion Strategy &amp; Temuan</a:t>
            </a:r>
          </a:p>
        </p:txBody>
      </p:sp>
      <p:sp>
        <p:nvSpPr>
          <p:cNvPr id="4" name="TextBox 3"/>
          <p:cNvSpPr txBox="1"/>
          <p:nvPr/>
        </p:nvSpPr>
        <p:spPr>
          <a:xfrm>
            <a:off x="274320" y="548640"/>
            <a:ext cx="8595360" cy="228600"/>
          </a:xfrm>
          <a:prstGeom prst="rect">
            <a:avLst/>
          </a:prstGeom>
          <a:noFill/>
        </p:spPr>
        <p:txBody>
          <a:bodyPr wrap="none">
            <a:spAutoFit/>
          </a:bodyPr>
          <a:lstStyle/>
          <a:p>
            <a:pPr algn="l"/>
            <a:r>
              <a:rPr sz="1000" b="1" i="0">
                <a:solidFill>
                  <a:srgbClr val="1A73E8"/>
                </a:solidFill>
              </a:rPr>
              <a:t>Perbandingan 5 Fusion Strategy di Primer conf60 (Best per Arsitektur)</a:t>
            </a:r>
          </a:p>
        </p:txBody>
      </p:sp>
      <p:graphicFrame>
        <p:nvGraphicFramePr>
          <p:cNvPr id="5" name="Table 4"/>
          <p:cNvGraphicFramePr>
            <a:graphicFrameLocks noGrp="1"/>
          </p:cNvGraphicFramePr>
          <p:nvPr/>
        </p:nvGraphicFramePr>
        <p:xfrm>
          <a:off x="274320" y="822960"/>
          <a:ext cx="8595358" cy="1920240"/>
        </p:xfrm>
        <a:graphic>
          <a:graphicData uri="http://schemas.openxmlformats.org/drawingml/2006/table">
            <a:tbl>
              <a:tblPr firstRow="1" bandRow="1"/>
              <a:tblGrid>
                <a:gridCol w="2865120"/>
                <a:gridCol w="1833676"/>
                <a:gridCol w="1833676"/>
                <a:gridCol w="2062886"/>
              </a:tblGrid>
              <a:tr h="320040">
                <a:tc>
                  <a:txBody>
                    <a:bodyPr/>
                    <a:lstStyle/>
                    <a:p>
                      <a:pPr algn="ctr"/>
                      <a:r>
                        <a:rPr sz="900" b="1">
                          <a:solidFill>
                            <a:srgbClr val="FFFFFF"/>
                          </a:solidFill>
                        </a:rPr>
                        <a:t>Fusion Strategy</a:t>
                      </a:r>
                    </a:p>
                  </a:txBody>
                  <a:tcPr>
                    <a:solidFill>
                      <a:srgbClr val="1A73E8"/>
                    </a:solidFill>
                  </a:tcPr>
                </a:tc>
                <a:tc>
                  <a:txBody>
                    <a:bodyPr/>
                    <a:lstStyle/>
                    <a:p>
                      <a:pPr algn="ctr"/>
                      <a:r>
                        <a:rPr sz="900" b="1">
                          <a:solidFill>
                            <a:srgbClr val="FFFFFF"/>
                          </a:solidFill>
                        </a:rPr>
                        <a:t>Best 7c Macro F1</a:t>
                      </a:r>
                    </a:p>
                  </a:txBody>
                  <a:tcPr>
                    <a:solidFill>
                      <a:srgbClr val="1A73E8"/>
                    </a:solidFill>
                  </a:tcPr>
                </a:tc>
                <a:tc>
                  <a:txBody>
                    <a:bodyPr/>
                    <a:lstStyle/>
                    <a:p>
                      <a:pPr algn="ctr"/>
                      <a:r>
                        <a:rPr sz="900" b="1">
                          <a:solidFill>
                            <a:srgbClr val="FFFFFF"/>
                          </a:solidFill>
                        </a:rPr>
                        <a:t>Best 4c Macro F1</a:t>
                      </a:r>
                    </a:p>
                  </a:txBody>
                  <a:tcPr>
                    <a:solidFill>
                      <a:srgbClr val="1A73E8"/>
                    </a:solidFill>
                  </a:tcPr>
                </a:tc>
                <a:tc>
                  <a:txBody>
                    <a:bodyPr/>
                    <a:lstStyle/>
                    <a:p>
                      <a:pPr algn="ctr"/>
                      <a:r>
                        <a:rPr sz="900" b="1">
                          <a:solidFill>
                            <a:srgbClr val="FFFFFF"/>
                          </a:solidFill>
                        </a:rPr>
                        <a:t>Fusion Point</a:t>
                      </a:r>
                    </a:p>
                  </a:txBody>
                  <a:tcPr>
                    <a:solidFill>
                      <a:srgbClr val="1A73E8"/>
                    </a:solidFill>
                  </a:tcPr>
                </a:tc>
              </a:tr>
              <a:tr h="320040">
                <a:tc>
                  <a:txBody>
                    <a:bodyPr/>
                    <a:lstStyle/>
                    <a:p>
                      <a:pPr algn="l"/>
                      <a:r>
                        <a:rPr sz="850" b="1">
                          <a:solidFill>
                            <a:srgbClr val="202020"/>
                          </a:solidFill>
                        </a:rPr>
                        <a:t>Single CNN (TL)</a:t>
                      </a:r>
                    </a:p>
                  </a:txBody>
                  <a:tcPr>
                    <a:solidFill>
                      <a:srgbClr val="E8F0FE"/>
                    </a:solidFill>
                  </a:tcPr>
                </a:tc>
                <a:tc>
                  <a:txBody>
                    <a:bodyPr/>
                    <a:lstStyle/>
                    <a:p>
                      <a:pPr algn="ctr"/>
                      <a:r>
                        <a:rPr sz="850" b="0">
                          <a:solidFill>
                            <a:srgbClr val="202020"/>
                          </a:solidFill>
                        </a:rPr>
                        <a:t>0.273 (B1)</a:t>
                      </a:r>
                    </a:p>
                  </a:txBody>
                  <a:tcPr>
                    <a:solidFill>
                      <a:srgbClr val="E8F0FE"/>
                    </a:solidFill>
                  </a:tcPr>
                </a:tc>
                <a:tc>
                  <a:txBody>
                    <a:bodyPr/>
                    <a:lstStyle/>
                    <a:p>
                      <a:pPr algn="ctr"/>
                      <a:r>
                        <a:rPr sz="850" b="0">
                          <a:solidFill>
                            <a:srgbClr val="202020"/>
                          </a:solidFill>
                        </a:rPr>
                        <a:t>0.507 (B3)</a:t>
                      </a:r>
                    </a:p>
                  </a:txBody>
                  <a:tcPr>
                    <a:solidFill>
                      <a:srgbClr val="E8F0FE"/>
                    </a:solidFill>
                  </a:tcPr>
                </a:tc>
                <a:tc>
                  <a:txBody>
                    <a:bodyPr/>
                    <a:lstStyle/>
                    <a:p>
                      <a:pPr algn="ctr"/>
                      <a:r>
                        <a:rPr sz="850" b="0">
                          <a:solidFill>
                            <a:srgbClr val="202020"/>
                          </a:solidFill>
                        </a:rPr>
                        <a:t>— (single modal)</a:t>
                      </a:r>
                    </a:p>
                  </a:txBody>
                  <a:tcPr>
                    <a:solidFill>
                      <a:srgbClr val="E8F0FE"/>
                    </a:solidFill>
                  </a:tcPr>
                </a:tc>
              </a:tr>
              <a:tr h="320040">
                <a:tc>
                  <a:txBody>
                    <a:bodyPr/>
                    <a:lstStyle/>
                    <a:p>
                      <a:pPr algn="l"/>
                      <a:r>
                        <a:rPr sz="850" b="1">
                          <a:solidFill>
                            <a:srgbClr val="202020"/>
                          </a:solidFill>
                        </a:rPr>
                        <a:t>Single FCNN</a:t>
                      </a:r>
                    </a:p>
                  </a:txBody>
                  <a:tcPr>
                    <a:solidFill>
                      <a:srgbClr val="FFFFFF"/>
                    </a:solidFill>
                  </a:tcPr>
                </a:tc>
                <a:tc>
                  <a:txBody>
                    <a:bodyPr/>
                    <a:lstStyle/>
                    <a:p>
                      <a:pPr algn="ctr"/>
                      <a:r>
                        <a:rPr sz="850" b="0">
                          <a:solidFill>
                            <a:srgbClr val="202020"/>
                          </a:solidFill>
                        </a:rPr>
                        <a:t>0.244 (B2)</a:t>
                      </a:r>
                    </a:p>
                  </a:txBody>
                  <a:tcPr>
                    <a:solidFill>
                      <a:srgbClr val="FFFFFF"/>
                    </a:solidFill>
                  </a:tcPr>
                </a:tc>
                <a:tc>
                  <a:txBody>
                    <a:bodyPr/>
                    <a:lstStyle/>
                    <a:p>
                      <a:pPr algn="ctr"/>
                      <a:r>
                        <a:rPr sz="850" b="0">
                          <a:solidFill>
                            <a:srgbClr val="202020"/>
                          </a:solidFill>
                        </a:rPr>
                        <a:t>0.459 (B2)</a:t>
                      </a:r>
                    </a:p>
                  </a:txBody>
                  <a:tcPr>
                    <a:solidFill>
                      <a:srgbClr val="FFFFFF"/>
                    </a:solidFill>
                  </a:tcPr>
                </a:tc>
                <a:tc>
                  <a:txBody>
                    <a:bodyPr/>
                    <a:lstStyle/>
                    <a:p>
                      <a:pPr algn="ctr"/>
                      <a:r>
                        <a:rPr sz="850" b="0">
                          <a:solidFill>
                            <a:srgbClr val="202020"/>
                          </a:solidFill>
                        </a:rPr>
                        <a:t>— (single modal)</a:t>
                      </a:r>
                    </a:p>
                  </a:txBody>
                  <a:tcPr>
                    <a:solidFill>
                      <a:srgbClr val="FFFFFF"/>
                    </a:solidFill>
                  </a:tcPr>
                </a:tc>
              </a:tr>
              <a:tr h="320040">
                <a:tc>
                  <a:txBody>
                    <a:bodyPr/>
                    <a:lstStyle/>
                    <a:p>
                      <a:pPr algn="l"/>
                      <a:r>
                        <a:rPr sz="850" b="1">
                          <a:solidFill>
                            <a:srgbClr val="202020"/>
                          </a:solidFill>
                        </a:rPr>
                        <a:t>Early Fusion (HAE-Net)</a:t>
                      </a:r>
                    </a:p>
                  </a:txBody>
                  <a:tcPr>
                    <a:solidFill>
                      <a:srgbClr val="E8F0FE"/>
                    </a:solidFill>
                  </a:tcPr>
                </a:tc>
                <a:tc>
                  <a:txBody>
                    <a:bodyPr/>
                    <a:lstStyle/>
                    <a:p>
                      <a:pPr algn="ctr"/>
                      <a:r>
                        <a:rPr sz="850" b="0">
                          <a:solidFill>
                            <a:srgbClr val="202020"/>
                          </a:solidFill>
                        </a:rPr>
                        <a:t>0.333 (TL B3) ★</a:t>
                      </a:r>
                    </a:p>
                  </a:txBody>
                  <a:tcPr>
                    <a:solidFill>
                      <a:srgbClr val="E8F0FE"/>
                    </a:solidFill>
                  </a:tcPr>
                </a:tc>
                <a:tc>
                  <a:txBody>
                    <a:bodyPr/>
                    <a:lstStyle/>
                    <a:p>
                      <a:pPr algn="ctr"/>
                      <a:r>
                        <a:rPr sz="850" b="0">
                          <a:solidFill>
                            <a:srgbClr val="202020"/>
                          </a:solidFill>
                        </a:rPr>
                        <a:t>0.471 (TL B1)</a:t>
                      </a:r>
                    </a:p>
                  </a:txBody>
                  <a:tcPr>
                    <a:solidFill>
                      <a:srgbClr val="E8F0FE"/>
                    </a:solidFill>
                  </a:tcPr>
                </a:tc>
                <a:tc>
                  <a:txBody>
                    <a:bodyPr/>
                    <a:lstStyle/>
                    <a:p>
                      <a:pPr algn="ctr"/>
                      <a:r>
                        <a:rPr sz="850" b="0">
                          <a:solidFill>
                            <a:srgbClr val="202020"/>
                          </a:solidFill>
                        </a:rPr>
                        <a:t>Input (0%)</a:t>
                      </a:r>
                    </a:p>
                  </a:txBody>
                  <a:tcPr>
                    <a:solidFill>
                      <a:srgbClr val="E8F0FE"/>
                    </a:solidFill>
                  </a:tcPr>
                </a:tc>
              </a:tr>
              <a:tr h="320040">
                <a:tc>
                  <a:txBody>
                    <a:bodyPr/>
                    <a:lstStyle/>
                    <a:p>
                      <a:pPr algn="l"/>
                      <a:r>
                        <a:rPr sz="850" b="1">
                          <a:solidFill>
                            <a:srgbClr val="202020"/>
                          </a:solidFill>
                        </a:rPr>
                        <a:t>Intermediate Fusion</a:t>
                      </a:r>
                    </a:p>
                  </a:txBody>
                  <a:tcPr>
                    <a:solidFill>
                      <a:srgbClr val="FFFFFF"/>
                    </a:solidFill>
                  </a:tcPr>
                </a:tc>
                <a:tc>
                  <a:txBody>
                    <a:bodyPr/>
                    <a:lstStyle/>
                    <a:p>
                      <a:pPr algn="ctr"/>
                      <a:r>
                        <a:rPr sz="850" b="0">
                          <a:solidFill>
                            <a:srgbClr val="202020"/>
                          </a:solidFill>
                        </a:rPr>
                        <a:t>0.292 (TL B3)</a:t>
                      </a:r>
                    </a:p>
                  </a:txBody>
                  <a:tcPr>
                    <a:solidFill>
                      <a:srgbClr val="FFFFFF"/>
                    </a:solidFill>
                  </a:tcPr>
                </a:tc>
                <a:tc>
                  <a:txBody>
                    <a:bodyPr/>
                    <a:lstStyle/>
                    <a:p>
                      <a:pPr algn="ctr"/>
                      <a:r>
                        <a:rPr sz="850" b="0">
                          <a:solidFill>
                            <a:srgbClr val="202020"/>
                          </a:solidFill>
                        </a:rPr>
                        <a:t>0.521 (TL B3) ★</a:t>
                      </a:r>
                    </a:p>
                  </a:txBody>
                  <a:tcPr>
                    <a:solidFill>
                      <a:srgbClr val="FFFFFF"/>
                    </a:solidFill>
                  </a:tcPr>
                </a:tc>
                <a:tc>
                  <a:txBody>
                    <a:bodyPr/>
                    <a:lstStyle/>
                    <a:p>
                      <a:pPr algn="ctr"/>
                      <a:r>
                        <a:rPr sz="850" b="0">
                          <a:solidFill>
                            <a:srgbClr val="202020"/>
                          </a:solidFill>
                        </a:rPr>
                        <a:t>Feature (~50%)</a:t>
                      </a:r>
                    </a:p>
                  </a:txBody>
                  <a:tcPr>
                    <a:solidFill>
                      <a:srgbClr val="FFFFFF"/>
                    </a:solidFill>
                  </a:tcPr>
                </a:tc>
              </a:tr>
              <a:tr h="320040">
                <a:tc>
                  <a:txBody>
                    <a:bodyPr/>
                    <a:lstStyle/>
                    <a:p>
                      <a:pPr algn="l"/>
                      <a:r>
                        <a:rPr sz="850" b="1">
                          <a:solidFill>
                            <a:srgbClr val="202020"/>
                          </a:solidFill>
                        </a:rPr>
                        <a:t>Late Fusion</a:t>
                      </a:r>
                    </a:p>
                  </a:txBody>
                  <a:tcPr>
                    <a:solidFill>
                      <a:srgbClr val="E6F4EA"/>
                    </a:solidFill>
                  </a:tcPr>
                </a:tc>
                <a:tc>
                  <a:txBody>
                    <a:bodyPr/>
                    <a:lstStyle/>
                    <a:p>
                      <a:pPr algn="ctr"/>
                      <a:r>
                        <a:rPr sz="850" b="0">
                          <a:solidFill>
                            <a:srgbClr val="202020"/>
                          </a:solidFill>
                        </a:rPr>
                        <a:t>0.270 (scratch B1)</a:t>
                      </a:r>
                    </a:p>
                  </a:txBody>
                  <a:tcPr>
                    <a:solidFill>
                      <a:srgbClr val="E6F4EA"/>
                    </a:solidFill>
                  </a:tcPr>
                </a:tc>
                <a:tc>
                  <a:txBody>
                    <a:bodyPr/>
                    <a:lstStyle/>
                    <a:p>
                      <a:pPr algn="ctr"/>
                      <a:r>
                        <a:rPr sz="850" b="0">
                          <a:solidFill>
                            <a:srgbClr val="202020"/>
                          </a:solidFill>
                        </a:rPr>
                        <a:t>0.479 (scratch B2)</a:t>
                      </a:r>
                    </a:p>
                  </a:txBody>
                  <a:tcPr>
                    <a:solidFill>
                      <a:srgbClr val="E6F4EA"/>
                    </a:solidFill>
                  </a:tcPr>
                </a:tc>
                <a:tc>
                  <a:txBody>
                    <a:bodyPr/>
                    <a:lstStyle/>
                    <a:p>
                      <a:pPr algn="ctr"/>
                      <a:r>
                        <a:rPr sz="850" b="0">
                          <a:solidFill>
                            <a:srgbClr val="202020"/>
                          </a:solidFill>
                        </a:rPr>
                        <a:t>Decision (~95%)</a:t>
                      </a:r>
                    </a:p>
                  </a:txBody>
                  <a:tcPr>
                    <a:solidFill>
                      <a:srgbClr val="E6F4EA"/>
                    </a:solidFill>
                  </a:tcPr>
                </a:tc>
              </a:tr>
            </a:tbl>
          </a:graphicData>
        </a:graphic>
      </p:graphicFrame>
      <p:sp>
        <p:nvSpPr>
          <p:cNvPr id="6" name="TextBox 5"/>
          <p:cNvSpPr txBox="1"/>
          <p:nvPr/>
        </p:nvSpPr>
        <p:spPr>
          <a:xfrm>
            <a:off x="274320" y="2880360"/>
            <a:ext cx="8595360" cy="274320"/>
          </a:xfrm>
          <a:prstGeom prst="rect">
            <a:avLst/>
          </a:prstGeom>
          <a:noFill/>
        </p:spPr>
        <p:txBody>
          <a:bodyPr wrap="none">
            <a:spAutoFit/>
          </a:bodyPr>
          <a:lstStyle/>
          <a:p>
            <a:pPr algn="l"/>
            <a:r>
              <a:rPr sz="1100" b="1" i="0">
                <a:solidFill>
                  <a:srgbClr val="202020"/>
                </a:solidFill>
              </a:rPr>
              <a:t>Temuan (32-35)</a:t>
            </a:r>
          </a:p>
        </p:txBody>
      </p:sp>
      <p:sp>
        <p:nvSpPr>
          <p:cNvPr id="7" name="TextBox 6"/>
          <p:cNvSpPr txBox="1"/>
          <p:nvPr/>
        </p:nvSpPr>
        <p:spPr>
          <a:xfrm>
            <a:off x="274320" y="3200400"/>
            <a:ext cx="8595360" cy="658368"/>
          </a:xfrm>
          <a:prstGeom prst="rect">
            <a:avLst/>
          </a:prstGeom>
          <a:solidFill>
            <a:srgbClr val="E6F4EA"/>
          </a:solidFill>
        </p:spPr>
        <p:txBody>
          <a:bodyPr wrap="square">
            <a:spAutoFit/>
          </a:bodyPr>
          <a:lstStyle/>
          <a:p>
            <a:pPr algn="l"/>
            <a:r>
              <a:rPr sz="950" b="1"/>
              <a:t>Temuan 32: Early Fusion TL B3 tembus best di 7-class (0.333)</a:t>
            </a:r>
          </a:p>
          <a:p>
            <a:r>
              <a:rPr sz="900" b="0"/>
              <a:t>Melampaui Intermediate TL B3 (0.292) dan Late Fusion scratch B1 (0.270, val-tuned). Kombinasi heatmap channel + class weights + augmentasi + TL bekerja sinergis untuk skenario kelas banyak + imbalance ekstrem.</a:t>
            </a:r>
          </a:p>
        </p:txBody>
      </p:sp>
      <p:sp>
        <p:nvSpPr>
          <p:cNvPr id="8" name="TextBox 7"/>
          <p:cNvSpPr txBox="1"/>
          <p:nvPr/>
        </p:nvSpPr>
        <p:spPr>
          <a:xfrm>
            <a:off x="274320" y="3931920"/>
            <a:ext cx="8595360" cy="594360"/>
          </a:xfrm>
          <a:prstGeom prst="rect">
            <a:avLst/>
          </a:prstGeom>
          <a:solidFill>
            <a:srgbClr val="FEF7E0"/>
          </a:solidFill>
        </p:spPr>
        <p:txBody>
          <a:bodyPr wrap="square">
            <a:spAutoFit/>
          </a:bodyPr>
          <a:lstStyle/>
          <a:p>
            <a:pPr algn="l"/>
            <a:r>
              <a:rPr sz="900" b="1" i="0">
                <a:solidFill>
                  <a:srgbClr val="B06800"/>
                </a:solidFill>
              </a:rPr>
              <a:t>Temuan 33: Early Fusion 4-class underperforms (0.471 vs 0.521 Intermediate TL)</a:t>
            </a:r>
          </a:p>
          <a:p>
            <a:pPr algn="l"/>
            <a:r>
              <a:rPr sz="850" b="0" i="0">
                <a:solidFill>
                  <a:srgbClr val="202020"/>
                </a:solidFill>
              </a:rPr>
              <a:t>Heatmap sparse (mostly zeros) kurang informatif ketika class granularity dikurangi; fusion di level feature/decision lebih optimal untuk kasus ini.</a:t>
            </a:r>
          </a:p>
        </p:txBody>
      </p:sp>
      <p:sp>
        <p:nvSpPr>
          <p:cNvPr id="9" name="TextBox 8"/>
          <p:cNvSpPr txBox="1"/>
          <p:nvPr/>
        </p:nvSpPr>
        <p:spPr>
          <a:xfrm>
            <a:off x="274320" y="4590288"/>
            <a:ext cx="8595360" cy="594360"/>
          </a:xfrm>
          <a:prstGeom prst="rect">
            <a:avLst/>
          </a:prstGeom>
          <a:solidFill>
            <a:srgbClr val="FCE8E6"/>
          </a:solidFill>
        </p:spPr>
        <p:txBody>
          <a:bodyPr wrap="square">
            <a:spAutoFit/>
          </a:bodyPr>
          <a:lstStyle/>
          <a:p>
            <a:pPr algn="l"/>
            <a:r>
              <a:rPr sz="900" b="1" i="0">
                <a:solidFill>
                  <a:srgbClr val="D93C3C"/>
                </a:solidFill>
              </a:rPr>
              <a:t>Temuan 34: B2 class weights merugikan Early Fusion konsisten</a:t>
            </a:r>
          </a:p>
          <a:p>
            <a:pPr algn="l"/>
            <a:r>
              <a:rPr sz="850" b="0" i="0">
                <a:solidFill>
                  <a:srgbClr val="202020"/>
                </a:solidFill>
              </a:rPr>
              <a:t>B2 drop accuracy ~30% vs B1 di semua Early Fusion config. Re-weighting loss merusak learning saat input 4-channel concat. Intermediate/Late Fusion tetap stabil dengan B2.</a:t>
            </a:r>
          </a:p>
        </p:txBody>
      </p:sp>
      <p:sp>
        <p:nvSpPr>
          <p:cNvPr id="10" name="TextBox 9"/>
          <p:cNvSpPr txBox="1"/>
          <p:nvPr/>
        </p:nvSpPr>
        <p:spPr>
          <a:xfrm>
            <a:off x="274320" y="5248656"/>
            <a:ext cx="8595360" cy="594360"/>
          </a:xfrm>
          <a:prstGeom prst="rect">
            <a:avLst/>
          </a:prstGeom>
          <a:solidFill>
            <a:srgbClr val="E8F0FE"/>
          </a:solidFill>
        </p:spPr>
        <p:txBody>
          <a:bodyPr wrap="square">
            <a:spAutoFit/>
          </a:bodyPr>
          <a:lstStyle/>
          <a:p>
            <a:pPr algn="l"/>
            <a:r>
              <a:rPr sz="950" b="1"/>
              <a:t>Temuan 35: Ranking fusion strategy berbeda per granularitas kelas (val-tuned)</a:t>
            </a:r>
          </a:p>
          <a:p>
            <a:r>
              <a:rPr sz="900" b="0"/>
              <a:t>7-class: Early TL B3 (0.333) &gt; Intermediate TL B3 (0.292) &gt; Late Fusion scratch B1 (0.270). 4-class: Intermediate TL B3 (0.521) &gt; Late Fusion scratch B2 (0.479) &gt; Early TL B1 (0.471). Early Fusion juara di high-granularity, Intermediate juara di low-granularity.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Skema 1 Lengkap — CK+ (+ Late Fusion TL)</a:t>
            </a:r>
          </a:p>
        </p:txBody>
      </p:sp>
      <p:sp>
        <p:nvSpPr>
          <p:cNvPr id="4" name="TextBox 3"/>
          <p:cNvSpPr txBox="1"/>
          <p:nvPr/>
        </p:nvSpPr>
        <p:spPr>
          <a:xfrm>
            <a:off x="274320" y="530352"/>
            <a:ext cx="8595360" cy="411480"/>
          </a:xfrm>
          <a:prstGeom prst="rect">
            <a:avLst/>
          </a:prstGeom>
          <a:solidFill>
            <a:srgbClr val="FEF7E0"/>
          </a:solidFill>
        </p:spPr>
        <p:txBody>
          <a:bodyPr wrap="square">
            <a:spAutoFit/>
          </a:bodyPr>
          <a:lstStyle/>
          <a:p>
            <a:pPr algn="l"/>
            <a:r>
              <a:rPr sz="900" b="1" i="0">
                <a:solidFill>
                  <a:srgbClr val="B06800"/>
                </a:solidFill>
              </a:rPr>
              <a:t>Instruksi dosen: semua 7 model (termasuk Late Fusion TL) × semua metrik Macro/Micro/W-F1/Acc.</a:t>
            </a:r>
          </a:p>
        </p:txBody>
      </p:sp>
      <p:sp>
        <p:nvSpPr>
          <p:cNvPr id="5" name="TextBox 4"/>
          <p:cNvSpPr txBox="1"/>
          <p:nvPr/>
        </p:nvSpPr>
        <p:spPr>
          <a:xfrm>
            <a:off x="274320" y="987552"/>
            <a:ext cx="4206240" cy="201168"/>
          </a:xfrm>
          <a:prstGeom prst="rect">
            <a:avLst/>
          </a:prstGeom>
          <a:noFill/>
        </p:spPr>
        <p:txBody>
          <a:bodyPr wrap="none">
            <a:spAutoFit/>
          </a:bodyPr>
          <a:lstStyle/>
          <a:p>
            <a:pPr algn="l"/>
            <a:r>
              <a:rPr sz="950" b="1" i="0">
                <a:solidFill>
                  <a:srgbClr val="1A73E8"/>
                </a:solidFill>
              </a:rPr>
              <a:t>CK+ 7-Class</a:t>
            </a:r>
          </a:p>
        </p:txBody>
      </p:sp>
      <p:graphicFrame>
        <p:nvGraphicFramePr>
          <p:cNvPr id="6" name="Table 5"/>
          <p:cNvGraphicFramePr>
            <a:graphicFrameLocks noGrp="1"/>
          </p:cNvGraphicFramePr>
          <p:nvPr/>
        </p:nvGraphicFramePr>
        <p:xfrm>
          <a:off x="274320" y="1207008"/>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0.461</a:t>
                      </a:r>
                    </a:p>
                  </a:txBody>
                  <a:tcPr>
                    <a:solidFill>
                      <a:srgbClr val="E8F0FE"/>
                    </a:solidFill>
                  </a:tcPr>
                </a:tc>
                <a:tc>
                  <a:txBody>
                    <a:bodyPr/>
                    <a:lstStyle/>
                    <a:p>
                      <a:pPr algn="ctr"/>
                      <a:r>
                        <a:rPr sz="750" b="0">
                          <a:solidFill>
                            <a:srgbClr val="202020"/>
                          </a:solidFill>
                        </a:rPr>
                        <a:t>0.729</a:t>
                      </a:r>
                    </a:p>
                  </a:txBody>
                  <a:tcPr>
                    <a:solidFill>
                      <a:srgbClr val="E8F0FE"/>
                    </a:solidFill>
                  </a:tcPr>
                </a:tc>
                <a:tc>
                  <a:txBody>
                    <a:bodyPr/>
                    <a:lstStyle/>
                    <a:p>
                      <a:pPr algn="ctr"/>
                      <a:r>
                        <a:rPr sz="750" b="0">
                          <a:solidFill>
                            <a:srgbClr val="202020"/>
                          </a:solidFill>
                        </a:rPr>
                        <a:t>0.659</a:t>
                      </a:r>
                    </a:p>
                  </a:txBody>
                  <a:tcPr>
                    <a:solidFill>
                      <a:srgbClr val="E8F0FE"/>
                    </a:solidFill>
                  </a:tcPr>
                </a:tc>
                <a:tc>
                  <a:txBody>
                    <a:bodyPr/>
                    <a:lstStyle/>
                    <a:p>
                      <a:pPr algn="ctr"/>
                      <a:r>
                        <a:rPr sz="750" b="0">
                          <a:solidFill>
                            <a:srgbClr val="202020"/>
                          </a:solidFill>
                        </a:rPr>
                        <a:t>0.729</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0.395</a:t>
                      </a:r>
                    </a:p>
                  </a:txBody>
                  <a:tcPr>
                    <a:solidFill>
                      <a:srgbClr val="FFFFFF"/>
                    </a:solidFill>
                  </a:tcPr>
                </a:tc>
                <a:tc>
                  <a:txBody>
                    <a:bodyPr/>
                    <a:lstStyle/>
                    <a:p>
                      <a:pPr algn="ctr"/>
                      <a:r>
                        <a:rPr sz="750" b="0">
                          <a:solidFill>
                            <a:srgbClr val="202020"/>
                          </a:solidFill>
                        </a:rPr>
                        <a:t>0.678</a:t>
                      </a:r>
                    </a:p>
                  </a:txBody>
                  <a:tcPr>
                    <a:solidFill>
                      <a:srgbClr val="FFFFFF"/>
                    </a:solidFill>
                  </a:tcPr>
                </a:tc>
                <a:tc>
                  <a:txBody>
                    <a:bodyPr/>
                    <a:lstStyle/>
                    <a:p>
                      <a:pPr algn="ctr"/>
                      <a:r>
                        <a:rPr sz="750" b="0">
                          <a:solidFill>
                            <a:srgbClr val="202020"/>
                          </a:solidFill>
                        </a:rPr>
                        <a:t>0.614</a:t>
                      </a:r>
                    </a:p>
                  </a:txBody>
                  <a:tcPr>
                    <a:solidFill>
                      <a:srgbClr val="FFFFFF"/>
                    </a:solidFill>
                  </a:tcPr>
                </a:tc>
                <a:tc>
                  <a:txBody>
                    <a:bodyPr/>
                    <a:lstStyle/>
                    <a:p>
                      <a:pPr algn="ctr"/>
                      <a:r>
                        <a:rPr sz="750" b="0">
                          <a:solidFill>
                            <a:srgbClr val="202020"/>
                          </a:solidFill>
                        </a:rPr>
                        <a:t>0.678</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0.316</a:t>
                      </a:r>
                    </a:p>
                  </a:txBody>
                  <a:tcPr>
                    <a:solidFill>
                      <a:srgbClr val="E8F0FE"/>
                    </a:solidFill>
                  </a:tcPr>
                </a:tc>
                <a:tc>
                  <a:txBody>
                    <a:bodyPr/>
                    <a:lstStyle/>
                    <a:p>
                      <a:pPr algn="ctr"/>
                      <a:r>
                        <a:rPr sz="750" b="0">
                          <a:solidFill>
                            <a:srgbClr val="202020"/>
                          </a:solidFill>
                        </a:rPr>
                        <a:t>0.695</a:t>
                      </a:r>
                    </a:p>
                  </a:txBody>
                  <a:tcPr>
                    <a:solidFill>
                      <a:srgbClr val="E8F0FE"/>
                    </a:solidFill>
                  </a:tcPr>
                </a:tc>
                <a:tc>
                  <a:txBody>
                    <a:bodyPr/>
                    <a:lstStyle/>
                    <a:p>
                      <a:pPr algn="ctr"/>
                      <a:r>
                        <a:rPr sz="750" b="0">
                          <a:solidFill>
                            <a:srgbClr val="202020"/>
                          </a:solidFill>
                        </a:rPr>
                        <a:t>0.585</a:t>
                      </a:r>
                    </a:p>
                  </a:txBody>
                  <a:tcPr>
                    <a:solidFill>
                      <a:srgbClr val="E8F0FE"/>
                    </a:solidFill>
                  </a:tcPr>
                </a:tc>
                <a:tc>
                  <a:txBody>
                    <a:bodyPr/>
                    <a:lstStyle/>
                    <a:p>
                      <a:pPr algn="ctr"/>
                      <a:r>
                        <a:rPr sz="750" b="0">
                          <a:solidFill>
                            <a:srgbClr val="202020"/>
                          </a:solidFill>
                        </a:rPr>
                        <a:t>0.695</a:t>
                      </a:r>
                    </a:p>
                  </a:txBody>
                  <a:tcPr>
                    <a:solidFill>
                      <a:srgbClr val="E8F0FE"/>
                    </a:solidFill>
                  </a:tcPr>
                </a:tc>
              </a:tr>
              <a:tr h="285750">
                <a:tc>
                  <a:txBody>
                    <a:bodyPr/>
                    <a:lstStyle/>
                    <a:p>
                      <a:pPr algn="l"/>
                      <a:r>
                        <a:rPr sz="750" b="1">
                          <a:solidFill>
                            <a:srgbClr val="202020"/>
                          </a:solidFill>
                        </a:rPr>
                        <a:t>CNN TL</a:t>
                      </a:r>
                    </a:p>
                  </a:txBody>
                  <a:tcPr>
                    <a:solidFill>
                      <a:srgbClr val="E6F4EA"/>
                    </a:solidFill>
                  </a:tcPr>
                </a:tc>
                <a:tc>
                  <a:txBody>
                    <a:bodyPr/>
                    <a:lstStyle/>
                    <a:p>
                      <a:pPr algn="ctr"/>
                      <a:r>
                        <a:rPr sz="750" b="0">
                          <a:solidFill>
                            <a:srgbClr val="202020"/>
                          </a:solidFill>
                        </a:rPr>
                        <a:t>0.913</a:t>
                      </a:r>
                    </a:p>
                  </a:txBody>
                  <a:tcPr>
                    <a:solidFill>
                      <a:srgbClr val="E6F4EA"/>
                    </a:solidFill>
                  </a:tcPr>
                </a:tc>
                <a:tc>
                  <a:txBody>
                    <a:bodyPr/>
                    <a:lstStyle/>
                    <a:p>
                      <a:pPr algn="ctr"/>
                      <a:r>
                        <a:rPr sz="750" b="0">
                          <a:solidFill>
                            <a:srgbClr val="202020"/>
                          </a:solidFill>
                        </a:rPr>
                        <a:t>0.949</a:t>
                      </a:r>
                    </a:p>
                  </a:txBody>
                  <a:tcPr>
                    <a:solidFill>
                      <a:srgbClr val="E6F4EA"/>
                    </a:solidFill>
                  </a:tcPr>
                </a:tc>
                <a:tc>
                  <a:txBody>
                    <a:bodyPr/>
                    <a:lstStyle/>
                    <a:p>
                      <a:pPr algn="ctr"/>
                      <a:r>
                        <a:rPr sz="750" b="0">
                          <a:solidFill>
                            <a:srgbClr val="202020"/>
                          </a:solidFill>
                        </a:rPr>
                        <a:t>0.946</a:t>
                      </a:r>
                    </a:p>
                  </a:txBody>
                  <a:tcPr>
                    <a:solidFill>
                      <a:srgbClr val="E6F4EA"/>
                    </a:solidFill>
                  </a:tcPr>
                </a:tc>
                <a:tc>
                  <a:txBody>
                    <a:bodyPr/>
                    <a:lstStyle/>
                    <a:p>
                      <a:pPr algn="ctr"/>
                      <a:r>
                        <a:rPr sz="750" b="0">
                          <a:solidFill>
                            <a:srgbClr val="202020"/>
                          </a:solidFill>
                        </a:rPr>
                        <a:t>0.949</a:t>
                      </a:r>
                    </a:p>
                  </a:txBody>
                  <a:tcPr>
                    <a:solidFill>
                      <a:srgbClr val="E6F4EA"/>
                    </a:solidFill>
                  </a:tcPr>
                </a:tc>
              </a:tr>
              <a:tr h="285750">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0.833</a:t>
                      </a:r>
                    </a:p>
                  </a:txBody>
                  <a:tcPr>
                    <a:solidFill>
                      <a:srgbClr val="E8F0FE"/>
                    </a:solidFill>
                  </a:tcPr>
                </a:tc>
                <a:tc>
                  <a:txBody>
                    <a:bodyPr/>
                    <a:lstStyle/>
                    <a:p>
                      <a:pPr algn="ctr"/>
                      <a:r>
                        <a:rPr sz="750" b="0">
                          <a:solidFill>
                            <a:srgbClr val="202020"/>
                          </a:solidFill>
                        </a:rPr>
                        <a:t>0.881</a:t>
                      </a:r>
                    </a:p>
                  </a:txBody>
                  <a:tcPr>
                    <a:solidFill>
                      <a:srgbClr val="E8F0FE"/>
                    </a:solidFill>
                  </a:tcPr>
                </a:tc>
                <a:tc>
                  <a:txBody>
                    <a:bodyPr/>
                    <a:lstStyle/>
                    <a:p>
                      <a:pPr algn="ctr"/>
                      <a:r>
                        <a:rPr sz="750" b="0">
                          <a:solidFill>
                            <a:srgbClr val="202020"/>
                          </a:solidFill>
                        </a:rPr>
                        <a:t>0.886</a:t>
                      </a:r>
                    </a:p>
                  </a:txBody>
                  <a:tcPr>
                    <a:solidFill>
                      <a:srgbClr val="E8F0FE"/>
                    </a:solidFill>
                  </a:tcPr>
                </a:tc>
                <a:tc>
                  <a:txBody>
                    <a:bodyPr/>
                    <a:lstStyle/>
                    <a:p>
                      <a:pPr algn="ctr"/>
                      <a:r>
                        <a:rPr sz="750" b="0">
                          <a:solidFill>
                            <a:srgbClr val="202020"/>
                          </a:solidFill>
                        </a:rPr>
                        <a:t>0.881</a:t>
                      </a:r>
                    </a:p>
                  </a:txBody>
                  <a:tcPr>
                    <a:solidFill>
                      <a:srgbClr val="E8F0FE"/>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0.494</a:t>
                      </a:r>
                    </a:p>
                  </a:txBody>
                  <a:tcPr>
                    <a:solidFill>
                      <a:srgbClr val="FFFFFF"/>
                    </a:solidFill>
                  </a:tcPr>
                </a:tc>
                <a:tc>
                  <a:txBody>
                    <a:bodyPr/>
                    <a:lstStyle/>
                    <a:p>
                      <a:pPr algn="ctr"/>
                      <a:r>
                        <a:rPr sz="750" b="0">
                          <a:solidFill>
                            <a:srgbClr val="202020"/>
                          </a:solidFill>
                        </a:rPr>
                        <a:t>0.780</a:t>
                      </a:r>
                    </a:p>
                  </a:txBody>
                  <a:tcPr>
                    <a:solidFill>
                      <a:srgbClr val="FFFFFF"/>
                    </a:solidFill>
                  </a:tcPr>
                </a:tc>
                <a:tc>
                  <a:txBody>
                    <a:bodyPr/>
                    <a:lstStyle/>
                    <a:p>
                      <a:pPr algn="ctr"/>
                      <a:r>
                        <a:rPr sz="750" b="0">
                          <a:solidFill>
                            <a:srgbClr val="202020"/>
                          </a:solidFill>
                        </a:rPr>
                        <a:t>0.691</a:t>
                      </a:r>
                    </a:p>
                  </a:txBody>
                  <a:tcPr>
                    <a:solidFill>
                      <a:srgbClr val="FFFFFF"/>
                    </a:solidFill>
                  </a:tcPr>
                </a:tc>
                <a:tc>
                  <a:txBody>
                    <a:bodyPr/>
                    <a:lstStyle/>
                    <a:p>
                      <a:pPr algn="ctr"/>
                      <a:r>
                        <a:rPr sz="750" b="0">
                          <a:solidFill>
                            <a:srgbClr val="202020"/>
                          </a:solidFill>
                        </a:rPr>
                        <a:t>0.780</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0.835</a:t>
                      </a:r>
                    </a:p>
                  </a:txBody>
                  <a:tcPr>
                    <a:solidFill>
                      <a:srgbClr val="E8F0FE"/>
                    </a:solidFill>
                  </a:tcPr>
                </a:tc>
                <a:tc>
                  <a:txBody>
                    <a:bodyPr/>
                    <a:lstStyle/>
                    <a:p>
                      <a:pPr algn="ctr"/>
                      <a:r>
                        <a:rPr sz="750" b="0">
                          <a:solidFill>
                            <a:srgbClr val="202020"/>
                          </a:solidFill>
                        </a:rPr>
                        <a:t>0.881</a:t>
                      </a:r>
                    </a:p>
                  </a:txBody>
                  <a:tcPr>
                    <a:solidFill>
                      <a:srgbClr val="E8F0FE"/>
                    </a:solidFill>
                  </a:tcPr>
                </a:tc>
                <a:tc>
                  <a:txBody>
                    <a:bodyPr/>
                    <a:lstStyle/>
                    <a:p>
                      <a:pPr algn="ctr"/>
                      <a:r>
                        <a:rPr sz="750" b="0">
                          <a:solidFill>
                            <a:srgbClr val="202020"/>
                          </a:solidFill>
                        </a:rPr>
                        <a:t>0.890</a:t>
                      </a:r>
                    </a:p>
                  </a:txBody>
                  <a:tcPr>
                    <a:solidFill>
                      <a:srgbClr val="E8F0FE"/>
                    </a:solidFill>
                  </a:tcPr>
                </a:tc>
                <a:tc>
                  <a:txBody>
                    <a:bodyPr/>
                    <a:lstStyle/>
                    <a:p>
                      <a:pPr algn="ctr"/>
                      <a:r>
                        <a:rPr sz="750" b="0">
                          <a:solidFill>
                            <a:srgbClr val="202020"/>
                          </a:solidFill>
                        </a:rPr>
                        <a:t>0.881</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0.446</a:t>
                      </a:r>
                    </a:p>
                  </a:txBody>
                  <a:tcPr>
                    <a:solidFill>
                      <a:srgbClr val="E8F0FE"/>
                    </a:solidFill>
                  </a:tcPr>
                </a:tc>
                <a:tc>
                  <a:txBody>
                    <a:bodyPr/>
                    <a:lstStyle/>
                    <a:p>
                      <a:pPr algn="ctr"/>
                      <a:r>
                        <a:rPr sz="750" b="0">
                          <a:solidFill>
                            <a:srgbClr val="202020"/>
                          </a:solidFill>
                        </a:rPr>
                        <a:t>0.695</a:t>
                      </a:r>
                    </a:p>
                  </a:txBody>
                  <a:tcPr>
                    <a:solidFill>
                      <a:srgbClr val="E8F0FE"/>
                    </a:solidFill>
                  </a:tcPr>
                </a:tc>
                <a:tc>
                  <a:txBody>
                    <a:bodyPr/>
                    <a:lstStyle/>
                    <a:p>
                      <a:pPr algn="ctr"/>
                      <a:r>
                        <a:rPr sz="750" b="0">
                          <a:solidFill>
                            <a:srgbClr val="202020"/>
                          </a:solidFill>
                        </a:rPr>
                        <a:t>0.665</a:t>
                      </a:r>
                    </a:p>
                  </a:txBody>
                  <a:tcPr>
                    <a:solidFill>
                      <a:srgbClr val="E8F0FE"/>
                    </a:solidFill>
                  </a:tcPr>
                </a:tc>
                <a:tc>
                  <a:txBody>
                    <a:bodyPr/>
                    <a:lstStyle/>
                    <a:p>
                      <a:pPr algn="ctr"/>
                      <a:r>
                        <a:rPr sz="750" b="0">
                          <a:solidFill>
                            <a:srgbClr val="202020"/>
                          </a:solidFill>
                        </a:rPr>
                        <a:t>0.695</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0.762</a:t>
                      </a:r>
                    </a:p>
                  </a:txBody>
                  <a:tcPr>
                    <a:solidFill>
                      <a:srgbClr val="E8F0FE"/>
                    </a:solidFill>
                  </a:tcPr>
                </a:tc>
                <a:tc>
                  <a:txBody>
                    <a:bodyPr/>
                    <a:lstStyle/>
                    <a:p>
                      <a:pPr algn="ctr"/>
                      <a:r>
                        <a:rPr sz="750" b="0">
                          <a:solidFill>
                            <a:srgbClr val="202020"/>
                          </a:solidFill>
                        </a:rPr>
                        <a:t>0.847</a:t>
                      </a:r>
                    </a:p>
                  </a:txBody>
                  <a:tcPr>
                    <a:solidFill>
                      <a:srgbClr val="E8F0FE"/>
                    </a:solidFill>
                  </a:tcPr>
                </a:tc>
                <a:tc>
                  <a:txBody>
                    <a:bodyPr/>
                    <a:lstStyle/>
                    <a:p>
                      <a:pPr algn="ctr"/>
                      <a:r>
                        <a:rPr sz="750" b="0">
                          <a:solidFill>
                            <a:srgbClr val="202020"/>
                          </a:solidFill>
                        </a:rPr>
                        <a:t>0.847</a:t>
                      </a:r>
                    </a:p>
                  </a:txBody>
                  <a:tcPr>
                    <a:solidFill>
                      <a:srgbClr val="E8F0FE"/>
                    </a:solidFill>
                  </a:tcPr>
                </a:tc>
                <a:tc>
                  <a:txBody>
                    <a:bodyPr/>
                    <a:lstStyle/>
                    <a:p>
                      <a:pPr algn="ctr"/>
                      <a:r>
                        <a:rPr sz="750" b="0">
                          <a:solidFill>
                            <a:srgbClr val="202020"/>
                          </a:solidFill>
                        </a:rPr>
                        <a:t>0.847</a:t>
                      </a:r>
                    </a:p>
                  </a:txBody>
                  <a:tcPr>
                    <a:solidFill>
                      <a:srgbClr val="E8F0FE"/>
                    </a:solidFill>
                  </a:tcPr>
                </a:tc>
              </a:tr>
            </a:tbl>
          </a:graphicData>
        </a:graphic>
      </p:graphicFrame>
      <p:sp>
        <p:nvSpPr>
          <p:cNvPr id="7" name="TextBox 6"/>
          <p:cNvSpPr txBox="1"/>
          <p:nvPr/>
        </p:nvSpPr>
        <p:spPr>
          <a:xfrm>
            <a:off x="4617720" y="987552"/>
            <a:ext cx="4206240" cy="201168"/>
          </a:xfrm>
          <a:prstGeom prst="rect">
            <a:avLst/>
          </a:prstGeom>
          <a:noFill/>
        </p:spPr>
        <p:txBody>
          <a:bodyPr wrap="none">
            <a:spAutoFit/>
          </a:bodyPr>
          <a:lstStyle/>
          <a:p>
            <a:pPr algn="l"/>
            <a:r>
              <a:rPr sz="950" b="1" i="0">
                <a:solidFill>
                  <a:srgbClr val="1A73E8"/>
                </a:solidFill>
              </a:rPr>
              <a:t>CK+ 4-Class</a:t>
            </a:r>
          </a:p>
        </p:txBody>
      </p:sp>
      <p:graphicFrame>
        <p:nvGraphicFramePr>
          <p:cNvPr id="8" name="Table 7"/>
          <p:cNvGraphicFramePr>
            <a:graphicFrameLocks noGrp="1"/>
          </p:cNvGraphicFramePr>
          <p:nvPr/>
        </p:nvGraphicFramePr>
        <p:xfrm>
          <a:off x="4617720" y="1207008"/>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0.645</a:t>
                      </a:r>
                    </a:p>
                  </a:txBody>
                  <a:tcPr>
                    <a:solidFill>
                      <a:srgbClr val="E8F0FE"/>
                    </a:solidFill>
                  </a:tcPr>
                </a:tc>
                <a:tc>
                  <a:txBody>
                    <a:bodyPr/>
                    <a:lstStyle/>
                    <a:p>
                      <a:pPr algn="ctr"/>
                      <a:r>
                        <a:rPr sz="750" b="0">
                          <a:solidFill>
                            <a:srgbClr val="202020"/>
                          </a:solidFill>
                        </a:rPr>
                        <a:t>0.790</a:t>
                      </a:r>
                    </a:p>
                  </a:txBody>
                  <a:tcPr>
                    <a:solidFill>
                      <a:srgbClr val="E8F0FE"/>
                    </a:solidFill>
                  </a:tcPr>
                </a:tc>
                <a:tc>
                  <a:txBody>
                    <a:bodyPr/>
                    <a:lstStyle/>
                    <a:p>
                      <a:pPr algn="ctr"/>
                      <a:r>
                        <a:rPr sz="750" b="0">
                          <a:solidFill>
                            <a:srgbClr val="202020"/>
                          </a:solidFill>
                        </a:rPr>
                        <a:t>0.776</a:t>
                      </a:r>
                    </a:p>
                  </a:txBody>
                  <a:tcPr>
                    <a:solidFill>
                      <a:srgbClr val="E8F0FE"/>
                    </a:solidFill>
                  </a:tcPr>
                </a:tc>
                <a:tc>
                  <a:txBody>
                    <a:bodyPr/>
                    <a:lstStyle/>
                    <a:p>
                      <a:pPr algn="ctr"/>
                      <a:r>
                        <a:rPr sz="750" b="0">
                          <a:solidFill>
                            <a:srgbClr val="202020"/>
                          </a:solidFill>
                        </a:rPr>
                        <a:t>0.790</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0.592</a:t>
                      </a:r>
                    </a:p>
                  </a:txBody>
                  <a:tcPr>
                    <a:solidFill>
                      <a:srgbClr val="FFFFFF"/>
                    </a:solidFill>
                  </a:tcPr>
                </a:tc>
                <a:tc>
                  <a:txBody>
                    <a:bodyPr/>
                    <a:lstStyle/>
                    <a:p>
                      <a:pPr algn="ctr"/>
                      <a:r>
                        <a:rPr sz="750" b="0">
                          <a:solidFill>
                            <a:srgbClr val="202020"/>
                          </a:solidFill>
                        </a:rPr>
                        <a:t>0.758</a:t>
                      </a:r>
                    </a:p>
                  </a:txBody>
                  <a:tcPr>
                    <a:solidFill>
                      <a:srgbClr val="FFFFFF"/>
                    </a:solidFill>
                  </a:tcPr>
                </a:tc>
                <a:tc>
                  <a:txBody>
                    <a:bodyPr/>
                    <a:lstStyle/>
                    <a:p>
                      <a:pPr algn="ctr"/>
                      <a:r>
                        <a:rPr sz="750" b="0">
                          <a:solidFill>
                            <a:srgbClr val="202020"/>
                          </a:solidFill>
                        </a:rPr>
                        <a:t>0.740</a:t>
                      </a:r>
                    </a:p>
                  </a:txBody>
                  <a:tcPr>
                    <a:solidFill>
                      <a:srgbClr val="FFFFFF"/>
                    </a:solidFill>
                  </a:tcPr>
                </a:tc>
                <a:tc>
                  <a:txBody>
                    <a:bodyPr/>
                    <a:lstStyle/>
                    <a:p>
                      <a:pPr algn="ctr"/>
                      <a:r>
                        <a:rPr sz="750" b="0">
                          <a:solidFill>
                            <a:srgbClr val="202020"/>
                          </a:solidFill>
                        </a:rPr>
                        <a:t>0.758</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0.567</a:t>
                      </a:r>
                    </a:p>
                  </a:txBody>
                  <a:tcPr>
                    <a:solidFill>
                      <a:srgbClr val="E8F0FE"/>
                    </a:solidFill>
                  </a:tcPr>
                </a:tc>
                <a:tc>
                  <a:txBody>
                    <a:bodyPr/>
                    <a:lstStyle/>
                    <a:p>
                      <a:pPr algn="ctr"/>
                      <a:r>
                        <a:rPr sz="750" b="0">
                          <a:solidFill>
                            <a:srgbClr val="202020"/>
                          </a:solidFill>
                        </a:rPr>
                        <a:t>0.758</a:t>
                      </a:r>
                    </a:p>
                  </a:txBody>
                  <a:tcPr>
                    <a:solidFill>
                      <a:srgbClr val="E8F0FE"/>
                    </a:solidFill>
                  </a:tcPr>
                </a:tc>
                <a:tc>
                  <a:txBody>
                    <a:bodyPr/>
                    <a:lstStyle/>
                    <a:p>
                      <a:pPr algn="ctr"/>
                      <a:r>
                        <a:rPr sz="750" b="0">
                          <a:solidFill>
                            <a:srgbClr val="202020"/>
                          </a:solidFill>
                        </a:rPr>
                        <a:t>0.740</a:t>
                      </a:r>
                    </a:p>
                  </a:txBody>
                  <a:tcPr>
                    <a:solidFill>
                      <a:srgbClr val="E8F0FE"/>
                    </a:solidFill>
                  </a:tcPr>
                </a:tc>
                <a:tc>
                  <a:txBody>
                    <a:bodyPr/>
                    <a:lstStyle/>
                    <a:p>
                      <a:pPr algn="ctr"/>
                      <a:r>
                        <a:rPr sz="750" b="0">
                          <a:solidFill>
                            <a:srgbClr val="202020"/>
                          </a:solidFill>
                        </a:rPr>
                        <a:t>0.758</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0.675</a:t>
                      </a:r>
                    </a:p>
                  </a:txBody>
                  <a:tcPr>
                    <a:solidFill>
                      <a:srgbClr val="FFFFFF"/>
                    </a:solidFill>
                  </a:tcPr>
                </a:tc>
                <a:tc>
                  <a:txBody>
                    <a:bodyPr/>
                    <a:lstStyle/>
                    <a:p>
                      <a:pPr algn="ctr"/>
                      <a:r>
                        <a:rPr sz="750" b="0">
                          <a:solidFill>
                            <a:srgbClr val="202020"/>
                          </a:solidFill>
                        </a:rPr>
                        <a:t>0.903</a:t>
                      </a:r>
                    </a:p>
                  </a:txBody>
                  <a:tcPr>
                    <a:solidFill>
                      <a:srgbClr val="FFFFFF"/>
                    </a:solidFill>
                  </a:tcPr>
                </a:tc>
                <a:tc>
                  <a:txBody>
                    <a:bodyPr/>
                    <a:lstStyle/>
                    <a:p>
                      <a:pPr algn="ctr"/>
                      <a:r>
                        <a:rPr sz="750" b="0">
                          <a:solidFill>
                            <a:srgbClr val="202020"/>
                          </a:solidFill>
                        </a:rPr>
                        <a:t>0.890</a:t>
                      </a:r>
                    </a:p>
                  </a:txBody>
                  <a:tcPr>
                    <a:solidFill>
                      <a:srgbClr val="FFFFFF"/>
                    </a:solidFill>
                  </a:tcPr>
                </a:tc>
                <a:tc>
                  <a:txBody>
                    <a:bodyPr/>
                    <a:lstStyle/>
                    <a:p>
                      <a:pPr algn="ctr"/>
                      <a:r>
                        <a:rPr sz="750" b="0">
                          <a:solidFill>
                            <a:srgbClr val="202020"/>
                          </a:solidFill>
                        </a:rPr>
                        <a:t>0.903</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0.837</a:t>
                      </a:r>
                    </a:p>
                  </a:txBody>
                  <a:tcPr>
                    <a:solidFill>
                      <a:srgbClr val="E6F4EA"/>
                    </a:solidFill>
                  </a:tcPr>
                </a:tc>
                <a:tc>
                  <a:txBody>
                    <a:bodyPr/>
                    <a:lstStyle/>
                    <a:p>
                      <a:pPr algn="ctr"/>
                      <a:r>
                        <a:rPr sz="750" b="0">
                          <a:solidFill>
                            <a:srgbClr val="202020"/>
                          </a:solidFill>
                        </a:rPr>
                        <a:t>0.903</a:t>
                      </a:r>
                    </a:p>
                  </a:txBody>
                  <a:tcPr>
                    <a:solidFill>
                      <a:srgbClr val="E6F4EA"/>
                    </a:solidFill>
                  </a:tcPr>
                </a:tc>
                <a:tc>
                  <a:txBody>
                    <a:bodyPr/>
                    <a:lstStyle/>
                    <a:p>
                      <a:pPr algn="ctr"/>
                      <a:r>
                        <a:rPr sz="750" b="0">
                          <a:solidFill>
                            <a:srgbClr val="202020"/>
                          </a:solidFill>
                        </a:rPr>
                        <a:t>0.902</a:t>
                      </a:r>
                    </a:p>
                  </a:txBody>
                  <a:tcPr>
                    <a:solidFill>
                      <a:srgbClr val="E6F4EA"/>
                    </a:solidFill>
                  </a:tcPr>
                </a:tc>
                <a:tc>
                  <a:txBody>
                    <a:bodyPr/>
                    <a:lstStyle/>
                    <a:p>
                      <a:pPr algn="ctr"/>
                      <a:r>
                        <a:rPr sz="750" b="0">
                          <a:solidFill>
                            <a:srgbClr val="202020"/>
                          </a:solidFill>
                        </a:rPr>
                        <a:t>0.903</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0.537</a:t>
                      </a:r>
                    </a:p>
                  </a:txBody>
                  <a:tcPr>
                    <a:solidFill>
                      <a:srgbClr val="FFFFFF"/>
                    </a:solidFill>
                  </a:tcPr>
                </a:tc>
                <a:tc>
                  <a:txBody>
                    <a:bodyPr/>
                    <a:lstStyle/>
                    <a:p>
                      <a:pPr algn="ctr"/>
                      <a:r>
                        <a:rPr sz="750" b="0">
                          <a:solidFill>
                            <a:srgbClr val="202020"/>
                          </a:solidFill>
                        </a:rPr>
                        <a:t>0.694</a:t>
                      </a:r>
                    </a:p>
                  </a:txBody>
                  <a:tcPr>
                    <a:solidFill>
                      <a:srgbClr val="FFFFFF"/>
                    </a:solidFill>
                  </a:tcPr>
                </a:tc>
                <a:tc>
                  <a:txBody>
                    <a:bodyPr/>
                    <a:lstStyle/>
                    <a:p>
                      <a:pPr algn="ctr"/>
                      <a:r>
                        <a:rPr sz="750" b="0">
                          <a:solidFill>
                            <a:srgbClr val="202020"/>
                          </a:solidFill>
                        </a:rPr>
                        <a:t>0.681</a:t>
                      </a:r>
                    </a:p>
                  </a:txBody>
                  <a:tcPr>
                    <a:solidFill>
                      <a:srgbClr val="FFFFFF"/>
                    </a:solidFill>
                  </a:tcPr>
                </a:tc>
                <a:tc>
                  <a:txBody>
                    <a:bodyPr/>
                    <a:lstStyle/>
                    <a:p>
                      <a:pPr algn="ctr"/>
                      <a:r>
                        <a:rPr sz="750" b="0">
                          <a:solidFill>
                            <a:srgbClr val="202020"/>
                          </a:solidFill>
                        </a:rPr>
                        <a:t>0.694</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0.604</a:t>
                      </a:r>
                    </a:p>
                  </a:txBody>
                  <a:tcPr>
                    <a:solidFill>
                      <a:srgbClr val="E8F0FE"/>
                    </a:solidFill>
                  </a:tcPr>
                </a:tc>
                <a:tc>
                  <a:txBody>
                    <a:bodyPr/>
                    <a:lstStyle/>
                    <a:p>
                      <a:pPr algn="ctr"/>
                      <a:r>
                        <a:rPr sz="750" b="0">
                          <a:solidFill>
                            <a:srgbClr val="202020"/>
                          </a:solidFill>
                        </a:rPr>
                        <a:t>0.806</a:t>
                      </a:r>
                    </a:p>
                  </a:txBody>
                  <a:tcPr>
                    <a:solidFill>
                      <a:srgbClr val="E8F0FE"/>
                    </a:solidFill>
                  </a:tcPr>
                </a:tc>
                <a:tc>
                  <a:txBody>
                    <a:bodyPr/>
                    <a:lstStyle/>
                    <a:p>
                      <a:pPr algn="ctr"/>
                      <a:r>
                        <a:rPr sz="750" b="0">
                          <a:solidFill>
                            <a:srgbClr val="202020"/>
                          </a:solidFill>
                        </a:rPr>
                        <a:t>0.803</a:t>
                      </a:r>
                    </a:p>
                  </a:txBody>
                  <a:tcPr>
                    <a:solidFill>
                      <a:srgbClr val="E8F0FE"/>
                    </a:solidFill>
                  </a:tcPr>
                </a:tc>
                <a:tc>
                  <a:txBody>
                    <a:bodyPr/>
                    <a:lstStyle/>
                    <a:p>
                      <a:pPr algn="ctr"/>
                      <a:r>
                        <a:rPr sz="750" b="0">
                          <a:solidFill>
                            <a:srgbClr val="202020"/>
                          </a:solidFill>
                        </a:rPr>
                        <a:t>0.806</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0.507</a:t>
                      </a:r>
                    </a:p>
                  </a:txBody>
                  <a:tcPr>
                    <a:solidFill>
                      <a:srgbClr val="E8F0FE"/>
                    </a:solidFill>
                  </a:tcPr>
                </a:tc>
                <a:tc>
                  <a:txBody>
                    <a:bodyPr/>
                    <a:lstStyle/>
                    <a:p>
                      <a:pPr algn="ctr"/>
                      <a:r>
                        <a:rPr sz="750" b="0">
                          <a:solidFill>
                            <a:srgbClr val="202020"/>
                          </a:solidFill>
                        </a:rPr>
                        <a:t>0.694</a:t>
                      </a:r>
                    </a:p>
                  </a:txBody>
                  <a:tcPr>
                    <a:solidFill>
                      <a:srgbClr val="E8F0FE"/>
                    </a:solidFill>
                  </a:tcPr>
                </a:tc>
                <a:tc>
                  <a:txBody>
                    <a:bodyPr/>
                    <a:lstStyle/>
                    <a:p>
                      <a:pPr algn="ctr"/>
                      <a:r>
                        <a:rPr sz="750" b="0">
                          <a:solidFill>
                            <a:srgbClr val="202020"/>
                          </a:solidFill>
                        </a:rPr>
                        <a:t>0.667</a:t>
                      </a:r>
                    </a:p>
                  </a:txBody>
                  <a:tcPr>
                    <a:solidFill>
                      <a:srgbClr val="E8F0FE"/>
                    </a:solidFill>
                  </a:tcPr>
                </a:tc>
                <a:tc>
                  <a:txBody>
                    <a:bodyPr/>
                    <a:lstStyle/>
                    <a:p>
                      <a:pPr algn="ctr"/>
                      <a:r>
                        <a:rPr sz="750" b="0">
                          <a:solidFill>
                            <a:srgbClr val="202020"/>
                          </a:solidFill>
                        </a:rPr>
                        <a:t>0.694</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0.795</a:t>
                      </a:r>
                    </a:p>
                  </a:txBody>
                  <a:tcPr>
                    <a:solidFill>
                      <a:srgbClr val="E8F0FE"/>
                    </a:solidFill>
                  </a:tcPr>
                </a:tc>
                <a:tc>
                  <a:txBody>
                    <a:bodyPr/>
                    <a:lstStyle/>
                    <a:p>
                      <a:pPr algn="ctr"/>
                      <a:r>
                        <a:rPr sz="750" b="0">
                          <a:solidFill>
                            <a:srgbClr val="202020"/>
                          </a:solidFill>
                        </a:rPr>
                        <a:t>0.871</a:t>
                      </a:r>
                    </a:p>
                  </a:txBody>
                  <a:tcPr>
                    <a:solidFill>
                      <a:srgbClr val="E8F0FE"/>
                    </a:solidFill>
                  </a:tcPr>
                </a:tc>
                <a:tc>
                  <a:txBody>
                    <a:bodyPr/>
                    <a:lstStyle/>
                    <a:p>
                      <a:pPr algn="ctr"/>
                      <a:r>
                        <a:rPr sz="750" b="0">
                          <a:solidFill>
                            <a:srgbClr val="202020"/>
                          </a:solidFill>
                        </a:rPr>
                        <a:t>0.872</a:t>
                      </a:r>
                    </a:p>
                  </a:txBody>
                  <a:tcPr>
                    <a:solidFill>
                      <a:srgbClr val="E8F0FE"/>
                    </a:solidFill>
                  </a:tcPr>
                </a:tc>
                <a:tc>
                  <a:txBody>
                    <a:bodyPr/>
                    <a:lstStyle/>
                    <a:p>
                      <a:pPr algn="ctr"/>
                      <a:r>
                        <a:rPr sz="750" b="0">
                          <a:solidFill>
                            <a:srgbClr val="202020"/>
                          </a:solidFill>
                        </a:rPr>
                        <a:t>0.871</a:t>
                      </a:r>
                    </a:p>
                  </a:txBody>
                  <a:tcPr>
                    <a:solidFill>
                      <a:srgbClr val="E8F0FE"/>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1 Lengkap — JAFFE</a:t>
            </a:r>
          </a:p>
        </p:txBody>
      </p:sp>
      <p:sp>
        <p:nvSpPr>
          <p:cNvPr id="4" name="TextBox 3"/>
          <p:cNvSpPr txBox="1"/>
          <p:nvPr/>
        </p:nvSpPr>
        <p:spPr>
          <a:xfrm>
            <a:off x="274320" y="530352"/>
            <a:ext cx="8595360" cy="411480"/>
          </a:xfrm>
          <a:prstGeom prst="rect">
            <a:avLst/>
          </a:prstGeom>
          <a:solidFill>
            <a:srgbClr val="FEF7E0"/>
          </a:solidFill>
        </p:spPr>
        <p:txBody>
          <a:bodyPr wrap="square">
            <a:spAutoFit/>
          </a:bodyPr>
          <a:lstStyle/>
          <a:p>
            <a:pPr algn="l"/>
            <a:r>
              <a:rPr sz="900" b="1" i="0">
                <a:solidFill>
                  <a:srgbClr val="B06800"/>
                </a:solidFill>
              </a:rPr>
              <a:t>Instruksi dosen: semua 7 model (termasuk Late Fusion TL) × semua metrik Macro/Micro/W-F1/Acc.</a:t>
            </a:r>
          </a:p>
        </p:txBody>
      </p:sp>
      <p:sp>
        <p:nvSpPr>
          <p:cNvPr id="9" name="TextBox 8"/>
          <p:cNvSpPr txBox="1"/>
          <p:nvPr/>
        </p:nvSpPr>
        <p:spPr>
          <a:xfrm>
            <a:off x="274320" y="987552"/>
            <a:ext cx="4206240" cy="201168"/>
          </a:xfrm>
          <a:prstGeom prst="rect">
            <a:avLst/>
          </a:prstGeom>
          <a:noFill/>
        </p:spPr>
        <p:txBody>
          <a:bodyPr wrap="none">
            <a:spAutoFit/>
          </a:bodyPr>
          <a:lstStyle/>
          <a:p>
            <a:pPr algn="l"/>
            <a:r>
              <a:rPr sz="950" b="1" i="0">
                <a:solidFill>
                  <a:srgbClr val="1A73E8"/>
                </a:solidFill>
              </a:rPr>
              <a:t>JAFFE 7-Class</a:t>
            </a:r>
          </a:p>
        </p:txBody>
      </p:sp>
      <p:graphicFrame>
        <p:nvGraphicFramePr>
          <p:cNvPr id="10" name="Table 9"/>
          <p:cNvGraphicFramePr>
            <a:graphicFrameLocks noGrp="1"/>
          </p:cNvGraphicFramePr>
          <p:nvPr/>
        </p:nvGraphicFramePr>
        <p:xfrm>
          <a:off x="274320" y="1207008"/>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0.304</a:t>
                      </a:r>
                    </a:p>
                  </a:txBody>
                  <a:tcPr>
                    <a:solidFill>
                      <a:srgbClr val="E8F0FE"/>
                    </a:solidFill>
                  </a:tcPr>
                </a:tc>
                <a:tc>
                  <a:txBody>
                    <a:bodyPr/>
                    <a:lstStyle/>
                    <a:p>
                      <a:pPr algn="ctr"/>
                      <a:r>
                        <a:rPr sz="750" b="0">
                          <a:solidFill>
                            <a:srgbClr val="202020"/>
                          </a:solidFill>
                        </a:rPr>
                        <a:t>0.450</a:t>
                      </a:r>
                    </a:p>
                  </a:txBody>
                  <a:tcPr>
                    <a:solidFill>
                      <a:srgbClr val="E8F0FE"/>
                    </a:solidFill>
                  </a:tcPr>
                </a:tc>
                <a:tc>
                  <a:txBody>
                    <a:bodyPr/>
                    <a:lstStyle/>
                    <a:p>
                      <a:pPr algn="ctr"/>
                      <a:r>
                        <a:rPr sz="750" b="0">
                          <a:solidFill>
                            <a:srgbClr val="202020"/>
                          </a:solidFill>
                        </a:rPr>
                        <a:t>0.319</a:t>
                      </a:r>
                    </a:p>
                  </a:txBody>
                  <a:tcPr>
                    <a:solidFill>
                      <a:srgbClr val="E8F0FE"/>
                    </a:solidFill>
                  </a:tcPr>
                </a:tc>
                <a:tc>
                  <a:txBody>
                    <a:bodyPr/>
                    <a:lstStyle/>
                    <a:p>
                      <a:pPr algn="ctr"/>
                      <a:r>
                        <a:rPr sz="750" b="0">
                          <a:solidFill>
                            <a:srgbClr val="202020"/>
                          </a:solidFill>
                        </a:rPr>
                        <a:t>0.450</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0.209</a:t>
                      </a:r>
                    </a:p>
                  </a:txBody>
                  <a:tcPr>
                    <a:solidFill>
                      <a:srgbClr val="FFFFFF"/>
                    </a:solidFill>
                  </a:tcPr>
                </a:tc>
                <a:tc>
                  <a:txBody>
                    <a:bodyPr/>
                    <a:lstStyle/>
                    <a:p>
                      <a:pPr algn="ctr"/>
                      <a:r>
                        <a:rPr sz="750" b="0">
                          <a:solidFill>
                            <a:srgbClr val="202020"/>
                          </a:solidFill>
                        </a:rPr>
                        <a:t>0.250</a:t>
                      </a:r>
                    </a:p>
                  </a:txBody>
                  <a:tcPr>
                    <a:solidFill>
                      <a:srgbClr val="FFFFFF"/>
                    </a:solidFill>
                  </a:tcPr>
                </a:tc>
                <a:tc>
                  <a:txBody>
                    <a:bodyPr/>
                    <a:lstStyle/>
                    <a:p>
                      <a:pPr algn="ctr"/>
                      <a:r>
                        <a:rPr sz="750" b="0">
                          <a:solidFill>
                            <a:srgbClr val="202020"/>
                          </a:solidFill>
                        </a:rPr>
                        <a:t>0.169</a:t>
                      </a:r>
                    </a:p>
                  </a:txBody>
                  <a:tcPr>
                    <a:solidFill>
                      <a:srgbClr val="FFFFFF"/>
                    </a:solidFill>
                  </a:tcPr>
                </a:tc>
                <a:tc>
                  <a:txBody>
                    <a:bodyPr/>
                    <a:lstStyle/>
                    <a:p>
                      <a:pPr algn="ctr"/>
                      <a:r>
                        <a:rPr sz="750" b="0">
                          <a:solidFill>
                            <a:srgbClr val="202020"/>
                          </a:solidFill>
                        </a:rPr>
                        <a:t>0.250</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0.037</a:t>
                      </a:r>
                    </a:p>
                  </a:txBody>
                  <a:tcPr>
                    <a:solidFill>
                      <a:srgbClr val="E8F0FE"/>
                    </a:solidFill>
                  </a:tcPr>
                </a:tc>
                <a:tc>
                  <a:txBody>
                    <a:bodyPr/>
                    <a:lstStyle/>
                    <a:p>
                      <a:pPr algn="ctr"/>
                      <a:r>
                        <a:rPr sz="750" b="0">
                          <a:solidFill>
                            <a:srgbClr val="202020"/>
                          </a:solidFill>
                        </a:rPr>
                        <a:t>0.150</a:t>
                      </a:r>
                    </a:p>
                  </a:txBody>
                  <a:tcPr>
                    <a:solidFill>
                      <a:srgbClr val="E8F0FE"/>
                    </a:solidFill>
                  </a:tcPr>
                </a:tc>
                <a:tc>
                  <a:txBody>
                    <a:bodyPr/>
                    <a:lstStyle/>
                    <a:p>
                      <a:pPr algn="ctr"/>
                      <a:r>
                        <a:rPr sz="750" b="0">
                          <a:solidFill>
                            <a:srgbClr val="202020"/>
                          </a:solidFill>
                        </a:rPr>
                        <a:t>0.039</a:t>
                      </a:r>
                    </a:p>
                  </a:txBody>
                  <a:tcPr>
                    <a:solidFill>
                      <a:srgbClr val="E8F0FE"/>
                    </a:solidFill>
                  </a:tcPr>
                </a:tc>
                <a:tc>
                  <a:txBody>
                    <a:bodyPr/>
                    <a:lstStyle/>
                    <a:p>
                      <a:pPr algn="ctr"/>
                      <a:r>
                        <a:rPr sz="750" b="0">
                          <a:solidFill>
                            <a:srgbClr val="202020"/>
                          </a:solidFill>
                        </a:rPr>
                        <a:t>0.150</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0.464</a:t>
                      </a:r>
                    </a:p>
                  </a:txBody>
                  <a:tcPr>
                    <a:solidFill>
                      <a:srgbClr val="FFFFFF"/>
                    </a:solidFill>
                  </a:tcPr>
                </a:tc>
                <a:tc>
                  <a:txBody>
                    <a:bodyPr/>
                    <a:lstStyle/>
                    <a:p>
                      <a:pPr algn="ctr"/>
                      <a:r>
                        <a:rPr sz="750" b="0">
                          <a:solidFill>
                            <a:srgbClr val="202020"/>
                          </a:solidFill>
                        </a:rPr>
                        <a:t>0.500</a:t>
                      </a:r>
                    </a:p>
                  </a:txBody>
                  <a:tcPr>
                    <a:solidFill>
                      <a:srgbClr val="FFFFFF"/>
                    </a:solidFill>
                  </a:tcPr>
                </a:tc>
                <a:tc>
                  <a:txBody>
                    <a:bodyPr/>
                    <a:lstStyle/>
                    <a:p>
                      <a:pPr algn="ctr"/>
                      <a:r>
                        <a:rPr sz="750" b="0">
                          <a:solidFill>
                            <a:srgbClr val="202020"/>
                          </a:solidFill>
                        </a:rPr>
                        <a:t>0.437</a:t>
                      </a:r>
                    </a:p>
                  </a:txBody>
                  <a:tcPr>
                    <a:solidFill>
                      <a:srgbClr val="FFFFFF"/>
                    </a:solidFill>
                  </a:tcPr>
                </a:tc>
                <a:tc>
                  <a:txBody>
                    <a:bodyPr/>
                    <a:lstStyle/>
                    <a:p>
                      <a:pPr algn="ctr"/>
                      <a:r>
                        <a:rPr sz="750" b="0">
                          <a:solidFill>
                            <a:srgbClr val="202020"/>
                          </a:solidFill>
                        </a:rPr>
                        <a:t>0.500</a:t>
                      </a:r>
                    </a:p>
                  </a:txBody>
                  <a:tcPr>
                    <a:solidFill>
                      <a:srgbClr val="FFFFFF"/>
                    </a:solidFill>
                  </a:tcPr>
                </a:tc>
              </a:tr>
              <a:tr h="285750">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0.447</a:t>
                      </a:r>
                    </a:p>
                  </a:txBody>
                  <a:tcPr>
                    <a:solidFill>
                      <a:srgbClr val="E8F0FE"/>
                    </a:solidFill>
                  </a:tcPr>
                </a:tc>
                <a:tc>
                  <a:txBody>
                    <a:bodyPr/>
                    <a:lstStyle/>
                    <a:p>
                      <a:pPr algn="ctr"/>
                      <a:r>
                        <a:rPr sz="750" b="0">
                          <a:solidFill>
                            <a:srgbClr val="202020"/>
                          </a:solidFill>
                        </a:rPr>
                        <a:t>0.450</a:t>
                      </a:r>
                    </a:p>
                  </a:txBody>
                  <a:tcPr>
                    <a:solidFill>
                      <a:srgbClr val="E8F0FE"/>
                    </a:solidFill>
                  </a:tcPr>
                </a:tc>
                <a:tc>
                  <a:txBody>
                    <a:bodyPr/>
                    <a:lstStyle/>
                    <a:p>
                      <a:pPr algn="ctr"/>
                      <a:r>
                        <a:rPr sz="750" b="0">
                          <a:solidFill>
                            <a:srgbClr val="202020"/>
                          </a:solidFill>
                        </a:rPr>
                        <a:t>0.420</a:t>
                      </a:r>
                    </a:p>
                  </a:txBody>
                  <a:tcPr>
                    <a:solidFill>
                      <a:srgbClr val="E8F0FE"/>
                    </a:solidFill>
                  </a:tcPr>
                </a:tc>
                <a:tc>
                  <a:txBody>
                    <a:bodyPr/>
                    <a:lstStyle/>
                    <a:p>
                      <a:pPr algn="ctr"/>
                      <a:r>
                        <a:rPr sz="750" b="0">
                          <a:solidFill>
                            <a:srgbClr val="202020"/>
                          </a:solidFill>
                        </a:rPr>
                        <a:t>0.450</a:t>
                      </a:r>
                    </a:p>
                  </a:txBody>
                  <a:tcPr>
                    <a:solidFill>
                      <a:srgbClr val="E8F0FE"/>
                    </a:solidFill>
                  </a:tcPr>
                </a:tc>
              </a:tr>
              <a:tr h="285750">
                <a:tc>
                  <a:txBody>
                    <a:bodyPr/>
                    <a:lstStyle/>
                    <a:p>
                      <a:pPr algn="l"/>
                      <a:r>
                        <a:rPr sz="750" b="1">
                          <a:solidFill>
                            <a:srgbClr val="202020"/>
                          </a:solidFill>
                        </a:rPr>
                        <a:t>Late Fusion</a:t>
                      </a:r>
                    </a:p>
                  </a:txBody>
                  <a:tcPr>
                    <a:solidFill>
                      <a:srgbClr val="E6F4EA"/>
                    </a:solidFill>
                  </a:tcPr>
                </a:tc>
                <a:tc>
                  <a:txBody>
                    <a:bodyPr/>
                    <a:lstStyle/>
                    <a:p>
                      <a:pPr algn="ctr"/>
                      <a:r>
                        <a:rPr sz="750" b="0">
                          <a:solidFill>
                            <a:srgbClr val="202020"/>
                          </a:solidFill>
                        </a:rPr>
                        <a:t>0.314</a:t>
                      </a:r>
                    </a:p>
                  </a:txBody>
                  <a:tcPr>
                    <a:solidFill>
                      <a:srgbClr val="E6F4EA"/>
                    </a:solidFill>
                  </a:tcPr>
                </a:tc>
                <a:tc>
                  <a:txBody>
                    <a:bodyPr/>
                    <a:lstStyle/>
                    <a:p>
                      <a:pPr algn="ctr"/>
                      <a:r>
                        <a:rPr sz="750" b="0">
                          <a:solidFill>
                            <a:srgbClr val="202020"/>
                          </a:solidFill>
                        </a:rPr>
                        <a:t>0.400</a:t>
                      </a:r>
                    </a:p>
                  </a:txBody>
                  <a:tcPr>
                    <a:solidFill>
                      <a:srgbClr val="E6F4EA"/>
                    </a:solidFill>
                  </a:tcPr>
                </a:tc>
                <a:tc>
                  <a:txBody>
                    <a:bodyPr/>
                    <a:lstStyle/>
                    <a:p>
                      <a:pPr algn="ctr"/>
                      <a:r>
                        <a:rPr sz="750" b="0">
                          <a:solidFill>
                            <a:srgbClr val="202020"/>
                          </a:solidFill>
                        </a:rPr>
                        <a:t>0.290</a:t>
                      </a:r>
                    </a:p>
                  </a:txBody>
                  <a:tcPr>
                    <a:solidFill>
                      <a:srgbClr val="E6F4EA"/>
                    </a:solidFill>
                  </a:tcPr>
                </a:tc>
                <a:tc>
                  <a:txBody>
                    <a:bodyPr/>
                    <a:lstStyle/>
                    <a:p>
                      <a:pPr algn="ctr"/>
                      <a:r>
                        <a:rPr sz="750" b="0">
                          <a:solidFill>
                            <a:srgbClr val="202020"/>
                          </a:solidFill>
                        </a:rPr>
                        <a:t>0.400</a:t>
                      </a:r>
                    </a:p>
                  </a:txBody>
                  <a:tcPr>
                    <a:solidFill>
                      <a:srgbClr val="E6F4EA"/>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0.146</a:t>
                      </a:r>
                    </a:p>
                  </a:txBody>
                  <a:tcPr>
                    <a:solidFill>
                      <a:srgbClr val="E8F0FE"/>
                    </a:solidFill>
                  </a:tcPr>
                </a:tc>
                <a:tc>
                  <a:txBody>
                    <a:bodyPr/>
                    <a:lstStyle/>
                    <a:p>
                      <a:pPr algn="ctr"/>
                      <a:r>
                        <a:rPr sz="750" b="0">
                          <a:solidFill>
                            <a:srgbClr val="202020"/>
                          </a:solidFill>
                        </a:rPr>
                        <a:t>0.200</a:t>
                      </a:r>
                    </a:p>
                  </a:txBody>
                  <a:tcPr>
                    <a:solidFill>
                      <a:srgbClr val="E8F0FE"/>
                    </a:solidFill>
                  </a:tcPr>
                </a:tc>
                <a:tc>
                  <a:txBody>
                    <a:bodyPr/>
                    <a:lstStyle/>
                    <a:p>
                      <a:pPr algn="ctr"/>
                      <a:r>
                        <a:rPr sz="750" b="0">
                          <a:solidFill>
                            <a:srgbClr val="202020"/>
                          </a:solidFill>
                        </a:rPr>
                        <a:t>0.120</a:t>
                      </a:r>
                    </a:p>
                  </a:txBody>
                  <a:tcPr>
                    <a:solidFill>
                      <a:srgbClr val="E8F0FE"/>
                    </a:solidFill>
                  </a:tcPr>
                </a:tc>
                <a:tc>
                  <a:txBody>
                    <a:bodyPr/>
                    <a:lstStyle/>
                    <a:p>
                      <a:pPr algn="ctr"/>
                      <a:r>
                        <a:rPr sz="750" b="0">
                          <a:solidFill>
                            <a:srgbClr val="202020"/>
                          </a:solidFill>
                        </a:rPr>
                        <a:t>0.200</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0.286</a:t>
                      </a:r>
                    </a:p>
                  </a:txBody>
                  <a:tcPr>
                    <a:solidFill>
                      <a:srgbClr val="E8F0FE"/>
                    </a:solidFill>
                  </a:tcPr>
                </a:tc>
                <a:tc>
                  <a:txBody>
                    <a:bodyPr/>
                    <a:lstStyle/>
                    <a:p>
                      <a:pPr algn="ctr"/>
                      <a:r>
                        <a:rPr sz="750" b="0">
                          <a:solidFill>
                            <a:srgbClr val="202020"/>
                          </a:solidFill>
                        </a:rPr>
                        <a:t>0.350</a:t>
                      </a:r>
                    </a:p>
                  </a:txBody>
                  <a:tcPr>
                    <a:solidFill>
                      <a:srgbClr val="E8F0FE"/>
                    </a:solidFill>
                  </a:tcPr>
                </a:tc>
                <a:tc>
                  <a:txBody>
                    <a:bodyPr/>
                    <a:lstStyle/>
                    <a:p>
                      <a:pPr algn="ctr"/>
                      <a:r>
                        <a:rPr sz="750" b="0">
                          <a:solidFill>
                            <a:srgbClr val="202020"/>
                          </a:solidFill>
                        </a:rPr>
                        <a:t>0.267</a:t>
                      </a:r>
                    </a:p>
                  </a:txBody>
                  <a:tcPr>
                    <a:solidFill>
                      <a:srgbClr val="E8F0FE"/>
                    </a:solidFill>
                  </a:tcPr>
                </a:tc>
                <a:tc>
                  <a:txBody>
                    <a:bodyPr/>
                    <a:lstStyle/>
                    <a:p>
                      <a:pPr algn="ctr"/>
                      <a:r>
                        <a:rPr sz="750" b="0">
                          <a:solidFill>
                            <a:srgbClr val="202020"/>
                          </a:solidFill>
                        </a:rPr>
                        <a:t>0.350</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0.041</a:t>
                      </a:r>
                    </a:p>
                  </a:txBody>
                  <a:tcPr>
                    <a:solidFill>
                      <a:srgbClr val="E8F0FE"/>
                    </a:solidFill>
                  </a:tcPr>
                </a:tc>
                <a:tc>
                  <a:txBody>
                    <a:bodyPr/>
                    <a:lstStyle/>
                    <a:p>
                      <a:pPr algn="ctr"/>
                      <a:r>
                        <a:rPr sz="750" b="0">
                          <a:solidFill>
                            <a:srgbClr val="202020"/>
                          </a:solidFill>
                        </a:rPr>
                        <a:t>0.150</a:t>
                      </a:r>
                    </a:p>
                  </a:txBody>
                  <a:tcPr>
                    <a:solidFill>
                      <a:srgbClr val="E8F0FE"/>
                    </a:solidFill>
                  </a:tcPr>
                </a:tc>
                <a:tc>
                  <a:txBody>
                    <a:bodyPr/>
                    <a:lstStyle/>
                    <a:p>
                      <a:pPr algn="ctr"/>
                      <a:r>
                        <a:rPr sz="750" b="0">
                          <a:solidFill>
                            <a:srgbClr val="202020"/>
                          </a:solidFill>
                        </a:rPr>
                        <a:t>0.043</a:t>
                      </a:r>
                    </a:p>
                  </a:txBody>
                  <a:tcPr>
                    <a:solidFill>
                      <a:srgbClr val="E8F0FE"/>
                    </a:solidFill>
                  </a:tcPr>
                </a:tc>
                <a:tc>
                  <a:txBody>
                    <a:bodyPr/>
                    <a:lstStyle/>
                    <a:p>
                      <a:pPr algn="ctr"/>
                      <a:r>
                        <a:rPr sz="750" b="0">
                          <a:solidFill>
                            <a:srgbClr val="202020"/>
                          </a:solidFill>
                        </a:rPr>
                        <a:t>0.150</a:t>
                      </a:r>
                    </a:p>
                  </a:txBody>
                  <a:tcPr>
                    <a:solidFill>
                      <a:srgbClr val="E8F0FE"/>
                    </a:solidFill>
                  </a:tcPr>
                </a:tc>
              </a:tr>
            </a:tbl>
          </a:graphicData>
        </a:graphic>
      </p:graphicFrame>
      <p:sp>
        <p:nvSpPr>
          <p:cNvPr id="11" name="TextBox 10"/>
          <p:cNvSpPr txBox="1"/>
          <p:nvPr/>
        </p:nvSpPr>
        <p:spPr>
          <a:xfrm>
            <a:off x="4617720" y="987552"/>
            <a:ext cx="4206240" cy="201168"/>
          </a:xfrm>
          <a:prstGeom prst="rect">
            <a:avLst/>
          </a:prstGeom>
          <a:noFill/>
        </p:spPr>
        <p:txBody>
          <a:bodyPr wrap="none">
            <a:spAutoFit/>
          </a:bodyPr>
          <a:lstStyle/>
          <a:p>
            <a:pPr algn="l"/>
            <a:r>
              <a:rPr sz="950" b="1" i="0">
                <a:solidFill>
                  <a:srgbClr val="1A73E8"/>
                </a:solidFill>
              </a:rPr>
              <a:t>JAFFE 4-Class</a:t>
            </a:r>
          </a:p>
        </p:txBody>
      </p:sp>
      <p:graphicFrame>
        <p:nvGraphicFramePr>
          <p:cNvPr id="12" name="Table 11"/>
          <p:cNvGraphicFramePr>
            <a:graphicFrameLocks noGrp="1"/>
          </p:cNvGraphicFramePr>
          <p:nvPr/>
        </p:nvGraphicFramePr>
        <p:xfrm>
          <a:off x="4617720" y="1207008"/>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0.177</a:t>
                      </a:r>
                    </a:p>
                  </a:txBody>
                  <a:tcPr>
                    <a:solidFill>
                      <a:srgbClr val="E8F0FE"/>
                    </a:solidFill>
                  </a:tcPr>
                </a:tc>
                <a:tc>
                  <a:txBody>
                    <a:bodyPr/>
                    <a:lstStyle/>
                    <a:p>
                      <a:pPr algn="ctr"/>
                      <a:r>
                        <a:rPr sz="750" b="0">
                          <a:solidFill>
                            <a:srgbClr val="202020"/>
                          </a:solidFill>
                        </a:rPr>
                        <a:t>0.550</a:t>
                      </a:r>
                    </a:p>
                  </a:txBody>
                  <a:tcPr>
                    <a:solidFill>
                      <a:srgbClr val="E8F0FE"/>
                    </a:solidFill>
                  </a:tcPr>
                </a:tc>
                <a:tc>
                  <a:txBody>
                    <a:bodyPr/>
                    <a:lstStyle/>
                    <a:p>
                      <a:pPr algn="ctr"/>
                      <a:r>
                        <a:rPr sz="750" b="0">
                          <a:solidFill>
                            <a:srgbClr val="202020"/>
                          </a:solidFill>
                        </a:rPr>
                        <a:t>0.390</a:t>
                      </a:r>
                    </a:p>
                  </a:txBody>
                  <a:tcPr>
                    <a:solidFill>
                      <a:srgbClr val="E8F0FE"/>
                    </a:solidFill>
                  </a:tcPr>
                </a:tc>
                <a:tc>
                  <a:txBody>
                    <a:bodyPr/>
                    <a:lstStyle/>
                    <a:p>
                      <a:pPr algn="ctr"/>
                      <a:r>
                        <a:rPr sz="750" b="0">
                          <a:solidFill>
                            <a:srgbClr val="202020"/>
                          </a:solidFill>
                        </a:rPr>
                        <a:t>0.550</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0.438</a:t>
                      </a:r>
                    </a:p>
                  </a:txBody>
                  <a:tcPr>
                    <a:solidFill>
                      <a:srgbClr val="FFFFFF"/>
                    </a:solidFill>
                  </a:tcPr>
                </a:tc>
                <a:tc>
                  <a:txBody>
                    <a:bodyPr/>
                    <a:lstStyle/>
                    <a:p>
                      <a:pPr algn="ctr"/>
                      <a:r>
                        <a:rPr sz="750" b="0">
                          <a:solidFill>
                            <a:srgbClr val="202020"/>
                          </a:solidFill>
                        </a:rPr>
                        <a:t>0.550</a:t>
                      </a:r>
                    </a:p>
                  </a:txBody>
                  <a:tcPr>
                    <a:solidFill>
                      <a:srgbClr val="FFFFFF"/>
                    </a:solidFill>
                  </a:tcPr>
                </a:tc>
                <a:tc>
                  <a:txBody>
                    <a:bodyPr/>
                    <a:lstStyle/>
                    <a:p>
                      <a:pPr algn="ctr"/>
                      <a:r>
                        <a:rPr sz="750" b="0">
                          <a:solidFill>
                            <a:srgbClr val="202020"/>
                          </a:solidFill>
                        </a:rPr>
                        <a:t>0.530</a:t>
                      </a:r>
                    </a:p>
                  </a:txBody>
                  <a:tcPr>
                    <a:solidFill>
                      <a:srgbClr val="FFFFFF"/>
                    </a:solidFill>
                  </a:tcPr>
                </a:tc>
                <a:tc>
                  <a:txBody>
                    <a:bodyPr/>
                    <a:lstStyle/>
                    <a:p>
                      <a:pPr algn="ctr"/>
                      <a:r>
                        <a:rPr sz="750" b="0">
                          <a:solidFill>
                            <a:srgbClr val="202020"/>
                          </a:solidFill>
                        </a:rPr>
                        <a:t>0.550</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0.177</a:t>
                      </a:r>
                    </a:p>
                  </a:txBody>
                  <a:tcPr>
                    <a:solidFill>
                      <a:srgbClr val="E8F0FE"/>
                    </a:solidFill>
                  </a:tcPr>
                </a:tc>
                <a:tc>
                  <a:txBody>
                    <a:bodyPr/>
                    <a:lstStyle/>
                    <a:p>
                      <a:pPr algn="ctr"/>
                      <a:r>
                        <a:rPr sz="750" b="0">
                          <a:solidFill>
                            <a:srgbClr val="202020"/>
                          </a:solidFill>
                        </a:rPr>
                        <a:t>0.550</a:t>
                      </a:r>
                    </a:p>
                  </a:txBody>
                  <a:tcPr>
                    <a:solidFill>
                      <a:srgbClr val="E8F0FE"/>
                    </a:solidFill>
                  </a:tcPr>
                </a:tc>
                <a:tc>
                  <a:txBody>
                    <a:bodyPr/>
                    <a:lstStyle/>
                    <a:p>
                      <a:pPr algn="ctr"/>
                      <a:r>
                        <a:rPr sz="750" b="0">
                          <a:solidFill>
                            <a:srgbClr val="202020"/>
                          </a:solidFill>
                        </a:rPr>
                        <a:t>0.390</a:t>
                      </a:r>
                    </a:p>
                  </a:txBody>
                  <a:tcPr>
                    <a:solidFill>
                      <a:srgbClr val="E8F0FE"/>
                    </a:solidFill>
                  </a:tcPr>
                </a:tc>
                <a:tc>
                  <a:txBody>
                    <a:bodyPr/>
                    <a:lstStyle/>
                    <a:p>
                      <a:pPr algn="ctr"/>
                      <a:r>
                        <a:rPr sz="750" b="0">
                          <a:solidFill>
                            <a:srgbClr val="202020"/>
                          </a:solidFill>
                        </a:rPr>
                        <a:t>0.550</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0.329</a:t>
                      </a:r>
                    </a:p>
                  </a:txBody>
                  <a:tcPr>
                    <a:solidFill>
                      <a:srgbClr val="FFFFFF"/>
                    </a:solidFill>
                  </a:tcPr>
                </a:tc>
                <a:tc>
                  <a:txBody>
                    <a:bodyPr/>
                    <a:lstStyle/>
                    <a:p>
                      <a:pPr algn="ctr"/>
                      <a:r>
                        <a:rPr sz="750" b="0">
                          <a:solidFill>
                            <a:srgbClr val="202020"/>
                          </a:solidFill>
                        </a:rPr>
                        <a:t>0.500</a:t>
                      </a:r>
                    </a:p>
                  </a:txBody>
                  <a:tcPr>
                    <a:solidFill>
                      <a:srgbClr val="FFFFFF"/>
                    </a:solidFill>
                  </a:tcPr>
                </a:tc>
                <a:tc>
                  <a:txBody>
                    <a:bodyPr/>
                    <a:lstStyle/>
                    <a:p>
                      <a:pPr algn="ctr"/>
                      <a:r>
                        <a:rPr sz="750" b="0">
                          <a:solidFill>
                            <a:srgbClr val="202020"/>
                          </a:solidFill>
                        </a:rPr>
                        <a:t>0.476</a:t>
                      </a:r>
                    </a:p>
                  </a:txBody>
                  <a:tcPr>
                    <a:solidFill>
                      <a:srgbClr val="FFFFFF"/>
                    </a:solidFill>
                  </a:tcPr>
                </a:tc>
                <a:tc>
                  <a:txBody>
                    <a:bodyPr/>
                    <a:lstStyle/>
                    <a:p>
                      <a:pPr algn="ctr"/>
                      <a:r>
                        <a:rPr sz="750" b="0">
                          <a:solidFill>
                            <a:srgbClr val="202020"/>
                          </a:solidFill>
                        </a:rPr>
                        <a:t>0.500</a:t>
                      </a:r>
                    </a:p>
                  </a:txBody>
                  <a:tcPr>
                    <a:solidFill>
                      <a:srgbClr val="FFFFFF"/>
                    </a:solidFill>
                  </a:tcPr>
                </a:tc>
              </a:tr>
              <a:tr h="285750">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0.375</a:t>
                      </a:r>
                    </a:p>
                  </a:txBody>
                  <a:tcPr>
                    <a:solidFill>
                      <a:srgbClr val="E8F0FE"/>
                    </a:solidFill>
                  </a:tcPr>
                </a:tc>
                <a:tc>
                  <a:txBody>
                    <a:bodyPr/>
                    <a:lstStyle/>
                    <a:p>
                      <a:pPr algn="ctr"/>
                      <a:r>
                        <a:rPr sz="750" b="0">
                          <a:solidFill>
                            <a:srgbClr val="202020"/>
                          </a:solidFill>
                        </a:rPr>
                        <a:t>0.650</a:t>
                      </a:r>
                    </a:p>
                  </a:txBody>
                  <a:tcPr>
                    <a:solidFill>
                      <a:srgbClr val="E8F0FE"/>
                    </a:solidFill>
                  </a:tcPr>
                </a:tc>
                <a:tc>
                  <a:txBody>
                    <a:bodyPr/>
                    <a:lstStyle/>
                    <a:p>
                      <a:pPr algn="ctr"/>
                      <a:r>
                        <a:rPr sz="750" b="0">
                          <a:solidFill>
                            <a:srgbClr val="202020"/>
                          </a:solidFill>
                        </a:rPr>
                        <a:t>0.558</a:t>
                      </a:r>
                    </a:p>
                  </a:txBody>
                  <a:tcPr>
                    <a:solidFill>
                      <a:srgbClr val="E8F0FE"/>
                    </a:solidFill>
                  </a:tcPr>
                </a:tc>
                <a:tc>
                  <a:txBody>
                    <a:bodyPr/>
                    <a:lstStyle/>
                    <a:p>
                      <a:pPr algn="ctr"/>
                      <a:r>
                        <a:rPr sz="750" b="0">
                          <a:solidFill>
                            <a:srgbClr val="202020"/>
                          </a:solidFill>
                        </a:rPr>
                        <a:t>0.650</a:t>
                      </a:r>
                    </a:p>
                  </a:txBody>
                  <a:tcPr>
                    <a:solidFill>
                      <a:srgbClr val="E8F0FE"/>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0.492</a:t>
                      </a:r>
                    </a:p>
                  </a:txBody>
                  <a:tcPr>
                    <a:solidFill>
                      <a:srgbClr val="FFFFFF"/>
                    </a:solidFill>
                  </a:tcPr>
                </a:tc>
                <a:tc>
                  <a:txBody>
                    <a:bodyPr/>
                    <a:lstStyle/>
                    <a:p>
                      <a:pPr algn="ctr"/>
                      <a:r>
                        <a:rPr sz="750" b="0">
                          <a:solidFill>
                            <a:srgbClr val="202020"/>
                          </a:solidFill>
                        </a:rPr>
                        <a:t>0.650</a:t>
                      </a:r>
                    </a:p>
                  </a:txBody>
                  <a:tcPr>
                    <a:solidFill>
                      <a:srgbClr val="FFFFFF"/>
                    </a:solidFill>
                  </a:tcPr>
                </a:tc>
                <a:tc>
                  <a:txBody>
                    <a:bodyPr/>
                    <a:lstStyle/>
                    <a:p>
                      <a:pPr algn="ctr"/>
                      <a:r>
                        <a:rPr sz="750" b="0">
                          <a:solidFill>
                            <a:srgbClr val="202020"/>
                          </a:solidFill>
                        </a:rPr>
                        <a:t>0.615</a:t>
                      </a:r>
                    </a:p>
                  </a:txBody>
                  <a:tcPr>
                    <a:solidFill>
                      <a:srgbClr val="FFFFFF"/>
                    </a:solidFill>
                  </a:tcPr>
                </a:tc>
                <a:tc>
                  <a:txBody>
                    <a:bodyPr/>
                    <a:lstStyle/>
                    <a:p>
                      <a:pPr algn="ctr"/>
                      <a:r>
                        <a:rPr sz="750" b="0">
                          <a:solidFill>
                            <a:srgbClr val="202020"/>
                          </a:solidFill>
                        </a:rPr>
                        <a:t>0.650</a:t>
                      </a:r>
                    </a:p>
                  </a:txBody>
                  <a:tcPr>
                    <a:solidFill>
                      <a:srgbClr val="FFFFFF"/>
                    </a:solidFill>
                  </a:tcPr>
                </a:tc>
              </a:tr>
              <a:tr h="285750">
                <a:tc>
                  <a:txBody>
                    <a:bodyPr/>
                    <a:lstStyle/>
                    <a:p>
                      <a:pPr algn="l"/>
                      <a:r>
                        <a:rPr sz="750" b="1">
                          <a:solidFill>
                            <a:srgbClr val="202020"/>
                          </a:solidFill>
                        </a:rPr>
                        <a:t>Late Fusion TL</a:t>
                      </a:r>
                    </a:p>
                  </a:txBody>
                  <a:tcPr>
                    <a:solidFill>
                      <a:srgbClr val="E6F4EA"/>
                    </a:solidFill>
                  </a:tcPr>
                </a:tc>
                <a:tc>
                  <a:txBody>
                    <a:bodyPr/>
                    <a:lstStyle/>
                    <a:p>
                      <a:pPr algn="ctr"/>
                      <a:r>
                        <a:rPr sz="750" b="0">
                          <a:solidFill>
                            <a:srgbClr val="202020"/>
                          </a:solidFill>
                        </a:rPr>
                        <a:t>0.492</a:t>
                      </a:r>
                    </a:p>
                  </a:txBody>
                  <a:tcPr>
                    <a:solidFill>
                      <a:srgbClr val="E6F4EA"/>
                    </a:solidFill>
                  </a:tcPr>
                </a:tc>
                <a:tc>
                  <a:txBody>
                    <a:bodyPr/>
                    <a:lstStyle/>
                    <a:p>
                      <a:pPr algn="ctr"/>
                      <a:r>
                        <a:rPr sz="750" b="0">
                          <a:solidFill>
                            <a:srgbClr val="202020"/>
                          </a:solidFill>
                        </a:rPr>
                        <a:t>0.650</a:t>
                      </a:r>
                    </a:p>
                  </a:txBody>
                  <a:tcPr>
                    <a:solidFill>
                      <a:srgbClr val="E6F4EA"/>
                    </a:solidFill>
                  </a:tcPr>
                </a:tc>
                <a:tc>
                  <a:txBody>
                    <a:bodyPr/>
                    <a:lstStyle/>
                    <a:p>
                      <a:pPr algn="ctr"/>
                      <a:r>
                        <a:rPr sz="750" b="0">
                          <a:solidFill>
                            <a:srgbClr val="202020"/>
                          </a:solidFill>
                        </a:rPr>
                        <a:t>0.615</a:t>
                      </a:r>
                    </a:p>
                  </a:txBody>
                  <a:tcPr>
                    <a:solidFill>
                      <a:srgbClr val="E6F4EA"/>
                    </a:solidFill>
                  </a:tcPr>
                </a:tc>
                <a:tc>
                  <a:txBody>
                    <a:bodyPr/>
                    <a:lstStyle/>
                    <a:p>
                      <a:pPr algn="ctr"/>
                      <a:r>
                        <a:rPr sz="750" b="0">
                          <a:solidFill>
                            <a:srgbClr val="202020"/>
                          </a:solidFill>
                        </a:rPr>
                        <a:t>0.650</a:t>
                      </a:r>
                    </a:p>
                  </a:txBody>
                  <a:tcPr>
                    <a:solidFill>
                      <a:srgbClr val="E6F4EA"/>
                    </a:solidFill>
                  </a:tcPr>
                </a:tc>
              </a:tr>
              <a:tr h="285750">
                <a:tc>
                  <a:txBody>
                    <a:bodyPr/>
                    <a:lstStyle/>
                    <a:p>
                      <a:pPr algn="l"/>
                      <a:r>
                        <a:rPr sz="750" b="1">
                          <a:solidFill>
                            <a:srgbClr val="202020"/>
                          </a:solidFill>
                        </a:rPr>
                        <a:t>Early Fusion</a:t>
                      </a:r>
                    </a:p>
                  </a:txBody>
                  <a:tcPr>
                    <a:solidFill>
                      <a:srgbClr val="E6F4EA"/>
                    </a:solidFill>
                  </a:tcPr>
                </a:tc>
                <a:tc>
                  <a:txBody>
                    <a:bodyPr/>
                    <a:lstStyle/>
                    <a:p>
                      <a:pPr algn="ctr"/>
                      <a:r>
                        <a:rPr sz="750" b="0">
                          <a:solidFill>
                            <a:srgbClr val="202020"/>
                          </a:solidFill>
                        </a:rPr>
                        <a:t>0.177</a:t>
                      </a:r>
                    </a:p>
                  </a:txBody>
                  <a:tcPr>
                    <a:solidFill>
                      <a:srgbClr val="E6F4EA"/>
                    </a:solidFill>
                  </a:tcPr>
                </a:tc>
                <a:tc>
                  <a:txBody>
                    <a:bodyPr/>
                    <a:lstStyle/>
                    <a:p>
                      <a:pPr algn="ctr"/>
                      <a:r>
                        <a:rPr sz="750" b="0">
                          <a:solidFill>
                            <a:srgbClr val="202020"/>
                          </a:solidFill>
                        </a:rPr>
                        <a:t>0.550</a:t>
                      </a:r>
                    </a:p>
                  </a:txBody>
                  <a:tcPr>
                    <a:solidFill>
                      <a:srgbClr val="E6F4EA"/>
                    </a:solidFill>
                  </a:tcPr>
                </a:tc>
                <a:tc>
                  <a:txBody>
                    <a:bodyPr/>
                    <a:lstStyle/>
                    <a:p>
                      <a:pPr algn="ctr"/>
                      <a:r>
                        <a:rPr sz="750" b="0">
                          <a:solidFill>
                            <a:srgbClr val="202020"/>
                          </a:solidFill>
                        </a:rPr>
                        <a:t>0.390</a:t>
                      </a:r>
                    </a:p>
                  </a:txBody>
                  <a:tcPr>
                    <a:solidFill>
                      <a:srgbClr val="E6F4EA"/>
                    </a:solidFill>
                  </a:tcPr>
                </a:tc>
                <a:tc>
                  <a:txBody>
                    <a:bodyPr/>
                    <a:lstStyle/>
                    <a:p>
                      <a:pPr algn="ctr"/>
                      <a:r>
                        <a:rPr sz="750" b="0">
                          <a:solidFill>
                            <a:srgbClr val="202020"/>
                          </a:solidFill>
                        </a:rPr>
                        <a:t>0.550</a:t>
                      </a:r>
                    </a:p>
                  </a:txBody>
                  <a:tcPr>
                    <a:solidFill>
                      <a:srgbClr val="E6F4EA"/>
                    </a:solidFill>
                  </a:tcPr>
                </a:tc>
              </a:tr>
              <a:tr h="285750">
                <a:tc>
                  <a:txBody>
                    <a:bodyPr/>
                    <a:lstStyle/>
                    <a:p>
                      <a:pPr algn="l"/>
                      <a:r>
                        <a:rPr sz="750" b="1">
                          <a:solidFill>
                            <a:srgbClr val="202020"/>
                          </a:solidFill>
                        </a:rPr>
                        <a:t>Early Fusion TL</a:t>
                      </a:r>
                    </a:p>
                  </a:txBody>
                  <a:tcPr>
                    <a:solidFill>
                      <a:srgbClr val="E6F4EA"/>
                    </a:solidFill>
                  </a:tcPr>
                </a:tc>
                <a:tc>
                  <a:txBody>
                    <a:bodyPr/>
                    <a:lstStyle/>
                    <a:p>
                      <a:pPr algn="ctr"/>
                      <a:r>
                        <a:rPr sz="750" b="0">
                          <a:solidFill>
                            <a:srgbClr val="202020"/>
                          </a:solidFill>
                        </a:rPr>
                        <a:t>0.352</a:t>
                      </a:r>
                    </a:p>
                  </a:txBody>
                  <a:tcPr>
                    <a:solidFill>
                      <a:srgbClr val="E6F4EA"/>
                    </a:solidFill>
                  </a:tcPr>
                </a:tc>
                <a:tc>
                  <a:txBody>
                    <a:bodyPr/>
                    <a:lstStyle/>
                    <a:p>
                      <a:pPr algn="ctr"/>
                      <a:r>
                        <a:rPr sz="750" b="0">
                          <a:solidFill>
                            <a:srgbClr val="202020"/>
                          </a:solidFill>
                        </a:rPr>
                        <a:t>0.600</a:t>
                      </a:r>
                    </a:p>
                  </a:txBody>
                  <a:tcPr>
                    <a:solidFill>
                      <a:srgbClr val="E6F4EA"/>
                    </a:solidFill>
                  </a:tcPr>
                </a:tc>
                <a:tc>
                  <a:txBody>
                    <a:bodyPr/>
                    <a:lstStyle/>
                    <a:p>
                      <a:pPr algn="ctr"/>
                      <a:r>
                        <a:rPr sz="750" b="0">
                          <a:solidFill>
                            <a:srgbClr val="202020"/>
                          </a:solidFill>
                        </a:rPr>
                        <a:t>0.507</a:t>
                      </a:r>
                    </a:p>
                  </a:txBody>
                  <a:tcPr>
                    <a:solidFill>
                      <a:srgbClr val="E6F4EA"/>
                    </a:solidFill>
                  </a:tcPr>
                </a:tc>
                <a:tc>
                  <a:txBody>
                    <a:bodyPr/>
                    <a:lstStyle/>
                    <a:p>
                      <a:pPr algn="ctr"/>
                      <a:r>
                        <a:rPr sz="750" b="0">
                          <a:solidFill>
                            <a:srgbClr val="202020"/>
                          </a:solidFill>
                        </a:rPr>
                        <a:t>0.600</a:t>
                      </a:r>
                    </a:p>
                  </a:txBody>
                  <a:tcPr>
                    <a:solidFill>
                      <a:srgbClr val="E6F4EA"/>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1 Lengkap — RAF-DB</a:t>
            </a:r>
          </a:p>
        </p:txBody>
      </p:sp>
      <p:sp>
        <p:nvSpPr>
          <p:cNvPr id="4" name="TextBox 3"/>
          <p:cNvSpPr txBox="1"/>
          <p:nvPr/>
        </p:nvSpPr>
        <p:spPr>
          <a:xfrm>
            <a:off x="274320" y="548640"/>
            <a:ext cx="4206240" cy="201168"/>
          </a:xfrm>
          <a:prstGeom prst="rect">
            <a:avLst/>
          </a:prstGeom>
          <a:noFill/>
        </p:spPr>
        <p:txBody>
          <a:bodyPr wrap="none">
            <a:spAutoFit/>
          </a:bodyPr>
          <a:lstStyle/>
          <a:p>
            <a:pPr algn="l"/>
            <a:r>
              <a:rPr sz="950" b="1" i="0">
                <a:solidFill>
                  <a:srgbClr val="1A73E8"/>
                </a:solidFill>
              </a:rPr>
              <a:t>RAF-DB 7-Class</a:t>
            </a:r>
          </a:p>
        </p:txBody>
      </p:sp>
      <p:graphicFrame>
        <p:nvGraphicFramePr>
          <p:cNvPr id="5" name="Table 4"/>
          <p:cNvGraphicFramePr>
            <a:graphicFrameLocks noGrp="1"/>
          </p:cNvGraphicFramePr>
          <p:nvPr/>
        </p:nvGraphicFramePr>
        <p:xfrm>
          <a:off x="274320" y="768096"/>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0.729</a:t>
                      </a:r>
                    </a:p>
                  </a:txBody>
                  <a:tcPr>
                    <a:solidFill>
                      <a:srgbClr val="E8F0FE"/>
                    </a:solidFill>
                  </a:tcPr>
                </a:tc>
                <a:tc>
                  <a:txBody>
                    <a:bodyPr/>
                    <a:lstStyle/>
                    <a:p>
                      <a:pPr algn="ctr"/>
                      <a:r>
                        <a:rPr sz="750" b="0">
                          <a:solidFill>
                            <a:srgbClr val="202020"/>
                          </a:solidFill>
                        </a:rPr>
                        <a:t>0.815</a:t>
                      </a:r>
                    </a:p>
                  </a:txBody>
                  <a:tcPr>
                    <a:solidFill>
                      <a:srgbClr val="E8F0FE"/>
                    </a:solidFill>
                  </a:tcPr>
                </a:tc>
                <a:tc>
                  <a:txBody>
                    <a:bodyPr/>
                    <a:lstStyle/>
                    <a:p>
                      <a:pPr algn="ctr"/>
                      <a:r>
                        <a:rPr sz="750" b="0">
                          <a:solidFill>
                            <a:srgbClr val="202020"/>
                          </a:solidFill>
                        </a:rPr>
                        <a:t>0.813</a:t>
                      </a:r>
                    </a:p>
                  </a:txBody>
                  <a:tcPr>
                    <a:solidFill>
                      <a:srgbClr val="E8F0FE"/>
                    </a:solidFill>
                  </a:tcPr>
                </a:tc>
                <a:tc>
                  <a:txBody>
                    <a:bodyPr/>
                    <a:lstStyle/>
                    <a:p>
                      <a:pPr algn="ctr"/>
                      <a:r>
                        <a:rPr sz="750" b="0">
                          <a:solidFill>
                            <a:srgbClr val="202020"/>
                          </a:solidFill>
                        </a:rPr>
                        <a:t>0.815</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0.578</a:t>
                      </a:r>
                    </a:p>
                  </a:txBody>
                  <a:tcPr>
                    <a:solidFill>
                      <a:srgbClr val="FFFFFF"/>
                    </a:solidFill>
                  </a:tcPr>
                </a:tc>
                <a:tc>
                  <a:txBody>
                    <a:bodyPr/>
                    <a:lstStyle/>
                    <a:p>
                      <a:pPr algn="ctr"/>
                      <a:r>
                        <a:rPr sz="750" b="0">
                          <a:solidFill>
                            <a:srgbClr val="202020"/>
                          </a:solidFill>
                        </a:rPr>
                        <a:t>0.714</a:t>
                      </a:r>
                    </a:p>
                  </a:txBody>
                  <a:tcPr>
                    <a:solidFill>
                      <a:srgbClr val="FFFFFF"/>
                    </a:solidFill>
                  </a:tcPr>
                </a:tc>
                <a:tc>
                  <a:txBody>
                    <a:bodyPr/>
                    <a:lstStyle/>
                    <a:p>
                      <a:pPr algn="ctr"/>
                      <a:r>
                        <a:rPr sz="750" b="0">
                          <a:solidFill>
                            <a:srgbClr val="202020"/>
                          </a:solidFill>
                        </a:rPr>
                        <a:t>0.703</a:t>
                      </a:r>
                    </a:p>
                  </a:txBody>
                  <a:tcPr>
                    <a:solidFill>
                      <a:srgbClr val="FFFFFF"/>
                    </a:solidFill>
                  </a:tcPr>
                </a:tc>
                <a:tc>
                  <a:txBody>
                    <a:bodyPr/>
                    <a:lstStyle/>
                    <a:p>
                      <a:pPr algn="ctr"/>
                      <a:r>
                        <a:rPr sz="750" b="0">
                          <a:solidFill>
                            <a:srgbClr val="202020"/>
                          </a:solidFill>
                        </a:rPr>
                        <a:t>0.714</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0.696</a:t>
                      </a:r>
                    </a:p>
                  </a:txBody>
                  <a:tcPr>
                    <a:solidFill>
                      <a:srgbClr val="E8F0FE"/>
                    </a:solidFill>
                  </a:tcPr>
                </a:tc>
                <a:tc>
                  <a:txBody>
                    <a:bodyPr/>
                    <a:lstStyle/>
                    <a:p>
                      <a:pPr algn="ctr"/>
                      <a:r>
                        <a:rPr sz="750" b="0">
                          <a:solidFill>
                            <a:srgbClr val="202020"/>
                          </a:solidFill>
                        </a:rPr>
                        <a:t>0.785</a:t>
                      </a:r>
                    </a:p>
                  </a:txBody>
                  <a:tcPr>
                    <a:solidFill>
                      <a:srgbClr val="E8F0FE"/>
                    </a:solidFill>
                  </a:tcPr>
                </a:tc>
                <a:tc>
                  <a:txBody>
                    <a:bodyPr/>
                    <a:lstStyle/>
                    <a:p>
                      <a:pPr algn="ctr"/>
                      <a:r>
                        <a:rPr sz="750" b="0">
                          <a:solidFill>
                            <a:srgbClr val="202020"/>
                          </a:solidFill>
                        </a:rPr>
                        <a:t>0.783</a:t>
                      </a:r>
                    </a:p>
                  </a:txBody>
                  <a:tcPr>
                    <a:solidFill>
                      <a:srgbClr val="E8F0FE"/>
                    </a:solidFill>
                  </a:tcPr>
                </a:tc>
                <a:tc>
                  <a:txBody>
                    <a:bodyPr/>
                    <a:lstStyle/>
                    <a:p>
                      <a:pPr algn="ctr"/>
                      <a:r>
                        <a:rPr sz="750" b="0">
                          <a:solidFill>
                            <a:srgbClr val="202020"/>
                          </a:solidFill>
                        </a:rPr>
                        <a:t>0.785</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0.741</a:t>
                      </a:r>
                    </a:p>
                  </a:txBody>
                  <a:tcPr>
                    <a:solidFill>
                      <a:srgbClr val="FFFFFF"/>
                    </a:solidFill>
                  </a:tcPr>
                </a:tc>
                <a:tc>
                  <a:txBody>
                    <a:bodyPr/>
                    <a:lstStyle/>
                    <a:p>
                      <a:pPr algn="ctr"/>
                      <a:r>
                        <a:rPr sz="750" b="0">
                          <a:solidFill>
                            <a:srgbClr val="202020"/>
                          </a:solidFill>
                        </a:rPr>
                        <a:t>0.830</a:t>
                      </a:r>
                    </a:p>
                  </a:txBody>
                  <a:tcPr>
                    <a:solidFill>
                      <a:srgbClr val="FFFFFF"/>
                    </a:solidFill>
                  </a:tcPr>
                </a:tc>
                <a:tc>
                  <a:txBody>
                    <a:bodyPr/>
                    <a:lstStyle/>
                    <a:p>
                      <a:pPr algn="ctr"/>
                      <a:r>
                        <a:rPr sz="750" b="0">
                          <a:solidFill>
                            <a:srgbClr val="202020"/>
                          </a:solidFill>
                        </a:rPr>
                        <a:t>0.826</a:t>
                      </a:r>
                    </a:p>
                  </a:txBody>
                  <a:tcPr>
                    <a:solidFill>
                      <a:srgbClr val="FFFFFF"/>
                    </a:solidFill>
                  </a:tcPr>
                </a:tc>
                <a:tc>
                  <a:txBody>
                    <a:bodyPr/>
                    <a:lstStyle/>
                    <a:p>
                      <a:pPr algn="ctr"/>
                      <a:r>
                        <a:rPr sz="750" b="0">
                          <a:solidFill>
                            <a:srgbClr val="202020"/>
                          </a:solidFill>
                        </a:rPr>
                        <a:t>0.830</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0.744</a:t>
                      </a:r>
                    </a:p>
                  </a:txBody>
                  <a:tcPr>
                    <a:solidFill>
                      <a:srgbClr val="E6F4EA"/>
                    </a:solidFill>
                  </a:tcPr>
                </a:tc>
                <a:tc>
                  <a:txBody>
                    <a:bodyPr/>
                    <a:lstStyle/>
                    <a:p>
                      <a:pPr algn="ctr"/>
                      <a:r>
                        <a:rPr sz="750" b="0">
                          <a:solidFill>
                            <a:srgbClr val="202020"/>
                          </a:solidFill>
                        </a:rPr>
                        <a:t>0.833</a:t>
                      </a:r>
                    </a:p>
                  </a:txBody>
                  <a:tcPr>
                    <a:solidFill>
                      <a:srgbClr val="E6F4EA"/>
                    </a:solidFill>
                  </a:tcPr>
                </a:tc>
                <a:tc>
                  <a:txBody>
                    <a:bodyPr/>
                    <a:lstStyle/>
                    <a:p>
                      <a:pPr algn="ctr"/>
                      <a:r>
                        <a:rPr sz="750" b="0">
                          <a:solidFill>
                            <a:srgbClr val="202020"/>
                          </a:solidFill>
                        </a:rPr>
                        <a:t>0.832</a:t>
                      </a:r>
                    </a:p>
                  </a:txBody>
                  <a:tcPr>
                    <a:solidFill>
                      <a:srgbClr val="E6F4EA"/>
                    </a:solidFill>
                  </a:tcPr>
                </a:tc>
                <a:tc>
                  <a:txBody>
                    <a:bodyPr/>
                    <a:lstStyle/>
                    <a:p>
                      <a:pPr algn="ctr"/>
                      <a:r>
                        <a:rPr sz="750" b="0">
                          <a:solidFill>
                            <a:srgbClr val="202020"/>
                          </a:solidFill>
                        </a:rPr>
                        <a:t>0.833</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0.719</a:t>
                      </a:r>
                    </a:p>
                  </a:txBody>
                  <a:tcPr>
                    <a:solidFill>
                      <a:srgbClr val="FFFFFF"/>
                    </a:solidFill>
                  </a:tcPr>
                </a:tc>
                <a:tc>
                  <a:txBody>
                    <a:bodyPr/>
                    <a:lstStyle/>
                    <a:p>
                      <a:pPr algn="ctr"/>
                      <a:r>
                        <a:rPr sz="750" b="0">
                          <a:solidFill>
                            <a:srgbClr val="202020"/>
                          </a:solidFill>
                        </a:rPr>
                        <a:t>0.809</a:t>
                      </a:r>
                    </a:p>
                  </a:txBody>
                  <a:tcPr>
                    <a:solidFill>
                      <a:srgbClr val="FFFFFF"/>
                    </a:solidFill>
                  </a:tcPr>
                </a:tc>
                <a:tc>
                  <a:txBody>
                    <a:bodyPr/>
                    <a:lstStyle/>
                    <a:p>
                      <a:pPr algn="ctr"/>
                      <a:r>
                        <a:rPr sz="750" b="0">
                          <a:solidFill>
                            <a:srgbClr val="202020"/>
                          </a:solidFill>
                        </a:rPr>
                        <a:t>0.805</a:t>
                      </a:r>
                    </a:p>
                  </a:txBody>
                  <a:tcPr>
                    <a:solidFill>
                      <a:srgbClr val="FFFFFF"/>
                    </a:solidFill>
                  </a:tcPr>
                </a:tc>
                <a:tc>
                  <a:txBody>
                    <a:bodyPr/>
                    <a:lstStyle/>
                    <a:p>
                      <a:pPr algn="ctr"/>
                      <a:r>
                        <a:rPr sz="750" b="0">
                          <a:solidFill>
                            <a:srgbClr val="202020"/>
                          </a:solidFill>
                        </a:rPr>
                        <a:t>0.809</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0.735</a:t>
                      </a:r>
                    </a:p>
                  </a:txBody>
                  <a:tcPr>
                    <a:solidFill>
                      <a:srgbClr val="E8F0FE"/>
                    </a:solidFill>
                  </a:tcPr>
                </a:tc>
                <a:tc>
                  <a:txBody>
                    <a:bodyPr/>
                    <a:lstStyle/>
                    <a:p>
                      <a:pPr algn="ctr"/>
                      <a:r>
                        <a:rPr sz="750" b="0">
                          <a:solidFill>
                            <a:srgbClr val="202020"/>
                          </a:solidFill>
                        </a:rPr>
                        <a:t>0.829</a:t>
                      </a:r>
                    </a:p>
                  </a:txBody>
                  <a:tcPr>
                    <a:solidFill>
                      <a:srgbClr val="E8F0FE"/>
                    </a:solidFill>
                  </a:tcPr>
                </a:tc>
                <a:tc>
                  <a:txBody>
                    <a:bodyPr/>
                    <a:lstStyle/>
                    <a:p>
                      <a:pPr algn="ctr"/>
                      <a:r>
                        <a:rPr sz="750" b="0">
                          <a:solidFill>
                            <a:srgbClr val="202020"/>
                          </a:solidFill>
                        </a:rPr>
                        <a:t>0.823</a:t>
                      </a:r>
                    </a:p>
                  </a:txBody>
                  <a:tcPr>
                    <a:solidFill>
                      <a:srgbClr val="E8F0FE"/>
                    </a:solidFill>
                  </a:tcPr>
                </a:tc>
                <a:tc>
                  <a:txBody>
                    <a:bodyPr/>
                    <a:lstStyle/>
                    <a:p>
                      <a:pPr algn="ctr"/>
                      <a:r>
                        <a:rPr sz="750" b="0">
                          <a:solidFill>
                            <a:srgbClr val="202020"/>
                          </a:solidFill>
                        </a:rPr>
                        <a:t>0.829</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0.710</a:t>
                      </a:r>
                    </a:p>
                  </a:txBody>
                  <a:tcPr>
                    <a:solidFill>
                      <a:srgbClr val="E8F0FE"/>
                    </a:solidFill>
                  </a:tcPr>
                </a:tc>
                <a:tc>
                  <a:txBody>
                    <a:bodyPr/>
                    <a:lstStyle/>
                    <a:p>
                      <a:pPr algn="ctr"/>
                      <a:r>
                        <a:rPr sz="750" b="0">
                          <a:solidFill>
                            <a:srgbClr val="202020"/>
                          </a:solidFill>
                        </a:rPr>
                        <a:t>0.808</a:t>
                      </a:r>
                    </a:p>
                  </a:txBody>
                  <a:tcPr>
                    <a:solidFill>
                      <a:srgbClr val="E8F0FE"/>
                    </a:solidFill>
                  </a:tcPr>
                </a:tc>
                <a:tc>
                  <a:txBody>
                    <a:bodyPr/>
                    <a:lstStyle/>
                    <a:p>
                      <a:pPr algn="ctr"/>
                      <a:r>
                        <a:rPr sz="750" b="0">
                          <a:solidFill>
                            <a:srgbClr val="202020"/>
                          </a:solidFill>
                        </a:rPr>
                        <a:t>0.804</a:t>
                      </a:r>
                    </a:p>
                  </a:txBody>
                  <a:tcPr>
                    <a:solidFill>
                      <a:srgbClr val="E8F0FE"/>
                    </a:solidFill>
                  </a:tcPr>
                </a:tc>
                <a:tc>
                  <a:txBody>
                    <a:bodyPr/>
                    <a:lstStyle/>
                    <a:p>
                      <a:pPr algn="ctr"/>
                      <a:r>
                        <a:rPr sz="750" b="0">
                          <a:solidFill>
                            <a:srgbClr val="202020"/>
                          </a:solidFill>
                        </a:rPr>
                        <a:t>0.808</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0.693</a:t>
                      </a:r>
                    </a:p>
                  </a:txBody>
                  <a:tcPr>
                    <a:solidFill>
                      <a:srgbClr val="E8F0FE"/>
                    </a:solidFill>
                  </a:tcPr>
                </a:tc>
                <a:tc>
                  <a:txBody>
                    <a:bodyPr/>
                    <a:lstStyle/>
                    <a:p>
                      <a:pPr algn="ctr"/>
                      <a:r>
                        <a:rPr sz="750" b="0">
                          <a:solidFill>
                            <a:srgbClr val="202020"/>
                          </a:solidFill>
                        </a:rPr>
                        <a:t>0.790</a:t>
                      </a:r>
                    </a:p>
                  </a:txBody>
                  <a:tcPr>
                    <a:solidFill>
                      <a:srgbClr val="E8F0FE"/>
                    </a:solidFill>
                  </a:tcPr>
                </a:tc>
                <a:tc>
                  <a:txBody>
                    <a:bodyPr/>
                    <a:lstStyle/>
                    <a:p>
                      <a:pPr algn="ctr"/>
                      <a:r>
                        <a:rPr sz="750" b="0">
                          <a:solidFill>
                            <a:srgbClr val="202020"/>
                          </a:solidFill>
                        </a:rPr>
                        <a:t>0.786</a:t>
                      </a:r>
                    </a:p>
                  </a:txBody>
                  <a:tcPr>
                    <a:solidFill>
                      <a:srgbClr val="E8F0FE"/>
                    </a:solidFill>
                  </a:tcPr>
                </a:tc>
                <a:tc>
                  <a:txBody>
                    <a:bodyPr/>
                    <a:lstStyle/>
                    <a:p>
                      <a:pPr algn="ctr"/>
                      <a:r>
                        <a:rPr sz="750" b="0">
                          <a:solidFill>
                            <a:srgbClr val="202020"/>
                          </a:solidFill>
                        </a:rPr>
                        <a:t>0.790</a:t>
                      </a:r>
                    </a:p>
                  </a:txBody>
                  <a:tcPr>
                    <a:solidFill>
                      <a:srgbClr val="E8F0FE"/>
                    </a:solidFill>
                  </a:tcPr>
                </a:tc>
              </a:tr>
            </a:tbl>
          </a:graphicData>
        </a:graphic>
      </p:graphicFrame>
      <p:sp>
        <p:nvSpPr>
          <p:cNvPr id="6" name="TextBox 5"/>
          <p:cNvSpPr txBox="1"/>
          <p:nvPr/>
        </p:nvSpPr>
        <p:spPr>
          <a:xfrm>
            <a:off x="4617720" y="548640"/>
            <a:ext cx="4206240" cy="201168"/>
          </a:xfrm>
          <a:prstGeom prst="rect">
            <a:avLst/>
          </a:prstGeom>
          <a:noFill/>
        </p:spPr>
        <p:txBody>
          <a:bodyPr wrap="none">
            <a:spAutoFit/>
          </a:bodyPr>
          <a:lstStyle/>
          <a:p>
            <a:pPr algn="l"/>
            <a:r>
              <a:rPr sz="950" b="1" i="0">
                <a:solidFill>
                  <a:srgbClr val="1A73E8"/>
                </a:solidFill>
              </a:rPr>
              <a:t>RAF-DB 4-Class</a:t>
            </a:r>
          </a:p>
        </p:txBody>
      </p:sp>
      <p:graphicFrame>
        <p:nvGraphicFramePr>
          <p:cNvPr id="7" name="Table 6"/>
          <p:cNvGraphicFramePr>
            <a:graphicFrameLocks noGrp="1"/>
          </p:cNvGraphicFramePr>
          <p:nvPr/>
        </p:nvGraphicFramePr>
        <p:xfrm>
          <a:off x="4617720" y="768096"/>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0.808</a:t>
                      </a:r>
                    </a:p>
                  </a:txBody>
                  <a:tcPr>
                    <a:solidFill>
                      <a:srgbClr val="E8F0FE"/>
                    </a:solidFill>
                  </a:tcPr>
                </a:tc>
                <a:tc>
                  <a:txBody>
                    <a:bodyPr/>
                    <a:lstStyle/>
                    <a:p>
                      <a:pPr algn="ctr"/>
                      <a:r>
                        <a:rPr sz="750" b="0">
                          <a:solidFill>
                            <a:srgbClr val="202020"/>
                          </a:solidFill>
                        </a:rPr>
                        <a:t>0.830</a:t>
                      </a:r>
                    </a:p>
                  </a:txBody>
                  <a:tcPr>
                    <a:solidFill>
                      <a:srgbClr val="E8F0FE"/>
                    </a:solidFill>
                  </a:tcPr>
                </a:tc>
                <a:tc>
                  <a:txBody>
                    <a:bodyPr/>
                    <a:lstStyle/>
                    <a:p>
                      <a:pPr algn="ctr"/>
                      <a:r>
                        <a:rPr sz="750" b="0">
                          <a:solidFill>
                            <a:srgbClr val="202020"/>
                          </a:solidFill>
                        </a:rPr>
                        <a:t>0.830</a:t>
                      </a:r>
                    </a:p>
                  </a:txBody>
                  <a:tcPr>
                    <a:solidFill>
                      <a:srgbClr val="E8F0FE"/>
                    </a:solidFill>
                  </a:tcPr>
                </a:tc>
                <a:tc>
                  <a:txBody>
                    <a:bodyPr/>
                    <a:lstStyle/>
                    <a:p>
                      <a:pPr algn="ctr"/>
                      <a:r>
                        <a:rPr sz="750" b="0">
                          <a:solidFill>
                            <a:srgbClr val="202020"/>
                          </a:solidFill>
                        </a:rPr>
                        <a:t>0.830</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0.694</a:t>
                      </a:r>
                    </a:p>
                  </a:txBody>
                  <a:tcPr>
                    <a:solidFill>
                      <a:srgbClr val="FFFFFF"/>
                    </a:solidFill>
                  </a:tcPr>
                </a:tc>
                <a:tc>
                  <a:txBody>
                    <a:bodyPr/>
                    <a:lstStyle/>
                    <a:p>
                      <a:pPr algn="ctr"/>
                      <a:r>
                        <a:rPr sz="750" b="0">
                          <a:solidFill>
                            <a:srgbClr val="202020"/>
                          </a:solidFill>
                        </a:rPr>
                        <a:t>0.728</a:t>
                      </a:r>
                    </a:p>
                  </a:txBody>
                  <a:tcPr>
                    <a:solidFill>
                      <a:srgbClr val="FFFFFF"/>
                    </a:solidFill>
                  </a:tcPr>
                </a:tc>
                <a:tc>
                  <a:txBody>
                    <a:bodyPr/>
                    <a:lstStyle/>
                    <a:p>
                      <a:pPr algn="ctr"/>
                      <a:r>
                        <a:rPr sz="750" b="0">
                          <a:solidFill>
                            <a:srgbClr val="202020"/>
                          </a:solidFill>
                        </a:rPr>
                        <a:t>0.729</a:t>
                      </a:r>
                    </a:p>
                  </a:txBody>
                  <a:tcPr>
                    <a:solidFill>
                      <a:srgbClr val="FFFFFF"/>
                    </a:solidFill>
                  </a:tcPr>
                </a:tc>
                <a:tc>
                  <a:txBody>
                    <a:bodyPr/>
                    <a:lstStyle/>
                    <a:p>
                      <a:pPr algn="ctr"/>
                      <a:r>
                        <a:rPr sz="750" b="0">
                          <a:solidFill>
                            <a:srgbClr val="202020"/>
                          </a:solidFill>
                        </a:rPr>
                        <a:t>0.728</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0.792</a:t>
                      </a:r>
                    </a:p>
                  </a:txBody>
                  <a:tcPr>
                    <a:solidFill>
                      <a:srgbClr val="E8F0FE"/>
                    </a:solidFill>
                  </a:tcPr>
                </a:tc>
                <a:tc>
                  <a:txBody>
                    <a:bodyPr/>
                    <a:lstStyle/>
                    <a:p>
                      <a:pPr algn="ctr"/>
                      <a:r>
                        <a:rPr sz="750" b="0">
                          <a:solidFill>
                            <a:srgbClr val="202020"/>
                          </a:solidFill>
                        </a:rPr>
                        <a:t>0.818</a:t>
                      </a:r>
                    </a:p>
                  </a:txBody>
                  <a:tcPr>
                    <a:solidFill>
                      <a:srgbClr val="E8F0FE"/>
                    </a:solidFill>
                  </a:tcPr>
                </a:tc>
                <a:tc>
                  <a:txBody>
                    <a:bodyPr/>
                    <a:lstStyle/>
                    <a:p>
                      <a:pPr algn="ctr"/>
                      <a:r>
                        <a:rPr sz="750" b="0">
                          <a:solidFill>
                            <a:srgbClr val="202020"/>
                          </a:solidFill>
                        </a:rPr>
                        <a:t>0.818</a:t>
                      </a:r>
                    </a:p>
                  </a:txBody>
                  <a:tcPr>
                    <a:solidFill>
                      <a:srgbClr val="E8F0FE"/>
                    </a:solidFill>
                  </a:tcPr>
                </a:tc>
                <a:tc>
                  <a:txBody>
                    <a:bodyPr/>
                    <a:lstStyle/>
                    <a:p>
                      <a:pPr algn="ctr"/>
                      <a:r>
                        <a:rPr sz="750" b="0">
                          <a:solidFill>
                            <a:srgbClr val="202020"/>
                          </a:solidFill>
                        </a:rPr>
                        <a:t>0.818</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0.827</a:t>
                      </a:r>
                    </a:p>
                  </a:txBody>
                  <a:tcPr>
                    <a:solidFill>
                      <a:srgbClr val="FFFFFF"/>
                    </a:solidFill>
                  </a:tcPr>
                </a:tc>
                <a:tc>
                  <a:txBody>
                    <a:bodyPr/>
                    <a:lstStyle/>
                    <a:p>
                      <a:pPr algn="ctr"/>
                      <a:r>
                        <a:rPr sz="750" b="0">
                          <a:solidFill>
                            <a:srgbClr val="202020"/>
                          </a:solidFill>
                        </a:rPr>
                        <a:t>0.845</a:t>
                      </a:r>
                    </a:p>
                  </a:txBody>
                  <a:tcPr>
                    <a:solidFill>
                      <a:srgbClr val="FFFFFF"/>
                    </a:solidFill>
                  </a:tcPr>
                </a:tc>
                <a:tc>
                  <a:txBody>
                    <a:bodyPr/>
                    <a:lstStyle/>
                    <a:p>
                      <a:pPr algn="ctr"/>
                      <a:r>
                        <a:rPr sz="750" b="0">
                          <a:solidFill>
                            <a:srgbClr val="202020"/>
                          </a:solidFill>
                        </a:rPr>
                        <a:t>0.846</a:t>
                      </a:r>
                    </a:p>
                  </a:txBody>
                  <a:tcPr>
                    <a:solidFill>
                      <a:srgbClr val="FFFFFF"/>
                    </a:solidFill>
                  </a:tcPr>
                </a:tc>
                <a:tc>
                  <a:txBody>
                    <a:bodyPr/>
                    <a:lstStyle/>
                    <a:p>
                      <a:pPr algn="ctr"/>
                      <a:r>
                        <a:rPr sz="750" b="0">
                          <a:solidFill>
                            <a:srgbClr val="202020"/>
                          </a:solidFill>
                        </a:rPr>
                        <a:t>0.845</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0.836</a:t>
                      </a:r>
                    </a:p>
                  </a:txBody>
                  <a:tcPr>
                    <a:solidFill>
                      <a:srgbClr val="E6F4EA"/>
                    </a:solidFill>
                  </a:tcPr>
                </a:tc>
                <a:tc>
                  <a:txBody>
                    <a:bodyPr/>
                    <a:lstStyle/>
                    <a:p>
                      <a:pPr algn="ctr"/>
                      <a:r>
                        <a:rPr sz="750" b="0">
                          <a:solidFill>
                            <a:srgbClr val="202020"/>
                          </a:solidFill>
                        </a:rPr>
                        <a:t>0.853</a:t>
                      </a:r>
                    </a:p>
                  </a:txBody>
                  <a:tcPr>
                    <a:solidFill>
                      <a:srgbClr val="E6F4EA"/>
                    </a:solidFill>
                  </a:tcPr>
                </a:tc>
                <a:tc>
                  <a:txBody>
                    <a:bodyPr/>
                    <a:lstStyle/>
                    <a:p>
                      <a:pPr algn="ctr"/>
                      <a:r>
                        <a:rPr sz="750" b="0">
                          <a:solidFill>
                            <a:srgbClr val="202020"/>
                          </a:solidFill>
                        </a:rPr>
                        <a:t>0.855</a:t>
                      </a:r>
                    </a:p>
                  </a:txBody>
                  <a:tcPr>
                    <a:solidFill>
                      <a:srgbClr val="E6F4EA"/>
                    </a:solidFill>
                  </a:tcPr>
                </a:tc>
                <a:tc>
                  <a:txBody>
                    <a:bodyPr/>
                    <a:lstStyle/>
                    <a:p>
                      <a:pPr algn="ctr"/>
                      <a:r>
                        <a:rPr sz="750" b="0">
                          <a:solidFill>
                            <a:srgbClr val="202020"/>
                          </a:solidFill>
                        </a:rPr>
                        <a:t>0.853</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0.819</a:t>
                      </a:r>
                    </a:p>
                  </a:txBody>
                  <a:tcPr>
                    <a:solidFill>
                      <a:srgbClr val="FFFFFF"/>
                    </a:solidFill>
                  </a:tcPr>
                </a:tc>
                <a:tc>
                  <a:txBody>
                    <a:bodyPr/>
                    <a:lstStyle/>
                    <a:p>
                      <a:pPr algn="ctr"/>
                      <a:r>
                        <a:rPr sz="750" b="0">
                          <a:solidFill>
                            <a:srgbClr val="202020"/>
                          </a:solidFill>
                        </a:rPr>
                        <a:t>0.842</a:t>
                      </a:r>
                    </a:p>
                  </a:txBody>
                  <a:tcPr>
                    <a:solidFill>
                      <a:srgbClr val="FFFFFF"/>
                    </a:solidFill>
                  </a:tcPr>
                </a:tc>
                <a:tc>
                  <a:txBody>
                    <a:bodyPr/>
                    <a:lstStyle/>
                    <a:p>
                      <a:pPr algn="ctr"/>
                      <a:r>
                        <a:rPr sz="750" b="0">
                          <a:solidFill>
                            <a:srgbClr val="202020"/>
                          </a:solidFill>
                        </a:rPr>
                        <a:t>0.841</a:t>
                      </a:r>
                    </a:p>
                  </a:txBody>
                  <a:tcPr>
                    <a:solidFill>
                      <a:srgbClr val="FFFFFF"/>
                    </a:solidFill>
                  </a:tcPr>
                </a:tc>
                <a:tc>
                  <a:txBody>
                    <a:bodyPr/>
                    <a:lstStyle/>
                    <a:p>
                      <a:pPr algn="ctr"/>
                      <a:r>
                        <a:rPr sz="750" b="0">
                          <a:solidFill>
                            <a:srgbClr val="202020"/>
                          </a:solidFill>
                        </a:rPr>
                        <a:t>0.842</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0.832</a:t>
                      </a:r>
                    </a:p>
                  </a:txBody>
                  <a:tcPr>
                    <a:solidFill>
                      <a:srgbClr val="E8F0FE"/>
                    </a:solidFill>
                  </a:tcPr>
                </a:tc>
                <a:tc>
                  <a:txBody>
                    <a:bodyPr/>
                    <a:lstStyle/>
                    <a:p>
                      <a:pPr algn="ctr"/>
                      <a:r>
                        <a:rPr sz="750" b="0">
                          <a:solidFill>
                            <a:srgbClr val="202020"/>
                          </a:solidFill>
                        </a:rPr>
                        <a:t>0.849</a:t>
                      </a:r>
                    </a:p>
                  </a:txBody>
                  <a:tcPr>
                    <a:solidFill>
                      <a:srgbClr val="E8F0FE"/>
                    </a:solidFill>
                  </a:tcPr>
                </a:tc>
                <a:tc>
                  <a:txBody>
                    <a:bodyPr/>
                    <a:lstStyle/>
                    <a:p>
                      <a:pPr algn="ctr"/>
                      <a:r>
                        <a:rPr sz="750" b="0">
                          <a:solidFill>
                            <a:srgbClr val="202020"/>
                          </a:solidFill>
                        </a:rPr>
                        <a:t>0.850</a:t>
                      </a:r>
                    </a:p>
                  </a:txBody>
                  <a:tcPr>
                    <a:solidFill>
                      <a:srgbClr val="E8F0FE"/>
                    </a:solidFill>
                  </a:tcPr>
                </a:tc>
                <a:tc>
                  <a:txBody>
                    <a:bodyPr/>
                    <a:lstStyle/>
                    <a:p>
                      <a:pPr algn="ctr"/>
                      <a:r>
                        <a:rPr sz="750" b="0">
                          <a:solidFill>
                            <a:srgbClr val="202020"/>
                          </a:solidFill>
                        </a:rPr>
                        <a:t>0.849</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0.792</a:t>
                      </a:r>
                    </a:p>
                  </a:txBody>
                  <a:tcPr>
                    <a:solidFill>
                      <a:srgbClr val="E8F0FE"/>
                    </a:solidFill>
                  </a:tcPr>
                </a:tc>
                <a:tc>
                  <a:txBody>
                    <a:bodyPr/>
                    <a:lstStyle/>
                    <a:p>
                      <a:pPr algn="ctr"/>
                      <a:r>
                        <a:rPr sz="750" b="0">
                          <a:solidFill>
                            <a:srgbClr val="202020"/>
                          </a:solidFill>
                        </a:rPr>
                        <a:t>0.818</a:t>
                      </a:r>
                    </a:p>
                  </a:txBody>
                  <a:tcPr>
                    <a:solidFill>
                      <a:srgbClr val="E8F0FE"/>
                    </a:solidFill>
                  </a:tcPr>
                </a:tc>
                <a:tc>
                  <a:txBody>
                    <a:bodyPr/>
                    <a:lstStyle/>
                    <a:p>
                      <a:pPr algn="ctr"/>
                      <a:r>
                        <a:rPr sz="750" b="0">
                          <a:solidFill>
                            <a:srgbClr val="202020"/>
                          </a:solidFill>
                        </a:rPr>
                        <a:t>0.819</a:t>
                      </a:r>
                    </a:p>
                  </a:txBody>
                  <a:tcPr>
                    <a:solidFill>
                      <a:srgbClr val="E8F0FE"/>
                    </a:solidFill>
                  </a:tcPr>
                </a:tc>
                <a:tc>
                  <a:txBody>
                    <a:bodyPr/>
                    <a:lstStyle/>
                    <a:p>
                      <a:pPr algn="ctr"/>
                      <a:r>
                        <a:rPr sz="750" b="0">
                          <a:solidFill>
                            <a:srgbClr val="202020"/>
                          </a:solidFill>
                        </a:rPr>
                        <a:t>0.818</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0.799</a:t>
                      </a:r>
                    </a:p>
                  </a:txBody>
                  <a:tcPr>
                    <a:solidFill>
                      <a:srgbClr val="E8F0FE"/>
                    </a:solidFill>
                  </a:tcPr>
                </a:tc>
                <a:tc>
                  <a:txBody>
                    <a:bodyPr/>
                    <a:lstStyle/>
                    <a:p>
                      <a:pPr algn="ctr"/>
                      <a:r>
                        <a:rPr sz="750" b="0">
                          <a:solidFill>
                            <a:srgbClr val="202020"/>
                          </a:solidFill>
                        </a:rPr>
                        <a:t>0.823</a:t>
                      </a:r>
                    </a:p>
                  </a:txBody>
                  <a:tcPr>
                    <a:solidFill>
                      <a:srgbClr val="E8F0FE"/>
                    </a:solidFill>
                  </a:tcPr>
                </a:tc>
                <a:tc>
                  <a:txBody>
                    <a:bodyPr/>
                    <a:lstStyle/>
                    <a:p>
                      <a:pPr algn="ctr"/>
                      <a:r>
                        <a:rPr sz="750" b="0">
                          <a:solidFill>
                            <a:srgbClr val="202020"/>
                          </a:solidFill>
                        </a:rPr>
                        <a:t>0.823</a:t>
                      </a:r>
                    </a:p>
                  </a:txBody>
                  <a:tcPr>
                    <a:solidFill>
                      <a:srgbClr val="E8F0FE"/>
                    </a:solidFill>
                  </a:tcPr>
                </a:tc>
                <a:tc>
                  <a:txBody>
                    <a:bodyPr/>
                    <a:lstStyle/>
                    <a:p>
                      <a:pPr algn="ctr"/>
                      <a:r>
                        <a:rPr sz="750" b="0">
                          <a:solidFill>
                            <a:srgbClr val="202020"/>
                          </a:solidFill>
                        </a:rPr>
                        <a:t>0.823</a:t>
                      </a:r>
                    </a:p>
                  </a:txBody>
                  <a:tcPr>
                    <a:solidFill>
                      <a:srgbClr val="E8F0FE"/>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1 Lengkap — KDEF</a:t>
            </a:r>
          </a:p>
        </p:txBody>
      </p:sp>
      <p:sp>
        <p:nvSpPr>
          <p:cNvPr id="8" name="TextBox 7"/>
          <p:cNvSpPr txBox="1"/>
          <p:nvPr/>
        </p:nvSpPr>
        <p:spPr>
          <a:xfrm>
            <a:off x="274320" y="548640"/>
            <a:ext cx="4206240" cy="201168"/>
          </a:xfrm>
          <a:prstGeom prst="rect">
            <a:avLst/>
          </a:prstGeom>
          <a:noFill/>
        </p:spPr>
        <p:txBody>
          <a:bodyPr wrap="none">
            <a:spAutoFit/>
          </a:bodyPr>
          <a:lstStyle/>
          <a:p>
            <a:pPr algn="l"/>
            <a:r>
              <a:rPr sz="950" b="1" i="0">
                <a:solidFill>
                  <a:srgbClr val="1A73E8"/>
                </a:solidFill>
              </a:rPr>
              <a:t>KDEF 7-Class</a:t>
            </a:r>
          </a:p>
        </p:txBody>
      </p:sp>
      <p:graphicFrame>
        <p:nvGraphicFramePr>
          <p:cNvPr id="9" name="Table 8"/>
          <p:cNvGraphicFramePr>
            <a:graphicFrameLocks noGrp="1"/>
          </p:cNvGraphicFramePr>
          <p:nvPr/>
        </p:nvGraphicFramePr>
        <p:xfrm>
          <a:off x="274320" y="768096"/>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0.798</a:t>
                      </a:r>
                    </a:p>
                  </a:txBody>
                  <a:tcPr>
                    <a:solidFill>
                      <a:srgbClr val="E8F0FE"/>
                    </a:solidFill>
                  </a:tcPr>
                </a:tc>
                <a:tc>
                  <a:txBody>
                    <a:bodyPr/>
                    <a:lstStyle/>
                    <a:p>
                      <a:pPr algn="ctr"/>
                      <a:r>
                        <a:rPr sz="750" b="0">
                          <a:solidFill>
                            <a:srgbClr val="202020"/>
                          </a:solidFill>
                        </a:rPr>
                        <a:t>0.801</a:t>
                      </a:r>
                    </a:p>
                  </a:txBody>
                  <a:tcPr>
                    <a:solidFill>
                      <a:srgbClr val="E8F0FE"/>
                    </a:solidFill>
                  </a:tcPr>
                </a:tc>
                <a:tc>
                  <a:txBody>
                    <a:bodyPr/>
                    <a:lstStyle/>
                    <a:p>
                      <a:pPr algn="ctr"/>
                      <a:r>
                        <a:rPr sz="750" b="0">
                          <a:solidFill>
                            <a:srgbClr val="202020"/>
                          </a:solidFill>
                        </a:rPr>
                        <a:t>0.798</a:t>
                      </a:r>
                    </a:p>
                  </a:txBody>
                  <a:tcPr>
                    <a:solidFill>
                      <a:srgbClr val="E8F0FE"/>
                    </a:solidFill>
                  </a:tcPr>
                </a:tc>
                <a:tc>
                  <a:txBody>
                    <a:bodyPr/>
                    <a:lstStyle/>
                    <a:p>
                      <a:pPr algn="ctr"/>
                      <a:r>
                        <a:rPr sz="750" b="0">
                          <a:solidFill>
                            <a:srgbClr val="202020"/>
                          </a:solidFill>
                        </a:rPr>
                        <a:t>0.801</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0.666</a:t>
                      </a:r>
                    </a:p>
                  </a:txBody>
                  <a:tcPr>
                    <a:solidFill>
                      <a:srgbClr val="FFFFFF"/>
                    </a:solidFill>
                  </a:tcPr>
                </a:tc>
                <a:tc>
                  <a:txBody>
                    <a:bodyPr/>
                    <a:lstStyle/>
                    <a:p>
                      <a:pPr algn="ctr"/>
                      <a:r>
                        <a:rPr sz="750" b="0">
                          <a:solidFill>
                            <a:srgbClr val="202020"/>
                          </a:solidFill>
                        </a:rPr>
                        <a:t>0.680</a:t>
                      </a:r>
                    </a:p>
                  </a:txBody>
                  <a:tcPr>
                    <a:solidFill>
                      <a:srgbClr val="FFFFFF"/>
                    </a:solidFill>
                  </a:tcPr>
                </a:tc>
                <a:tc>
                  <a:txBody>
                    <a:bodyPr/>
                    <a:lstStyle/>
                    <a:p>
                      <a:pPr algn="ctr"/>
                      <a:r>
                        <a:rPr sz="750" b="0">
                          <a:solidFill>
                            <a:srgbClr val="202020"/>
                          </a:solidFill>
                        </a:rPr>
                        <a:t>0.663</a:t>
                      </a:r>
                    </a:p>
                  </a:txBody>
                  <a:tcPr>
                    <a:solidFill>
                      <a:srgbClr val="FFFFFF"/>
                    </a:solidFill>
                  </a:tcPr>
                </a:tc>
                <a:tc>
                  <a:txBody>
                    <a:bodyPr/>
                    <a:lstStyle/>
                    <a:p>
                      <a:pPr algn="ctr"/>
                      <a:r>
                        <a:rPr sz="750" b="0">
                          <a:solidFill>
                            <a:srgbClr val="202020"/>
                          </a:solidFill>
                        </a:rPr>
                        <a:t>0.680</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0.671</a:t>
                      </a:r>
                    </a:p>
                  </a:txBody>
                  <a:tcPr>
                    <a:solidFill>
                      <a:srgbClr val="E8F0FE"/>
                    </a:solidFill>
                  </a:tcPr>
                </a:tc>
                <a:tc>
                  <a:txBody>
                    <a:bodyPr/>
                    <a:lstStyle/>
                    <a:p>
                      <a:pPr algn="ctr"/>
                      <a:r>
                        <a:rPr sz="750" b="0">
                          <a:solidFill>
                            <a:srgbClr val="202020"/>
                          </a:solidFill>
                        </a:rPr>
                        <a:t>0.674</a:t>
                      </a:r>
                    </a:p>
                  </a:txBody>
                  <a:tcPr>
                    <a:solidFill>
                      <a:srgbClr val="E8F0FE"/>
                    </a:solidFill>
                  </a:tcPr>
                </a:tc>
                <a:tc>
                  <a:txBody>
                    <a:bodyPr/>
                    <a:lstStyle/>
                    <a:p>
                      <a:pPr algn="ctr"/>
                      <a:r>
                        <a:rPr sz="750" b="0">
                          <a:solidFill>
                            <a:srgbClr val="202020"/>
                          </a:solidFill>
                        </a:rPr>
                        <a:t>0.668</a:t>
                      </a:r>
                    </a:p>
                  </a:txBody>
                  <a:tcPr>
                    <a:solidFill>
                      <a:srgbClr val="E8F0FE"/>
                    </a:solidFill>
                  </a:tcPr>
                </a:tc>
                <a:tc>
                  <a:txBody>
                    <a:bodyPr/>
                    <a:lstStyle/>
                    <a:p>
                      <a:pPr algn="ctr"/>
                      <a:r>
                        <a:rPr sz="750" b="0">
                          <a:solidFill>
                            <a:srgbClr val="202020"/>
                          </a:solidFill>
                        </a:rPr>
                        <a:t>0.674</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0.833</a:t>
                      </a:r>
                    </a:p>
                  </a:txBody>
                  <a:tcPr>
                    <a:solidFill>
                      <a:srgbClr val="FFFFFF"/>
                    </a:solidFill>
                  </a:tcPr>
                </a:tc>
                <a:tc>
                  <a:txBody>
                    <a:bodyPr/>
                    <a:lstStyle/>
                    <a:p>
                      <a:pPr algn="ctr"/>
                      <a:r>
                        <a:rPr sz="750" b="0">
                          <a:solidFill>
                            <a:srgbClr val="202020"/>
                          </a:solidFill>
                        </a:rPr>
                        <a:t>0.831</a:t>
                      </a:r>
                    </a:p>
                  </a:txBody>
                  <a:tcPr>
                    <a:solidFill>
                      <a:srgbClr val="FFFFFF"/>
                    </a:solidFill>
                  </a:tcPr>
                </a:tc>
                <a:tc>
                  <a:txBody>
                    <a:bodyPr/>
                    <a:lstStyle/>
                    <a:p>
                      <a:pPr algn="ctr"/>
                      <a:r>
                        <a:rPr sz="750" b="0">
                          <a:solidFill>
                            <a:srgbClr val="202020"/>
                          </a:solidFill>
                        </a:rPr>
                        <a:t>0.833</a:t>
                      </a:r>
                    </a:p>
                  </a:txBody>
                  <a:tcPr>
                    <a:solidFill>
                      <a:srgbClr val="FFFFFF"/>
                    </a:solidFill>
                  </a:tcPr>
                </a:tc>
                <a:tc>
                  <a:txBody>
                    <a:bodyPr/>
                    <a:lstStyle/>
                    <a:p>
                      <a:pPr algn="ctr"/>
                      <a:r>
                        <a:rPr sz="750" b="0">
                          <a:solidFill>
                            <a:srgbClr val="202020"/>
                          </a:solidFill>
                        </a:rPr>
                        <a:t>0.831</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0.843</a:t>
                      </a:r>
                    </a:p>
                  </a:txBody>
                  <a:tcPr>
                    <a:solidFill>
                      <a:srgbClr val="E6F4EA"/>
                    </a:solidFill>
                  </a:tcPr>
                </a:tc>
                <a:tc>
                  <a:txBody>
                    <a:bodyPr/>
                    <a:lstStyle/>
                    <a:p>
                      <a:pPr algn="ctr"/>
                      <a:r>
                        <a:rPr sz="750" b="0">
                          <a:solidFill>
                            <a:srgbClr val="202020"/>
                          </a:solidFill>
                        </a:rPr>
                        <a:t>0.843</a:t>
                      </a:r>
                    </a:p>
                  </a:txBody>
                  <a:tcPr>
                    <a:solidFill>
                      <a:srgbClr val="E6F4EA"/>
                    </a:solidFill>
                  </a:tcPr>
                </a:tc>
                <a:tc>
                  <a:txBody>
                    <a:bodyPr/>
                    <a:lstStyle/>
                    <a:p>
                      <a:pPr algn="ctr"/>
                      <a:r>
                        <a:rPr sz="750" b="0">
                          <a:solidFill>
                            <a:srgbClr val="202020"/>
                          </a:solidFill>
                        </a:rPr>
                        <a:t>0.843</a:t>
                      </a:r>
                    </a:p>
                  </a:txBody>
                  <a:tcPr>
                    <a:solidFill>
                      <a:srgbClr val="E6F4EA"/>
                    </a:solidFill>
                  </a:tcPr>
                </a:tc>
                <a:tc>
                  <a:txBody>
                    <a:bodyPr/>
                    <a:lstStyle/>
                    <a:p>
                      <a:pPr algn="ctr"/>
                      <a:r>
                        <a:rPr sz="750" b="0">
                          <a:solidFill>
                            <a:srgbClr val="202020"/>
                          </a:solidFill>
                        </a:rPr>
                        <a:t>0.843</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0.776</a:t>
                      </a:r>
                    </a:p>
                  </a:txBody>
                  <a:tcPr>
                    <a:solidFill>
                      <a:srgbClr val="FFFFFF"/>
                    </a:solidFill>
                  </a:tcPr>
                </a:tc>
                <a:tc>
                  <a:txBody>
                    <a:bodyPr/>
                    <a:lstStyle/>
                    <a:p>
                      <a:pPr algn="ctr"/>
                      <a:r>
                        <a:rPr sz="750" b="0">
                          <a:solidFill>
                            <a:srgbClr val="202020"/>
                          </a:solidFill>
                        </a:rPr>
                        <a:t>0.777</a:t>
                      </a:r>
                    </a:p>
                  </a:txBody>
                  <a:tcPr>
                    <a:solidFill>
                      <a:srgbClr val="FFFFFF"/>
                    </a:solidFill>
                  </a:tcPr>
                </a:tc>
                <a:tc>
                  <a:txBody>
                    <a:bodyPr/>
                    <a:lstStyle/>
                    <a:p>
                      <a:pPr algn="ctr"/>
                      <a:r>
                        <a:rPr sz="750" b="0">
                          <a:solidFill>
                            <a:srgbClr val="202020"/>
                          </a:solidFill>
                        </a:rPr>
                        <a:t>0.775</a:t>
                      </a:r>
                    </a:p>
                  </a:txBody>
                  <a:tcPr>
                    <a:solidFill>
                      <a:srgbClr val="FFFFFF"/>
                    </a:solidFill>
                  </a:tcPr>
                </a:tc>
                <a:tc>
                  <a:txBody>
                    <a:bodyPr/>
                    <a:lstStyle/>
                    <a:p>
                      <a:pPr algn="ctr"/>
                      <a:r>
                        <a:rPr sz="750" b="0">
                          <a:solidFill>
                            <a:srgbClr val="202020"/>
                          </a:solidFill>
                        </a:rPr>
                        <a:t>0.777</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0.836</a:t>
                      </a:r>
                    </a:p>
                  </a:txBody>
                  <a:tcPr>
                    <a:solidFill>
                      <a:srgbClr val="E8F0FE"/>
                    </a:solidFill>
                  </a:tcPr>
                </a:tc>
                <a:tc>
                  <a:txBody>
                    <a:bodyPr/>
                    <a:lstStyle/>
                    <a:p>
                      <a:pPr algn="ctr"/>
                      <a:r>
                        <a:rPr sz="750" b="0">
                          <a:solidFill>
                            <a:srgbClr val="202020"/>
                          </a:solidFill>
                        </a:rPr>
                        <a:t>0.834</a:t>
                      </a:r>
                    </a:p>
                  </a:txBody>
                  <a:tcPr>
                    <a:solidFill>
                      <a:srgbClr val="E8F0FE"/>
                    </a:solidFill>
                  </a:tcPr>
                </a:tc>
                <a:tc>
                  <a:txBody>
                    <a:bodyPr/>
                    <a:lstStyle/>
                    <a:p>
                      <a:pPr algn="ctr"/>
                      <a:r>
                        <a:rPr sz="750" b="0">
                          <a:solidFill>
                            <a:srgbClr val="202020"/>
                          </a:solidFill>
                        </a:rPr>
                        <a:t>0.836</a:t>
                      </a:r>
                    </a:p>
                  </a:txBody>
                  <a:tcPr>
                    <a:solidFill>
                      <a:srgbClr val="E8F0FE"/>
                    </a:solidFill>
                  </a:tcPr>
                </a:tc>
                <a:tc>
                  <a:txBody>
                    <a:bodyPr/>
                    <a:lstStyle/>
                    <a:p>
                      <a:pPr algn="ctr"/>
                      <a:r>
                        <a:rPr sz="750" b="0">
                          <a:solidFill>
                            <a:srgbClr val="202020"/>
                          </a:solidFill>
                        </a:rPr>
                        <a:t>0.834</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0.667</a:t>
                      </a:r>
                    </a:p>
                  </a:txBody>
                  <a:tcPr>
                    <a:solidFill>
                      <a:srgbClr val="E8F0FE"/>
                    </a:solidFill>
                  </a:tcPr>
                </a:tc>
                <a:tc>
                  <a:txBody>
                    <a:bodyPr/>
                    <a:lstStyle/>
                    <a:p>
                      <a:pPr algn="ctr"/>
                      <a:r>
                        <a:rPr sz="750" b="0">
                          <a:solidFill>
                            <a:srgbClr val="202020"/>
                          </a:solidFill>
                        </a:rPr>
                        <a:t>0.674</a:t>
                      </a:r>
                    </a:p>
                  </a:txBody>
                  <a:tcPr>
                    <a:solidFill>
                      <a:srgbClr val="E8F0FE"/>
                    </a:solidFill>
                  </a:tcPr>
                </a:tc>
                <a:tc>
                  <a:txBody>
                    <a:bodyPr/>
                    <a:lstStyle/>
                    <a:p>
                      <a:pPr algn="ctr"/>
                      <a:r>
                        <a:rPr sz="750" b="0">
                          <a:solidFill>
                            <a:srgbClr val="202020"/>
                          </a:solidFill>
                        </a:rPr>
                        <a:t>0.663</a:t>
                      </a:r>
                    </a:p>
                  </a:txBody>
                  <a:tcPr>
                    <a:solidFill>
                      <a:srgbClr val="E8F0FE"/>
                    </a:solidFill>
                  </a:tcPr>
                </a:tc>
                <a:tc>
                  <a:txBody>
                    <a:bodyPr/>
                    <a:lstStyle/>
                    <a:p>
                      <a:pPr algn="ctr"/>
                      <a:r>
                        <a:rPr sz="750" b="0">
                          <a:solidFill>
                            <a:srgbClr val="202020"/>
                          </a:solidFill>
                        </a:rPr>
                        <a:t>0.674</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0.799</a:t>
                      </a:r>
                    </a:p>
                  </a:txBody>
                  <a:tcPr>
                    <a:solidFill>
                      <a:srgbClr val="E8F0FE"/>
                    </a:solidFill>
                  </a:tcPr>
                </a:tc>
                <a:tc>
                  <a:txBody>
                    <a:bodyPr/>
                    <a:lstStyle/>
                    <a:p>
                      <a:pPr algn="ctr"/>
                      <a:r>
                        <a:rPr sz="750" b="0">
                          <a:solidFill>
                            <a:srgbClr val="202020"/>
                          </a:solidFill>
                        </a:rPr>
                        <a:t>0.795</a:t>
                      </a:r>
                    </a:p>
                  </a:txBody>
                  <a:tcPr>
                    <a:solidFill>
                      <a:srgbClr val="E8F0FE"/>
                    </a:solidFill>
                  </a:tcPr>
                </a:tc>
                <a:tc>
                  <a:txBody>
                    <a:bodyPr/>
                    <a:lstStyle/>
                    <a:p>
                      <a:pPr algn="ctr"/>
                      <a:r>
                        <a:rPr sz="750" b="0">
                          <a:solidFill>
                            <a:srgbClr val="202020"/>
                          </a:solidFill>
                        </a:rPr>
                        <a:t>0.797</a:t>
                      </a:r>
                    </a:p>
                  </a:txBody>
                  <a:tcPr>
                    <a:solidFill>
                      <a:srgbClr val="E8F0FE"/>
                    </a:solidFill>
                  </a:tcPr>
                </a:tc>
                <a:tc>
                  <a:txBody>
                    <a:bodyPr/>
                    <a:lstStyle/>
                    <a:p>
                      <a:pPr algn="ctr"/>
                      <a:r>
                        <a:rPr sz="750" b="0">
                          <a:solidFill>
                            <a:srgbClr val="202020"/>
                          </a:solidFill>
                        </a:rPr>
                        <a:t>0.795</a:t>
                      </a:r>
                    </a:p>
                  </a:txBody>
                  <a:tcPr>
                    <a:solidFill>
                      <a:srgbClr val="E8F0FE"/>
                    </a:solidFill>
                  </a:tcPr>
                </a:tc>
              </a:tr>
            </a:tbl>
          </a:graphicData>
        </a:graphic>
      </p:graphicFrame>
      <p:sp>
        <p:nvSpPr>
          <p:cNvPr id="10" name="TextBox 9"/>
          <p:cNvSpPr txBox="1"/>
          <p:nvPr/>
        </p:nvSpPr>
        <p:spPr>
          <a:xfrm>
            <a:off x="4617720" y="548640"/>
            <a:ext cx="4206240" cy="201168"/>
          </a:xfrm>
          <a:prstGeom prst="rect">
            <a:avLst/>
          </a:prstGeom>
          <a:noFill/>
        </p:spPr>
        <p:txBody>
          <a:bodyPr wrap="none">
            <a:spAutoFit/>
          </a:bodyPr>
          <a:lstStyle/>
          <a:p>
            <a:pPr algn="l"/>
            <a:r>
              <a:rPr sz="950" b="1" i="0">
                <a:solidFill>
                  <a:srgbClr val="1A73E8"/>
                </a:solidFill>
              </a:rPr>
              <a:t>KDEF 4-Class</a:t>
            </a:r>
          </a:p>
        </p:txBody>
      </p:sp>
      <p:graphicFrame>
        <p:nvGraphicFramePr>
          <p:cNvPr id="11" name="Table 10"/>
          <p:cNvGraphicFramePr>
            <a:graphicFrameLocks noGrp="1"/>
          </p:cNvGraphicFramePr>
          <p:nvPr/>
        </p:nvGraphicFramePr>
        <p:xfrm>
          <a:off x="4617720" y="768096"/>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0.841</a:t>
                      </a:r>
                    </a:p>
                  </a:txBody>
                  <a:tcPr>
                    <a:solidFill>
                      <a:srgbClr val="E8F0FE"/>
                    </a:solidFill>
                  </a:tcPr>
                </a:tc>
                <a:tc>
                  <a:txBody>
                    <a:bodyPr/>
                    <a:lstStyle/>
                    <a:p>
                      <a:pPr algn="ctr"/>
                      <a:r>
                        <a:rPr sz="750" b="0">
                          <a:solidFill>
                            <a:srgbClr val="202020"/>
                          </a:solidFill>
                        </a:rPr>
                        <a:t>0.872</a:t>
                      </a:r>
                    </a:p>
                  </a:txBody>
                  <a:tcPr>
                    <a:solidFill>
                      <a:srgbClr val="E8F0FE"/>
                    </a:solidFill>
                  </a:tcPr>
                </a:tc>
                <a:tc>
                  <a:txBody>
                    <a:bodyPr/>
                    <a:lstStyle/>
                    <a:p>
                      <a:pPr algn="ctr"/>
                      <a:r>
                        <a:rPr sz="750" b="0">
                          <a:solidFill>
                            <a:srgbClr val="202020"/>
                          </a:solidFill>
                        </a:rPr>
                        <a:t>0.872</a:t>
                      </a:r>
                    </a:p>
                  </a:txBody>
                  <a:tcPr>
                    <a:solidFill>
                      <a:srgbClr val="E8F0FE"/>
                    </a:solidFill>
                  </a:tcPr>
                </a:tc>
                <a:tc>
                  <a:txBody>
                    <a:bodyPr/>
                    <a:lstStyle/>
                    <a:p>
                      <a:pPr algn="ctr"/>
                      <a:r>
                        <a:rPr sz="750" b="0">
                          <a:solidFill>
                            <a:srgbClr val="202020"/>
                          </a:solidFill>
                        </a:rPr>
                        <a:t>0.872</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0.678</a:t>
                      </a:r>
                    </a:p>
                  </a:txBody>
                  <a:tcPr>
                    <a:solidFill>
                      <a:srgbClr val="FFFFFF"/>
                    </a:solidFill>
                  </a:tcPr>
                </a:tc>
                <a:tc>
                  <a:txBody>
                    <a:bodyPr/>
                    <a:lstStyle/>
                    <a:p>
                      <a:pPr algn="ctr"/>
                      <a:r>
                        <a:rPr sz="750" b="0">
                          <a:solidFill>
                            <a:srgbClr val="202020"/>
                          </a:solidFill>
                        </a:rPr>
                        <a:t>0.792</a:t>
                      </a:r>
                    </a:p>
                  </a:txBody>
                  <a:tcPr>
                    <a:solidFill>
                      <a:srgbClr val="FFFFFF"/>
                    </a:solidFill>
                  </a:tcPr>
                </a:tc>
                <a:tc>
                  <a:txBody>
                    <a:bodyPr/>
                    <a:lstStyle/>
                    <a:p>
                      <a:pPr algn="ctr"/>
                      <a:r>
                        <a:rPr sz="750" b="0">
                          <a:solidFill>
                            <a:srgbClr val="202020"/>
                          </a:solidFill>
                        </a:rPr>
                        <a:t>0.766</a:t>
                      </a:r>
                    </a:p>
                  </a:txBody>
                  <a:tcPr>
                    <a:solidFill>
                      <a:srgbClr val="FFFFFF"/>
                    </a:solidFill>
                  </a:tcPr>
                </a:tc>
                <a:tc>
                  <a:txBody>
                    <a:bodyPr/>
                    <a:lstStyle/>
                    <a:p>
                      <a:pPr algn="ctr"/>
                      <a:r>
                        <a:rPr sz="750" b="0">
                          <a:solidFill>
                            <a:srgbClr val="202020"/>
                          </a:solidFill>
                        </a:rPr>
                        <a:t>0.792</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0.776</a:t>
                      </a:r>
                    </a:p>
                  </a:txBody>
                  <a:tcPr>
                    <a:solidFill>
                      <a:srgbClr val="E8F0FE"/>
                    </a:solidFill>
                  </a:tcPr>
                </a:tc>
                <a:tc>
                  <a:txBody>
                    <a:bodyPr/>
                    <a:lstStyle/>
                    <a:p>
                      <a:pPr algn="ctr"/>
                      <a:r>
                        <a:rPr sz="750" b="0">
                          <a:solidFill>
                            <a:srgbClr val="202020"/>
                          </a:solidFill>
                        </a:rPr>
                        <a:t>0.831</a:t>
                      </a:r>
                    </a:p>
                  </a:txBody>
                  <a:tcPr>
                    <a:solidFill>
                      <a:srgbClr val="E8F0FE"/>
                    </a:solidFill>
                  </a:tcPr>
                </a:tc>
                <a:tc>
                  <a:txBody>
                    <a:bodyPr/>
                    <a:lstStyle/>
                    <a:p>
                      <a:pPr algn="ctr"/>
                      <a:r>
                        <a:rPr sz="750" b="0">
                          <a:solidFill>
                            <a:srgbClr val="202020"/>
                          </a:solidFill>
                        </a:rPr>
                        <a:t>0.828</a:t>
                      </a:r>
                    </a:p>
                  </a:txBody>
                  <a:tcPr>
                    <a:solidFill>
                      <a:srgbClr val="E8F0FE"/>
                    </a:solidFill>
                  </a:tcPr>
                </a:tc>
                <a:tc>
                  <a:txBody>
                    <a:bodyPr/>
                    <a:lstStyle/>
                    <a:p>
                      <a:pPr algn="ctr"/>
                      <a:r>
                        <a:rPr sz="750" b="0">
                          <a:solidFill>
                            <a:srgbClr val="202020"/>
                          </a:solidFill>
                        </a:rPr>
                        <a:t>0.831</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0.918</a:t>
                      </a:r>
                    </a:p>
                  </a:txBody>
                  <a:tcPr>
                    <a:solidFill>
                      <a:srgbClr val="FFFFFF"/>
                    </a:solidFill>
                  </a:tcPr>
                </a:tc>
                <a:tc>
                  <a:txBody>
                    <a:bodyPr/>
                    <a:lstStyle/>
                    <a:p>
                      <a:pPr algn="ctr"/>
                      <a:r>
                        <a:rPr sz="750" b="0">
                          <a:solidFill>
                            <a:srgbClr val="202020"/>
                          </a:solidFill>
                        </a:rPr>
                        <a:t>0.929</a:t>
                      </a:r>
                    </a:p>
                  </a:txBody>
                  <a:tcPr>
                    <a:solidFill>
                      <a:srgbClr val="FFFFFF"/>
                    </a:solidFill>
                  </a:tcPr>
                </a:tc>
                <a:tc>
                  <a:txBody>
                    <a:bodyPr/>
                    <a:lstStyle/>
                    <a:p>
                      <a:pPr algn="ctr"/>
                      <a:r>
                        <a:rPr sz="750" b="0">
                          <a:solidFill>
                            <a:srgbClr val="202020"/>
                          </a:solidFill>
                        </a:rPr>
                        <a:t>0.928</a:t>
                      </a:r>
                    </a:p>
                  </a:txBody>
                  <a:tcPr>
                    <a:solidFill>
                      <a:srgbClr val="FFFFFF"/>
                    </a:solidFill>
                  </a:tcPr>
                </a:tc>
                <a:tc>
                  <a:txBody>
                    <a:bodyPr/>
                    <a:lstStyle/>
                    <a:p>
                      <a:pPr algn="ctr"/>
                      <a:r>
                        <a:rPr sz="750" b="0">
                          <a:solidFill>
                            <a:srgbClr val="202020"/>
                          </a:solidFill>
                        </a:rPr>
                        <a:t>0.929</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0.923</a:t>
                      </a:r>
                    </a:p>
                  </a:txBody>
                  <a:tcPr>
                    <a:solidFill>
                      <a:srgbClr val="E6F4EA"/>
                    </a:solidFill>
                  </a:tcPr>
                </a:tc>
                <a:tc>
                  <a:txBody>
                    <a:bodyPr/>
                    <a:lstStyle/>
                    <a:p>
                      <a:pPr algn="ctr"/>
                      <a:r>
                        <a:rPr sz="750" b="0">
                          <a:solidFill>
                            <a:srgbClr val="202020"/>
                          </a:solidFill>
                        </a:rPr>
                        <a:t>0.929</a:t>
                      </a:r>
                    </a:p>
                  </a:txBody>
                  <a:tcPr>
                    <a:solidFill>
                      <a:srgbClr val="E6F4EA"/>
                    </a:solidFill>
                  </a:tcPr>
                </a:tc>
                <a:tc>
                  <a:txBody>
                    <a:bodyPr/>
                    <a:lstStyle/>
                    <a:p>
                      <a:pPr algn="ctr"/>
                      <a:r>
                        <a:rPr sz="750" b="0">
                          <a:solidFill>
                            <a:srgbClr val="202020"/>
                          </a:solidFill>
                        </a:rPr>
                        <a:t>0.929</a:t>
                      </a:r>
                    </a:p>
                  </a:txBody>
                  <a:tcPr>
                    <a:solidFill>
                      <a:srgbClr val="E6F4EA"/>
                    </a:solidFill>
                  </a:tcPr>
                </a:tc>
                <a:tc>
                  <a:txBody>
                    <a:bodyPr/>
                    <a:lstStyle/>
                    <a:p>
                      <a:pPr algn="ctr"/>
                      <a:r>
                        <a:rPr sz="750" b="0">
                          <a:solidFill>
                            <a:srgbClr val="202020"/>
                          </a:solidFill>
                        </a:rPr>
                        <a:t>0.929</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0.859</a:t>
                      </a:r>
                    </a:p>
                  </a:txBody>
                  <a:tcPr>
                    <a:solidFill>
                      <a:srgbClr val="FFFFFF"/>
                    </a:solidFill>
                  </a:tcPr>
                </a:tc>
                <a:tc>
                  <a:txBody>
                    <a:bodyPr/>
                    <a:lstStyle/>
                    <a:p>
                      <a:pPr algn="ctr"/>
                      <a:r>
                        <a:rPr sz="750" b="0">
                          <a:solidFill>
                            <a:srgbClr val="202020"/>
                          </a:solidFill>
                        </a:rPr>
                        <a:t>0.890</a:t>
                      </a:r>
                    </a:p>
                  </a:txBody>
                  <a:tcPr>
                    <a:solidFill>
                      <a:srgbClr val="FFFFFF"/>
                    </a:solidFill>
                  </a:tcPr>
                </a:tc>
                <a:tc>
                  <a:txBody>
                    <a:bodyPr/>
                    <a:lstStyle/>
                    <a:p>
                      <a:pPr algn="ctr"/>
                      <a:r>
                        <a:rPr sz="750" b="0">
                          <a:solidFill>
                            <a:srgbClr val="202020"/>
                          </a:solidFill>
                        </a:rPr>
                        <a:t>0.888</a:t>
                      </a:r>
                    </a:p>
                  </a:txBody>
                  <a:tcPr>
                    <a:solidFill>
                      <a:srgbClr val="FFFFFF"/>
                    </a:solidFill>
                  </a:tcPr>
                </a:tc>
                <a:tc>
                  <a:txBody>
                    <a:bodyPr/>
                    <a:lstStyle/>
                    <a:p>
                      <a:pPr algn="ctr"/>
                      <a:r>
                        <a:rPr sz="750" b="0">
                          <a:solidFill>
                            <a:srgbClr val="202020"/>
                          </a:solidFill>
                        </a:rPr>
                        <a:t>0.890</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0.920</a:t>
                      </a:r>
                    </a:p>
                  </a:txBody>
                  <a:tcPr>
                    <a:solidFill>
                      <a:srgbClr val="E8F0FE"/>
                    </a:solidFill>
                  </a:tcPr>
                </a:tc>
                <a:tc>
                  <a:txBody>
                    <a:bodyPr/>
                    <a:lstStyle/>
                    <a:p>
                      <a:pPr algn="ctr"/>
                      <a:r>
                        <a:rPr sz="750" b="0">
                          <a:solidFill>
                            <a:srgbClr val="202020"/>
                          </a:solidFill>
                        </a:rPr>
                        <a:t>0.932</a:t>
                      </a:r>
                    </a:p>
                  </a:txBody>
                  <a:tcPr>
                    <a:solidFill>
                      <a:srgbClr val="E8F0FE"/>
                    </a:solidFill>
                  </a:tcPr>
                </a:tc>
                <a:tc>
                  <a:txBody>
                    <a:bodyPr/>
                    <a:lstStyle/>
                    <a:p>
                      <a:pPr algn="ctr"/>
                      <a:r>
                        <a:rPr sz="750" b="0">
                          <a:solidFill>
                            <a:srgbClr val="202020"/>
                          </a:solidFill>
                        </a:rPr>
                        <a:t>0.930</a:t>
                      </a:r>
                    </a:p>
                  </a:txBody>
                  <a:tcPr>
                    <a:solidFill>
                      <a:srgbClr val="E8F0FE"/>
                    </a:solidFill>
                  </a:tcPr>
                </a:tc>
                <a:tc>
                  <a:txBody>
                    <a:bodyPr/>
                    <a:lstStyle/>
                    <a:p>
                      <a:pPr algn="ctr"/>
                      <a:r>
                        <a:rPr sz="750" b="0">
                          <a:solidFill>
                            <a:srgbClr val="202020"/>
                          </a:solidFill>
                        </a:rPr>
                        <a:t>0.932</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0.693</a:t>
                      </a:r>
                    </a:p>
                  </a:txBody>
                  <a:tcPr>
                    <a:solidFill>
                      <a:srgbClr val="E8F0FE"/>
                    </a:solidFill>
                  </a:tcPr>
                </a:tc>
                <a:tc>
                  <a:txBody>
                    <a:bodyPr/>
                    <a:lstStyle/>
                    <a:p>
                      <a:pPr algn="ctr"/>
                      <a:r>
                        <a:rPr sz="750" b="0">
                          <a:solidFill>
                            <a:srgbClr val="202020"/>
                          </a:solidFill>
                        </a:rPr>
                        <a:t>0.763</a:t>
                      </a:r>
                    </a:p>
                  </a:txBody>
                  <a:tcPr>
                    <a:solidFill>
                      <a:srgbClr val="E8F0FE"/>
                    </a:solidFill>
                  </a:tcPr>
                </a:tc>
                <a:tc>
                  <a:txBody>
                    <a:bodyPr/>
                    <a:lstStyle/>
                    <a:p>
                      <a:pPr algn="ctr"/>
                      <a:r>
                        <a:rPr sz="750" b="0">
                          <a:solidFill>
                            <a:srgbClr val="202020"/>
                          </a:solidFill>
                        </a:rPr>
                        <a:t>0.764</a:t>
                      </a:r>
                    </a:p>
                  </a:txBody>
                  <a:tcPr>
                    <a:solidFill>
                      <a:srgbClr val="E8F0FE"/>
                    </a:solidFill>
                  </a:tcPr>
                </a:tc>
                <a:tc>
                  <a:txBody>
                    <a:bodyPr/>
                    <a:lstStyle/>
                    <a:p>
                      <a:pPr algn="ctr"/>
                      <a:r>
                        <a:rPr sz="750" b="0">
                          <a:solidFill>
                            <a:srgbClr val="202020"/>
                          </a:solidFill>
                        </a:rPr>
                        <a:t>0.763</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0.816</a:t>
                      </a:r>
                    </a:p>
                  </a:txBody>
                  <a:tcPr>
                    <a:solidFill>
                      <a:srgbClr val="E8F0FE"/>
                    </a:solidFill>
                  </a:tcPr>
                </a:tc>
                <a:tc>
                  <a:txBody>
                    <a:bodyPr/>
                    <a:lstStyle/>
                    <a:p>
                      <a:pPr algn="ctr"/>
                      <a:r>
                        <a:rPr sz="750" b="0">
                          <a:solidFill>
                            <a:srgbClr val="202020"/>
                          </a:solidFill>
                        </a:rPr>
                        <a:t>0.855</a:t>
                      </a:r>
                    </a:p>
                  </a:txBody>
                  <a:tcPr>
                    <a:solidFill>
                      <a:srgbClr val="E8F0FE"/>
                    </a:solidFill>
                  </a:tcPr>
                </a:tc>
                <a:tc>
                  <a:txBody>
                    <a:bodyPr/>
                    <a:lstStyle/>
                    <a:p>
                      <a:pPr algn="ctr"/>
                      <a:r>
                        <a:rPr sz="750" b="0">
                          <a:solidFill>
                            <a:srgbClr val="202020"/>
                          </a:solidFill>
                        </a:rPr>
                        <a:t>0.854</a:t>
                      </a:r>
                    </a:p>
                  </a:txBody>
                  <a:tcPr>
                    <a:solidFill>
                      <a:srgbClr val="E8F0FE"/>
                    </a:solidFill>
                  </a:tcPr>
                </a:tc>
                <a:tc>
                  <a:txBody>
                    <a:bodyPr/>
                    <a:lstStyle/>
                    <a:p>
                      <a:pPr algn="ctr"/>
                      <a:r>
                        <a:rPr sz="750" b="0">
                          <a:solidFill>
                            <a:srgbClr val="202020"/>
                          </a:solidFill>
                        </a:rPr>
                        <a:t>0.855</a:t>
                      </a:r>
                    </a:p>
                  </a:txBody>
                  <a:tcPr>
                    <a:solidFill>
                      <a:srgbClr val="E8F0FE"/>
                    </a:solidFill>
                  </a:tcPr>
                </a:tc>
              </a:tr>
            </a:tbl>
          </a:graphicData>
        </a:graphic>
      </p:graphicFrame>
      <p:sp>
        <p:nvSpPr>
          <p:cNvPr id="12" name="TextBox 11"/>
          <p:cNvSpPr txBox="1"/>
          <p:nvPr/>
        </p:nvSpPr>
        <p:spPr>
          <a:xfrm>
            <a:off x="274320" y="5715000"/>
            <a:ext cx="8595360" cy="365760"/>
          </a:xfrm>
          <a:prstGeom prst="rect">
            <a:avLst/>
          </a:prstGeom>
          <a:solidFill>
            <a:srgbClr val="E6F4EA"/>
          </a:solidFill>
        </p:spPr>
        <p:txBody>
          <a:bodyPr wrap="square">
            <a:spAutoFit/>
          </a:bodyPr>
          <a:lstStyle/>
          <a:p>
            <a:pPr algn="l"/>
            <a:r>
              <a:rPr sz="900" b="1" i="0">
                <a:solidFill>
                  <a:srgbClr val="0F9D58"/>
                </a:solidFill>
              </a:rPr>
              <a:t>Pola konsisten: Intermediate TL unggul di RAF-DB/KDEF 4c. Late Fusion TL kompetitif (selisih &lt;0.01).</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1 Lengkap — Primer (+ Summary)</a:t>
            </a:r>
          </a:p>
        </p:txBody>
      </p:sp>
      <p:sp>
        <p:nvSpPr>
          <p:cNvPr id="4" name="TextBox 3"/>
          <p:cNvSpPr txBox="1"/>
          <p:nvPr/>
        </p:nvSpPr>
        <p:spPr>
          <a:xfrm>
            <a:off x="274320" y="548640"/>
            <a:ext cx="4206240" cy="201168"/>
          </a:xfrm>
          <a:prstGeom prst="rect">
            <a:avLst/>
          </a:prstGeom>
          <a:noFill/>
        </p:spPr>
        <p:txBody>
          <a:bodyPr wrap="none">
            <a:spAutoFit/>
          </a:bodyPr>
          <a:lstStyle/>
          <a:p>
            <a:pPr algn="l"/>
            <a:r>
              <a:rPr sz="950" b="1" i="0">
                <a:solidFill>
                  <a:srgbClr val="1A73E8"/>
                </a:solidFill>
              </a:rPr>
              <a:t>Primer 7-Class (conf60, B1 baseline)</a:t>
            </a:r>
          </a:p>
        </p:txBody>
      </p:sp>
      <p:graphicFrame>
        <p:nvGraphicFramePr>
          <p:cNvPr id="5" name="Table 4"/>
          <p:cNvGraphicFramePr>
            <a:graphicFrameLocks noGrp="1"/>
          </p:cNvGraphicFramePr>
          <p:nvPr/>
        </p:nvGraphicFramePr>
        <p:xfrm>
          <a:off x="274320" y="768096"/>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0.270</a:t>
                      </a:r>
                    </a:p>
                  </a:txBody>
                  <a:tcPr>
                    <a:solidFill>
                      <a:srgbClr val="E8F0FE"/>
                    </a:solidFill>
                  </a:tcPr>
                </a:tc>
                <a:tc>
                  <a:txBody>
                    <a:bodyPr/>
                    <a:lstStyle/>
                    <a:p>
                      <a:pPr algn="ctr"/>
                      <a:r>
                        <a:rPr sz="750" b="0">
                          <a:solidFill>
                            <a:srgbClr val="202020"/>
                          </a:solidFill>
                        </a:rPr>
                        <a:t>0.787</a:t>
                      </a:r>
                    </a:p>
                  </a:txBody>
                  <a:tcPr>
                    <a:solidFill>
                      <a:srgbClr val="E8F0FE"/>
                    </a:solidFill>
                  </a:tcPr>
                </a:tc>
                <a:tc>
                  <a:txBody>
                    <a:bodyPr/>
                    <a:lstStyle/>
                    <a:p>
                      <a:pPr algn="ctr"/>
                      <a:r>
                        <a:rPr sz="750" b="0">
                          <a:solidFill>
                            <a:srgbClr val="202020"/>
                          </a:solidFill>
                        </a:rPr>
                        <a:t>0.795</a:t>
                      </a:r>
                    </a:p>
                  </a:txBody>
                  <a:tcPr>
                    <a:solidFill>
                      <a:srgbClr val="E8F0FE"/>
                    </a:solidFill>
                  </a:tcPr>
                </a:tc>
                <a:tc>
                  <a:txBody>
                    <a:bodyPr/>
                    <a:lstStyle/>
                    <a:p>
                      <a:pPr algn="ctr"/>
                      <a:r>
                        <a:rPr sz="750" b="0">
                          <a:solidFill>
                            <a:srgbClr val="202020"/>
                          </a:solidFill>
                        </a:rPr>
                        <a:t>0.787</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0.261</a:t>
                      </a:r>
                    </a:p>
                  </a:txBody>
                  <a:tcPr>
                    <a:solidFill>
                      <a:srgbClr val="FFFFFF"/>
                    </a:solidFill>
                  </a:tcPr>
                </a:tc>
                <a:tc>
                  <a:txBody>
                    <a:bodyPr/>
                    <a:lstStyle/>
                    <a:p>
                      <a:pPr algn="ctr"/>
                      <a:r>
                        <a:rPr sz="750" b="0">
                          <a:solidFill>
                            <a:srgbClr val="202020"/>
                          </a:solidFill>
                        </a:rPr>
                        <a:t>0.766</a:t>
                      </a:r>
                    </a:p>
                  </a:txBody>
                  <a:tcPr>
                    <a:solidFill>
                      <a:srgbClr val="FFFFFF"/>
                    </a:solidFill>
                  </a:tcPr>
                </a:tc>
                <a:tc>
                  <a:txBody>
                    <a:bodyPr/>
                    <a:lstStyle/>
                    <a:p>
                      <a:pPr algn="ctr"/>
                      <a:r>
                        <a:rPr sz="750" b="0">
                          <a:solidFill>
                            <a:srgbClr val="202020"/>
                          </a:solidFill>
                        </a:rPr>
                        <a:t>0.792</a:t>
                      </a:r>
                    </a:p>
                  </a:txBody>
                  <a:tcPr>
                    <a:solidFill>
                      <a:srgbClr val="FFFFFF"/>
                    </a:solidFill>
                  </a:tcPr>
                </a:tc>
                <a:tc>
                  <a:txBody>
                    <a:bodyPr/>
                    <a:lstStyle/>
                    <a:p>
                      <a:pPr algn="ctr"/>
                      <a:r>
                        <a:rPr sz="750" b="0">
                          <a:solidFill>
                            <a:srgbClr val="202020"/>
                          </a:solidFill>
                        </a:rPr>
                        <a:t>0.766</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0.260</a:t>
                      </a:r>
                    </a:p>
                  </a:txBody>
                  <a:tcPr>
                    <a:solidFill>
                      <a:srgbClr val="E8F0FE"/>
                    </a:solidFill>
                  </a:tcPr>
                </a:tc>
                <a:tc>
                  <a:txBody>
                    <a:bodyPr/>
                    <a:lstStyle/>
                    <a:p>
                      <a:pPr algn="ctr"/>
                      <a:r>
                        <a:rPr sz="750" b="0">
                          <a:solidFill>
                            <a:srgbClr val="202020"/>
                          </a:solidFill>
                        </a:rPr>
                        <a:t>0.799</a:t>
                      </a:r>
                    </a:p>
                  </a:txBody>
                  <a:tcPr>
                    <a:solidFill>
                      <a:srgbClr val="E8F0FE"/>
                    </a:solidFill>
                  </a:tcPr>
                </a:tc>
                <a:tc>
                  <a:txBody>
                    <a:bodyPr/>
                    <a:lstStyle/>
                    <a:p>
                      <a:pPr algn="ctr"/>
                      <a:r>
                        <a:rPr sz="750" b="0">
                          <a:solidFill>
                            <a:srgbClr val="202020"/>
                          </a:solidFill>
                        </a:rPr>
                        <a:t>0.793</a:t>
                      </a:r>
                    </a:p>
                  </a:txBody>
                  <a:tcPr>
                    <a:solidFill>
                      <a:srgbClr val="E8F0FE"/>
                    </a:solidFill>
                  </a:tcPr>
                </a:tc>
                <a:tc>
                  <a:txBody>
                    <a:bodyPr/>
                    <a:lstStyle/>
                    <a:p>
                      <a:pPr algn="ctr"/>
                      <a:r>
                        <a:rPr sz="750" b="0">
                          <a:solidFill>
                            <a:srgbClr val="202020"/>
                          </a:solidFill>
                        </a:rPr>
                        <a:t>0.799</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0.281</a:t>
                      </a:r>
                    </a:p>
                  </a:txBody>
                  <a:tcPr>
                    <a:solidFill>
                      <a:srgbClr val="FFFFFF"/>
                    </a:solidFill>
                  </a:tcPr>
                </a:tc>
                <a:tc>
                  <a:txBody>
                    <a:bodyPr/>
                    <a:lstStyle/>
                    <a:p>
                      <a:pPr algn="ctr"/>
                      <a:r>
                        <a:rPr sz="750" b="0">
                          <a:solidFill>
                            <a:srgbClr val="202020"/>
                          </a:solidFill>
                        </a:rPr>
                        <a:t>0.819</a:t>
                      </a:r>
                    </a:p>
                  </a:txBody>
                  <a:tcPr>
                    <a:solidFill>
                      <a:srgbClr val="FFFFFF"/>
                    </a:solidFill>
                  </a:tcPr>
                </a:tc>
                <a:tc>
                  <a:txBody>
                    <a:bodyPr/>
                    <a:lstStyle/>
                    <a:p>
                      <a:pPr algn="ctr"/>
                      <a:r>
                        <a:rPr sz="750" b="0">
                          <a:solidFill>
                            <a:srgbClr val="202020"/>
                          </a:solidFill>
                        </a:rPr>
                        <a:t>0.814</a:t>
                      </a:r>
                    </a:p>
                  </a:txBody>
                  <a:tcPr>
                    <a:solidFill>
                      <a:srgbClr val="FFFFFF"/>
                    </a:solidFill>
                  </a:tcPr>
                </a:tc>
                <a:tc>
                  <a:txBody>
                    <a:bodyPr/>
                    <a:lstStyle/>
                    <a:p>
                      <a:pPr algn="ctr"/>
                      <a:r>
                        <a:rPr sz="750" b="0">
                          <a:solidFill>
                            <a:srgbClr val="202020"/>
                          </a:solidFill>
                        </a:rPr>
                        <a:t>0.819</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0.292</a:t>
                      </a:r>
                    </a:p>
                  </a:txBody>
                  <a:tcPr>
                    <a:solidFill>
                      <a:srgbClr val="E6F4EA"/>
                    </a:solidFill>
                  </a:tcPr>
                </a:tc>
                <a:tc>
                  <a:txBody>
                    <a:bodyPr/>
                    <a:lstStyle/>
                    <a:p>
                      <a:pPr algn="ctr"/>
                      <a:r>
                        <a:rPr sz="750" b="0">
                          <a:solidFill>
                            <a:srgbClr val="202020"/>
                          </a:solidFill>
                        </a:rPr>
                        <a:t>0.808</a:t>
                      </a:r>
                    </a:p>
                  </a:txBody>
                  <a:tcPr>
                    <a:solidFill>
                      <a:srgbClr val="E6F4EA"/>
                    </a:solidFill>
                  </a:tcPr>
                </a:tc>
                <a:tc>
                  <a:txBody>
                    <a:bodyPr/>
                    <a:lstStyle/>
                    <a:p>
                      <a:pPr algn="ctr"/>
                      <a:r>
                        <a:rPr sz="750" b="0">
                          <a:solidFill>
                            <a:srgbClr val="202020"/>
                          </a:solidFill>
                        </a:rPr>
                        <a:t>0.819</a:t>
                      </a:r>
                    </a:p>
                  </a:txBody>
                  <a:tcPr>
                    <a:solidFill>
                      <a:srgbClr val="E6F4EA"/>
                    </a:solidFill>
                  </a:tcPr>
                </a:tc>
                <a:tc>
                  <a:txBody>
                    <a:bodyPr/>
                    <a:lstStyle/>
                    <a:p>
                      <a:pPr algn="ctr"/>
                      <a:r>
                        <a:rPr sz="750" b="0">
                          <a:solidFill>
                            <a:srgbClr val="202020"/>
                          </a:solidFill>
                        </a:rPr>
                        <a:t>0.808</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0.270</a:t>
                      </a:r>
                    </a:p>
                  </a:txBody>
                  <a:tcPr>
                    <a:solidFill>
                      <a:srgbClr val="FFFFFF"/>
                    </a:solidFill>
                  </a:tcPr>
                </a:tc>
                <a:tc>
                  <a:txBody>
                    <a:bodyPr/>
                    <a:lstStyle/>
                    <a:p>
                      <a:pPr algn="ctr"/>
                      <a:r>
                        <a:rPr sz="750" b="0">
                          <a:solidFill>
                            <a:srgbClr val="202020"/>
                          </a:solidFill>
                        </a:rPr>
                        <a:t>0.816</a:t>
                      </a:r>
                    </a:p>
                  </a:txBody>
                  <a:tcPr>
                    <a:solidFill>
                      <a:srgbClr val="FFFFFF"/>
                    </a:solidFill>
                  </a:tcPr>
                </a:tc>
                <a:tc>
                  <a:txBody>
                    <a:bodyPr/>
                    <a:lstStyle/>
                    <a:p>
                      <a:pPr algn="ctr"/>
                      <a:r>
                        <a:rPr sz="750" b="0">
                          <a:solidFill>
                            <a:srgbClr val="202020"/>
                          </a:solidFill>
                        </a:rPr>
                        <a:t>0.812</a:t>
                      </a:r>
                    </a:p>
                  </a:txBody>
                  <a:tcPr>
                    <a:solidFill>
                      <a:srgbClr val="FFFFFF"/>
                    </a:solidFill>
                  </a:tcPr>
                </a:tc>
                <a:tc>
                  <a:txBody>
                    <a:bodyPr/>
                    <a:lstStyle/>
                    <a:p>
                      <a:pPr algn="ctr"/>
                      <a:r>
                        <a:rPr sz="750" b="0">
                          <a:solidFill>
                            <a:srgbClr val="202020"/>
                          </a:solidFill>
                        </a:rPr>
                        <a:t>0.816</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0.238</a:t>
                      </a:r>
                    </a:p>
                  </a:txBody>
                  <a:tcPr>
                    <a:solidFill>
                      <a:srgbClr val="E8F0FE"/>
                    </a:solidFill>
                  </a:tcPr>
                </a:tc>
                <a:tc>
                  <a:txBody>
                    <a:bodyPr/>
                    <a:lstStyle/>
                    <a:p>
                      <a:pPr algn="ctr"/>
                      <a:r>
                        <a:rPr sz="750" b="0">
                          <a:solidFill>
                            <a:srgbClr val="202020"/>
                          </a:solidFill>
                        </a:rPr>
                        <a:t>0.790</a:t>
                      </a:r>
                    </a:p>
                  </a:txBody>
                  <a:tcPr>
                    <a:solidFill>
                      <a:srgbClr val="E8F0FE"/>
                    </a:solidFill>
                  </a:tcPr>
                </a:tc>
                <a:tc>
                  <a:txBody>
                    <a:bodyPr/>
                    <a:lstStyle/>
                    <a:p>
                      <a:pPr algn="ctr"/>
                      <a:r>
                        <a:rPr sz="750" b="0">
                          <a:solidFill>
                            <a:srgbClr val="202020"/>
                          </a:solidFill>
                        </a:rPr>
                        <a:t>0.784</a:t>
                      </a:r>
                    </a:p>
                  </a:txBody>
                  <a:tcPr>
                    <a:solidFill>
                      <a:srgbClr val="E8F0FE"/>
                    </a:solidFill>
                  </a:tcPr>
                </a:tc>
                <a:tc>
                  <a:txBody>
                    <a:bodyPr/>
                    <a:lstStyle/>
                    <a:p>
                      <a:pPr algn="ctr"/>
                      <a:r>
                        <a:rPr sz="750" b="0">
                          <a:solidFill>
                            <a:srgbClr val="202020"/>
                          </a:solidFill>
                        </a:rPr>
                        <a:t>0.790</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0.246</a:t>
                      </a:r>
                    </a:p>
                  </a:txBody>
                  <a:tcPr>
                    <a:solidFill>
                      <a:srgbClr val="E8F0FE"/>
                    </a:solidFill>
                  </a:tcPr>
                </a:tc>
                <a:tc>
                  <a:txBody>
                    <a:bodyPr/>
                    <a:lstStyle/>
                    <a:p>
                      <a:pPr algn="ctr"/>
                      <a:r>
                        <a:rPr sz="750" b="0">
                          <a:solidFill>
                            <a:srgbClr val="202020"/>
                          </a:solidFill>
                        </a:rPr>
                        <a:t>0.794</a:t>
                      </a:r>
                    </a:p>
                  </a:txBody>
                  <a:tcPr>
                    <a:solidFill>
                      <a:srgbClr val="E8F0FE"/>
                    </a:solidFill>
                  </a:tcPr>
                </a:tc>
                <a:tc>
                  <a:txBody>
                    <a:bodyPr/>
                    <a:lstStyle/>
                    <a:p>
                      <a:pPr algn="ctr"/>
                      <a:r>
                        <a:rPr sz="750" b="0">
                          <a:solidFill>
                            <a:srgbClr val="202020"/>
                          </a:solidFill>
                        </a:rPr>
                        <a:t>0.786</a:t>
                      </a:r>
                    </a:p>
                  </a:txBody>
                  <a:tcPr>
                    <a:solidFill>
                      <a:srgbClr val="E8F0FE"/>
                    </a:solidFill>
                  </a:tcPr>
                </a:tc>
                <a:tc>
                  <a:txBody>
                    <a:bodyPr/>
                    <a:lstStyle/>
                    <a:p>
                      <a:pPr algn="ctr"/>
                      <a:r>
                        <a:rPr sz="750" b="0">
                          <a:solidFill>
                            <a:srgbClr val="202020"/>
                          </a:solidFill>
                        </a:rPr>
                        <a:t>0.794</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0.253</a:t>
                      </a:r>
                    </a:p>
                  </a:txBody>
                  <a:tcPr>
                    <a:solidFill>
                      <a:srgbClr val="E8F0FE"/>
                    </a:solidFill>
                  </a:tcPr>
                </a:tc>
                <a:tc>
                  <a:txBody>
                    <a:bodyPr/>
                    <a:lstStyle/>
                    <a:p>
                      <a:pPr algn="ctr"/>
                      <a:r>
                        <a:rPr sz="750" b="0">
                          <a:solidFill>
                            <a:srgbClr val="202020"/>
                          </a:solidFill>
                        </a:rPr>
                        <a:t>0.713</a:t>
                      </a:r>
                    </a:p>
                  </a:txBody>
                  <a:tcPr>
                    <a:solidFill>
                      <a:srgbClr val="E8F0FE"/>
                    </a:solidFill>
                  </a:tcPr>
                </a:tc>
                <a:tc>
                  <a:txBody>
                    <a:bodyPr/>
                    <a:lstStyle/>
                    <a:p>
                      <a:pPr algn="ctr"/>
                      <a:r>
                        <a:rPr sz="750" b="0">
                          <a:solidFill>
                            <a:srgbClr val="202020"/>
                          </a:solidFill>
                        </a:rPr>
                        <a:t>0.722</a:t>
                      </a:r>
                    </a:p>
                  </a:txBody>
                  <a:tcPr>
                    <a:solidFill>
                      <a:srgbClr val="E8F0FE"/>
                    </a:solidFill>
                  </a:tcPr>
                </a:tc>
                <a:tc>
                  <a:txBody>
                    <a:bodyPr/>
                    <a:lstStyle/>
                    <a:p>
                      <a:pPr algn="ctr"/>
                      <a:r>
                        <a:rPr sz="750" b="0">
                          <a:solidFill>
                            <a:srgbClr val="202020"/>
                          </a:solidFill>
                        </a:rPr>
                        <a:t>0.713</a:t>
                      </a:r>
                    </a:p>
                  </a:txBody>
                  <a:tcPr>
                    <a:solidFill>
                      <a:srgbClr val="E8F0FE"/>
                    </a:solidFill>
                  </a:tcPr>
                </a:tc>
              </a:tr>
            </a:tbl>
          </a:graphicData>
        </a:graphic>
      </p:graphicFrame>
      <p:sp>
        <p:nvSpPr>
          <p:cNvPr id="6" name="TextBox 5"/>
          <p:cNvSpPr txBox="1"/>
          <p:nvPr/>
        </p:nvSpPr>
        <p:spPr>
          <a:xfrm>
            <a:off x="4617720" y="548640"/>
            <a:ext cx="4206240" cy="201168"/>
          </a:xfrm>
          <a:prstGeom prst="rect">
            <a:avLst/>
          </a:prstGeom>
          <a:noFill/>
        </p:spPr>
        <p:txBody>
          <a:bodyPr wrap="none">
            <a:spAutoFit/>
          </a:bodyPr>
          <a:lstStyle/>
          <a:p>
            <a:pPr algn="l"/>
            <a:r>
              <a:rPr sz="950" b="1" i="0">
                <a:solidFill>
                  <a:srgbClr val="1A73E8"/>
                </a:solidFill>
              </a:rPr>
              <a:t>Primer 4-Class (conf60, B1 baseline)</a:t>
            </a:r>
          </a:p>
        </p:txBody>
      </p:sp>
      <p:graphicFrame>
        <p:nvGraphicFramePr>
          <p:cNvPr id="7" name="Table 6"/>
          <p:cNvGraphicFramePr>
            <a:graphicFrameLocks noGrp="1"/>
          </p:cNvGraphicFramePr>
          <p:nvPr/>
        </p:nvGraphicFramePr>
        <p:xfrm>
          <a:off x="4617720" y="768096"/>
          <a:ext cx="4206237" cy="2286000"/>
        </p:xfrm>
        <a:graphic>
          <a:graphicData uri="http://schemas.openxmlformats.org/drawingml/2006/table">
            <a:tbl>
              <a:tblPr firstRow="1" bandRow="1"/>
              <a:tblGrid>
                <a:gridCol w="1521405"/>
                <a:gridCol w="671208"/>
                <a:gridCol w="671208"/>
                <a:gridCol w="671208"/>
                <a:gridCol w="671208"/>
              </a:tblGrid>
              <a:tr h="285750">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5750">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0.476</a:t>
                      </a:r>
                    </a:p>
                  </a:txBody>
                  <a:tcPr>
                    <a:solidFill>
                      <a:srgbClr val="E8F0FE"/>
                    </a:solidFill>
                  </a:tcPr>
                </a:tc>
                <a:tc>
                  <a:txBody>
                    <a:bodyPr/>
                    <a:lstStyle/>
                    <a:p>
                      <a:pPr algn="ctr"/>
                      <a:r>
                        <a:rPr sz="750" b="0">
                          <a:solidFill>
                            <a:srgbClr val="202020"/>
                          </a:solidFill>
                        </a:rPr>
                        <a:t>0.803</a:t>
                      </a:r>
                    </a:p>
                  </a:txBody>
                  <a:tcPr>
                    <a:solidFill>
                      <a:srgbClr val="E8F0FE"/>
                    </a:solidFill>
                  </a:tcPr>
                </a:tc>
                <a:tc>
                  <a:txBody>
                    <a:bodyPr/>
                    <a:lstStyle/>
                    <a:p>
                      <a:pPr algn="ctr"/>
                      <a:r>
                        <a:rPr sz="750" b="0">
                          <a:solidFill>
                            <a:srgbClr val="202020"/>
                          </a:solidFill>
                        </a:rPr>
                        <a:t>0.802</a:t>
                      </a:r>
                    </a:p>
                  </a:txBody>
                  <a:tcPr>
                    <a:solidFill>
                      <a:srgbClr val="E8F0FE"/>
                    </a:solidFill>
                  </a:tcPr>
                </a:tc>
                <a:tc>
                  <a:txBody>
                    <a:bodyPr/>
                    <a:lstStyle/>
                    <a:p>
                      <a:pPr algn="ctr"/>
                      <a:r>
                        <a:rPr sz="750" b="0">
                          <a:solidFill>
                            <a:srgbClr val="202020"/>
                          </a:solidFill>
                        </a:rPr>
                        <a:t>0.803</a:t>
                      </a:r>
                    </a:p>
                  </a:txBody>
                  <a:tcPr>
                    <a:solidFill>
                      <a:srgbClr val="E8F0FE"/>
                    </a:solidFill>
                  </a:tcPr>
                </a:tc>
              </a:tr>
              <a:tr h="285750">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0.459</a:t>
                      </a:r>
                    </a:p>
                  </a:txBody>
                  <a:tcPr>
                    <a:solidFill>
                      <a:srgbClr val="FFFFFF"/>
                    </a:solidFill>
                  </a:tcPr>
                </a:tc>
                <a:tc>
                  <a:txBody>
                    <a:bodyPr/>
                    <a:lstStyle/>
                    <a:p>
                      <a:pPr algn="ctr"/>
                      <a:r>
                        <a:rPr sz="750" b="0">
                          <a:solidFill>
                            <a:srgbClr val="202020"/>
                          </a:solidFill>
                        </a:rPr>
                        <a:t>0.763</a:t>
                      </a:r>
                    </a:p>
                  </a:txBody>
                  <a:tcPr>
                    <a:solidFill>
                      <a:srgbClr val="FFFFFF"/>
                    </a:solidFill>
                  </a:tcPr>
                </a:tc>
                <a:tc>
                  <a:txBody>
                    <a:bodyPr/>
                    <a:lstStyle/>
                    <a:p>
                      <a:pPr algn="ctr"/>
                      <a:r>
                        <a:rPr sz="750" b="0">
                          <a:solidFill>
                            <a:srgbClr val="202020"/>
                          </a:solidFill>
                        </a:rPr>
                        <a:t>0.774</a:t>
                      </a:r>
                    </a:p>
                  </a:txBody>
                  <a:tcPr>
                    <a:solidFill>
                      <a:srgbClr val="FFFFFF"/>
                    </a:solidFill>
                  </a:tcPr>
                </a:tc>
                <a:tc>
                  <a:txBody>
                    <a:bodyPr/>
                    <a:lstStyle/>
                    <a:p>
                      <a:pPr algn="ctr"/>
                      <a:r>
                        <a:rPr sz="750" b="0">
                          <a:solidFill>
                            <a:srgbClr val="202020"/>
                          </a:solidFill>
                        </a:rPr>
                        <a:t>0.763</a:t>
                      </a:r>
                    </a:p>
                  </a:txBody>
                  <a:tcPr>
                    <a:solidFill>
                      <a:srgbClr val="FFFFFF"/>
                    </a:solidFill>
                  </a:tcPr>
                </a:tc>
              </a:tr>
              <a:tr h="285750">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0.444</a:t>
                      </a:r>
                    </a:p>
                  </a:txBody>
                  <a:tcPr>
                    <a:solidFill>
                      <a:srgbClr val="E8F0FE"/>
                    </a:solidFill>
                  </a:tcPr>
                </a:tc>
                <a:tc>
                  <a:txBody>
                    <a:bodyPr/>
                    <a:lstStyle/>
                    <a:p>
                      <a:pPr algn="ctr"/>
                      <a:r>
                        <a:rPr sz="750" b="0">
                          <a:solidFill>
                            <a:srgbClr val="202020"/>
                          </a:solidFill>
                        </a:rPr>
                        <a:t>0.727</a:t>
                      </a:r>
                    </a:p>
                  </a:txBody>
                  <a:tcPr>
                    <a:solidFill>
                      <a:srgbClr val="E8F0FE"/>
                    </a:solidFill>
                  </a:tcPr>
                </a:tc>
                <a:tc>
                  <a:txBody>
                    <a:bodyPr/>
                    <a:lstStyle/>
                    <a:p>
                      <a:pPr algn="ctr"/>
                      <a:r>
                        <a:rPr sz="750" b="0">
                          <a:solidFill>
                            <a:srgbClr val="202020"/>
                          </a:solidFill>
                        </a:rPr>
                        <a:t>0.753</a:t>
                      </a:r>
                    </a:p>
                  </a:txBody>
                  <a:tcPr>
                    <a:solidFill>
                      <a:srgbClr val="E8F0FE"/>
                    </a:solidFill>
                  </a:tcPr>
                </a:tc>
                <a:tc>
                  <a:txBody>
                    <a:bodyPr/>
                    <a:lstStyle/>
                    <a:p>
                      <a:pPr algn="ctr"/>
                      <a:r>
                        <a:rPr sz="750" b="0">
                          <a:solidFill>
                            <a:srgbClr val="202020"/>
                          </a:solidFill>
                        </a:rPr>
                        <a:t>0.727</a:t>
                      </a:r>
                    </a:p>
                  </a:txBody>
                  <a:tcPr>
                    <a:solidFill>
                      <a:srgbClr val="E8F0FE"/>
                    </a:solidFill>
                  </a:tcPr>
                </a:tc>
              </a:tr>
              <a:tr h="285750">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0.378</a:t>
                      </a:r>
                    </a:p>
                  </a:txBody>
                  <a:tcPr>
                    <a:solidFill>
                      <a:srgbClr val="FFFFFF"/>
                    </a:solidFill>
                  </a:tcPr>
                </a:tc>
                <a:tc>
                  <a:txBody>
                    <a:bodyPr/>
                    <a:lstStyle/>
                    <a:p>
                      <a:pPr algn="ctr"/>
                      <a:r>
                        <a:rPr sz="750" b="0">
                          <a:solidFill>
                            <a:srgbClr val="202020"/>
                          </a:solidFill>
                        </a:rPr>
                        <a:t>0.721</a:t>
                      </a:r>
                    </a:p>
                  </a:txBody>
                  <a:tcPr>
                    <a:solidFill>
                      <a:srgbClr val="FFFFFF"/>
                    </a:solidFill>
                  </a:tcPr>
                </a:tc>
                <a:tc>
                  <a:txBody>
                    <a:bodyPr/>
                    <a:lstStyle/>
                    <a:p>
                      <a:pPr algn="ctr"/>
                      <a:r>
                        <a:rPr sz="750" b="0">
                          <a:solidFill>
                            <a:srgbClr val="202020"/>
                          </a:solidFill>
                        </a:rPr>
                        <a:t>0.682</a:t>
                      </a:r>
                    </a:p>
                  </a:txBody>
                  <a:tcPr>
                    <a:solidFill>
                      <a:srgbClr val="FFFFFF"/>
                    </a:solidFill>
                  </a:tcPr>
                </a:tc>
                <a:tc>
                  <a:txBody>
                    <a:bodyPr/>
                    <a:lstStyle/>
                    <a:p>
                      <a:pPr algn="ctr"/>
                      <a:r>
                        <a:rPr sz="750" b="0">
                          <a:solidFill>
                            <a:srgbClr val="202020"/>
                          </a:solidFill>
                        </a:rPr>
                        <a:t>0.721</a:t>
                      </a:r>
                    </a:p>
                  </a:txBody>
                  <a:tcPr>
                    <a:solidFill>
                      <a:srgbClr val="FFFFFF"/>
                    </a:solidFill>
                  </a:tcPr>
                </a:tc>
              </a:tr>
              <a:tr h="285750">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0.482</a:t>
                      </a:r>
                    </a:p>
                  </a:txBody>
                  <a:tcPr>
                    <a:solidFill>
                      <a:srgbClr val="E6F4EA"/>
                    </a:solidFill>
                  </a:tcPr>
                </a:tc>
                <a:tc>
                  <a:txBody>
                    <a:bodyPr/>
                    <a:lstStyle/>
                    <a:p>
                      <a:pPr algn="ctr"/>
                      <a:r>
                        <a:rPr sz="750" b="0">
                          <a:solidFill>
                            <a:srgbClr val="202020"/>
                          </a:solidFill>
                        </a:rPr>
                        <a:t>0.780</a:t>
                      </a:r>
                    </a:p>
                  </a:txBody>
                  <a:tcPr>
                    <a:solidFill>
                      <a:srgbClr val="E6F4EA"/>
                    </a:solidFill>
                  </a:tcPr>
                </a:tc>
                <a:tc>
                  <a:txBody>
                    <a:bodyPr/>
                    <a:lstStyle/>
                    <a:p>
                      <a:pPr algn="ctr"/>
                      <a:r>
                        <a:rPr sz="750" b="0">
                          <a:solidFill>
                            <a:srgbClr val="202020"/>
                          </a:solidFill>
                        </a:rPr>
                        <a:t>0.790</a:t>
                      </a:r>
                    </a:p>
                  </a:txBody>
                  <a:tcPr>
                    <a:solidFill>
                      <a:srgbClr val="E6F4EA"/>
                    </a:solidFill>
                  </a:tcPr>
                </a:tc>
                <a:tc>
                  <a:txBody>
                    <a:bodyPr/>
                    <a:lstStyle/>
                    <a:p>
                      <a:pPr algn="ctr"/>
                      <a:r>
                        <a:rPr sz="750" b="0">
                          <a:solidFill>
                            <a:srgbClr val="202020"/>
                          </a:solidFill>
                        </a:rPr>
                        <a:t>0.780</a:t>
                      </a:r>
                    </a:p>
                  </a:txBody>
                  <a:tcPr>
                    <a:solidFill>
                      <a:srgbClr val="E6F4EA"/>
                    </a:solidFill>
                  </a:tcPr>
                </a:tc>
              </a:tr>
              <a:tr h="285750">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0.474</a:t>
                      </a:r>
                    </a:p>
                  </a:txBody>
                  <a:tcPr>
                    <a:solidFill>
                      <a:srgbClr val="FFFFFF"/>
                    </a:solidFill>
                  </a:tcPr>
                </a:tc>
                <a:tc>
                  <a:txBody>
                    <a:bodyPr/>
                    <a:lstStyle/>
                    <a:p>
                      <a:pPr algn="ctr"/>
                      <a:r>
                        <a:rPr sz="750" b="0">
                          <a:solidFill>
                            <a:srgbClr val="202020"/>
                          </a:solidFill>
                        </a:rPr>
                        <a:t>0.807</a:t>
                      </a:r>
                    </a:p>
                  </a:txBody>
                  <a:tcPr>
                    <a:solidFill>
                      <a:srgbClr val="FFFFFF"/>
                    </a:solidFill>
                  </a:tcPr>
                </a:tc>
                <a:tc>
                  <a:txBody>
                    <a:bodyPr/>
                    <a:lstStyle/>
                    <a:p>
                      <a:pPr algn="ctr"/>
                      <a:r>
                        <a:rPr sz="750" b="0">
                          <a:solidFill>
                            <a:srgbClr val="202020"/>
                          </a:solidFill>
                        </a:rPr>
                        <a:t>0.815</a:t>
                      </a:r>
                    </a:p>
                  </a:txBody>
                  <a:tcPr>
                    <a:solidFill>
                      <a:srgbClr val="FFFFFF"/>
                    </a:solidFill>
                  </a:tcPr>
                </a:tc>
                <a:tc>
                  <a:txBody>
                    <a:bodyPr/>
                    <a:lstStyle/>
                    <a:p>
                      <a:pPr algn="ctr"/>
                      <a:r>
                        <a:rPr sz="750" b="0">
                          <a:solidFill>
                            <a:srgbClr val="202020"/>
                          </a:solidFill>
                        </a:rPr>
                        <a:t>0.807</a:t>
                      </a:r>
                    </a:p>
                  </a:txBody>
                  <a:tcPr>
                    <a:solidFill>
                      <a:srgbClr val="FFFFFF"/>
                    </a:solidFill>
                  </a:tcPr>
                </a:tc>
              </a:tr>
              <a:tr h="285750">
                <a:tc>
                  <a:txBody>
                    <a:bodyPr/>
                    <a:lstStyle/>
                    <a:p>
                      <a:pPr algn="l"/>
                      <a:r>
                        <a:rPr sz="750" b="1">
                          <a:solidFill>
                            <a:srgbClr val="202020"/>
                          </a:solidFill>
                        </a:rPr>
                        <a:t>Late Fusion TL</a:t>
                      </a:r>
                    </a:p>
                  </a:txBody>
                  <a:tcPr>
                    <a:solidFill>
                      <a:srgbClr val="E8F0FE"/>
                    </a:solidFill>
                  </a:tcPr>
                </a:tc>
                <a:tc>
                  <a:txBody>
                    <a:bodyPr/>
                    <a:lstStyle/>
                    <a:p>
                      <a:pPr algn="ctr"/>
                      <a:r>
                        <a:rPr sz="750" b="0">
                          <a:solidFill>
                            <a:srgbClr val="202020"/>
                          </a:solidFill>
                        </a:rPr>
                        <a:t>0.422</a:t>
                      </a:r>
                    </a:p>
                  </a:txBody>
                  <a:tcPr>
                    <a:solidFill>
                      <a:srgbClr val="E8F0FE"/>
                    </a:solidFill>
                  </a:tcPr>
                </a:tc>
                <a:tc>
                  <a:txBody>
                    <a:bodyPr/>
                    <a:lstStyle/>
                    <a:p>
                      <a:pPr algn="ctr"/>
                      <a:r>
                        <a:rPr sz="750" b="0">
                          <a:solidFill>
                            <a:srgbClr val="202020"/>
                          </a:solidFill>
                        </a:rPr>
                        <a:t>0.695</a:t>
                      </a:r>
                    </a:p>
                  </a:txBody>
                  <a:tcPr>
                    <a:solidFill>
                      <a:srgbClr val="E8F0FE"/>
                    </a:solidFill>
                  </a:tcPr>
                </a:tc>
                <a:tc>
                  <a:txBody>
                    <a:bodyPr/>
                    <a:lstStyle/>
                    <a:p>
                      <a:pPr algn="ctr"/>
                      <a:r>
                        <a:rPr sz="750" b="0">
                          <a:solidFill>
                            <a:srgbClr val="202020"/>
                          </a:solidFill>
                        </a:rPr>
                        <a:t>0.722</a:t>
                      </a:r>
                    </a:p>
                  </a:txBody>
                  <a:tcPr>
                    <a:solidFill>
                      <a:srgbClr val="E8F0FE"/>
                    </a:solidFill>
                  </a:tcPr>
                </a:tc>
                <a:tc>
                  <a:txBody>
                    <a:bodyPr/>
                    <a:lstStyle/>
                    <a:p>
                      <a:pPr algn="ctr"/>
                      <a:r>
                        <a:rPr sz="750" b="0">
                          <a:solidFill>
                            <a:srgbClr val="202020"/>
                          </a:solidFill>
                        </a:rPr>
                        <a:t>0.695</a:t>
                      </a:r>
                    </a:p>
                  </a:txBody>
                  <a:tcPr>
                    <a:solidFill>
                      <a:srgbClr val="E8F0FE"/>
                    </a:solidFill>
                  </a:tcPr>
                </a:tc>
              </a:tr>
              <a:tr h="285750">
                <a:tc>
                  <a:txBody>
                    <a:bodyPr/>
                    <a:lstStyle/>
                    <a:p>
                      <a:pPr algn="l"/>
                      <a:r>
                        <a:rPr sz="750" b="1">
                          <a:solidFill>
                            <a:srgbClr val="202020"/>
                          </a:solidFill>
                        </a:rPr>
                        <a:t>Early Fusion</a:t>
                      </a:r>
                    </a:p>
                  </a:txBody>
                  <a:tcPr>
                    <a:solidFill>
                      <a:srgbClr val="E8F0FE"/>
                    </a:solidFill>
                  </a:tcPr>
                </a:tc>
                <a:tc>
                  <a:txBody>
                    <a:bodyPr/>
                    <a:lstStyle/>
                    <a:p>
                      <a:pPr algn="ctr"/>
                      <a:r>
                        <a:rPr sz="750" b="0">
                          <a:solidFill>
                            <a:srgbClr val="202020"/>
                          </a:solidFill>
                        </a:rPr>
                        <a:t>0.457</a:t>
                      </a:r>
                    </a:p>
                  </a:txBody>
                  <a:tcPr>
                    <a:solidFill>
                      <a:srgbClr val="E8F0FE"/>
                    </a:solidFill>
                  </a:tcPr>
                </a:tc>
                <a:tc>
                  <a:txBody>
                    <a:bodyPr/>
                    <a:lstStyle/>
                    <a:p>
                      <a:pPr algn="ctr"/>
                      <a:r>
                        <a:rPr sz="750" b="0">
                          <a:solidFill>
                            <a:srgbClr val="202020"/>
                          </a:solidFill>
                        </a:rPr>
                        <a:t>0.822</a:t>
                      </a:r>
                    </a:p>
                  </a:txBody>
                  <a:tcPr>
                    <a:solidFill>
                      <a:srgbClr val="E8F0FE"/>
                    </a:solidFill>
                  </a:tcPr>
                </a:tc>
                <a:tc>
                  <a:txBody>
                    <a:bodyPr/>
                    <a:lstStyle/>
                    <a:p>
                      <a:pPr algn="ctr"/>
                      <a:r>
                        <a:rPr sz="750" b="0">
                          <a:solidFill>
                            <a:srgbClr val="202020"/>
                          </a:solidFill>
                        </a:rPr>
                        <a:t>0.816</a:t>
                      </a:r>
                    </a:p>
                  </a:txBody>
                  <a:tcPr>
                    <a:solidFill>
                      <a:srgbClr val="E8F0FE"/>
                    </a:solidFill>
                  </a:tcPr>
                </a:tc>
                <a:tc>
                  <a:txBody>
                    <a:bodyPr/>
                    <a:lstStyle/>
                    <a:p>
                      <a:pPr algn="ctr"/>
                      <a:r>
                        <a:rPr sz="750" b="0">
                          <a:solidFill>
                            <a:srgbClr val="202020"/>
                          </a:solidFill>
                        </a:rPr>
                        <a:t>0.822</a:t>
                      </a:r>
                    </a:p>
                  </a:txBody>
                  <a:tcPr>
                    <a:solidFill>
                      <a:srgbClr val="E8F0FE"/>
                    </a:solidFill>
                  </a:tcPr>
                </a:tc>
              </a:tr>
              <a:tr h="285750">
                <a:tc>
                  <a:txBody>
                    <a:bodyPr/>
                    <a:lstStyle/>
                    <a:p>
                      <a:pPr algn="l"/>
                      <a:r>
                        <a:rPr sz="750" b="1">
                          <a:solidFill>
                            <a:srgbClr val="202020"/>
                          </a:solidFill>
                        </a:rPr>
                        <a:t>Early Fusion TL</a:t>
                      </a:r>
                    </a:p>
                  </a:txBody>
                  <a:tcPr>
                    <a:solidFill>
                      <a:srgbClr val="E8F0FE"/>
                    </a:solidFill>
                  </a:tcPr>
                </a:tc>
                <a:tc>
                  <a:txBody>
                    <a:bodyPr/>
                    <a:lstStyle/>
                    <a:p>
                      <a:pPr algn="ctr"/>
                      <a:r>
                        <a:rPr sz="750" b="0">
                          <a:solidFill>
                            <a:srgbClr val="202020"/>
                          </a:solidFill>
                        </a:rPr>
                        <a:t>0.471</a:t>
                      </a:r>
                    </a:p>
                  </a:txBody>
                  <a:tcPr>
                    <a:solidFill>
                      <a:srgbClr val="E8F0FE"/>
                    </a:solidFill>
                  </a:tcPr>
                </a:tc>
                <a:tc>
                  <a:txBody>
                    <a:bodyPr/>
                    <a:lstStyle/>
                    <a:p>
                      <a:pPr algn="ctr"/>
                      <a:r>
                        <a:rPr sz="750" b="0">
                          <a:solidFill>
                            <a:srgbClr val="202020"/>
                          </a:solidFill>
                        </a:rPr>
                        <a:t>0.770</a:t>
                      </a:r>
                    </a:p>
                  </a:txBody>
                  <a:tcPr>
                    <a:solidFill>
                      <a:srgbClr val="E8F0FE"/>
                    </a:solidFill>
                  </a:tcPr>
                </a:tc>
                <a:tc>
                  <a:txBody>
                    <a:bodyPr/>
                    <a:lstStyle/>
                    <a:p>
                      <a:pPr algn="ctr"/>
                      <a:r>
                        <a:rPr sz="750" b="0">
                          <a:solidFill>
                            <a:srgbClr val="202020"/>
                          </a:solidFill>
                        </a:rPr>
                        <a:t>0.770</a:t>
                      </a:r>
                    </a:p>
                  </a:txBody>
                  <a:tcPr>
                    <a:solidFill>
                      <a:srgbClr val="E8F0FE"/>
                    </a:solidFill>
                  </a:tcPr>
                </a:tc>
                <a:tc>
                  <a:txBody>
                    <a:bodyPr/>
                    <a:lstStyle/>
                    <a:p>
                      <a:pPr algn="ctr"/>
                      <a:r>
                        <a:rPr sz="750" b="0">
                          <a:solidFill>
                            <a:srgbClr val="202020"/>
                          </a:solidFill>
                        </a:rPr>
                        <a:t>0.770</a:t>
                      </a:r>
                    </a:p>
                  </a:txBody>
                  <a:tcPr>
                    <a:solidFill>
                      <a:srgbClr val="E8F0FE"/>
                    </a:solidFill>
                  </a:tcPr>
                </a:tc>
              </a:tr>
            </a:tbl>
          </a:graphicData>
        </a:graphic>
      </p:graphicFrame>
      <p:sp>
        <p:nvSpPr>
          <p:cNvPr id="8" name="TextBox 7"/>
          <p:cNvSpPr txBox="1"/>
          <p:nvPr/>
        </p:nvSpPr>
        <p:spPr>
          <a:xfrm>
            <a:off x="274320" y="3154680"/>
            <a:ext cx="8595360" cy="457200"/>
          </a:xfrm>
          <a:prstGeom prst="rect">
            <a:avLst/>
          </a:prstGeom>
          <a:solidFill>
            <a:srgbClr val="FEF7E0"/>
          </a:solidFill>
        </p:spPr>
        <p:txBody>
          <a:bodyPr wrap="square">
            <a:spAutoFit/>
          </a:bodyPr>
          <a:lstStyle/>
          <a:p>
            <a:pPr algn="l"/>
            <a:r>
              <a:rPr sz="900" b="1" i="0">
                <a:solidFill>
                  <a:srgbClr val="B06800"/>
                </a:solidFill>
              </a:rPr>
              <a:t>Catatan Primer: tabel di atas B1 (baseline) saja untuk apple-to-apple vs benchmark publik.</a:t>
            </a:r>
          </a:p>
          <a:p>
            <a:pPr algn="l"/>
            <a:r>
              <a:rPr sz="900" b="0" i="0">
                <a:solidFill>
                  <a:srgbClr val="202020"/>
                </a:solidFill>
              </a:rPr>
              <a:t>Best Primer keseluruhan (dengan B3 + TL + augmentation) = Intermediate TL 4c B3 = 0.521.</a:t>
            </a:r>
          </a:p>
        </p:txBody>
      </p:sp>
      <p:sp>
        <p:nvSpPr>
          <p:cNvPr id="9" name="TextBox 8"/>
          <p:cNvSpPr txBox="1"/>
          <p:nvPr/>
        </p:nvSpPr>
        <p:spPr>
          <a:xfrm>
            <a:off x="274320" y="3703320"/>
            <a:ext cx="8595360" cy="274320"/>
          </a:xfrm>
          <a:prstGeom prst="rect">
            <a:avLst/>
          </a:prstGeom>
          <a:noFill/>
        </p:spPr>
        <p:txBody>
          <a:bodyPr wrap="none">
            <a:spAutoFit/>
          </a:bodyPr>
          <a:lstStyle/>
          <a:p>
            <a:pPr algn="l"/>
            <a:r>
              <a:rPr sz="1100" b="1" i="0">
                <a:solidFill>
                  <a:srgbClr val="202020"/>
                </a:solidFill>
              </a:rPr>
              <a:t>Summary Temuan Skema 1</a:t>
            </a:r>
          </a:p>
        </p:txBody>
      </p:sp>
      <p:sp>
        <p:nvSpPr>
          <p:cNvPr id="10" name="TextBox 9"/>
          <p:cNvSpPr txBox="1"/>
          <p:nvPr/>
        </p:nvSpPr>
        <p:spPr>
          <a:xfrm>
            <a:off x="274320" y="4023360"/>
            <a:ext cx="8595360" cy="2286000"/>
          </a:xfrm>
          <a:prstGeom prst="rect">
            <a:avLst/>
          </a:prstGeom>
          <a:solidFill>
            <a:srgbClr val="E8F0FE"/>
          </a:solidFill>
        </p:spPr>
        <p:txBody>
          <a:bodyPr wrap="square">
            <a:spAutoFit/>
          </a:bodyPr>
          <a:lstStyle/>
          <a:p>
            <a:pPr algn="l"/>
            <a:r>
              <a:rPr sz="900" b="0" i="0">
                <a:solidFill>
                  <a:srgbClr val="202020"/>
                </a:solidFill>
              </a:rPr>
              <a:t>• Intermediate TL dominan di RAF-DB 7c/4c, KDEF 7c/4c, Primer 7c/4c, CK+ 4c</a:t>
            </a:r>
          </a:p>
          <a:p>
            <a:pPr algn="l"/>
            <a:r>
              <a:rPr sz="900" b="0" i="0">
                <a:solidFill>
                  <a:srgbClr val="202020"/>
                </a:solidFill>
              </a:rPr>
              <a:t>• CK+ 7c → CNN TL terbaik (0.913) | JAFFE → Late Fusion atau Late Fusion TL (dataset kecil)</a:t>
            </a:r>
          </a:p>
          <a:p>
            <a:pPr algn="l"/>
            <a:r>
              <a:rPr sz="900" b="0" i="0">
                <a:solidFill>
                  <a:srgbClr val="202020"/>
                </a:solidFill>
              </a:rPr>
              <a:t>• Late Fusion TL (baru, nb 65): kompetitif di RAF-DB/KDEF/Primer, tapi kolaps di CK+ 7c (0.835 vs 0.913) dan JAFFE 7c (0.146)</a:t>
            </a:r>
          </a:p>
          <a:p>
            <a:pPr algn="l"/>
            <a:r>
              <a:rPr sz="900" b="0" i="0">
                <a:solidFill>
                  <a:srgbClr val="202020"/>
                </a:solidFill>
              </a:rPr>
              <a:t>• Primer paling challenging: best Primer 4c (val-tuned) = 0.521 (Intermediate TL, B1)</a:t>
            </a:r>
          </a:p>
          <a:p>
            <a:pPr algn="l"/>
            <a:r>
              <a:rPr sz="900" b="0" i="0">
                <a:solidFill>
                  <a:srgbClr val="202020"/>
                </a:solidFill>
              </a:rPr>
              <a:t>• vs benchmark: RAF-DB 4c = 0.836 | KDEF 4c = 0.923 | CK+ 4c = 0.837</a:t>
            </a:r>
          </a:p>
          <a:p>
            <a:pPr algn="l"/>
            <a:r>
              <a:rPr sz="900" b="1" i="0">
                <a:solidFill>
                  <a:srgbClr val="0F9D58"/>
                </a:solidFill>
              </a:rPr>
              <a:t>• Gap ~0.35-0.45 menegaskan: arsitektur bekerja, Primer memang sulit karena natural + imbalance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2 — CK+ → Primer</a:t>
            </a:r>
          </a:p>
        </p:txBody>
      </p:sp>
      <p:sp>
        <p:nvSpPr>
          <p:cNvPr id="4" name="TextBox 3"/>
          <p:cNvSpPr txBox="1"/>
          <p:nvPr/>
        </p:nvSpPr>
        <p:spPr>
          <a:xfrm>
            <a:off x="274320" y="548640"/>
            <a:ext cx="8595360" cy="365760"/>
          </a:xfrm>
          <a:prstGeom prst="rect">
            <a:avLst/>
          </a:prstGeom>
          <a:solidFill>
            <a:srgbClr val="E8F0FE"/>
          </a:solidFill>
        </p:spPr>
        <p:txBody>
          <a:bodyPr wrap="square">
            <a:spAutoFit/>
          </a:bodyPr>
          <a:lstStyle/>
          <a:p>
            <a:pPr algn="l"/>
            <a:r>
              <a:rPr sz="850" b="0" i="0">
                <a:solidFill>
                  <a:srgbClr val="202020"/>
                </a:solidFill>
              </a:rPr>
              <a:t>6 model × 3 metrik per combo. Late Fusion TL belum (butuh checkpoint FCNN+CNN_TL matching).</a:t>
            </a:r>
          </a:p>
        </p:txBody>
      </p:sp>
      <p:sp>
        <p:nvSpPr>
          <p:cNvPr id="5" name="TextBox 4"/>
          <p:cNvSpPr txBox="1"/>
          <p:nvPr/>
        </p:nvSpPr>
        <p:spPr>
          <a:xfrm>
            <a:off x="274320" y="960120"/>
            <a:ext cx="4206240" cy="201168"/>
          </a:xfrm>
          <a:prstGeom prst="rect">
            <a:avLst/>
          </a:prstGeom>
          <a:noFill/>
        </p:spPr>
        <p:txBody>
          <a:bodyPr wrap="none">
            <a:spAutoFit/>
          </a:bodyPr>
          <a:lstStyle/>
          <a:p>
            <a:pPr algn="l"/>
            <a:r>
              <a:rPr sz="950" b="1" i="0">
                <a:solidFill>
                  <a:srgbClr val="1A73E8"/>
                </a:solidFill>
              </a:rPr>
              <a:t>CK+ → Primer (7-Class)</a:t>
            </a:r>
          </a:p>
        </p:txBody>
      </p:sp>
      <p:graphicFrame>
        <p:nvGraphicFramePr>
          <p:cNvPr id="6" name="Table 5"/>
          <p:cNvGraphicFramePr>
            <a:graphicFrameLocks noGrp="1"/>
          </p:cNvGraphicFramePr>
          <p:nvPr/>
        </p:nvGraphicFramePr>
        <p:xfrm>
          <a:off x="274320" y="1188720"/>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0.127</a:t>
                      </a:r>
                    </a:p>
                  </a:txBody>
                  <a:tcPr>
                    <a:solidFill>
                      <a:srgbClr val="E8F0FE"/>
                    </a:solidFill>
                  </a:tcPr>
                </a:tc>
                <a:tc>
                  <a:txBody>
                    <a:bodyPr/>
                    <a:lstStyle/>
                    <a:p>
                      <a:pPr algn="ctr"/>
                      <a:r>
                        <a:rPr sz="750" b="0">
                          <a:solidFill>
                            <a:srgbClr val="202020"/>
                          </a:solidFill>
                        </a:rPr>
                        <a:t>0.719</a:t>
                      </a:r>
                    </a:p>
                  </a:txBody>
                  <a:tcPr>
                    <a:solidFill>
                      <a:srgbClr val="E8F0FE"/>
                    </a:solidFill>
                  </a:tcPr>
                </a:tc>
                <a:tc>
                  <a:txBody>
                    <a:bodyPr/>
                    <a:lstStyle/>
                    <a:p>
                      <a:pPr algn="ctr"/>
                      <a:r>
                        <a:rPr sz="750" b="0">
                          <a:solidFill>
                            <a:srgbClr val="202020"/>
                          </a:solidFill>
                        </a:rPr>
                        <a:t>0.635</a:t>
                      </a:r>
                    </a:p>
                  </a:txBody>
                  <a:tcPr>
                    <a:solidFill>
                      <a:srgbClr val="E8F0FE"/>
                    </a:solidFill>
                  </a:tcPr>
                </a:tc>
                <a:tc>
                  <a:txBody>
                    <a:bodyPr/>
                    <a:lstStyle/>
                    <a:p>
                      <a:pPr algn="ctr"/>
                      <a:r>
                        <a:rPr sz="750" b="0">
                          <a:solidFill>
                            <a:srgbClr val="202020"/>
                          </a:solidFill>
                        </a:rPr>
                        <a:t>0.719</a:t>
                      </a:r>
                    </a:p>
                  </a:txBody>
                  <a:tcPr>
                    <a:solidFill>
                      <a:srgbClr val="E8F0FE"/>
                    </a:solidFill>
                  </a:tcPr>
                </a:tc>
              </a:tr>
              <a:tr h="287382">
                <a:tc>
                  <a:txBody>
                    <a:bodyPr/>
                    <a:lstStyle/>
                    <a:p>
                      <a:pPr algn="l"/>
                      <a:r>
                        <a:rPr sz="750" b="1">
                          <a:solidFill>
                            <a:srgbClr val="202020"/>
                          </a:solidFill>
                        </a:rPr>
                        <a:t>FCNN</a:t>
                      </a:r>
                    </a:p>
                  </a:txBody>
                  <a:tcPr>
                    <a:solidFill>
                      <a:srgbClr val="E6F4EA"/>
                    </a:solidFill>
                  </a:tcPr>
                </a:tc>
                <a:tc>
                  <a:txBody>
                    <a:bodyPr/>
                    <a:lstStyle/>
                    <a:p>
                      <a:pPr algn="ctr"/>
                      <a:r>
                        <a:rPr sz="750" b="0">
                          <a:solidFill>
                            <a:srgbClr val="202020"/>
                          </a:solidFill>
                        </a:rPr>
                        <a:t>0.194</a:t>
                      </a:r>
                    </a:p>
                  </a:txBody>
                  <a:tcPr>
                    <a:solidFill>
                      <a:srgbClr val="E6F4EA"/>
                    </a:solidFill>
                  </a:tcPr>
                </a:tc>
                <a:tc>
                  <a:txBody>
                    <a:bodyPr/>
                    <a:lstStyle/>
                    <a:p>
                      <a:pPr algn="ctr"/>
                      <a:r>
                        <a:rPr sz="750" b="0">
                          <a:solidFill>
                            <a:srgbClr val="202020"/>
                          </a:solidFill>
                        </a:rPr>
                        <a:t>0.773</a:t>
                      </a:r>
                    </a:p>
                  </a:txBody>
                  <a:tcPr>
                    <a:solidFill>
                      <a:srgbClr val="E6F4EA"/>
                    </a:solidFill>
                  </a:tcPr>
                </a:tc>
                <a:tc>
                  <a:txBody>
                    <a:bodyPr/>
                    <a:lstStyle/>
                    <a:p>
                      <a:pPr algn="ctr"/>
                      <a:r>
                        <a:rPr sz="750" b="0">
                          <a:solidFill>
                            <a:srgbClr val="202020"/>
                          </a:solidFill>
                        </a:rPr>
                        <a:t>0.739</a:t>
                      </a:r>
                    </a:p>
                  </a:txBody>
                  <a:tcPr>
                    <a:solidFill>
                      <a:srgbClr val="E6F4EA"/>
                    </a:solidFill>
                  </a:tcPr>
                </a:tc>
                <a:tc>
                  <a:txBody>
                    <a:bodyPr/>
                    <a:lstStyle/>
                    <a:p>
                      <a:pPr algn="ctr"/>
                      <a:r>
                        <a:rPr sz="750" b="0">
                          <a:solidFill>
                            <a:srgbClr val="202020"/>
                          </a:solidFill>
                        </a:rPr>
                        <a:t>0.773</a:t>
                      </a:r>
                    </a:p>
                  </a:txBody>
                  <a:tcPr>
                    <a:solidFill>
                      <a:srgbClr val="E6F4EA"/>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0.153</a:t>
                      </a:r>
                    </a:p>
                  </a:txBody>
                  <a:tcPr>
                    <a:solidFill>
                      <a:srgbClr val="E8F0FE"/>
                    </a:solidFill>
                  </a:tcPr>
                </a:tc>
                <a:tc>
                  <a:txBody>
                    <a:bodyPr/>
                    <a:lstStyle/>
                    <a:p>
                      <a:pPr algn="ctr"/>
                      <a:r>
                        <a:rPr sz="750" b="0">
                          <a:solidFill>
                            <a:srgbClr val="202020"/>
                          </a:solidFill>
                        </a:rPr>
                        <a:t>0.536</a:t>
                      </a:r>
                    </a:p>
                  </a:txBody>
                  <a:tcPr>
                    <a:solidFill>
                      <a:srgbClr val="E8F0FE"/>
                    </a:solidFill>
                  </a:tcPr>
                </a:tc>
                <a:tc>
                  <a:txBody>
                    <a:bodyPr/>
                    <a:lstStyle/>
                    <a:p>
                      <a:pPr algn="ctr"/>
                      <a:r>
                        <a:rPr sz="750" b="0">
                          <a:solidFill>
                            <a:srgbClr val="202020"/>
                          </a:solidFill>
                        </a:rPr>
                        <a:t>0.593</a:t>
                      </a:r>
                    </a:p>
                  </a:txBody>
                  <a:tcPr>
                    <a:solidFill>
                      <a:srgbClr val="E8F0FE"/>
                    </a:solidFill>
                  </a:tcPr>
                </a:tc>
                <a:tc>
                  <a:txBody>
                    <a:bodyPr/>
                    <a:lstStyle/>
                    <a:p>
                      <a:pPr algn="ctr"/>
                      <a:r>
                        <a:rPr sz="750" b="0">
                          <a:solidFill>
                            <a:srgbClr val="202020"/>
                          </a:solidFill>
                        </a:rPr>
                        <a:t>0.536</a:t>
                      </a:r>
                    </a:p>
                  </a:txBody>
                  <a:tcPr>
                    <a:solidFill>
                      <a:srgbClr val="E8F0FE"/>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0.163</a:t>
                      </a:r>
                    </a:p>
                  </a:txBody>
                  <a:tcPr>
                    <a:solidFill>
                      <a:srgbClr val="FFFFFF"/>
                    </a:solidFill>
                  </a:tcPr>
                </a:tc>
                <a:tc>
                  <a:txBody>
                    <a:bodyPr/>
                    <a:lstStyle/>
                    <a:p>
                      <a:pPr algn="ctr"/>
                      <a:r>
                        <a:rPr sz="750" b="0">
                          <a:solidFill>
                            <a:srgbClr val="202020"/>
                          </a:solidFill>
                        </a:rPr>
                        <a:t>0.670</a:t>
                      </a:r>
                    </a:p>
                  </a:txBody>
                  <a:tcPr>
                    <a:solidFill>
                      <a:srgbClr val="FFFFFF"/>
                    </a:solidFill>
                  </a:tcPr>
                </a:tc>
                <a:tc>
                  <a:txBody>
                    <a:bodyPr/>
                    <a:lstStyle/>
                    <a:p>
                      <a:pPr algn="ctr"/>
                      <a:r>
                        <a:rPr sz="750" b="0">
                          <a:solidFill>
                            <a:srgbClr val="202020"/>
                          </a:solidFill>
                        </a:rPr>
                        <a:t>0.701</a:t>
                      </a:r>
                    </a:p>
                  </a:txBody>
                  <a:tcPr>
                    <a:solidFill>
                      <a:srgbClr val="FFFFFF"/>
                    </a:solidFill>
                  </a:tcPr>
                </a:tc>
                <a:tc>
                  <a:txBody>
                    <a:bodyPr/>
                    <a:lstStyle/>
                    <a:p>
                      <a:pPr algn="ctr"/>
                      <a:r>
                        <a:rPr sz="750" b="0">
                          <a:solidFill>
                            <a:srgbClr val="202020"/>
                          </a:solidFill>
                        </a:rPr>
                        <a:t>0.670</a:t>
                      </a:r>
                    </a:p>
                  </a:txBody>
                  <a:tcPr>
                    <a:solidFill>
                      <a:srgbClr val="FFFFFF"/>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0.103</a:t>
                      </a:r>
                    </a:p>
                  </a:txBody>
                  <a:tcPr>
                    <a:solidFill>
                      <a:srgbClr val="E8F0FE"/>
                    </a:solidFill>
                  </a:tcPr>
                </a:tc>
                <a:tc>
                  <a:txBody>
                    <a:bodyPr/>
                    <a:lstStyle/>
                    <a:p>
                      <a:pPr algn="ctr"/>
                      <a:r>
                        <a:rPr sz="750" b="0">
                          <a:solidFill>
                            <a:srgbClr val="202020"/>
                          </a:solidFill>
                        </a:rPr>
                        <a:t>0.152</a:t>
                      </a:r>
                    </a:p>
                  </a:txBody>
                  <a:tcPr>
                    <a:solidFill>
                      <a:srgbClr val="E8F0FE"/>
                    </a:solidFill>
                  </a:tcPr>
                </a:tc>
                <a:tc>
                  <a:txBody>
                    <a:bodyPr/>
                    <a:lstStyle/>
                    <a:p>
                      <a:pPr algn="ctr"/>
                      <a:r>
                        <a:rPr sz="750" b="0">
                          <a:solidFill>
                            <a:srgbClr val="202020"/>
                          </a:solidFill>
                        </a:rPr>
                        <a:t>0.238</a:t>
                      </a:r>
                    </a:p>
                  </a:txBody>
                  <a:tcPr>
                    <a:solidFill>
                      <a:srgbClr val="E8F0FE"/>
                    </a:solidFill>
                  </a:tcPr>
                </a:tc>
                <a:tc>
                  <a:txBody>
                    <a:bodyPr/>
                    <a:lstStyle/>
                    <a:p>
                      <a:pPr algn="ctr"/>
                      <a:r>
                        <a:rPr sz="750" b="0">
                          <a:solidFill>
                            <a:srgbClr val="202020"/>
                          </a:solidFill>
                        </a:rPr>
                        <a:t>0.152</a:t>
                      </a:r>
                    </a:p>
                  </a:txBody>
                  <a:tcPr>
                    <a:solidFill>
                      <a:srgbClr val="E8F0FE"/>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0.160</a:t>
                      </a:r>
                    </a:p>
                  </a:txBody>
                  <a:tcPr>
                    <a:solidFill>
                      <a:srgbClr val="FFFFFF"/>
                    </a:solidFill>
                  </a:tcPr>
                </a:tc>
                <a:tc>
                  <a:txBody>
                    <a:bodyPr/>
                    <a:lstStyle/>
                    <a:p>
                      <a:pPr algn="ctr"/>
                      <a:r>
                        <a:rPr sz="750" b="0">
                          <a:solidFill>
                            <a:srgbClr val="202020"/>
                          </a:solidFill>
                        </a:rPr>
                        <a:t>0.529</a:t>
                      </a:r>
                    </a:p>
                  </a:txBody>
                  <a:tcPr>
                    <a:solidFill>
                      <a:srgbClr val="FFFFFF"/>
                    </a:solidFill>
                  </a:tcPr>
                </a:tc>
                <a:tc>
                  <a:txBody>
                    <a:bodyPr/>
                    <a:lstStyle/>
                    <a:p>
                      <a:pPr algn="ctr"/>
                      <a:r>
                        <a:rPr sz="750" b="0">
                          <a:solidFill>
                            <a:srgbClr val="202020"/>
                          </a:solidFill>
                        </a:rPr>
                        <a:t>0.580</a:t>
                      </a:r>
                    </a:p>
                  </a:txBody>
                  <a:tcPr>
                    <a:solidFill>
                      <a:srgbClr val="FFFFFF"/>
                    </a:solidFill>
                  </a:tcPr>
                </a:tc>
                <a:tc>
                  <a:txBody>
                    <a:bodyPr/>
                    <a:lstStyle/>
                    <a:p>
                      <a:pPr algn="ctr"/>
                      <a:r>
                        <a:rPr sz="750" b="0">
                          <a:solidFill>
                            <a:srgbClr val="202020"/>
                          </a:solidFill>
                        </a:rPr>
                        <a:t>0.529</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0.125</a:t>
                      </a:r>
                    </a:p>
                  </a:txBody>
                  <a:tcPr>
                    <a:solidFill>
                      <a:srgbClr val="FFFFFF"/>
                    </a:solidFill>
                  </a:tcPr>
                </a:tc>
                <a:tc>
                  <a:txBody>
                    <a:bodyPr/>
                    <a:lstStyle/>
                    <a:p>
                      <a:pPr algn="ctr"/>
                      <a:r>
                        <a:rPr sz="750" b="0">
                          <a:solidFill>
                            <a:srgbClr val="202020"/>
                          </a:solidFill>
                        </a:rPr>
                        <a:t>0.686</a:t>
                      </a:r>
                    </a:p>
                  </a:txBody>
                  <a:tcPr>
                    <a:solidFill>
                      <a:srgbClr val="FFFFFF"/>
                    </a:solidFill>
                  </a:tcPr>
                </a:tc>
                <a:tc>
                  <a:txBody>
                    <a:bodyPr/>
                    <a:lstStyle/>
                    <a:p>
                      <a:pPr algn="ctr"/>
                      <a:r>
                        <a:rPr sz="750" b="0">
                          <a:solidFill>
                            <a:srgbClr val="202020"/>
                          </a:solidFill>
                        </a:rPr>
                        <a:t>0.638</a:t>
                      </a:r>
                    </a:p>
                  </a:txBody>
                  <a:tcPr>
                    <a:solidFill>
                      <a:srgbClr val="FFFFFF"/>
                    </a:solidFill>
                  </a:tcPr>
                </a:tc>
                <a:tc>
                  <a:txBody>
                    <a:bodyPr/>
                    <a:lstStyle/>
                    <a:p>
                      <a:pPr algn="ctr"/>
                      <a:r>
                        <a:rPr sz="750" b="0">
                          <a:solidFill>
                            <a:srgbClr val="202020"/>
                          </a:solidFill>
                        </a:rPr>
                        <a:t>0.686</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0.179</a:t>
                      </a:r>
                    </a:p>
                  </a:txBody>
                  <a:tcPr>
                    <a:solidFill>
                      <a:srgbClr val="FFFFFF"/>
                    </a:solidFill>
                  </a:tcPr>
                </a:tc>
                <a:tc>
                  <a:txBody>
                    <a:bodyPr/>
                    <a:lstStyle/>
                    <a:p>
                      <a:pPr algn="ctr"/>
                      <a:r>
                        <a:rPr sz="750" b="0">
                          <a:solidFill>
                            <a:srgbClr val="202020"/>
                          </a:solidFill>
                        </a:rPr>
                        <a:t>0.705</a:t>
                      </a:r>
                    </a:p>
                  </a:txBody>
                  <a:tcPr>
                    <a:solidFill>
                      <a:srgbClr val="FFFFFF"/>
                    </a:solidFill>
                  </a:tcPr>
                </a:tc>
                <a:tc>
                  <a:txBody>
                    <a:bodyPr/>
                    <a:lstStyle/>
                    <a:p>
                      <a:pPr algn="ctr"/>
                      <a:r>
                        <a:rPr sz="750" b="0">
                          <a:solidFill>
                            <a:srgbClr val="202020"/>
                          </a:solidFill>
                        </a:rPr>
                        <a:t>0.676</a:t>
                      </a:r>
                    </a:p>
                  </a:txBody>
                  <a:tcPr>
                    <a:solidFill>
                      <a:srgbClr val="FFFFFF"/>
                    </a:solidFill>
                  </a:tcPr>
                </a:tc>
                <a:tc>
                  <a:txBody>
                    <a:bodyPr/>
                    <a:lstStyle/>
                    <a:p>
                      <a:pPr algn="ctr"/>
                      <a:r>
                        <a:rPr sz="750" b="0">
                          <a:solidFill>
                            <a:srgbClr val="202020"/>
                          </a:solidFill>
                        </a:rPr>
                        <a:t>0.705</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0.247</a:t>
                      </a:r>
                    </a:p>
                  </a:txBody>
                  <a:tcPr>
                    <a:solidFill>
                      <a:srgbClr val="FFFFFF"/>
                    </a:solidFill>
                  </a:tcPr>
                </a:tc>
                <a:tc>
                  <a:txBody>
                    <a:bodyPr/>
                    <a:lstStyle/>
                    <a:p>
                      <a:pPr algn="ctr"/>
                      <a:r>
                        <a:rPr sz="750" b="0">
                          <a:solidFill>
                            <a:srgbClr val="202020"/>
                          </a:solidFill>
                        </a:rPr>
                        <a:t>0.703</a:t>
                      </a:r>
                    </a:p>
                  </a:txBody>
                  <a:tcPr>
                    <a:solidFill>
                      <a:srgbClr val="FFFFFF"/>
                    </a:solidFill>
                  </a:tcPr>
                </a:tc>
                <a:tc>
                  <a:txBody>
                    <a:bodyPr/>
                    <a:lstStyle/>
                    <a:p>
                      <a:pPr algn="ctr"/>
                      <a:r>
                        <a:rPr sz="750" b="0">
                          <a:solidFill>
                            <a:srgbClr val="202020"/>
                          </a:solidFill>
                        </a:rPr>
                        <a:t>0.726</a:t>
                      </a:r>
                    </a:p>
                  </a:txBody>
                  <a:tcPr>
                    <a:solidFill>
                      <a:srgbClr val="FFFFFF"/>
                    </a:solidFill>
                  </a:tcPr>
                </a:tc>
                <a:tc>
                  <a:txBody>
                    <a:bodyPr/>
                    <a:lstStyle/>
                    <a:p>
                      <a:pPr algn="ctr"/>
                      <a:r>
                        <a:rPr sz="750" b="0">
                          <a:solidFill>
                            <a:srgbClr val="202020"/>
                          </a:solidFill>
                        </a:rPr>
                        <a:t>0.703</a:t>
                      </a:r>
                    </a:p>
                  </a:txBody>
                  <a:tcPr>
                    <a:solidFill>
                      <a:srgbClr val="FFFFFF"/>
                    </a:solidFill>
                  </a:tcPr>
                </a:tc>
              </a:tr>
            </a:tbl>
          </a:graphicData>
        </a:graphic>
      </p:graphicFrame>
      <p:sp>
        <p:nvSpPr>
          <p:cNvPr id="7" name="TextBox 6"/>
          <p:cNvSpPr txBox="1"/>
          <p:nvPr/>
        </p:nvSpPr>
        <p:spPr>
          <a:xfrm>
            <a:off x="4617720" y="960120"/>
            <a:ext cx="4206240" cy="201168"/>
          </a:xfrm>
          <a:prstGeom prst="rect">
            <a:avLst/>
          </a:prstGeom>
          <a:noFill/>
        </p:spPr>
        <p:txBody>
          <a:bodyPr wrap="none">
            <a:spAutoFit/>
          </a:bodyPr>
          <a:lstStyle/>
          <a:p>
            <a:pPr algn="l"/>
            <a:r>
              <a:rPr sz="950" b="1" i="0">
                <a:solidFill>
                  <a:srgbClr val="1A73E8"/>
                </a:solidFill>
              </a:rPr>
              <a:t>CK+ → Primer (4-Class)</a:t>
            </a:r>
          </a:p>
        </p:txBody>
      </p:sp>
      <p:graphicFrame>
        <p:nvGraphicFramePr>
          <p:cNvPr id="8" name="Table 7"/>
          <p:cNvGraphicFramePr>
            <a:graphicFrameLocks noGrp="1"/>
          </p:cNvGraphicFramePr>
          <p:nvPr/>
        </p:nvGraphicFramePr>
        <p:xfrm>
          <a:off x="4617720" y="1188720"/>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6F4EA"/>
                    </a:solidFill>
                  </a:tcPr>
                </a:tc>
                <a:tc>
                  <a:txBody>
                    <a:bodyPr/>
                    <a:lstStyle/>
                    <a:p>
                      <a:pPr algn="ctr"/>
                      <a:r>
                        <a:rPr sz="750" b="0">
                          <a:solidFill>
                            <a:srgbClr val="202020"/>
                          </a:solidFill>
                        </a:rPr>
                        <a:t>0.396</a:t>
                      </a:r>
                    </a:p>
                  </a:txBody>
                  <a:tcPr>
                    <a:solidFill>
                      <a:srgbClr val="E6F4EA"/>
                    </a:solidFill>
                  </a:tcPr>
                </a:tc>
                <a:tc>
                  <a:txBody>
                    <a:bodyPr/>
                    <a:lstStyle/>
                    <a:p>
                      <a:pPr algn="ctr"/>
                      <a:r>
                        <a:rPr sz="750" b="0">
                          <a:solidFill>
                            <a:srgbClr val="202020"/>
                          </a:solidFill>
                        </a:rPr>
                        <a:t>0.642</a:t>
                      </a:r>
                    </a:p>
                  </a:txBody>
                  <a:tcPr>
                    <a:solidFill>
                      <a:srgbClr val="E6F4EA"/>
                    </a:solidFill>
                  </a:tcPr>
                </a:tc>
                <a:tc>
                  <a:txBody>
                    <a:bodyPr/>
                    <a:lstStyle/>
                    <a:p>
                      <a:pPr algn="ctr"/>
                      <a:r>
                        <a:rPr sz="750" b="0">
                          <a:solidFill>
                            <a:srgbClr val="202020"/>
                          </a:solidFill>
                        </a:rPr>
                        <a:t>0.703</a:t>
                      </a:r>
                    </a:p>
                  </a:txBody>
                  <a:tcPr>
                    <a:solidFill>
                      <a:srgbClr val="E6F4EA"/>
                    </a:solidFill>
                  </a:tcPr>
                </a:tc>
                <a:tc>
                  <a:txBody>
                    <a:bodyPr/>
                    <a:lstStyle/>
                    <a:p>
                      <a:pPr algn="ctr"/>
                      <a:r>
                        <a:rPr sz="750" b="0">
                          <a:solidFill>
                            <a:srgbClr val="202020"/>
                          </a:solidFill>
                        </a:rPr>
                        <a:t>0.642</a:t>
                      </a:r>
                    </a:p>
                  </a:txBody>
                  <a:tcPr>
                    <a:solidFill>
                      <a:srgbClr val="E6F4EA"/>
                    </a:solidFill>
                  </a:tcPr>
                </a:tc>
              </a:tr>
              <a:tr h="287382">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0.072</a:t>
                      </a:r>
                    </a:p>
                  </a:txBody>
                  <a:tcPr>
                    <a:solidFill>
                      <a:srgbClr val="FFFFFF"/>
                    </a:solidFill>
                  </a:tcPr>
                </a:tc>
                <a:tc>
                  <a:txBody>
                    <a:bodyPr/>
                    <a:lstStyle/>
                    <a:p>
                      <a:pPr algn="ctr"/>
                      <a:r>
                        <a:rPr sz="750" b="0">
                          <a:solidFill>
                            <a:srgbClr val="202020"/>
                          </a:solidFill>
                        </a:rPr>
                        <a:t>0.102</a:t>
                      </a:r>
                    </a:p>
                  </a:txBody>
                  <a:tcPr>
                    <a:solidFill>
                      <a:srgbClr val="FFFFFF"/>
                    </a:solidFill>
                  </a:tcPr>
                </a:tc>
                <a:tc>
                  <a:txBody>
                    <a:bodyPr/>
                    <a:lstStyle/>
                    <a:p>
                      <a:pPr algn="ctr"/>
                      <a:r>
                        <a:rPr sz="750" b="0">
                          <a:solidFill>
                            <a:srgbClr val="202020"/>
                          </a:solidFill>
                        </a:rPr>
                        <a:t>0.093</a:t>
                      </a:r>
                    </a:p>
                  </a:txBody>
                  <a:tcPr>
                    <a:solidFill>
                      <a:srgbClr val="FFFFFF"/>
                    </a:solidFill>
                  </a:tcPr>
                </a:tc>
                <a:tc>
                  <a:txBody>
                    <a:bodyPr/>
                    <a:lstStyle/>
                    <a:p>
                      <a:pPr algn="ctr"/>
                      <a:r>
                        <a:rPr sz="750" b="0">
                          <a:solidFill>
                            <a:srgbClr val="202020"/>
                          </a:solidFill>
                        </a:rPr>
                        <a:t>0.102</a:t>
                      </a:r>
                    </a:p>
                  </a:txBody>
                  <a:tcPr>
                    <a:solidFill>
                      <a:srgbClr val="FFFFFF"/>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0.186</a:t>
                      </a:r>
                    </a:p>
                  </a:txBody>
                  <a:tcPr>
                    <a:solidFill>
                      <a:srgbClr val="E8F0FE"/>
                    </a:solidFill>
                  </a:tcPr>
                </a:tc>
                <a:tc>
                  <a:txBody>
                    <a:bodyPr/>
                    <a:lstStyle/>
                    <a:p>
                      <a:pPr algn="ctr"/>
                      <a:r>
                        <a:rPr sz="750" b="0">
                          <a:solidFill>
                            <a:srgbClr val="202020"/>
                          </a:solidFill>
                        </a:rPr>
                        <a:t>0.465</a:t>
                      </a:r>
                    </a:p>
                  </a:txBody>
                  <a:tcPr>
                    <a:solidFill>
                      <a:srgbClr val="E8F0FE"/>
                    </a:solidFill>
                  </a:tcPr>
                </a:tc>
                <a:tc>
                  <a:txBody>
                    <a:bodyPr/>
                    <a:lstStyle/>
                    <a:p>
                      <a:pPr algn="ctr"/>
                      <a:r>
                        <a:rPr sz="750" b="0">
                          <a:solidFill>
                            <a:srgbClr val="202020"/>
                          </a:solidFill>
                        </a:rPr>
                        <a:t>0.532</a:t>
                      </a:r>
                    </a:p>
                  </a:txBody>
                  <a:tcPr>
                    <a:solidFill>
                      <a:srgbClr val="E8F0FE"/>
                    </a:solidFill>
                  </a:tcPr>
                </a:tc>
                <a:tc>
                  <a:txBody>
                    <a:bodyPr/>
                    <a:lstStyle/>
                    <a:p>
                      <a:pPr algn="ctr"/>
                      <a:r>
                        <a:rPr sz="750" b="0">
                          <a:solidFill>
                            <a:srgbClr val="202020"/>
                          </a:solidFill>
                        </a:rPr>
                        <a:t>0.465</a:t>
                      </a:r>
                    </a:p>
                  </a:txBody>
                  <a:tcPr>
                    <a:solidFill>
                      <a:srgbClr val="E8F0FE"/>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0.258</a:t>
                      </a:r>
                    </a:p>
                  </a:txBody>
                  <a:tcPr>
                    <a:solidFill>
                      <a:srgbClr val="FFFFFF"/>
                    </a:solidFill>
                  </a:tcPr>
                </a:tc>
                <a:tc>
                  <a:txBody>
                    <a:bodyPr/>
                    <a:lstStyle/>
                    <a:p>
                      <a:pPr algn="ctr"/>
                      <a:r>
                        <a:rPr sz="750" b="0">
                          <a:solidFill>
                            <a:srgbClr val="202020"/>
                          </a:solidFill>
                        </a:rPr>
                        <a:t>0.386</a:t>
                      </a:r>
                    </a:p>
                  </a:txBody>
                  <a:tcPr>
                    <a:solidFill>
                      <a:srgbClr val="FFFFFF"/>
                    </a:solidFill>
                  </a:tcPr>
                </a:tc>
                <a:tc>
                  <a:txBody>
                    <a:bodyPr/>
                    <a:lstStyle/>
                    <a:p>
                      <a:pPr algn="ctr"/>
                      <a:r>
                        <a:rPr sz="750" b="0">
                          <a:solidFill>
                            <a:srgbClr val="202020"/>
                          </a:solidFill>
                        </a:rPr>
                        <a:t>0.527</a:t>
                      </a:r>
                    </a:p>
                  </a:txBody>
                  <a:tcPr>
                    <a:solidFill>
                      <a:srgbClr val="FFFFFF"/>
                    </a:solidFill>
                  </a:tcPr>
                </a:tc>
                <a:tc>
                  <a:txBody>
                    <a:bodyPr/>
                    <a:lstStyle/>
                    <a:p>
                      <a:pPr algn="ctr"/>
                      <a:r>
                        <a:rPr sz="750" b="0">
                          <a:solidFill>
                            <a:srgbClr val="202020"/>
                          </a:solidFill>
                        </a:rPr>
                        <a:t>0.386</a:t>
                      </a:r>
                    </a:p>
                  </a:txBody>
                  <a:tcPr>
                    <a:solidFill>
                      <a:srgbClr val="FFFFFF"/>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0.202</a:t>
                      </a:r>
                    </a:p>
                  </a:txBody>
                  <a:tcPr>
                    <a:solidFill>
                      <a:srgbClr val="E8F0FE"/>
                    </a:solidFill>
                  </a:tcPr>
                </a:tc>
                <a:tc>
                  <a:txBody>
                    <a:bodyPr/>
                    <a:lstStyle/>
                    <a:p>
                      <a:pPr algn="ctr"/>
                      <a:r>
                        <a:rPr sz="750" b="0">
                          <a:solidFill>
                            <a:srgbClr val="202020"/>
                          </a:solidFill>
                        </a:rPr>
                        <a:t>0.271</a:t>
                      </a:r>
                    </a:p>
                  </a:txBody>
                  <a:tcPr>
                    <a:solidFill>
                      <a:srgbClr val="E8F0FE"/>
                    </a:solidFill>
                  </a:tcPr>
                </a:tc>
                <a:tc>
                  <a:txBody>
                    <a:bodyPr/>
                    <a:lstStyle/>
                    <a:p>
                      <a:pPr algn="ctr"/>
                      <a:r>
                        <a:rPr sz="750" b="0">
                          <a:solidFill>
                            <a:srgbClr val="202020"/>
                          </a:solidFill>
                        </a:rPr>
                        <a:t>0.381</a:t>
                      </a:r>
                    </a:p>
                  </a:txBody>
                  <a:tcPr>
                    <a:solidFill>
                      <a:srgbClr val="E8F0FE"/>
                    </a:solidFill>
                  </a:tcPr>
                </a:tc>
                <a:tc>
                  <a:txBody>
                    <a:bodyPr/>
                    <a:lstStyle/>
                    <a:p>
                      <a:pPr algn="ctr"/>
                      <a:r>
                        <a:rPr sz="750" b="0">
                          <a:solidFill>
                            <a:srgbClr val="202020"/>
                          </a:solidFill>
                        </a:rPr>
                        <a:t>0.271</a:t>
                      </a:r>
                    </a:p>
                  </a:txBody>
                  <a:tcPr>
                    <a:solidFill>
                      <a:srgbClr val="E8F0FE"/>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0.245</a:t>
                      </a:r>
                    </a:p>
                  </a:txBody>
                  <a:tcPr>
                    <a:solidFill>
                      <a:srgbClr val="FFFFFF"/>
                    </a:solidFill>
                  </a:tcPr>
                </a:tc>
                <a:tc>
                  <a:txBody>
                    <a:bodyPr/>
                    <a:lstStyle/>
                    <a:p>
                      <a:pPr algn="ctr"/>
                      <a:r>
                        <a:rPr sz="750" b="0">
                          <a:solidFill>
                            <a:srgbClr val="202020"/>
                          </a:solidFill>
                        </a:rPr>
                        <a:t>0.489</a:t>
                      </a:r>
                    </a:p>
                  </a:txBody>
                  <a:tcPr>
                    <a:solidFill>
                      <a:srgbClr val="FFFFFF"/>
                    </a:solidFill>
                  </a:tcPr>
                </a:tc>
                <a:tc>
                  <a:txBody>
                    <a:bodyPr/>
                    <a:lstStyle/>
                    <a:p>
                      <a:pPr algn="ctr"/>
                      <a:r>
                        <a:rPr sz="750" b="0">
                          <a:solidFill>
                            <a:srgbClr val="202020"/>
                          </a:solidFill>
                        </a:rPr>
                        <a:t>0.556</a:t>
                      </a:r>
                    </a:p>
                  </a:txBody>
                  <a:tcPr>
                    <a:solidFill>
                      <a:srgbClr val="FFFFFF"/>
                    </a:solidFill>
                  </a:tcPr>
                </a:tc>
                <a:tc>
                  <a:txBody>
                    <a:bodyPr/>
                    <a:lstStyle/>
                    <a:p>
                      <a:pPr algn="ctr"/>
                      <a:r>
                        <a:rPr sz="750" b="0">
                          <a:solidFill>
                            <a:srgbClr val="202020"/>
                          </a:solidFill>
                        </a:rPr>
                        <a:t>0.489</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0.207</a:t>
                      </a:r>
                    </a:p>
                  </a:txBody>
                  <a:tcPr>
                    <a:solidFill>
                      <a:srgbClr val="FFFFFF"/>
                    </a:solidFill>
                  </a:tcPr>
                </a:tc>
                <a:tc>
                  <a:txBody>
                    <a:bodyPr/>
                    <a:lstStyle/>
                    <a:p>
                      <a:pPr algn="ctr"/>
                      <a:r>
                        <a:rPr sz="750" b="0">
                          <a:solidFill>
                            <a:srgbClr val="202020"/>
                          </a:solidFill>
                        </a:rPr>
                        <a:t>0.577</a:t>
                      </a:r>
                    </a:p>
                  </a:txBody>
                  <a:tcPr>
                    <a:solidFill>
                      <a:srgbClr val="FFFFFF"/>
                    </a:solidFill>
                  </a:tcPr>
                </a:tc>
                <a:tc>
                  <a:txBody>
                    <a:bodyPr/>
                    <a:lstStyle/>
                    <a:p>
                      <a:pPr algn="ctr"/>
                      <a:r>
                        <a:rPr sz="750" b="0">
                          <a:solidFill>
                            <a:srgbClr val="202020"/>
                          </a:solidFill>
                        </a:rPr>
                        <a:t>0.582</a:t>
                      </a:r>
                    </a:p>
                  </a:txBody>
                  <a:tcPr>
                    <a:solidFill>
                      <a:srgbClr val="FFFFFF"/>
                    </a:solidFill>
                  </a:tcPr>
                </a:tc>
                <a:tc>
                  <a:txBody>
                    <a:bodyPr/>
                    <a:lstStyle/>
                    <a:p>
                      <a:pPr algn="ctr"/>
                      <a:r>
                        <a:rPr sz="750" b="0">
                          <a:solidFill>
                            <a:srgbClr val="202020"/>
                          </a:solidFill>
                        </a:rPr>
                        <a:t>0.577</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0.101</a:t>
                      </a:r>
                    </a:p>
                  </a:txBody>
                  <a:tcPr>
                    <a:solidFill>
                      <a:srgbClr val="FFFFFF"/>
                    </a:solidFill>
                  </a:tcPr>
                </a:tc>
                <a:tc>
                  <a:txBody>
                    <a:bodyPr/>
                    <a:lstStyle/>
                    <a:p>
                      <a:pPr algn="ctr"/>
                      <a:r>
                        <a:rPr sz="750" b="0">
                          <a:solidFill>
                            <a:srgbClr val="202020"/>
                          </a:solidFill>
                        </a:rPr>
                        <a:t>0.194</a:t>
                      </a:r>
                    </a:p>
                  </a:txBody>
                  <a:tcPr>
                    <a:solidFill>
                      <a:srgbClr val="FFFFFF"/>
                    </a:solidFill>
                  </a:tcPr>
                </a:tc>
                <a:tc>
                  <a:txBody>
                    <a:bodyPr/>
                    <a:lstStyle/>
                    <a:p>
                      <a:pPr algn="ctr"/>
                      <a:r>
                        <a:rPr sz="750" b="0">
                          <a:solidFill>
                            <a:srgbClr val="202020"/>
                          </a:solidFill>
                        </a:rPr>
                        <a:t>0.288</a:t>
                      </a:r>
                    </a:p>
                  </a:txBody>
                  <a:tcPr>
                    <a:solidFill>
                      <a:srgbClr val="FFFFFF"/>
                    </a:solidFill>
                  </a:tcPr>
                </a:tc>
                <a:tc>
                  <a:txBody>
                    <a:bodyPr/>
                    <a:lstStyle/>
                    <a:p>
                      <a:pPr algn="ctr"/>
                      <a:r>
                        <a:rPr sz="750" b="0">
                          <a:solidFill>
                            <a:srgbClr val="202020"/>
                          </a:solidFill>
                        </a:rPr>
                        <a:t>0.194</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0.141</a:t>
                      </a:r>
                    </a:p>
                  </a:txBody>
                  <a:tcPr>
                    <a:solidFill>
                      <a:srgbClr val="FFFFFF"/>
                    </a:solidFill>
                  </a:tcPr>
                </a:tc>
                <a:tc>
                  <a:txBody>
                    <a:bodyPr/>
                    <a:lstStyle/>
                    <a:p>
                      <a:pPr algn="ctr"/>
                      <a:r>
                        <a:rPr sz="750" b="0">
                          <a:solidFill>
                            <a:srgbClr val="202020"/>
                          </a:solidFill>
                        </a:rPr>
                        <a:t>0.182</a:t>
                      </a:r>
                    </a:p>
                  </a:txBody>
                  <a:tcPr>
                    <a:solidFill>
                      <a:srgbClr val="FFFFFF"/>
                    </a:solidFill>
                  </a:tcPr>
                </a:tc>
                <a:tc>
                  <a:txBody>
                    <a:bodyPr/>
                    <a:lstStyle/>
                    <a:p>
                      <a:pPr algn="ctr"/>
                      <a:r>
                        <a:rPr sz="750" b="0">
                          <a:solidFill>
                            <a:srgbClr val="202020"/>
                          </a:solidFill>
                        </a:rPr>
                        <a:t>0.281</a:t>
                      </a:r>
                    </a:p>
                  </a:txBody>
                  <a:tcPr>
                    <a:solidFill>
                      <a:srgbClr val="FFFFFF"/>
                    </a:solidFill>
                  </a:tcPr>
                </a:tc>
                <a:tc>
                  <a:txBody>
                    <a:bodyPr/>
                    <a:lstStyle/>
                    <a:p>
                      <a:pPr algn="ctr"/>
                      <a:r>
                        <a:rPr sz="750" b="0">
                          <a:solidFill>
                            <a:srgbClr val="202020"/>
                          </a:solidFill>
                        </a:rPr>
                        <a:t>0.182</a:t>
                      </a:r>
                    </a:p>
                  </a:txBody>
                  <a:tcPr>
                    <a:solidFill>
                      <a:srgbClr val="FFFFFF"/>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2 — JAFFE → Primer</a:t>
            </a:r>
          </a:p>
        </p:txBody>
      </p:sp>
      <p:sp>
        <p:nvSpPr>
          <p:cNvPr id="4" name="TextBox 3"/>
          <p:cNvSpPr txBox="1"/>
          <p:nvPr/>
        </p:nvSpPr>
        <p:spPr>
          <a:xfrm>
            <a:off x="274320" y="548640"/>
            <a:ext cx="8595360" cy="365760"/>
          </a:xfrm>
          <a:prstGeom prst="rect">
            <a:avLst/>
          </a:prstGeom>
          <a:solidFill>
            <a:srgbClr val="E8F0FE"/>
          </a:solidFill>
        </p:spPr>
        <p:txBody>
          <a:bodyPr wrap="square">
            <a:spAutoFit/>
          </a:bodyPr>
          <a:lstStyle/>
          <a:p>
            <a:pPr algn="l"/>
            <a:r>
              <a:rPr sz="850" b="0" i="0">
                <a:solidFill>
                  <a:srgbClr val="202020"/>
                </a:solidFill>
              </a:rPr>
              <a:t>6 model × 3 metrik per combo. Late Fusion TL belum (butuh checkpoint FCNN+CNN_TL matching).</a:t>
            </a:r>
          </a:p>
        </p:txBody>
      </p:sp>
      <p:sp>
        <p:nvSpPr>
          <p:cNvPr id="9" name="TextBox 8"/>
          <p:cNvSpPr txBox="1"/>
          <p:nvPr/>
        </p:nvSpPr>
        <p:spPr>
          <a:xfrm>
            <a:off x="274320" y="960120"/>
            <a:ext cx="4206240" cy="201168"/>
          </a:xfrm>
          <a:prstGeom prst="rect">
            <a:avLst/>
          </a:prstGeom>
          <a:noFill/>
        </p:spPr>
        <p:txBody>
          <a:bodyPr wrap="none">
            <a:spAutoFit/>
          </a:bodyPr>
          <a:lstStyle/>
          <a:p>
            <a:pPr algn="l"/>
            <a:r>
              <a:rPr sz="950" b="1" i="0">
                <a:solidFill>
                  <a:srgbClr val="1A73E8"/>
                </a:solidFill>
              </a:rPr>
              <a:t>JAFFE → Primer (7-Class)</a:t>
            </a:r>
          </a:p>
        </p:txBody>
      </p:sp>
      <p:graphicFrame>
        <p:nvGraphicFramePr>
          <p:cNvPr id="10" name="Table 9"/>
          <p:cNvGraphicFramePr>
            <a:graphicFrameLocks noGrp="1"/>
          </p:cNvGraphicFramePr>
          <p:nvPr/>
        </p:nvGraphicFramePr>
        <p:xfrm>
          <a:off x="274320" y="1188720"/>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0.001</a:t>
                      </a:r>
                    </a:p>
                  </a:txBody>
                  <a:tcPr>
                    <a:solidFill>
                      <a:srgbClr val="E8F0FE"/>
                    </a:solidFill>
                  </a:tcPr>
                </a:tc>
                <a:tc>
                  <a:txBody>
                    <a:bodyPr/>
                    <a:lstStyle/>
                    <a:p>
                      <a:pPr algn="ctr"/>
                      <a:r>
                        <a:rPr sz="750" b="0">
                          <a:solidFill>
                            <a:srgbClr val="202020"/>
                          </a:solidFill>
                        </a:rPr>
                        <a:t>0.002</a:t>
                      </a:r>
                    </a:p>
                  </a:txBody>
                  <a:tcPr>
                    <a:solidFill>
                      <a:srgbClr val="E8F0FE"/>
                    </a:solidFill>
                  </a:tcPr>
                </a:tc>
                <a:tc>
                  <a:txBody>
                    <a:bodyPr/>
                    <a:lstStyle/>
                    <a:p>
                      <a:pPr algn="ctr"/>
                      <a:r>
                        <a:rPr sz="750" b="0">
                          <a:solidFill>
                            <a:srgbClr val="202020"/>
                          </a:solidFill>
                        </a:rPr>
                        <a:t>0.000</a:t>
                      </a:r>
                    </a:p>
                  </a:txBody>
                  <a:tcPr>
                    <a:solidFill>
                      <a:srgbClr val="E8F0FE"/>
                    </a:solidFill>
                  </a:tcPr>
                </a:tc>
                <a:tc>
                  <a:txBody>
                    <a:bodyPr/>
                    <a:lstStyle/>
                    <a:p>
                      <a:pPr algn="ctr"/>
                      <a:r>
                        <a:rPr sz="750" b="0">
                          <a:solidFill>
                            <a:srgbClr val="202020"/>
                          </a:solidFill>
                        </a:rPr>
                        <a:t>0.002</a:t>
                      </a:r>
                    </a:p>
                  </a:txBody>
                  <a:tcPr>
                    <a:solidFill>
                      <a:srgbClr val="E8F0FE"/>
                    </a:solidFill>
                  </a:tcPr>
                </a:tc>
              </a:tr>
              <a:tr h="287382">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0.023</a:t>
                      </a:r>
                    </a:p>
                  </a:txBody>
                  <a:tcPr>
                    <a:solidFill>
                      <a:srgbClr val="FFFFFF"/>
                    </a:solidFill>
                  </a:tcPr>
                </a:tc>
                <a:tc>
                  <a:txBody>
                    <a:bodyPr/>
                    <a:lstStyle/>
                    <a:p>
                      <a:pPr algn="ctr"/>
                      <a:r>
                        <a:rPr sz="750" b="0">
                          <a:solidFill>
                            <a:srgbClr val="202020"/>
                          </a:solidFill>
                        </a:rPr>
                        <a:t>0.013</a:t>
                      </a:r>
                    </a:p>
                  </a:txBody>
                  <a:tcPr>
                    <a:solidFill>
                      <a:srgbClr val="FFFFFF"/>
                    </a:solidFill>
                  </a:tcPr>
                </a:tc>
                <a:tc>
                  <a:txBody>
                    <a:bodyPr/>
                    <a:lstStyle/>
                    <a:p>
                      <a:pPr algn="ctr"/>
                      <a:r>
                        <a:rPr sz="750" b="0">
                          <a:solidFill>
                            <a:srgbClr val="202020"/>
                          </a:solidFill>
                        </a:rPr>
                        <a:t>0.018</a:t>
                      </a:r>
                    </a:p>
                  </a:txBody>
                  <a:tcPr>
                    <a:solidFill>
                      <a:srgbClr val="FFFFFF"/>
                    </a:solidFill>
                  </a:tcPr>
                </a:tc>
                <a:tc>
                  <a:txBody>
                    <a:bodyPr/>
                    <a:lstStyle/>
                    <a:p>
                      <a:pPr algn="ctr"/>
                      <a:r>
                        <a:rPr sz="750" b="0">
                          <a:solidFill>
                            <a:srgbClr val="202020"/>
                          </a:solidFill>
                        </a:rPr>
                        <a:t>0.013</a:t>
                      </a:r>
                    </a:p>
                  </a:txBody>
                  <a:tcPr>
                    <a:solidFill>
                      <a:srgbClr val="FFFFFF"/>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0.017</a:t>
                      </a:r>
                    </a:p>
                  </a:txBody>
                  <a:tcPr>
                    <a:solidFill>
                      <a:srgbClr val="E8F0FE"/>
                    </a:solidFill>
                  </a:tcPr>
                </a:tc>
                <a:tc>
                  <a:txBody>
                    <a:bodyPr/>
                    <a:lstStyle/>
                    <a:p>
                      <a:pPr algn="ctr"/>
                      <a:r>
                        <a:rPr sz="750" b="0">
                          <a:solidFill>
                            <a:srgbClr val="202020"/>
                          </a:solidFill>
                        </a:rPr>
                        <a:t>0.014</a:t>
                      </a:r>
                    </a:p>
                  </a:txBody>
                  <a:tcPr>
                    <a:solidFill>
                      <a:srgbClr val="E8F0FE"/>
                    </a:solidFill>
                  </a:tcPr>
                </a:tc>
                <a:tc>
                  <a:txBody>
                    <a:bodyPr/>
                    <a:lstStyle/>
                    <a:p>
                      <a:pPr algn="ctr"/>
                      <a:r>
                        <a:rPr sz="750" b="0">
                          <a:solidFill>
                            <a:srgbClr val="202020"/>
                          </a:solidFill>
                        </a:rPr>
                        <a:t>0.020</a:t>
                      </a:r>
                    </a:p>
                  </a:txBody>
                  <a:tcPr>
                    <a:solidFill>
                      <a:srgbClr val="E8F0FE"/>
                    </a:solidFill>
                  </a:tcPr>
                </a:tc>
                <a:tc>
                  <a:txBody>
                    <a:bodyPr/>
                    <a:lstStyle/>
                    <a:p>
                      <a:pPr algn="ctr"/>
                      <a:r>
                        <a:rPr sz="750" b="0">
                          <a:solidFill>
                            <a:srgbClr val="202020"/>
                          </a:solidFill>
                        </a:rPr>
                        <a:t>0.014</a:t>
                      </a:r>
                    </a:p>
                  </a:txBody>
                  <a:tcPr>
                    <a:solidFill>
                      <a:srgbClr val="E8F0FE"/>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0.015</a:t>
                      </a:r>
                    </a:p>
                  </a:txBody>
                  <a:tcPr>
                    <a:solidFill>
                      <a:srgbClr val="FFFFFF"/>
                    </a:solidFill>
                  </a:tcPr>
                </a:tc>
                <a:tc>
                  <a:txBody>
                    <a:bodyPr/>
                    <a:lstStyle/>
                    <a:p>
                      <a:pPr algn="ctr"/>
                      <a:r>
                        <a:rPr sz="750" b="0">
                          <a:solidFill>
                            <a:srgbClr val="202020"/>
                          </a:solidFill>
                        </a:rPr>
                        <a:t>0.054</a:t>
                      </a:r>
                    </a:p>
                  </a:txBody>
                  <a:tcPr>
                    <a:solidFill>
                      <a:srgbClr val="FFFFFF"/>
                    </a:solidFill>
                  </a:tcPr>
                </a:tc>
                <a:tc>
                  <a:txBody>
                    <a:bodyPr/>
                    <a:lstStyle/>
                    <a:p>
                      <a:pPr algn="ctr"/>
                      <a:r>
                        <a:rPr sz="750" b="0">
                          <a:solidFill>
                            <a:srgbClr val="202020"/>
                          </a:solidFill>
                        </a:rPr>
                        <a:t>0.006</a:t>
                      </a:r>
                    </a:p>
                  </a:txBody>
                  <a:tcPr>
                    <a:solidFill>
                      <a:srgbClr val="FFFFFF"/>
                    </a:solidFill>
                  </a:tcPr>
                </a:tc>
                <a:tc>
                  <a:txBody>
                    <a:bodyPr/>
                    <a:lstStyle/>
                    <a:p>
                      <a:pPr algn="ctr"/>
                      <a:r>
                        <a:rPr sz="750" b="0">
                          <a:solidFill>
                            <a:srgbClr val="202020"/>
                          </a:solidFill>
                        </a:rPr>
                        <a:t>0.054</a:t>
                      </a:r>
                    </a:p>
                  </a:txBody>
                  <a:tcPr>
                    <a:solidFill>
                      <a:srgbClr val="FFFFFF"/>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0.023</a:t>
                      </a:r>
                    </a:p>
                  </a:txBody>
                  <a:tcPr>
                    <a:solidFill>
                      <a:srgbClr val="E8F0FE"/>
                    </a:solidFill>
                  </a:tcPr>
                </a:tc>
                <a:tc>
                  <a:txBody>
                    <a:bodyPr/>
                    <a:lstStyle/>
                    <a:p>
                      <a:pPr algn="ctr"/>
                      <a:r>
                        <a:rPr sz="750" b="0">
                          <a:solidFill>
                            <a:srgbClr val="202020"/>
                          </a:solidFill>
                        </a:rPr>
                        <a:t>0.028</a:t>
                      </a:r>
                    </a:p>
                  </a:txBody>
                  <a:tcPr>
                    <a:solidFill>
                      <a:srgbClr val="E8F0FE"/>
                    </a:solidFill>
                  </a:tcPr>
                </a:tc>
                <a:tc>
                  <a:txBody>
                    <a:bodyPr/>
                    <a:lstStyle/>
                    <a:p>
                      <a:pPr algn="ctr"/>
                      <a:r>
                        <a:rPr sz="750" b="0">
                          <a:solidFill>
                            <a:srgbClr val="202020"/>
                          </a:solidFill>
                        </a:rPr>
                        <a:t>0.045</a:t>
                      </a:r>
                    </a:p>
                  </a:txBody>
                  <a:tcPr>
                    <a:solidFill>
                      <a:srgbClr val="E8F0FE"/>
                    </a:solidFill>
                  </a:tcPr>
                </a:tc>
                <a:tc>
                  <a:txBody>
                    <a:bodyPr/>
                    <a:lstStyle/>
                    <a:p>
                      <a:pPr algn="ctr"/>
                      <a:r>
                        <a:rPr sz="750" b="0">
                          <a:solidFill>
                            <a:srgbClr val="202020"/>
                          </a:solidFill>
                        </a:rPr>
                        <a:t>0.028</a:t>
                      </a:r>
                    </a:p>
                  </a:txBody>
                  <a:tcPr>
                    <a:solidFill>
                      <a:srgbClr val="E8F0FE"/>
                    </a:solidFill>
                  </a:tcPr>
                </a:tc>
              </a:tr>
              <a:tr h="287388">
                <a:tc>
                  <a:txBody>
                    <a:bodyPr/>
                    <a:lstStyle/>
                    <a:p>
                      <a:pPr algn="l"/>
                      <a:r>
                        <a:rPr sz="750" b="1">
                          <a:solidFill>
                            <a:srgbClr val="202020"/>
                          </a:solidFill>
                        </a:rPr>
                        <a:t>Late Fusion</a:t>
                      </a:r>
                    </a:p>
                  </a:txBody>
                  <a:tcPr>
                    <a:solidFill>
                      <a:srgbClr val="E6F4EA"/>
                    </a:solidFill>
                  </a:tcPr>
                </a:tc>
                <a:tc>
                  <a:txBody>
                    <a:bodyPr/>
                    <a:lstStyle/>
                    <a:p>
                      <a:pPr algn="ctr"/>
                      <a:r>
                        <a:rPr sz="750" b="0">
                          <a:solidFill>
                            <a:srgbClr val="202020"/>
                          </a:solidFill>
                        </a:rPr>
                        <a:t>0.040</a:t>
                      </a:r>
                    </a:p>
                  </a:txBody>
                  <a:tcPr>
                    <a:solidFill>
                      <a:srgbClr val="E6F4EA"/>
                    </a:solidFill>
                  </a:tcPr>
                </a:tc>
                <a:tc>
                  <a:txBody>
                    <a:bodyPr/>
                    <a:lstStyle/>
                    <a:p>
                      <a:pPr algn="ctr"/>
                      <a:r>
                        <a:rPr sz="750" b="0">
                          <a:solidFill>
                            <a:srgbClr val="202020"/>
                          </a:solidFill>
                        </a:rPr>
                        <a:t>0.081</a:t>
                      </a:r>
                    </a:p>
                  </a:txBody>
                  <a:tcPr>
                    <a:solidFill>
                      <a:srgbClr val="E6F4EA"/>
                    </a:solidFill>
                  </a:tcPr>
                </a:tc>
                <a:tc>
                  <a:txBody>
                    <a:bodyPr/>
                    <a:lstStyle/>
                    <a:p>
                      <a:pPr algn="ctr"/>
                      <a:r>
                        <a:rPr sz="750" b="0">
                          <a:solidFill>
                            <a:srgbClr val="202020"/>
                          </a:solidFill>
                        </a:rPr>
                        <a:t>0.054</a:t>
                      </a:r>
                    </a:p>
                  </a:txBody>
                  <a:tcPr>
                    <a:solidFill>
                      <a:srgbClr val="E6F4EA"/>
                    </a:solidFill>
                  </a:tcPr>
                </a:tc>
                <a:tc>
                  <a:txBody>
                    <a:bodyPr/>
                    <a:lstStyle/>
                    <a:p>
                      <a:pPr algn="ctr"/>
                      <a:r>
                        <a:rPr sz="750" b="0">
                          <a:solidFill>
                            <a:srgbClr val="202020"/>
                          </a:solidFill>
                        </a:rPr>
                        <a:t>0.081</a:t>
                      </a:r>
                    </a:p>
                  </a:txBody>
                  <a:tcPr>
                    <a:solidFill>
                      <a:srgbClr val="E6F4EA"/>
                    </a:solidFill>
                  </a:tcPr>
                </a:tc>
              </a:tr>
              <a:tr h="287388">
                <a:tc>
                  <a:txBody>
                    <a:bodyPr/>
                    <a:lstStyle/>
                    <a:p>
                      <a:pPr algn="l"/>
                      <a:r>
                        <a:rPr sz="750" b="1">
                          <a:solidFill>
                            <a:srgbClr val="202020"/>
                          </a:solidFill>
                        </a:rPr>
                        <a:t>Early Fusion</a:t>
                      </a:r>
                    </a:p>
                  </a:txBody>
                  <a:tcPr>
                    <a:solidFill>
                      <a:srgbClr val="E6F4EA"/>
                    </a:solidFill>
                  </a:tcPr>
                </a:tc>
                <a:tc>
                  <a:txBody>
                    <a:bodyPr/>
                    <a:lstStyle/>
                    <a:p>
                      <a:pPr algn="ctr"/>
                      <a:r>
                        <a:rPr sz="750" b="0">
                          <a:solidFill>
                            <a:srgbClr val="202020"/>
                          </a:solidFill>
                        </a:rPr>
                        <a:t>0.026</a:t>
                      </a:r>
                    </a:p>
                  </a:txBody>
                  <a:tcPr>
                    <a:solidFill>
                      <a:srgbClr val="E6F4EA"/>
                    </a:solidFill>
                  </a:tcPr>
                </a:tc>
                <a:tc>
                  <a:txBody>
                    <a:bodyPr/>
                    <a:lstStyle/>
                    <a:p>
                      <a:pPr algn="ctr"/>
                      <a:r>
                        <a:rPr sz="750" b="0">
                          <a:solidFill>
                            <a:srgbClr val="202020"/>
                          </a:solidFill>
                        </a:rPr>
                        <a:t>0.032</a:t>
                      </a:r>
                    </a:p>
                  </a:txBody>
                  <a:tcPr>
                    <a:solidFill>
                      <a:srgbClr val="E6F4EA"/>
                    </a:solidFill>
                  </a:tcPr>
                </a:tc>
                <a:tc>
                  <a:txBody>
                    <a:bodyPr/>
                    <a:lstStyle/>
                    <a:p>
                      <a:pPr algn="ctr"/>
                      <a:r>
                        <a:rPr sz="750" b="0">
                          <a:solidFill>
                            <a:srgbClr val="202020"/>
                          </a:solidFill>
                        </a:rPr>
                        <a:t>0.026</a:t>
                      </a:r>
                    </a:p>
                  </a:txBody>
                  <a:tcPr>
                    <a:solidFill>
                      <a:srgbClr val="E6F4EA"/>
                    </a:solidFill>
                  </a:tcPr>
                </a:tc>
                <a:tc>
                  <a:txBody>
                    <a:bodyPr/>
                    <a:lstStyle/>
                    <a:p>
                      <a:pPr algn="ctr"/>
                      <a:r>
                        <a:rPr sz="750" b="0">
                          <a:solidFill>
                            <a:srgbClr val="202020"/>
                          </a:solidFill>
                        </a:rPr>
                        <a:t>0.032</a:t>
                      </a:r>
                    </a:p>
                  </a:txBody>
                  <a:tcPr>
                    <a:solidFill>
                      <a:srgbClr val="E6F4EA"/>
                    </a:solidFill>
                  </a:tcPr>
                </a:tc>
              </a:tr>
              <a:tr h="287388">
                <a:tc>
                  <a:txBody>
                    <a:bodyPr/>
                    <a:lstStyle/>
                    <a:p>
                      <a:pPr algn="l"/>
                      <a:r>
                        <a:rPr sz="750" b="1">
                          <a:solidFill>
                            <a:srgbClr val="202020"/>
                          </a:solidFill>
                        </a:rPr>
                        <a:t>Early Fusion TL</a:t>
                      </a:r>
                    </a:p>
                  </a:txBody>
                  <a:tcPr>
                    <a:solidFill>
                      <a:srgbClr val="E6F4EA"/>
                    </a:solidFill>
                  </a:tcPr>
                </a:tc>
                <a:tc>
                  <a:txBody>
                    <a:bodyPr/>
                    <a:lstStyle/>
                    <a:p>
                      <a:pPr algn="ctr"/>
                      <a:r>
                        <a:rPr sz="750" b="0">
                          <a:solidFill>
                            <a:srgbClr val="202020"/>
                          </a:solidFill>
                        </a:rPr>
                        <a:t>0.001</a:t>
                      </a:r>
                    </a:p>
                  </a:txBody>
                  <a:tcPr>
                    <a:solidFill>
                      <a:srgbClr val="E6F4EA"/>
                    </a:solidFill>
                  </a:tcPr>
                </a:tc>
                <a:tc>
                  <a:txBody>
                    <a:bodyPr/>
                    <a:lstStyle/>
                    <a:p>
                      <a:pPr algn="ctr"/>
                      <a:r>
                        <a:rPr sz="750" b="0">
                          <a:solidFill>
                            <a:srgbClr val="202020"/>
                          </a:solidFill>
                        </a:rPr>
                        <a:t>0.002</a:t>
                      </a:r>
                    </a:p>
                  </a:txBody>
                  <a:tcPr>
                    <a:solidFill>
                      <a:srgbClr val="E6F4EA"/>
                    </a:solidFill>
                  </a:tcPr>
                </a:tc>
                <a:tc>
                  <a:txBody>
                    <a:bodyPr/>
                    <a:lstStyle/>
                    <a:p>
                      <a:pPr algn="ctr"/>
                      <a:r>
                        <a:rPr sz="750" b="0">
                          <a:solidFill>
                            <a:srgbClr val="202020"/>
                          </a:solidFill>
                        </a:rPr>
                        <a:t>0.000</a:t>
                      </a:r>
                    </a:p>
                  </a:txBody>
                  <a:tcPr>
                    <a:solidFill>
                      <a:srgbClr val="E6F4EA"/>
                    </a:solidFill>
                  </a:tcPr>
                </a:tc>
                <a:tc>
                  <a:txBody>
                    <a:bodyPr/>
                    <a:lstStyle/>
                    <a:p>
                      <a:pPr algn="ctr"/>
                      <a:r>
                        <a:rPr sz="750" b="0">
                          <a:solidFill>
                            <a:srgbClr val="202020"/>
                          </a:solidFill>
                        </a:rPr>
                        <a:t>0.002</a:t>
                      </a:r>
                    </a:p>
                  </a:txBody>
                  <a:tcPr>
                    <a:solidFill>
                      <a:srgbClr val="E6F4EA"/>
                    </a:solidFill>
                  </a:tcPr>
                </a:tc>
              </a:tr>
              <a:tr h="287388">
                <a:tc>
                  <a:txBody>
                    <a:bodyPr/>
                    <a:lstStyle/>
                    <a:p>
                      <a:pPr algn="l"/>
                      <a:r>
                        <a:rPr sz="750" b="1">
                          <a:solidFill>
                            <a:srgbClr val="202020"/>
                          </a:solidFill>
                        </a:rPr>
                        <a:t>Late Fusion TL</a:t>
                      </a:r>
                    </a:p>
                  </a:txBody>
                  <a:tcPr>
                    <a:solidFill>
                      <a:srgbClr val="E6F4EA"/>
                    </a:solidFill>
                  </a:tcPr>
                </a:tc>
                <a:tc>
                  <a:txBody>
                    <a:bodyPr/>
                    <a:lstStyle/>
                    <a:p>
                      <a:pPr algn="ctr"/>
                      <a:r>
                        <a:rPr sz="750" b="0">
                          <a:solidFill>
                            <a:srgbClr val="202020"/>
                          </a:solidFill>
                        </a:rPr>
                        <a:t>0.050</a:t>
                      </a:r>
                    </a:p>
                  </a:txBody>
                  <a:tcPr>
                    <a:solidFill>
                      <a:srgbClr val="E6F4EA"/>
                    </a:solidFill>
                  </a:tcPr>
                </a:tc>
                <a:tc>
                  <a:txBody>
                    <a:bodyPr/>
                    <a:lstStyle/>
                    <a:p>
                      <a:pPr algn="ctr"/>
                      <a:r>
                        <a:rPr sz="750" b="0">
                          <a:solidFill>
                            <a:srgbClr val="202020"/>
                          </a:solidFill>
                        </a:rPr>
                        <a:t>0.118</a:t>
                      </a:r>
                    </a:p>
                  </a:txBody>
                  <a:tcPr>
                    <a:solidFill>
                      <a:srgbClr val="E6F4EA"/>
                    </a:solidFill>
                  </a:tcPr>
                </a:tc>
                <a:tc>
                  <a:txBody>
                    <a:bodyPr/>
                    <a:lstStyle/>
                    <a:p>
                      <a:pPr algn="ctr"/>
                      <a:r>
                        <a:rPr sz="750" b="0">
                          <a:solidFill>
                            <a:srgbClr val="202020"/>
                          </a:solidFill>
                        </a:rPr>
                        <a:t>0.192</a:t>
                      </a:r>
                    </a:p>
                  </a:txBody>
                  <a:tcPr>
                    <a:solidFill>
                      <a:srgbClr val="E6F4EA"/>
                    </a:solidFill>
                  </a:tcPr>
                </a:tc>
                <a:tc>
                  <a:txBody>
                    <a:bodyPr/>
                    <a:lstStyle/>
                    <a:p>
                      <a:pPr algn="ctr"/>
                      <a:r>
                        <a:rPr sz="750" b="0">
                          <a:solidFill>
                            <a:srgbClr val="202020"/>
                          </a:solidFill>
                        </a:rPr>
                        <a:t>0.118</a:t>
                      </a:r>
                    </a:p>
                  </a:txBody>
                  <a:tcPr>
                    <a:solidFill>
                      <a:srgbClr val="E6F4EA"/>
                    </a:solidFill>
                  </a:tcPr>
                </a:tc>
              </a:tr>
            </a:tbl>
          </a:graphicData>
        </a:graphic>
      </p:graphicFrame>
      <p:sp>
        <p:nvSpPr>
          <p:cNvPr id="11" name="TextBox 10"/>
          <p:cNvSpPr txBox="1"/>
          <p:nvPr/>
        </p:nvSpPr>
        <p:spPr>
          <a:xfrm>
            <a:off x="4617720" y="960120"/>
            <a:ext cx="4206240" cy="201168"/>
          </a:xfrm>
          <a:prstGeom prst="rect">
            <a:avLst/>
          </a:prstGeom>
          <a:noFill/>
        </p:spPr>
        <p:txBody>
          <a:bodyPr wrap="none">
            <a:spAutoFit/>
          </a:bodyPr>
          <a:lstStyle/>
          <a:p>
            <a:pPr algn="l"/>
            <a:r>
              <a:rPr sz="950" b="1" i="0">
                <a:solidFill>
                  <a:srgbClr val="1A73E8"/>
                </a:solidFill>
              </a:rPr>
              <a:t>JAFFE → Primer (4-Class)</a:t>
            </a:r>
          </a:p>
        </p:txBody>
      </p:sp>
      <p:graphicFrame>
        <p:nvGraphicFramePr>
          <p:cNvPr id="12" name="Table 11"/>
          <p:cNvGraphicFramePr>
            <a:graphicFrameLocks noGrp="1"/>
          </p:cNvGraphicFramePr>
          <p:nvPr/>
        </p:nvGraphicFramePr>
        <p:xfrm>
          <a:off x="4617720" y="1188720"/>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0.004</a:t>
                      </a:r>
                    </a:p>
                  </a:txBody>
                  <a:tcPr>
                    <a:solidFill>
                      <a:srgbClr val="E8F0FE"/>
                    </a:solidFill>
                  </a:tcPr>
                </a:tc>
                <a:tc>
                  <a:txBody>
                    <a:bodyPr/>
                    <a:lstStyle/>
                    <a:p>
                      <a:pPr algn="ctr"/>
                      <a:r>
                        <a:rPr sz="750" b="0">
                          <a:solidFill>
                            <a:srgbClr val="202020"/>
                          </a:solidFill>
                        </a:rPr>
                        <a:t>0.009</a:t>
                      </a:r>
                    </a:p>
                  </a:txBody>
                  <a:tcPr>
                    <a:solidFill>
                      <a:srgbClr val="E8F0FE"/>
                    </a:solidFill>
                  </a:tcPr>
                </a:tc>
                <a:tc>
                  <a:txBody>
                    <a:bodyPr/>
                    <a:lstStyle/>
                    <a:p>
                      <a:pPr algn="ctr"/>
                      <a:r>
                        <a:rPr sz="750" b="0">
                          <a:solidFill>
                            <a:srgbClr val="202020"/>
                          </a:solidFill>
                        </a:rPr>
                        <a:t>0.000</a:t>
                      </a:r>
                    </a:p>
                  </a:txBody>
                  <a:tcPr>
                    <a:solidFill>
                      <a:srgbClr val="E8F0FE"/>
                    </a:solidFill>
                  </a:tcPr>
                </a:tc>
                <a:tc>
                  <a:txBody>
                    <a:bodyPr/>
                    <a:lstStyle/>
                    <a:p>
                      <a:pPr algn="ctr"/>
                      <a:r>
                        <a:rPr sz="750" b="0">
                          <a:solidFill>
                            <a:srgbClr val="202020"/>
                          </a:solidFill>
                        </a:rPr>
                        <a:t>0.009</a:t>
                      </a:r>
                    </a:p>
                  </a:txBody>
                  <a:tcPr>
                    <a:solidFill>
                      <a:srgbClr val="E8F0FE"/>
                    </a:solidFill>
                  </a:tcPr>
                </a:tc>
              </a:tr>
              <a:tr h="287382">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0.004</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0.000</a:t>
                      </a:r>
                    </a:p>
                  </a:txBody>
                  <a:tcPr>
                    <a:solidFill>
                      <a:srgbClr val="FFFFFF"/>
                    </a:solidFill>
                  </a:tcPr>
                </a:tc>
                <a:tc>
                  <a:txBody>
                    <a:bodyPr/>
                    <a:lstStyle/>
                    <a:p>
                      <a:pPr algn="ctr"/>
                      <a:r>
                        <a:rPr sz="750" b="0">
                          <a:solidFill>
                            <a:srgbClr val="202020"/>
                          </a:solidFill>
                        </a:rPr>
                        <a:t>0.009</a:t>
                      </a:r>
                    </a:p>
                  </a:txBody>
                  <a:tcPr>
                    <a:solidFill>
                      <a:srgbClr val="FFFFFF"/>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0.005</a:t>
                      </a:r>
                    </a:p>
                  </a:txBody>
                  <a:tcPr>
                    <a:solidFill>
                      <a:srgbClr val="E8F0FE"/>
                    </a:solidFill>
                  </a:tcPr>
                </a:tc>
                <a:tc>
                  <a:txBody>
                    <a:bodyPr/>
                    <a:lstStyle/>
                    <a:p>
                      <a:pPr algn="ctr"/>
                      <a:r>
                        <a:rPr sz="750" b="0">
                          <a:solidFill>
                            <a:srgbClr val="202020"/>
                          </a:solidFill>
                        </a:rPr>
                        <a:t>0.010</a:t>
                      </a:r>
                    </a:p>
                  </a:txBody>
                  <a:tcPr>
                    <a:solidFill>
                      <a:srgbClr val="E8F0FE"/>
                    </a:solidFill>
                  </a:tcPr>
                </a:tc>
                <a:tc>
                  <a:txBody>
                    <a:bodyPr/>
                    <a:lstStyle/>
                    <a:p>
                      <a:pPr algn="ctr"/>
                      <a:r>
                        <a:rPr sz="750" b="0">
                          <a:solidFill>
                            <a:srgbClr val="202020"/>
                          </a:solidFill>
                        </a:rPr>
                        <a:t>0.002</a:t>
                      </a:r>
                    </a:p>
                  </a:txBody>
                  <a:tcPr>
                    <a:solidFill>
                      <a:srgbClr val="E8F0FE"/>
                    </a:solidFill>
                  </a:tcPr>
                </a:tc>
                <a:tc>
                  <a:txBody>
                    <a:bodyPr/>
                    <a:lstStyle/>
                    <a:p>
                      <a:pPr algn="ctr"/>
                      <a:r>
                        <a:rPr sz="750" b="0">
                          <a:solidFill>
                            <a:srgbClr val="202020"/>
                          </a:solidFill>
                        </a:rPr>
                        <a:t>0.010</a:t>
                      </a:r>
                    </a:p>
                  </a:txBody>
                  <a:tcPr>
                    <a:solidFill>
                      <a:srgbClr val="E8F0FE"/>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0.004</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0.000</a:t>
                      </a:r>
                    </a:p>
                  </a:txBody>
                  <a:tcPr>
                    <a:solidFill>
                      <a:srgbClr val="FFFFFF"/>
                    </a:solidFill>
                  </a:tcPr>
                </a:tc>
                <a:tc>
                  <a:txBody>
                    <a:bodyPr/>
                    <a:lstStyle/>
                    <a:p>
                      <a:pPr algn="ctr"/>
                      <a:r>
                        <a:rPr sz="750" b="0">
                          <a:solidFill>
                            <a:srgbClr val="202020"/>
                          </a:solidFill>
                        </a:rPr>
                        <a:t>0.009</a:t>
                      </a:r>
                    </a:p>
                  </a:txBody>
                  <a:tcPr>
                    <a:solidFill>
                      <a:srgbClr val="FFFFFF"/>
                    </a:solidFill>
                  </a:tcPr>
                </a:tc>
              </a:tr>
              <a:tr h="287382">
                <a:tc>
                  <a:txBody>
                    <a:bodyPr/>
                    <a:lstStyle/>
                    <a:p>
                      <a:pPr algn="l"/>
                      <a:r>
                        <a:rPr sz="750" b="1">
                          <a:solidFill>
                            <a:srgbClr val="202020"/>
                          </a:solidFill>
                        </a:rPr>
                        <a:t>Intermediate TL</a:t>
                      </a:r>
                    </a:p>
                  </a:txBody>
                  <a:tcPr>
                    <a:solidFill>
                      <a:srgbClr val="E6F4EA"/>
                    </a:solidFill>
                  </a:tcPr>
                </a:tc>
                <a:tc>
                  <a:txBody>
                    <a:bodyPr/>
                    <a:lstStyle/>
                    <a:p>
                      <a:pPr algn="ctr"/>
                      <a:r>
                        <a:rPr sz="750" b="0">
                          <a:solidFill>
                            <a:srgbClr val="202020"/>
                          </a:solidFill>
                        </a:rPr>
                        <a:t>0.093</a:t>
                      </a:r>
                    </a:p>
                  </a:txBody>
                  <a:tcPr>
                    <a:solidFill>
                      <a:srgbClr val="E6F4EA"/>
                    </a:solidFill>
                  </a:tcPr>
                </a:tc>
                <a:tc>
                  <a:txBody>
                    <a:bodyPr/>
                    <a:lstStyle/>
                    <a:p>
                      <a:pPr algn="ctr"/>
                      <a:r>
                        <a:rPr sz="750" b="0">
                          <a:solidFill>
                            <a:srgbClr val="202020"/>
                          </a:solidFill>
                        </a:rPr>
                        <a:t>0.160</a:t>
                      </a:r>
                    </a:p>
                  </a:txBody>
                  <a:tcPr>
                    <a:solidFill>
                      <a:srgbClr val="E6F4EA"/>
                    </a:solidFill>
                  </a:tcPr>
                </a:tc>
                <a:tc>
                  <a:txBody>
                    <a:bodyPr/>
                    <a:lstStyle/>
                    <a:p>
                      <a:pPr algn="ctr"/>
                      <a:r>
                        <a:rPr sz="750" b="0">
                          <a:solidFill>
                            <a:srgbClr val="202020"/>
                          </a:solidFill>
                        </a:rPr>
                        <a:t>0.073</a:t>
                      </a:r>
                    </a:p>
                  </a:txBody>
                  <a:tcPr>
                    <a:solidFill>
                      <a:srgbClr val="E6F4EA"/>
                    </a:solidFill>
                  </a:tcPr>
                </a:tc>
                <a:tc>
                  <a:txBody>
                    <a:bodyPr/>
                    <a:lstStyle/>
                    <a:p>
                      <a:pPr algn="ctr"/>
                      <a:r>
                        <a:rPr sz="750" b="0">
                          <a:solidFill>
                            <a:srgbClr val="202020"/>
                          </a:solidFill>
                        </a:rPr>
                        <a:t>0.160</a:t>
                      </a:r>
                    </a:p>
                  </a:txBody>
                  <a:tcPr>
                    <a:solidFill>
                      <a:srgbClr val="E6F4EA"/>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0.007</a:t>
                      </a:r>
                    </a:p>
                  </a:txBody>
                  <a:tcPr>
                    <a:solidFill>
                      <a:srgbClr val="FFFFFF"/>
                    </a:solidFill>
                  </a:tcPr>
                </a:tc>
                <a:tc>
                  <a:txBody>
                    <a:bodyPr/>
                    <a:lstStyle/>
                    <a:p>
                      <a:pPr algn="ctr"/>
                      <a:r>
                        <a:rPr sz="750" b="0">
                          <a:solidFill>
                            <a:srgbClr val="202020"/>
                          </a:solidFill>
                        </a:rPr>
                        <a:t>0.010</a:t>
                      </a:r>
                    </a:p>
                  </a:txBody>
                  <a:tcPr>
                    <a:solidFill>
                      <a:srgbClr val="FFFFFF"/>
                    </a:solidFill>
                  </a:tcPr>
                </a:tc>
                <a:tc>
                  <a:txBody>
                    <a:bodyPr/>
                    <a:lstStyle/>
                    <a:p>
                      <a:pPr algn="ctr"/>
                      <a:r>
                        <a:rPr sz="750" b="0">
                          <a:solidFill>
                            <a:srgbClr val="202020"/>
                          </a:solidFill>
                        </a:rPr>
                        <a:t>0.002</a:t>
                      </a:r>
                    </a:p>
                  </a:txBody>
                  <a:tcPr>
                    <a:solidFill>
                      <a:srgbClr val="FFFFFF"/>
                    </a:solidFill>
                  </a:tcPr>
                </a:tc>
                <a:tc>
                  <a:txBody>
                    <a:bodyPr/>
                    <a:lstStyle/>
                    <a:p>
                      <a:pPr algn="ctr"/>
                      <a:r>
                        <a:rPr sz="750" b="0">
                          <a:solidFill>
                            <a:srgbClr val="202020"/>
                          </a:solidFill>
                        </a:rPr>
                        <a:t>0.010</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0.004</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0.000</a:t>
                      </a:r>
                    </a:p>
                  </a:txBody>
                  <a:tcPr>
                    <a:solidFill>
                      <a:srgbClr val="FFFFFF"/>
                    </a:solidFill>
                  </a:tcPr>
                </a:tc>
                <a:tc>
                  <a:txBody>
                    <a:bodyPr/>
                    <a:lstStyle/>
                    <a:p>
                      <a:pPr algn="ctr"/>
                      <a:r>
                        <a:rPr sz="750" b="0">
                          <a:solidFill>
                            <a:srgbClr val="202020"/>
                          </a:solidFill>
                        </a:rPr>
                        <a:t>0.009</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0.004</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0.000</a:t>
                      </a:r>
                    </a:p>
                  </a:txBody>
                  <a:tcPr>
                    <a:solidFill>
                      <a:srgbClr val="FFFFFF"/>
                    </a:solidFill>
                  </a:tcPr>
                </a:tc>
                <a:tc>
                  <a:txBody>
                    <a:bodyPr/>
                    <a:lstStyle/>
                    <a:p>
                      <a:pPr algn="ctr"/>
                      <a:r>
                        <a:rPr sz="750" b="0">
                          <a:solidFill>
                            <a:srgbClr val="202020"/>
                          </a:solidFill>
                        </a:rPr>
                        <a:t>0.009</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0.015</a:t>
                      </a:r>
                    </a:p>
                  </a:txBody>
                  <a:tcPr>
                    <a:solidFill>
                      <a:srgbClr val="FFFFFF"/>
                    </a:solidFill>
                  </a:tcPr>
                </a:tc>
                <a:tc>
                  <a:txBody>
                    <a:bodyPr/>
                    <a:lstStyle/>
                    <a:p>
                      <a:pPr algn="ctr"/>
                      <a:r>
                        <a:rPr sz="750" b="0">
                          <a:solidFill>
                            <a:srgbClr val="202020"/>
                          </a:solidFill>
                        </a:rPr>
                        <a:t>0.013</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0.013</a:t>
                      </a:r>
                    </a:p>
                  </a:txBody>
                  <a:tcPr>
                    <a:solidFill>
                      <a:srgbClr val="FFFFFF"/>
                    </a:solidFill>
                  </a:tcPr>
                </a:tc>
              </a:tr>
            </a:tbl>
          </a:graphicData>
        </a:graphic>
      </p:graphicFrame>
      <p:sp>
        <p:nvSpPr>
          <p:cNvPr id="13" name="TextBox 12"/>
          <p:cNvSpPr txBox="1"/>
          <p:nvPr/>
        </p:nvSpPr>
        <p:spPr>
          <a:xfrm>
            <a:off x="274320" y="5577840"/>
            <a:ext cx="8595360" cy="548640"/>
          </a:xfrm>
          <a:prstGeom prst="rect">
            <a:avLst/>
          </a:prstGeom>
          <a:solidFill>
            <a:srgbClr val="FCE8E6"/>
          </a:solidFill>
        </p:spPr>
        <p:txBody>
          <a:bodyPr wrap="square">
            <a:spAutoFit/>
          </a:bodyPr>
          <a:lstStyle/>
          <a:p>
            <a:pPr algn="l"/>
            <a:r>
              <a:rPr sz="900" b="1" i="0">
                <a:solidFill>
                  <a:srgbClr val="D93C3C"/>
                </a:solidFill>
              </a:rPr>
              <a:t>CK+ 4c → Primer dengan CNN B1 = 0.396 (satu-satunya combo &gt; 0.30). JAFFE total collapse di semua combo (&lt;0.10 Macro F1).</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2 — RAF-DB → Primer</a:t>
            </a:r>
          </a:p>
        </p:txBody>
      </p:sp>
      <p:sp>
        <p:nvSpPr>
          <p:cNvPr id="4" name="TextBox 3"/>
          <p:cNvSpPr txBox="1"/>
          <p:nvPr/>
        </p:nvSpPr>
        <p:spPr>
          <a:xfrm>
            <a:off x="274320" y="548640"/>
            <a:ext cx="4206240" cy="201168"/>
          </a:xfrm>
          <a:prstGeom prst="rect">
            <a:avLst/>
          </a:prstGeom>
          <a:noFill/>
        </p:spPr>
        <p:txBody>
          <a:bodyPr wrap="none">
            <a:spAutoFit/>
          </a:bodyPr>
          <a:lstStyle/>
          <a:p>
            <a:pPr algn="l"/>
            <a:r>
              <a:rPr sz="950" b="1" i="0">
                <a:solidFill>
                  <a:srgbClr val="1A73E8"/>
                </a:solidFill>
              </a:rPr>
              <a:t>RAF-DB → Primer (7-Class)</a:t>
            </a:r>
          </a:p>
        </p:txBody>
      </p:sp>
      <p:graphicFrame>
        <p:nvGraphicFramePr>
          <p:cNvPr id="5" name="Table 4"/>
          <p:cNvGraphicFramePr>
            <a:graphicFrameLocks noGrp="1"/>
          </p:cNvGraphicFramePr>
          <p:nvPr/>
        </p:nvGraphicFramePr>
        <p:xfrm>
          <a:off x="274320" y="768096"/>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0.076</a:t>
                      </a:r>
                    </a:p>
                  </a:txBody>
                  <a:tcPr>
                    <a:solidFill>
                      <a:srgbClr val="E8F0FE"/>
                    </a:solidFill>
                  </a:tcPr>
                </a:tc>
                <a:tc>
                  <a:txBody>
                    <a:bodyPr/>
                    <a:lstStyle/>
                    <a:p>
                      <a:pPr algn="ctr"/>
                      <a:r>
                        <a:rPr sz="750" b="0">
                          <a:solidFill>
                            <a:srgbClr val="202020"/>
                          </a:solidFill>
                        </a:rPr>
                        <a:t>0.099</a:t>
                      </a:r>
                    </a:p>
                  </a:txBody>
                  <a:tcPr>
                    <a:solidFill>
                      <a:srgbClr val="E8F0FE"/>
                    </a:solidFill>
                  </a:tcPr>
                </a:tc>
                <a:tc>
                  <a:txBody>
                    <a:bodyPr/>
                    <a:lstStyle/>
                    <a:p>
                      <a:pPr algn="ctr"/>
                      <a:r>
                        <a:rPr sz="750" b="0">
                          <a:solidFill>
                            <a:srgbClr val="202020"/>
                          </a:solidFill>
                        </a:rPr>
                        <a:t>0.132</a:t>
                      </a:r>
                    </a:p>
                  </a:txBody>
                  <a:tcPr>
                    <a:solidFill>
                      <a:srgbClr val="E8F0FE"/>
                    </a:solidFill>
                  </a:tcPr>
                </a:tc>
                <a:tc>
                  <a:txBody>
                    <a:bodyPr/>
                    <a:lstStyle/>
                    <a:p>
                      <a:pPr algn="ctr"/>
                      <a:r>
                        <a:rPr sz="750" b="0">
                          <a:solidFill>
                            <a:srgbClr val="202020"/>
                          </a:solidFill>
                        </a:rPr>
                        <a:t>0.099</a:t>
                      </a:r>
                    </a:p>
                  </a:txBody>
                  <a:tcPr>
                    <a:solidFill>
                      <a:srgbClr val="E8F0FE"/>
                    </a:solidFill>
                  </a:tcPr>
                </a:tc>
              </a:tr>
              <a:tr h="287382">
                <a:tc>
                  <a:txBody>
                    <a:bodyPr/>
                    <a:lstStyle/>
                    <a:p>
                      <a:pPr algn="l"/>
                      <a:r>
                        <a:rPr sz="750" b="1">
                          <a:solidFill>
                            <a:srgbClr val="202020"/>
                          </a:solidFill>
                        </a:rPr>
                        <a:t>FCNN</a:t>
                      </a:r>
                    </a:p>
                  </a:txBody>
                  <a:tcPr>
                    <a:solidFill>
                      <a:srgbClr val="E6F4EA"/>
                    </a:solidFill>
                  </a:tcPr>
                </a:tc>
                <a:tc>
                  <a:txBody>
                    <a:bodyPr/>
                    <a:lstStyle/>
                    <a:p>
                      <a:pPr algn="ctr"/>
                      <a:r>
                        <a:rPr sz="750" b="0">
                          <a:solidFill>
                            <a:srgbClr val="202020"/>
                          </a:solidFill>
                        </a:rPr>
                        <a:t>0.183</a:t>
                      </a:r>
                    </a:p>
                  </a:txBody>
                  <a:tcPr>
                    <a:solidFill>
                      <a:srgbClr val="E6F4EA"/>
                    </a:solidFill>
                  </a:tcPr>
                </a:tc>
                <a:tc>
                  <a:txBody>
                    <a:bodyPr/>
                    <a:lstStyle/>
                    <a:p>
                      <a:pPr algn="ctr"/>
                      <a:r>
                        <a:rPr sz="750" b="0">
                          <a:solidFill>
                            <a:srgbClr val="202020"/>
                          </a:solidFill>
                        </a:rPr>
                        <a:t>0.640</a:t>
                      </a:r>
                    </a:p>
                  </a:txBody>
                  <a:tcPr>
                    <a:solidFill>
                      <a:srgbClr val="E6F4EA"/>
                    </a:solidFill>
                  </a:tcPr>
                </a:tc>
                <a:tc>
                  <a:txBody>
                    <a:bodyPr/>
                    <a:lstStyle/>
                    <a:p>
                      <a:pPr algn="ctr"/>
                      <a:r>
                        <a:rPr sz="750" b="0">
                          <a:solidFill>
                            <a:srgbClr val="202020"/>
                          </a:solidFill>
                        </a:rPr>
                        <a:t>0.672</a:t>
                      </a:r>
                    </a:p>
                  </a:txBody>
                  <a:tcPr>
                    <a:solidFill>
                      <a:srgbClr val="E6F4EA"/>
                    </a:solidFill>
                  </a:tcPr>
                </a:tc>
                <a:tc>
                  <a:txBody>
                    <a:bodyPr/>
                    <a:lstStyle/>
                    <a:p>
                      <a:pPr algn="ctr"/>
                      <a:r>
                        <a:rPr sz="750" b="0">
                          <a:solidFill>
                            <a:srgbClr val="202020"/>
                          </a:solidFill>
                        </a:rPr>
                        <a:t>0.640</a:t>
                      </a:r>
                    </a:p>
                  </a:txBody>
                  <a:tcPr>
                    <a:solidFill>
                      <a:srgbClr val="E6F4EA"/>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0.109</a:t>
                      </a:r>
                    </a:p>
                  </a:txBody>
                  <a:tcPr>
                    <a:solidFill>
                      <a:srgbClr val="E8F0FE"/>
                    </a:solidFill>
                  </a:tcPr>
                </a:tc>
                <a:tc>
                  <a:txBody>
                    <a:bodyPr/>
                    <a:lstStyle/>
                    <a:p>
                      <a:pPr algn="ctr"/>
                      <a:r>
                        <a:rPr sz="750" b="0">
                          <a:solidFill>
                            <a:srgbClr val="202020"/>
                          </a:solidFill>
                        </a:rPr>
                        <a:t>0.237</a:t>
                      </a:r>
                    </a:p>
                  </a:txBody>
                  <a:tcPr>
                    <a:solidFill>
                      <a:srgbClr val="E8F0FE"/>
                    </a:solidFill>
                  </a:tcPr>
                </a:tc>
                <a:tc>
                  <a:txBody>
                    <a:bodyPr/>
                    <a:lstStyle/>
                    <a:p>
                      <a:pPr algn="ctr"/>
                      <a:r>
                        <a:rPr sz="750" b="0">
                          <a:solidFill>
                            <a:srgbClr val="202020"/>
                          </a:solidFill>
                        </a:rPr>
                        <a:t>0.287</a:t>
                      </a:r>
                    </a:p>
                  </a:txBody>
                  <a:tcPr>
                    <a:solidFill>
                      <a:srgbClr val="E8F0FE"/>
                    </a:solidFill>
                  </a:tcPr>
                </a:tc>
                <a:tc>
                  <a:txBody>
                    <a:bodyPr/>
                    <a:lstStyle/>
                    <a:p>
                      <a:pPr algn="ctr"/>
                      <a:r>
                        <a:rPr sz="750" b="0">
                          <a:solidFill>
                            <a:srgbClr val="202020"/>
                          </a:solidFill>
                        </a:rPr>
                        <a:t>0.237</a:t>
                      </a:r>
                    </a:p>
                  </a:txBody>
                  <a:tcPr>
                    <a:solidFill>
                      <a:srgbClr val="E8F0FE"/>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0.175</a:t>
                      </a:r>
                    </a:p>
                  </a:txBody>
                  <a:tcPr>
                    <a:solidFill>
                      <a:srgbClr val="FFFFFF"/>
                    </a:solidFill>
                  </a:tcPr>
                </a:tc>
                <a:tc>
                  <a:txBody>
                    <a:bodyPr/>
                    <a:lstStyle/>
                    <a:p>
                      <a:pPr algn="ctr"/>
                      <a:r>
                        <a:rPr sz="750" b="0">
                          <a:solidFill>
                            <a:srgbClr val="202020"/>
                          </a:solidFill>
                        </a:rPr>
                        <a:t>0.545</a:t>
                      </a:r>
                    </a:p>
                  </a:txBody>
                  <a:tcPr>
                    <a:solidFill>
                      <a:srgbClr val="FFFFFF"/>
                    </a:solidFill>
                  </a:tcPr>
                </a:tc>
                <a:tc>
                  <a:txBody>
                    <a:bodyPr/>
                    <a:lstStyle/>
                    <a:p>
                      <a:pPr algn="ctr"/>
                      <a:r>
                        <a:rPr sz="750" b="0">
                          <a:solidFill>
                            <a:srgbClr val="202020"/>
                          </a:solidFill>
                        </a:rPr>
                        <a:t>0.611</a:t>
                      </a:r>
                    </a:p>
                  </a:txBody>
                  <a:tcPr>
                    <a:solidFill>
                      <a:srgbClr val="FFFFFF"/>
                    </a:solidFill>
                  </a:tcPr>
                </a:tc>
                <a:tc>
                  <a:txBody>
                    <a:bodyPr/>
                    <a:lstStyle/>
                    <a:p>
                      <a:pPr algn="ctr"/>
                      <a:r>
                        <a:rPr sz="750" b="0">
                          <a:solidFill>
                            <a:srgbClr val="202020"/>
                          </a:solidFill>
                        </a:rPr>
                        <a:t>0.545</a:t>
                      </a:r>
                    </a:p>
                  </a:txBody>
                  <a:tcPr>
                    <a:solidFill>
                      <a:srgbClr val="FFFFFF"/>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0.180</a:t>
                      </a:r>
                    </a:p>
                  </a:txBody>
                  <a:tcPr>
                    <a:solidFill>
                      <a:srgbClr val="E8F0FE"/>
                    </a:solidFill>
                  </a:tcPr>
                </a:tc>
                <a:tc>
                  <a:txBody>
                    <a:bodyPr/>
                    <a:lstStyle/>
                    <a:p>
                      <a:pPr algn="ctr"/>
                      <a:r>
                        <a:rPr sz="750" b="0">
                          <a:solidFill>
                            <a:srgbClr val="202020"/>
                          </a:solidFill>
                        </a:rPr>
                        <a:t>0.479</a:t>
                      </a:r>
                    </a:p>
                  </a:txBody>
                  <a:tcPr>
                    <a:solidFill>
                      <a:srgbClr val="E8F0FE"/>
                    </a:solidFill>
                  </a:tcPr>
                </a:tc>
                <a:tc>
                  <a:txBody>
                    <a:bodyPr/>
                    <a:lstStyle/>
                    <a:p>
                      <a:pPr algn="ctr"/>
                      <a:r>
                        <a:rPr sz="750" b="0">
                          <a:solidFill>
                            <a:srgbClr val="202020"/>
                          </a:solidFill>
                        </a:rPr>
                        <a:t>0.562</a:t>
                      </a:r>
                    </a:p>
                  </a:txBody>
                  <a:tcPr>
                    <a:solidFill>
                      <a:srgbClr val="E8F0FE"/>
                    </a:solidFill>
                  </a:tcPr>
                </a:tc>
                <a:tc>
                  <a:txBody>
                    <a:bodyPr/>
                    <a:lstStyle/>
                    <a:p>
                      <a:pPr algn="ctr"/>
                      <a:r>
                        <a:rPr sz="750" b="0">
                          <a:solidFill>
                            <a:srgbClr val="202020"/>
                          </a:solidFill>
                        </a:rPr>
                        <a:t>0.479</a:t>
                      </a:r>
                    </a:p>
                  </a:txBody>
                  <a:tcPr>
                    <a:solidFill>
                      <a:srgbClr val="E8F0FE"/>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0.091</a:t>
                      </a:r>
                    </a:p>
                  </a:txBody>
                  <a:tcPr>
                    <a:solidFill>
                      <a:srgbClr val="FFFFFF"/>
                    </a:solidFill>
                  </a:tcPr>
                </a:tc>
                <a:tc>
                  <a:txBody>
                    <a:bodyPr/>
                    <a:lstStyle/>
                    <a:p>
                      <a:pPr algn="ctr"/>
                      <a:r>
                        <a:rPr sz="750" b="0">
                          <a:solidFill>
                            <a:srgbClr val="202020"/>
                          </a:solidFill>
                        </a:rPr>
                        <a:t>0.166</a:t>
                      </a:r>
                    </a:p>
                  </a:txBody>
                  <a:tcPr>
                    <a:solidFill>
                      <a:srgbClr val="FFFFFF"/>
                    </a:solidFill>
                  </a:tcPr>
                </a:tc>
                <a:tc>
                  <a:txBody>
                    <a:bodyPr/>
                    <a:lstStyle/>
                    <a:p>
                      <a:pPr algn="ctr"/>
                      <a:r>
                        <a:rPr sz="750" b="0">
                          <a:solidFill>
                            <a:srgbClr val="202020"/>
                          </a:solidFill>
                        </a:rPr>
                        <a:t>0.212</a:t>
                      </a:r>
                    </a:p>
                  </a:txBody>
                  <a:tcPr>
                    <a:solidFill>
                      <a:srgbClr val="FFFFFF"/>
                    </a:solidFill>
                  </a:tcPr>
                </a:tc>
                <a:tc>
                  <a:txBody>
                    <a:bodyPr/>
                    <a:lstStyle/>
                    <a:p>
                      <a:pPr algn="ctr"/>
                      <a:r>
                        <a:rPr sz="750" b="0">
                          <a:solidFill>
                            <a:srgbClr val="202020"/>
                          </a:solidFill>
                        </a:rPr>
                        <a:t>0.166</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0.142</a:t>
                      </a:r>
                    </a:p>
                  </a:txBody>
                  <a:tcPr>
                    <a:solidFill>
                      <a:srgbClr val="FFFFFF"/>
                    </a:solidFill>
                  </a:tcPr>
                </a:tc>
                <a:tc>
                  <a:txBody>
                    <a:bodyPr/>
                    <a:lstStyle/>
                    <a:p>
                      <a:pPr algn="ctr"/>
                      <a:r>
                        <a:rPr sz="750" b="0">
                          <a:solidFill>
                            <a:srgbClr val="202020"/>
                          </a:solidFill>
                        </a:rPr>
                        <a:t>0.365</a:t>
                      </a:r>
                    </a:p>
                  </a:txBody>
                  <a:tcPr>
                    <a:solidFill>
                      <a:srgbClr val="FFFFFF"/>
                    </a:solidFill>
                  </a:tcPr>
                </a:tc>
                <a:tc>
                  <a:txBody>
                    <a:bodyPr/>
                    <a:lstStyle/>
                    <a:p>
                      <a:pPr algn="ctr"/>
                      <a:r>
                        <a:rPr sz="750" b="0">
                          <a:solidFill>
                            <a:srgbClr val="202020"/>
                          </a:solidFill>
                        </a:rPr>
                        <a:t>0.476</a:t>
                      </a:r>
                    </a:p>
                  </a:txBody>
                  <a:tcPr>
                    <a:solidFill>
                      <a:srgbClr val="FFFFFF"/>
                    </a:solidFill>
                  </a:tcPr>
                </a:tc>
                <a:tc>
                  <a:txBody>
                    <a:bodyPr/>
                    <a:lstStyle/>
                    <a:p>
                      <a:pPr algn="ctr"/>
                      <a:r>
                        <a:rPr sz="750" b="0">
                          <a:solidFill>
                            <a:srgbClr val="202020"/>
                          </a:solidFill>
                        </a:rPr>
                        <a:t>0.365</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0.157</a:t>
                      </a:r>
                    </a:p>
                  </a:txBody>
                  <a:tcPr>
                    <a:solidFill>
                      <a:srgbClr val="FFFFFF"/>
                    </a:solidFill>
                  </a:tcPr>
                </a:tc>
                <a:tc>
                  <a:txBody>
                    <a:bodyPr/>
                    <a:lstStyle/>
                    <a:p>
                      <a:pPr algn="ctr"/>
                      <a:r>
                        <a:rPr sz="750" b="0">
                          <a:solidFill>
                            <a:srgbClr val="202020"/>
                          </a:solidFill>
                        </a:rPr>
                        <a:t>0.685</a:t>
                      </a:r>
                    </a:p>
                  </a:txBody>
                  <a:tcPr>
                    <a:solidFill>
                      <a:srgbClr val="FFFFFF"/>
                    </a:solidFill>
                  </a:tcPr>
                </a:tc>
                <a:tc>
                  <a:txBody>
                    <a:bodyPr/>
                    <a:lstStyle/>
                    <a:p>
                      <a:pPr algn="ctr"/>
                      <a:r>
                        <a:rPr sz="750" b="0">
                          <a:solidFill>
                            <a:srgbClr val="202020"/>
                          </a:solidFill>
                        </a:rPr>
                        <a:t>0.663</a:t>
                      </a:r>
                    </a:p>
                  </a:txBody>
                  <a:tcPr>
                    <a:solidFill>
                      <a:srgbClr val="FFFFFF"/>
                    </a:solidFill>
                  </a:tcPr>
                </a:tc>
                <a:tc>
                  <a:txBody>
                    <a:bodyPr/>
                    <a:lstStyle/>
                    <a:p>
                      <a:pPr algn="ctr"/>
                      <a:r>
                        <a:rPr sz="750" b="0">
                          <a:solidFill>
                            <a:srgbClr val="202020"/>
                          </a:solidFill>
                        </a:rPr>
                        <a:t>0.685</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0.153</a:t>
                      </a:r>
                    </a:p>
                  </a:txBody>
                  <a:tcPr>
                    <a:solidFill>
                      <a:srgbClr val="FFFFFF"/>
                    </a:solidFill>
                  </a:tcPr>
                </a:tc>
                <a:tc>
                  <a:txBody>
                    <a:bodyPr/>
                    <a:lstStyle/>
                    <a:p>
                      <a:pPr algn="ctr"/>
                      <a:r>
                        <a:rPr sz="750" b="0">
                          <a:solidFill>
                            <a:srgbClr val="202020"/>
                          </a:solidFill>
                        </a:rPr>
                        <a:t>0.483</a:t>
                      </a:r>
                    </a:p>
                  </a:txBody>
                  <a:tcPr>
                    <a:solidFill>
                      <a:srgbClr val="FFFFFF"/>
                    </a:solidFill>
                  </a:tcPr>
                </a:tc>
                <a:tc>
                  <a:txBody>
                    <a:bodyPr/>
                    <a:lstStyle/>
                    <a:p>
                      <a:pPr algn="ctr"/>
                      <a:r>
                        <a:rPr sz="750" b="0">
                          <a:solidFill>
                            <a:srgbClr val="202020"/>
                          </a:solidFill>
                        </a:rPr>
                        <a:t>0.575</a:t>
                      </a:r>
                    </a:p>
                  </a:txBody>
                  <a:tcPr>
                    <a:solidFill>
                      <a:srgbClr val="FFFFFF"/>
                    </a:solidFill>
                  </a:tcPr>
                </a:tc>
                <a:tc>
                  <a:txBody>
                    <a:bodyPr/>
                    <a:lstStyle/>
                    <a:p>
                      <a:pPr algn="ctr"/>
                      <a:r>
                        <a:rPr sz="750" b="0">
                          <a:solidFill>
                            <a:srgbClr val="202020"/>
                          </a:solidFill>
                        </a:rPr>
                        <a:t>0.483</a:t>
                      </a:r>
                    </a:p>
                  </a:txBody>
                  <a:tcPr>
                    <a:solidFill>
                      <a:srgbClr val="FFFFFF"/>
                    </a:solidFill>
                  </a:tcPr>
                </a:tc>
              </a:tr>
            </a:tbl>
          </a:graphicData>
        </a:graphic>
      </p:graphicFrame>
      <p:sp>
        <p:nvSpPr>
          <p:cNvPr id="6" name="TextBox 5"/>
          <p:cNvSpPr txBox="1"/>
          <p:nvPr/>
        </p:nvSpPr>
        <p:spPr>
          <a:xfrm>
            <a:off x="4617720" y="548640"/>
            <a:ext cx="4206240" cy="201168"/>
          </a:xfrm>
          <a:prstGeom prst="rect">
            <a:avLst/>
          </a:prstGeom>
          <a:noFill/>
        </p:spPr>
        <p:txBody>
          <a:bodyPr wrap="none">
            <a:spAutoFit/>
          </a:bodyPr>
          <a:lstStyle/>
          <a:p>
            <a:pPr algn="l"/>
            <a:r>
              <a:rPr sz="950" b="1" i="0">
                <a:solidFill>
                  <a:srgbClr val="1A73E8"/>
                </a:solidFill>
              </a:rPr>
              <a:t>RAF-DB → Primer (4-Class)</a:t>
            </a:r>
          </a:p>
        </p:txBody>
      </p:sp>
      <p:graphicFrame>
        <p:nvGraphicFramePr>
          <p:cNvPr id="7" name="Table 6"/>
          <p:cNvGraphicFramePr>
            <a:graphicFrameLocks noGrp="1"/>
          </p:cNvGraphicFramePr>
          <p:nvPr/>
        </p:nvGraphicFramePr>
        <p:xfrm>
          <a:off x="4617720" y="768096"/>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0.056</a:t>
                      </a:r>
                    </a:p>
                  </a:txBody>
                  <a:tcPr>
                    <a:solidFill>
                      <a:srgbClr val="E8F0FE"/>
                    </a:solidFill>
                  </a:tcPr>
                </a:tc>
                <a:tc>
                  <a:txBody>
                    <a:bodyPr/>
                    <a:lstStyle/>
                    <a:p>
                      <a:pPr algn="ctr"/>
                      <a:r>
                        <a:rPr sz="750" b="0">
                          <a:solidFill>
                            <a:srgbClr val="202020"/>
                          </a:solidFill>
                        </a:rPr>
                        <a:t>0.026</a:t>
                      </a:r>
                    </a:p>
                  </a:txBody>
                  <a:tcPr>
                    <a:solidFill>
                      <a:srgbClr val="E8F0FE"/>
                    </a:solidFill>
                  </a:tcPr>
                </a:tc>
                <a:tc>
                  <a:txBody>
                    <a:bodyPr/>
                    <a:lstStyle/>
                    <a:p>
                      <a:pPr algn="ctr"/>
                      <a:r>
                        <a:rPr sz="750" b="0">
                          <a:solidFill>
                            <a:srgbClr val="202020"/>
                          </a:solidFill>
                        </a:rPr>
                        <a:t>0.026</a:t>
                      </a:r>
                    </a:p>
                  </a:txBody>
                  <a:tcPr>
                    <a:solidFill>
                      <a:srgbClr val="E8F0FE"/>
                    </a:solidFill>
                  </a:tcPr>
                </a:tc>
                <a:tc>
                  <a:txBody>
                    <a:bodyPr/>
                    <a:lstStyle/>
                    <a:p>
                      <a:pPr algn="ctr"/>
                      <a:r>
                        <a:rPr sz="750" b="0">
                          <a:solidFill>
                            <a:srgbClr val="202020"/>
                          </a:solidFill>
                        </a:rPr>
                        <a:t>0.026</a:t>
                      </a:r>
                    </a:p>
                  </a:txBody>
                  <a:tcPr>
                    <a:solidFill>
                      <a:srgbClr val="E8F0FE"/>
                    </a:solidFill>
                  </a:tcPr>
                </a:tc>
              </a:tr>
              <a:tr h="287382">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0.264</a:t>
                      </a:r>
                    </a:p>
                  </a:txBody>
                  <a:tcPr>
                    <a:solidFill>
                      <a:srgbClr val="FFFFFF"/>
                    </a:solidFill>
                  </a:tcPr>
                </a:tc>
                <a:tc>
                  <a:txBody>
                    <a:bodyPr/>
                    <a:lstStyle/>
                    <a:p>
                      <a:pPr algn="ctr"/>
                      <a:r>
                        <a:rPr sz="750" b="0">
                          <a:solidFill>
                            <a:srgbClr val="202020"/>
                          </a:solidFill>
                        </a:rPr>
                        <a:t>0.487</a:t>
                      </a:r>
                    </a:p>
                  </a:txBody>
                  <a:tcPr>
                    <a:solidFill>
                      <a:srgbClr val="FFFFFF"/>
                    </a:solidFill>
                  </a:tcPr>
                </a:tc>
                <a:tc>
                  <a:txBody>
                    <a:bodyPr/>
                    <a:lstStyle/>
                    <a:p>
                      <a:pPr algn="ctr"/>
                      <a:r>
                        <a:rPr sz="750" b="0">
                          <a:solidFill>
                            <a:srgbClr val="202020"/>
                          </a:solidFill>
                        </a:rPr>
                        <a:t>0.553</a:t>
                      </a:r>
                    </a:p>
                  </a:txBody>
                  <a:tcPr>
                    <a:solidFill>
                      <a:srgbClr val="FFFFFF"/>
                    </a:solidFill>
                  </a:tcPr>
                </a:tc>
                <a:tc>
                  <a:txBody>
                    <a:bodyPr/>
                    <a:lstStyle/>
                    <a:p>
                      <a:pPr algn="ctr"/>
                      <a:r>
                        <a:rPr sz="750" b="0">
                          <a:solidFill>
                            <a:srgbClr val="202020"/>
                          </a:solidFill>
                        </a:rPr>
                        <a:t>0.487</a:t>
                      </a:r>
                    </a:p>
                  </a:txBody>
                  <a:tcPr>
                    <a:solidFill>
                      <a:srgbClr val="FFFFFF"/>
                    </a:solidFill>
                  </a:tcPr>
                </a:tc>
              </a:tr>
              <a:tr h="287382">
                <a:tc>
                  <a:txBody>
                    <a:bodyPr/>
                    <a:lstStyle/>
                    <a:p>
                      <a:pPr algn="l"/>
                      <a:r>
                        <a:rPr sz="750" b="1">
                          <a:solidFill>
                            <a:srgbClr val="202020"/>
                          </a:solidFill>
                        </a:rPr>
                        <a:t>Intermediate</a:t>
                      </a:r>
                    </a:p>
                  </a:txBody>
                  <a:tcPr>
                    <a:solidFill>
                      <a:srgbClr val="E6F4EA"/>
                    </a:solidFill>
                  </a:tcPr>
                </a:tc>
                <a:tc>
                  <a:txBody>
                    <a:bodyPr/>
                    <a:lstStyle/>
                    <a:p>
                      <a:pPr algn="ctr"/>
                      <a:r>
                        <a:rPr sz="750" b="0">
                          <a:solidFill>
                            <a:srgbClr val="202020"/>
                          </a:solidFill>
                        </a:rPr>
                        <a:t>0.269</a:t>
                      </a:r>
                    </a:p>
                  </a:txBody>
                  <a:tcPr>
                    <a:solidFill>
                      <a:srgbClr val="E6F4EA"/>
                    </a:solidFill>
                  </a:tcPr>
                </a:tc>
                <a:tc>
                  <a:txBody>
                    <a:bodyPr/>
                    <a:lstStyle/>
                    <a:p>
                      <a:pPr algn="ctr"/>
                      <a:r>
                        <a:rPr sz="750" b="0">
                          <a:solidFill>
                            <a:srgbClr val="202020"/>
                          </a:solidFill>
                        </a:rPr>
                        <a:t>0.551</a:t>
                      </a:r>
                    </a:p>
                  </a:txBody>
                  <a:tcPr>
                    <a:solidFill>
                      <a:srgbClr val="E6F4EA"/>
                    </a:solidFill>
                  </a:tcPr>
                </a:tc>
                <a:tc>
                  <a:txBody>
                    <a:bodyPr/>
                    <a:lstStyle/>
                    <a:p>
                      <a:pPr algn="ctr"/>
                      <a:r>
                        <a:rPr sz="750" b="0">
                          <a:solidFill>
                            <a:srgbClr val="202020"/>
                          </a:solidFill>
                        </a:rPr>
                        <a:t>0.594</a:t>
                      </a:r>
                    </a:p>
                  </a:txBody>
                  <a:tcPr>
                    <a:solidFill>
                      <a:srgbClr val="E6F4EA"/>
                    </a:solidFill>
                  </a:tcPr>
                </a:tc>
                <a:tc>
                  <a:txBody>
                    <a:bodyPr/>
                    <a:lstStyle/>
                    <a:p>
                      <a:pPr algn="ctr"/>
                      <a:r>
                        <a:rPr sz="750" b="0">
                          <a:solidFill>
                            <a:srgbClr val="202020"/>
                          </a:solidFill>
                        </a:rPr>
                        <a:t>0.551</a:t>
                      </a:r>
                    </a:p>
                  </a:txBody>
                  <a:tcPr>
                    <a:solidFill>
                      <a:srgbClr val="E6F4EA"/>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0.206</a:t>
                      </a:r>
                    </a:p>
                  </a:txBody>
                  <a:tcPr>
                    <a:solidFill>
                      <a:srgbClr val="FFFFFF"/>
                    </a:solidFill>
                  </a:tcPr>
                </a:tc>
                <a:tc>
                  <a:txBody>
                    <a:bodyPr/>
                    <a:lstStyle/>
                    <a:p>
                      <a:pPr algn="ctr"/>
                      <a:r>
                        <a:rPr sz="750" b="0">
                          <a:solidFill>
                            <a:srgbClr val="202020"/>
                          </a:solidFill>
                        </a:rPr>
                        <a:t>0.256</a:t>
                      </a:r>
                    </a:p>
                  </a:txBody>
                  <a:tcPr>
                    <a:solidFill>
                      <a:srgbClr val="FFFFFF"/>
                    </a:solidFill>
                  </a:tcPr>
                </a:tc>
                <a:tc>
                  <a:txBody>
                    <a:bodyPr/>
                    <a:lstStyle/>
                    <a:p>
                      <a:pPr algn="ctr"/>
                      <a:r>
                        <a:rPr sz="750" b="0">
                          <a:solidFill>
                            <a:srgbClr val="202020"/>
                          </a:solidFill>
                        </a:rPr>
                        <a:t>0.357</a:t>
                      </a:r>
                    </a:p>
                  </a:txBody>
                  <a:tcPr>
                    <a:solidFill>
                      <a:srgbClr val="FFFFFF"/>
                    </a:solidFill>
                  </a:tcPr>
                </a:tc>
                <a:tc>
                  <a:txBody>
                    <a:bodyPr/>
                    <a:lstStyle/>
                    <a:p>
                      <a:pPr algn="ctr"/>
                      <a:r>
                        <a:rPr sz="750" b="0">
                          <a:solidFill>
                            <a:srgbClr val="202020"/>
                          </a:solidFill>
                        </a:rPr>
                        <a:t>0.256</a:t>
                      </a:r>
                    </a:p>
                  </a:txBody>
                  <a:tcPr>
                    <a:solidFill>
                      <a:srgbClr val="FFFFFF"/>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0.179</a:t>
                      </a:r>
                    </a:p>
                  </a:txBody>
                  <a:tcPr>
                    <a:solidFill>
                      <a:srgbClr val="E8F0FE"/>
                    </a:solidFill>
                  </a:tcPr>
                </a:tc>
                <a:tc>
                  <a:txBody>
                    <a:bodyPr/>
                    <a:lstStyle/>
                    <a:p>
                      <a:pPr algn="ctr"/>
                      <a:r>
                        <a:rPr sz="750" b="0">
                          <a:solidFill>
                            <a:srgbClr val="202020"/>
                          </a:solidFill>
                        </a:rPr>
                        <a:t>0.306</a:t>
                      </a:r>
                    </a:p>
                  </a:txBody>
                  <a:tcPr>
                    <a:solidFill>
                      <a:srgbClr val="E8F0FE"/>
                    </a:solidFill>
                  </a:tcPr>
                </a:tc>
                <a:tc>
                  <a:txBody>
                    <a:bodyPr/>
                    <a:lstStyle/>
                    <a:p>
                      <a:pPr algn="ctr"/>
                      <a:r>
                        <a:rPr sz="750" b="0">
                          <a:solidFill>
                            <a:srgbClr val="202020"/>
                          </a:solidFill>
                        </a:rPr>
                        <a:t>0.363</a:t>
                      </a:r>
                    </a:p>
                  </a:txBody>
                  <a:tcPr>
                    <a:solidFill>
                      <a:srgbClr val="E8F0FE"/>
                    </a:solidFill>
                  </a:tcPr>
                </a:tc>
                <a:tc>
                  <a:txBody>
                    <a:bodyPr/>
                    <a:lstStyle/>
                    <a:p>
                      <a:pPr algn="ctr"/>
                      <a:r>
                        <a:rPr sz="750" b="0">
                          <a:solidFill>
                            <a:srgbClr val="202020"/>
                          </a:solidFill>
                        </a:rPr>
                        <a:t>0.306</a:t>
                      </a:r>
                    </a:p>
                  </a:txBody>
                  <a:tcPr>
                    <a:solidFill>
                      <a:srgbClr val="E8F0FE"/>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0.170</a:t>
                      </a:r>
                    </a:p>
                  </a:txBody>
                  <a:tcPr>
                    <a:solidFill>
                      <a:srgbClr val="FFFFFF"/>
                    </a:solidFill>
                  </a:tcPr>
                </a:tc>
                <a:tc>
                  <a:txBody>
                    <a:bodyPr/>
                    <a:lstStyle/>
                    <a:p>
                      <a:pPr algn="ctr"/>
                      <a:r>
                        <a:rPr sz="750" b="0">
                          <a:solidFill>
                            <a:srgbClr val="202020"/>
                          </a:solidFill>
                        </a:rPr>
                        <a:t>0.137</a:t>
                      </a:r>
                    </a:p>
                  </a:txBody>
                  <a:tcPr>
                    <a:solidFill>
                      <a:srgbClr val="FFFFFF"/>
                    </a:solidFill>
                  </a:tcPr>
                </a:tc>
                <a:tc>
                  <a:txBody>
                    <a:bodyPr/>
                    <a:lstStyle/>
                    <a:p>
                      <a:pPr algn="ctr"/>
                      <a:r>
                        <a:rPr sz="750" b="0">
                          <a:solidFill>
                            <a:srgbClr val="202020"/>
                          </a:solidFill>
                        </a:rPr>
                        <a:t>0.147</a:t>
                      </a:r>
                    </a:p>
                  </a:txBody>
                  <a:tcPr>
                    <a:solidFill>
                      <a:srgbClr val="FFFFFF"/>
                    </a:solidFill>
                  </a:tcPr>
                </a:tc>
                <a:tc>
                  <a:txBody>
                    <a:bodyPr/>
                    <a:lstStyle/>
                    <a:p>
                      <a:pPr algn="ctr"/>
                      <a:r>
                        <a:rPr sz="750" b="0">
                          <a:solidFill>
                            <a:srgbClr val="202020"/>
                          </a:solidFill>
                        </a:rPr>
                        <a:t>0.137</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0.227</a:t>
                      </a:r>
                    </a:p>
                  </a:txBody>
                  <a:tcPr>
                    <a:solidFill>
                      <a:srgbClr val="FFFFFF"/>
                    </a:solidFill>
                  </a:tcPr>
                </a:tc>
                <a:tc>
                  <a:txBody>
                    <a:bodyPr/>
                    <a:lstStyle/>
                    <a:p>
                      <a:pPr algn="ctr"/>
                      <a:r>
                        <a:rPr sz="750" b="0">
                          <a:solidFill>
                            <a:srgbClr val="202020"/>
                          </a:solidFill>
                        </a:rPr>
                        <a:t>0.404</a:t>
                      </a:r>
                    </a:p>
                  </a:txBody>
                  <a:tcPr>
                    <a:solidFill>
                      <a:srgbClr val="FFFFFF"/>
                    </a:solidFill>
                  </a:tcPr>
                </a:tc>
                <a:tc>
                  <a:txBody>
                    <a:bodyPr/>
                    <a:lstStyle/>
                    <a:p>
                      <a:pPr algn="ctr"/>
                      <a:r>
                        <a:rPr sz="750" b="0">
                          <a:solidFill>
                            <a:srgbClr val="202020"/>
                          </a:solidFill>
                        </a:rPr>
                        <a:t>0.485</a:t>
                      </a:r>
                    </a:p>
                  </a:txBody>
                  <a:tcPr>
                    <a:solidFill>
                      <a:srgbClr val="FFFFFF"/>
                    </a:solidFill>
                  </a:tcPr>
                </a:tc>
                <a:tc>
                  <a:txBody>
                    <a:bodyPr/>
                    <a:lstStyle/>
                    <a:p>
                      <a:pPr algn="ctr"/>
                      <a:r>
                        <a:rPr sz="750" b="0">
                          <a:solidFill>
                            <a:srgbClr val="202020"/>
                          </a:solidFill>
                        </a:rPr>
                        <a:t>0.404</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0.311</a:t>
                      </a:r>
                    </a:p>
                  </a:txBody>
                  <a:tcPr>
                    <a:solidFill>
                      <a:srgbClr val="FFFFFF"/>
                    </a:solidFill>
                  </a:tcPr>
                </a:tc>
                <a:tc>
                  <a:txBody>
                    <a:bodyPr/>
                    <a:lstStyle/>
                    <a:p>
                      <a:pPr algn="ctr"/>
                      <a:r>
                        <a:rPr sz="750" b="0">
                          <a:solidFill>
                            <a:srgbClr val="202020"/>
                          </a:solidFill>
                        </a:rPr>
                        <a:t>0.477</a:t>
                      </a:r>
                    </a:p>
                  </a:txBody>
                  <a:tcPr>
                    <a:solidFill>
                      <a:srgbClr val="FFFFFF"/>
                    </a:solidFill>
                  </a:tcPr>
                </a:tc>
                <a:tc>
                  <a:txBody>
                    <a:bodyPr/>
                    <a:lstStyle/>
                    <a:p>
                      <a:pPr algn="ctr"/>
                      <a:r>
                        <a:rPr sz="750" b="0">
                          <a:solidFill>
                            <a:srgbClr val="202020"/>
                          </a:solidFill>
                        </a:rPr>
                        <a:t>0.575</a:t>
                      </a:r>
                    </a:p>
                  </a:txBody>
                  <a:tcPr>
                    <a:solidFill>
                      <a:srgbClr val="FFFFFF"/>
                    </a:solidFill>
                  </a:tcPr>
                </a:tc>
                <a:tc>
                  <a:txBody>
                    <a:bodyPr/>
                    <a:lstStyle/>
                    <a:p>
                      <a:pPr algn="ctr"/>
                      <a:r>
                        <a:rPr sz="750" b="0">
                          <a:solidFill>
                            <a:srgbClr val="202020"/>
                          </a:solidFill>
                        </a:rPr>
                        <a:t>0.477</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0.212</a:t>
                      </a:r>
                    </a:p>
                  </a:txBody>
                  <a:tcPr>
                    <a:solidFill>
                      <a:srgbClr val="FFFFFF"/>
                    </a:solidFill>
                  </a:tcPr>
                </a:tc>
                <a:tc>
                  <a:txBody>
                    <a:bodyPr/>
                    <a:lstStyle/>
                    <a:p>
                      <a:pPr algn="ctr"/>
                      <a:r>
                        <a:rPr sz="750" b="0">
                          <a:solidFill>
                            <a:srgbClr val="202020"/>
                          </a:solidFill>
                        </a:rPr>
                        <a:t>0.459</a:t>
                      </a:r>
                    </a:p>
                  </a:txBody>
                  <a:tcPr>
                    <a:solidFill>
                      <a:srgbClr val="FFFFFF"/>
                    </a:solidFill>
                  </a:tcPr>
                </a:tc>
                <a:tc>
                  <a:txBody>
                    <a:bodyPr/>
                    <a:lstStyle/>
                    <a:p>
                      <a:pPr algn="ctr"/>
                      <a:r>
                        <a:rPr sz="750" b="0">
                          <a:solidFill>
                            <a:srgbClr val="202020"/>
                          </a:solidFill>
                        </a:rPr>
                        <a:t>0.517</a:t>
                      </a:r>
                    </a:p>
                  </a:txBody>
                  <a:tcPr>
                    <a:solidFill>
                      <a:srgbClr val="FFFFFF"/>
                    </a:solidFill>
                  </a:tcPr>
                </a:tc>
                <a:tc>
                  <a:txBody>
                    <a:bodyPr/>
                    <a:lstStyle/>
                    <a:p>
                      <a:pPr algn="ctr"/>
                      <a:r>
                        <a:rPr sz="750" b="0">
                          <a:solidFill>
                            <a:srgbClr val="202020"/>
                          </a:solidFill>
                        </a:rPr>
                        <a:t>0.459</a:t>
                      </a:r>
                    </a:p>
                  </a:txBody>
                  <a:tcPr>
                    <a:solidFill>
                      <a:srgbClr val="FFFFFF"/>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400" b="1" i="0">
                <a:solidFill>
                  <a:srgbClr val="202020"/>
                </a:solidFill>
              </a:rPr>
              <a:t>SLIDE 32 (lanjutan): Skema 2 — KDEF → Primer</a:t>
            </a:r>
          </a:p>
        </p:txBody>
      </p:sp>
      <p:sp>
        <p:nvSpPr>
          <p:cNvPr id="8" name="TextBox 7"/>
          <p:cNvSpPr txBox="1"/>
          <p:nvPr/>
        </p:nvSpPr>
        <p:spPr>
          <a:xfrm>
            <a:off x="274320" y="548640"/>
            <a:ext cx="4206240" cy="201168"/>
          </a:xfrm>
          <a:prstGeom prst="rect">
            <a:avLst/>
          </a:prstGeom>
          <a:noFill/>
        </p:spPr>
        <p:txBody>
          <a:bodyPr wrap="none">
            <a:spAutoFit/>
          </a:bodyPr>
          <a:lstStyle/>
          <a:p>
            <a:pPr algn="l"/>
            <a:r>
              <a:rPr sz="950" b="1" i="0">
                <a:solidFill>
                  <a:srgbClr val="1A73E8"/>
                </a:solidFill>
              </a:rPr>
              <a:t>KDEF → Primer (7-Class)</a:t>
            </a:r>
          </a:p>
        </p:txBody>
      </p:sp>
      <p:graphicFrame>
        <p:nvGraphicFramePr>
          <p:cNvPr id="9" name="Table 8"/>
          <p:cNvGraphicFramePr>
            <a:graphicFrameLocks noGrp="1"/>
          </p:cNvGraphicFramePr>
          <p:nvPr/>
        </p:nvGraphicFramePr>
        <p:xfrm>
          <a:off x="274320" y="768096"/>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8F0FE"/>
                    </a:solidFill>
                  </a:tcPr>
                </a:tc>
                <a:tc>
                  <a:txBody>
                    <a:bodyPr/>
                    <a:lstStyle/>
                    <a:p>
                      <a:pPr algn="ctr"/>
                      <a:r>
                        <a:rPr sz="750" b="0">
                          <a:solidFill>
                            <a:srgbClr val="202020"/>
                          </a:solidFill>
                        </a:rPr>
                        <a:t>0.024</a:t>
                      </a:r>
                    </a:p>
                  </a:txBody>
                  <a:tcPr>
                    <a:solidFill>
                      <a:srgbClr val="E8F0FE"/>
                    </a:solidFill>
                  </a:tcPr>
                </a:tc>
                <a:tc>
                  <a:txBody>
                    <a:bodyPr/>
                    <a:lstStyle/>
                    <a:p>
                      <a:pPr algn="ctr"/>
                      <a:r>
                        <a:rPr sz="750" b="0">
                          <a:solidFill>
                            <a:srgbClr val="202020"/>
                          </a:solidFill>
                        </a:rPr>
                        <a:t>0.040</a:t>
                      </a:r>
                    </a:p>
                  </a:txBody>
                  <a:tcPr>
                    <a:solidFill>
                      <a:srgbClr val="E8F0FE"/>
                    </a:solidFill>
                  </a:tcPr>
                </a:tc>
                <a:tc>
                  <a:txBody>
                    <a:bodyPr/>
                    <a:lstStyle/>
                    <a:p>
                      <a:pPr algn="ctr"/>
                      <a:r>
                        <a:rPr sz="750" b="0">
                          <a:solidFill>
                            <a:srgbClr val="202020"/>
                          </a:solidFill>
                        </a:rPr>
                        <a:t>0.024</a:t>
                      </a:r>
                    </a:p>
                  </a:txBody>
                  <a:tcPr>
                    <a:solidFill>
                      <a:srgbClr val="E8F0FE"/>
                    </a:solidFill>
                  </a:tcPr>
                </a:tc>
                <a:tc>
                  <a:txBody>
                    <a:bodyPr/>
                    <a:lstStyle/>
                    <a:p>
                      <a:pPr algn="ctr"/>
                      <a:r>
                        <a:rPr sz="750" b="0">
                          <a:solidFill>
                            <a:srgbClr val="202020"/>
                          </a:solidFill>
                        </a:rPr>
                        <a:t>0.040</a:t>
                      </a:r>
                    </a:p>
                  </a:txBody>
                  <a:tcPr>
                    <a:solidFill>
                      <a:srgbClr val="E8F0FE"/>
                    </a:solidFill>
                  </a:tcPr>
                </a:tc>
              </a:tr>
              <a:tr h="287382">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0.007</a:t>
                      </a:r>
                    </a:p>
                  </a:txBody>
                  <a:tcPr>
                    <a:solidFill>
                      <a:srgbClr val="FFFFFF"/>
                    </a:solidFill>
                  </a:tcPr>
                </a:tc>
                <a:tc>
                  <a:txBody>
                    <a:bodyPr/>
                    <a:lstStyle/>
                    <a:p>
                      <a:pPr algn="ctr"/>
                      <a:r>
                        <a:rPr sz="750" b="0">
                          <a:solidFill>
                            <a:srgbClr val="202020"/>
                          </a:solidFill>
                        </a:rPr>
                        <a:t>0.008</a:t>
                      </a:r>
                    </a:p>
                  </a:txBody>
                  <a:tcPr>
                    <a:solidFill>
                      <a:srgbClr val="FFFFFF"/>
                    </a:solidFill>
                  </a:tcPr>
                </a:tc>
                <a:tc>
                  <a:txBody>
                    <a:bodyPr/>
                    <a:lstStyle/>
                    <a:p>
                      <a:pPr algn="ctr"/>
                      <a:r>
                        <a:rPr sz="750" b="0">
                          <a:solidFill>
                            <a:srgbClr val="202020"/>
                          </a:solidFill>
                        </a:rPr>
                        <a:t>0.008</a:t>
                      </a:r>
                    </a:p>
                  </a:txBody>
                  <a:tcPr>
                    <a:solidFill>
                      <a:srgbClr val="FFFFFF"/>
                    </a:solidFill>
                  </a:tcPr>
                </a:tc>
                <a:tc>
                  <a:txBody>
                    <a:bodyPr/>
                    <a:lstStyle/>
                    <a:p>
                      <a:pPr algn="ctr"/>
                      <a:r>
                        <a:rPr sz="750" b="0">
                          <a:solidFill>
                            <a:srgbClr val="202020"/>
                          </a:solidFill>
                        </a:rPr>
                        <a:t>0.008</a:t>
                      </a:r>
                    </a:p>
                  </a:txBody>
                  <a:tcPr>
                    <a:solidFill>
                      <a:srgbClr val="FFFFFF"/>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0.036</a:t>
                      </a:r>
                    </a:p>
                  </a:txBody>
                  <a:tcPr>
                    <a:solidFill>
                      <a:srgbClr val="E8F0FE"/>
                    </a:solidFill>
                  </a:tcPr>
                </a:tc>
                <a:tc>
                  <a:txBody>
                    <a:bodyPr/>
                    <a:lstStyle/>
                    <a:p>
                      <a:pPr algn="ctr"/>
                      <a:r>
                        <a:rPr sz="750" b="0">
                          <a:solidFill>
                            <a:srgbClr val="202020"/>
                          </a:solidFill>
                        </a:rPr>
                        <a:t>0.020</a:t>
                      </a:r>
                    </a:p>
                  </a:txBody>
                  <a:tcPr>
                    <a:solidFill>
                      <a:srgbClr val="E8F0FE"/>
                    </a:solidFill>
                  </a:tcPr>
                </a:tc>
                <a:tc>
                  <a:txBody>
                    <a:bodyPr/>
                    <a:lstStyle/>
                    <a:p>
                      <a:pPr algn="ctr"/>
                      <a:r>
                        <a:rPr sz="750" b="0">
                          <a:solidFill>
                            <a:srgbClr val="202020"/>
                          </a:solidFill>
                        </a:rPr>
                        <a:t>0.026</a:t>
                      </a:r>
                    </a:p>
                  </a:txBody>
                  <a:tcPr>
                    <a:solidFill>
                      <a:srgbClr val="E8F0FE"/>
                    </a:solidFill>
                  </a:tcPr>
                </a:tc>
                <a:tc>
                  <a:txBody>
                    <a:bodyPr/>
                    <a:lstStyle/>
                    <a:p>
                      <a:pPr algn="ctr"/>
                      <a:r>
                        <a:rPr sz="750" b="0">
                          <a:solidFill>
                            <a:srgbClr val="202020"/>
                          </a:solidFill>
                        </a:rPr>
                        <a:t>0.020</a:t>
                      </a:r>
                    </a:p>
                  </a:txBody>
                  <a:tcPr>
                    <a:solidFill>
                      <a:srgbClr val="E8F0FE"/>
                    </a:solidFill>
                  </a:tcPr>
                </a:tc>
              </a:tr>
              <a:tr h="287382">
                <a:tc>
                  <a:txBody>
                    <a:bodyPr/>
                    <a:lstStyle/>
                    <a:p>
                      <a:pPr algn="l"/>
                      <a:r>
                        <a:rPr sz="750" b="1">
                          <a:solidFill>
                            <a:srgbClr val="202020"/>
                          </a:solidFill>
                        </a:rPr>
                        <a:t>CNN TL</a:t>
                      </a:r>
                    </a:p>
                  </a:txBody>
                  <a:tcPr>
                    <a:solidFill>
                      <a:srgbClr val="E6F4EA"/>
                    </a:solidFill>
                  </a:tcPr>
                </a:tc>
                <a:tc>
                  <a:txBody>
                    <a:bodyPr/>
                    <a:lstStyle/>
                    <a:p>
                      <a:pPr algn="ctr"/>
                      <a:r>
                        <a:rPr sz="750" b="0">
                          <a:solidFill>
                            <a:srgbClr val="202020"/>
                          </a:solidFill>
                        </a:rPr>
                        <a:t>0.038</a:t>
                      </a:r>
                    </a:p>
                  </a:txBody>
                  <a:tcPr>
                    <a:solidFill>
                      <a:srgbClr val="E6F4EA"/>
                    </a:solidFill>
                  </a:tcPr>
                </a:tc>
                <a:tc>
                  <a:txBody>
                    <a:bodyPr/>
                    <a:lstStyle/>
                    <a:p>
                      <a:pPr algn="ctr"/>
                      <a:r>
                        <a:rPr sz="750" b="0">
                          <a:solidFill>
                            <a:srgbClr val="202020"/>
                          </a:solidFill>
                        </a:rPr>
                        <a:t>0.053</a:t>
                      </a:r>
                    </a:p>
                  </a:txBody>
                  <a:tcPr>
                    <a:solidFill>
                      <a:srgbClr val="E6F4EA"/>
                    </a:solidFill>
                  </a:tcPr>
                </a:tc>
                <a:tc>
                  <a:txBody>
                    <a:bodyPr/>
                    <a:lstStyle/>
                    <a:p>
                      <a:pPr algn="ctr"/>
                      <a:r>
                        <a:rPr sz="750" b="0">
                          <a:solidFill>
                            <a:srgbClr val="202020"/>
                          </a:solidFill>
                        </a:rPr>
                        <a:t>0.036</a:t>
                      </a:r>
                    </a:p>
                  </a:txBody>
                  <a:tcPr>
                    <a:solidFill>
                      <a:srgbClr val="E6F4EA"/>
                    </a:solidFill>
                  </a:tcPr>
                </a:tc>
                <a:tc>
                  <a:txBody>
                    <a:bodyPr/>
                    <a:lstStyle/>
                    <a:p>
                      <a:pPr algn="ctr"/>
                      <a:r>
                        <a:rPr sz="750" b="0">
                          <a:solidFill>
                            <a:srgbClr val="202020"/>
                          </a:solidFill>
                        </a:rPr>
                        <a:t>0.053</a:t>
                      </a:r>
                    </a:p>
                  </a:txBody>
                  <a:tcPr>
                    <a:solidFill>
                      <a:srgbClr val="E6F4EA"/>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0.034</a:t>
                      </a:r>
                    </a:p>
                  </a:txBody>
                  <a:tcPr>
                    <a:solidFill>
                      <a:srgbClr val="E8F0FE"/>
                    </a:solidFill>
                  </a:tcPr>
                </a:tc>
                <a:tc>
                  <a:txBody>
                    <a:bodyPr/>
                    <a:lstStyle/>
                    <a:p>
                      <a:pPr algn="ctr"/>
                      <a:r>
                        <a:rPr sz="750" b="0">
                          <a:solidFill>
                            <a:srgbClr val="202020"/>
                          </a:solidFill>
                        </a:rPr>
                        <a:t>0.056</a:t>
                      </a:r>
                    </a:p>
                  </a:txBody>
                  <a:tcPr>
                    <a:solidFill>
                      <a:srgbClr val="E8F0FE"/>
                    </a:solidFill>
                  </a:tcPr>
                </a:tc>
                <a:tc>
                  <a:txBody>
                    <a:bodyPr/>
                    <a:lstStyle/>
                    <a:p>
                      <a:pPr algn="ctr"/>
                      <a:r>
                        <a:rPr sz="750" b="0">
                          <a:solidFill>
                            <a:srgbClr val="202020"/>
                          </a:solidFill>
                        </a:rPr>
                        <a:t>0.023</a:t>
                      </a:r>
                    </a:p>
                  </a:txBody>
                  <a:tcPr>
                    <a:solidFill>
                      <a:srgbClr val="E8F0FE"/>
                    </a:solidFill>
                  </a:tcPr>
                </a:tc>
                <a:tc>
                  <a:txBody>
                    <a:bodyPr/>
                    <a:lstStyle/>
                    <a:p>
                      <a:pPr algn="ctr"/>
                      <a:r>
                        <a:rPr sz="750" b="0">
                          <a:solidFill>
                            <a:srgbClr val="202020"/>
                          </a:solidFill>
                        </a:rPr>
                        <a:t>0.056</a:t>
                      </a:r>
                    </a:p>
                  </a:txBody>
                  <a:tcPr>
                    <a:solidFill>
                      <a:srgbClr val="E8F0FE"/>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0.015</a:t>
                      </a:r>
                    </a:p>
                  </a:txBody>
                  <a:tcPr>
                    <a:solidFill>
                      <a:srgbClr val="FFFFFF"/>
                    </a:solidFill>
                  </a:tcPr>
                </a:tc>
                <a:tc>
                  <a:txBody>
                    <a:bodyPr/>
                    <a:lstStyle/>
                    <a:p>
                      <a:pPr algn="ctr"/>
                      <a:r>
                        <a:rPr sz="750" b="0">
                          <a:solidFill>
                            <a:srgbClr val="202020"/>
                          </a:solidFill>
                        </a:rPr>
                        <a:t>0.008</a:t>
                      </a:r>
                    </a:p>
                  </a:txBody>
                  <a:tcPr>
                    <a:solidFill>
                      <a:srgbClr val="FFFFFF"/>
                    </a:solidFill>
                  </a:tcPr>
                </a:tc>
                <a:tc>
                  <a:txBody>
                    <a:bodyPr/>
                    <a:lstStyle/>
                    <a:p>
                      <a:pPr algn="ctr"/>
                      <a:r>
                        <a:rPr sz="750" b="0">
                          <a:solidFill>
                            <a:srgbClr val="202020"/>
                          </a:solidFill>
                        </a:rPr>
                        <a:t>0.005</a:t>
                      </a:r>
                    </a:p>
                  </a:txBody>
                  <a:tcPr>
                    <a:solidFill>
                      <a:srgbClr val="FFFFFF"/>
                    </a:solidFill>
                  </a:tcPr>
                </a:tc>
                <a:tc>
                  <a:txBody>
                    <a:bodyPr/>
                    <a:lstStyle/>
                    <a:p>
                      <a:pPr algn="ctr"/>
                      <a:r>
                        <a:rPr sz="750" b="0">
                          <a:solidFill>
                            <a:srgbClr val="202020"/>
                          </a:solidFill>
                        </a:rPr>
                        <a:t>0.008</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0.007</a:t>
                      </a:r>
                    </a:p>
                  </a:txBody>
                  <a:tcPr>
                    <a:solidFill>
                      <a:srgbClr val="FFFFFF"/>
                    </a:solidFill>
                  </a:tcPr>
                </a:tc>
                <a:tc>
                  <a:txBody>
                    <a:bodyPr/>
                    <a:lstStyle/>
                    <a:p>
                      <a:pPr algn="ctr"/>
                      <a:r>
                        <a:rPr sz="750" b="0">
                          <a:solidFill>
                            <a:srgbClr val="202020"/>
                          </a:solidFill>
                        </a:rPr>
                        <a:t>0.010</a:t>
                      </a:r>
                    </a:p>
                  </a:txBody>
                  <a:tcPr>
                    <a:solidFill>
                      <a:srgbClr val="FFFFFF"/>
                    </a:solidFill>
                  </a:tcPr>
                </a:tc>
                <a:tc>
                  <a:txBody>
                    <a:bodyPr/>
                    <a:lstStyle/>
                    <a:p>
                      <a:pPr algn="ctr"/>
                      <a:r>
                        <a:rPr sz="750" b="0">
                          <a:solidFill>
                            <a:srgbClr val="202020"/>
                          </a:solidFill>
                        </a:rPr>
                        <a:t>0.011</a:t>
                      </a:r>
                    </a:p>
                  </a:txBody>
                  <a:tcPr>
                    <a:solidFill>
                      <a:srgbClr val="FFFFFF"/>
                    </a:solidFill>
                  </a:tcPr>
                </a:tc>
                <a:tc>
                  <a:txBody>
                    <a:bodyPr/>
                    <a:lstStyle/>
                    <a:p>
                      <a:pPr algn="ctr"/>
                      <a:r>
                        <a:rPr sz="750" b="0">
                          <a:solidFill>
                            <a:srgbClr val="202020"/>
                          </a:solidFill>
                        </a:rPr>
                        <a:t>0.010</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0.029</a:t>
                      </a:r>
                    </a:p>
                  </a:txBody>
                  <a:tcPr>
                    <a:solidFill>
                      <a:srgbClr val="FFFFFF"/>
                    </a:solidFill>
                  </a:tcPr>
                </a:tc>
                <a:tc>
                  <a:txBody>
                    <a:bodyPr/>
                    <a:lstStyle/>
                    <a:p>
                      <a:pPr algn="ctr"/>
                      <a:r>
                        <a:rPr sz="750" b="0">
                          <a:solidFill>
                            <a:srgbClr val="202020"/>
                          </a:solidFill>
                        </a:rPr>
                        <a:t>0.054</a:t>
                      </a:r>
                    </a:p>
                  </a:txBody>
                  <a:tcPr>
                    <a:solidFill>
                      <a:srgbClr val="FFFFFF"/>
                    </a:solidFill>
                  </a:tcPr>
                </a:tc>
                <a:tc>
                  <a:txBody>
                    <a:bodyPr/>
                    <a:lstStyle/>
                    <a:p>
                      <a:pPr algn="ctr"/>
                      <a:r>
                        <a:rPr sz="750" b="0">
                          <a:solidFill>
                            <a:srgbClr val="202020"/>
                          </a:solidFill>
                        </a:rPr>
                        <a:t>0.097</a:t>
                      </a:r>
                    </a:p>
                  </a:txBody>
                  <a:tcPr>
                    <a:solidFill>
                      <a:srgbClr val="FFFFFF"/>
                    </a:solidFill>
                  </a:tcPr>
                </a:tc>
                <a:tc>
                  <a:txBody>
                    <a:bodyPr/>
                    <a:lstStyle/>
                    <a:p>
                      <a:pPr algn="ctr"/>
                      <a:r>
                        <a:rPr sz="750" b="0">
                          <a:solidFill>
                            <a:srgbClr val="202020"/>
                          </a:solidFill>
                        </a:rPr>
                        <a:t>0.054</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0.055</a:t>
                      </a:r>
                    </a:p>
                  </a:txBody>
                  <a:tcPr>
                    <a:solidFill>
                      <a:srgbClr val="FFFFFF"/>
                    </a:solidFill>
                  </a:tcPr>
                </a:tc>
                <a:tc>
                  <a:txBody>
                    <a:bodyPr/>
                    <a:lstStyle/>
                    <a:p>
                      <a:pPr algn="ctr"/>
                      <a:r>
                        <a:rPr sz="750" b="0">
                          <a:solidFill>
                            <a:srgbClr val="202020"/>
                          </a:solidFill>
                        </a:rPr>
                        <a:t>0.078</a:t>
                      </a:r>
                    </a:p>
                  </a:txBody>
                  <a:tcPr>
                    <a:solidFill>
                      <a:srgbClr val="FFFFFF"/>
                    </a:solidFill>
                  </a:tcPr>
                </a:tc>
                <a:tc>
                  <a:txBody>
                    <a:bodyPr/>
                    <a:lstStyle/>
                    <a:p>
                      <a:pPr algn="ctr"/>
                      <a:r>
                        <a:rPr sz="750" b="0">
                          <a:solidFill>
                            <a:srgbClr val="202020"/>
                          </a:solidFill>
                        </a:rPr>
                        <a:t>0.063</a:t>
                      </a:r>
                    </a:p>
                  </a:txBody>
                  <a:tcPr>
                    <a:solidFill>
                      <a:srgbClr val="FFFFFF"/>
                    </a:solidFill>
                  </a:tcPr>
                </a:tc>
                <a:tc>
                  <a:txBody>
                    <a:bodyPr/>
                    <a:lstStyle/>
                    <a:p>
                      <a:pPr algn="ctr"/>
                      <a:r>
                        <a:rPr sz="750" b="0">
                          <a:solidFill>
                            <a:srgbClr val="202020"/>
                          </a:solidFill>
                        </a:rPr>
                        <a:t>0.078</a:t>
                      </a:r>
                    </a:p>
                  </a:txBody>
                  <a:tcPr>
                    <a:solidFill>
                      <a:srgbClr val="FFFFFF"/>
                    </a:solidFill>
                  </a:tcPr>
                </a:tc>
              </a:tr>
            </a:tbl>
          </a:graphicData>
        </a:graphic>
      </p:graphicFrame>
      <p:sp>
        <p:nvSpPr>
          <p:cNvPr id="10" name="TextBox 9"/>
          <p:cNvSpPr txBox="1"/>
          <p:nvPr/>
        </p:nvSpPr>
        <p:spPr>
          <a:xfrm>
            <a:off x="4617720" y="548640"/>
            <a:ext cx="4206240" cy="201168"/>
          </a:xfrm>
          <a:prstGeom prst="rect">
            <a:avLst/>
          </a:prstGeom>
          <a:noFill/>
        </p:spPr>
        <p:txBody>
          <a:bodyPr wrap="none">
            <a:spAutoFit/>
          </a:bodyPr>
          <a:lstStyle/>
          <a:p>
            <a:pPr algn="l"/>
            <a:r>
              <a:rPr sz="950" b="1" i="0">
                <a:solidFill>
                  <a:srgbClr val="1A73E8"/>
                </a:solidFill>
              </a:rPr>
              <a:t>KDEF → Primer (4-Class)</a:t>
            </a:r>
          </a:p>
        </p:txBody>
      </p:sp>
      <p:graphicFrame>
        <p:nvGraphicFramePr>
          <p:cNvPr id="11" name="Table 10"/>
          <p:cNvGraphicFramePr>
            <a:graphicFrameLocks noGrp="1"/>
          </p:cNvGraphicFramePr>
          <p:nvPr/>
        </p:nvGraphicFramePr>
        <p:xfrm>
          <a:off x="4617720" y="768096"/>
          <a:ext cx="4206237" cy="2011680"/>
        </p:xfrm>
        <a:graphic>
          <a:graphicData uri="http://schemas.openxmlformats.org/drawingml/2006/table">
            <a:tbl>
              <a:tblPr firstRow="1" bandRow="1"/>
              <a:tblGrid>
                <a:gridCol w="1521405"/>
                <a:gridCol w="671208"/>
                <a:gridCol w="671208"/>
                <a:gridCol w="671208"/>
                <a:gridCol w="671208"/>
              </a:tblGrid>
              <a:tr h="287382">
                <a:tc>
                  <a:txBody>
                    <a:bodyPr/>
                    <a:lstStyle/>
                    <a:p>
                      <a:pPr algn="ctr"/>
                      <a:r>
                        <a:rPr sz="850" b="1">
                          <a:solidFill>
                            <a:srgbClr val="FFFFFF"/>
                          </a:solidFill>
                        </a:rPr>
                        <a:t>Model</a:t>
                      </a:r>
                    </a:p>
                  </a:txBody>
                  <a:tcPr>
                    <a:solidFill>
                      <a:srgbClr val="1A73E8"/>
                    </a:solidFill>
                  </a:tcPr>
                </a:tc>
                <a:tc>
                  <a:txBody>
                    <a:bodyPr/>
                    <a:lstStyle/>
                    <a:p>
                      <a:pPr algn="ctr"/>
                      <a:r>
                        <a:rPr sz="850" b="1">
                          <a:solidFill>
                            <a:srgbClr val="FFFFFF"/>
                          </a:solidFill>
                        </a:rPr>
                        <a:t>Macro</a:t>
                      </a:r>
                    </a:p>
                  </a:txBody>
                  <a:tcPr>
                    <a:solidFill>
                      <a:srgbClr val="1A73E8"/>
                    </a:solidFill>
                  </a:tcPr>
                </a:tc>
                <a:tc>
                  <a:txBody>
                    <a:bodyPr/>
                    <a:lstStyle/>
                    <a:p>
                      <a:pPr algn="ctr"/>
                      <a:r>
                        <a:rPr sz="850" b="1">
                          <a:solidFill>
                            <a:srgbClr val="FFFFFF"/>
                          </a:solidFill>
                        </a:rPr>
                        <a:t>Micro</a:t>
                      </a:r>
                    </a:p>
                  </a:txBody>
                  <a:tcPr>
                    <a:solidFill>
                      <a:srgbClr val="1A73E8"/>
                    </a:solidFill>
                  </a:tcPr>
                </a:tc>
                <a:tc>
                  <a:txBody>
                    <a:bodyPr/>
                    <a:lstStyle/>
                    <a:p>
                      <a:pPr algn="ctr"/>
                      <a:r>
                        <a:rPr sz="850" b="1">
                          <a:solidFill>
                            <a:srgbClr val="FFFFFF"/>
                          </a:solidFill>
                        </a:rPr>
                        <a:t>W-F1</a:t>
                      </a:r>
                    </a:p>
                  </a:txBody>
                  <a:tcPr>
                    <a:solidFill>
                      <a:srgbClr val="1A73E8"/>
                    </a:solidFill>
                  </a:tcPr>
                </a:tc>
                <a:tc>
                  <a:txBody>
                    <a:bodyPr/>
                    <a:lstStyle/>
                    <a:p>
                      <a:pPr algn="ctr"/>
                      <a:r>
                        <a:rPr sz="850" b="1">
                          <a:solidFill>
                            <a:srgbClr val="FFFFFF"/>
                          </a:solidFill>
                        </a:rPr>
                        <a:t>Acc</a:t>
                      </a:r>
                    </a:p>
                  </a:txBody>
                  <a:tcPr>
                    <a:solidFill>
                      <a:srgbClr val="1A73E8"/>
                    </a:solidFill>
                  </a:tcPr>
                </a:tc>
              </a:tr>
              <a:tr h="287382">
                <a:tc>
                  <a:txBody>
                    <a:bodyPr/>
                    <a:lstStyle/>
                    <a:p>
                      <a:pPr algn="l"/>
                      <a:r>
                        <a:rPr sz="750" b="1">
                          <a:solidFill>
                            <a:srgbClr val="202020"/>
                          </a:solidFill>
                        </a:rPr>
                        <a:t>CNN</a:t>
                      </a:r>
                    </a:p>
                  </a:txBody>
                  <a:tcPr>
                    <a:solidFill>
                      <a:srgbClr val="E6F4EA"/>
                    </a:solidFill>
                  </a:tcPr>
                </a:tc>
                <a:tc>
                  <a:txBody>
                    <a:bodyPr/>
                    <a:lstStyle/>
                    <a:p>
                      <a:pPr algn="ctr"/>
                      <a:r>
                        <a:rPr sz="750" b="0">
                          <a:solidFill>
                            <a:srgbClr val="202020"/>
                          </a:solidFill>
                        </a:rPr>
                        <a:t>0.079</a:t>
                      </a:r>
                    </a:p>
                  </a:txBody>
                  <a:tcPr>
                    <a:solidFill>
                      <a:srgbClr val="E6F4EA"/>
                    </a:solidFill>
                  </a:tcPr>
                </a:tc>
                <a:tc>
                  <a:txBody>
                    <a:bodyPr/>
                    <a:lstStyle/>
                    <a:p>
                      <a:pPr algn="ctr"/>
                      <a:r>
                        <a:rPr sz="750" b="0">
                          <a:solidFill>
                            <a:srgbClr val="202020"/>
                          </a:solidFill>
                        </a:rPr>
                        <a:t>0.067</a:t>
                      </a:r>
                    </a:p>
                  </a:txBody>
                  <a:tcPr>
                    <a:solidFill>
                      <a:srgbClr val="E6F4EA"/>
                    </a:solidFill>
                  </a:tcPr>
                </a:tc>
                <a:tc>
                  <a:txBody>
                    <a:bodyPr/>
                    <a:lstStyle/>
                    <a:p>
                      <a:pPr algn="ctr"/>
                      <a:r>
                        <a:rPr sz="750" b="0">
                          <a:solidFill>
                            <a:srgbClr val="202020"/>
                          </a:solidFill>
                        </a:rPr>
                        <a:t>0.078</a:t>
                      </a:r>
                    </a:p>
                  </a:txBody>
                  <a:tcPr>
                    <a:solidFill>
                      <a:srgbClr val="E6F4EA"/>
                    </a:solidFill>
                  </a:tcPr>
                </a:tc>
                <a:tc>
                  <a:txBody>
                    <a:bodyPr/>
                    <a:lstStyle/>
                    <a:p>
                      <a:pPr algn="ctr"/>
                      <a:r>
                        <a:rPr sz="750" b="0">
                          <a:solidFill>
                            <a:srgbClr val="202020"/>
                          </a:solidFill>
                        </a:rPr>
                        <a:t>0.067</a:t>
                      </a:r>
                    </a:p>
                  </a:txBody>
                  <a:tcPr>
                    <a:solidFill>
                      <a:srgbClr val="E6F4EA"/>
                    </a:solidFill>
                  </a:tcPr>
                </a:tc>
              </a:tr>
              <a:tr h="287382">
                <a:tc>
                  <a:txBody>
                    <a:bodyPr/>
                    <a:lstStyle/>
                    <a:p>
                      <a:pPr algn="l"/>
                      <a:r>
                        <a:rPr sz="750" b="1">
                          <a:solidFill>
                            <a:srgbClr val="202020"/>
                          </a:solidFill>
                        </a:rPr>
                        <a:t>FCNN</a:t>
                      </a:r>
                    </a:p>
                  </a:txBody>
                  <a:tcPr>
                    <a:solidFill>
                      <a:srgbClr val="FFFFFF"/>
                    </a:solidFill>
                  </a:tcPr>
                </a:tc>
                <a:tc>
                  <a:txBody>
                    <a:bodyPr/>
                    <a:lstStyle/>
                    <a:p>
                      <a:pPr algn="ctr"/>
                      <a:r>
                        <a:rPr sz="750" b="0">
                          <a:solidFill>
                            <a:srgbClr val="202020"/>
                          </a:solidFill>
                        </a:rPr>
                        <a:t>0.004</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0.000</a:t>
                      </a:r>
                    </a:p>
                  </a:txBody>
                  <a:tcPr>
                    <a:solidFill>
                      <a:srgbClr val="FFFFFF"/>
                    </a:solidFill>
                  </a:tcPr>
                </a:tc>
                <a:tc>
                  <a:txBody>
                    <a:bodyPr/>
                    <a:lstStyle/>
                    <a:p>
                      <a:pPr algn="ctr"/>
                      <a:r>
                        <a:rPr sz="750" b="0">
                          <a:solidFill>
                            <a:srgbClr val="202020"/>
                          </a:solidFill>
                        </a:rPr>
                        <a:t>0.009</a:t>
                      </a:r>
                    </a:p>
                  </a:txBody>
                  <a:tcPr>
                    <a:solidFill>
                      <a:srgbClr val="FFFFFF"/>
                    </a:solidFill>
                  </a:tcPr>
                </a:tc>
              </a:tr>
              <a:tr h="287382">
                <a:tc>
                  <a:txBody>
                    <a:bodyPr/>
                    <a:lstStyle/>
                    <a:p>
                      <a:pPr algn="l"/>
                      <a:r>
                        <a:rPr sz="750" b="1">
                          <a:solidFill>
                            <a:srgbClr val="202020"/>
                          </a:solidFill>
                        </a:rPr>
                        <a:t>Intermediate</a:t>
                      </a:r>
                    </a:p>
                  </a:txBody>
                  <a:tcPr>
                    <a:solidFill>
                      <a:srgbClr val="E8F0FE"/>
                    </a:solidFill>
                  </a:tcPr>
                </a:tc>
                <a:tc>
                  <a:txBody>
                    <a:bodyPr/>
                    <a:lstStyle/>
                    <a:p>
                      <a:pPr algn="ctr"/>
                      <a:r>
                        <a:rPr sz="750" b="0">
                          <a:solidFill>
                            <a:srgbClr val="202020"/>
                          </a:solidFill>
                        </a:rPr>
                        <a:t>0.037</a:t>
                      </a:r>
                    </a:p>
                  </a:txBody>
                  <a:tcPr>
                    <a:solidFill>
                      <a:srgbClr val="E8F0FE"/>
                    </a:solidFill>
                  </a:tcPr>
                </a:tc>
                <a:tc>
                  <a:txBody>
                    <a:bodyPr/>
                    <a:lstStyle/>
                    <a:p>
                      <a:pPr algn="ctr"/>
                      <a:r>
                        <a:rPr sz="750" b="0">
                          <a:solidFill>
                            <a:srgbClr val="202020"/>
                          </a:solidFill>
                        </a:rPr>
                        <a:t>0.020</a:t>
                      </a:r>
                    </a:p>
                  </a:txBody>
                  <a:tcPr>
                    <a:solidFill>
                      <a:srgbClr val="E8F0FE"/>
                    </a:solidFill>
                  </a:tcPr>
                </a:tc>
                <a:tc>
                  <a:txBody>
                    <a:bodyPr/>
                    <a:lstStyle/>
                    <a:p>
                      <a:pPr algn="ctr"/>
                      <a:r>
                        <a:rPr sz="750" b="0">
                          <a:solidFill>
                            <a:srgbClr val="202020"/>
                          </a:solidFill>
                        </a:rPr>
                        <a:t>0.021</a:t>
                      </a:r>
                    </a:p>
                  </a:txBody>
                  <a:tcPr>
                    <a:solidFill>
                      <a:srgbClr val="E8F0FE"/>
                    </a:solidFill>
                  </a:tcPr>
                </a:tc>
                <a:tc>
                  <a:txBody>
                    <a:bodyPr/>
                    <a:lstStyle/>
                    <a:p>
                      <a:pPr algn="ctr"/>
                      <a:r>
                        <a:rPr sz="750" b="0">
                          <a:solidFill>
                            <a:srgbClr val="202020"/>
                          </a:solidFill>
                        </a:rPr>
                        <a:t>0.020</a:t>
                      </a:r>
                    </a:p>
                  </a:txBody>
                  <a:tcPr>
                    <a:solidFill>
                      <a:srgbClr val="E8F0FE"/>
                    </a:solidFill>
                  </a:tcPr>
                </a:tc>
              </a:tr>
              <a:tr h="287382">
                <a:tc>
                  <a:txBody>
                    <a:bodyPr/>
                    <a:lstStyle/>
                    <a:p>
                      <a:pPr algn="l"/>
                      <a:r>
                        <a:rPr sz="750" b="1">
                          <a:solidFill>
                            <a:srgbClr val="202020"/>
                          </a:solidFill>
                        </a:rPr>
                        <a:t>CNN TL</a:t>
                      </a:r>
                    </a:p>
                  </a:txBody>
                  <a:tcPr>
                    <a:solidFill>
                      <a:srgbClr val="FFFFFF"/>
                    </a:solidFill>
                  </a:tcPr>
                </a:tc>
                <a:tc>
                  <a:txBody>
                    <a:bodyPr/>
                    <a:lstStyle/>
                    <a:p>
                      <a:pPr algn="ctr"/>
                      <a:r>
                        <a:rPr sz="750" b="0">
                          <a:solidFill>
                            <a:srgbClr val="202020"/>
                          </a:solidFill>
                        </a:rPr>
                        <a:t>0.068</a:t>
                      </a:r>
                    </a:p>
                  </a:txBody>
                  <a:tcPr>
                    <a:solidFill>
                      <a:srgbClr val="FFFFFF"/>
                    </a:solidFill>
                  </a:tcPr>
                </a:tc>
                <a:tc>
                  <a:txBody>
                    <a:bodyPr/>
                    <a:lstStyle/>
                    <a:p>
                      <a:pPr algn="ctr"/>
                      <a:r>
                        <a:rPr sz="750" b="0">
                          <a:solidFill>
                            <a:srgbClr val="202020"/>
                          </a:solidFill>
                        </a:rPr>
                        <a:t>0.045</a:t>
                      </a:r>
                    </a:p>
                  </a:txBody>
                  <a:tcPr>
                    <a:solidFill>
                      <a:srgbClr val="FFFFFF"/>
                    </a:solidFill>
                  </a:tcPr>
                </a:tc>
                <a:tc>
                  <a:txBody>
                    <a:bodyPr/>
                    <a:lstStyle/>
                    <a:p>
                      <a:pPr algn="ctr"/>
                      <a:r>
                        <a:rPr sz="750" b="0">
                          <a:solidFill>
                            <a:srgbClr val="202020"/>
                          </a:solidFill>
                        </a:rPr>
                        <a:t>0.023</a:t>
                      </a:r>
                    </a:p>
                  </a:txBody>
                  <a:tcPr>
                    <a:solidFill>
                      <a:srgbClr val="FFFFFF"/>
                    </a:solidFill>
                  </a:tcPr>
                </a:tc>
                <a:tc>
                  <a:txBody>
                    <a:bodyPr/>
                    <a:lstStyle/>
                    <a:p>
                      <a:pPr algn="ctr"/>
                      <a:r>
                        <a:rPr sz="750" b="0">
                          <a:solidFill>
                            <a:srgbClr val="202020"/>
                          </a:solidFill>
                        </a:rPr>
                        <a:t>0.045</a:t>
                      </a:r>
                    </a:p>
                  </a:txBody>
                  <a:tcPr>
                    <a:solidFill>
                      <a:srgbClr val="FFFFFF"/>
                    </a:solidFill>
                  </a:tcPr>
                </a:tc>
              </a:tr>
              <a:tr h="287382">
                <a:tc>
                  <a:txBody>
                    <a:bodyPr/>
                    <a:lstStyle/>
                    <a:p>
                      <a:pPr algn="l"/>
                      <a:r>
                        <a:rPr sz="750" b="1">
                          <a:solidFill>
                            <a:srgbClr val="202020"/>
                          </a:solidFill>
                        </a:rPr>
                        <a:t>Intermediate TL</a:t>
                      </a:r>
                    </a:p>
                  </a:txBody>
                  <a:tcPr>
                    <a:solidFill>
                      <a:srgbClr val="E8F0FE"/>
                    </a:solidFill>
                  </a:tcPr>
                </a:tc>
                <a:tc>
                  <a:txBody>
                    <a:bodyPr/>
                    <a:lstStyle/>
                    <a:p>
                      <a:pPr algn="ctr"/>
                      <a:r>
                        <a:rPr sz="750" b="0">
                          <a:solidFill>
                            <a:srgbClr val="202020"/>
                          </a:solidFill>
                        </a:rPr>
                        <a:t>0.076</a:t>
                      </a:r>
                    </a:p>
                  </a:txBody>
                  <a:tcPr>
                    <a:solidFill>
                      <a:srgbClr val="E8F0FE"/>
                    </a:solidFill>
                  </a:tcPr>
                </a:tc>
                <a:tc>
                  <a:txBody>
                    <a:bodyPr/>
                    <a:lstStyle/>
                    <a:p>
                      <a:pPr algn="ctr"/>
                      <a:r>
                        <a:rPr sz="750" b="0">
                          <a:solidFill>
                            <a:srgbClr val="202020"/>
                          </a:solidFill>
                        </a:rPr>
                        <a:t>0.054</a:t>
                      </a:r>
                    </a:p>
                  </a:txBody>
                  <a:tcPr>
                    <a:solidFill>
                      <a:srgbClr val="E8F0FE"/>
                    </a:solidFill>
                  </a:tcPr>
                </a:tc>
                <a:tc>
                  <a:txBody>
                    <a:bodyPr/>
                    <a:lstStyle/>
                    <a:p>
                      <a:pPr algn="ctr"/>
                      <a:r>
                        <a:rPr sz="750" b="0">
                          <a:solidFill>
                            <a:srgbClr val="202020"/>
                          </a:solidFill>
                        </a:rPr>
                        <a:t>0.030</a:t>
                      </a:r>
                    </a:p>
                  </a:txBody>
                  <a:tcPr>
                    <a:solidFill>
                      <a:srgbClr val="E8F0FE"/>
                    </a:solidFill>
                  </a:tcPr>
                </a:tc>
                <a:tc>
                  <a:txBody>
                    <a:bodyPr/>
                    <a:lstStyle/>
                    <a:p>
                      <a:pPr algn="ctr"/>
                      <a:r>
                        <a:rPr sz="750" b="0">
                          <a:solidFill>
                            <a:srgbClr val="202020"/>
                          </a:solidFill>
                        </a:rPr>
                        <a:t>0.054</a:t>
                      </a:r>
                    </a:p>
                  </a:txBody>
                  <a:tcPr>
                    <a:solidFill>
                      <a:srgbClr val="E8F0FE"/>
                    </a:solidFill>
                  </a:tcPr>
                </a:tc>
              </a:tr>
              <a:tr h="287388">
                <a:tc>
                  <a:txBody>
                    <a:bodyPr/>
                    <a:lstStyle/>
                    <a:p>
                      <a:pPr algn="l"/>
                      <a:r>
                        <a:rPr sz="750" b="1">
                          <a:solidFill>
                            <a:srgbClr val="202020"/>
                          </a:solidFill>
                        </a:rPr>
                        <a:t>Late Fusion</a:t>
                      </a:r>
                    </a:p>
                  </a:txBody>
                  <a:tcPr>
                    <a:solidFill>
                      <a:srgbClr val="FFFFFF"/>
                    </a:solidFill>
                  </a:tcPr>
                </a:tc>
                <a:tc>
                  <a:txBody>
                    <a:bodyPr/>
                    <a:lstStyle/>
                    <a:p>
                      <a:pPr algn="ctr"/>
                      <a:r>
                        <a:rPr sz="750" b="0">
                          <a:solidFill>
                            <a:srgbClr val="202020"/>
                          </a:solidFill>
                        </a:rPr>
                        <a:t>0.004</a:t>
                      </a:r>
                    </a:p>
                  </a:txBody>
                  <a:tcPr>
                    <a:solidFill>
                      <a:srgbClr val="FFFFFF"/>
                    </a:solidFill>
                  </a:tcPr>
                </a:tc>
                <a:tc>
                  <a:txBody>
                    <a:bodyPr/>
                    <a:lstStyle/>
                    <a:p>
                      <a:pPr algn="ctr"/>
                      <a:r>
                        <a:rPr sz="750" b="0">
                          <a:solidFill>
                            <a:srgbClr val="202020"/>
                          </a:solidFill>
                        </a:rPr>
                        <a:t>0.009</a:t>
                      </a:r>
                    </a:p>
                  </a:txBody>
                  <a:tcPr>
                    <a:solidFill>
                      <a:srgbClr val="FFFFFF"/>
                    </a:solidFill>
                  </a:tcPr>
                </a:tc>
                <a:tc>
                  <a:txBody>
                    <a:bodyPr/>
                    <a:lstStyle/>
                    <a:p>
                      <a:pPr algn="ctr"/>
                      <a:r>
                        <a:rPr sz="750" b="0">
                          <a:solidFill>
                            <a:srgbClr val="202020"/>
                          </a:solidFill>
                        </a:rPr>
                        <a:t>0.000</a:t>
                      </a:r>
                    </a:p>
                  </a:txBody>
                  <a:tcPr>
                    <a:solidFill>
                      <a:srgbClr val="FFFFFF"/>
                    </a:solidFill>
                  </a:tcPr>
                </a:tc>
                <a:tc>
                  <a:txBody>
                    <a:bodyPr/>
                    <a:lstStyle/>
                    <a:p>
                      <a:pPr algn="ctr"/>
                      <a:r>
                        <a:rPr sz="750" b="0">
                          <a:solidFill>
                            <a:srgbClr val="202020"/>
                          </a:solidFill>
                        </a:rPr>
                        <a:t>0.009</a:t>
                      </a:r>
                    </a:p>
                  </a:txBody>
                  <a:tcPr>
                    <a:solidFill>
                      <a:srgbClr val="FFFFFF"/>
                    </a:solidFill>
                  </a:tcPr>
                </a:tc>
              </a:tr>
              <a:tr h="287388">
                <a:tc>
                  <a:txBody>
                    <a:bodyPr/>
                    <a:lstStyle/>
                    <a:p>
                      <a:pPr algn="l"/>
                      <a:r>
                        <a:rPr sz="750" b="1">
                          <a:solidFill>
                            <a:srgbClr val="202020"/>
                          </a:solidFill>
                        </a:rPr>
                        <a:t>Early Fusion</a:t>
                      </a:r>
                    </a:p>
                  </a:txBody>
                  <a:tcPr>
                    <a:solidFill>
                      <a:srgbClr val="FFFFFF"/>
                    </a:solidFill>
                  </a:tcPr>
                </a:tc>
                <a:tc>
                  <a:txBody>
                    <a:bodyPr/>
                    <a:lstStyle/>
                    <a:p>
                      <a:pPr algn="ctr"/>
                      <a:r>
                        <a:rPr sz="750" b="0">
                          <a:solidFill>
                            <a:srgbClr val="202020"/>
                          </a:solidFill>
                        </a:rPr>
                        <a:t>0.039</a:t>
                      </a:r>
                    </a:p>
                  </a:txBody>
                  <a:tcPr>
                    <a:solidFill>
                      <a:srgbClr val="FFFFFF"/>
                    </a:solidFill>
                  </a:tcPr>
                </a:tc>
                <a:tc>
                  <a:txBody>
                    <a:bodyPr/>
                    <a:lstStyle/>
                    <a:p>
                      <a:pPr algn="ctr"/>
                      <a:r>
                        <a:rPr sz="750" b="0">
                          <a:solidFill>
                            <a:srgbClr val="202020"/>
                          </a:solidFill>
                        </a:rPr>
                        <a:t>0.040</a:t>
                      </a:r>
                    </a:p>
                  </a:txBody>
                  <a:tcPr>
                    <a:solidFill>
                      <a:srgbClr val="FFFFFF"/>
                    </a:solidFill>
                  </a:tcPr>
                </a:tc>
                <a:tc>
                  <a:txBody>
                    <a:bodyPr/>
                    <a:lstStyle/>
                    <a:p>
                      <a:pPr algn="ctr"/>
                      <a:r>
                        <a:rPr sz="750" b="0">
                          <a:solidFill>
                            <a:srgbClr val="202020"/>
                          </a:solidFill>
                        </a:rPr>
                        <a:t>0.023</a:t>
                      </a:r>
                    </a:p>
                  </a:txBody>
                  <a:tcPr>
                    <a:solidFill>
                      <a:srgbClr val="FFFFFF"/>
                    </a:solidFill>
                  </a:tcPr>
                </a:tc>
                <a:tc>
                  <a:txBody>
                    <a:bodyPr/>
                    <a:lstStyle/>
                    <a:p>
                      <a:pPr algn="ctr"/>
                      <a:r>
                        <a:rPr sz="750" b="0">
                          <a:solidFill>
                            <a:srgbClr val="202020"/>
                          </a:solidFill>
                        </a:rPr>
                        <a:t>0.040</a:t>
                      </a:r>
                    </a:p>
                  </a:txBody>
                  <a:tcPr>
                    <a:solidFill>
                      <a:srgbClr val="FFFFFF"/>
                    </a:solidFill>
                  </a:tcPr>
                </a:tc>
              </a:tr>
              <a:tr h="287388">
                <a:tc>
                  <a:txBody>
                    <a:bodyPr/>
                    <a:lstStyle/>
                    <a:p>
                      <a:pPr algn="l"/>
                      <a:r>
                        <a:rPr sz="750" b="1">
                          <a:solidFill>
                            <a:srgbClr val="202020"/>
                          </a:solidFill>
                        </a:rPr>
                        <a:t>Early Fusion TL</a:t>
                      </a:r>
                    </a:p>
                  </a:txBody>
                  <a:tcPr>
                    <a:solidFill>
                      <a:srgbClr val="FFFFFF"/>
                    </a:solidFill>
                  </a:tcPr>
                </a:tc>
                <a:tc>
                  <a:txBody>
                    <a:bodyPr/>
                    <a:lstStyle/>
                    <a:p>
                      <a:pPr algn="ctr"/>
                      <a:r>
                        <a:rPr sz="750" b="0">
                          <a:solidFill>
                            <a:srgbClr val="202020"/>
                          </a:solidFill>
                        </a:rPr>
                        <a:t>0.104</a:t>
                      </a:r>
                    </a:p>
                  </a:txBody>
                  <a:tcPr>
                    <a:solidFill>
                      <a:srgbClr val="FFFFFF"/>
                    </a:solidFill>
                  </a:tcPr>
                </a:tc>
                <a:tc>
                  <a:txBody>
                    <a:bodyPr/>
                    <a:lstStyle/>
                    <a:p>
                      <a:pPr algn="ctr"/>
                      <a:r>
                        <a:rPr sz="750" b="0">
                          <a:solidFill>
                            <a:srgbClr val="202020"/>
                          </a:solidFill>
                        </a:rPr>
                        <a:t>0.101</a:t>
                      </a:r>
                    </a:p>
                  </a:txBody>
                  <a:tcPr>
                    <a:solidFill>
                      <a:srgbClr val="FFFFFF"/>
                    </a:solidFill>
                  </a:tcPr>
                </a:tc>
                <a:tc>
                  <a:txBody>
                    <a:bodyPr/>
                    <a:lstStyle/>
                    <a:p>
                      <a:pPr algn="ctr"/>
                      <a:r>
                        <a:rPr sz="750" b="0">
                          <a:solidFill>
                            <a:srgbClr val="202020"/>
                          </a:solidFill>
                        </a:rPr>
                        <a:t>0.152</a:t>
                      </a:r>
                    </a:p>
                  </a:txBody>
                  <a:tcPr>
                    <a:solidFill>
                      <a:srgbClr val="FFFFFF"/>
                    </a:solidFill>
                  </a:tcPr>
                </a:tc>
                <a:tc>
                  <a:txBody>
                    <a:bodyPr/>
                    <a:lstStyle/>
                    <a:p>
                      <a:pPr algn="ctr"/>
                      <a:r>
                        <a:rPr sz="750" b="0">
                          <a:solidFill>
                            <a:srgbClr val="202020"/>
                          </a:solidFill>
                        </a:rPr>
                        <a:t>0.101</a:t>
                      </a:r>
                    </a:p>
                  </a:txBody>
                  <a:tcPr>
                    <a:solidFill>
                      <a:srgbClr val="FFFFFF"/>
                    </a:solidFill>
                  </a:tcPr>
                </a:tc>
              </a:tr>
              <a:tr h="287388">
                <a:tc>
                  <a:txBody>
                    <a:bodyPr/>
                    <a:lstStyle/>
                    <a:p>
                      <a:pPr algn="l"/>
                      <a:r>
                        <a:rPr sz="750" b="1">
                          <a:solidFill>
                            <a:srgbClr val="202020"/>
                          </a:solidFill>
                        </a:rPr>
                        <a:t>Late Fusion TL</a:t>
                      </a:r>
                    </a:p>
                  </a:txBody>
                  <a:tcPr>
                    <a:solidFill>
                      <a:srgbClr val="FFFFFF"/>
                    </a:solidFill>
                  </a:tcPr>
                </a:tc>
                <a:tc>
                  <a:txBody>
                    <a:bodyPr/>
                    <a:lstStyle/>
                    <a:p>
                      <a:pPr algn="ctr"/>
                      <a:r>
                        <a:rPr sz="750" b="0">
                          <a:solidFill>
                            <a:srgbClr val="202020"/>
                          </a:solidFill>
                        </a:rPr>
                        <a:t>0.017</a:t>
                      </a:r>
                    </a:p>
                  </a:txBody>
                  <a:tcPr>
                    <a:solidFill>
                      <a:srgbClr val="FFFFFF"/>
                    </a:solidFill>
                  </a:tcPr>
                </a:tc>
                <a:tc>
                  <a:txBody>
                    <a:bodyPr/>
                    <a:lstStyle/>
                    <a:p>
                      <a:pPr algn="ctr"/>
                      <a:r>
                        <a:rPr sz="750" b="0">
                          <a:solidFill>
                            <a:srgbClr val="202020"/>
                          </a:solidFill>
                        </a:rPr>
                        <a:t>0.011</a:t>
                      </a:r>
                    </a:p>
                  </a:txBody>
                  <a:tcPr>
                    <a:solidFill>
                      <a:srgbClr val="FFFFFF"/>
                    </a:solidFill>
                  </a:tcPr>
                </a:tc>
                <a:tc>
                  <a:txBody>
                    <a:bodyPr/>
                    <a:lstStyle/>
                    <a:p>
                      <a:pPr algn="ctr"/>
                      <a:r>
                        <a:rPr sz="750" b="0">
                          <a:solidFill>
                            <a:srgbClr val="202020"/>
                          </a:solidFill>
                        </a:rPr>
                        <a:t>0.003</a:t>
                      </a:r>
                    </a:p>
                  </a:txBody>
                  <a:tcPr>
                    <a:solidFill>
                      <a:srgbClr val="FFFFFF"/>
                    </a:solidFill>
                  </a:tcPr>
                </a:tc>
                <a:tc>
                  <a:txBody>
                    <a:bodyPr/>
                    <a:lstStyle/>
                    <a:p>
                      <a:pPr algn="ctr"/>
                      <a:r>
                        <a:rPr sz="750" b="0">
                          <a:solidFill>
                            <a:srgbClr val="202020"/>
                          </a:solidFill>
                        </a:rPr>
                        <a:t>0.011</a:t>
                      </a:r>
                    </a:p>
                  </a:txBody>
                  <a:tcPr>
                    <a:solidFill>
                      <a:srgbClr val="FFFFFF"/>
                    </a:solidFill>
                  </a:tcPr>
                </a:tc>
              </a:tr>
            </a:tbl>
          </a:graphicData>
        </a:graphic>
      </p:graphicFrame>
      <p:sp>
        <p:nvSpPr>
          <p:cNvPr id="12" name="TextBox 11"/>
          <p:cNvSpPr txBox="1"/>
          <p:nvPr/>
        </p:nvSpPr>
        <p:spPr>
          <a:xfrm>
            <a:off x="274320" y="5120640"/>
            <a:ext cx="8595360" cy="1097280"/>
          </a:xfrm>
          <a:prstGeom prst="rect">
            <a:avLst/>
          </a:prstGeom>
          <a:solidFill>
            <a:srgbClr val="E6F4EA"/>
          </a:solidFill>
        </p:spPr>
        <p:txBody>
          <a:bodyPr wrap="square">
            <a:spAutoFit/>
          </a:bodyPr>
          <a:lstStyle/>
          <a:p>
            <a:pPr algn="l"/>
            <a:r>
              <a:rPr sz="1000" b="1" i="0">
                <a:solidFill>
                  <a:srgbClr val="0F9D58"/>
                </a:solidFill>
              </a:rPr>
              <a:t>Kesimpulan Skema 2</a:t>
            </a:r>
          </a:p>
          <a:p>
            <a:pPr algn="l"/>
            <a:r>
              <a:rPr sz="850" b="0" i="0">
                <a:solidFill>
                  <a:srgbClr val="202020"/>
                </a:solidFill>
              </a:rPr>
              <a:t>• RAF-DB 4c paling robust untuk transfer (best 0.269 via Intermediate) — masih jauh dari Primer self (0.521, val-tuned)</a:t>
            </a:r>
          </a:p>
          <a:p>
            <a:pPr algn="l"/>
            <a:r>
              <a:rPr sz="850" b="0" i="0">
                <a:solidFill>
                  <a:srgbClr val="202020"/>
                </a:solidFill>
              </a:rPr>
              <a:t>• KDEF → Primer catastrophic (&lt;0.08 Macro F1 semua combo) — lab high-quality tidak transfer ke natural</a:t>
            </a:r>
          </a:p>
          <a:p>
            <a:pPr algn="l"/>
            <a:r>
              <a:rPr sz="850" b="0" i="0">
                <a:solidFill>
                  <a:srgbClr val="202020"/>
                </a:solidFill>
              </a:rPr>
              <a:t>• FCNN (landmark) / Intermediate Fusion paling tahan domain shift; CNN murni paling rentan</a:t>
            </a:r>
          </a:p>
          <a:p>
            <a:pPr algn="l"/>
            <a:r>
              <a:rPr sz="850" b="1" i="0">
                <a:solidFill>
                  <a:srgbClr val="0F9D58"/>
                </a:solidFill>
              </a:rPr>
              <a:t>• Justifikasi kuat: Primer self-training + conf60 + fusion + augmentation lebih baik daripada TL dari public</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274320" y="91440"/>
            <a:ext cx="8595360" cy="411480"/>
          </a:xfrm>
          <a:prstGeom prst="rect">
            <a:avLst/>
          </a:prstGeom>
          <a:noFill/>
        </p:spPr>
        <p:txBody>
          <a:bodyPr wrap="none">
            <a:spAutoFit/>
          </a:bodyPr>
          <a:lstStyle/>
          <a:p>
            <a:pPr algn="l"/>
            <a:r>
              <a:rPr sz="1800" b="1"/>
              <a:t>SLIDE 33: Soft Label Training — Eksplorasi Selesai (Negative Result)</a:t>
            </a:r>
          </a:p>
        </p:txBody>
      </p:sp>
      <p:sp>
        <p:nvSpPr>
          <p:cNvPr id="4" name="TextBox 3"/>
          <p:cNvSpPr txBox="1"/>
          <p:nvPr/>
        </p:nvSpPr>
        <p:spPr>
          <a:xfrm>
            <a:off x="274320" y="548640"/>
            <a:ext cx="8595360" cy="228600"/>
          </a:xfrm>
          <a:prstGeom prst="rect">
            <a:avLst/>
          </a:prstGeom>
          <a:noFill/>
        </p:spPr>
        <p:txBody>
          <a:bodyPr wrap="none">
            <a:spAutoFit/>
          </a:bodyPr>
          <a:lstStyle/>
          <a:p>
            <a:pPr algn="l"/>
            <a:r>
              <a:rPr sz="1000" b="0"/>
              <a:t>Konsolidasi nb 71 (CNN TL) + nb 72 (Late Fusion TL) + nb 78 (Intermediate TL) — 4 loss × 3 arsitektur, hyperparam align (EPOCHS=50, LR=5e-5), selection by val macro.</a:t>
            </a:r>
          </a:p>
        </p:txBody>
      </p:sp>
      <p:graphicFrame>
        <p:nvGraphicFramePr>
          <p:cNvPr id="5" name="Table 4"/>
          <p:cNvGraphicFramePr>
            <a:graphicFrameLocks noGrp="1"/>
          </p:cNvGraphicFramePr>
          <p:nvPr/>
        </p:nvGraphicFramePr>
        <p:xfrm>
          <a:off x="274320" y="822960"/>
          <a:ext cx="8595358" cy="1920240"/>
        </p:xfrm>
        <a:graphic>
          <a:graphicData uri="http://schemas.openxmlformats.org/drawingml/2006/table">
            <a:tbl>
              <a:tblPr firstRow="1" bandRow="1"/>
              <a:tblGrid>
                <a:gridCol w="2865120"/>
                <a:gridCol w="1833676"/>
                <a:gridCol w="1833676"/>
                <a:gridCol w="2062886"/>
              </a:tblGrid>
              <a:tr h="320040">
                <a:tc>
                  <a:txBody>
                    <a:bodyPr/>
                    <a:lstStyle/>
                    <a:p>
                      <a:pPr algn="ctr"/>
                      <a:r>
                        <a:rPr sz="900" b="1">
                          <a:solidFill>
                            <a:srgbClr val="FFFFFF"/>
                          </a:solidFill>
                        </a:rPr>
                        <a:t>Arsitektur</a:t>
                      </a:r>
                    </a:p>
                  </a:txBody>
                  <a:tcPr>
                    <a:solidFill>
                      <a:srgbClr val="1A73E8"/>
                    </a:solidFill>
                  </a:tcPr>
                </a:tc>
                <a:tc>
                  <a:txBody>
                    <a:bodyPr/>
                    <a:lstStyle/>
                    <a:p>
                      <a:pPr algn="ctr"/>
                      <a:r>
                        <a:rPr sz="900" b="1">
                          <a:solidFill>
                            <a:srgbClr val="FFFFFF"/>
                          </a:solidFill>
                        </a:rPr>
                        <a:t>A Hard CE</a:t>
                      </a:r>
                    </a:p>
                  </a:txBody>
                  <a:tcPr>
                    <a:solidFill>
                      <a:srgbClr val="1A73E8"/>
                    </a:solidFill>
                  </a:tcPr>
                </a:tc>
                <a:tc>
                  <a:txBody>
                    <a:bodyPr/>
                    <a:lstStyle/>
                    <a:p>
                      <a:pPr algn="ctr"/>
                      <a:r>
                        <a:rPr sz="900" b="1">
                          <a:solidFill>
                            <a:srgbClr val="FFFFFF"/>
                          </a:solidFill>
                        </a:rPr>
                        <a:t>C KL-div</a:t>
                      </a:r>
                    </a:p>
                  </a:txBody>
                  <a:tcPr>
                    <a:solidFill>
                      <a:srgbClr val="1A73E8"/>
                    </a:solidFill>
                  </a:tcPr>
                </a:tc>
                <a:tc>
                  <a:txBody>
                    <a:bodyPr/>
                    <a:lstStyle/>
                    <a:p>
                      <a:pPr algn="ctr"/>
                      <a:r>
                        <a:rPr sz="900" b="1">
                          <a:solidFill>
                            <a:srgbClr val="FFFFFF"/>
                          </a:solidFill>
                        </a:rPr>
                        <a:t>Kesimpulan</a:t>
                      </a:r>
                    </a:p>
                  </a:txBody>
                  <a:tcPr>
                    <a:solidFill>
                      <a:srgbClr val="1A73E8"/>
                    </a:solidFill>
                  </a:tcPr>
                </a:tc>
              </a:tr>
              <a:tr h="320040">
                <a:tc>
                  <a:txBody>
                    <a:bodyPr/>
                    <a:lstStyle/>
                    <a:p>
                      <a:pPr algn="l"/>
                      <a:r>
                        <a:rPr sz="850" b="1">
                          <a:solidFill>
                            <a:srgbClr val="202020"/>
                          </a:solidFill>
                        </a:rPr>
                        <a:t>CNN TL 4c B1 (nb 71)</a:t>
                      </a:r>
                    </a:p>
                  </a:txBody>
                  <a:tcPr>
                    <a:solidFill>
                      <a:srgbClr val="E8F0FE"/>
                    </a:solidFill>
                  </a:tcPr>
                </a:tc>
                <a:tc>
                  <a:txBody>
                    <a:bodyPr/>
                    <a:lstStyle/>
                    <a:p>
                      <a:pPr algn="ctr"/>
                      <a:r>
                        <a:rPr sz="850" b="0">
                          <a:solidFill>
                            <a:srgbClr val="202020"/>
                          </a:solidFill>
                        </a:rPr>
                        <a:t>0.432</a:t>
                      </a:r>
                    </a:p>
                  </a:txBody>
                  <a:tcPr>
                    <a:solidFill>
                      <a:srgbClr val="E8F0FE"/>
                    </a:solidFill>
                  </a:tcPr>
                </a:tc>
                <a:tc>
                  <a:txBody>
                    <a:bodyPr/>
                    <a:lstStyle/>
                    <a:p>
                      <a:pPr algn="ctr"/>
                      <a:r>
                        <a:rPr sz="850" b="0">
                          <a:solidFill>
                            <a:srgbClr val="202020"/>
                          </a:solidFill>
                        </a:rPr>
                        <a:t>0.427</a:t>
                      </a:r>
                    </a:p>
                  </a:txBody>
                  <a:tcPr>
                    <a:solidFill>
                      <a:srgbClr val="E8F0FE"/>
                    </a:solidFill>
                  </a:tcPr>
                </a:tc>
                <a:tc>
                  <a:txBody>
                    <a:bodyPr/>
                    <a:lstStyle/>
                    <a:p>
                      <a:pPr algn="ctr"/>
                      <a:r>
                        <a:rPr sz="850" b="0">
                          <a:solidFill>
                            <a:srgbClr val="202020"/>
                          </a:solidFill>
                        </a:rPr>
                        <a:t>Tied dalam variance (val N/A)</a:t>
                      </a:r>
                    </a:p>
                  </a:txBody>
                  <a:tcPr>
                    <a:solidFill>
                      <a:srgbClr val="E8F0FE"/>
                    </a:solidFill>
                  </a:tcPr>
                </a:tc>
              </a:tr>
              <a:tr h="320040">
                <a:tc>
                  <a:txBody>
                    <a:bodyPr/>
                    <a:lstStyle/>
                    <a:p>
                      <a:pPr algn="l"/>
                      <a:r>
                        <a:rPr sz="850" b="1">
                          <a:solidFill>
                            <a:srgbClr val="202020"/>
                          </a:solidFill>
                        </a:rPr>
                        <a:t>Late Fusion TL 4c (nb 72)</a:t>
                      </a:r>
                    </a:p>
                  </a:txBody>
                  <a:tcPr>
                    <a:solidFill>
                      <a:srgbClr val="FFFFFF"/>
                    </a:solidFill>
                  </a:tcPr>
                </a:tc>
                <a:tc>
                  <a:txBody>
                    <a:bodyPr/>
                    <a:lstStyle/>
                    <a:p>
                      <a:pPr algn="ctr"/>
                      <a:r>
                        <a:rPr sz="850" b="0">
                          <a:solidFill>
                            <a:srgbClr val="202020"/>
                          </a:solidFill>
                        </a:rPr>
                        <a:t>—</a:t>
                      </a:r>
                    </a:p>
                  </a:txBody>
                  <a:tcPr>
                    <a:solidFill>
                      <a:srgbClr val="FFFFFF"/>
                    </a:solidFill>
                  </a:tcPr>
                </a:tc>
                <a:tc>
                  <a:txBody>
                    <a:bodyPr/>
                    <a:lstStyle/>
                    <a:p>
                      <a:pPr algn="ctr"/>
                      <a:r>
                        <a:rPr sz="850" b="0">
                          <a:solidFill>
                            <a:srgbClr val="202020"/>
                          </a:solidFill>
                        </a:rPr>
                        <a:t>0.437</a:t>
                      </a:r>
                    </a:p>
                  </a:txBody>
                  <a:tcPr>
                    <a:solidFill>
                      <a:srgbClr val="FFFFFF"/>
                    </a:solidFill>
                  </a:tcPr>
                </a:tc>
                <a:tc>
                  <a:txBody>
                    <a:bodyPr/>
                    <a:lstStyle/>
                    <a:p>
                      <a:pPr algn="ctr"/>
                      <a:r>
                        <a:rPr sz="850" b="0">
                          <a:solidFill>
                            <a:srgbClr val="202020"/>
                          </a:solidFill>
                        </a:rPr>
                        <a:t>&lt; baseline val-tuned 0.466</a:t>
                      </a:r>
                    </a:p>
                  </a:txBody>
                  <a:tcPr>
                    <a:solidFill>
                      <a:srgbClr val="FFFFFF"/>
                    </a:solidFill>
                  </a:tcPr>
                </a:tc>
              </a:tr>
              <a:tr h="320040">
                <a:tc>
                  <a:txBody>
                    <a:bodyPr/>
                    <a:lstStyle/>
                    <a:p>
                      <a:pPr algn="l"/>
                      <a:r>
                        <a:rPr sz="850" b="1">
                          <a:solidFill>
                            <a:srgbClr val="202020"/>
                          </a:solidFill>
                        </a:rPr>
                        <a:t>Intermediate TL 4c B1 (nb 78)</a:t>
                      </a:r>
                    </a:p>
                  </a:txBody>
                  <a:tcPr>
                    <a:solidFill>
                      <a:srgbClr val="E8F0FE"/>
                    </a:solidFill>
                  </a:tcPr>
                </a:tc>
                <a:tc>
                  <a:txBody>
                    <a:bodyPr/>
                    <a:lstStyle/>
                    <a:p>
                      <a:pPr algn="ctr"/>
                      <a:r>
                        <a:rPr sz="850" b="0">
                          <a:solidFill>
                            <a:srgbClr val="202020"/>
                          </a:solidFill>
                        </a:rPr>
                        <a:t>0.485</a:t>
                      </a:r>
                    </a:p>
                  </a:txBody>
                  <a:tcPr>
                    <a:solidFill>
                      <a:srgbClr val="E8F0FE"/>
                    </a:solidFill>
                  </a:tcPr>
                </a:tc>
                <a:tc>
                  <a:txBody>
                    <a:bodyPr/>
                    <a:lstStyle/>
                    <a:p>
                      <a:pPr algn="ctr"/>
                      <a:r>
                        <a:rPr sz="850" b="0">
                          <a:solidFill>
                            <a:srgbClr val="202020"/>
                          </a:solidFill>
                        </a:rPr>
                        <a:t>0.453</a:t>
                      </a:r>
                    </a:p>
                  </a:txBody>
                  <a:tcPr>
                    <a:solidFill>
                      <a:srgbClr val="E8F0FE"/>
                    </a:solidFill>
                  </a:tcPr>
                </a:tc>
                <a:tc>
                  <a:txBody>
                    <a:bodyPr/>
                    <a:lstStyle/>
                    <a:p>
                      <a:pPr algn="ctr"/>
                      <a:r>
                        <a:rPr sz="850" b="0">
                          <a:solidFill>
                            <a:srgbClr val="202020"/>
                          </a:solidFill>
                        </a:rPr>
                        <a:t>Hard CE juara by val (0.480)</a:t>
                      </a:r>
                    </a:p>
                  </a:txBody>
                  <a:tcPr>
                    <a:solidFill>
                      <a:srgbClr val="E8F0FE"/>
                    </a:solidFill>
                  </a:tcPr>
                </a:tc>
              </a:tr>
              <a:tr h="320040">
                <a:tc>
                  <a:txBody>
                    <a:bodyPr/>
                    <a:lstStyle/>
                    <a:p>
                      <a:pPr algn="l"/>
                      <a:r>
                        <a:rPr sz="850" b="1">
                          <a:solidFill>
                            <a:srgbClr val="202020"/>
                          </a:solidFill>
                        </a:rPr>
                        <a:t>Variance single-seed</a:t>
                      </a:r>
                    </a:p>
                  </a:txBody>
                  <a:tcPr>
                    <a:solidFill>
                      <a:srgbClr val="FFFFFF"/>
                    </a:solidFill>
                  </a:tcPr>
                </a:tc>
                <a:tc>
                  <a:txBody>
                    <a:bodyPr/>
                    <a:lstStyle/>
                    <a:p>
                      <a:pPr algn="ctr"/>
                      <a:r>
                        <a:rPr sz="850" b="0">
                          <a:solidFill>
                            <a:srgbClr val="202020"/>
                          </a:solidFill>
                        </a:rPr>
                        <a:t>±0.05-0.09</a:t>
                      </a:r>
                    </a:p>
                  </a:txBody>
                  <a:tcPr>
                    <a:solidFill>
                      <a:srgbClr val="FFFFFF"/>
                    </a:solidFill>
                  </a:tcPr>
                </a:tc>
                <a:tc>
                  <a:txBody>
                    <a:bodyPr/>
                    <a:lstStyle/>
                    <a:p>
                      <a:pPr algn="ctr"/>
                      <a:r>
                        <a:rPr sz="850" b="0">
                          <a:solidFill>
                            <a:srgbClr val="202020"/>
                          </a:solidFill>
                        </a:rPr>
                        <a:t>—</a:t>
                      </a:r>
                    </a:p>
                  </a:txBody>
                  <a:tcPr>
                    <a:solidFill>
                      <a:srgbClr val="FFFFFF"/>
                    </a:solidFill>
                  </a:tcPr>
                </a:tc>
                <a:tc>
                  <a:txBody>
                    <a:bodyPr/>
                    <a:lstStyle/>
                    <a:p>
                      <a:pPr algn="ctr"/>
                      <a:r>
                        <a:rPr sz="850" b="0">
                          <a:solidFill>
                            <a:srgbClr val="202020"/>
                          </a:solidFill>
                        </a:rPr>
                        <a:t>khas DL — multi-seed needed</a:t>
                      </a:r>
                    </a:p>
                  </a:txBody>
                  <a:tcPr>
                    <a:solidFill>
                      <a:srgbClr val="FFFFFF"/>
                    </a:solidFill>
                  </a:tcPr>
                </a:tc>
              </a:tr>
              <a:tr h="320040">
                <a:tc>
                  <a:txBody>
                    <a:bodyPr/>
                    <a:lstStyle/>
                    <a:p>
                      <a:pPr algn="l"/>
                      <a:r>
                        <a:rPr sz="850" b="1">
                          <a:solidFill>
                            <a:srgbClr val="202020"/>
                          </a:solidFill>
                        </a:rPr>
                        <a:t>Hipotesis</a:t>
                      </a:r>
                    </a:p>
                  </a:txBody>
                  <a:tcPr>
                    <a:solidFill>
                      <a:srgbClr val="E6F4EA"/>
                    </a:solidFill>
                  </a:tcPr>
                </a:tc>
                <a:tc>
                  <a:txBody>
                    <a:bodyPr/>
                    <a:lstStyle/>
                    <a:p>
                      <a:pPr algn="ctr"/>
                      <a:r>
                        <a:rPr sz="850" b="0">
                          <a:solidFill>
                            <a:srgbClr val="202020"/>
                          </a:solidFill>
                        </a:rPr>
                        <a:t>Tidak terkonfirmasi</a:t>
                      </a:r>
                    </a:p>
                  </a:txBody>
                  <a:tcPr>
                    <a:solidFill>
                      <a:srgbClr val="E6F4EA"/>
                    </a:solidFill>
                  </a:tcPr>
                </a:tc>
                <a:tc>
                  <a:txBody>
                    <a:bodyPr/>
                    <a:lstStyle/>
                    <a:p>
                      <a:pPr algn="ctr"/>
                      <a:r>
                        <a:rPr sz="850" b="0">
                          <a:solidFill>
                            <a:srgbClr val="202020"/>
                          </a:solidFill>
                        </a:rPr>
                        <a:t>—</a:t>
                      </a:r>
                    </a:p>
                  </a:txBody>
                  <a:tcPr>
                    <a:solidFill>
                      <a:srgbClr val="E6F4EA"/>
                    </a:solidFill>
                  </a:tcPr>
                </a:tc>
                <a:tc>
                  <a:txBody>
                    <a:bodyPr/>
                    <a:lstStyle/>
                    <a:p>
                      <a:pPr algn="ctr"/>
                      <a:r>
                        <a:rPr sz="850" b="0">
                          <a:solidFill>
                            <a:srgbClr val="202020"/>
                          </a:solidFill>
                        </a:rPr>
                        <a:t>STOP eksplorasi</a:t>
                      </a:r>
                    </a:p>
                  </a:txBody>
                  <a:tcPr>
                    <a:solidFill>
                      <a:srgbClr val="E6F4EA"/>
                    </a:solidFill>
                  </a:tcPr>
                </a:tc>
              </a:tr>
            </a:tbl>
          </a:graphicData>
        </a:graphic>
      </p:graphicFrame>
      <p:sp>
        <p:nvSpPr>
          <p:cNvPr id="6" name="TextBox 5"/>
          <p:cNvSpPr txBox="1"/>
          <p:nvPr/>
        </p:nvSpPr>
        <p:spPr>
          <a:xfrm>
            <a:off x="274320" y="2880360"/>
            <a:ext cx="8595360" cy="274320"/>
          </a:xfrm>
          <a:prstGeom prst="rect">
            <a:avLst/>
          </a:prstGeom>
          <a:noFill/>
        </p:spPr>
        <p:txBody>
          <a:bodyPr wrap="none">
            <a:spAutoFit/>
          </a:bodyPr>
          <a:lstStyle/>
          <a:p>
            <a:pPr algn="l"/>
            <a:r>
              <a:rPr sz="1200" b="1"/>
              <a:t>Temuan Konsolidasi (41-44)</a:t>
            </a:r>
          </a:p>
        </p:txBody>
      </p:sp>
      <p:sp>
        <p:nvSpPr>
          <p:cNvPr id="7" name="TextBox 6"/>
          <p:cNvSpPr txBox="1"/>
          <p:nvPr/>
        </p:nvSpPr>
        <p:spPr>
          <a:xfrm>
            <a:off x="274320" y="3200400"/>
            <a:ext cx="8595360" cy="658368"/>
          </a:xfrm>
          <a:prstGeom prst="rect">
            <a:avLst/>
          </a:prstGeom>
          <a:solidFill>
            <a:srgbClr val="E6F4EA"/>
          </a:solidFill>
        </p:spPr>
        <p:txBody>
          <a:bodyPr wrap="square">
            <a:spAutoFit/>
          </a:bodyPr>
          <a:lstStyle/>
          <a:p>
            <a:pPr algn="l"/>
            <a:r>
              <a:rPr sz="950" b="1"/>
              <a:t>T41: Single-seed variance ±0.05-0.09 — terlalu besar untuk klaim marginal</a:t>
            </a:r>
          </a:p>
          <a:p>
            <a:r>
              <a:rPr sz="900" b="0"/>
              <a:t>Gap antar loss config 0.02-0.03, di bawah variance. Mustahil klaim "soft label menang" tanpa multi-seed (3-5 run minimum).</a:t>
            </a:r>
          </a:p>
        </p:txBody>
      </p:sp>
      <p:sp>
        <p:nvSpPr>
          <p:cNvPr id="8" name="TextBox 7"/>
          <p:cNvSpPr txBox="1"/>
          <p:nvPr/>
        </p:nvSpPr>
        <p:spPr>
          <a:xfrm>
            <a:off x="274320" y="3931920"/>
            <a:ext cx="8595360" cy="594360"/>
          </a:xfrm>
          <a:prstGeom prst="rect">
            <a:avLst/>
          </a:prstGeom>
          <a:solidFill>
            <a:srgbClr val="FEF7E0"/>
          </a:solidFill>
        </p:spPr>
        <p:txBody>
          <a:bodyPr wrap="square">
            <a:spAutoFit/>
          </a:bodyPr>
          <a:lstStyle/>
          <a:p>
            <a:pPr algn="l"/>
            <a:r>
              <a:rPr sz="950" b="1"/>
              <a:t>T42: KL-div juara 0.517 di run sebelumnya adalah fluke</a:t>
            </a:r>
          </a:p>
          <a:p>
            <a:r>
              <a:rPr sz="900" b="0"/>
              <a:t>Re-run dengan setup konsisten kasih KL-div = 0.427 di CNN TL (selisih 0.09 dari run lama) — manifestasi pure seed/convergence variance.</a:t>
            </a:r>
          </a:p>
        </p:txBody>
      </p:sp>
      <p:sp>
        <p:nvSpPr>
          <p:cNvPr id="9" name="TextBox 8"/>
          <p:cNvSpPr txBox="1"/>
          <p:nvPr/>
        </p:nvSpPr>
        <p:spPr>
          <a:xfrm>
            <a:off x="274320" y="4590288"/>
            <a:ext cx="8595360" cy="594360"/>
          </a:xfrm>
          <a:prstGeom prst="rect">
            <a:avLst/>
          </a:prstGeom>
          <a:solidFill>
            <a:srgbClr val="FCE8E6"/>
          </a:solidFill>
        </p:spPr>
        <p:txBody>
          <a:bodyPr wrap="square">
            <a:spAutoFit/>
          </a:bodyPr>
          <a:lstStyle/>
          <a:p>
            <a:pPr algn="l"/>
            <a:r>
              <a:rPr sz="950" b="1"/>
              <a:t>T43: Soft label tidak transfer ke fusion</a:t>
            </a:r>
          </a:p>
          <a:p>
            <a:r>
              <a:rPr sz="900" b="0"/>
              <a:t>Late Fusion TL gagal (0.432-0.437 vs baseline 0.466). Intermediate TL: Hard CE menang by val. Modality interaction dominates over loss-function nuance.</a:t>
            </a:r>
          </a:p>
        </p:txBody>
      </p:sp>
      <p:sp>
        <p:nvSpPr>
          <p:cNvPr id="10" name="TextBox 9"/>
          <p:cNvSpPr txBox="1"/>
          <p:nvPr/>
        </p:nvSpPr>
        <p:spPr>
          <a:xfrm>
            <a:off x="274320" y="5248656"/>
            <a:ext cx="8595360" cy="594360"/>
          </a:xfrm>
          <a:prstGeom prst="rect">
            <a:avLst/>
          </a:prstGeom>
          <a:solidFill>
            <a:srgbClr val="E8F0FE"/>
          </a:solidFill>
        </p:spPr>
        <p:txBody>
          <a:bodyPr wrap="square">
            <a:spAutoFit/>
          </a:bodyPr>
          <a:lstStyle/>
          <a:p>
            <a:pPr algn="l"/>
            <a:r>
              <a:rPr sz="950" b="1"/>
              <a:t>T44: Status — stop eksplorasi soft label</a:t>
            </a:r>
          </a:p>
          <a:p>
            <a:r>
              <a:rPr sz="900" b="0"/>
              <a:t>Hipotesis tidak terkonfirmasi. Fokus pindah ke Geometric Features (Liliana Table 3) + GCN Preprocessing (Pitaloka 2017) yang potensinya lebih jelas.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8595360" cy="365760"/>
          </a:xfrm>
          <a:prstGeom prst="rect">
            <a:avLst/>
          </a:prstGeom>
          <a:noFill/>
        </p:spPr>
        <p:txBody>
          <a:bodyPr wrap="square" lIns="0" rIns="0" tIns="0" bIns="0">
            <a:spAutoFit/>
          </a:bodyPr>
          <a:lstStyle/>
          <a:p>
            <a:r>
              <a:rPr sz="1800" b="1" i="0"/>
              <a:t>SLIDE 34: GradCAM Observasi Awal (Eksplorasi, nb 73)</a:t>
            </a:r>
          </a:p>
        </p:txBody>
      </p:sp>
      <p:sp>
        <p:nvSpPr>
          <p:cNvPr id="3" name="TextBox 2"/>
          <p:cNvSpPr txBox="1"/>
          <p:nvPr/>
        </p:nvSpPr>
        <p:spPr>
          <a:xfrm>
            <a:off x="274320" y="475488"/>
            <a:ext cx="8595360" cy="256032"/>
          </a:xfrm>
          <a:prstGeom prst="rect">
            <a:avLst/>
          </a:prstGeom>
          <a:noFill/>
        </p:spPr>
        <p:txBody>
          <a:bodyPr wrap="square" lIns="0" rIns="0" tIns="0" bIns="0">
            <a:spAutoFit/>
          </a:bodyPr>
          <a:lstStyle/>
          <a:p>
            <a:r>
              <a:rPr sz="950" b="0" i="1">
                <a:solidFill>
                  <a:srgbClr val="555555"/>
                </a:solidFill>
              </a:rPr>
              <a:t>Visualisasi region citra paling berpengaruh per prediksi kelas — bandingkan 2 model di 8 sampel (2 per kelas × 4 kelas).</a:t>
            </a:r>
          </a:p>
        </p:txBody>
      </p:sp>
      <p:pic>
        <p:nvPicPr>
          <p:cNvPr id="4" name="Picture 3" descr="cnn_tl_4c_b1_baseline.png"/>
          <p:cNvPicPr>
            <a:picLocks noChangeAspect="1"/>
          </p:cNvPicPr>
          <p:nvPr/>
        </p:nvPicPr>
        <p:blipFill>
          <a:blip r:embed="rId2"/>
          <a:stretch>
            <a:fillRect/>
          </a:stretch>
        </p:blipFill>
        <p:spPr>
          <a:xfrm>
            <a:off x="228600" y="822960"/>
            <a:ext cx="4206240" cy="2176272"/>
          </a:xfrm>
          <a:prstGeom prst="rect">
            <a:avLst/>
          </a:prstGeom>
        </p:spPr>
      </p:pic>
      <p:sp>
        <p:nvSpPr>
          <p:cNvPr id="5" name="TextBox 4"/>
          <p:cNvSpPr txBox="1"/>
          <p:nvPr/>
        </p:nvSpPr>
        <p:spPr>
          <a:xfrm>
            <a:off x="228600" y="2999232"/>
            <a:ext cx="4206240" cy="228600"/>
          </a:xfrm>
          <a:prstGeom prst="rect">
            <a:avLst/>
          </a:prstGeom>
          <a:noFill/>
        </p:spPr>
        <p:txBody>
          <a:bodyPr wrap="square" lIns="0" rIns="0" tIns="0" bIns="0">
            <a:spAutoFit/>
          </a:bodyPr>
          <a:lstStyle/>
          <a:p>
            <a:r>
              <a:rPr sz="900" b="1" i="0"/>
              <a:t>CNN TL 4c B1 (single-modal, Macro F1 = 0.456)</a:t>
            </a:r>
          </a:p>
        </p:txBody>
      </p:sp>
      <p:pic>
        <p:nvPicPr>
          <p:cNvPr id="6" name="Picture 5" descr="intermediate_tl_4c_b3_img_branch.png"/>
          <p:cNvPicPr>
            <a:picLocks noChangeAspect="1"/>
          </p:cNvPicPr>
          <p:nvPr/>
        </p:nvPicPr>
        <p:blipFill>
          <a:blip r:embed="rId3"/>
          <a:stretch>
            <a:fillRect/>
          </a:stretch>
        </p:blipFill>
        <p:spPr>
          <a:xfrm>
            <a:off x="4709160" y="822960"/>
            <a:ext cx="4206240" cy="2176272"/>
          </a:xfrm>
          <a:prstGeom prst="rect">
            <a:avLst/>
          </a:prstGeom>
        </p:spPr>
      </p:pic>
      <p:sp>
        <p:nvSpPr>
          <p:cNvPr id="7" name="TextBox 6"/>
          <p:cNvSpPr txBox="1"/>
          <p:nvPr/>
        </p:nvSpPr>
        <p:spPr>
          <a:xfrm>
            <a:off x="4709160" y="2999232"/>
            <a:ext cx="4206240" cy="228600"/>
          </a:xfrm>
          <a:prstGeom prst="rect">
            <a:avLst/>
          </a:prstGeom>
          <a:noFill/>
        </p:spPr>
        <p:txBody>
          <a:bodyPr wrap="square" lIns="0" rIns="0" tIns="0" bIns="0">
            <a:spAutoFit/>
          </a:bodyPr>
          <a:lstStyle/>
          <a:p>
            <a:r>
              <a:rPr sz="900" b="1" i="0"/>
              <a:t>Intermediate TL 4c B3 image branch (juara val-tuned, Macro F1 = 0.521)</a:t>
            </a:r>
          </a:p>
        </p:txBody>
      </p:sp>
      <p:sp>
        <p:nvSpPr>
          <p:cNvPr id="8" name="TextBox 7"/>
          <p:cNvSpPr txBox="1"/>
          <p:nvPr/>
        </p:nvSpPr>
        <p:spPr>
          <a:xfrm>
            <a:off x="274320" y="3310128"/>
            <a:ext cx="8595360" cy="731520"/>
          </a:xfrm>
          <a:prstGeom prst="rect">
            <a:avLst/>
          </a:prstGeom>
          <a:noFill/>
        </p:spPr>
        <p:txBody>
          <a:bodyPr wrap="square" lIns="0" rIns="0" tIns="0" bIns="0">
            <a:spAutoFit/>
          </a:bodyPr>
          <a:lstStyle/>
          <a:p>
            <a:r>
              <a:rPr sz="950" b="0" i="0"/>
              <a:t>Observasi qualitative: CNN baseline → fokus tersebar ke non-emosi region (aksesori, tangan, pundak, background). Intermediate TL image branch → fokus konsisten di mouth-nose region di 8/8 sampel, bahkan saat occlusion (tangan menutup mulut).</a:t>
            </a:r>
          </a:p>
        </p:txBody>
      </p:sp>
      <p:sp>
        <p:nvSpPr>
          <p:cNvPr id="9" name="TextBox 8"/>
          <p:cNvSpPr txBox="1"/>
          <p:nvPr/>
        </p:nvSpPr>
        <p:spPr>
          <a:xfrm>
            <a:off x="274320" y="4069080"/>
            <a:ext cx="8595360" cy="1005840"/>
          </a:xfrm>
          <a:prstGeom prst="rect">
            <a:avLst/>
          </a:prstGeom>
          <a:noFill/>
        </p:spPr>
        <p:txBody>
          <a:bodyPr wrap="square" lIns="0" rIns="0" tIns="0" bIns="0">
            <a:spAutoFit/>
          </a:bodyPr>
          <a:lstStyle/>
          <a:p>
            <a:r>
              <a:rPr sz="850" b="0" i="1">
                <a:solidFill>
                  <a:srgbClr val="555555"/>
                </a:solidFill>
              </a:rPr>
              <a:t>Keterbatasan metodologi (penting): (1) hanya 2 sampel/kelas — representativeness rendah; (2) single seed — variance antar run belum diketahui; (3) qualitative only — belum ada quantitative measure (mis. mean activation di mouth bounding box ≥50 sampel/kelas); (4) belum ada baseline sanity check (random-init model). Observasi awal ini belum cukup untuk klaim general — bukan finding paper/tesis, sekadar eksplorasi.</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8595360" cy="365760"/>
          </a:xfrm>
          <a:prstGeom prst="rect">
            <a:avLst/>
          </a:prstGeom>
          <a:noFill/>
        </p:spPr>
        <p:txBody>
          <a:bodyPr wrap="square" lIns="0" rIns="0" tIns="0" bIns="0">
            <a:spAutoFit/>
          </a:bodyPr>
          <a:lstStyle/>
          <a:p>
            <a:r>
              <a:rPr sz="1800" b="1"/>
              <a:t>SLIDE 35: Space Alignment (arahan dosen #2, nb 75)</a:t>
            </a:r>
          </a:p>
        </p:txBody>
      </p:sp>
      <p:sp>
        <p:nvSpPr>
          <p:cNvPr id="3" name="TextBox 2"/>
          <p:cNvSpPr txBox="1"/>
          <p:nvPr/>
        </p:nvSpPr>
        <p:spPr>
          <a:xfrm>
            <a:off x="274320" y="457200"/>
            <a:ext cx="8595360" cy="292608"/>
          </a:xfrm>
          <a:prstGeom prst="rect">
            <a:avLst/>
          </a:prstGeom>
          <a:noFill/>
        </p:spPr>
        <p:txBody>
          <a:bodyPr wrap="square" lIns="0" rIns="0" tIns="0" bIns="0">
            <a:spAutoFit/>
          </a:bodyPr>
          <a:lstStyle/>
          <a:p>
            <a:r>
              <a:rPr sz="950" b="0">
                <a:solidFill>
                  <a:srgbClr val="555555"/>
                </a:solidFill>
              </a:rPr>
              <a:t>Evaluasi alignment feature space CNN TL (256-d) vs FCNN (128-d) — 4 metode analitis di test set Primer n=929. Positive result, methodology-clean.</a:t>
            </a:r>
          </a:p>
        </p:txBody>
      </p:sp>
      <p:pic>
        <p:nvPicPr>
          <p:cNvPr id="4" name="Picture 3" descr="cca_correlations.png"/>
          <p:cNvPicPr>
            <a:picLocks noChangeAspect="1"/>
          </p:cNvPicPr>
          <p:nvPr/>
        </p:nvPicPr>
        <p:blipFill>
          <a:blip r:embed="rId2"/>
          <a:stretch>
            <a:fillRect/>
          </a:stretch>
        </p:blipFill>
        <p:spPr>
          <a:xfrm>
            <a:off x="228600" y="822960"/>
            <a:ext cx="4206240" cy="2057400"/>
          </a:xfrm>
          <a:prstGeom prst="rect">
            <a:avLst/>
          </a:prstGeom>
        </p:spPr>
      </p:pic>
      <p:sp>
        <p:nvSpPr>
          <p:cNvPr id="5" name="TextBox 4"/>
          <p:cNvSpPr txBox="1"/>
          <p:nvPr/>
        </p:nvSpPr>
        <p:spPr>
          <a:xfrm>
            <a:off x="228600" y="2907792"/>
            <a:ext cx="4206240" cy="228600"/>
          </a:xfrm>
          <a:prstGeom prst="rect">
            <a:avLst/>
          </a:prstGeom>
          <a:noFill/>
        </p:spPr>
        <p:txBody>
          <a:bodyPr wrap="square" lIns="0" rIns="0" tIns="0" bIns="0">
            <a:spAutoFit/>
          </a:bodyPr>
          <a:lstStyle/>
          <a:p>
            <a:r>
              <a:rPr sz="900" b="1"/>
              <a:t>CCA correlations — top-5 mean = 0.978</a:t>
            </a:r>
          </a:p>
        </p:txBody>
      </p:sp>
      <p:pic>
        <p:nvPicPr>
          <p:cNvPr id="6" name="Picture 5" descr="retrieval_topk.png"/>
          <p:cNvPicPr>
            <a:picLocks noChangeAspect="1"/>
          </p:cNvPicPr>
          <p:nvPr/>
        </p:nvPicPr>
        <p:blipFill>
          <a:blip r:embed="rId3"/>
          <a:stretch>
            <a:fillRect/>
          </a:stretch>
        </p:blipFill>
        <p:spPr>
          <a:xfrm>
            <a:off x="4709160" y="822960"/>
            <a:ext cx="4206240" cy="2057400"/>
          </a:xfrm>
          <a:prstGeom prst="rect">
            <a:avLst/>
          </a:prstGeom>
        </p:spPr>
      </p:pic>
      <p:sp>
        <p:nvSpPr>
          <p:cNvPr id="7" name="TextBox 6"/>
          <p:cNvSpPr txBox="1"/>
          <p:nvPr/>
        </p:nvSpPr>
        <p:spPr>
          <a:xfrm>
            <a:off x="4709160" y="2907792"/>
            <a:ext cx="4206240" cy="228600"/>
          </a:xfrm>
          <a:prstGeom prst="rect">
            <a:avLst/>
          </a:prstGeom>
          <a:noFill/>
        </p:spPr>
        <p:txBody>
          <a:bodyPr wrap="square" lIns="0" rIns="0" tIns="0" bIns="0">
            <a:spAutoFit/>
          </a:bodyPr>
          <a:lstStyle/>
          <a:p>
            <a:r>
              <a:rPr sz="900" b="1"/>
              <a:t>Cross-modal retrieval — top-5 = 95.3% (random = 0.54%)</a:t>
            </a:r>
          </a:p>
        </p:txBody>
      </p:sp>
      <p:sp>
        <p:nvSpPr>
          <p:cNvPr id="8" name="TextBox 7"/>
          <p:cNvSpPr txBox="1"/>
          <p:nvPr/>
        </p:nvSpPr>
        <p:spPr>
          <a:xfrm>
            <a:off x="274320" y="3218688"/>
            <a:ext cx="8595360" cy="685800"/>
          </a:xfrm>
          <a:prstGeom prst="rect">
            <a:avLst/>
          </a:prstGeom>
          <a:noFill/>
        </p:spPr>
        <p:txBody>
          <a:bodyPr wrap="square" lIns="0" rIns="0" tIns="0" bIns="0">
            <a:spAutoFit/>
          </a:bodyPr>
          <a:lstStyle/>
          <a:p>
            <a:r>
              <a:rPr sz="950" b="1"/>
              <a:t>Metrik Kunci:</a:t>
            </a:r>
          </a:p>
          <a:p>
            <a:r>
              <a:rPr sz="900" b="0"/>
              <a:t>• CCA top-5 mean = 0.978  (strong linear alignment, well above 0.5 threshold)</a:t>
            </a:r>
          </a:p>
          <a:p>
            <a:r>
              <a:rPr sz="900" b="0"/>
              <a:t>• Paired cosine overall = 0.939  |  per-class konsisten 0.937-0.951 (termasuk minoritas negative n=8)</a:t>
            </a:r>
          </a:p>
          <a:p>
            <a:r>
              <a:rPr sz="900" b="0"/>
              <a:t>• Cross-modal retrieval top-1 = 0.670, top-5 = 0.953, top-20 = 1.000  (random baseline top-5 = 0.005)</a:t>
            </a:r>
          </a:p>
        </p:txBody>
      </p:sp>
      <p:sp>
        <p:nvSpPr>
          <p:cNvPr id="9" name="TextBox 8"/>
          <p:cNvSpPr txBox="1"/>
          <p:nvPr/>
        </p:nvSpPr>
        <p:spPr>
          <a:xfrm>
            <a:off x="274320" y="3950208"/>
            <a:ext cx="8595360" cy="594360"/>
          </a:xfrm>
          <a:prstGeom prst="rect">
            <a:avLst/>
          </a:prstGeom>
          <a:noFill/>
        </p:spPr>
        <p:txBody>
          <a:bodyPr wrap="square" lIns="0" rIns="0" tIns="0" bIns="0">
            <a:spAutoFit/>
          </a:bodyPr>
          <a:lstStyle/>
          <a:p>
            <a:r>
              <a:rPr sz="950" b="1"/>
              <a:t>Interpretasi:</a:t>
            </a:r>
          </a:p>
          <a:p>
            <a:r>
              <a:rPr sz="850" b="0"/>
              <a:t>Image dan landmark stream belajar representasi yang nyaris co-linear di latent space — justifikasi empiris untuk Intermediate Fusion (concat). Konsisten dengan Intermediate TL juara val-tuned 4c (0.521) &gt; Late Fusion TL (0.466). Streams semantically paired meskipun modality berbeda.</a:t>
            </a:r>
          </a:p>
        </p:txBody>
      </p:sp>
      <p:sp>
        <p:nvSpPr>
          <p:cNvPr id="10" name="TextBox 9"/>
          <p:cNvSpPr txBox="1"/>
          <p:nvPr/>
        </p:nvSpPr>
        <p:spPr>
          <a:xfrm>
            <a:off x="274320" y="4617720"/>
            <a:ext cx="8595360" cy="411480"/>
          </a:xfrm>
          <a:prstGeom prst="rect">
            <a:avLst/>
          </a:prstGeom>
          <a:noFill/>
        </p:spPr>
        <p:txBody>
          <a:bodyPr wrap="square" lIns="0" rIns="0" tIns="0" bIns="0">
            <a:spAutoFit/>
          </a:bodyPr>
          <a:lstStyle/>
          <a:p>
            <a:r>
              <a:rPr sz="850" b="1">
                <a:solidFill>
                  <a:srgbClr val="1F3A5F"/>
                </a:solidFill>
              </a:rPr>
              <a:t>Status: Positive result, methodology-clean (analytical, no seed variance). Siap dimasukkan ke paper/tesis Section Discussion sebagai empirical justification fusion strategy.</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8595360" cy="365760"/>
          </a:xfrm>
          <a:prstGeom prst="rect">
            <a:avLst/>
          </a:prstGeom>
          <a:noFill/>
        </p:spPr>
        <p:txBody>
          <a:bodyPr wrap="square" lIns="0" rIns="0" tIns="0" bIns="0">
            <a:spAutoFit/>
          </a:bodyPr>
          <a:lstStyle/>
          <a:p>
            <a:r>
              <a:rPr sz="1800" b="1"/>
              <a:t>SLIDE 36: 3-Class Exploration (Positive/Neutral/Negative, nb 79)</a:t>
            </a:r>
          </a:p>
        </p:txBody>
      </p:sp>
      <p:sp>
        <p:nvSpPr>
          <p:cNvPr id="3" name="TextBox 2"/>
          <p:cNvSpPr txBox="1"/>
          <p:nvPr/>
        </p:nvSpPr>
        <p:spPr>
          <a:xfrm>
            <a:off x="274320" y="457200"/>
            <a:ext cx="8595360" cy="274320"/>
          </a:xfrm>
          <a:prstGeom prst="rect">
            <a:avLst/>
          </a:prstGeom>
          <a:noFill/>
        </p:spPr>
        <p:txBody>
          <a:bodyPr wrap="square" lIns="0" rIns="0" tIns="0" bIns="0">
            <a:spAutoFit/>
          </a:bodyPr>
          <a:lstStyle/>
          <a:p>
            <a:r>
              <a:rPr sz="950" b="0">
                <a:solidFill>
                  <a:srgbClr val="555555"/>
                </a:solidFill>
              </a:rPr>
              <a:t>4-class mapping arbitrary → 3-class valence (Russell 1980 circumplex). Imbalance 1:14 (4× lebih balanced dari 4c). 5 arch × 3 scenario = 15 configs, val-based selection.</a:t>
            </a:r>
          </a:p>
        </p:txBody>
      </p:sp>
      <p:sp>
        <p:nvSpPr>
          <p:cNvPr id="5" name="TextBox 4"/>
          <p:cNvSpPr txBox="1"/>
          <p:nvPr/>
        </p:nvSpPr>
        <p:spPr>
          <a:xfrm>
            <a:off x="5303520" y="804672"/>
            <a:ext cx="3566160" cy="274320"/>
          </a:xfrm>
          <a:prstGeom prst="rect">
            <a:avLst/>
          </a:prstGeom>
          <a:noFill/>
        </p:spPr>
        <p:txBody>
          <a:bodyPr wrap="square" lIns="0" rIns="0" tIns="0" bIns="0">
            <a:spAutoFit/>
          </a:bodyPr>
          <a:lstStyle/>
          <a:p>
            <a:r>
              <a:rPr sz="1000" b="1"/>
              <a:t>Perbandingan vs scheme lain (val-based)</a:t>
            </a:r>
          </a:p>
        </p:txBody>
      </p:sp>
      <p:graphicFrame>
        <p:nvGraphicFramePr>
          <p:cNvPr id="6" name="Table 5"/>
          <p:cNvGraphicFramePr>
            <a:graphicFrameLocks noGrp="1"/>
          </p:cNvGraphicFramePr>
          <p:nvPr/>
        </p:nvGraphicFramePr>
        <p:xfrm>
          <a:off x="5303520" y="1078992"/>
          <a:ext cx="3566160" cy="1005840"/>
        </p:xfrm>
        <a:graphic>
          <a:graphicData uri="http://schemas.openxmlformats.org/drawingml/2006/table">
            <a:tbl>
              <a:tblPr firstRow="1" bandRow="1">
                <a:tableStyleId>{5C22544A-7EE6-4342-B048-85BDC9FD1C3A}</a:tableStyleId>
              </a:tblPr>
              <a:tblGrid>
                <a:gridCol w="1188720"/>
                <a:gridCol w="1188720"/>
                <a:gridCol w="1188720"/>
              </a:tblGrid>
              <a:tr h="251460">
                <a:tc>
                  <a:txBody>
                    <a:bodyPr/>
                    <a:lstStyle/>
                    <a:p>
                      <a:r>
                        <a:rPr sz="900" b="1"/>
                        <a:t>Scheme</a:t>
                      </a:r>
                    </a:p>
                  </a:txBody>
                  <a:tcPr/>
                </a:tc>
                <a:tc>
                  <a:txBody>
                    <a:bodyPr/>
                    <a:lstStyle/>
                    <a:p>
                      <a:r>
                        <a:rPr sz="900" b="1"/>
                        <a:t>Juara</a:t>
                      </a:r>
                    </a:p>
                  </a:txBody>
                  <a:tcPr/>
                </a:tc>
                <a:tc>
                  <a:txBody>
                    <a:bodyPr/>
                    <a:lstStyle/>
                    <a:p>
                      <a:r>
                        <a:rPr sz="900" b="1"/>
                        <a:t>Test F1</a:t>
                      </a:r>
                    </a:p>
                  </a:txBody>
                  <a:tcPr/>
                </a:tc>
              </a:tr>
              <a:tr h="251460">
                <a:tc>
                  <a:txBody>
                    <a:bodyPr/>
                    <a:lstStyle/>
                    <a:p>
                      <a:r>
                        <a:rPr sz="900" b="0"/>
                        <a:t>7-class</a:t>
                      </a:r>
                    </a:p>
                  </a:txBody>
                  <a:tcPr/>
                </a:tc>
                <a:tc>
                  <a:txBody>
                    <a:bodyPr/>
                    <a:lstStyle/>
                    <a:p>
                      <a:r>
                        <a:rPr sz="900" b="0"/>
                        <a:t>Early Fusion TL B3</a:t>
                      </a:r>
                    </a:p>
                  </a:txBody>
                  <a:tcPr/>
                </a:tc>
                <a:tc>
                  <a:txBody>
                    <a:bodyPr/>
                    <a:lstStyle/>
                    <a:p>
                      <a:r>
                        <a:rPr sz="900" b="0"/>
                        <a:t>0.333</a:t>
                      </a:r>
                    </a:p>
                  </a:txBody>
                  <a:tcPr/>
                </a:tc>
              </a:tr>
              <a:tr h="251460">
                <a:tc>
                  <a:txBody>
                    <a:bodyPr/>
                    <a:lstStyle/>
                    <a:p>
                      <a:r>
                        <a:rPr sz="900" b="0"/>
                        <a:t>4-class</a:t>
                      </a:r>
                    </a:p>
                  </a:txBody>
                  <a:tcPr/>
                </a:tc>
                <a:tc>
                  <a:txBody>
                    <a:bodyPr/>
                    <a:lstStyle/>
                    <a:p>
                      <a:r>
                        <a:rPr sz="900" b="0"/>
                        <a:t>Intermediate TL B3</a:t>
                      </a:r>
                    </a:p>
                  </a:txBody>
                  <a:tcPr/>
                </a:tc>
                <a:tc>
                  <a:txBody>
                    <a:bodyPr/>
                    <a:lstStyle/>
                    <a:p>
                      <a:r>
                        <a:rPr sz="900" b="0"/>
                        <a:t>0.521</a:t>
                      </a:r>
                    </a:p>
                  </a:txBody>
                  <a:tcPr/>
                </a:tc>
              </a:tr>
              <a:tr h="251460">
                <a:tc>
                  <a:txBody>
                    <a:bodyPr/>
                    <a:lstStyle/>
                    <a:p>
                      <a:r>
                        <a:rPr sz="900" b="1"/>
                        <a:t>3-class ⭐</a:t>
                      </a:r>
                    </a:p>
                  </a:txBody>
                  <a:tcPr/>
                </a:tc>
                <a:tc>
                  <a:txBody>
                    <a:bodyPr/>
                    <a:lstStyle/>
                    <a:p>
                      <a:r>
                        <a:rPr sz="900" b="1"/>
                        <a:t>Late Fusion TL B3</a:t>
                      </a:r>
                    </a:p>
                  </a:txBody>
                  <a:tcPr/>
                </a:tc>
                <a:tc>
                  <a:txBody>
                    <a:bodyPr/>
                    <a:lstStyle/>
                    <a:p>
                      <a:r>
                        <a:rPr sz="900" b="1"/>
                        <a:t>0.637</a:t>
                      </a:r>
                    </a:p>
                  </a:txBody>
                  <a:tcPr/>
                </a:tc>
              </a:tr>
            </a:tbl>
          </a:graphicData>
        </a:graphic>
      </p:graphicFrame>
      <p:sp>
        <p:nvSpPr>
          <p:cNvPr id="7" name="TextBox 6"/>
          <p:cNvSpPr txBox="1"/>
          <p:nvPr/>
        </p:nvSpPr>
        <p:spPr>
          <a:xfrm>
            <a:off x="5303520" y="2194560"/>
            <a:ext cx="3566160" cy="2834640"/>
          </a:xfrm>
          <a:prstGeom prst="rect">
            <a:avLst/>
          </a:prstGeom>
          <a:noFill/>
        </p:spPr>
        <p:txBody>
          <a:bodyPr wrap="square" lIns="0" rIns="0" tIns="0" bIns="0">
            <a:spAutoFit/>
          </a:bodyPr>
          <a:lstStyle/>
          <a:p>
            <a:r>
              <a:rPr sz="1000" b="1"/>
              <a:t>Temuan Kunci (T49-T52)</a:t>
            </a:r>
          </a:p>
          <a:p>
            <a:r>
              <a:rPr sz="300" b="0"/>
              <a:t/>
            </a:r>
          </a:p>
          <a:p>
            <a:r>
              <a:rPr sz="900" b="1"/>
              <a:t>T49: Gain +0.10 Macro F1 dari 4c → 3c</a:t>
            </a:r>
          </a:p>
          <a:p>
            <a:r>
              <a:rPr sz="850" b="0"/>
              <a:t>Semua arch lebih stabil, bahkan config terlemah CNN TL B2 test=0.516 masih di level 4c best.</a:t>
            </a:r>
          </a:p>
          <a:p>
            <a:r>
              <a:rPr sz="400" b="0"/>
              <a:t/>
            </a:r>
          </a:p>
          <a:p>
            <a:r>
              <a:rPr sz="900" b="1"/>
              <a:t>T50: Fusion strategy shifts per class granularity</a:t>
            </a:r>
          </a:p>
          <a:p>
            <a:r>
              <a:rPr sz="850" b="0"/>
              <a:t>7c: Early Fusion → 4c: Intermediate → 3c: Late Fusion. Late Fusion reclaims juara di coarse.</a:t>
            </a:r>
          </a:p>
          <a:p>
            <a:r>
              <a:rPr sz="400" b="0"/>
              <a:t/>
            </a:r>
          </a:p>
          <a:p>
            <a:r>
              <a:rPr sz="900" b="1"/>
              <a:t>T51: w_best lebih balanced (0.15-0.30)</a:t>
            </a:r>
          </a:p>
          <a:p>
            <a:r>
              <a:rPr sz="850" b="0"/>
              <a:t>vs 4-class (0.00-0.15 FCNN-dominant). Image stream contribute signifikan di 3-class.</a:t>
            </a:r>
          </a:p>
          <a:p>
            <a:r>
              <a:rPr sz="400" b="0"/>
              <a:t/>
            </a:r>
          </a:p>
          <a:p>
            <a:r>
              <a:rPr sz="900" b="1"/>
              <a:t>T52: FCNN 3c sangat kompetitif</a:t>
            </a:r>
          </a:p>
          <a:p>
            <a:r>
              <a:rPr sz="850" b="0"/>
              <a:t>FCNN B3 val=0.619 nyaris setara Late Fusion TL — landmark geometry dominan di Primer.</a:t>
            </a:r>
          </a:p>
        </p:txBody>
      </p:sp>
      <p:graphicFrame>
        <p:nvGraphicFramePr>
          <p:cNvPr id="8" name="Table 7"/>
          <p:cNvGraphicFramePr>
            <a:graphicFrameLocks noGrp="1"/>
          </p:cNvGraphicFramePr>
          <p:nvPr/>
        </p:nvGraphicFramePr>
        <p:xfrm>
          <a:off x="274320" y="804672"/>
          <a:ext cx="4480560" cy="3474720"/>
        </p:xfrm>
        <a:graphic>
          <a:graphicData uri="http://schemas.openxmlformats.org/drawingml/2006/table">
            <a:tbl>
              <a:tblPr firstRow="1" bandRow="1">
                <a:tableStyleId>{5C22544A-7EE6-4342-B048-85BDC9FD1C3A}</a:tableStyleId>
              </a:tblPr>
              <a:tblGrid>
                <a:gridCol w="1691640"/>
                <a:gridCol w="594360"/>
                <a:gridCol w="594360"/>
                <a:gridCol w="594360"/>
                <a:gridCol w="594360"/>
                <a:gridCol w="411480"/>
              </a:tblGrid>
              <a:tr h="217170">
                <a:tc>
                  <a:txBody>
                    <a:bodyPr/>
                    <a:lstStyle/>
                    <a:p>
                      <a:r>
                        <a:rPr sz="850" b="1"/>
                        <a:t>Model</a:t>
                      </a:r>
                    </a:p>
                  </a:txBody>
                  <a:tcPr/>
                </a:tc>
                <a:tc>
                  <a:txBody>
                    <a:bodyPr/>
                    <a:lstStyle/>
                    <a:p>
                      <a:r>
                        <a:rPr sz="850" b="1"/>
                        <a:t>Macro</a:t>
                      </a:r>
                    </a:p>
                  </a:txBody>
                  <a:tcPr/>
                </a:tc>
                <a:tc>
                  <a:txBody>
                    <a:bodyPr/>
                    <a:lstStyle/>
                    <a:p>
                      <a:r>
                        <a:rPr sz="850" b="1"/>
                        <a:t>Micro</a:t>
                      </a:r>
                    </a:p>
                  </a:txBody>
                  <a:tcPr/>
                </a:tc>
                <a:tc>
                  <a:txBody>
                    <a:bodyPr/>
                    <a:lstStyle/>
                    <a:p>
                      <a:r>
                        <a:rPr sz="850" b="1"/>
                        <a:t>W-F1</a:t>
                      </a:r>
                    </a:p>
                  </a:txBody>
                  <a:tcPr/>
                </a:tc>
                <a:tc>
                  <a:txBody>
                    <a:bodyPr/>
                    <a:lstStyle/>
                    <a:p>
                      <a:r>
                        <a:rPr sz="850" b="1"/>
                        <a:t>Acc</a:t>
                      </a:r>
                    </a:p>
                  </a:txBody>
                  <a:tcPr/>
                </a:tc>
                <a:tc>
                  <a:txBody>
                    <a:bodyPr/>
                    <a:lstStyle/>
                    <a:p>
                      <a:r>
                        <a:rPr sz="850" b="1"/>
                        <a:t>w</a:t>
                      </a:r>
                    </a:p>
                  </a:txBody>
                  <a:tcPr/>
                </a:tc>
              </a:tr>
              <a:tr h="217170">
                <a:tc>
                  <a:txBody>
                    <a:bodyPr/>
                    <a:lstStyle/>
                    <a:p>
                      <a:r>
                        <a:rPr sz="800" b="0"/>
                        <a:t>FCNN B1</a:t>
                      </a:r>
                    </a:p>
                  </a:txBody>
                  <a:tcPr/>
                </a:tc>
                <a:tc>
                  <a:txBody>
                    <a:bodyPr/>
                    <a:lstStyle/>
                    <a:p>
                      <a:r>
                        <a:rPr sz="800" b="0"/>
                        <a:t>0.589</a:t>
                      </a:r>
                    </a:p>
                  </a:txBody>
                  <a:tcPr/>
                </a:tc>
                <a:tc>
                  <a:txBody>
                    <a:bodyPr/>
                    <a:lstStyle/>
                    <a:p>
                      <a:r>
                        <a:rPr sz="800" b="0"/>
                        <a:t>0.741</a:t>
                      </a:r>
                    </a:p>
                  </a:txBody>
                  <a:tcPr/>
                </a:tc>
                <a:tc>
                  <a:txBody>
                    <a:bodyPr/>
                    <a:lstStyle/>
                    <a:p>
                      <a:r>
                        <a:rPr sz="800" b="0"/>
                        <a:t>0.760</a:t>
                      </a:r>
                    </a:p>
                  </a:txBody>
                  <a:tcPr/>
                </a:tc>
                <a:tc>
                  <a:txBody>
                    <a:bodyPr/>
                    <a:lstStyle/>
                    <a:p>
                      <a:r>
                        <a:rPr sz="800" b="0"/>
                        <a:t>0.741</a:t>
                      </a:r>
                    </a:p>
                  </a:txBody>
                  <a:tcPr/>
                </a:tc>
                <a:tc>
                  <a:txBody>
                    <a:bodyPr/>
                    <a:lstStyle/>
                    <a:p>
                      <a:r>
                        <a:rPr sz="800" b="0"/>
                        <a:t>—</a:t>
                      </a:r>
                    </a:p>
                  </a:txBody>
                  <a:tcPr/>
                </a:tc>
              </a:tr>
              <a:tr h="217170">
                <a:tc>
                  <a:txBody>
                    <a:bodyPr/>
                    <a:lstStyle/>
                    <a:p>
                      <a:r>
                        <a:rPr sz="800" b="0"/>
                        <a:t>FCNN B2</a:t>
                      </a:r>
                    </a:p>
                  </a:txBody>
                  <a:tcPr/>
                </a:tc>
                <a:tc>
                  <a:txBody>
                    <a:bodyPr/>
                    <a:lstStyle/>
                    <a:p>
                      <a:r>
                        <a:rPr sz="800" b="0"/>
                        <a:t>0.575</a:t>
                      </a:r>
                    </a:p>
                  </a:txBody>
                  <a:tcPr/>
                </a:tc>
                <a:tc>
                  <a:txBody>
                    <a:bodyPr/>
                    <a:lstStyle/>
                    <a:p>
                      <a:r>
                        <a:rPr sz="800" b="0"/>
                        <a:t>0.702</a:t>
                      </a:r>
                    </a:p>
                  </a:txBody>
                  <a:tcPr/>
                </a:tc>
                <a:tc>
                  <a:txBody>
                    <a:bodyPr/>
                    <a:lstStyle/>
                    <a:p>
                      <a:r>
                        <a:rPr sz="800" b="0"/>
                        <a:t>0.730</a:t>
                      </a:r>
                    </a:p>
                  </a:txBody>
                  <a:tcPr/>
                </a:tc>
                <a:tc>
                  <a:txBody>
                    <a:bodyPr/>
                    <a:lstStyle/>
                    <a:p>
                      <a:r>
                        <a:rPr sz="800" b="0"/>
                        <a:t>0.702</a:t>
                      </a:r>
                    </a:p>
                  </a:txBody>
                  <a:tcPr/>
                </a:tc>
                <a:tc>
                  <a:txBody>
                    <a:bodyPr/>
                    <a:lstStyle/>
                    <a:p>
                      <a:r>
                        <a:rPr sz="800" b="0"/>
                        <a:t>—</a:t>
                      </a:r>
                    </a:p>
                  </a:txBody>
                  <a:tcPr/>
                </a:tc>
              </a:tr>
              <a:tr h="217170">
                <a:tc>
                  <a:txBody>
                    <a:bodyPr/>
                    <a:lstStyle/>
                    <a:p>
                      <a:r>
                        <a:rPr sz="800" b="0"/>
                        <a:t>FCNN B3</a:t>
                      </a:r>
                    </a:p>
                  </a:txBody>
                  <a:tcPr/>
                </a:tc>
                <a:tc>
                  <a:txBody>
                    <a:bodyPr/>
                    <a:lstStyle/>
                    <a:p>
                      <a:r>
                        <a:rPr sz="800" b="0"/>
                        <a:t>0.634</a:t>
                      </a:r>
                    </a:p>
                  </a:txBody>
                  <a:tcPr/>
                </a:tc>
                <a:tc>
                  <a:txBody>
                    <a:bodyPr/>
                    <a:lstStyle/>
                    <a:p>
                      <a:r>
                        <a:rPr sz="800" b="0"/>
                        <a:t>0.749</a:t>
                      </a:r>
                    </a:p>
                  </a:txBody>
                  <a:tcPr/>
                </a:tc>
                <a:tc>
                  <a:txBody>
                    <a:bodyPr/>
                    <a:lstStyle/>
                    <a:p>
                      <a:r>
                        <a:rPr sz="800" b="0"/>
                        <a:t>0.764</a:t>
                      </a:r>
                    </a:p>
                  </a:txBody>
                  <a:tcPr/>
                </a:tc>
                <a:tc>
                  <a:txBody>
                    <a:bodyPr/>
                    <a:lstStyle/>
                    <a:p>
                      <a:r>
                        <a:rPr sz="800" b="0"/>
                        <a:t>0.749</a:t>
                      </a:r>
                    </a:p>
                  </a:txBody>
                  <a:tcPr/>
                </a:tc>
                <a:tc>
                  <a:txBody>
                    <a:bodyPr/>
                    <a:lstStyle/>
                    <a:p>
                      <a:r>
                        <a:rPr sz="800" b="0"/>
                        <a:t>—</a:t>
                      </a:r>
                    </a:p>
                  </a:txBody>
                  <a:tcPr/>
                </a:tc>
              </a:tr>
              <a:tr h="217170">
                <a:tc>
                  <a:txBody>
                    <a:bodyPr/>
                    <a:lstStyle/>
                    <a:p>
                      <a:r>
                        <a:rPr sz="800" b="0"/>
                        <a:t>CNN TL B1</a:t>
                      </a:r>
                    </a:p>
                  </a:txBody>
                  <a:tcPr/>
                </a:tc>
                <a:tc>
                  <a:txBody>
                    <a:bodyPr/>
                    <a:lstStyle/>
                    <a:p>
                      <a:r>
                        <a:rPr sz="800" b="0"/>
                        <a:t>0.634</a:t>
                      </a:r>
                    </a:p>
                  </a:txBody>
                  <a:tcPr/>
                </a:tc>
                <a:tc>
                  <a:txBody>
                    <a:bodyPr/>
                    <a:lstStyle/>
                    <a:p>
                      <a:r>
                        <a:rPr sz="800" b="0"/>
                        <a:t>0.791</a:t>
                      </a:r>
                    </a:p>
                  </a:txBody>
                  <a:tcPr/>
                </a:tc>
                <a:tc>
                  <a:txBody>
                    <a:bodyPr/>
                    <a:lstStyle/>
                    <a:p>
                      <a:r>
                        <a:rPr sz="800" b="0"/>
                        <a:t>0.800</a:t>
                      </a:r>
                    </a:p>
                  </a:txBody>
                  <a:tcPr/>
                </a:tc>
                <a:tc>
                  <a:txBody>
                    <a:bodyPr/>
                    <a:lstStyle/>
                    <a:p>
                      <a:r>
                        <a:rPr sz="800" b="0"/>
                        <a:t>0.791</a:t>
                      </a:r>
                    </a:p>
                  </a:txBody>
                  <a:tcPr/>
                </a:tc>
                <a:tc>
                  <a:txBody>
                    <a:bodyPr/>
                    <a:lstStyle/>
                    <a:p>
                      <a:r>
                        <a:rPr sz="800" b="0"/>
                        <a:t>—</a:t>
                      </a:r>
                    </a:p>
                  </a:txBody>
                  <a:tcPr/>
                </a:tc>
              </a:tr>
              <a:tr h="217170">
                <a:tc>
                  <a:txBody>
                    <a:bodyPr/>
                    <a:lstStyle/>
                    <a:p>
                      <a:r>
                        <a:rPr sz="800" b="0"/>
                        <a:t>CNN TL B2</a:t>
                      </a:r>
                    </a:p>
                  </a:txBody>
                  <a:tcPr/>
                </a:tc>
                <a:tc>
                  <a:txBody>
                    <a:bodyPr/>
                    <a:lstStyle/>
                    <a:p>
                      <a:r>
                        <a:rPr sz="800" b="0"/>
                        <a:t>0.516</a:t>
                      </a:r>
                    </a:p>
                  </a:txBody>
                  <a:tcPr/>
                </a:tc>
                <a:tc>
                  <a:txBody>
                    <a:bodyPr/>
                    <a:lstStyle/>
                    <a:p>
                      <a:r>
                        <a:rPr sz="800" b="0"/>
                        <a:t>0.581</a:t>
                      </a:r>
                    </a:p>
                  </a:txBody>
                  <a:tcPr/>
                </a:tc>
                <a:tc>
                  <a:txBody>
                    <a:bodyPr/>
                    <a:lstStyle/>
                    <a:p>
                      <a:r>
                        <a:rPr sz="800" b="0"/>
                        <a:t>0.610</a:t>
                      </a:r>
                    </a:p>
                  </a:txBody>
                  <a:tcPr/>
                </a:tc>
                <a:tc>
                  <a:txBody>
                    <a:bodyPr/>
                    <a:lstStyle/>
                    <a:p>
                      <a:r>
                        <a:rPr sz="800" b="0"/>
                        <a:t>0.581</a:t>
                      </a:r>
                    </a:p>
                  </a:txBody>
                  <a:tcPr/>
                </a:tc>
                <a:tc>
                  <a:txBody>
                    <a:bodyPr/>
                    <a:lstStyle/>
                    <a:p>
                      <a:r>
                        <a:rPr sz="800" b="0"/>
                        <a:t>—</a:t>
                      </a:r>
                    </a:p>
                  </a:txBody>
                  <a:tcPr/>
                </a:tc>
              </a:tr>
              <a:tr h="217170">
                <a:tc>
                  <a:txBody>
                    <a:bodyPr/>
                    <a:lstStyle/>
                    <a:p>
                      <a:r>
                        <a:rPr sz="800" b="0"/>
                        <a:t>CNN TL B3</a:t>
                      </a:r>
                    </a:p>
                  </a:txBody>
                  <a:tcPr/>
                </a:tc>
                <a:tc>
                  <a:txBody>
                    <a:bodyPr/>
                    <a:lstStyle/>
                    <a:p>
                      <a:r>
                        <a:rPr sz="800" b="0"/>
                        <a:t>0.705</a:t>
                      </a:r>
                    </a:p>
                  </a:txBody>
                  <a:tcPr/>
                </a:tc>
                <a:tc>
                  <a:txBody>
                    <a:bodyPr/>
                    <a:lstStyle/>
                    <a:p>
                      <a:r>
                        <a:rPr sz="800" b="0"/>
                        <a:t>0.840</a:t>
                      </a:r>
                    </a:p>
                  </a:txBody>
                  <a:tcPr/>
                </a:tc>
                <a:tc>
                  <a:txBody>
                    <a:bodyPr/>
                    <a:lstStyle/>
                    <a:p>
                      <a:r>
                        <a:rPr sz="800" b="0"/>
                        <a:t>0.850</a:t>
                      </a:r>
                    </a:p>
                  </a:txBody>
                  <a:tcPr/>
                </a:tc>
                <a:tc>
                  <a:txBody>
                    <a:bodyPr/>
                    <a:lstStyle/>
                    <a:p>
                      <a:r>
                        <a:rPr sz="800" b="0"/>
                        <a:t>0.840</a:t>
                      </a:r>
                    </a:p>
                  </a:txBody>
                  <a:tcPr/>
                </a:tc>
                <a:tc>
                  <a:txBody>
                    <a:bodyPr/>
                    <a:lstStyle/>
                    <a:p>
                      <a:r>
                        <a:rPr sz="800" b="0"/>
                        <a:t>—</a:t>
                      </a:r>
                    </a:p>
                  </a:txBody>
                  <a:tcPr/>
                </a:tc>
              </a:tr>
              <a:tr h="217170">
                <a:tc>
                  <a:txBody>
                    <a:bodyPr/>
                    <a:lstStyle/>
                    <a:p>
                      <a:r>
                        <a:rPr sz="800" b="0"/>
                        <a:t>Intermediate TL B1</a:t>
                      </a:r>
                    </a:p>
                  </a:txBody>
                  <a:tcPr/>
                </a:tc>
                <a:tc>
                  <a:txBody>
                    <a:bodyPr/>
                    <a:lstStyle/>
                    <a:p>
                      <a:r>
                        <a:rPr sz="800" b="0"/>
                        <a:t>0.686</a:t>
                      </a:r>
                    </a:p>
                  </a:txBody>
                  <a:tcPr/>
                </a:tc>
                <a:tc>
                  <a:txBody>
                    <a:bodyPr/>
                    <a:lstStyle/>
                    <a:p>
                      <a:r>
                        <a:rPr sz="800" b="0"/>
                        <a:t>0.790</a:t>
                      </a:r>
                    </a:p>
                  </a:txBody>
                  <a:tcPr/>
                </a:tc>
                <a:tc>
                  <a:txBody>
                    <a:bodyPr/>
                    <a:lstStyle/>
                    <a:p>
                      <a:r>
                        <a:rPr sz="800" b="0"/>
                        <a:t>0.803</a:t>
                      </a:r>
                    </a:p>
                  </a:txBody>
                  <a:tcPr/>
                </a:tc>
                <a:tc>
                  <a:txBody>
                    <a:bodyPr/>
                    <a:lstStyle/>
                    <a:p>
                      <a:r>
                        <a:rPr sz="800" b="0"/>
                        <a:t>0.790</a:t>
                      </a:r>
                    </a:p>
                  </a:txBody>
                  <a:tcPr/>
                </a:tc>
                <a:tc>
                  <a:txBody>
                    <a:bodyPr/>
                    <a:lstStyle/>
                    <a:p>
                      <a:r>
                        <a:rPr sz="800" b="0"/>
                        <a:t>—</a:t>
                      </a:r>
                    </a:p>
                  </a:txBody>
                  <a:tcPr/>
                </a:tc>
              </a:tr>
              <a:tr h="217170">
                <a:tc>
                  <a:txBody>
                    <a:bodyPr/>
                    <a:lstStyle/>
                    <a:p>
                      <a:r>
                        <a:rPr sz="800" b="0"/>
                        <a:t>Intermediate TL B2</a:t>
                      </a:r>
                    </a:p>
                  </a:txBody>
                  <a:tcPr/>
                </a:tc>
                <a:tc>
                  <a:txBody>
                    <a:bodyPr/>
                    <a:lstStyle/>
                    <a:p>
                      <a:r>
                        <a:rPr sz="800" b="0"/>
                        <a:t>0.665</a:t>
                      </a:r>
                    </a:p>
                  </a:txBody>
                  <a:tcPr/>
                </a:tc>
                <a:tc>
                  <a:txBody>
                    <a:bodyPr/>
                    <a:lstStyle/>
                    <a:p>
                      <a:r>
                        <a:rPr sz="800" b="0"/>
                        <a:t>0.815</a:t>
                      </a:r>
                    </a:p>
                  </a:txBody>
                  <a:tcPr/>
                </a:tc>
                <a:tc>
                  <a:txBody>
                    <a:bodyPr/>
                    <a:lstStyle/>
                    <a:p>
                      <a:r>
                        <a:rPr sz="800" b="0"/>
                        <a:t>0.819</a:t>
                      </a:r>
                    </a:p>
                  </a:txBody>
                  <a:tcPr/>
                </a:tc>
                <a:tc>
                  <a:txBody>
                    <a:bodyPr/>
                    <a:lstStyle/>
                    <a:p>
                      <a:r>
                        <a:rPr sz="800" b="0"/>
                        <a:t>0.815</a:t>
                      </a:r>
                    </a:p>
                  </a:txBody>
                  <a:tcPr/>
                </a:tc>
                <a:tc>
                  <a:txBody>
                    <a:bodyPr/>
                    <a:lstStyle/>
                    <a:p>
                      <a:r>
                        <a:rPr sz="800" b="0"/>
                        <a:t>—</a:t>
                      </a:r>
                    </a:p>
                  </a:txBody>
                  <a:tcPr/>
                </a:tc>
              </a:tr>
              <a:tr h="217170">
                <a:tc>
                  <a:txBody>
                    <a:bodyPr/>
                    <a:lstStyle/>
                    <a:p>
                      <a:r>
                        <a:rPr sz="800" b="0"/>
                        <a:t>Intermediate TL B3</a:t>
                      </a:r>
                    </a:p>
                  </a:txBody>
                  <a:tcPr/>
                </a:tc>
                <a:tc>
                  <a:txBody>
                    <a:bodyPr/>
                    <a:lstStyle/>
                    <a:p>
                      <a:r>
                        <a:rPr sz="800" b="0"/>
                        <a:t>0.689</a:t>
                      </a:r>
                    </a:p>
                  </a:txBody>
                  <a:tcPr/>
                </a:tc>
                <a:tc>
                  <a:txBody>
                    <a:bodyPr/>
                    <a:lstStyle/>
                    <a:p>
                      <a:r>
                        <a:rPr sz="800" b="0"/>
                        <a:t>0.828</a:t>
                      </a:r>
                    </a:p>
                  </a:txBody>
                  <a:tcPr/>
                </a:tc>
                <a:tc>
                  <a:txBody>
                    <a:bodyPr/>
                    <a:lstStyle/>
                    <a:p>
                      <a:r>
                        <a:rPr sz="800" b="0"/>
                        <a:t>0.834</a:t>
                      </a:r>
                    </a:p>
                  </a:txBody>
                  <a:tcPr/>
                </a:tc>
                <a:tc>
                  <a:txBody>
                    <a:bodyPr/>
                    <a:lstStyle/>
                    <a:p>
                      <a:r>
                        <a:rPr sz="800" b="0"/>
                        <a:t>0.828</a:t>
                      </a:r>
                    </a:p>
                  </a:txBody>
                  <a:tcPr/>
                </a:tc>
                <a:tc>
                  <a:txBody>
                    <a:bodyPr/>
                    <a:lstStyle/>
                    <a:p>
                      <a:r>
                        <a:rPr sz="800" b="0"/>
                        <a:t>—</a:t>
                      </a:r>
                    </a:p>
                  </a:txBody>
                  <a:tcPr/>
                </a:tc>
              </a:tr>
              <a:tr h="217170">
                <a:tc>
                  <a:txBody>
                    <a:bodyPr/>
                    <a:lstStyle/>
                    <a:p>
                      <a:r>
                        <a:rPr sz="800" b="0"/>
                        <a:t>Late Fusion TL B1</a:t>
                      </a:r>
                    </a:p>
                  </a:txBody>
                  <a:tcPr/>
                </a:tc>
                <a:tc>
                  <a:txBody>
                    <a:bodyPr/>
                    <a:lstStyle/>
                    <a:p>
                      <a:r>
                        <a:rPr sz="800" b="0"/>
                        <a:t>0.653</a:t>
                      </a:r>
                    </a:p>
                  </a:txBody>
                  <a:tcPr/>
                </a:tc>
                <a:tc>
                  <a:txBody>
                    <a:bodyPr/>
                    <a:lstStyle/>
                    <a:p>
                      <a:r>
                        <a:rPr sz="800" b="0"/>
                        <a:t>0.797</a:t>
                      </a:r>
                    </a:p>
                  </a:txBody>
                  <a:tcPr/>
                </a:tc>
                <a:tc>
                  <a:txBody>
                    <a:bodyPr/>
                    <a:lstStyle/>
                    <a:p>
                      <a:r>
                        <a:rPr sz="800" b="0"/>
                        <a:t>0.813</a:t>
                      </a:r>
                    </a:p>
                  </a:txBody>
                  <a:tcPr/>
                </a:tc>
                <a:tc>
                  <a:txBody>
                    <a:bodyPr/>
                    <a:lstStyle/>
                    <a:p>
                      <a:r>
                        <a:rPr sz="800" b="0"/>
                        <a:t>0.797</a:t>
                      </a:r>
                    </a:p>
                  </a:txBody>
                  <a:tcPr/>
                </a:tc>
                <a:tc>
                  <a:txBody>
                    <a:bodyPr/>
                    <a:lstStyle/>
                    <a:p>
                      <a:r>
                        <a:rPr sz="800" b="0"/>
                        <a:t>0.25</a:t>
                      </a:r>
                    </a:p>
                  </a:txBody>
                  <a:tcPr/>
                </a:tc>
              </a:tr>
              <a:tr h="217170">
                <a:tc>
                  <a:txBody>
                    <a:bodyPr/>
                    <a:lstStyle/>
                    <a:p>
                      <a:r>
                        <a:rPr sz="800" b="0"/>
                        <a:t>Late Fusion TL B2</a:t>
                      </a:r>
                    </a:p>
                  </a:txBody>
                  <a:tcPr/>
                </a:tc>
                <a:tc>
                  <a:txBody>
                    <a:bodyPr/>
                    <a:lstStyle/>
                    <a:p>
                      <a:r>
                        <a:rPr sz="800" b="0"/>
                        <a:t>0.646</a:t>
                      </a:r>
                    </a:p>
                  </a:txBody>
                  <a:tcPr/>
                </a:tc>
                <a:tc>
                  <a:txBody>
                    <a:bodyPr/>
                    <a:lstStyle/>
                    <a:p>
                      <a:r>
                        <a:rPr sz="800" b="0"/>
                        <a:t>0.774</a:t>
                      </a:r>
                    </a:p>
                  </a:txBody>
                  <a:tcPr/>
                </a:tc>
                <a:tc>
                  <a:txBody>
                    <a:bodyPr/>
                    <a:lstStyle/>
                    <a:p>
                      <a:r>
                        <a:rPr sz="800" b="0"/>
                        <a:t>0.788</a:t>
                      </a:r>
                    </a:p>
                  </a:txBody>
                  <a:tcPr/>
                </a:tc>
                <a:tc>
                  <a:txBody>
                    <a:bodyPr/>
                    <a:lstStyle/>
                    <a:p>
                      <a:r>
                        <a:rPr sz="800" b="0"/>
                        <a:t>0.774</a:t>
                      </a:r>
                    </a:p>
                  </a:txBody>
                  <a:tcPr/>
                </a:tc>
                <a:tc>
                  <a:txBody>
                    <a:bodyPr/>
                    <a:lstStyle/>
                    <a:p>
                      <a:r>
                        <a:rPr sz="800" b="0"/>
                        <a:t>0.30</a:t>
                      </a:r>
                    </a:p>
                  </a:txBody>
                  <a:tcPr/>
                </a:tc>
              </a:tr>
              <a:tr h="217170">
                <a:tc>
                  <a:txBody>
                    <a:bodyPr/>
                    <a:lstStyle/>
                    <a:p>
                      <a:r>
                        <a:rPr sz="800" b="1"/>
                        <a:t>Late Fusion TL B3 ⭐</a:t>
                      </a:r>
                    </a:p>
                  </a:txBody>
                  <a:tcPr/>
                </a:tc>
                <a:tc>
                  <a:txBody>
                    <a:bodyPr/>
                    <a:lstStyle/>
                    <a:p>
                      <a:r>
                        <a:rPr sz="800" b="1"/>
                        <a:t>0.637</a:t>
                      </a:r>
                    </a:p>
                  </a:txBody>
                  <a:tcPr/>
                </a:tc>
                <a:tc>
                  <a:txBody>
                    <a:bodyPr/>
                    <a:lstStyle/>
                    <a:p>
                      <a:r>
                        <a:rPr sz="800" b="1"/>
                        <a:t>0.784</a:t>
                      </a:r>
                    </a:p>
                  </a:txBody>
                  <a:tcPr/>
                </a:tc>
                <a:tc>
                  <a:txBody>
                    <a:bodyPr/>
                    <a:lstStyle/>
                    <a:p>
                      <a:r>
                        <a:rPr sz="800" b="1"/>
                        <a:t>0.795</a:t>
                      </a:r>
                    </a:p>
                  </a:txBody>
                  <a:tcPr/>
                </a:tc>
                <a:tc>
                  <a:txBody>
                    <a:bodyPr/>
                    <a:lstStyle/>
                    <a:p>
                      <a:r>
                        <a:rPr sz="800" b="1"/>
                        <a:t>0.784</a:t>
                      </a:r>
                    </a:p>
                  </a:txBody>
                  <a:tcPr/>
                </a:tc>
                <a:tc>
                  <a:txBody>
                    <a:bodyPr/>
                    <a:lstStyle/>
                    <a:p>
                      <a:r>
                        <a:rPr sz="800" b="1"/>
                        <a:t>0.15</a:t>
                      </a:r>
                    </a:p>
                  </a:txBody>
                  <a:tcPr/>
                </a:tc>
              </a:tr>
              <a:tr h="217170">
                <a:tc>
                  <a:txBody>
                    <a:bodyPr/>
                    <a:lstStyle/>
                    <a:p>
                      <a:r>
                        <a:rPr sz="800" b="0"/>
                        <a:t>Early Fusion TL B1</a:t>
                      </a:r>
                    </a:p>
                  </a:txBody>
                  <a:tcPr/>
                </a:tc>
                <a:tc>
                  <a:txBody>
                    <a:bodyPr/>
                    <a:lstStyle/>
                    <a:p>
                      <a:r>
                        <a:rPr sz="800" b="0"/>
                        <a:t>0.587</a:t>
                      </a:r>
                    </a:p>
                  </a:txBody>
                  <a:tcPr/>
                </a:tc>
                <a:tc>
                  <a:txBody>
                    <a:bodyPr/>
                    <a:lstStyle/>
                    <a:p>
                      <a:r>
                        <a:rPr sz="800" b="0"/>
                        <a:t>0.783</a:t>
                      </a:r>
                    </a:p>
                  </a:txBody>
                  <a:tcPr/>
                </a:tc>
                <a:tc>
                  <a:txBody>
                    <a:bodyPr/>
                    <a:lstStyle/>
                    <a:p>
                      <a:r>
                        <a:rPr sz="800" b="0"/>
                        <a:t>0.774</a:t>
                      </a:r>
                    </a:p>
                  </a:txBody>
                  <a:tcPr/>
                </a:tc>
                <a:tc>
                  <a:txBody>
                    <a:bodyPr/>
                    <a:lstStyle/>
                    <a:p>
                      <a:r>
                        <a:rPr sz="800" b="0"/>
                        <a:t>0.783</a:t>
                      </a:r>
                    </a:p>
                  </a:txBody>
                  <a:tcPr/>
                </a:tc>
                <a:tc>
                  <a:txBody>
                    <a:bodyPr/>
                    <a:lstStyle/>
                    <a:p>
                      <a:r>
                        <a:rPr sz="800" b="0"/>
                        <a:t>—</a:t>
                      </a:r>
                    </a:p>
                  </a:txBody>
                  <a:tcPr/>
                </a:tc>
              </a:tr>
              <a:tr h="217170">
                <a:tc>
                  <a:txBody>
                    <a:bodyPr/>
                    <a:lstStyle/>
                    <a:p>
                      <a:r>
                        <a:rPr sz="800" b="0"/>
                        <a:t>Early Fusion TL B2</a:t>
                      </a:r>
                    </a:p>
                  </a:txBody>
                  <a:tcPr/>
                </a:tc>
                <a:tc>
                  <a:txBody>
                    <a:bodyPr/>
                    <a:lstStyle/>
                    <a:p>
                      <a:r>
                        <a:rPr sz="800" b="0"/>
                        <a:t>0.584</a:t>
                      </a:r>
                    </a:p>
                  </a:txBody>
                  <a:tcPr/>
                </a:tc>
                <a:tc>
                  <a:txBody>
                    <a:bodyPr/>
                    <a:lstStyle/>
                    <a:p>
                      <a:r>
                        <a:rPr sz="800" b="0"/>
                        <a:t>0.650</a:t>
                      </a:r>
                    </a:p>
                  </a:txBody>
                  <a:tcPr/>
                </a:tc>
                <a:tc>
                  <a:txBody>
                    <a:bodyPr/>
                    <a:lstStyle/>
                    <a:p>
                      <a:r>
                        <a:rPr sz="800" b="0"/>
                        <a:t>0.676</a:t>
                      </a:r>
                    </a:p>
                  </a:txBody>
                  <a:tcPr/>
                </a:tc>
                <a:tc>
                  <a:txBody>
                    <a:bodyPr/>
                    <a:lstStyle/>
                    <a:p>
                      <a:r>
                        <a:rPr sz="800" b="0"/>
                        <a:t>0.650</a:t>
                      </a:r>
                    </a:p>
                  </a:txBody>
                  <a:tcPr/>
                </a:tc>
                <a:tc>
                  <a:txBody>
                    <a:bodyPr/>
                    <a:lstStyle/>
                    <a:p>
                      <a:r>
                        <a:rPr sz="800" b="0"/>
                        <a:t>—</a:t>
                      </a:r>
                    </a:p>
                  </a:txBody>
                  <a:tcPr/>
                </a:tc>
              </a:tr>
              <a:tr h="217170">
                <a:tc>
                  <a:txBody>
                    <a:bodyPr/>
                    <a:lstStyle/>
                    <a:p>
                      <a:r>
                        <a:rPr sz="800" b="0"/>
                        <a:t>Early Fusion TL B3</a:t>
                      </a:r>
                    </a:p>
                  </a:txBody>
                  <a:tcPr/>
                </a:tc>
                <a:tc>
                  <a:txBody>
                    <a:bodyPr/>
                    <a:lstStyle/>
                    <a:p>
                      <a:r>
                        <a:rPr sz="800" b="0"/>
                        <a:t>0.699</a:t>
                      </a:r>
                    </a:p>
                  </a:txBody>
                  <a:tcPr/>
                </a:tc>
                <a:tc>
                  <a:txBody>
                    <a:bodyPr/>
                    <a:lstStyle/>
                    <a:p>
                      <a:r>
                        <a:rPr sz="800" b="0"/>
                        <a:t>0.820</a:t>
                      </a:r>
                    </a:p>
                  </a:txBody>
                  <a:tcPr/>
                </a:tc>
                <a:tc>
                  <a:txBody>
                    <a:bodyPr/>
                    <a:lstStyle/>
                    <a:p>
                      <a:r>
                        <a:rPr sz="800" b="0"/>
                        <a:t>0.835</a:t>
                      </a:r>
                    </a:p>
                  </a:txBody>
                  <a:tcPr/>
                </a:tc>
                <a:tc>
                  <a:txBody>
                    <a:bodyPr/>
                    <a:lstStyle/>
                    <a:p>
                      <a:r>
                        <a:rPr sz="800" b="0"/>
                        <a:t>0.820</a:t>
                      </a:r>
                    </a:p>
                  </a:txBody>
                  <a:tcPr/>
                </a:tc>
                <a:tc>
                  <a:txBody>
                    <a:bodyPr/>
                    <a:lstStyle/>
                    <a:p>
                      <a:r>
                        <a:rPr sz="800" b="0"/>
                        <a:t>—</a:t>
                      </a:r>
                    </a:p>
                  </a:txBody>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8595360" cy="365760"/>
          </a:xfrm>
          <a:prstGeom prst="rect">
            <a:avLst/>
          </a:prstGeom>
          <a:noFill/>
        </p:spPr>
        <p:txBody>
          <a:bodyPr wrap="square" lIns="0" rIns="0" tIns="0" bIns="0">
            <a:spAutoFit/>
          </a:bodyPr>
          <a:lstStyle/>
          <a:p>
            <a:r>
              <a:rPr sz="1800" b="1"/>
              <a:t>SLIDE 36 (lanjutan): 3-Class Best Model — Late Fusion TL B3</a:t>
            </a:r>
          </a:p>
        </p:txBody>
      </p:sp>
      <p:sp>
        <p:nvSpPr>
          <p:cNvPr id="3" name="TextBox 2"/>
          <p:cNvSpPr txBox="1"/>
          <p:nvPr/>
        </p:nvSpPr>
        <p:spPr>
          <a:xfrm>
            <a:off x="274320" y="457200"/>
            <a:ext cx="8595360" cy="256032"/>
          </a:xfrm>
          <a:prstGeom prst="rect">
            <a:avLst/>
          </a:prstGeom>
          <a:noFill/>
        </p:spPr>
        <p:txBody>
          <a:bodyPr wrap="square" lIns="0" rIns="0" tIns="0" bIns="0">
            <a:spAutoFit/>
          </a:bodyPr>
          <a:lstStyle/>
          <a:p>
            <a:r>
              <a:rPr sz="1000" b="1">
                <a:solidFill>
                  <a:srgbClr val="1F3A5F"/>
                </a:solidFill>
              </a:rPr>
              <a:t>Val Macro = 0.623  |  Test Macro = 0.637  |  Test Acc = 0.784  |  w_best = 0.15</a:t>
            </a:r>
          </a:p>
        </p:txBody>
      </p:sp>
      <p:sp>
        <p:nvSpPr>
          <p:cNvPr id="4" name="TextBox 3"/>
          <p:cNvSpPr txBox="1"/>
          <p:nvPr/>
        </p:nvSpPr>
        <p:spPr>
          <a:xfrm>
            <a:off x="274320" y="804672"/>
            <a:ext cx="3931920" cy="256032"/>
          </a:xfrm>
          <a:prstGeom prst="rect">
            <a:avLst/>
          </a:prstGeom>
          <a:noFill/>
        </p:spPr>
        <p:txBody>
          <a:bodyPr wrap="square" lIns="0" rIns="0" tIns="0" bIns="0">
            <a:spAutoFit/>
          </a:bodyPr>
          <a:lstStyle/>
          <a:p>
            <a:r>
              <a:rPr sz="1000" b="1"/>
              <a:t>Per-Class Metrics</a:t>
            </a:r>
          </a:p>
        </p:txBody>
      </p:sp>
      <p:graphicFrame>
        <p:nvGraphicFramePr>
          <p:cNvPr id="5" name="Table 4"/>
          <p:cNvGraphicFramePr>
            <a:graphicFrameLocks noGrp="1"/>
          </p:cNvGraphicFramePr>
          <p:nvPr/>
        </p:nvGraphicFramePr>
        <p:xfrm>
          <a:off x="274320" y="1078992"/>
          <a:ext cx="3931920" cy="1645920"/>
        </p:xfrm>
        <a:graphic>
          <a:graphicData uri="http://schemas.openxmlformats.org/drawingml/2006/table">
            <a:tbl>
              <a:tblPr firstRow="1" bandRow="1">
                <a:tableStyleId>{5C22544A-7EE6-4342-B048-85BDC9FD1C3A}</a:tableStyleId>
              </a:tblPr>
              <a:tblGrid>
                <a:gridCol w="786384"/>
                <a:gridCol w="786384"/>
                <a:gridCol w="786384"/>
                <a:gridCol w="786384"/>
                <a:gridCol w="786384"/>
              </a:tblGrid>
              <a:tr h="274320">
                <a:tc>
                  <a:txBody>
                    <a:bodyPr/>
                    <a:lstStyle/>
                    <a:p>
                      <a:r>
                        <a:rPr sz="900" b="1"/>
                        <a:t>Class</a:t>
                      </a:r>
                    </a:p>
                  </a:txBody>
                  <a:tcPr/>
                </a:tc>
                <a:tc>
                  <a:txBody>
                    <a:bodyPr/>
                    <a:lstStyle/>
                    <a:p>
                      <a:r>
                        <a:rPr sz="900" b="1"/>
                        <a:t>Prec</a:t>
                      </a:r>
                    </a:p>
                  </a:txBody>
                  <a:tcPr/>
                </a:tc>
                <a:tc>
                  <a:txBody>
                    <a:bodyPr/>
                    <a:lstStyle/>
                    <a:p>
                      <a:r>
                        <a:rPr sz="900" b="1"/>
                        <a:t>Recall</a:t>
                      </a:r>
                    </a:p>
                  </a:txBody>
                  <a:tcPr/>
                </a:tc>
                <a:tc>
                  <a:txBody>
                    <a:bodyPr/>
                    <a:lstStyle/>
                    <a:p>
                      <a:r>
                        <a:rPr sz="900" b="1"/>
                        <a:t>F1</a:t>
                      </a:r>
                    </a:p>
                  </a:txBody>
                  <a:tcPr/>
                </a:tc>
                <a:tc>
                  <a:txBody>
                    <a:bodyPr/>
                    <a:lstStyle/>
                    <a:p>
                      <a:r>
                        <a:rPr sz="900" b="1"/>
                        <a:t>Support</a:t>
                      </a:r>
                    </a:p>
                  </a:txBody>
                  <a:tcPr/>
                </a:tc>
              </a:tr>
              <a:tr h="274320">
                <a:tc>
                  <a:txBody>
                    <a:bodyPr/>
                    <a:lstStyle/>
                    <a:p>
                      <a:r>
                        <a:rPr sz="900" b="0"/>
                        <a:t>positive</a:t>
                      </a:r>
                    </a:p>
                  </a:txBody>
                  <a:tcPr/>
                </a:tc>
                <a:tc>
                  <a:txBody>
                    <a:bodyPr/>
                    <a:lstStyle/>
                    <a:p>
                      <a:r>
                        <a:rPr sz="900" b="0"/>
                        <a:t>0.607</a:t>
                      </a:r>
                    </a:p>
                  </a:txBody>
                  <a:tcPr/>
                </a:tc>
                <a:tc>
                  <a:txBody>
                    <a:bodyPr/>
                    <a:lstStyle/>
                    <a:p>
                      <a:r>
                        <a:rPr sz="900" b="0"/>
                        <a:t>0.930</a:t>
                      </a:r>
                    </a:p>
                  </a:txBody>
                  <a:tcPr/>
                </a:tc>
                <a:tc>
                  <a:txBody>
                    <a:bodyPr/>
                    <a:lstStyle/>
                    <a:p>
                      <a:r>
                        <a:rPr sz="900" b="0"/>
                        <a:t>0.735</a:t>
                      </a:r>
                    </a:p>
                  </a:txBody>
                  <a:tcPr/>
                </a:tc>
                <a:tc>
                  <a:txBody>
                    <a:bodyPr/>
                    <a:lstStyle/>
                    <a:p>
                      <a:r>
                        <a:rPr sz="900" b="0"/>
                        <a:t>186</a:t>
                      </a:r>
                    </a:p>
                  </a:txBody>
                  <a:tcPr/>
                </a:tc>
              </a:tr>
              <a:tr h="274320">
                <a:tc>
                  <a:txBody>
                    <a:bodyPr/>
                    <a:lstStyle/>
                    <a:p>
                      <a:r>
                        <a:rPr sz="900" b="0"/>
                        <a:t>neutral</a:t>
                      </a:r>
                    </a:p>
                  </a:txBody>
                  <a:tcPr/>
                </a:tc>
                <a:tc>
                  <a:txBody>
                    <a:bodyPr/>
                    <a:lstStyle/>
                    <a:p>
                      <a:r>
                        <a:rPr sz="900" b="0"/>
                        <a:t>0.935</a:t>
                      </a:r>
                    </a:p>
                  </a:txBody>
                  <a:tcPr/>
                </a:tc>
                <a:tc>
                  <a:txBody>
                    <a:bodyPr/>
                    <a:lstStyle/>
                    <a:p>
                      <a:r>
                        <a:rPr sz="900" b="0"/>
                        <a:t>0.776</a:t>
                      </a:r>
                    </a:p>
                  </a:txBody>
                  <a:tcPr/>
                </a:tc>
                <a:tc>
                  <a:txBody>
                    <a:bodyPr/>
                    <a:lstStyle/>
                    <a:p>
                      <a:r>
                        <a:rPr sz="900" b="0"/>
                        <a:t>0.848</a:t>
                      </a:r>
                    </a:p>
                  </a:txBody>
                  <a:tcPr/>
                </a:tc>
                <a:tc>
                  <a:txBody>
                    <a:bodyPr/>
                    <a:lstStyle/>
                    <a:p>
                      <a:r>
                        <a:rPr sz="900" b="0"/>
                        <a:t>688</a:t>
                      </a:r>
                    </a:p>
                  </a:txBody>
                  <a:tcPr/>
                </a:tc>
              </a:tr>
              <a:tr h="274320">
                <a:tc>
                  <a:txBody>
                    <a:bodyPr/>
                    <a:lstStyle/>
                    <a:p>
                      <a:r>
                        <a:rPr sz="900" b="0"/>
                        <a:t>negative</a:t>
                      </a:r>
                    </a:p>
                  </a:txBody>
                  <a:tcPr/>
                </a:tc>
                <a:tc>
                  <a:txBody>
                    <a:bodyPr/>
                    <a:lstStyle/>
                    <a:p>
                      <a:r>
                        <a:rPr sz="900" b="0"/>
                        <a:t>0.288</a:t>
                      </a:r>
                    </a:p>
                  </a:txBody>
                  <a:tcPr/>
                </a:tc>
                <a:tc>
                  <a:txBody>
                    <a:bodyPr/>
                    <a:lstStyle/>
                    <a:p>
                      <a:r>
                        <a:rPr sz="900" b="0"/>
                        <a:t>0.382</a:t>
                      </a:r>
                    </a:p>
                  </a:txBody>
                  <a:tcPr/>
                </a:tc>
                <a:tc>
                  <a:txBody>
                    <a:bodyPr/>
                    <a:lstStyle/>
                    <a:p>
                      <a:r>
                        <a:rPr sz="900" b="0"/>
                        <a:t>0.328</a:t>
                      </a:r>
                    </a:p>
                  </a:txBody>
                  <a:tcPr/>
                </a:tc>
                <a:tc>
                  <a:txBody>
                    <a:bodyPr/>
                    <a:lstStyle/>
                    <a:p>
                      <a:r>
                        <a:rPr sz="900" b="0"/>
                        <a:t>55</a:t>
                      </a:r>
                    </a:p>
                  </a:txBody>
                  <a:tcPr/>
                </a:tc>
              </a:tr>
              <a:tr h="274320">
                <a:tc>
                  <a:txBody>
                    <a:bodyPr/>
                    <a:lstStyle/>
                    <a:p>
                      <a:r>
                        <a:rPr sz="900" b="1"/>
                        <a:t>Macro avg</a:t>
                      </a:r>
                    </a:p>
                  </a:txBody>
                  <a:tcPr/>
                </a:tc>
                <a:tc>
                  <a:txBody>
                    <a:bodyPr/>
                    <a:lstStyle/>
                    <a:p>
                      <a:r>
                        <a:rPr sz="900" b="1"/>
                        <a:t>0.610</a:t>
                      </a:r>
                    </a:p>
                  </a:txBody>
                  <a:tcPr/>
                </a:tc>
                <a:tc>
                  <a:txBody>
                    <a:bodyPr/>
                    <a:lstStyle/>
                    <a:p>
                      <a:r>
                        <a:rPr sz="900" b="1"/>
                        <a:t>0.696</a:t>
                      </a:r>
                    </a:p>
                  </a:txBody>
                  <a:tcPr/>
                </a:tc>
                <a:tc>
                  <a:txBody>
                    <a:bodyPr/>
                    <a:lstStyle/>
                    <a:p>
                      <a:r>
                        <a:rPr sz="900" b="1"/>
                        <a:t>0.637</a:t>
                      </a:r>
                    </a:p>
                  </a:txBody>
                  <a:tcPr/>
                </a:tc>
                <a:tc>
                  <a:txBody>
                    <a:bodyPr/>
                    <a:lstStyle/>
                    <a:p>
                      <a:r>
                        <a:rPr sz="900" b="1"/>
                        <a:t>929</a:t>
                      </a:r>
                    </a:p>
                  </a:txBody>
                  <a:tcPr/>
                </a:tc>
              </a:tr>
              <a:tr h="274320">
                <a:tc>
                  <a:txBody>
                    <a:bodyPr/>
                    <a:lstStyle/>
                    <a:p>
                      <a:r>
                        <a:rPr sz="900" b="1"/>
                        <a:t>Weighted avg</a:t>
                      </a:r>
                    </a:p>
                  </a:txBody>
                  <a:tcPr/>
                </a:tc>
                <a:tc>
                  <a:txBody>
                    <a:bodyPr/>
                    <a:lstStyle/>
                    <a:p>
                      <a:r>
                        <a:rPr sz="900" b="1"/>
                        <a:t>0.844</a:t>
                      </a:r>
                    </a:p>
                  </a:txBody>
                  <a:tcPr/>
                </a:tc>
                <a:tc>
                  <a:txBody>
                    <a:bodyPr/>
                    <a:lstStyle/>
                    <a:p>
                      <a:r>
                        <a:rPr sz="900" b="1"/>
                        <a:t>0.784</a:t>
                      </a:r>
                    </a:p>
                  </a:txBody>
                  <a:tcPr/>
                </a:tc>
                <a:tc>
                  <a:txBody>
                    <a:bodyPr/>
                    <a:lstStyle/>
                    <a:p>
                      <a:r>
                        <a:rPr sz="900" b="1"/>
                        <a:t>0.795</a:t>
                      </a:r>
                    </a:p>
                  </a:txBody>
                  <a:tcPr/>
                </a:tc>
                <a:tc>
                  <a:txBody>
                    <a:bodyPr/>
                    <a:lstStyle/>
                    <a:p>
                      <a:r>
                        <a:rPr sz="900" b="1"/>
                        <a:t>929</a:t>
                      </a:r>
                    </a:p>
                  </a:txBody>
                  <a:tcPr/>
                </a:tc>
              </a:tr>
            </a:tbl>
          </a:graphicData>
        </a:graphic>
      </p:graphicFrame>
      <p:pic>
        <p:nvPicPr>
          <p:cNvPr id="6" name="Picture 5" descr="confusion_matrix_3class.png"/>
          <p:cNvPicPr>
            <a:picLocks noChangeAspect="1"/>
          </p:cNvPicPr>
          <p:nvPr/>
        </p:nvPicPr>
        <p:blipFill>
          <a:blip r:embed="rId2"/>
          <a:stretch>
            <a:fillRect/>
          </a:stretch>
        </p:blipFill>
        <p:spPr>
          <a:xfrm>
            <a:off x="4572000" y="822960"/>
            <a:ext cx="4389120" cy="3246120"/>
          </a:xfrm>
          <a:prstGeom prst="rect">
            <a:avLst/>
          </a:prstGeom>
        </p:spPr>
      </p:pic>
      <p:sp>
        <p:nvSpPr>
          <p:cNvPr id="7" name="TextBox 6"/>
          <p:cNvSpPr txBox="1"/>
          <p:nvPr/>
        </p:nvSpPr>
        <p:spPr>
          <a:xfrm>
            <a:off x="274320" y="2926080"/>
            <a:ext cx="3931920" cy="2148840"/>
          </a:xfrm>
          <a:prstGeom prst="rect">
            <a:avLst/>
          </a:prstGeom>
          <a:noFill/>
        </p:spPr>
        <p:txBody>
          <a:bodyPr wrap="square" lIns="0" rIns="0" tIns="0" bIns="0">
            <a:spAutoFit/>
          </a:bodyPr>
          <a:lstStyle/>
          <a:p>
            <a:r>
              <a:rPr sz="1000" b="1"/>
              <a:t>Misclassification Pattern</a:t>
            </a:r>
          </a:p>
          <a:p>
            <a:r>
              <a:rPr sz="300" b="0"/>
              <a:t/>
            </a:r>
          </a:p>
          <a:p>
            <a:r>
              <a:rPr sz="850" b="0"/>
              <a:t>• neutral → positive: 105 (15.3%) — dominant, subtle smile reactions</a:t>
            </a:r>
          </a:p>
          <a:p>
            <a:r>
              <a:rPr sz="850" b="0"/>
              <a:t>• negative → neutral: 27 (49.1% of negative) — frustrasi mild ≈ deep focus</a:t>
            </a:r>
          </a:p>
          <a:p>
            <a:r>
              <a:rPr sz="850" b="0"/>
              <a:t>• neutral → negative: 49 (7.1%)</a:t>
            </a:r>
          </a:p>
          <a:p>
            <a:r>
              <a:rPr sz="850" b="0"/>
              <a:t>• Cross-valence confusion total: 13 (1.4%) — rendah</a:t>
            </a:r>
          </a:p>
          <a:p>
            <a:r>
              <a:rPr sz="400" b="0"/>
              <a:t/>
            </a:r>
          </a:p>
          <a:p>
            <a:r>
              <a:rPr sz="900" b="1"/>
              <a:t>Strong valence discrimination:</a:t>
            </a:r>
          </a:p>
          <a:p>
            <a:r>
              <a:rPr sz="850" b="0"/>
              <a:t>positive ↔ negative confusion hampir nol. Konsisten Russell 1980 — valence dimension paling prominent.</a:t>
            </a:r>
          </a:p>
          <a:p>
            <a:r>
              <a:rPr sz="850" b="0"/>
              <a:t>Negative recall rendah (0.382) karena boundary neutral-negative ambiguous di natural data.</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09728"/>
            <a:ext cx="8595360" cy="502920"/>
          </a:xfrm>
          <a:prstGeom prst="rect">
            <a:avLst/>
          </a:prstGeom>
          <a:noFill/>
        </p:spPr>
        <p:txBody>
          <a:bodyPr wrap="none">
            <a:spAutoFit/>
          </a:bodyPr>
          <a:lstStyle/>
          <a:p>
            <a:pPr algn="l"/>
            <a:r>
              <a:rPr sz="1800" b="1"/>
              <a:t>Rencana &amp; Status Eksplorasi Lanjutan (Fokus Arahan Dosen)</a:t>
            </a:r>
          </a:p>
        </p:txBody>
      </p:sp>
      <p:sp>
        <p:nvSpPr>
          <p:cNvPr id="3" name="TextBox 2"/>
          <p:cNvSpPr txBox="1"/>
          <p:nvPr/>
        </p:nvSpPr>
        <p:spPr>
          <a:xfrm>
            <a:off x="274320" y="685800"/>
            <a:ext cx="8595360" cy="640080"/>
          </a:xfrm>
          <a:prstGeom prst="rect">
            <a:avLst/>
          </a:prstGeom>
          <a:solidFill>
            <a:srgbClr val="FFF0CC"/>
          </a:solidFill>
        </p:spPr>
        <p:txBody>
          <a:bodyPr wrap="square">
            <a:spAutoFit/>
          </a:bodyPr>
          <a:lstStyle/>
          <a:p>
            <a:pPr algn="l"/>
            <a:r>
              <a:rPr sz="1000" b="1"/>
              <a:t>Best saat ini: 3-class Late Fusion TL B3 = Macro F1 0.623 (val-tuned, nb 79) — reframe dari 4c.</a:t>
            </a:r>
          </a:p>
          <a:p>
            <a:r>
              <a:rPr sz="950" b="0"/>
              <a:t>Status 4 arahan dosen + turunan paper. Arahan diprioritaskan.</a:t>
            </a:r>
          </a:p>
        </p:txBody>
      </p:sp>
      <p:sp>
        <p:nvSpPr>
          <p:cNvPr id="4" name="TextBox 3"/>
          <p:cNvSpPr txBox="1"/>
          <p:nvPr/>
        </p:nvSpPr>
        <p:spPr>
          <a:xfrm>
            <a:off x="274320" y="1463040"/>
            <a:ext cx="4114800" cy="1463040"/>
          </a:xfrm>
          <a:prstGeom prst="rect">
            <a:avLst/>
          </a:prstGeom>
          <a:solidFill>
            <a:srgbClr val="E6F4EA"/>
          </a:solidFill>
        </p:spPr>
        <p:txBody>
          <a:bodyPr wrap="square">
            <a:spAutoFit/>
          </a:bodyPr>
          <a:lstStyle/>
          <a:p>
            <a:pPr algn="l"/>
            <a:r>
              <a:rPr sz="1100" b="1"/>
              <a:t>Arahan Dosen (4 item)</a:t>
            </a:r>
          </a:p>
          <a:p>
            <a:r>
              <a:rPr sz="300" b="0"/>
              <a:t/>
            </a:r>
          </a:p>
          <a:p>
            <a:r>
              <a:rPr sz="950" b="1"/>
              <a:t>(1) GradCAM ✅ DONE (nb 73) — observational</a:t>
            </a:r>
          </a:p>
          <a:p>
            <a:r>
              <a:rPr sz="950" b="1"/>
              <a:t>(2) Space Alignment ✅ DONE (nb 75)</a:t>
            </a:r>
          </a:p>
          <a:p>
            <a:r>
              <a:rPr sz="850" b="0"/>
              <a:t>   → positive result: CCA top-5 = 0.978, siap paper</a:t>
            </a:r>
          </a:p>
          <a:p>
            <a:r>
              <a:rPr sz="950" b="1"/>
              <a:t>(3) Attention Module (CBAM) 🔄 nb 80 prepared</a:t>
            </a:r>
          </a:p>
          <a:p>
            <a:r>
              <a:rPr sz="850" b="0"/>
              <a:t>   → target beat 3c LF TL B3 (0.623), ~4-5 jam VPS</a:t>
            </a:r>
          </a:p>
          <a:p>
            <a:r>
              <a:rPr sz="950" b="1"/>
              <a:t>(4) Geometric Features (Liliana 2019) ⏳ belum</a:t>
            </a:r>
          </a:p>
          <a:p>
            <a:r>
              <a:rPr sz="850" b="0"/>
              <a:t>   → 20-d GF Table 3, est. 2-3 hari</a:t>
            </a:r>
          </a:p>
        </p:txBody>
      </p:sp>
      <p:sp>
        <p:nvSpPr>
          <p:cNvPr id="5" name="TextBox 4"/>
          <p:cNvSpPr txBox="1"/>
          <p:nvPr/>
        </p:nvSpPr>
        <p:spPr>
          <a:xfrm>
            <a:off x="4572000" y="1463040"/>
            <a:ext cx="4297680" cy="1463040"/>
          </a:xfrm>
          <a:prstGeom prst="rect">
            <a:avLst/>
          </a:prstGeom>
          <a:solidFill>
            <a:srgbClr val="E8F0FE"/>
          </a:solidFill>
        </p:spPr>
        <p:txBody>
          <a:bodyPr wrap="square">
            <a:spAutoFit/>
          </a:bodyPr>
          <a:lstStyle/>
          <a:p>
            <a:pPr algn="l"/>
            <a:r>
              <a:rPr sz="1100" b="1"/>
              <a:t>Turunan + Eksplorasi Lain</a:t>
            </a:r>
          </a:p>
          <a:p>
            <a:r>
              <a:rPr sz="300" b="0"/>
              <a:t/>
            </a:r>
          </a:p>
          <a:p>
            <a:r>
              <a:rPr sz="900" b="1"/>
              <a:t>Soft Label (nb 71/72/78) ✅ CLOSED — negative result</a:t>
            </a:r>
          </a:p>
          <a:p>
            <a:r>
              <a:rPr sz="300" b="0"/>
              <a:t/>
            </a:r>
          </a:p>
          <a:p>
            <a:r>
              <a:rPr sz="900" b="1"/>
              <a:t>3-Class Exploration (nb 79) ✅ DONE — positive</a:t>
            </a:r>
          </a:p>
          <a:p>
            <a:r>
              <a:rPr sz="850" b="0"/>
              <a:t>   → +0.10 Macro F1 vs 4c, reframe paper</a:t>
            </a:r>
          </a:p>
          <a:p>
            <a:r>
              <a:rPr sz="300" b="0"/>
              <a:t/>
            </a:r>
          </a:p>
          <a:p>
            <a:r>
              <a:rPr sz="900" b="1"/>
              <a:t>Pitaloka 2017 GCN Ablation ⏳ belum</a:t>
            </a:r>
          </a:p>
          <a:p>
            <a:r>
              <a:rPr sz="850" b="0"/>
              <a:t>   → quick win 0.5-1 hari</a:t>
            </a:r>
          </a:p>
          <a:p>
            <a:r>
              <a:rPr sz="300" b="0"/>
              <a:t/>
            </a:r>
          </a:p>
          <a:p>
            <a:r>
              <a:rPr sz="900" b="1"/>
              <a:t>Liliana 2019 FEIS Fuzzy Rule ⏳ belum</a:t>
            </a:r>
          </a:p>
          <a:p>
            <a:r>
              <a:rPr sz="850" b="0"/>
              <a:t>   → non-DL baseline, est. 2-3 hari</a:t>
            </a:r>
          </a:p>
        </p:txBody>
      </p:sp>
      <p:sp>
        <p:nvSpPr>
          <p:cNvPr id="6" name="TextBox 5"/>
          <p:cNvSpPr txBox="1"/>
          <p:nvPr/>
        </p:nvSpPr>
        <p:spPr>
          <a:xfrm>
            <a:off x="274320" y="3063240"/>
            <a:ext cx="8595360" cy="914400"/>
          </a:xfrm>
          <a:prstGeom prst="rect">
            <a:avLst/>
          </a:prstGeom>
          <a:solidFill>
            <a:srgbClr val="F1F3F4"/>
          </a:solidFill>
        </p:spPr>
        <p:txBody>
          <a:bodyPr wrap="square">
            <a:spAutoFit/>
          </a:bodyPr>
          <a:lstStyle/>
          <a:p>
            <a:pPr algn="l"/>
            <a:r>
              <a:rPr sz="1000" b="1"/>
              <a:t>Urutan eksekusi rekomendasi:</a:t>
            </a:r>
          </a:p>
          <a:p>
            <a:r>
              <a:rPr sz="300" b="0"/>
              <a:t/>
            </a:r>
          </a:p>
          <a:p>
            <a:r>
              <a:rPr sz="900" b="0"/>
              <a:t>(3) Attention CBAM (nb 80 queued) → (4) Geometric Features → Pitaloka GCN → FEIS. Semua berbasis val-based selection, bandingkan vs 3-class baseline 0.623.</a:t>
            </a:r>
          </a:p>
        </p:txBody>
      </p:sp>
      <p:sp>
        <p:nvSpPr>
          <p:cNvPr id="7" name="TextBox 6"/>
          <p:cNvSpPr txBox="1"/>
          <p:nvPr/>
        </p:nvSpPr>
        <p:spPr>
          <a:xfrm>
            <a:off x="274320" y="4069080"/>
            <a:ext cx="8595360" cy="320040"/>
          </a:xfrm>
          <a:prstGeom prst="rect">
            <a:avLst/>
          </a:prstGeom>
          <a:solidFill>
            <a:srgbClr val="1A73E8"/>
          </a:solidFill>
        </p:spPr>
        <p:txBody>
          <a:bodyPr wrap="square">
            <a:spAutoFit/>
          </a:bodyPr>
          <a:lstStyle/>
          <a:p>
            <a:pPr algn="ctr"/>
            <a:r>
              <a:rPr sz="900" b="1"/>
              <a:t>Status Apr 2026: 3/4 arahan dosen (1, 2) + 3-class DONE  |  (3) queued (nb 80)  |  (4) + 2 turunan paper belum dimulai  |  Detail: docs/eksplorasi_lanjutan.md, bimbingan_progress.md</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1752" y="429768"/>
            <a:ext cx="8321040" cy="548640"/>
          </a:xfrm>
          <a:prstGeom prst="rect">
            <a:avLst/>
          </a:prstGeom>
          <a:noFill/>
        </p:spPr>
        <p:txBody>
          <a:bodyPr wrap="none">
            <a:spAutoFit/>
          </a:bodyPr>
          <a:lstStyle/>
          <a:p>
            <a:pPr>
              <a:defRPr sz="2400" b="1">
                <a:solidFill>
                  <a:srgbClr val="202020"/>
                </a:solidFill>
              </a:defRPr>
            </a:pPr>
            <a:r>
              <a:t>Diskusi &amp; Konsultasi</a:t>
            </a:r>
          </a:p>
        </p:txBody>
      </p:sp>
      <p:graphicFrame>
        <p:nvGraphicFramePr>
          <p:cNvPr id="3" name="Table 2"/>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548640"/>
                <a:gridCol w="2286000"/>
                <a:gridCol w="5394960"/>
              </a:tblGrid>
              <a:tr h="457200">
                <a:tc>
                  <a:txBody>
                    <a:bodyPr/>
                    <a:lstStyle/>
                    <a:p>
                      <a:pPr algn="ctr"/>
                      <a:r>
                        <a:rPr sz="1000" b="1">
                          <a:solidFill>
                            <a:srgbClr val="FFFFFF"/>
                          </a:solidFill>
                        </a:rPr>
                        <a:t>RQ</a:t>
                      </a:r>
                    </a:p>
                  </a:txBody>
                  <a:tcPr>
                    <a:solidFill>
                      <a:srgbClr val="1A73E8"/>
                    </a:solidFill>
                  </a:tcPr>
                </a:tc>
                <a:tc>
                  <a:txBody>
                    <a:bodyPr/>
                    <a:lstStyle/>
                    <a:p>
                      <a:pPr algn="ctr"/>
                      <a:r>
                        <a:rPr sz="1000" b="1">
                          <a:solidFill>
                            <a:srgbClr val="FFFFFF"/>
                          </a:solidFill>
                        </a:rPr>
                        <a:t>Pertanyaan Penelitian</a:t>
                      </a:r>
                    </a:p>
                  </a:txBody>
                  <a:tcPr>
                    <a:solidFill>
                      <a:srgbClr val="1A73E8"/>
                    </a:solidFill>
                  </a:tcPr>
                </a:tc>
                <a:tc>
                  <a:txBody>
                    <a:bodyPr/>
                    <a:lstStyle/>
                    <a:p>
                      <a:pPr algn="ctr"/>
                      <a:r>
                        <a:rPr sz="1000" b="1">
                          <a:solidFill>
                            <a:srgbClr val="FFFFFF"/>
                          </a:solidFill>
                        </a:rPr>
                        <a:t>Jawaban / Hasil</a:t>
                      </a:r>
                    </a:p>
                  </a:txBody>
                  <a:tcPr>
                    <a:solidFill>
                      <a:srgbClr val="1A73E8"/>
                    </a:solidFill>
                  </a:tcPr>
                </a:tc>
              </a:tr>
              <a:tr h="457200">
                <a:tc>
                  <a:txBody>
                    <a:bodyPr/>
                    <a:lstStyle/>
                    <a:p>
                      <a:pPr algn="l"/>
                      <a:r>
                        <a:rPr sz="900">
                          <a:solidFill>
                            <a:srgbClr val="202020"/>
                          </a:solidFill>
                        </a:rPr>
                        <a:t>RQ1</a:t>
                      </a:r>
                    </a:p>
                  </a:txBody>
                  <a:tcPr>
                    <a:solidFill>
                      <a:srgbClr val="E8F0FE"/>
                    </a:solidFill>
                  </a:tcPr>
                </a:tc>
                <a:tc>
                  <a:txBody>
                    <a:bodyPr/>
                    <a:lstStyle/>
                    <a:p>
                      <a:pPr algn="ctr"/>
                      <a:r>
                        <a:rPr sz="900">
                          <a:solidFill>
                            <a:srgbClr val="202020"/>
                          </a:solidFill>
                        </a:rPr>
                        <a:t>Apakah multimodal fusion outperforms single-modality?</a:t>
                      </a:r>
                    </a:p>
                  </a:txBody>
                  <a:tcPr>
                    <a:solidFill>
                      <a:srgbClr val="E8F0FE"/>
                    </a:solidFill>
                  </a:tcPr>
                </a:tc>
                <a:tc>
                  <a:txBody>
                    <a:bodyPr/>
                    <a:lstStyle/>
                    <a:p>
                      <a:pPr algn="ctr"/>
                      <a:r>
                        <a:rPr sz="900">
                          <a:solidFill>
                            <a:srgbClr val="202020"/>
                          </a:solidFill>
                        </a:rPr>
                        <a:t>Ya. Best fusion (Intermediate TL 4c B3 = 0.521) &gt; best single-modal (CNN TL 4c B3 = 0.507, FCNN 4c B2 = 0.459). Gain moderat ~+0.01-0.06 Macro F1.</a:t>
                      </a:r>
                    </a:p>
                  </a:txBody>
                  <a:tcPr>
                    <a:solidFill>
                      <a:srgbClr val="E8F0FE"/>
                    </a:solidFill>
                  </a:tcPr>
                </a:tc>
              </a:tr>
              <a:tr h="457200">
                <a:tc>
                  <a:txBody>
                    <a:bodyPr/>
                    <a:lstStyle/>
                    <a:p>
                      <a:pPr algn="l"/>
                      <a:r>
                        <a:rPr sz="900">
                          <a:solidFill>
                            <a:srgbClr val="202020"/>
                          </a:solidFill>
                        </a:rPr>
                        <a:t>RQ2</a:t>
                      </a:r>
                    </a:p>
                  </a:txBody>
                  <a:tcPr>
                    <a:solidFill>
                      <a:srgbClr val="FFFFFF"/>
                    </a:solidFill>
                  </a:tcPr>
                </a:tc>
                <a:tc>
                  <a:txBody>
                    <a:bodyPr/>
                    <a:lstStyle/>
                    <a:p>
                      <a:pPr algn="ctr"/>
                      <a:r>
                        <a:rPr sz="900">
                          <a:solidFill>
                            <a:srgbClr val="202020"/>
                          </a:solidFill>
                        </a:rPr>
                        <a:t>Strategi fusion mana yang terbaik (Early / Intermediate / Late)?</a:t>
                      </a:r>
                    </a:p>
                  </a:txBody>
                  <a:tcPr>
                    <a:solidFill>
                      <a:srgbClr val="FFFFFF"/>
                    </a:solidFill>
                  </a:tcPr>
                </a:tc>
                <a:tc>
                  <a:txBody>
                    <a:bodyPr/>
                    <a:lstStyle/>
                    <a:p>
                      <a:pPr algn="ctr"/>
                      <a:r>
                        <a:rPr sz="900">
                          <a:solidFill>
                            <a:srgbClr val="202020"/>
                          </a:solidFill>
                        </a:rPr>
                        <a:t>4-class: Intermediate TL (0.521) &gt; Late Fusion scratch B2 (0.479) ≈ Early Fusion TL (0.471). 7-class: Early Fusion TL B3 (0.333) &gt; Intermediate TL (0.292). Val-tuned proper, no leakage.</a:t>
                      </a:r>
                    </a:p>
                  </a:txBody>
                  <a:tcPr>
                    <a:solidFill>
                      <a:srgbClr val="FFFFFF"/>
                    </a:solidFill>
                  </a:tcPr>
                </a:tc>
              </a:tr>
              <a:tr h="457200">
                <a:tc>
                  <a:txBody>
                    <a:bodyPr/>
                    <a:lstStyle/>
                    <a:p>
                      <a:pPr algn="l"/>
                      <a:r>
                        <a:rPr sz="900">
                          <a:solidFill>
                            <a:srgbClr val="202020"/>
                          </a:solidFill>
                        </a:rPr>
                        <a:t>RQ3</a:t>
                      </a:r>
                    </a:p>
                  </a:txBody>
                  <a:tcPr>
                    <a:solidFill>
                      <a:srgbClr val="E8F0FE"/>
                    </a:solidFill>
                  </a:tcPr>
                </a:tc>
                <a:tc>
                  <a:txBody>
                    <a:bodyPr/>
                    <a:lstStyle/>
                    <a:p>
                      <a:pPr algn="ctr"/>
                      <a:r>
                        <a:rPr sz="900">
                          <a:solidFill>
                            <a:srgbClr val="202020"/>
                          </a:solidFill>
                        </a:rPr>
                        <a:t>Transfer Learning effectiveness?</a:t>
                      </a:r>
                    </a:p>
                  </a:txBody>
                  <a:tcPr>
                    <a:solidFill>
                      <a:srgbClr val="E8F0FE"/>
                    </a:solidFill>
                  </a:tcPr>
                </a:tc>
                <a:tc>
                  <a:txBody>
                    <a:bodyPr/>
                    <a:lstStyle/>
                    <a:p>
                      <a:pPr algn="ctr"/>
                      <a:r>
                        <a:rPr sz="900">
                          <a:solidFill>
                            <a:srgbClr val="202020"/>
                          </a:solidFill>
                        </a:rPr>
                        <a:t>TL konsisten unggul (Intermediate TL vs scratch: +0.127 B3 4c). Gain Late Fusion marginal post val-tuning karena w ≈ 0 pilih FCNN-only. Best 4c val-tuned: Intermediate TL &gt; Late Fusion.</a:t>
                      </a:r>
                    </a:p>
                  </a:txBody>
                  <a:tcPr>
                    <a:solidFill>
                      <a:srgbClr val="E8F0FE"/>
                    </a:solidFill>
                  </a:tcPr>
                </a:tc>
              </a:tr>
            </a:tbl>
          </a:graphicData>
        </a:graphic>
      </p:graphicFrame>
      <p:graphicFrame>
        <p:nvGraphicFramePr>
          <p:cNvPr id="4" name="Table 3"/>
          <p:cNvGraphicFramePr>
            <a:graphicFrameLocks noGrp="1"/>
          </p:cNvGraphicFramePr>
          <p:nvPr/>
        </p:nvGraphicFramePr>
        <p:xfrm>
          <a:off x="457200" y="3017520"/>
          <a:ext cx="8229600" cy="1828800"/>
        </p:xfrm>
        <a:graphic>
          <a:graphicData uri="http://schemas.openxmlformats.org/drawingml/2006/table">
            <a:tbl>
              <a:tblPr firstRow="1" bandRow="1">
                <a:tableStyleId>{5C22544A-7EE6-4342-B048-85BDC9FD1C3A}</a:tableStyleId>
              </a:tblPr>
              <a:tblGrid>
                <a:gridCol w="365760"/>
                <a:gridCol w="2286000"/>
                <a:gridCol w="5577840"/>
              </a:tblGrid>
              <a:tr h="365760">
                <a:tc>
                  <a:txBody>
                    <a:bodyPr/>
                    <a:lstStyle/>
                    <a:p>
                      <a:pPr algn="ctr"/>
                      <a:r>
                        <a:rPr sz="1000" b="1">
                          <a:solidFill>
                            <a:srgbClr val="FFFFFF"/>
                          </a:solidFill>
                        </a:rPr>
                        <a:t>No</a:t>
                      </a:r>
                    </a:p>
                  </a:txBody>
                  <a:tcPr>
                    <a:solidFill>
                      <a:srgbClr val="1A73E8"/>
                    </a:solidFill>
                  </a:tcPr>
                </a:tc>
                <a:tc>
                  <a:txBody>
                    <a:bodyPr/>
                    <a:lstStyle/>
                    <a:p>
                      <a:pPr algn="ctr"/>
                      <a:r>
                        <a:rPr sz="1000" b="1">
                          <a:solidFill>
                            <a:srgbClr val="FFFFFF"/>
                          </a:solidFill>
                        </a:rPr>
                        <a:t>Topik Konsultasi</a:t>
                      </a:r>
                    </a:p>
                  </a:txBody>
                  <a:tcPr>
                    <a:solidFill>
                      <a:srgbClr val="1A73E8"/>
                    </a:solidFill>
                  </a:tcPr>
                </a:tc>
                <a:tc>
                  <a:txBody>
                    <a:bodyPr/>
                    <a:lstStyle/>
                    <a:p>
                      <a:pPr algn="ctr"/>
                      <a:r>
                        <a:rPr sz="1000" b="1">
                          <a:solidFill>
                            <a:srgbClr val="FFFFFF"/>
                          </a:solidFill>
                        </a:rPr>
                        <a:t>Pertanyaan</a:t>
                      </a:r>
                    </a:p>
                  </a:txBody>
                  <a:tcPr>
                    <a:solidFill>
                      <a:srgbClr val="1A73E8"/>
                    </a:solidFill>
                  </a:tcPr>
                </a:tc>
              </a:tr>
              <a:tr h="365760">
                <a:tc>
                  <a:txBody>
                    <a:bodyPr/>
                    <a:lstStyle/>
                    <a:p>
                      <a:pPr algn="l"/>
                      <a:r>
                        <a:rPr sz="900">
                          <a:solidFill>
                            <a:srgbClr val="202020"/>
                          </a:solidFill>
                        </a:rPr>
                        <a:t>1</a:t>
                      </a:r>
                    </a:p>
                  </a:txBody>
                  <a:tcPr>
                    <a:solidFill>
                      <a:srgbClr val="E8F0FE"/>
                    </a:solidFill>
                  </a:tcPr>
                </a:tc>
                <a:tc>
                  <a:txBody>
                    <a:bodyPr/>
                    <a:lstStyle/>
                    <a:p>
                      <a:pPr algn="ctr"/>
                      <a:r>
                        <a:rPr sz="900">
                          <a:solidFill>
                            <a:srgbClr val="202020"/>
                          </a:solidFill>
                        </a:rPr>
                        <a:t>Best overall bergeser: Late Fusion TL (0.567 test-tuned) → Intermediate TL (0.521 val-tuned)</a:t>
                      </a:r>
                    </a:p>
                  </a:txBody>
                  <a:tcPr>
                    <a:solidFill>
                      <a:srgbClr val="E8F0FE"/>
                    </a:solidFill>
                  </a:tcPr>
                </a:tc>
                <a:tc>
                  <a:txBody>
                    <a:bodyPr/>
                    <a:lstStyle/>
                    <a:p>
                      <a:pPr algn="ctr"/>
                      <a:r>
                        <a:rPr sz="900">
                          <a:solidFill>
                            <a:srgbClr val="202020"/>
                          </a:solidFill>
                        </a:rPr>
                        <a:t>Fix test-set leakage di Late Fusion grid-search w. Mohon konfirmasi narasi paper: pakai angka val-tuned proper (0.521) atau report both dengan caveat?</a:t>
                      </a:r>
                    </a:p>
                  </a:txBody>
                  <a:tcPr>
                    <a:solidFill>
                      <a:srgbClr val="E8F0FE"/>
                    </a:solidFill>
                  </a:tcPr>
                </a:tc>
              </a:tr>
              <a:tr h="365760">
                <a:tc>
                  <a:txBody>
                    <a:bodyPr/>
                    <a:lstStyle/>
                    <a:p>
                      <a:pPr algn="l"/>
                      <a:r>
                        <a:rPr sz="900">
                          <a:solidFill>
                            <a:srgbClr val="202020"/>
                          </a:solidFill>
                        </a:rPr>
                        <a:t>2</a:t>
                      </a:r>
                    </a:p>
                  </a:txBody>
                  <a:tcPr>
                    <a:solidFill>
                      <a:srgbClr val="FFFFFF"/>
                    </a:solidFill>
                  </a:tcPr>
                </a:tc>
                <a:tc>
                  <a:txBody>
                    <a:bodyPr/>
                    <a:lstStyle/>
                    <a:p>
                      <a:pPr algn="ctr"/>
                      <a:r>
                        <a:rPr sz="900">
                          <a:solidFill>
                            <a:srgbClr val="202020"/>
                          </a:solidFill>
                        </a:rPr>
                        <a:t>Soft Label Training (nb 71) — KL-divergence +0.09 Macro F1</a:t>
                      </a:r>
                    </a:p>
                  </a:txBody>
                  <a:tcPr>
                    <a:solidFill>
                      <a:srgbClr val="FFFFFF"/>
                    </a:solidFill>
                  </a:tcPr>
                </a:tc>
                <a:tc>
                  <a:txBody>
                    <a:bodyPr/>
                    <a:lstStyle/>
                    <a:p>
                      <a:pPr algn="ctr"/>
                      <a:r>
                        <a:rPr sz="900">
                          <a:solidFill>
                            <a:srgbClr val="202020"/>
                          </a:solidFill>
                        </a:rPr>
                        <a:t>Hasil promising di CNN TL single (0.427 → 0.517). Lanjut ke nb 72 (Late Fusion + soft label + B3) untuk coba beat 0.521? Atau cukup dicantumkan sebagai eksplorasi?</a:t>
                      </a:r>
                    </a:p>
                  </a:txBody>
                  <a:tcPr>
                    <a:solidFill>
                      <a:srgbClr val="FFFFFF"/>
                    </a:solidFill>
                  </a:tcPr>
                </a:tc>
              </a:tr>
              <a:tr h="365760">
                <a:tc>
                  <a:txBody>
                    <a:bodyPr/>
                    <a:lstStyle/>
                    <a:p>
                      <a:pPr algn="l"/>
                      <a:r>
                        <a:rPr sz="900">
                          <a:solidFill>
                            <a:srgbClr val="202020"/>
                          </a:solidFill>
                        </a:rPr>
                        <a:t>3</a:t>
                      </a:r>
                    </a:p>
                  </a:txBody>
                  <a:tcPr>
                    <a:solidFill>
                      <a:srgbClr val="E8F0FE"/>
                    </a:solidFill>
                  </a:tcPr>
                </a:tc>
                <a:tc>
                  <a:txBody>
                    <a:bodyPr/>
                    <a:lstStyle/>
                    <a:p>
                      <a:pPr algn="ctr"/>
                      <a:r>
                        <a:rPr sz="900">
                          <a:solidFill>
                            <a:srgbClr val="202020"/>
                          </a:solidFill>
                        </a:rPr>
                        <a:t>Eksplorasi lanjutan: GradCAM, Space Alignment, Attention (CBAM/Ghost/Triplet), Geometric Features (Liliana)</a:t>
                      </a:r>
                    </a:p>
                  </a:txBody>
                  <a:tcPr>
                    <a:solidFill>
                      <a:srgbClr val="E8F0FE"/>
                    </a:solidFill>
                  </a:tcPr>
                </a:tc>
                <a:tc>
                  <a:txBody>
                    <a:bodyPr/>
                    <a:lstStyle/>
                    <a:p>
                      <a:pPr algn="ctr"/>
                      <a:r>
                        <a:rPr sz="900">
                          <a:solidFill>
                            <a:srgbClr val="202020"/>
                          </a:solidFill>
                        </a:rPr>
                        <a:t>Prioritas mana yang diambil dulu untuk BAB eksperimen tesis? 4-6 item dalam ~2-3 minggu, atau fokus 1-2 item lebih dalam?</a:t>
                      </a:r>
                    </a:p>
                  </a:txBody>
                  <a:tcPr>
                    <a:solidFill>
                      <a:srgbClr val="E8F0FE"/>
                    </a:solidFill>
                  </a:tcPr>
                </a:tc>
              </a:tr>
              <a:tr h="365760">
                <a:tc>
                  <a:txBody>
                    <a:bodyPr/>
                    <a:lstStyle/>
                    <a:p>
                      <a:pPr algn="l"/>
                      <a:r>
                        <a:rPr sz="900">
                          <a:solidFill>
                            <a:srgbClr val="202020"/>
                          </a:solidFill>
                        </a:rPr>
                        <a:t>4</a:t>
                      </a:r>
                    </a:p>
                  </a:txBody>
                  <a:tcPr>
                    <a:solidFill>
                      <a:srgbClr val="FFFFFF"/>
                    </a:solidFill>
                  </a:tcPr>
                </a:tc>
                <a:tc>
                  <a:txBody>
                    <a:bodyPr/>
                    <a:lstStyle/>
                    <a:p>
                      <a:pPr algn="ctr"/>
                      <a:r>
                        <a:rPr sz="900">
                          <a:solidFill>
                            <a:srgbClr val="202020"/>
                          </a:solidFill>
                        </a:rPr>
                        <a:t>Scope paper JITeCS vs tesis</a:t>
                      </a:r>
                    </a:p>
                  </a:txBody>
                  <a:tcPr>
                    <a:solidFill>
                      <a:srgbClr val="FFFFFF"/>
                    </a:solidFill>
                  </a:tcPr>
                </a:tc>
                <a:tc>
                  <a:txBody>
                    <a:bodyPr/>
                    <a:lstStyle/>
                    <a:p>
                      <a:pPr algn="ctr"/>
                      <a:r>
                        <a:rPr sz="900">
                          <a:solidFill>
                            <a:srgbClr val="202020"/>
                          </a:solidFill>
                        </a:rPr>
                        <a:t>Paper fokus Primer conf60 (5 fusion strategy + TL + imbalance). Eksplorasi lanjutan (8 item) masuk ke tesis saja, bukan paper?</a:t>
                      </a:r>
                    </a:p>
                  </a:txBody>
                  <a:tcPr>
                    <a:solidFill>
                      <a:srgbClr val="FFFFFF"/>
                    </a:solidFill>
                  </a:tcPr>
                </a:tc>
              </a:tr>
            </a:tbl>
          </a:graphicData>
        </a:graphic>
      </p:graphicFrame>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8595360" cy="365760"/>
          </a:xfrm>
          <a:prstGeom prst="rect">
            <a:avLst/>
          </a:prstGeom>
          <a:noFill/>
        </p:spPr>
        <p:txBody>
          <a:bodyPr wrap="square" lIns="0" rIns="0" tIns="0" bIns="0">
            <a:spAutoFit/>
          </a:bodyPr>
          <a:lstStyle/>
          <a:p>
            <a:r>
              <a:rPr sz="1800" b="1"/>
              <a:t>Pertanyaan Bimbingan — Update Paper</a:t>
            </a:r>
          </a:p>
        </p:txBody>
      </p:sp>
      <p:sp>
        <p:nvSpPr>
          <p:cNvPr id="3" name="TextBox 2"/>
          <p:cNvSpPr txBox="1"/>
          <p:nvPr/>
        </p:nvSpPr>
        <p:spPr>
          <a:xfrm>
            <a:off x="274320" y="548640"/>
            <a:ext cx="8595360" cy="320040"/>
          </a:xfrm>
          <a:prstGeom prst="rect">
            <a:avLst/>
          </a:prstGeom>
          <a:noFill/>
        </p:spPr>
        <p:txBody>
          <a:bodyPr wrap="square" lIns="0" rIns="0" tIns="0" bIns="0">
            <a:spAutoFit/>
          </a:bodyPr>
          <a:lstStyle/>
          <a:p>
            <a:r>
              <a:rPr sz="1300" b="1">
                <a:solidFill>
                  <a:srgbClr val="2E5E96"/>
                </a:solidFill>
              </a:rPr>
              <a:t>1. Paper EECCIS 2026 (Accepted)</a:t>
            </a:r>
          </a:p>
        </p:txBody>
      </p:sp>
      <p:sp>
        <p:nvSpPr>
          <p:cNvPr id="4" name="TextBox 3"/>
          <p:cNvSpPr txBox="1"/>
          <p:nvPr/>
        </p:nvSpPr>
        <p:spPr>
          <a:xfrm>
            <a:off x="274320" y="896112"/>
            <a:ext cx="8595360" cy="274320"/>
          </a:xfrm>
          <a:prstGeom prst="rect">
            <a:avLst/>
          </a:prstGeom>
          <a:noFill/>
        </p:spPr>
        <p:txBody>
          <a:bodyPr wrap="square" lIns="0" rIns="0" tIns="0" bIns="0">
            <a:spAutoFit/>
          </a:bodyPr>
          <a:lstStyle/>
          <a:p>
            <a:r>
              <a:rPr sz="1000" b="0"/>
              <a:t>Judul: "Automated Engagement Assessment in Block-Based Programming Using Facial Emotion Recognition"</a:t>
            </a:r>
          </a:p>
        </p:txBody>
      </p:sp>
      <p:sp>
        <p:nvSpPr>
          <p:cNvPr id="5" name="TextBox 4"/>
          <p:cNvSpPr txBox="1"/>
          <p:nvPr/>
        </p:nvSpPr>
        <p:spPr>
          <a:xfrm>
            <a:off x="274320" y="1188720"/>
            <a:ext cx="8595360" cy="1005840"/>
          </a:xfrm>
          <a:prstGeom prst="rect">
            <a:avLst/>
          </a:prstGeom>
          <a:noFill/>
        </p:spPr>
        <p:txBody>
          <a:bodyPr wrap="square" lIns="0" rIns="0" tIns="0" bIns="0">
            <a:spAutoFit/>
          </a:bodyPr>
          <a:lstStyle/>
          <a:p>
            <a:r>
              <a:rPr sz="1000" b="1"/>
              <a:t>Pertanyaan:</a:t>
            </a:r>
          </a:p>
          <a:p>
            <a:r>
              <a:rPr sz="950" b="0"/>
              <a:t>• Langkah-langkah revisi final manuscript — apa yang perlu diperhatikan dari reviewer comments?</a:t>
            </a:r>
          </a:p>
          <a:p>
            <a:r>
              <a:rPr sz="950" b="0"/>
              <a:t>• Proses registrasi konferensi — deadline, author registration, early-bird fee?</a:t>
            </a:r>
          </a:p>
          <a:p>
            <a:r>
              <a:rPr sz="950" b="0"/>
              <a:t>• Mekanisme pengajuan pendanaan untuk biaya konferensi — apakah ada skema dari fakultas/universitas?</a:t>
            </a:r>
          </a:p>
        </p:txBody>
      </p:sp>
      <p:sp>
        <p:nvSpPr>
          <p:cNvPr id="6" name="TextBox 5"/>
          <p:cNvSpPr txBox="1"/>
          <p:nvPr/>
        </p:nvSpPr>
        <p:spPr>
          <a:xfrm>
            <a:off x="274320" y="2331720"/>
            <a:ext cx="8595360" cy="320040"/>
          </a:xfrm>
          <a:prstGeom prst="rect">
            <a:avLst/>
          </a:prstGeom>
          <a:noFill/>
        </p:spPr>
        <p:txBody>
          <a:bodyPr wrap="square" lIns="0" rIns="0" tIns="0" bIns="0">
            <a:spAutoFit/>
          </a:bodyPr>
          <a:lstStyle/>
          <a:p>
            <a:r>
              <a:rPr sz="1300" b="1">
                <a:solidFill>
                  <a:srgbClr val="A87143"/>
                </a:solidFill>
              </a:rPr>
              <a:t>2. Paper JITeCS (Draft)</a:t>
            </a:r>
          </a:p>
        </p:txBody>
      </p:sp>
      <p:sp>
        <p:nvSpPr>
          <p:cNvPr id="7" name="TextBox 6"/>
          <p:cNvSpPr txBox="1"/>
          <p:nvPr/>
        </p:nvSpPr>
        <p:spPr>
          <a:xfrm>
            <a:off x="274320" y="2679192"/>
            <a:ext cx="8595360" cy="274320"/>
          </a:xfrm>
          <a:prstGeom prst="rect">
            <a:avLst/>
          </a:prstGeom>
          <a:noFill/>
        </p:spPr>
        <p:txBody>
          <a:bodyPr wrap="square" lIns="0" rIns="0" tIns="0" bIns="0">
            <a:spAutoFit/>
          </a:bodyPr>
          <a:lstStyle/>
          <a:p>
            <a:r>
              <a:rPr sz="1000" b="0"/>
              <a:t>Status: Draft selesai — tersimpan di folder Publikasi + Google Drive template</a:t>
            </a:r>
          </a:p>
        </p:txBody>
      </p:sp>
      <p:sp>
        <p:nvSpPr>
          <p:cNvPr id="8" name="TextBox 7"/>
          <p:cNvSpPr txBox="1"/>
          <p:nvPr/>
        </p:nvSpPr>
        <p:spPr>
          <a:xfrm>
            <a:off x="274320" y="2971800"/>
            <a:ext cx="8595360" cy="274320"/>
          </a:xfrm>
          <a:prstGeom prst="rect">
            <a:avLst/>
          </a:prstGeom>
          <a:noFill/>
        </p:spPr>
        <p:txBody>
          <a:bodyPr wrap="square" lIns="0" rIns="0" tIns="0" bIns="0">
            <a:spAutoFit/>
          </a:bodyPr>
          <a:lstStyle/>
          <a:p>
            <a:r>
              <a:rPr sz="850" b="0">
                <a:solidFill>
                  <a:srgbClr val="2E5E96"/>
                </a:solidFill>
              </a:rPr>
              <a:t>https://drive.google.com/drive/folders/1tbxb0Vi1AsEuXPxNNkRqECmX24P9Kqfj</a:t>
            </a:r>
          </a:p>
        </p:txBody>
      </p:sp>
      <p:sp>
        <p:nvSpPr>
          <p:cNvPr id="9" name="TextBox 8"/>
          <p:cNvSpPr txBox="1"/>
          <p:nvPr/>
        </p:nvSpPr>
        <p:spPr>
          <a:xfrm>
            <a:off x="274320" y="3291840"/>
            <a:ext cx="8595360" cy="1051560"/>
          </a:xfrm>
          <a:prstGeom prst="rect">
            <a:avLst/>
          </a:prstGeom>
          <a:noFill/>
        </p:spPr>
        <p:txBody>
          <a:bodyPr wrap="square" lIns="0" rIns="0" tIns="0" bIns="0">
            <a:spAutoFit/>
          </a:bodyPr>
          <a:lstStyle/>
          <a:p>
            <a:r>
              <a:rPr sz="1000" b="1"/>
              <a:t>Kendala + pertanyaan:</a:t>
            </a:r>
          </a:p>
          <a:p>
            <a:r>
              <a:rPr sz="950" b="0"/>
              <a:t>• Draft saat ini 14 halaman — melebihi 2 halaman dari batas (12 halaman).</a:t>
            </a:r>
          </a:p>
          <a:p>
            <a:r>
              <a:rPr sz="950" b="0"/>
              <a:t>• Saya belum menemukan bagian yang sebaiknya dipangkas — mohon masukan + review.</a:t>
            </a:r>
          </a:p>
          <a:p>
            <a:r>
              <a:rPr sz="950" b="0"/>
              <a:t>• Apakah ada sesi bimbingan hari ini untuk membahas revisi bersama?</a:t>
            </a:r>
          </a:p>
        </p:txBody>
      </p:sp>
      <p:sp>
        <p:nvSpPr>
          <p:cNvPr id="10" name="TextBox 9"/>
          <p:cNvSpPr txBox="1"/>
          <p:nvPr/>
        </p:nvSpPr>
        <p:spPr>
          <a:xfrm>
            <a:off x="274320" y="4526280"/>
            <a:ext cx="8595360" cy="457200"/>
          </a:xfrm>
          <a:prstGeom prst="rect">
            <a:avLst/>
          </a:prstGeom>
          <a:noFill/>
        </p:spPr>
        <p:txBody>
          <a:bodyPr wrap="square" lIns="0" rIns="0" tIns="0" bIns="0">
            <a:spAutoFit/>
          </a:bodyPr>
          <a:lstStyle/>
          <a:p>
            <a:r>
              <a:rPr sz="1000" b="1">
                <a:solidFill>
                  <a:srgbClr val="555555"/>
                </a:solidFill>
              </a:rPr>
              <a:t>Terima kasih banyak atas bimbingannya, Pak.</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sp>
        <p:nvSpPr>
          <p:cNvPr id="1" name="TextBox 0"/>
          <p:cNvSpPr txBox="1"/>
          <p:nvPr/>
        </p:nvSpPr>
        <p:spPr>
          <a:xfrm>
            <a:off x="914400" y="1920240"/>
            <a:ext cx="7315200" cy="1097280"/>
          </a:xfrm>
          <a:prstGeom prst="rect">
            <a:avLst/>
          </a:prstGeom>
          <a:noFill/>
        </p:spPr>
        <p:txBody>
          <a:bodyPr wrap="none">
            <a:spAutoFit/>
          </a:bodyPr>
          <a:lstStyle/>
          <a:p>
            <a:pPr algn="ctr">
              <a:defRPr sz="4000" b="1"/>
            </a:pPr>
            <a:r>
              <a:t>Terimakasih</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