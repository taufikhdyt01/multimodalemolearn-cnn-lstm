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77" r:id="rId127"/>
    <p:sldId id="374" r:id="rId124"/>
    <p:sldId id="375" r:id="rId125"/>
    <p:sldId id="376" r:id="rId126"/>
    <p:sldId id="363" r:id="rId113"/>
    <p:sldId id="364" r:id="rId114"/>
    <p:sldId id="366" r:id="rId116"/>
    <p:sldId id="367" r:id="rId117"/>
    <p:sldId id="368" r:id="rId118"/>
    <p:sldId id="369" r:id="rId119"/>
    <p:sldId id="370" r:id="rId120"/>
    <p:sldId id="371" r:id="rId121"/>
    <p:sldId id="372" r:id="rId122"/>
    <p:sldId id="373" r:id="rId123"/>
    <p:sldId id="378" r:id="rId128"/>
    <p:sldId id="379" r:id="rId129"/>
    <p:sldId id="380" r:id="rId130"/>
    <p:sldId id="381" r:id="rId131"/>
    <p:sldId id="390" r:id="rId140"/>
    <p:sldId id="382" r:id="rId132"/>
    <p:sldId id="389" r:id="rId139"/>
    <p:sldId id="383" r:id="rId133"/>
    <p:sldId id="384" r:id="rId134"/>
    <p:sldId id="388" r:id="rId138"/>
    <p:sldId id="385" r:id="rId135"/>
    <p:sldId id="387" r:id="rId137"/>
    <p:sldId id="386" r:id="rId136"/>
    <p:sldId id="365" r:id="rId115"/>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30.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30.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29.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28.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06.xml"/><Relationship Id="rId125" Type="http://schemas.openxmlformats.org/officeDocument/2006/relationships/slide" Target="slides/slide107.xml"/><Relationship Id="rId126" Type="http://schemas.openxmlformats.org/officeDocument/2006/relationships/slide" Target="slides/slide108.xml"/><Relationship Id="rId127" Type="http://schemas.openxmlformats.org/officeDocument/2006/relationships/slide" Target="slides/slide105.xml"/><Relationship Id="rId128" Type="http://schemas.openxmlformats.org/officeDocument/2006/relationships/slide" Target="slides/slide119.xml"/><Relationship Id="rId129" Type="http://schemas.openxmlformats.org/officeDocument/2006/relationships/slide" Target="slides/slide120.xml"/><Relationship Id="rId130" Type="http://schemas.openxmlformats.org/officeDocument/2006/relationships/slide" Target="slides/slide121.xml"/><Relationship Id="rId131" Type="http://schemas.openxmlformats.org/officeDocument/2006/relationships/slide" Target="slides/slide122.xml"/><Relationship Id="rId132" Type="http://schemas.openxmlformats.org/officeDocument/2006/relationships/slide" Target="slides/slide123.xml"/><Relationship Id="rId133" Type="http://schemas.openxmlformats.org/officeDocument/2006/relationships/slide" Target="slides/slide124.xml"/><Relationship Id="rId134" Type="http://schemas.openxmlformats.org/officeDocument/2006/relationships/slide" Target="slides/slide125.xml"/><Relationship Id="rId135" Type="http://schemas.openxmlformats.org/officeDocument/2006/relationships/slide" Target="slides/slide126.xml"/><Relationship Id="rId136" Type="http://schemas.openxmlformats.org/officeDocument/2006/relationships/slide" Target="slides/slide127.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24A: Instruksi Dosen &amp; Sumber Dataset Benchmark</a:t>
            </a:r>
          </a:p>
        </p:txBody>
      </p:sp>
      <p:sp>
        <p:nvSpPr>
          <p:cNvPr id="4" name="TextBox 3"/>
          <p:cNvSpPr txBox="1"/>
          <p:nvPr/>
        </p:nvSpPr>
        <p:spPr>
          <a:xfrm>
            <a:off x="274320" y="548640"/>
            <a:ext cx="8595360" cy="1645920"/>
          </a:xfrm>
          <a:prstGeom prst="rect">
            <a:avLst/>
          </a:prstGeom>
          <a:solidFill>
            <a:srgbClr val="E8F0FE"/>
          </a:solidFill>
        </p:spPr>
        <p:txBody>
          <a:bodyPr wrap="square">
            <a:spAutoFit/>
          </a:bodyPr>
          <a:lstStyle/>
          <a:p>
            <a:pPr algn="l"/>
            <a:r>
              <a:rPr sz="1100" b="1" i="0">
                <a:solidFill>
                  <a:srgbClr val="1A73E8"/>
                </a:solidFill>
              </a:rPr>
              <a:t>Instruksi dari Dosen Pembimbing</a:t>
            </a:r>
          </a:p>
          <a:p>
            <a:pPr algn="l"/>
            <a:r>
              <a:rPr sz="300" b="0" i="0"/>
              <a:t/>
            </a:r>
          </a:p>
          <a:p>
            <a:pPr algn="l"/>
            <a:r>
              <a:rPr sz="950" b="0" i="0">
                <a:solidFill>
                  <a:srgbClr val="202020"/>
                </a:solidFill>
              </a:rPr>
              <a:t>1. Skema 1 — Self Train-Test: Tiap dataset (CK+, JAFFE, RAF-DB, KDEF, Primer) dilatih dan diuji dengan data masing-masing.</a:t>
            </a:r>
          </a:p>
          <a:p>
            <a:pPr algn="l"/>
            <a:r>
              <a:rPr sz="200" b="0" i="0"/>
              <a:t/>
            </a:r>
          </a:p>
          <a:p>
            <a:pPr algn="l"/>
            <a:r>
              <a:rPr sz="950" b="0" i="0">
                <a:solidFill>
                  <a:srgbClr val="202020"/>
                </a:solidFill>
              </a:rPr>
              <a:t>2. Print semua nilai evaluasi: Macro F1, Micro F1, Weighted F1 (semua dicatat).</a:t>
            </a:r>
          </a:p>
          <a:p>
            <a:pPr algn="l"/>
            <a:r>
              <a:rPr sz="200" b="0" i="0"/>
              <a:t/>
            </a:r>
          </a:p>
          <a:p>
            <a:pPr algn="l"/>
            <a:r>
              <a:rPr sz="950" b="0" i="0">
                <a:solidFill>
                  <a:srgbClr val="202020"/>
                </a:solidFill>
              </a:rPr>
              <a:t>3. Skema 2 — Cross-Dataset: Dataset sekunder (CK+, JAFFE, RAF-DB, KDEF) digunakan untuk train, data uji menggunakan data test Primer.</a:t>
            </a:r>
          </a:p>
          <a:p>
            <a:pPr algn="l"/>
            <a:r>
              <a:rPr sz="200" b="0" i="0"/>
              <a:t/>
            </a:r>
          </a:p>
          <a:p>
            <a:pPr algn="l"/>
            <a:r>
              <a:rPr sz="950" b="0" i="0">
                <a:solidFill>
                  <a:srgbClr val="202020"/>
                </a:solidFill>
              </a:rPr>
              <a:t>4. Model: gunakan semua model yang dimiliki (CNN, FCNN, Intermediate, Late Fusion, CNN TL, Intermediate TL).</a:t>
            </a:r>
          </a:p>
        </p:txBody>
      </p:sp>
      <p:sp>
        <p:nvSpPr>
          <p:cNvPr id="5" name="TextBox 4"/>
          <p:cNvSpPr txBox="1"/>
          <p:nvPr/>
        </p:nvSpPr>
        <p:spPr>
          <a:xfrm>
            <a:off x="274320" y="2286000"/>
            <a:ext cx="8595360" cy="256032"/>
          </a:xfrm>
          <a:prstGeom prst="rect">
            <a:avLst/>
          </a:prstGeom>
          <a:noFill/>
        </p:spPr>
        <p:txBody>
          <a:bodyPr wrap="none">
            <a:spAutoFit/>
          </a:bodyPr>
          <a:lstStyle/>
          <a:p>
            <a:pPr algn="l"/>
            <a:r>
              <a:rPr sz="1100" b="1" i="0">
                <a:solidFill>
                  <a:srgbClr val="1A73E8"/>
                </a:solidFill>
              </a:rPr>
              <a:t>Sumber Dataset</a:t>
            </a:r>
          </a:p>
        </p:txBody>
      </p:sp>
      <p:graphicFrame>
        <p:nvGraphicFramePr>
          <p:cNvPr id="6" name="Table 5"/>
          <p:cNvGraphicFramePr>
            <a:graphicFrameLocks noGrp="1"/>
          </p:cNvGraphicFramePr>
          <p:nvPr/>
        </p:nvGraphicFramePr>
        <p:xfrm>
          <a:off x="274320" y="2560320"/>
          <a:ext cx="8595360" cy="1920240"/>
        </p:xfrm>
        <a:graphic>
          <a:graphicData uri="http://schemas.openxmlformats.org/drawingml/2006/table">
            <a:tbl>
              <a:tblPr firstRow="1" bandRow="1"/>
              <a:tblGrid>
                <a:gridCol w="914400"/>
                <a:gridCol w="2926080"/>
                <a:gridCol w="2103120"/>
                <a:gridCol w="2651760"/>
              </a:tblGrid>
              <a:tr h="320040">
                <a:tc>
                  <a:txBody>
                    <a:bodyPr/>
                    <a:lstStyle/>
                    <a:p>
                      <a:pPr algn="ctr"/>
                      <a:r>
                        <a:rPr sz="900" b="1">
                          <a:solidFill>
                            <a:srgbClr val="FFFFFF"/>
                          </a:solidFill>
                        </a:rPr>
                        <a:t>Dataset</a:t>
                      </a:r>
                    </a:p>
                  </a:txBody>
                  <a:tcPr>
                    <a:solidFill>
                      <a:srgbClr val="1A73E8"/>
                    </a:solidFill>
                  </a:tcPr>
                </a:tc>
                <a:tc>
                  <a:txBody>
                    <a:bodyPr/>
                    <a:lstStyle/>
                    <a:p>
                      <a:pPr algn="ctr"/>
                      <a:r>
                        <a:rPr sz="900" b="1">
                          <a:solidFill>
                            <a:srgbClr val="FFFFFF"/>
                          </a:solidFill>
                        </a:rPr>
                        <a:t>Sumber</a:t>
                      </a:r>
                    </a:p>
                  </a:txBody>
                  <a:tcPr>
                    <a:solidFill>
                      <a:srgbClr val="1A73E8"/>
                    </a:solidFill>
                  </a:tcPr>
                </a:tc>
                <a:tc>
                  <a:txBody>
                    <a:bodyPr/>
                    <a:lstStyle/>
                    <a:p>
                      <a:pPr algn="ctr"/>
                      <a:r>
                        <a:rPr sz="900" b="1">
                          <a:solidFill>
                            <a:srgbClr val="FFFFFF"/>
                          </a:solidFill>
                        </a:rPr>
                        <a:t>Jumlah</a:t>
                      </a:r>
                    </a:p>
                  </a:txBody>
                  <a:tcPr>
                    <a:solidFill>
                      <a:srgbClr val="1A73E8"/>
                    </a:solidFill>
                  </a:tcPr>
                </a:tc>
                <a:tc>
                  <a:txBody>
                    <a:bodyPr/>
                    <a:lstStyle/>
                    <a:p>
                      <a:pPr algn="ctr"/>
                      <a:r>
                        <a:rPr sz="900" b="1">
                          <a:solidFill>
                            <a:srgbClr val="FFFFFF"/>
                          </a:solidFill>
                        </a:rPr>
                        <a:t>Karakteristik</a:t>
                      </a:r>
                    </a:p>
                  </a:txBody>
                  <a:tcPr>
                    <a:solidFill>
                      <a:srgbClr val="1A73E8"/>
                    </a:solidFill>
                  </a:tcPr>
                </a:tc>
              </a:tr>
              <a:tr h="320040">
                <a:tc>
                  <a:txBody>
                    <a:bodyPr/>
                    <a:lstStyle/>
                    <a:p>
                      <a:pPr algn="l"/>
                      <a:r>
                        <a:rPr sz="800" b="1">
                          <a:solidFill>
                            <a:srgbClr val="202020"/>
                          </a:solidFill>
                        </a:rPr>
                        <a:t>CK+</a:t>
                      </a:r>
                    </a:p>
                  </a:txBody>
                  <a:tcPr>
                    <a:solidFill>
                      <a:srgbClr val="E8F0FE"/>
                    </a:solidFill>
                  </a:tcPr>
                </a:tc>
                <a:tc>
                  <a:txBody>
                    <a:bodyPr/>
                    <a:lstStyle/>
                    <a:p>
                      <a:pPr algn="ctr"/>
                      <a:r>
                        <a:rPr sz="800" b="0">
                          <a:solidFill>
                            <a:srgbClr val="202020"/>
                          </a:solidFill>
                        </a:rPr>
                        <a:t>Kaggle/GitHub (Cohn-Kanade+)</a:t>
                      </a:r>
                    </a:p>
                  </a:txBody>
                  <a:tcPr>
                    <a:solidFill>
                      <a:srgbClr val="E8F0FE"/>
                    </a:solidFill>
                  </a:tcPr>
                </a:tc>
                <a:tc>
                  <a:txBody>
                    <a:bodyPr/>
                    <a:lstStyle/>
                    <a:p>
                      <a:pPr algn="ctr"/>
                      <a:r>
                        <a:rPr sz="800" b="0">
                          <a:solidFill>
                            <a:srgbClr val="202020"/>
                          </a:solidFill>
                        </a:rPr>
                        <a:t>636 imgs (+18 contempt)</a:t>
                      </a:r>
                    </a:p>
                  </a:txBody>
                  <a:tcPr>
                    <a:solidFill>
                      <a:srgbClr val="E8F0FE"/>
                    </a:solidFill>
                  </a:tcPr>
                </a:tc>
                <a:tc>
                  <a:txBody>
                    <a:bodyPr/>
                    <a:lstStyle/>
                    <a:p>
                      <a:pPr algn="ctr"/>
                      <a:r>
                        <a:rPr sz="800" b="0">
                          <a:solidFill>
                            <a:srgbClr val="202020"/>
                          </a:solidFill>
                        </a:rPr>
                        <a:t>Lab posed, 118 subjek, sequence peak</a:t>
                      </a:r>
                    </a:p>
                  </a:txBody>
                  <a:tcPr>
                    <a:solidFill>
                      <a:srgbClr val="E8F0FE"/>
                    </a:solidFill>
                  </a:tcPr>
                </a:tc>
              </a:tr>
              <a:tr h="320040">
                <a:tc>
                  <a:txBody>
                    <a:bodyPr/>
                    <a:lstStyle/>
                    <a:p>
                      <a:pPr algn="l"/>
                      <a:r>
                        <a:rPr sz="800" b="1">
                          <a:solidFill>
                            <a:srgbClr val="202020"/>
                          </a:solidFill>
                        </a:rPr>
                        <a:t>JAFFE</a:t>
                      </a:r>
                    </a:p>
                  </a:txBody>
                  <a:tcPr>
                    <a:solidFill>
                      <a:srgbClr val="FFFFFF"/>
                    </a:solidFill>
                  </a:tcPr>
                </a:tc>
                <a:tc>
                  <a:txBody>
                    <a:bodyPr/>
                    <a:lstStyle/>
                    <a:p>
                      <a:pPr algn="ctr"/>
                      <a:r>
                        <a:rPr sz="800" b="0">
                          <a:solidFill>
                            <a:srgbClr val="202020"/>
                          </a:solidFill>
                        </a:rPr>
                        <a:t>Original (Lyons et al., 1998)</a:t>
                      </a:r>
                    </a:p>
                  </a:txBody>
                  <a:tcPr>
                    <a:solidFill>
                      <a:srgbClr val="FFFFFF"/>
                    </a:solidFill>
                  </a:tcPr>
                </a:tc>
                <a:tc>
                  <a:txBody>
                    <a:bodyPr/>
                    <a:lstStyle/>
                    <a:p>
                      <a:pPr algn="ctr"/>
                      <a:r>
                        <a:rPr sz="800" b="0">
                          <a:solidFill>
                            <a:srgbClr val="202020"/>
                          </a:solidFill>
                        </a:rPr>
                        <a:t>213 imgs</a:t>
                      </a:r>
                    </a:p>
                  </a:txBody>
                  <a:tcPr>
                    <a:solidFill>
                      <a:srgbClr val="FFFFFF"/>
                    </a:solidFill>
                  </a:tcPr>
                </a:tc>
                <a:tc>
                  <a:txBody>
                    <a:bodyPr/>
                    <a:lstStyle/>
                    <a:p>
                      <a:pPr algn="ctr"/>
                      <a:r>
                        <a:rPr sz="800" b="0">
                          <a:solidFill>
                            <a:srgbClr val="202020"/>
                          </a:solidFill>
                        </a:rPr>
                        <a:t>Lab posed, 10 wanita Jepang, 7 emosi</a:t>
                      </a:r>
                    </a:p>
                  </a:txBody>
                  <a:tcPr>
                    <a:solidFill>
                      <a:srgbClr val="FFFFFF"/>
                    </a:solidFill>
                  </a:tcPr>
                </a:tc>
              </a:tr>
              <a:tr h="320040">
                <a:tc>
                  <a:txBody>
                    <a:bodyPr/>
                    <a:lstStyle/>
                    <a:p>
                      <a:pPr algn="l"/>
                      <a:r>
                        <a:rPr sz="800" b="1">
                          <a:solidFill>
                            <a:srgbClr val="202020"/>
                          </a:solidFill>
                        </a:rPr>
                        <a:t>RAF-DB</a:t>
                      </a:r>
                    </a:p>
                  </a:txBody>
                  <a:tcPr>
                    <a:solidFill>
                      <a:srgbClr val="E8F0FE"/>
                    </a:solidFill>
                  </a:tcPr>
                </a:tc>
                <a:tc>
                  <a:txBody>
                    <a:bodyPr/>
                    <a:lstStyle/>
                    <a:p>
                      <a:pPr algn="ctr"/>
                      <a:r>
                        <a:rPr sz="800" b="0">
                          <a:solidFill>
                            <a:srgbClr val="202020"/>
                          </a:solidFill>
                        </a:rPr>
                        <a:t>Kaggle shuvoalok/raf-db-dataset (basic emotion public release)</a:t>
                      </a:r>
                    </a:p>
                  </a:txBody>
                  <a:tcPr>
                    <a:solidFill>
                      <a:srgbClr val="E8F0FE"/>
                    </a:solidFill>
                  </a:tcPr>
                </a:tc>
                <a:tc>
                  <a:txBody>
                    <a:bodyPr/>
                    <a:lstStyle/>
                    <a:p>
                      <a:pPr algn="ctr"/>
                      <a:r>
                        <a:rPr sz="800" b="0">
                          <a:solidFill>
                            <a:srgbClr val="202020"/>
                          </a:solidFill>
                        </a:rPr>
                        <a:t>15,339 imgs → 14,449 usable (11,565 train / 2,884 test)</a:t>
                      </a:r>
                    </a:p>
                  </a:txBody>
                  <a:tcPr>
                    <a:solidFill>
                      <a:srgbClr val="E8F0FE"/>
                    </a:solidFill>
                  </a:tcPr>
                </a:tc>
                <a:tc>
                  <a:txBody>
                    <a:bodyPr/>
                    <a:lstStyle/>
                    <a:p>
                      <a:pPr algn="ctr"/>
                      <a:r>
                        <a:rPr sz="800" b="0">
                          <a:solidFill>
                            <a:srgbClr val="202020"/>
                          </a:solidFill>
                        </a:rPr>
                        <a:t>In-the-wild dari web, official split</a:t>
                      </a:r>
                    </a:p>
                  </a:txBody>
                  <a:tcPr>
                    <a:solidFill>
                      <a:srgbClr val="E8F0FE"/>
                    </a:solidFill>
                  </a:tcPr>
                </a:tc>
              </a:tr>
              <a:tr h="320040">
                <a:tc>
                  <a:txBody>
                    <a:bodyPr/>
                    <a:lstStyle/>
                    <a:p>
                      <a:pPr algn="l"/>
                      <a:r>
                        <a:rPr sz="800" b="1">
                          <a:solidFill>
                            <a:srgbClr val="202020"/>
                          </a:solidFill>
                        </a:rPr>
                        <a:t>KDEF</a:t>
                      </a:r>
                    </a:p>
                  </a:txBody>
                  <a:tcPr>
                    <a:solidFill>
                      <a:srgbClr val="FFFFFF"/>
                    </a:solidFill>
                  </a:tcPr>
                </a:tc>
                <a:tc>
                  <a:txBody>
                    <a:bodyPr/>
                    <a:lstStyle/>
                    <a:p>
                      <a:pPr algn="ctr"/>
                      <a:r>
                        <a:rPr sz="800" b="0">
                          <a:solidFill>
                            <a:srgbClr val="202020"/>
                          </a:solidFill>
                        </a:rPr>
                        <a:t>Official kdef.se (KDEF_and_AKDEF.zip)</a:t>
                      </a:r>
                    </a:p>
                  </a:txBody>
                  <a:tcPr>
                    <a:solidFill>
                      <a:srgbClr val="FFFFFF"/>
                    </a:solidFill>
                  </a:tcPr>
                </a:tc>
                <a:tc>
                  <a:txBody>
                    <a:bodyPr/>
                    <a:lstStyle/>
                    <a:p>
                      <a:pPr algn="ctr"/>
                      <a:r>
                        <a:rPr sz="800" b="0">
                          <a:solidFill>
                            <a:srgbClr val="202020"/>
                          </a:solidFill>
                        </a:rPr>
                        <a:t>4,900 imgs → 3,307 usable (face-detected)</a:t>
                      </a:r>
                    </a:p>
                  </a:txBody>
                  <a:tcPr>
                    <a:solidFill>
                      <a:srgbClr val="FFFFFF"/>
                    </a:solidFill>
                  </a:tcPr>
                </a:tc>
                <a:tc>
                  <a:txBody>
                    <a:bodyPr/>
                    <a:lstStyle/>
                    <a:p>
                      <a:pPr algn="ctr"/>
                      <a:r>
                        <a:rPr sz="800" b="0">
                          <a:solidFill>
                            <a:srgbClr val="202020"/>
                          </a:solidFill>
                        </a:rPr>
                        <a:t>Lab posed, 70 subjek, 5 sudut</a:t>
                      </a:r>
                    </a:p>
                  </a:txBody>
                  <a:tcPr>
                    <a:solidFill>
                      <a:srgbClr val="FFFFFF"/>
                    </a:solidFill>
                  </a:tcPr>
                </a:tc>
              </a:tr>
              <a:tr h="320040">
                <a:tc>
                  <a:txBody>
                    <a:bodyPr/>
                    <a:lstStyle/>
                    <a:p>
                      <a:pPr algn="l"/>
                      <a:r>
                        <a:rPr sz="800" b="1">
                          <a:solidFill>
                            <a:srgbClr val="202020"/>
                          </a:solidFill>
                        </a:rPr>
                        <a:t>Primer</a:t>
                      </a:r>
                    </a:p>
                  </a:txBody>
                  <a:tcPr>
                    <a:solidFill>
                      <a:srgbClr val="E8F0FE"/>
                    </a:solidFill>
                  </a:tcPr>
                </a:tc>
                <a:tc>
                  <a:txBody>
                    <a:bodyPr/>
                    <a:lstStyle/>
                    <a:p>
                      <a:pPr algn="ctr"/>
                      <a:r>
                        <a:rPr sz="800" b="0">
                          <a:solidFill>
                            <a:srgbClr val="202020"/>
                          </a:solidFill>
                        </a:rPr>
                        <a:t>Akuisisi sendiri (sesi programming)</a:t>
                      </a:r>
                    </a:p>
                  </a:txBody>
                  <a:tcPr>
                    <a:solidFill>
                      <a:srgbClr val="E8F0FE"/>
                    </a:solidFill>
                  </a:tcPr>
                </a:tc>
                <a:tc>
                  <a:txBody>
                    <a:bodyPr/>
                    <a:lstStyle/>
                    <a:p>
                      <a:pPr algn="ctr"/>
                      <a:r>
                        <a:rPr sz="800" b="0">
                          <a:solidFill>
                            <a:srgbClr val="202020"/>
                          </a:solidFill>
                        </a:rPr>
                        <a:t>conf60: 6,795 imgs (5,287 train / 579 val / 929 test)</a:t>
                      </a:r>
                    </a:p>
                  </a:txBody>
                  <a:tcPr>
                    <a:solidFill>
                      <a:srgbClr val="E8F0FE"/>
                    </a:solidFill>
                  </a:tcPr>
                </a:tc>
                <a:tc>
                  <a:txBody>
                    <a:bodyPr/>
                    <a:lstStyle/>
                    <a:p>
                      <a:pPr algn="ctr"/>
                      <a:r>
                        <a:rPr sz="800" b="0">
                          <a:solidFill>
                            <a:srgbClr val="202020"/>
                          </a:solidFill>
                        </a:rPr>
                        <a:t>Natural expression, 37 subjek, front-only</a:t>
                      </a:r>
                    </a:p>
                  </a:txBody>
                  <a:tcPr>
                    <a:solidFill>
                      <a:srgbClr val="E8F0FE"/>
                    </a:solidFill>
                  </a:tcPr>
                </a:tc>
              </a:tr>
            </a:tbl>
          </a:graphicData>
        </a:graphic>
      </p:graphicFrame>
      <p:sp>
        <p:nvSpPr>
          <p:cNvPr id="7" name="TextBox 6"/>
          <p:cNvSpPr txBox="1"/>
          <p:nvPr/>
        </p:nvSpPr>
        <p:spPr>
          <a:xfrm>
            <a:off x="274320" y="4572000"/>
            <a:ext cx="8595360" cy="457200"/>
          </a:xfrm>
          <a:prstGeom prst="rect">
            <a:avLst/>
          </a:prstGeom>
          <a:solidFill>
            <a:srgbClr val="E6F4EA"/>
          </a:solidFill>
        </p:spPr>
        <p:txBody>
          <a:bodyPr wrap="square">
            <a:spAutoFit/>
          </a:bodyPr>
          <a:lstStyle/>
          <a:p>
            <a:pPr algn="l"/>
            <a:r>
              <a:rPr sz="850" b="0" i="1">
                <a:solidFill>
                  <a:srgbClr val="202020"/>
                </a:solidFill>
              </a:rPr>
              <a:t>Catatan: RAF-DB ~5.8% di-drop (15,339 → 14,449 usable). KDEF ~32% di-drop karena MediaPipe gagal deteksi wajah di sudut profil. Primer pakai versi conf60 (confidence ≥60%) yang sama dengan eksperimen utama.</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Benchmark Tambahan — RAF-DB &amp; KDEF (arahan dosen)</a:t>
            </a:r>
          </a:p>
        </p:txBody>
      </p:sp>
      <p:sp>
        <p:nvSpPr>
          <p:cNvPr id="4" name="TextBox 3"/>
          <p:cNvSpPr txBox="1"/>
          <p:nvPr/>
        </p:nvSpPr>
        <p:spPr>
          <a:xfrm>
            <a:off x="274320" y="530352"/>
            <a:ext cx="8595360" cy="822960"/>
          </a:xfrm>
          <a:prstGeom prst="rect">
            <a:avLst/>
          </a:prstGeom>
          <a:solidFill>
            <a:srgbClr val="E8F0FE"/>
          </a:solidFill>
        </p:spPr>
        <p:txBody>
          <a:bodyPr wrap="square">
            <a:spAutoFit/>
          </a:bodyPr>
          <a:lstStyle/>
          <a:p>
            <a:pPr algn="l"/>
            <a:r>
              <a:rPr sz="1000" b="1" i="0">
                <a:solidFill>
                  <a:srgbClr val="1A73E8"/>
                </a:solidFill>
              </a:rPr>
              <a:t>Setup Dataset</a:t>
            </a:r>
          </a:p>
          <a:p>
            <a:pPr algn="l"/>
            <a:r>
              <a:rPr sz="850" b="0" i="0">
                <a:solidFill>
                  <a:srgbClr val="202020"/>
                </a:solidFill>
              </a:rPr>
              <a:t>• RAF-DB: 11,565 train / 2,884 test (official split) — in-the-wild 7 basic emotions</a:t>
            </a:r>
          </a:p>
          <a:p>
            <a:pPr algn="l"/>
            <a:r>
              <a:rPr sz="850" b="0" i="0">
                <a:solidFill>
                  <a:srgbClr val="202020"/>
                </a:solidFill>
              </a:rPr>
              <a:t>• KDEF: 2,630 train / 340 val / 337 test (subject-wise) — lab posed, 70 subjek, 5 angle</a:t>
            </a:r>
          </a:p>
          <a:p>
            <a:pPr algn="l"/>
            <a:r>
              <a:rPr sz="850" b="0" i="0">
                <a:solidFill>
                  <a:srgbClr val="202020"/>
                </a:solidFill>
              </a:rPr>
              <a:t>• Skema: Self train-test, B1 baseline, metrik Macro/Micro/Weighted F1</a:t>
            </a:r>
          </a:p>
        </p:txBody>
      </p:sp>
      <p:sp>
        <p:nvSpPr>
          <p:cNvPr id="5" name="TextBox 4"/>
          <p:cNvSpPr txBox="1"/>
          <p:nvPr/>
        </p:nvSpPr>
        <p:spPr>
          <a:xfrm>
            <a:off x="274320" y="1417320"/>
            <a:ext cx="4206240" cy="228600"/>
          </a:xfrm>
          <a:prstGeom prst="rect">
            <a:avLst/>
          </a:prstGeom>
          <a:noFill/>
        </p:spPr>
        <p:txBody>
          <a:bodyPr wrap="none">
            <a:spAutoFit/>
          </a:bodyPr>
          <a:lstStyle/>
          <a:p>
            <a:pPr algn="l"/>
            <a:r>
              <a:rPr sz="1000" b="1" i="0">
                <a:solidFill>
                  <a:srgbClr val="1A73E8"/>
                </a:solidFill>
              </a:rPr>
              <a:t>RAF-DB 7-Class</a:t>
            </a:r>
          </a:p>
        </p:txBody>
      </p:sp>
      <p:graphicFrame>
        <p:nvGraphicFramePr>
          <p:cNvPr id="6" name="Table 5"/>
          <p:cNvGraphicFramePr>
            <a:graphicFrameLocks noGrp="1"/>
          </p:cNvGraphicFramePr>
          <p:nvPr/>
        </p:nvGraphicFramePr>
        <p:xfrm>
          <a:off x="2743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0.729</a:t>
                      </a:r>
                    </a:p>
                  </a:txBody>
                  <a:tcPr>
                    <a:solidFill>
                      <a:srgbClr val="E8F0FE"/>
                    </a:solidFill>
                  </a:tcPr>
                </a:tc>
                <a:tc>
                  <a:txBody>
                    <a:bodyPr/>
                    <a:lstStyle/>
                    <a:p>
                      <a:pPr algn="ctr"/>
                      <a:r>
                        <a:rPr sz="800" b="0">
                          <a:solidFill>
                            <a:srgbClr val="202020"/>
                          </a:solidFill>
                        </a:rPr>
                        <a:t>0.815</a:t>
                      </a:r>
                    </a:p>
                  </a:txBody>
                  <a:tcPr>
                    <a:solidFill>
                      <a:srgbClr val="E8F0FE"/>
                    </a:solidFill>
                  </a:tcPr>
                </a:tc>
                <a:tc>
                  <a:txBody>
                    <a:bodyPr/>
                    <a:lstStyle/>
                    <a:p>
                      <a:pPr algn="ctr"/>
                      <a:r>
                        <a:rPr sz="800" b="0">
                          <a:solidFill>
                            <a:srgbClr val="202020"/>
                          </a:solidFill>
                        </a:rPr>
                        <a:t>0.813</a:t>
                      </a:r>
                    </a:p>
                  </a:txBody>
                  <a:tcPr>
                    <a:solidFill>
                      <a:srgbClr val="E8F0FE"/>
                    </a:solidFill>
                  </a:tcPr>
                </a:tc>
                <a:tc>
                  <a:txBody>
                    <a:bodyPr/>
                    <a:lstStyle/>
                    <a:p>
                      <a:pPr algn="ctr"/>
                      <a:r>
                        <a:rPr sz="800" b="0">
                          <a:solidFill>
                            <a:srgbClr val="202020"/>
                          </a:solidFill>
                        </a:rPr>
                        <a:t>0.815</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0.578</a:t>
                      </a:r>
                    </a:p>
                  </a:txBody>
                  <a:tcPr>
                    <a:solidFill>
                      <a:srgbClr val="FFFFFF"/>
                    </a:solidFill>
                  </a:tcPr>
                </a:tc>
                <a:tc>
                  <a:txBody>
                    <a:bodyPr/>
                    <a:lstStyle/>
                    <a:p>
                      <a:pPr algn="ctr"/>
                      <a:r>
                        <a:rPr sz="800" b="0">
                          <a:solidFill>
                            <a:srgbClr val="202020"/>
                          </a:solidFill>
                        </a:rPr>
                        <a:t>0.714</a:t>
                      </a:r>
                    </a:p>
                  </a:txBody>
                  <a:tcPr>
                    <a:solidFill>
                      <a:srgbClr val="FFFFFF"/>
                    </a:solidFill>
                  </a:tcPr>
                </a:tc>
                <a:tc>
                  <a:txBody>
                    <a:bodyPr/>
                    <a:lstStyle/>
                    <a:p>
                      <a:pPr algn="ctr"/>
                      <a:r>
                        <a:rPr sz="800" b="0">
                          <a:solidFill>
                            <a:srgbClr val="202020"/>
                          </a:solidFill>
                        </a:rPr>
                        <a:t>0.703</a:t>
                      </a:r>
                    </a:p>
                  </a:txBody>
                  <a:tcPr>
                    <a:solidFill>
                      <a:srgbClr val="FFFFFF"/>
                    </a:solidFill>
                  </a:tcPr>
                </a:tc>
                <a:tc>
                  <a:txBody>
                    <a:bodyPr/>
                    <a:lstStyle/>
                    <a:p>
                      <a:pPr algn="ctr"/>
                      <a:r>
                        <a:rPr sz="800" b="0">
                          <a:solidFill>
                            <a:srgbClr val="202020"/>
                          </a:solidFill>
                        </a:rPr>
                        <a:t>0.714</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0.696</a:t>
                      </a:r>
                    </a:p>
                  </a:txBody>
                  <a:tcPr>
                    <a:solidFill>
                      <a:srgbClr val="E8F0FE"/>
                    </a:solidFill>
                  </a:tcPr>
                </a:tc>
                <a:tc>
                  <a:txBody>
                    <a:bodyPr/>
                    <a:lstStyle/>
                    <a:p>
                      <a:pPr algn="ctr"/>
                      <a:r>
                        <a:rPr sz="800" b="0">
                          <a:solidFill>
                            <a:srgbClr val="202020"/>
                          </a:solidFill>
                        </a:rPr>
                        <a:t>0.785</a:t>
                      </a:r>
                    </a:p>
                  </a:txBody>
                  <a:tcPr>
                    <a:solidFill>
                      <a:srgbClr val="E8F0FE"/>
                    </a:solidFill>
                  </a:tcPr>
                </a:tc>
                <a:tc>
                  <a:txBody>
                    <a:bodyPr/>
                    <a:lstStyle/>
                    <a:p>
                      <a:pPr algn="ctr"/>
                      <a:r>
                        <a:rPr sz="800" b="0">
                          <a:solidFill>
                            <a:srgbClr val="202020"/>
                          </a:solidFill>
                        </a:rPr>
                        <a:t>0.783</a:t>
                      </a:r>
                    </a:p>
                  </a:txBody>
                  <a:tcPr>
                    <a:solidFill>
                      <a:srgbClr val="E8F0FE"/>
                    </a:solidFill>
                  </a:tcPr>
                </a:tc>
                <a:tc>
                  <a:txBody>
                    <a:bodyPr/>
                    <a:lstStyle/>
                    <a:p>
                      <a:pPr algn="ctr"/>
                      <a:r>
                        <a:rPr sz="800" b="0">
                          <a:solidFill>
                            <a:srgbClr val="202020"/>
                          </a:solidFill>
                        </a:rPr>
                        <a:t>0.785</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0.741</a:t>
                      </a:r>
                    </a:p>
                  </a:txBody>
                  <a:tcPr>
                    <a:solidFill>
                      <a:srgbClr val="FFFFFF"/>
                    </a:solidFill>
                  </a:tcPr>
                </a:tc>
                <a:tc>
                  <a:txBody>
                    <a:bodyPr/>
                    <a:lstStyle/>
                    <a:p>
                      <a:pPr algn="ctr"/>
                      <a:r>
                        <a:rPr sz="800" b="0">
                          <a:solidFill>
                            <a:srgbClr val="202020"/>
                          </a:solidFill>
                        </a:rPr>
                        <a:t>0.830</a:t>
                      </a:r>
                    </a:p>
                  </a:txBody>
                  <a:tcPr>
                    <a:solidFill>
                      <a:srgbClr val="FFFFFF"/>
                    </a:solidFill>
                  </a:tcPr>
                </a:tc>
                <a:tc>
                  <a:txBody>
                    <a:bodyPr/>
                    <a:lstStyle/>
                    <a:p>
                      <a:pPr algn="ctr"/>
                      <a:r>
                        <a:rPr sz="800" b="0">
                          <a:solidFill>
                            <a:srgbClr val="202020"/>
                          </a:solidFill>
                        </a:rPr>
                        <a:t>0.826</a:t>
                      </a:r>
                    </a:p>
                  </a:txBody>
                  <a:tcPr>
                    <a:solidFill>
                      <a:srgbClr val="FFFFFF"/>
                    </a:solidFill>
                  </a:tcPr>
                </a:tc>
                <a:tc>
                  <a:txBody>
                    <a:bodyPr/>
                    <a:lstStyle/>
                    <a:p>
                      <a:pPr algn="ctr"/>
                      <a:r>
                        <a:rPr sz="800" b="0">
                          <a:solidFill>
                            <a:srgbClr val="202020"/>
                          </a:solidFill>
                        </a:rPr>
                        <a:t>0.830</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0.744</a:t>
                      </a:r>
                    </a:p>
                  </a:txBody>
                  <a:tcPr>
                    <a:solidFill>
                      <a:srgbClr val="E6F4EA"/>
                    </a:solidFill>
                  </a:tcPr>
                </a:tc>
                <a:tc>
                  <a:txBody>
                    <a:bodyPr/>
                    <a:lstStyle/>
                    <a:p>
                      <a:pPr algn="ctr"/>
                      <a:r>
                        <a:rPr sz="800" b="0">
                          <a:solidFill>
                            <a:srgbClr val="202020"/>
                          </a:solidFill>
                        </a:rPr>
                        <a:t>0.833</a:t>
                      </a:r>
                    </a:p>
                  </a:txBody>
                  <a:tcPr>
                    <a:solidFill>
                      <a:srgbClr val="E6F4EA"/>
                    </a:solidFill>
                  </a:tcPr>
                </a:tc>
                <a:tc>
                  <a:txBody>
                    <a:bodyPr/>
                    <a:lstStyle/>
                    <a:p>
                      <a:pPr algn="ctr"/>
                      <a:r>
                        <a:rPr sz="800" b="0">
                          <a:solidFill>
                            <a:srgbClr val="202020"/>
                          </a:solidFill>
                        </a:rPr>
                        <a:t>0.832</a:t>
                      </a:r>
                    </a:p>
                  </a:txBody>
                  <a:tcPr>
                    <a:solidFill>
                      <a:srgbClr val="E6F4EA"/>
                    </a:solidFill>
                  </a:tcPr>
                </a:tc>
                <a:tc>
                  <a:txBody>
                    <a:bodyPr/>
                    <a:lstStyle/>
                    <a:p>
                      <a:pPr algn="ctr"/>
                      <a:r>
                        <a:rPr sz="800" b="0">
                          <a:solidFill>
                            <a:srgbClr val="202020"/>
                          </a:solidFill>
                        </a:rPr>
                        <a:t>0.833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0.719</a:t>
                      </a:r>
                    </a:p>
                  </a:txBody>
                  <a:tcPr>
                    <a:solidFill>
                      <a:srgbClr val="FFFFFF"/>
                    </a:solidFill>
                  </a:tcPr>
                </a:tc>
                <a:tc>
                  <a:txBody>
                    <a:bodyPr/>
                    <a:lstStyle/>
                    <a:p>
                      <a:pPr algn="ctr"/>
                      <a:r>
                        <a:rPr sz="800" b="0">
                          <a:solidFill>
                            <a:srgbClr val="202020"/>
                          </a:solidFill>
                        </a:rPr>
                        <a:t>0.809</a:t>
                      </a:r>
                    </a:p>
                  </a:txBody>
                  <a:tcPr>
                    <a:solidFill>
                      <a:srgbClr val="FFFFFF"/>
                    </a:solidFill>
                  </a:tcPr>
                </a:tc>
                <a:tc>
                  <a:txBody>
                    <a:bodyPr/>
                    <a:lstStyle/>
                    <a:p>
                      <a:pPr algn="ctr"/>
                      <a:r>
                        <a:rPr sz="800" b="0">
                          <a:solidFill>
                            <a:srgbClr val="202020"/>
                          </a:solidFill>
                        </a:rPr>
                        <a:t>0.805</a:t>
                      </a:r>
                    </a:p>
                  </a:txBody>
                  <a:tcPr>
                    <a:solidFill>
                      <a:srgbClr val="FFFFFF"/>
                    </a:solidFill>
                  </a:tcPr>
                </a:tc>
                <a:tc>
                  <a:txBody>
                    <a:bodyPr/>
                    <a:lstStyle/>
                    <a:p>
                      <a:pPr algn="ctr"/>
                      <a:r>
                        <a:rPr sz="800" b="0">
                          <a:solidFill>
                            <a:srgbClr val="202020"/>
                          </a:solidFill>
                        </a:rPr>
                        <a:t>0.809</a:t>
                      </a:r>
                    </a:p>
                  </a:txBody>
                  <a:tcPr>
                    <a:solidFill>
                      <a:srgbClr val="FFFFFF"/>
                    </a:solidFill>
                  </a:tcPr>
                </a:tc>
              </a:tr>
            </a:tbl>
          </a:graphicData>
        </a:graphic>
      </p:graphicFrame>
      <p:sp>
        <p:nvSpPr>
          <p:cNvPr id="7" name="TextBox 6"/>
          <p:cNvSpPr txBox="1"/>
          <p:nvPr/>
        </p:nvSpPr>
        <p:spPr>
          <a:xfrm>
            <a:off x="4617720" y="1417320"/>
            <a:ext cx="4206240" cy="228600"/>
          </a:xfrm>
          <a:prstGeom prst="rect">
            <a:avLst/>
          </a:prstGeom>
          <a:noFill/>
        </p:spPr>
        <p:txBody>
          <a:bodyPr wrap="none">
            <a:spAutoFit/>
          </a:bodyPr>
          <a:lstStyle/>
          <a:p>
            <a:pPr algn="l"/>
            <a:r>
              <a:rPr sz="1000" b="1" i="0">
                <a:solidFill>
                  <a:srgbClr val="1A73E8"/>
                </a:solidFill>
              </a:rPr>
              <a:t>RAF-DB 4-Class</a:t>
            </a:r>
          </a:p>
        </p:txBody>
      </p:sp>
      <p:graphicFrame>
        <p:nvGraphicFramePr>
          <p:cNvPr id="8" name="Table 7"/>
          <p:cNvGraphicFramePr>
            <a:graphicFrameLocks noGrp="1"/>
          </p:cNvGraphicFramePr>
          <p:nvPr/>
        </p:nvGraphicFramePr>
        <p:xfrm>
          <a:off x="46177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0.808</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0.694</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0.729</a:t>
                      </a:r>
                    </a:p>
                  </a:txBody>
                  <a:tcPr>
                    <a:solidFill>
                      <a:srgbClr val="FFFFFF"/>
                    </a:solidFill>
                  </a:tcPr>
                </a:tc>
                <a:tc>
                  <a:txBody>
                    <a:bodyPr/>
                    <a:lstStyle/>
                    <a:p>
                      <a:pPr algn="ctr"/>
                      <a:r>
                        <a:rPr sz="800" b="0">
                          <a:solidFill>
                            <a:srgbClr val="202020"/>
                          </a:solidFill>
                        </a:rPr>
                        <a:t>0.728</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0.792</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0.827</a:t>
                      </a:r>
                    </a:p>
                  </a:txBody>
                  <a:tcPr>
                    <a:solidFill>
                      <a:srgbClr val="FFFFFF"/>
                    </a:solidFill>
                  </a:tcPr>
                </a:tc>
                <a:tc>
                  <a:txBody>
                    <a:bodyPr/>
                    <a:lstStyle/>
                    <a:p>
                      <a:pPr algn="ctr"/>
                      <a:r>
                        <a:rPr sz="800" b="0">
                          <a:solidFill>
                            <a:srgbClr val="202020"/>
                          </a:solidFill>
                        </a:rPr>
                        <a:t>0.845</a:t>
                      </a:r>
                    </a:p>
                  </a:txBody>
                  <a:tcPr>
                    <a:solidFill>
                      <a:srgbClr val="FFFFFF"/>
                    </a:solidFill>
                  </a:tcPr>
                </a:tc>
                <a:tc>
                  <a:txBody>
                    <a:bodyPr/>
                    <a:lstStyle/>
                    <a:p>
                      <a:pPr algn="ctr"/>
                      <a:r>
                        <a:rPr sz="800" b="0">
                          <a:solidFill>
                            <a:srgbClr val="202020"/>
                          </a:solidFill>
                        </a:rPr>
                        <a:t>0.846</a:t>
                      </a:r>
                    </a:p>
                  </a:txBody>
                  <a:tcPr>
                    <a:solidFill>
                      <a:srgbClr val="FFFFFF"/>
                    </a:solidFill>
                  </a:tcPr>
                </a:tc>
                <a:tc>
                  <a:txBody>
                    <a:bodyPr/>
                    <a:lstStyle/>
                    <a:p>
                      <a:pPr algn="ctr"/>
                      <a:r>
                        <a:rPr sz="800" b="0">
                          <a:solidFill>
                            <a:srgbClr val="202020"/>
                          </a:solidFill>
                        </a:rPr>
                        <a:t>0.845</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0.836</a:t>
                      </a:r>
                    </a:p>
                  </a:txBody>
                  <a:tcPr>
                    <a:solidFill>
                      <a:srgbClr val="E6F4EA"/>
                    </a:solidFill>
                  </a:tcPr>
                </a:tc>
                <a:tc>
                  <a:txBody>
                    <a:bodyPr/>
                    <a:lstStyle/>
                    <a:p>
                      <a:pPr algn="ctr"/>
                      <a:r>
                        <a:rPr sz="800" b="0">
                          <a:solidFill>
                            <a:srgbClr val="202020"/>
                          </a:solidFill>
                        </a:rPr>
                        <a:t>0.853</a:t>
                      </a:r>
                    </a:p>
                  </a:txBody>
                  <a:tcPr>
                    <a:solidFill>
                      <a:srgbClr val="E6F4EA"/>
                    </a:solidFill>
                  </a:tcPr>
                </a:tc>
                <a:tc>
                  <a:txBody>
                    <a:bodyPr/>
                    <a:lstStyle/>
                    <a:p>
                      <a:pPr algn="ctr"/>
                      <a:r>
                        <a:rPr sz="800" b="0">
                          <a:solidFill>
                            <a:srgbClr val="202020"/>
                          </a:solidFill>
                        </a:rPr>
                        <a:t>0.855</a:t>
                      </a:r>
                    </a:p>
                  </a:txBody>
                  <a:tcPr>
                    <a:solidFill>
                      <a:srgbClr val="E6F4EA"/>
                    </a:solidFill>
                  </a:tcPr>
                </a:tc>
                <a:tc>
                  <a:txBody>
                    <a:bodyPr/>
                    <a:lstStyle/>
                    <a:p>
                      <a:pPr algn="ctr"/>
                      <a:r>
                        <a:rPr sz="800" b="0">
                          <a:solidFill>
                            <a:srgbClr val="202020"/>
                          </a:solidFill>
                        </a:rPr>
                        <a:t>0.853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0.819</a:t>
                      </a:r>
                    </a:p>
                  </a:txBody>
                  <a:tcPr>
                    <a:solidFill>
                      <a:srgbClr val="FFFFFF"/>
                    </a:solidFill>
                  </a:tcPr>
                </a:tc>
                <a:tc>
                  <a:txBody>
                    <a:bodyPr/>
                    <a:lstStyle/>
                    <a:p>
                      <a:pPr algn="ctr"/>
                      <a:r>
                        <a:rPr sz="800" b="0">
                          <a:solidFill>
                            <a:srgbClr val="202020"/>
                          </a:solidFill>
                        </a:rPr>
                        <a:t>0.842</a:t>
                      </a:r>
                    </a:p>
                  </a:txBody>
                  <a:tcPr>
                    <a:solidFill>
                      <a:srgbClr val="FFFFFF"/>
                    </a:solidFill>
                  </a:tcPr>
                </a:tc>
                <a:tc>
                  <a:txBody>
                    <a:bodyPr/>
                    <a:lstStyle/>
                    <a:p>
                      <a:pPr algn="ctr"/>
                      <a:r>
                        <a:rPr sz="800" b="0">
                          <a:solidFill>
                            <a:srgbClr val="202020"/>
                          </a:solidFill>
                        </a:rPr>
                        <a:t>0.841</a:t>
                      </a:r>
                    </a:p>
                  </a:txBody>
                  <a:tcPr>
                    <a:solidFill>
                      <a:srgbClr val="FFFFFF"/>
                    </a:solidFill>
                  </a:tcPr>
                </a:tc>
                <a:tc>
                  <a:txBody>
                    <a:bodyPr/>
                    <a:lstStyle/>
                    <a:p>
                      <a:pPr algn="ctr"/>
                      <a:r>
                        <a:rPr sz="800" b="0">
                          <a:solidFill>
                            <a:srgbClr val="202020"/>
                          </a:solidFill>
                        </a:rPr>
                        <a:t>0.842</a:t>
                      </a:r>
                    </a:p>
                  </a:txBody>
                  <a:tcPr>
                    <a:solidFill>
                      <a:srgbClr val="FFFFFF"/>
                    </a:solidFill>
                  </a:tcPr>
                </a:tc>
              </a:tr>
            </a:tbl>
          </a:graphicData>
        </a:graphic>
      </p:graphicFrame>
      <p:sp>
        <p:nvSpPr>
          <p:cNvPr id="9" name="TextBox 8"/>
          <p:cNvSpPr txBox="1"/>
          <p:nvPr/>
        </p:nvSpPr>
        <p:spPr>
          <a:xfrm>
            <a:off x="274320" y="3931920"/>
            <a:ext cx="8595360" cy="822960"/>
          </a:xfrm>
          <a:prstGeom prst="rect">
            <a:avLst/>
          </a:prstGeom>
          <a:solidFill>
            <a:srgbClr val="E6F4EA"/>
          </a:solidFill>
        </p:spPr>
        <p:txBody>
          <a:bodyPr wrap="square">
            <a:spAutoFit/>
          </a:bodyPr>
          <a:lstStyle/>
          <a:p>
            <a:pPr algn="l"/>
            <a:r>
              <a:rPr sz="1000" b="1" i="0">
                <a:solidFill>
                  <a:srgbClr val="0F9D58"/>
                </a:solidFill>
              </a:rPr>
              <a:t>Best RAF-DB: Intermediate TL — 7c Macro F1 = 0.744 | 4c Macro F1 = 0.836</a:t>
            </a:r>
          </a:p>
          <a:p>
            <a:pPr algn="l"/>
            <a:r>
              <a:rPr sz="900" b="0" i="0">
                <a:solidFill>
                  <a:srgbClr val="202020"/>
                </a:solidFill>
              </a:rPr>
              <a:t>Pola konsisten: Intermediate Fusion + Transfer Learning mengungguli semua arsitektur lain.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Hasil KDEF &amp; Progress Eksperimen</a:t>
            </a:r>
          </a:p>
        </p:txBody>
      </p:sp>
      <p:sp>
        <p:nvSpPr>
          <p:cNvPr id="4" name="TextBox 3"/>
          <p:cNvSpPr txBox="1"/>
          <p:nvPr/>
        </p:nvSpPr>
        <p:spPr>
          <a:xfrm>
            <a:off x="274320" y="548640"/>
            <a:ext cx="4206240" cy="228600"/>
          </a:xfrm>
          <a:prstGeom prst="rect">
            <a:avLst/>
          </a:prstGeom>
          <a:noFill/>
        </p:spPr>
        <p:txBody>
          <a:bodyPr wrap="none">
            <a:spAutoFit/>
          </a:bodyPr>
          <a:lstStyle/>
          <a:p>
            <a:pPr algn="l"/>
            <a:r>
              <a:rPr sz="1000" b="1" i="0">
                <a:solidFill>
                  <a:srgbClr val="1A73E8"/>
                </a:solidFill>
              </a:rPr>
              <a:t>KDEF 7-Class (2,630 train / 337 test)</a:t>
            </a:r>
          </a:p>
        </p:txBody>
      </p:sp>
      <p:graphicFrame>
        <p:nvGraphicFramePr>
          <p:cNvPr id="5" name="Table 4"/>
          <p:cNvGraphicFramePr>
            <a:graphicFrameLocks noGrp="1"/>
          </p:cNvGraphicFramePr>
          <p:nvPr/>
        </p:nvGraphicFramePr>
        <p:xfrm>
          <a:off x="274320" y="82296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0.666</a:t>
                      </a:r>
                    </a:p>
                  </a:txBody>
                  <a:tcPr>
                    <a:solidFill>
                      <a:srgbClr val="FFFFFF"/>
                    </a:solidFill>
                  </a:tcPr>
                </a:tc>
                <a:tc>
                  <a:txBody>
                    <a:bodyPr/>
                    <a:lstStyle/>
                    <a:p>
                      <a:pPr algn="ctr"/>
                      <a:r>
                        <a:rPr sz="800" b="0">
                          <a:solidFill>
                            <a:srgbClr val="202020"/>
                          </a:solidFill>
                        </a:rPr>
                        <a:t>0.680</a:t>
                      </a:r>
                    </a:p>
                  </a:txBody>
                  <a:tcPr>
                    <a:solidFill>
                      <a:srgbClr val="FFFFFF"/>
                    </a:solidFill>
                  </a:tcPr>
                </a:tc>
                <a:tc>
                  <a:txBody>
                    <a:bodyPr/>
                    <a:lstStyle/>
                    <a:p>
                      <a:pPr algn="ctr"/>
                      <a:r>
                        <a:rPr sz="800" b="0">
                          <a:solidFill>
                            <a:srgbClr val="202020"/>
                          </a:solidFill>
                        </a:rPr>
                        <a:t>0.663</a:t>
                      </a:r>
                    </a:p>
                  </a:txBody>
                  <a:tcPr>
                    <a:solidFill>
                      <a:srgbClr val="FFFFFF"/>
                    </a:solidFill>
                  </a:tcPr>
                </a:tc>
                <a:tc>
                  <a:txBody>
                    <a:bodyPr/>
                    <a:lstStyle/>
                    <a:p>
                      <a:pPr algn="ctr"/>
                      <a:r>
                        <a:rPr sz="800" b="0">
                          <a:solidFill>
                            <a:srgbClr val="202020"/>
                          </a:solidFill>
                        </a:rPr>
                        <a:t>0.680</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0.671</a:t>
                      </a:r>
                    </a:p>
                  </a:txBody>
                  <a:tcPr>
                    <a:solidFill>
                      <a:srgbClr val="E8F0FE"/>
                    </a:solidFill>
                  </a:tcPr>
                </a:tc>
                <a:tc>
                  <a:txBody>
                    <a:bodyPr/>
                    <a:lstStyle/>
                    <a:p>
                      <a:pPr algn="ctr"/>
                      <a:r>
                        <a:rPr sz="800" b="0">
                          <a:solidFill>
                            <a:srgbClr val="202020"/>
                          </a:solidFill>
                        </a:rPr>
                        <a:t>0.674</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0.674</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0.776</a:t>
                      </a:r>
                    </a:p>
                  </a:txBody>
                  <a:tcPr>
                    <a:solidFill>
                      <a:srgbClr val="FFFFFF"/>
                    </a:solidFill>
                  </a:tcPr>
                </a:tc>
                <a:tc>
                  <a:txBody>
                    <a:bodyPr/>
                    <a:lstStyle/>
                    <a:p>
                      <a:pPr algn="ctr"/>
                      <a:r>
                        <a:rPr sz="800" b="0">
                          <a:solidFill>
                            <a:srgbClr val="202020"/>
                          </a:solidFill>
                        </a:rPr>
                        <a:t>0.777</a:t>
                      </a:r>
                    </a:p>
                  </a:txBody>
                  <a:tcPr>
                    <a:solidFill>
                      <a:srgbClr val="FFFFFF"/>
                    </a:solidFill>
                  </a:tcPr>
                </a:tc>
                <a:tc>
                  <a:txBody>
                    <a:bodyPr/>
                    <a:lstStyle/>
                    <a:p>
                      <a:pPr algn="ctr"/>
                      <a:r>
                        <a:rPr sz="800" b="0">
                          <a:solidFill>
                            <a:srgbClr val="202020"/>
                          </a:solidFill>
                        </a:rPr>
                        <a:t>0.775</a:t>
                      </a:r>
                    </a:p>
                  </a:txBody>
                  <a:tcPr>
                    <a:solidFill>
                      <a:srgbClr val="FFFFFF"/>
                    </a:solidFill>
                  </a:tcPr>
                </a:tc>
                <a:tc>
                  <a:txBody>
                    <a:bodyPr/>
                    <a:lstStyle/>
                    <a:p>
                      <a:pPr algn="ctr"/>
                      <a:r>
                        <a:rPr sz="800" b="0">
                          <a:solidFill>
                            <a:srgbClr val="202020"/>
                          </a:solidFill>
                        </a:rPr>
                        <a:t>0.777</a:t>
                      </a:r>
                    </a:p>
                  </a:txBody>
                  <a:tcPr>
                    <a:solidFill>
                      <a:srgbClr val="FFFFFF"/>
                    </a:solidFill>
                  </a:tcPr>
                </a:tc>
              </a:tr>
            </a:tbl>
          </a:graphicData>
        </a:graphic>
      </p:graphicFrame>
      <p:sp>
        <p:nvSpPr>
          <p:cNvPr id="6" name="TextBox 5"/>
          <p:cNvSpPr txBox="1"/>
          <p:nvPr/>
        </p:nvSpPr>
        <p:spPr>
          <a:xfrm>
            <a:off x="4617720" y="548640"/>
            <a:ext cx="4206240" cy="228600"/>
          </a:xfrm>
          <a:prstGeom prst="rect">
            <a:avLst/>
          </a:prstGeom>
          <a:noFill/>
        </p:spPr>
        <p:txBody>
          <a:bodyPr wrap="none">
            <a:spAutoFit/>
          </a:bodyPr>
          <a:lstStyle/>
          <a:p>
            <a:pPr algn="l"/>
            <a:r>
              <a:rPr sz="1000" b="1" i="0">
                <a:solidFill>
                  <a:srgbClr val="202020"/>
                </a:solidFill>
              </a:rPr>
              <a:t>Status Eksperimen</a:t>
            </a:r>
          </a:p>
        </p:txBody>
      </p:sp>
      <p:graphicFrame>
        <p:nvGraphicFramePr>
          <p:cNvPr id="7" name="Table 6"/>
          <p:cNvGraphicFramePr>
            <a:graphicFrameLocks noGrp="1"/>
          </p:cNvGraphicFramePr>
          <p:nvPr/>
        </p:nvGraphicFramePr>
        <p:xfrm>
          <a:off x="4617720" y="822960"/>
          <a:ext cx="4206240" cy="2103120"/>
        </p:xfrm>
        <a:graphic>
          <a:graphicData uri="http://schemas.openxmlformats.org/drawingml/2006/table">
            <a:tbl>
              <a:tblPr firstRow="1" bandRow="1"/>
              <a:tblGrid>
                <a:gridCol w="2926080"/>
                <a:gridCol w="1280160"/>
              </a:tblGrid>
              <a:tr h="300445">
                <a:tc>
                  <a:txBody>
                    <a:bodyPr/>
                    <a:lstStyle/>
                    <a:p>
                      <a:pPr algn="ctr"/>
                      <a:r>
                        <a:rPr sz="900" b="1">
                          <a:solidFill>
                            <a:srgbClr val="FFFFFF"/>
                          </a:solidFill>
                        </a:rPr>
                        <a:t>Eksperimen</a:t>
                      </a:r>
                    </a:p>
                  </a:txBody>
                  <a:tcPr>
                    <a:solidFill>
                      <a:srgbClr val="1A73E8"/>
                    </a:solidFill>
                  </a:tcPr>
                </a:tc>
                <a:tc>
                  <a:txBody>
                    <a:bodyPr/>
                    <a:lstStyle/>
                    <a:p>
                      <a:pPr algn="ctr"/>
                      <a:r>
                        <a:rPr sz="900" b="1">
                          <a:solidFill>
                            <a:srgbClr val="FFFFFF"/>
                          </a:solidFill>
                        </a:rPr>
                        <a:t>Status</a:t>
                      </a:r>
                    </a:p>
                  </a:txBody>
                  <a:tcPr>
                    <a:solidFill>
                      <a:srgbClr val="1A73E8"/>
                    </a:solidFill>
                  </a:tcPr>
                </a:tc>
              </a:tr>
              <a:tr h="300445">
                <a:tc>
                  <a:txBody>
                    <a:bodyPr/>
                    <a:lstStyle/>
                    <a:p>
                      <a:pPr algn="l"/>
                      <a:r>
                        <a:rPr sz="850" b="1">
                          <a:solidFill>
                            <a:srgbClr val="202020"/>
                          </a:solidFill>
                        </a:rPr>
                        <a:t>RAF-DB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RAF-DB 4-class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4-class</a:t>
                      </a:r>
                    </a:p>
                  </a:txBody>
                  <a:tcPr>
                    <a:solidFill>
                      <a:srgbClr val="FFFFFF"/>
                    </a:solidFill>
                  </a:tcPr>
                </a:tc>
                <a:tc>
                  <a:txBody>
                    <a:bodyPr/>
                    <a:lstStyle/>
                    <a:p>
                      <a:pPr algn="ctr"/>
                      <a:r>
                        <a:rPr sz="850" b="0">
                          <a:solidFill>
                            <a:srgbClr val="202020"/>
                          </a:solidFill>
                        </a:rPr>
                        <a:t>⏳ Pending</a:t>
                      </a:r>
                    </a:p>
                  </a:txBody>
                  <a:tcPr>
                    <a:solidFill>
                      <a:srgbClr val="FFFFFF"/>
                    </a:solidFill>
                  </a:tcPr>
                </a:tc>
              </a:tr>
              <a:tr h="300445">
                <a:tc>
                  <a:txBody>
                    <a:bodyPr/>
                    <a:lstStyle/>
                    <a:p>
                      <a:pPr algn="l"/>
                      <a:r>
                        <a:rPr sz="850" b="1">
                          <a:solidFill>
                            <a:srgbClr val="202020"/>
                          </a:solidFill>
                        </a:rPr>
                        <a:t>Primer self (nb 62)</a:t>
                      </a:r>
                    </a:p>
                  </a:txBody>
                  <a:tcPr>
                    <a:solidFill>
                      <a:srgbClr val="E8F0FE"/>
                    </a:solidFill>
                  </a:tcPr>
                </a:tc>
                <a:tc>
                  <a:txBody>
                    <a:bodyPr/>
                    <a:lstStyle/>
                    <a:p>
                      <a:pPr algn="ctr"/>
                      <a:r>
                        <a:rPr sz="850" b="0">
                          <a:solidFill>
                            <a:srgbClr val="202020"/>
                          </a:solidFill>
                        </a:rPr>
                        <a:t>⏳ Pending</a:t>
                      </a:r>
                    </a:p>
                  </a:txBody>
                  <a:tcPr>
                    <a:solidFill>
                      <a:srgbClr val="E8F0FE"/>
                    </a:solidFill>
                  </a:tcPr>
                </a:tc>
              </a:tr>
              <a:tr h="300450">
                <a:tc>
                  <a:txBody>
                    <a:bodyPr/>
                    <a:lstStyle/>
                    <a:p>
                      <a:pPr algn="l"/>
                      <a:r>
                        <a:rPr sz="850" b="1">
                          <a:solidFill>
                            <a:srgbClr val="202020"/>
                          </a:solidFill>
                        </a:rPr>
                        <a:t>Cross-dataset (nb 63)</a:t>
                      </a:r>
                    </a:p>
                  </a:txBody>
                  <a:tcPr>
                    <a:solidFill>
                      <a:srgbClr val="FFFFFF"/>
                    </a:solidFill>
                  </a:tcPr>
                </a:tc>
                <a:tc>
                  <a:txBody>
                    <a:bodyPr/>
                    <a:lstStyle/>
                    <a:p>
                      <a:pPr algn="ctr"/>
                      <a:r>
                        <a:rPr sz="850" b="0">
                          <a:solidFill>
                            <a:srgbClr val="202020"/>
                          </a:solidFill>
                        </a:rPr>
                        <a:t>⏳ Pending</a:t>
                      </a:r>
                    </a:p>
                  </a:txBody>
                  <a:tcPr>
                    <a:solidFill>
                      <a:srgbClr val="FFFFFF"/>
                    </a:solidFill>
                  </a:tcPr>
                </a:tc>
              </a:tr>
            </a:tbl>
          </a:graphicData>
        </a:graphic>
      </p:graphicFrame>
      <p:sp>
        <p:nvSpPr>
          <p:cNvPr id="8" name="TextBox 7"/>
          <p:cNvSpPr txBox="1"/>
          <p:nvPr/>
        </p:nvSpPr>
        <p:spPr>
          <a:xfrm>
            <a:off x="274320" y="3063240"/>
            <a:ext cx="8595360" cy="502920"/>
          </a:xfrm>
          <a:prstGeom prst="rect">
            <a:avLst/>
          </a:prstGeom>
          <a:solidFill>
            <a:srgbClr val="E6F4EA"/>
          </a:solidFill>
        </p:spPr>
        <p:txBody>
          <a:bodyPr wrap="square">
            <a:spAutoFit/>
          </a:bodyPr>
          <a:lstStyle/>
          <a:p>
            <a:pPr algn="l"/>
            <a:r>
              <a:rPr sz="1000" b="1" i="0">
                <a:solidFill>
                  <a:srgbClr val="0F9D58"/>
                </a:solidFill>
              </a:rPr>
              <a:t>Best KDEF 7c: Intermediate TL — Macro F1 = 0.843 (konsisten dengan pola RAF-DB)</a:t>
            </a:r>
          </a:p>
        </p:txBody>
      </p:sp>
      <p:sp>
        <p:nvSpPr>
          <p:cNvPr id="9" name="TextBox 8"/>
          <p:cNvSpPr txBox="1"/>
          <p:nvPr/>
        </p:nvSpPr>
        <p:spPr>
          <a:xfrm>
            <a:off x="274320" y="3657600"/>
            <a:ext cx="8595360" cy="1143000"/>
          </a:xfrm>
          <a:prstGeom prst="rect">
            <a:avLst/>
          </a:prstGeom>
          <a:solidFill>
            <a:srgbClr val="FFF0CC"/>
          </a:solidFill>
        </p:spPr>
        <p:txBody>
          <a:bodyPr wrap="square">
            <a:spAutoFit/>
          </a:bodyPr>
          <a:lstStyle/>
          <a:p>
            <a:pPr algn="l"/>
            <a:r>
              <a:rPr sz="1000" b="1" i="0">
                <a:solidFill>
                  <a:srgbClr val="202020"/>
                </a:solidFill>
              </a:rPr>
              <a:t>Pola Best Model Lintas Dataset</a:t>
            </a:r>
          </a:p>
          <a:p>
            <a:pPr algn="l"/>
            <a:r>
              <a:rPr sz="200" b="0" i="0"/>
              <a:t/>
            </a:r>
          </a:p>
          <a:p>
            <a:pPr algn="l"/>
            <a:r>
              <a:rPr sz="900" b="0" i="0">
                <a:solidFill>
                  <a:srgbClr val="202020"/>
                </a:solidFill>
              </a:rPr>
              <a:t>• Primer 4c: Intermediate TL B1 = 0.412  |  CK+ 4c: CNN TL = 0.837  |  JAFFE 4c: Late Fusion = 0.530</a:t>
            </a:r>
          </a:p>
          <a:p>
            <a:pPr algn="l"/>
            <a:r>
              <a:rPr sz="900" b="0" i="0">
                <a:solidFill>
                  <a:srgbClr val="202020"/>
                </a:solidFill>
              </a:rPr>
              <a:t>• RAF-DB 4c: Intermediate TL = 0.836  |  KDEF 7c: Intermediate TL = 0.843</a:t>
            </a:r>
          </a:p>
          <a:p>
            <a:pPr algn="l"/>
            <a:r>
              <a:rPr sz="900" b="0" i="1">
                <a:solidFill>
                  <a:srgbClr val="202020"/>
                </a:solidFill>
              </a:rPr>
              <a:t>• Insight: Intermediate TL dominan di 4 dari 5 dataset — arsitektur robust untuk multimodal FER.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Temuan dari Benchmark RAF-DB &amp; KDEF</a:t>
            </a:r>
          </a:p>
        </p:txBody>
      </p:sp>
      <p:sp>
        <p:nvSpPr>
          <p:cNvPr id="4" name="TextBox 3"/>
          <p:cNvSpPr txBox="1"/>
          <p:nvPr/>
        </p:nvSpPr>
        <p:spPr>
          <a:xfrm>
            <a:off x="274320" y="548640"/>
            <a:ext cx="8595360" cy="1188720"/>
          </a:xfrm>
          <a:prstGeom prst="rect">
            <a:avLst/>
          </a:prstGeom>
          <a:solidFill>
            <a:srgbClr val="E8F0FE"/>
          </a:solidFill>
        </p:spPr>
        <p:txBody>
          <a:bodyPr wrap="square">
            <a:spAutoFit/>
          </a:bodyPr>
          <a:lstStyle/>
          <a:p>
            <a:pPr algn="l"/>
            <a:r>
              <a:rPr sz="1100" b="1" i="0">
                <a:solidFill>
                  <a:srgbClr val="1A73E8"/>
                </a:solidFill>
              </a:rPr>
              <a:t>Temuan 16: Intermediate TL konsisten best di semua dataset</a:t>
            </a:r>
          </a:p>
          <a:p>
            <a:pPr algn="l"/>
            <a:r>
              <a:rPr sz="200" b="0" i="0"/>
              <a:t/>
            </a:r>
          </a:p>
          <a:p>
            <a:pPr algn="l"/>
            <a:r>
              <a:rPr sz="950" b="0" i="0">
                <a:solidFill>
                  <a:srgbClr val="202020"/>
                </a:solidFill>
              </a:rPr>
              <a:t>• RAF-DB 7c: 0.744 | RAF-DB 4c: 0.836 | KDEF 7c: 0.843 | Primer 4c: 0.412</a:t>
            </a:r>
          </a:p>
          <a:p>
            <a:pPr algn="l"/>
            <a:r>
              <a:rPr sz="950" b="0" i="0">
                <a:solidFill>
                  <a:srgbClr val="202020"/>
                </a:solidFill>
              </a:rPr>
              <a:t>• Arsitektur Intermediate Fusion + Transfer Learning (ResNet18) optimal untuk multimodal FER lintas kondisi data (posed, in-the-wild, natural).</a:t>
            </a:r>
          </a:p>
        </p:txBody>
      </p:sp>
      <p:sp>
        <p:nvSpPr>
          <p:cNvPr id="5" name="TextBox 4"/>
          <p:cNvSpPr txBox="1"/>
          <p:nvPr/>
        </p:nvSpPr>
        <p:spPr>
          <a:xfrm>
            <a:off x="274320" y="1828800"/>
            <a:ext cx="8595360" cy="1371600"/>
          </a:xfrm>
          <a:prstGeom prst="rect">
            <a:avLst/>
          </a:prstGeom>
          <a:solidFill>
            <a:srgbClr val="FFF0CC"/>
          </a:solidFill>
        </p:spPr>
        <p:txBody>
          <a:bodyPr wrap="square">
            <a:spAutoFit/>
          </a:bodyPr>
          <a:lstStyle/>
          <a:p>
            <a:pPr algn="l"/>
            <a:r>
              <a:rPr sz="1100" b="1" i="0">
                <a:solidFill>
                  <a:srgbClr val="202020"/>
                </a:solidFill>
              </a:rPr>
              <a:t>Temuan 17: Gap besar primer vs benchmark → konfirmasi hipotesis karakteristik data</a:t>
            </a:r>
          </a:p>
          <a:p>
            <a:pPr algn="l"/>
            <a:r>
              <a:rPr sz="200" b="0" i="0"/>
              <a:t/>
            </a:r>
          </a:p>
          <a:p>
            <a:pPr algn="l"/>
            <a:r>
              <a:rPr sz="950" b="0" i="0">
                <a:solidFill>
                  <a:srgbClr val="202020"/>
                </a:solidFill>
              </a:rPr>
              <a:t>• Gap Macro F1: RAF-DB (0.836) vs Primer (0.412) → selisih 0.424 (dataset natural yang berbeda karakteristik)</a:t>
            </a:r>
          </a:p>
          <a:p>
            <a:pPr algn="l"/>
            <a:r>
              <a:rPr sz="950" b="0" i="0">
                <a:solidFill>
                  <a:srgbClr val="202020"/>
                </a:solidFill>
              </a:rPr>
              <a:t>• KDEF (0.843) lebih tinggi karena lab posed (ekspresi jelas, balanced).</a:t>
            </a:r>
          </a:p>
          <a:p>
            <a:pPr algn="l"/>
            <a:r>
              <a:rPr sz="950" b="1" i="1">
                <a:solidFill>
                  <a:srgbClr val="202020"/>
                </a:solidFill>
              </a:rPr>
              <a:t>• Argumen terkuat: performa rendah di primer BUKAN karena kelemahan arsitektur, tapi karena data natural + imbalanced ekstrem + minoritas langka.</a:t>
            </a:r>
          </a:p>
        </p:txBody>
      </p:sp>
      <p:sp>
        <p:nvSpPr>
          <p:cNvPr id="6" name="TextBox 5"/>
          <p:cNvSpPr txBox="1"/>
          <p:nvPr/>
        </p:nvSpPr>
        <p:spPr>
          <a:xfrm>
            <a:off x="274320" y="3291840"/>
            <a:ext cx="8595360" cy="1417320"/>
          </a:xfrm>
          <a:prstGeom prst="rect">
            <a:avLst/>
          </a:prstGeom>
          <a:solidFill>
            <a:srgbClr val="E6F4EA"/>
          </a:solidFill>
        </p:spPr>
        <p:txBody>
          <a:bodyPr wrap="square">
            <a:spAutoFit/>
          </a:bodyPr>
          <a:lstStyle/>
          <a:p>
            <a:pPr algn="l"/>
            <a:r>
              <a:rPr sz="1100" b="1" i="0">
                <a:solidFill>
                  <a:srgbClr val="0F9D58"/>
                </a:solidFill>
              </a:rPr>
              <a:t>Temuan 18: Efek fusion tergantung ukuran dataset</a:t>
            </a:r>
          </a:p>
          <a:p>
            <a:pPr algn="l"/>
            <a:r>
              <a:rPr sz="200" b="0" i="0"/>
              <a:t/>
            </a:r>
          </a:p>
          <a:p>
            <a:pPr algn="l"/>
            <a:r>
              <a:rPr sz="950" b="0" i="0">
                <a:solidFill>
                  <a:srgbClr val="202020"/>
                </a:solidFill>
              </a:rPr>
              <a:t>• Di dataset besar (RAF-DB 11k train): selisih CNN TL vs Intermediate TL kecil (~0.01) — CNN sendiri sudah cukup dengan data banyak.</a:t>
            </a:r>
          </a:p>
          <a:p>
            <a:pPr algn="l"/>
            <a:r>
              <a:rPr sz="950" b="0" i="0">
                <a:solidFill>
                  <a:srgbClr val="202020"/>
                </a:solidFill>
              </a:rPr>
              <a:t>• Di dataset kecil + imbalanced (Primer 5.3k): fusion memberi gain lebih besar — landmark sebagai informasi komplementer lebih berguna.</a:t>
            </a:r>
          </a:p>
          <a:p>
            <a:pPr algn="l"/>
            <a:r>
              <a:rPr sz="950" b="0" i="1">
                <a:solidFill>
                  <a:srgbClr val="202020"/>
                </a:solidFill>
              </a:rPr>
              <a:t>• Implikasi: multimodal fusion terutama bermanfaat di low-data / imbalanced regime.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685800"/>
            <a:ext cx="8595360" cy="91440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300" b="0" i="0"/>
              <a:t/>
            </a:r>
          </a:p>
          <a:p>
            <a:pPr algn="l"/>
            <a:r>
              <a:rPr sz="1000" b="1" i="0">
                <a:solidFill>
                  <a:srgbClr val="202020"/>
                </a:solidFill>
              </a:rPr>
              <a:t>Status: Revisi draft v0.3 sudah selesai dan dikirim ke Pak Fitra via WA</a:t>
            </a:r>
          </a:p>
          <a:p>
            <a:pPr algn="l"/>
            <a:r>
              <a:rPr sz="900" b="0" i="1">
                <a:solidFill>
                  <a:srgbClr val="666666"/>
                </a:solidFill>
              </a:rPr>
              <a:t>Link: drive.google.com/.../Taufik-Publikasi v0.3</a:t>
            </a:r>
          </a:p>
          <a:p>
            <a:pPr algn="l"/>
            <a:r>
              <a:rPr sz="300" b="0" i="0"/>
              <a:t/>
            </a:r>
          </a:p>
          <a:p>
            <a:pPr algn="l"/>
            <a:r>
              <a:rPr sz="950" b="0" i="0">
                <a:solidFill>
                  <a:srgbClr val="202020"/>
                </a:solidFill>
              </a:rPr>
              <a:t>Pertanyaan: Apakah draft sudah bisa dikirim ke Pak Budi &amp; Pak Fajar untuk review paralel,</a:t>
            </a:r>
          </a:p>
          <a:p>
            <a:pPr algn="l"/>
            <a:r>
              <a:rPr sz="950" b="0" i="0">
                <a:solidFill>
                  <a:srgbClr val="202020"/>
                </a:solidFill>
              </a:rPr>
              <a:t>atau menunggu arahan dari Pak Fitra terlebih dahulu?</a:t>
            </a:r>
          </a:p>
        </p:txBody>
      </p:sp>
      <p:sp>
        <p:nvSpPr>
          <p:cNvPr id="4" name="TextBox 3"/>
          <p:cNvSpPr txBox="1"/>
          <p:nvPr/>
        </p:nvSpPr>
        <p:spPr>
          <a:xfrm>
            <a:off x="274320" y="1737360"/>
            <a:ext cx="8595360" cy="640080"/>
          </a:xfrm>
          <a:prstGeom prst="rect">
            <a:avLst/>
          </a:prstGeom>
          <a:solidFill>
            <a:srgbClr val="E8F0FE"/>
          </a:solidFill>
        </p:spPr>
        <p:txBody>
          <a:bodyPr wrap="square">
            <a:spAutoFit/>
          </a:bodyPr>
          <a:lstStyle/>
          <a:p>
            <a:pPr algn="l"/>
            <a:r>
              <a:rPr sz="1100" b="1" i="0">
                <a:solidFill>
                  <a:srgbClr val="1A73E8"/>
                </a:solidFill>
              </a:rPr>
              <a:t>2. Paper EECCIS (subset APDM)</a:t>
            </a:r>
          </a:p>
          <a:p>
            <a:pPr algn="l"/>
            <a:r>
              <a:rPr sz="300" b="0" i="0"/>
              <a:t/>
            </a:r>
          </a:p>
          <a:p>
            <a:pPr algn="l"/>
            <a:r>
              <a:rPr sz="1000" b="1" i="0">
                <a:solidFill>
                  <a:srgbClr val="202020"/>
                </a:solidFill>
              </a:rPr>
              <a:t>Status: Menunggu pengumuman -- tanggal 20 April 2026</a:t>
            </a:r>
          </a:p>
        </p:txBody>
      </p:sp>
      <p:sp>
        <p:nvSpPr>
          <p:cNvPr id="5" name="TextBox 4"/>
          <p:cNvSpPr txBox="1"/>
          <p:nvPr/>
        </p:nvSpPr>
        <p:spPr>
          <a:xfrm>
            <a:off x="274320" y="2514600"/>
            <a:ext cx="8595360" cy="1463040"/>
          </a:xfrm>
          <a:prstGeom prst="rect">
            <a:avLst/>
          </a:prstGeom>
          <a:solidFill>
            <a:srgbClr val="FFF0CC"/>
          </a:solidFill>
        </p:spPr>
        <p:txBody>
          <a:bodyPr wrap="square">
            <a:spAutoFit/>
          </a:bodyPr>
          <a:lstStyle/>
          <a:p>
            <a:pPr algn="l"/>
            <a:r>
              <a:rPr sz="1100" b="1" i="0">
                <a:solidFill>
                  <a:srgbClr val="E65100"/>
                </a:solidFill>
              </a:rPr>
              <a:t>3. Draft Paper JITECH (untuk akselerasi)</a:t>
            </a:r>
          </a:p>
          <a:p>
            <a:pPr algn="l"/>
            <a:r>
              <a:rPr sz="300" b="0" i="0"/>
              <a:t/>
            </a:r>
          </a:p>
          <a:p>
            <a:pPr algn="l"/>
            <a:r>
              <a:rPr sz="1000" b="1" i="0">
                <a:solidFill>
                  <a:srgbClr val="202020"/>
                </a:solidFill>
              </a:rPr>
              <a:t>Pertanyaan:</a:t>
            </a:r>
          </a:p>
          <a:p>
            <a:pPr algn="l"/>
            <a:r>
              <a:rPr sz="3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00" b="0" i="0">
                <a:solidFill>
                  <a:srgbClr val="666666"/>
                </a:solidFill>
              </a:rPr>
              <a:t>   - Front-only saja atau termasuk front+side?</a:t>
            </a:r>
          </a:p>
          <a:p>
            <a:pPr algn="l"/>
            <a:r>
              <a:rPr sz="900" b="0" i="0">
                <a:solidFill>
                  <a:srgbClr val="666666"/>
                </a:solidFill>
              </a:rPr>
              <a:t>   - 4-class saja atau 7-class juga?</a:t>
            </a:r>
          </a:p>
          <a:p>
            <a:pPr algn="l"/>
            <a:r>
              <a:rPr sz="900" b="0" i="0">
                <a:solidFill>
                  <a:srgbClr val="666666"/>
                </a:solidFill>
              </a:rPr>
              <a:t>   - Termasuk benchmark (JAFFE/CK+)?</a:t>
            </a:r>
          </a:p>
          <a:p>
            <a:pPr algn="l"/>
            <a:r>
              <a:rPr sz="900" b="0" i="0">
                <a:solidFill>
                  <a:srgbClr val="666666"/>
                </a:solidFill>
              </a:rPr>
              <a:t>   - Transfer Learning saja atau semua model?</a:t>
            </a:r>
          </a:p>
        </p:txBody>
      </p:sp>
      <p:sp>
        <p:nvSpPr>
          <p:cNvPr id="6" name="TextBox 5"/>
          <p:cNvSpPr txBox="1"/>
          <p:nvPr/>
        </p:nvSpPr>
        <p:spPr>
          <a:xfrm>
            <a:off x="274320" y="4114800"/>
            <a:ext cx="8595360" cy="274320"/>
          </a:xfrm>
          <a:prstGeom prst="rect">
            <a:avLst/>
          </a:prstGeom>
          <a:solidFill>
            <a:srgbClr val="1A73E8"/>
          </a:solidFill>
        </p:spPr>
        <p:txBody>
          <a:bodyPr wrap="square">
            <a:spAutoFit/>
          </a:bodyPr>
          <a:lstStyle/>
          <a:p>
            <a:pPr algn="ctr"/>
            <a:r>
              <a:rPr sz="950" b="1" i="0">
                <a:solidFill>
                  <a:srgbClr val="FFFFFF"/>
                </a:solidFill>
              </a:rPr>
              <a:t>Mohon arahan Pak Fitra terkait scope dan timeline ketiga paper ini</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Undersampling Neutral -- Mengatasi Imbalance</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Masalah: Imbalance ratio 36.8:1 (neutral vs negative)</a:t>
            </a:r>
          </a:p>
          <a:p>
            <a:pPr algn="l"/>
            <a:r>
              <a:rPr sz="950" b="0" i="0">
                <a:solidFill>
                  <a:srgbClr val="666666"/>
                </a:solidFill>
              </a:rPr>
              <a:t>Model cenderung prediksi semua neutral -&gt; accuracy 95% tapi F1 rendah</a:t>
            </a:r>
          </a:p>
        </p:txBody>
      </p:sp>
      <p:graphicFrame>
        <p:nvGraphicFramePr>
          <p:cNvPr id="4" name="Table 3"/>
          <p:cNvGraphicFramePr>
            <a:graphicFrameLocks noGrp="1"/>
          </p:cNvGraphicFramePr>
          <p:nvPr/>
        </p:nvGraphicFramePr>
        <p:xfrm>
          <a:off x="274320" y="1417320"/>
          <a:ext cx="8595360" cy="1417320"/>
        </p:xfrm>
        <a:graphic>
          <a:graphicData uri="http://schemas.openxmlformats.org/drawingml/2006/table">
            <a:tbl>
              <a:tblPr firstRow="1" bandRow="1"/>
              <a:tblGrid>
                <a:gridCol w="2011680"/>
                <a:gridCol w="2103120"/>
                <a:gridCol w="2103120"/>
                <a:gridCol w="2377440"/>
              </a:tblGrid>
              <a:tr h="283464">
                <a:tc>
                  <a:txBody>
                    <a:bodyPr/>
                    <a:lstStyle/>
                    <a:p>
                      <a:pPr algn="ctr"/>
                      <a:r>
                        <a:rPr sz="950" b="1">
                          <a:solidFill>
                            <a:srgbClr val="FFFFFF"/>
                          </a:solidFill>
                        </a:rPr>
                        <a:t>Variasi</a:t>
                      </a:r>
                    </a:p>
                  </a:txBody>
                  <a:tcPr>
                    <a:solidFill>
                      <a:srgbClr val="1A73E8"/>
                    </a:solidFill>
                  </a:tcPr>
                </a:tc>
                <a:tc>
                  <a:txBody>
                    <a:bodyPr/>
                    <a:lstStyle/>
                    <a:p>
                      <a:pPr algn="ctr"/>
                      <a:r>
                        <a:rPr sz="950" b="1">
                          <a:solidFill>
                            <a:srgbClr val="FFFFFF"/>
                          </a:solidFill>
                        </a:rPr>
                        <a:t>Neutral Train</a:t>
                      </a:r>
                    </a:p>
                  </a:txBody>
                  <a:tcPr>
                    <a:solidFill>
                      <a:srgbClr val="1A73E8"/>
                    </a:solidFill>
                  </a:tcPr>
                </a:tc>
                <a:tc>
                  <a:txBody>
                    <a:bodyPr/>
                    <a:lstStyle/>
                    <a:p>
                      <a:pPr algn="ctr"/>
                      <a:r>
                        <a:rPr sz="950" b="1">
                          <a:solidFill>
                            <a:srgbClr val="FFFFFF"/>
                          </a:solidFill>
                        </a:rPr>
                        <a:t>Total Train</a:t>
                      </a:r>
                    </a:p>
                  </a:txBody>
                  <a:tcPr>
                    <a:solidFill>
                      <a:srgbClr val="1A73E8"/>
                    </a:solidFill>
                  </a:tcPr>
                </a:tc>
                <a:tc>
                  <a:txBody>
                    <a:bodyPr/>
                    <a:lstStyle/>
                    <a:p>
                      <a:pPr algn="ctr"/>
                      <a:r>
                        <a:rPr sz="950" b="1">
                          <a:solidFill>
                            <a:srgbClr val="FFFFFF"/>
                          </a:solidFill>
                        </a:rPr>
                        <a:t>Rasio N:Neg</a:t>
                      </a:r>
                    </a:p>
                  </a:txBody>
                  <a:tcPr>
                    <a:solidFill>
                      <a:srgbClr val="1A73E8"/>
                    </a:solidFill>
                  </a:tcPr>
                </a:tc>
              </a:tr>
              <a:tr h="283464">
                <a:tc>
                  <a:txBody>
                    <a:bodyPr/>
                    <a:lstStyle/>
                    <a:p>
                      <a:pPr algn="l"/>
                      <a:r>
                        <a:rPr sz="950" b="1">
                          <a:solidFill>
                            <a:srgbClr val="202020"/>
                          </a:solidFill>
                        </a:rPr>
                        <a:t>Original</a:t>
                      </a:r>
                    </a:p>
                  </a:txBody>
                  <a:tcPr>
                    <a:solidFill>
                      <a:srgbClr val="E8F0FE"/>
                    </a:solidFill>
                  </a:tcPr>
                </a:tc>
                <a:tc>
                  <a:txBody>
                    <a:bodyPr/>
                    <a:lstStyle/>
                    <a:p>
                      <a:pPr algn="ctr"/>
                      <a:r>
                        <a:rPr sz="950">
                          <a:solidFill>
                            <a:srgbClr val="202020"/>
                          </a:solidFill>
                        </a:rPr>
                        <a:t>4,192</a:t>
                      </a:r>
                    </a:p>
                  </a:txBody>
                  <a:tcPr>
                    <a:solidFill>
                      <a:srgbClr val="E8F0FE"/>
                    </a:solidFill>
                  </a:tcPr>
                </a:tc>
                <a:tc>
                  <a:txBody>
                    <a:bodyPr/>
                    <a:lstStyle/>
                    <a:p>
                      <a:pPr algn="ctr"/>
                      <a:r>
                        <a:rPr sz="950">
                          <a:solidFill>
                            <a:srgbClr val="202020"/>
                          </a:solidFill>
                        </a:rPr>
                        <a:t>5,348</a:t>
                      </a:r>
                    </a:p>
                  </a:txBody>
                  <a:tcPr>
                    <a:solidFill>
                      <a:srgbClr val="E8F0FE"/>
                    </a:solidFill>
                  </a:tcPr>
                </a:tc>
                <a:tc>
                  <a:txBody>
                    <a:bodyPr/>
                    <a:lstStyle/>
                    <a:p>
                      <a:pPr algn="ctr"/>
                      <a:r>
                        <a:rPr sz="950">
                          <a:solidFill>
                            <a:srgbClr val="202020"/>
                          </a:solidFill>
                        </a:rPr>
                        <a:t>36.8:1</a:t>
                      </a:r>
                    </a:p>
                  </a:txBody>
                  <a:tcPr>
                    <a:solidFill>
                      <a:srgbClr val="E8F0FE"/>
                    </a:solidFill>
                  </a:tcPr>
                </a:tc>
              </a:tr>
              <a:tr h="283464">
                <a:tc>
                  <a:txBody>
                    <a:bodyPr/>
                    <a:lstStyle/>
                    <a:p>
                      <a:pPr algn="l"/>
                      <a:r>
                        <a:rPr sz="950" b="1">
                          <a:solidFill>
                            <a:srgbClr val="202020"/>
                          </a:solidFill>
                        </a:rPr>
                        <a:t>Under-660</a:t>
                      </a:r>
                    </a:p>
                  </a:txBody>
                  <a:tcPr>
                    <a:solidFill>
                      <a:srgbClr val="FFFFFF"/>
                    </a:solidFill>
                  </a:tcPr>
                </a:tc>
                <a:tc>
                  <a:txBody>
                    <a:bodyPr/>
                    <a:lstStyle/>
                    <a:p>
                      <a:pPr algn="ctr"/>
                      <a:r>
                        <a:rPr sz="950">
                          <a:solidFill>
                            <a:srgbClr val="202020"/>
                          </a:solidFill>
                        </a:rPr>
                        <a:t>660</a:t>
                      </a:r>
                    </a:p>
                  </a:txBody>
                  <a:tcPr>
                    <a:solidFill>
                      <a:srgbClr val="FFFFFF"/>
                    </a:solidFill>
                  </a:tcPr>
                </a:tc>
                <a:tc>
                  <a:txBody>
                    <a:bodyPr/>
                    <a:lstStyle/>
                    <a:p>
                      <a:pPr algn="ctr"/>
                      <a:r>
                        <a:rPr sz="950">
                          <a:solidFill>
                            <a:srgbClr val="202020"/>
                          </a:solidFill>
                        </a:rPr>
                        <a:t>1,816</a:t>
                      </a:r>
                    </a:p>
                  </a:txBody>
                  <a:tcPr>
                    <a:solidFill>
                      <a:srgbClr val="FFFFFF"/>
                    </a:solidFill>
                  </a:tcPr>
                </a:tc>
                <a:tc>
                  <a:txBody>
                    <a:bodyPr/>
                    <a:lstStyle/>
                    <a:p>
                      <a:pPr algn="ctr"/>
                      <a:r>
                        <a:rPr sz="950">
                          <a:solidFill>
                            <a:srgbClr val="202020"/>
                          </a:solidFill>
                        </a:rPr>
                        <a:t>5.8:1</a:t>
                      </a:r>
                    </a:p>
                  </a:txBody>
                  <a:tcPr>
                    <a:solidFill>
                      <a:srgbClr val="FFFFFF"/>
                    </a:solidFill>
                  </a:tcPr>
                </a:tc>
              </a:tr>
              <a:tr h="283464">
                <a:tc>
                  <a:txBody>
                    <a:bodyPr/>
                    <a:lstStyle/>
                    <a:p>
                      <a:pPr algn="l"/>
                      <a:r>
                        <a:rPr sz="950" b="1">
                          <a:solidFill>
                            <a:srgbClr val="202020"/>
                          </a:solidFill>
                        </a:rPr>
                        <a:t>Under-382</a:t>
                      </a:r>
                    </a:p>
                  </a:txBody>
                  <a:tcPr>
                    <a:solidFill>
                      <a:srgbClr val="E8F0FE"/>
                    </a:solidFill>
                  </a:tcPr>
                </a:tc>
                <a:tc>
                  <a:txBody>
                    <a:bodyPr/>
                    <a:lstStyle/>
                    <a:p>
                      <a:pPr algn="ctr"/>
                      <a:r>
                        <a:rPr sz="950">
                          <a:solidFill>
                            <a:srgbClr val="202020"/>
                          </a:solidFill>
                        </a:rPr>
                        <a:t>382</a:t>
                      </a:r>
                    </a:p>
                  </a:txBody>
                  <a:tcPr>
                    <a:solidFill>
                      <a:srgbClr val="E8F0FE"/>
                    </a:solidFill>
                  </a:tcPr>
                </a:tc>
                <a:tc>
                  <a:txBody>
                    <a:bodyPr/>
                    <a:lstStyle/>
                    <a:p>
                      <a:pPr algn="ctr"/>
                      <a:r>
                        <a:rPr sz="950">
                          <a:solidFill>
                            <a:srgbClr val="202020"/>
                          </a:solidFill>
                        </a:rPr>
                        <a:t>1,538</a:t>
                      </a:r>
                    </a:p>
                  </a:txBody>
                  <a:tcPr>
                    <a:solidFill>
                      <a:srgbClr val="E8F0FE"/>
                    </a:solidFill>
                  </a:tcPr>
                </a:tc>
                <a:tc>
                  <a:txBody>
                    <a:bodyPr/>
                    <a:lstStyle/>
                    <a:p>
                      <a:pPr algn="ctr"/>
                      <a:r>
                        <a:rPr sz="950">
                          <a:solidFill>
                            <a:srgbClr val="202020"/>
                          </a:solidFill>
                        </a:rPr>
                        <a:t>3.4:1</a:t>
                      </a:r>
                    </a:p>
                  </a:txBody>
                  <a:tcPr>
                    <a:solidFill>
                      <a:srgbClr val="E8F0FE"/>
                    </a:solidFill>
                  </a:tcPr>
                </a:tc>
              </a:tr>
              <a:tr h="283464">
                <a:tc>
                  <a:txBody>
                    <a:bodyPr/>
                    <a:lstStyle/>
                    <a:p>
                      <a:pPr algn="l"/>
                      <a:r>
                        <a:rPr sz="950" b="1">
                          <a:solidFill>
                            <a:srgbClr val="202020"/>
                          </a:solidFill>
                        </a:rPr>
                        <a:t>Under-114</a:t>
                      </a:r>
                    </a:p>
                  </a:txBody>
                  <a:tcPr>
                    <a:solidFill>
                      <a:srgbClr val="FFFFFF"/>
                    </a:solidFill>
                  </a:tcPr>
                </a:tc>
                <a:tc>
                  <a:txBody>
                    <a:bodyPr/>
                    <a:lstStyle/>
                    <a:p>
                      <a:pPr algn="ctr"/>
                      <a:r>
                        <a:rPr sz="950">
                          <a:solidFill>
                            <a:srgbClr val="202020"/>
                          </a:solidFill>
                        </a:rPr>
                        <a:t>114</a:t>
                      </a:r>
                    </a:p>
                  </a:txBody>
                  <a:tcPr>
                    <a:solidFill>
                      <a:srgbClr val="FFFFFF"/>
                    </a:solidFill>
                  </a:tcPr>
                </a:tc>
                <a:tc>
                  <a:txBody>
                    <a:bodyPr/>
                    <a:lstStyle/>
                    <a:p>
                      <a:pPr algn="ctr"/>
                      <a:r>
                        <a:rPr sz="950">
                          <a:solidFill>
                            <a:srgbClr val="202020"/>
                          </a:solidFill>
                        </a:rPr>
                        <a:t>1,270</a:t>
                      </a:r>
                    </a:p>
                  </a:txBody>
                  <a:tcPr>
                    <a:solidFill>
                      <a:srgbClr val="FFFFFF"/>
                    </a:solidFill>
                  </a:tcPr>
                </a:tc>
                <a:tc>
                  <a:txBody>
                    <a:bodyPr/>
                    <a:lstStyle/>
                    <a:p>
                      <a:pPr algn="ctr"/>
                      <a:r>
                        <a:rPr sz="950">
                          <a:solidFill>
                            <a:srgbClr val="202020"/>
                          </a:solidFill>
                        </a:rPr>
                        <a:t>1:1</a:t>
                      </a:r>
                    </a:p>
                  </a:txBody>
                  <a:tcPr>
                    <a:solidFill>
                      <a:srgbClr val="FFFFFF"/>
                    </a:solidFill>
                  </a:tcPr>
                </a:tc>
              </a:tr>
            </a:tbl>
          </a:graphicData>
        </a:graphic>
      </p:graphicFrame>
      <p:graphicFrame>
        <p:nvGraphicFramePr>
          <p:cNvPr id="5" name="Table 4"/>
          <p:cNvGraphicFramePr>
            <a:graphicFrameLocks noGrp="1"/>
          </p:cNvGraphicFramePr>
          <p:nvPr/>
        </p:nvGraphicFramePr>
        <p:xfrm>
          <a:off x="274320" y="2971800"/>
          <a:ext cx="8595360" cy="1097280"/>
        </p:xfrm>
        <a:graphic>
          <a:graphicData uri="http://schemas.openxmlformats.org/drawingml/2006/table">
            <a:tbl>
              <a:tblPr firstRow="1" bandRow="1"/>
              <a:tblGrid>
                <a:gridCol w="2286000"/>
                <a:gridCol w="2103120"/>
                <a:gridCol w="2103120"/>
                <a:gridCol w="210312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Original F1</a:t>
                      </a:r>
                    </a:p>
                  </a:txBody>
                  <a:tcPr>
                    <a:solidFill>
                      <a:srgbClr val="1A73E8"/>
                    </a:solidFill>
                  </a:tcPr>
                </a:tc>
                <a:tc>
                  <a:txBody>
                    <a:bodyPr/>
                    <a:lstStyle/>
                    <a:p>
                      <a:pPr algn="ctr"/>
                      <a:r>
                        <a:rPr sz="950" b="1">
                          <a:solidFill>
                            <a:srgbClr val="FFFFFF"/>
                          </a:solidFill>
                        </a:rPr>
                        <a:t>Under-660 F1</a:t>
                      </a:r>
                    </a:p>
                  </a:txBody>
                  <a:tcPr>
                    <a:solidFill>
                      <a:srgbClr val="1A73E8"/>
                    </a:solidFill>
                  </a:tcPr>
                </a:tc>
                <a:tc>
                  <a:txBody>
                    <a:bodyPr/>
                    <a:lstStyle/>
                    <a:p>
                      <a:pPr algn="ctr"/>
                      <a:r>
                        <a:rPr sz="950" b="1">
                          <a:solidFill>
                            <a:srgbClr val="FFFFFF"/>
                          </a:solidFill>
                        </a:rPr>
                        <a:t>Improvement</a:t>
                      </a:r>
                    </a:p>
                  </a:txBody>
                  <a:tcPr>
                    <a:solidFill>
                      <a:srgbClr val="1A73E8"/>
                    </a:solidFill>
                  </a:tcPr>
                </a:tc>
              </a:tr>
              <a:tr h="274320">
                <a:tc>
                  <a:txBody>
                    <a:bodyPr/>
                    <a:lstStyle/>
                    <a:p>
                      <a:pPr algn="l"/>
                      <a:r>
                        <a:rPr sz="950" b="1">
                          <a:solidFill>
                            <a:srgbClr val="202020"/>
                          </a:solidFill>
                        </a:rPr>
                        <a:t>Intermediate TL</a:t>
                      </a:r>
                    </a:p>
                  </a:txBody>
                  <a:tcPr>
                    <a:solidFill>
                      <a:srgbClr val="E8F0FE"/>
                    </a:solidFill>
                  </a:tcPr>
                </a:tc>
                <a:tc>
                  <a:txBody>
                    <a:bodyPr/>
                    <a:lstStyle/>
                    <a:p>
                      <a:pPr algn="ctr"/>
                      <a:r>
                        <a:rPr sz="950" b="0">
                          <a:solidFill>
                            <a:srgbClr val="202020"/>
                          </a:solidFill>
                        </a:rPr>
                        <a:t>0.363</a:t>
                      </a:r>
                    </a:p>
                  </a:txBody>
                  <a:tcPr>
                    <a:solidFill>
                      <a:srgbClr val="E8F0FE"/>
                    </a:solidFill>
                  </a:tcPr>
                </a:tc>
                <a:tc>
                  <a:txBody>
                    <a:bodyPr/>
                    <a:lstStyle/>
                    <a:p>
                      <a:pPr algn="ctr"/>
                      <a:r>
                        <a:rPr sz="950" b="0">
                          <a:solidFill>
                            <a:srgbClr val="202020"/>
                          </a:solidFill>
                        </a:rPr>
                        <a:t>0.257</a:t>
                      </a:r>
                    </a:p>
                  </a:txBody>
                  <a:tcPr>
                    <a:solidFill>
                      <a:srgbClr val="E8F0FE"/>
                    </a:solidFill>
                  </a:tcPr>
                </a:tc>
                <a:tc>
                  <a:txBody>
                    <a:bodyPr/>
                    <a:lstStyle/>
                    <a:p>
                      <a:pPr algn="ctr"/>
                      <a:r>
                        <a:rPr sz="950" b="0">
                          <a:solidFill>
                            <a:srgbClr val="202020"/>
                          </a:solidFill>
                        </a:rPr>
                        <a:t>-29%</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ctr"/>
                      <a:r>
                        <a:rPr sz="950" b="0">
                          <a:solidFill>
                            <a:srgbClr val="202020"/>
                          </a:solidFill>
                        </a:rPr>
                        <a:t>0.263</a:t>
                      </a:r>
                    </a:p>
                  </a:txBody>
                  <a:tcPr>
                    <a:solidFill>
                      <a:srgbClr val="FFFFFF"/>
                    </a:solidFill>
                  </a:tcPr>
                </a:tc>
                <a:tc>
                  <a:txBody>
                    <a:bodyPr/>
                    <a:lstStyle/>
                    <a:p>
                      <a:pPr algn="ctr"/>
                      <a:r>
                        <a:rPr sz="950" b="0">
                          <a:solidFill>
                            <a:srgbClr val="202020"/>
                          </a:solidFill>
                        </a:rPr>
                        <a:t>0.348</a:t>
                      </a:r>
                    </a:p>
                  </a:txBody>
                  <a:tcPr>
                    <a:solidFill>
                      <a:srgbClr val="FFFFFF"/>
                    </a:solidFill>
                  </a:tcPr>
                </a:tc>
                <a:tc>
                  <a:txBody>
                    <a:bodyPr/>
                    <a:lstStyle/>
                    <a:p>
                      <a:pPr algn="ctr"/>
                      <a:r>
                        <a:rPr sz="950" b="0">
                          <a:solidFill>
                            <a:srgbClr val="202020"/>
                          </a:solidFill>
                        </a:rPr>
                        <a:t>+32%</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ctr"/>
                      <a:r>
                        <a:rPr sz="950" b="0">
                          <a:solidFill>
                            <a:srgbClr val="202020"/>
                          </a:solidFill>
                        </a:rPr>
                        <a:t>0.296</a:t>
                      </a:r>
                    </a:p>
                  </a:txBody>
                  <a:tcPr>
                    <a:solidFill>
                      <a:srgbClr val="E8F0FE"/>
                    </a:solidFill>
                  </a:tcPr>
                </a:tc>
                <a:tc>
                  <a:txBody>
                    <a:bodyPr/>
                    <a:lstStyle/>
                    <a:p>
                      <a:pPr algn="ctr"/>
                      <a:r>
                        <a:rPr sz="950" b="1">
                          <a:solidFill>
                            <a:srgbClr val="202020"/>
                          </a:solidFill>
                        </a:rPr>
                        <a:t>0.405</a:t>
                      </a:r>
                    </a:p>
                  </a:txBody>
                  <a:tcPr>
                    <a:solidFill>
                      <a:srgbClr val="C6EFCE"/>
                    </a:solidFill>
                  </a:tcPr>
                </a:tc>
                <a:tc>
                  <a:txBody>
                    <a:bodyPr/>
                    <a:lstStyle/>
                    <a:p>
                      <a:pPr algn="ctr"/>
                      <a:r>
                        <a:rPr sz="950" b="1">
                          <a:solidFill>
                            <a:srgbClr val="202020"/>
                          </a:solidFill>
                        </a:rPr>
                        <a:t>+37%</a:t>
                      </a:r>
                    </a:p>
                  </a:txBody>
                  <a:tcPr>
                    <a:solidFill>
                      <a:srgbClr val="C6EFCE"/>
                    </a:solidFill>
                  </a:tcPr>
                </a:tc>
              </a:tr>
            </a:tbl>
          </a:graphicData>
        </a:graphic>
      </p:graphicFrame>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Analisis Per-Kelas Undersampling</a:t>
            </a:r>
          </a:p>
        </p:txBody>
      </p:sp>
      <p:sp>
        <p:nvSpPr>
          <p:cNvPr id="3" name="TextBox 2"/>
          <p:cNvSpPr txBox="1"/>
          <p:nvPr/>
        </p:nvSpPr>
        <p:spPr>
          <a:xfrm>
            <a:off x="274320" y="658368"/>
            <a:ext cx="8595360" cy="274320"/>
          </a:xfrm>
          <a:prstGeom prst="rect">
            <a:avLst/>
          </a:prstGeom>
          <a:noFill/>
        </p:spPr>
        <p:txBody>
          <a:bodyPr wrap="none">
            <a:spAutoFit/>
          </a:bodyPr>
          <a:lstStyle/>
          <a:p>
            <a:pPr algn="l"/>
            <a:r>
              <a:rPr sz="1000" b="1" i="0">
                <a:solidFill>
                  <a:srgbClr val="1A73E8"/>
                </a:solidFill>
              </a:rPr>
              <a:t>Late Fusion -- Per-Class F1 Score</a:t>
            </a:r>
          </a:p>
        </p:txBody>
      </p:sp>
      <p:graphicFrame>
        <p:nvGraphicFramePr>
          <p:cNvPr id="4" name="Table 3"/>
          <p:cNvGraphicFramePr>
            <a:graphicFrameLocks noGrp="1"/>
          </p:cNvGraphicFramePr>
          <p:nvPr/>
        </p:nvGraphicFramePr>
        <p:xfrm>
          <a:off x="274320" y="960120"/>
          <a:ext cx="8595357" cy="1371600"/>
        </p:xfrm>
        <a:graphic>
          <a:graphicData uri="http://schemas.openxmlformats.org/drawingml/2006/table">
            <a:tbl>
              <a:tblPr firstRow="1" bandRow="1"/>
              <a:tblGrid>
                <a:gridCol w="1736436"/>
                <a:gridCol w="1562792"/>
                <a:gridCol w="1302327"/>
                <a:gridCol w="1302327"/>
                <a:gridCol w="1215505"/>
                <a:gridCol w="1475970"/>
              </a:tblGrid>
              <a:tr h="274320">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Macro F1</a:t>
                      </a:r>
                    </a:p>
                  </a:txBody>
                  <a:tcPr>
                    <a:solidFill>
                      <a:srgbClr val="1A73E8"/>
                    </a:solidFill>
                  </a:tcPr>
                </a:tc>
                <a:tc>
                  <a:txBody>
                    <a:bodyPr/>
                    <a:lstStyle/>
                    <a:p>
                      <a:pPr algn="ctr"/>
                      <a:r>
                        <a:rPr sz="950" b="1">
                          <a:solidFill>
                            <a:srgbClr val="FFFFFF"/>
                          </a:solidFill>
                        </a:rPr>
                        <a:t>neutral</a:t>
                      </a:r>
                    </a:p>
                  </a:txBody>
                  <a:tcPr>
                    <a:solidFill>
                      <a:srgbClr val="1A73E8"/>
                    </a:solidFill>
                  </a:tcPr>
                </a:tc>
                <a:tc>
                  <a:txBody>
                    <a:bodyPr/>
                    <a:lstStyle/>
                    <a:p>
                      <a:pPr algn="ctr"/>
                      <a:r>
                        <a:rPr sz="950" b="1">
                          <a:solidFill>
                            <a:srgbClr val="FFFFFF"/>
                          </a:solidFill>
                        </a:rPr>
                        <a:t>happy</a:t>
                      </a:r>
                    </a:p>
                  </a:txBody>
                  <a:tcPr>
                    <a:solidFill>
                      <a:srgbClr val="1A73E8"/>
                    </a:solidFill>
                  </a:tcPr>
                </a:tc>
                <a:tc>
                  <a:txBody>
                    <a:bodyPr/>
                    <a:lstStyle/>
                    <a:p>
                      <a:pPr algn="ctr"/>
                      <a:r>
                        <a:rPr sz="950" b="1">
                          <a:solidFill>
                            <a:srgbClr val="FFFFFF"/>
                          </a:solidFill>
                        </a:rPr>
                        <a:t>sad</a:t>
                      </a:r>
                    </a:p>
                  </a:txBody>
                  <a:tcPr>
                    <a:solidFill>
                      <a:srgbClr val="1A73E8"/>
                    </a:solidFill>
                  </a:tcPr>
                </a:tc>
                <a:tc>
                  <a:txBody>
                    <a:bodyPr/>
                    <a:lstStyle/>
                    <a:p>
                      <a:pPr algn="ctr"/>
                      <a:r>
                        <a:rPr sz="950" b="1">
                          <a:solidFill>
                            <a:srgbClr val="FFFFFF"/>
                          </a:solidFill>
                        </a:rPr>
                        <a:t>negative</a:t>
                      </a:r>
                    </a:p>
                  </a:txBody>
                  <a:tcPr>
                    <a:solidFill>
                      <a:srgbClr val="1A73E8"/>
                    </a:solidFill>
                  </a:tcPr>
                </a:tc>
              </a:tr>
              <a:tr h="274320">
                <a:tc>
                  <a:txBody>
                    <a:bodyPr/>
                    <a:lstStyle/>
                    <a:p>
                      <a:pPr algn="l"/>
                      <a:r>
                        <a:rPr sz="900" b="1">
                          <a:solidFill>
                            <a:srgbClr val="202020"/>
                          </a:solidFill>
                        </a:rPr>
                        <a:t>Original</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0.967</a:t>
                      </a:r>
                    </a:p>
                  </a:txBody>
                  <a:tcPr>
                    <a:solidFill>
                      <a:srgbClr val="E8F0FE"/>
                    </a:solidFill>
                  </a:tcPr>
                </a:tc>
                <a:tc>
                  <a:txBody>
                    <a:bodyPr/>
                    <a:lstStyle/>
                    <a:p>
                      <a:pPr algn="ctr"/>
                      <a:r>
                        <a:rPr sz="900" b="0">
                          <a:solidFill>
                            <a:srgbClr val="202020"/>
                          </a:solidFill>
                        </a:rPr>
                        <a:t>0.158</a:t>
                      </a:r>
                    </a:p>
                  </a:txBody>
                  <a:tcPr>
                    <a:solidFill>
                      <a:srgbClr val="E8F0FE"/>
                    </a:solidFill>
                  </a:tcPr>
                </a:tc>
                <a:tc>
                  <a:txBody>
                    <a:bodyPr/>
                    <a:lstStyle/>
                    <a:p>
                      <a:pPr algn="ctr"/>
                      <a:r>
                        <a:rPr sz="900" b="0">
                          <a:solidFill>
                            <a:srgbClr val="202020"/>
                          </a:solidFill>
                        </a:rPr>
                        <a:t>0.061</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Under-660</a:t>
                      </a:r>
                    </a:p>
                  </a:txBody>
                  <a:tcPr>
                    <a:solidFill>
                      <a:srgbClr val="FFFFFF"/>
                    </a:solidFill>
                  </a:tcPr>
                </a:tc>
                <a:tc>
                  <a:txBody>
                    <a:bodyPr/>
                    <a:lstStyle/>
                    <a:p>
                      <a:pPr algn="ctr"/>
                      <a:r>
                        <a:rPr sz="900" b="0">
                          <a:solidFill>
                            <a:srgbClr val="202020"/>
                          </a:solidFill>
                        </a:rPr>
                        <a:t>0.405</a:t>
                      </a:r>
                    </a:p>
                  </a:txBody>
                  <a:tcPr>
                    <a:solidFill>
                      <a:srgbClr val="FFFFFF"/>
                    </a:solidFill>
                  </a:tcPr>
                </a:tc>
                <a:tc>
                  <a:txBody>
                    <a:bodyPr/>
                    <a:lstStyle/>
                    <a:p>
                      <a:pPr algn="ctr"/>
                      <a:r>
                        <a:rPr sz="900" b="0">
                          <a:solidFill>
                            <a:srgbClr val="202020"/>
                          </a:solidFill>
                        </a:rPr>
                        <a:t>0.963</a:t>
                      </a:r>
                    </a:p>
                  </a:txBody>
                  <a:tcPr>
                    <a:solidFill>
                      <a:srgbClr val="FFFFFF"/>
                    </a:solidFill>
                  </a:tcPr>
                </a:tc>
                <a:tc>
                  <a:txBody>
                    <a:bodyPr/>
                    <a:lstStyle/>
                    <a:p>
                      <a:pPr algn="ctr"/>
                      <a:r>
                        <a:rPr sz="900" b="0">
                          <a:solidFill>
                            <a:srgbClr val="202020"/>
                          </a:solidFill>
                        </a:rPr>
                        <a:t>0.075</a:t>
                      </a:r>
                    </a:p>
                  </a:txBody>
                  <a:tcPr>
                    <a:solidFill>
                      <a:srgbClr val="FFFFFF"/>
                    </a:solidFill>
                  </a:tcPr>
                </a:tc>
                <a:tc>
                  <a:txBody>
                    <a:bodyPr/>
                    <a:lstStyle/>
                    <a:p>
                      <a:pPr algn="ctr"/>
                      <a:r>
                        <a:rPr sz="900" b="1">
                          <a:solidFill>
                            <a:srgbClr val="202020"/>
                          </a:solidFill>
                        </a:rPr>
                        <a:t>0.581</a:t>
                      </a:r>
                    </a:p>
                  </a:txBody>
                  <a:tcPr>
                    <a:solidFill>
                      <a:srgbClr val="C6EFCE"/>
                    </a:solidFill>
                  </a:tcPr>
                </a:tc>
                <a:tc>
                  <a:txBody>
                    <a:bodyPr/>
                    <a:lstStyle/>
                    <a:p>
                      <a:pPr algn="ctr"/>
                      <a:r>
                        <a:rPr sz="900" b="0">
                          <a:solidFill>
                            <a:srgbClr val="202020"/>
                          </a:solidFill>
                        </a:rPr>
                        <a:t>0.000</a:t>
                      </a:r>
                    </a:p>
                  </a:txBody>
                  <a:tcPr>
                    <a:solidFill>
                      <a:srgbClr val="FFFFFF"/>
                    </a:solidFill>
                  </a:tcPr>
                </a:tc>
              </a:tr>
              <a:tr h="274320">
                <a:tc>
                  <a:txBody>
                    <a:bodyPr/>
                    <a:lstStyle/>
                    <a:p>
                      <a:pPr algn="l"/>
                      <a:r>
                        <a:rPr sz="900" b="1">
                          <a:solidFill>
                            <a:srgbClr val="202020"/>
                          </a:solidFill>
                        </a:rPr>
                        <a:t>Under-382</a:t>
                      </a:r>
                    </a:p>
                  </a:txBody>
                  <a:tcPr>
                    <a:solidFill>
                      <a:srgbClr val="E8F0FE"/>
                    </a:solidFill>
                  </a:tcPr>
                </a:tc>
                <a:tc>
                  <a:txBody>
                    <a:bodyPr/>
                    <a:lstStyle/>
                    <a:p>
                      <a:pPr algn="ctr"/>
                      <a:r>
                        <a:rPr sz="900" b="0">
                          <a:solidFill>
                            <a:srgbClr val="202020"/>
                          </a:solidFill>
                        </a:rPr>
                        <a:t>0.294</a:t>
                      </a:r>
                    </a:p>
                  </a:txBody>
                  <a:tcPr>
                    <a:solidFill>
                      <a:srgbClr val="E8F0FE"/>
                    </a:solidFill>
                  </a:tcPr>
                </a:tc>
                <a:tc>
                  <a:txBody>
                    <a:bodyPr/>
                    <a:lstStyle/>
                    <a:p>
                      <a:pPr algn="ctr"/>
                      <a:r>
                        <a:rPr sz="900" b="0">
                          <a:solidFill>
                            <a:srgbClr val="202020"/>
                          </a:solidFill>
                        </a:rPr>
                        <a:t>0.931</a:t>
                      </a:r>
                    </a:p>
                  </a:txBody>
                  <a:tcPr>
                    <a:solidFill>
                      <a:srgbClr val="E8F0FE"/>
                    </a:solidFill>
                  </a:tcPr>
                </a:tc>
                <a:tc>
                  <a:txBody>
                    <a:bodyPr/>
                    <a:lstStyle/>
                    <a:p>
                      <a:pPr algn="ctr"/>
                      <a:r>
                        <a:rPr sz="900" b="0">
                          <a:solidFill>
                            <a:srgbClr val="202020"/>
                          </a:solidFill>
                        </a:rPr>
                        <a:t>0.024</a:t>
                      </a:r>
                    </a:p>
                  </a:txBody>
                  <a:tcPr>
                    <a:solidFill>
                      <a:srgbClr val="E8F0FE"/>
                    </a:solidFill>
                  </a:tcPr>
                </a:tc>
                <a:tc>
                  <a:txBody>
                    <a:bodyPr/>
                    <a:lstStyle/>
                    <a:p>
                      <a:pPr algn="ctr"/>
                      <a:r>
                        <a:rPr sz="900" b="0">
                          <a:solidFill>
                            <a:srgbClr val="202020"/>
                          </a:solidFill>
                        </a:rPr>
                        <a:t>0.222</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Under-114</a:t>
                      </a:r>
                    </a:p>
                  </a:txBody>
                  <a:tcPr>
                    <a:solidFill>
                      <a:srgbClr val="FFFFFF"/>
                    </a:solidFill>
                  </a:tcPr>
                </a:tc>
                <a:tc>
                  <a:txBody>
                    <a:bodyPr/>
                    <a:lstStyle/>
                    <a:p>
                      <a:pPr algn="ctr"/>
                      <a:r>
                        <a:rPr sz="900" b="0">
                          <a:solidFill>
                            <a:srgbClr val="202020"/>
                          </a:solidFill>
                        </a:rPr>
                        <a:t>0.160</a:t>
                      </a:r>
                    </a:p>
                  </a:txBody>
                  <a:tcPr>
                    <a:solidFill>
                      <a:srgbClr val="FFFFFF"/>
                    </a:solidFill>
                  </a:tcPr>
                </a:tc>
                <a:tc>
                  <a:txBody>
                    <a:bodyPr/>
                    <a:lstStyle/>
                    <a:p>
                      <a:pPr algn="ctr"/>
                      <a:r>
                        <a:rPr sz="900" b="0">
                          <a:solidFill>
                            <a:srgbClr val="202020"/>
                          </a:solidFill>
                        </a:rPr>
                        <a:t>0.516</a:t>
                      </a:r>
                    </a:p>
                  </a:txBody>
                  <a:tcPr>
                    <a:solidFill>
                      <a:srgbClr val="FFFFFF"/>
                    </a:solidFill>
                  </a:tcPr>
                </a:tc>
                <a:tc>
                  <a:txBody>
                    <a:bodyPr/>
                    <a:lstStyle/>
                    <a:p>
                      <a:pPr algn="ctr"/>
                      <a:r>
                        <a:rPr sz="900" b="0">
                          <a:solidFill>
                            <a:srgbClr val="202020"/>
                          </a:solidFill>
                        </a:rPr>
                        <a:t>0.010</a:t>
                      </a:r>
                    </a:p>
                  </a:txBody>
                  <a:tcPr>
                    <a:solidFill>
                      <a:srgbClr val="FFFFFF"/>
                    </a:solidFill>
                  </a:tcPr>
                </a:tc>
                <a:tc>
                  <a:txBody>
                    <a:bodyPr/>
                    <a:lstStyle/>
                    <a:p>
                      <a:pPr algn="ctr"/>
                      <a:r>
                        <a:rPr sz="900" b="0">
                          <a:solidFill>
                            <a:srgbClr val="202020"/>
                          </a:solidFill>
                        </a:rPr>
                        <a:t>0.115</a:t>
                      </a:r>
                    </a:p>
                  </a:txBody>
                  <a:tcPr>
                    <a:solidFill>
                      <a:srgbClr val="FFFFFF"/>
                    </a:solidFill>
                  </a:tcPr>
                </a:tc>
                <a:tc>
                  <a:txBody>
                    <a:bodyPr/>
                    <a:lstStyle/>
                    <a:p>
                      <a:pPr algn="ctr"/>
                      <a:r>
                        <a:rPr sz="900" b="0">
                          <a:solidFill>
                            <a:srgbClr val="202020"/>
                          </a:solidFill>
                        </a:rPr>
                        <a:t>0.000</a:t>
                      </a:r>
                    </a:p>
                  </a:txBody>
                  <a:tcPr>
                    <a:solidFill>
                      <a:srgbClr val="FFFFFF"/>
                    </a:solidFill>
                  </a:tcPr>
                </a:tc>
              </a:tr>
            </a:tbl>
          </a:graphicData>
        </a:graphic>
      </p:graphicFrame>
      <p:sp>
        <p:nvSpPr>
          <p:cNvPr id="5" name="TextBox 4"/>
          <p:cNvSpPr txBox="1"/>
          <p:nvPr/>
        </p:nvSpPr>
        <p:spPr>
          <a:xfrm>
            <a:off x="274320" y="2468880"/>
            <a:ext cx="4114800" cy="1371600"/>
          </a:xfrm>
          <a:prstGeom prst="rect">
            <a:avLst/>
          </a:prstGeom>
          <a:solidFill>
            <a:srgbClr val="E6F4EA"/>
          </a:solidFill>
        </p:spPr>
        <p:txBody>
          <a:bodyPr wrap="square">
            <a:spAutoFit/>
          </a:bodyPr>
          <a:lstStyle/>
          <a:p>
            <a:pPr algn="l"/>
            <a:r>
              <a:rPr sz="1000" b="1" i="0">
                <a:solidFill>
                  <a:srgbClr val="0F9D58"/>
                </a:solidFill>
              </a:rPr>
              <a:t>Temuan Positif: Sad F1 naik drastis</a:t>
            </a:r>
          </a:p>
          <a:p>
            <a:pPr algn="l"/>
            <a:r>
              <a:rPr sz="400" b="0" i="0"/>
              <a:t/>
            </a:r>
          </a:p>
          <a:p>
            <a:pPr algn="l"/>
            <a:r>
              <a:rPr sz="950" b="0" i="0">
                <a:solidFill>
                  <a:srgbClr val="202020"/>
                </a:solidFill>
              </a:rPr>
              <a:t>Late Fusion sad: 0.061 -&gt; 0.581 (+852%)</a:t>
            </a:r>
          </a:p>
          <a:p>
            <a:pPr algn="l"/>
            <a:r>
              <a:rPr sz="950" b="0" i="0">
                <a:solidFill>
                  <a:srgbClr val="202020"/>
                </a:solidFill>
              </a:rPr>
              <a:t>FCNN sad: 0.000 -&gt; 0.341</a:t>
            </a:r>
          </a:p>
          <a:p>
            <a:pPr algn="l"/>
            <a:r>
              <a:rPr sz="300" b="0" i="0"/>
              <a:t/>
            </a:r>
          </a:p>
          <a:p>
            <a:pPr algn="l"/>
            <a:r>
              <a:rPr sz="950" b="1" i="0">
                <a:solidFill>
                  <a:srgbClr val="202020"/>
                </a:solidFill>
              </a:rPr>
              <a:t>Under-660 = sweet spot:</a:t>
            </a:r>
          </a:p>
          <a:p>
            <a:pPr algn="l"/>
            <a:r>
              <a:rPr sz="900" b="0" i="0">
                <a:solidFill>
                  <a:srgbClr val="202020"/>
                </a:solidFill>
              </a:rPr>
              <a:t>- Cukup seimbang</a:t>
            </a:r>
          </a:p>
          <a:p>
            <a:pPr algn="l"/>
            <a:r>
              <a:rPr sz="900" b="0" i="0">
                <a:solidFill>
                  <a:srgbClr val="202020"/>
                </a:solidFill>
              </a:rPr>
              <a:t>- Data training masih cukup</a:t>
            </a:r>
          </a:p>
        </p:txBody>
      </p:sp>
      <p:sp>
        <p:nvSpPr>
          <p:cNvPr id="6" name="TextBox 5"/>
          <p:cNvSpPr txBox="1"/>
          <p:nvPr/>
        </p:nvSpPr>
        <p:spPr>
          <a:xfrm>
            <a:off x="4526280" y="2468880"/>
            <a:ext cx="4343400" cy="1371600"/>
          </a:xfrm>
          <a:prstGeom prst="rect">
            <a:avLst/>
          </a:prstGeom>
          <a:solidFill>
            <a:srgbClr val="FCE4E4"/>
          </a:solidFill>
        </p:spPr>
        <p:txBody>
          <a:bodyPr wrap="square">
            <a:spAutoFit/>
          </a:bodyPr>
          <a:lstStyle/>
          <a:p>
            <a:pPr algn="l"/>
            <a:r>
              <a:rPr sz="1000" b="1" i="0">
                <a:solidFill>
                  <a:srgbClr val="D93C3C"/>
                </a:solidFill>
              </a:rPr>
              <a:t>Masalah: Negative tetap F1 ~ 0</a:t>
            </a:r>
          </a:p>
          <a:p>
            <a:pPr algn="l"/>
            <a:r>
              <a:rPr sz="400" b="0" i="0"/>
              <a:t/>
            </a:r>
          </a:p>
          <a:p>
            <a:pPr algn="l"/>
            <a:r>
              <a:rPr sz="950" b="0" i="0">
                <a:solidFill>
                  <a:srgbClr val="202020"/>
                </a:solidFill>
              </a:rPr>
              <a:t>Bahkan dengan rasio 1:1 (under-114),</a:t>
            </a:r>
          </a:p>
          <a:p>
            <a:pPr algn="l"/>
            <a:r>
              <a:rPr sz="950" b="0" i="0">
                <a:solidFill>
                  <a:srgbClr val="202020"/>
                </a:solidFill>
              </a:rPr>
              <a:t>negative masih tidak terdeteksi (F1 &lt; 0.1)</a:t>
            </a:r>
          </a:p>
          <a:p>
            <a:pPr algn="l"/>
            <a:r>
              <a:rPr sz="300" b="0" i="0"/>
              <a:t/>
            </a:r>
          </a:p>
          <a:p>
            <a:pPr algn="l"/>
            <a:r>
              <a:rPr sz="950" b="1" i="0">
                <a:solidFill>
                  <a:srgbClr val="202020"/>
                </a:solidFill>
              </a:rPr>
              <a:t>Penyebab: Test set terlalu kecil</a:t>
            </a:r>
          </a:p>
          <a:p>
            <a:pPr algn="l"/>
            <a:r>
              <a:rPr sz="900" b="0" i="0">
                <a:solidFill>
                  <a:srgbClr val="202020"/>
                </a:solidFill>
              </a:rPr>
              <a:t>- Happy: 10 | Sad: 29 | Negative: 16</a:t>
            </a:r>
          </a:p>
          <a:p>
            <a:pPr algn="l"/>
            <a:r>
              <a:rPr sz="900" b="0" i="0">
                <a:solidFill>
                  <a:srgbClr val="202020"/>
                </a:solidFill>
              </a:rPr>
              <a:t>- &lt; 30 sampel -&gt; evaluasi tidak reliable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Confidence Filtering &gt;= 60% -- BREAKTHROUGH</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Analisis: Confidence Face API per kelas</a:t>
            </a:r>
          </a:p>
          <a:p>
            <a:pPr algn="l"/>
            <a:r>
              <a:rPr sz="950" b="0" i="0">
                <a:solidFill>
                  <a:srgbClr val="666666"/>
                </a:solidFill>
              </a:rPr>
              <a:t>Kelas minoritas punya confidence rendah -&gt; kemungkinan label SALAH (noise)</a:t>
            </a:r>
          </a:p>
        </p:txBody>
      </p:sp>
      <p:graphicFrame>
        <p:nvGraphicFramePr>
          <p:cNvPr id="4" name="Table 3"/>
          <p:cNvGraphicFramePr>
            <a:graphicFrameLocks noGrp="1"/>
          </p:cNvGraphicFramePr>
          <p:nvPr/>
        </p:nvGraphicFramePr>
        <p:xfrm>
          <a:off x="274320" y="1417320"/>
          <a:ext cx="5303519" cy="2286000"/>
        </p:xfrm>
        <a:graphic>
          <a:graphicData uri="http://schemas.openxmlformats.org/drawingml/2006/table">
            <a:tbl>
              <a:tblPr firstRow="1" bandRow="1"/>
              <a:tblGrid>
                <a:gridCol w="1491615"/>
                <a:gridCol w="1905952"/>
                <a:gridCol w="1905952"/>
              </a:tblGrid>
              <a:tr h="285750">
                <a:tc>
                  <a:txBody>
                    <a:bodyPr/>
                    <a:lstStyle/>
                    <a:p>
                      <a:pPr algn="ctr"/>
                      <a:r>
                        <a:rPr sz="950" b="1">
                          <a:solidFill>
                            <a:srgbClr val="FFFFFF"/>
                          </a:solidFill>
                        </a:rPr>
                        <a:t>Emosi</a:t>
                      </a:r>
                    </a:p>
                  </a:txBody>
                  <a:tcPr>
                    <a:solidFill>
                      <a:srgbClr val="1A73E8"/>
                    </a:solidFill>
                  </a:tcPr>
                </a:tc>
                <a:tc>
                  <a:txBody>
                    <a:bodyPr/>
                    <a:lstStyle/>
                    <a:p>
                      <a:pPr algn="ctr"/>
                      <a:r>
                        <a:rPr sz="950" b="1">
                          <a:solidFill>
                            <a:srgbClr val="FFFFFF"/>
                          </a:solidFill>
                        </a:rPr>
                        <a:t>Confidence Rata-rata</a:t>
                      </a:r>
                    </a:p>
                  </a:txBody>
                  <a:tcPr>
                    <a:solidFill>
                      <a:srgbClr val="1A73E8"/>
                    </a:solidFill>
                  </a:tcPr>
                </a:tc>
                <a:tc>
                  <a:txBody>
                    <a:bodyPr/>
                    <a:lstStyle/>
                    <a:p>
                      <a:pPr algn="ctr"/>
                      <a:r>
                        <a:rPr sz="950" b="1">
                          <a:solidFill>
                            <a:srgbClr val="FFFFFF"/>
                          </a:solidFill>
                        </a:rPr>
                        <a:t>Status</a:t>
                      </a:r>
                    </a:p>
                  </a:txBody>
                  <a:tcPr>
                    <a:solidFill>
                      <a:srgbClr val="1A73E8"/>
                    </a:solidFill>
                  </a:tcPr>
                </a:tc>
              </a:tr>
              <a:tr h="285750">
                <a:tc>
                  <a:txBody>
                    <a:bodyPr/>
                    <a:lstStyle/>
                    <a:p>
                      <a:pPr algn="l"/>
                      <a:r>
                        <a:rPr sz="900" b="1">
                          <a:solidFill>
                            <a:srgbClr val="202020"/>
                          </a:solidFill>
                        </a:rPr>
                        <a:t>Neutral</a:t>
                      </a:r>
                    </a:p>
                  </a:txBody>
                  <a:tcPr>
                    <a:solidFill>
                      <a:srgbClr val="E8F0FE"/>
                    </a:solidFill>
                  </a:tcPr>
                </a:tc>
                <a:tc>
                  <a:txBody>
                    <a:bodyPr/>
                    <a:lstStyle/>
                    <a:p>
                      <a:pPr algn="ctr"/>
                      <a:r>
                        <a:rPr sz="900" b="0">
                          <a:solidFill>
                            <a:srgbClr val="202020"/>
                          </a:solidFill>
                        </a:rPr>
                        <a:t>0.959</a:t>
                      </a:r>
                    </a:p>
                  </a:txBody>
                  <a:tcPr>
                    <a:solidFill>
                      <a:srgbClr val="E8F0FE"/>
                    </a:solidFill>
                  </a:tcPr>
                </a:tc>
                <a:tc>
                  <a:txBody>
                    <a:bodyPr/>
                    <a:lstStyle/>
                    <a:p>
                      <a:pPr algn="ctr"/>
                      <a:r>
                        <a:rPr sz="900" b="0">
                          <a:solidFill>
                            <a:srgbClr val="202020"/>
                          </a:solidFill>
                        </a:rPr>
                        <a:t>Tinggi (reliable)</a:t>
                      </a:r>
                    </a:p>
                  </a:txBody>
                  <a:tcPr>
                    <a:solidFill>
                      <a:srgbClr val="E8F0FE"/>
                    </a:solidFill>
                  </a:tcPr>
                </a:tc>
              </a:tr>
              <a:tr h="285750">
                <a:tc>
                  <a:txBody>
                    <a:bodyPr/>
                    <a:lstStyle/>
                    <a:p>
                      <a:pPr algn="l"/>
                      <a:r>
                        <a:rPr sz="900" b="1">
                          <a:solidFill>
                            <a:srgbClr val="202020"/>
                          </a:solidFill>
                        </a:rPr>
                        <a:t>Happy</a:t>
                      </a:r>
                    </a:p>
                  </a:txBody>
                  <a:tcPr>
                    <a:solidFill>
                      <a:srgbClr val="FFFFFF"/>
                    </a:solidFill>
                  </a:tcPr>
                </a:tc>
                <a:tc>
                  <a:txBody>
                    <a:bodyPr/>
                    <a:lstStyle/>
                    <a:p>
                      <a:pPr algn="ctr"/>
                      <a:r>
                        <a:rPr sz="900" b="0">
                          <a:solidFill>
                            <a:srgbClr val="202020"/>
                          </a:solidFill>
                        </a:rPr>
                        <a:t>0.878</a:t>
                      </a:r>
                    </a:p>
                  </a:txBody>
                  <a:tcPr>
                    <a:solidFill>
                      <a:srgbClr val="FFFFFF"/>
                    </a:solidFill>
                  </a:tcPr>
                </a:tc>
                <a:tc>
                  <a:txBody>
                    <a:bodyPr/>
                    <a:lstStyle/>
                    <a:p>
                      <a:pPr algn="ctr"/>
                      <a:r>
                        <a:rPr sz="900" b="0">
                          <a:solidFill>
                            <a:srgbClr val="202020"/>
                          </a:solidFill>
                        </a:rPr>
                        <a:t>Tinggi</a:t>
                      </a:r>
                    </a:p>
                  </a:txBody>
                  <a:tcPr>
                    <a:solidFill>
                      <a:srgbClr val="FFFFFF"/>
                    </a:solidFill>
                  </a:tcPr>
                </a:tc>
              </a:tr>
              <a:tr h="285750">
                <a:tc>
                  <a:txBody>
                    <a:bodyPr/>
                    <a:lstStyle/>
                    <a:p>
                      <a:pPr algn="l"/>
                      <a:r>
                        <a:rPr sz="900" b="1">
                          <a:solidFill>
                            <a:srgbClr val="202020"/>
                          </a:solidFill>
                        </a:rPr>
                        <a:t>Sad</a:t>
                      </a:r>
                    </a:p>
                  </a:txBody>
                  <a:tcPr>
                    <a:solidFill>
                      <a:srgbClr val="E8F0FE"/>
                    </a:solidFill>
                  </a:tcPr>
                </a:tc>
                <a:tc>
                  <a:txBody>
                    <a:bodyPr/>
                    <a:lstStyle/>
                    <a:p>
                      <a:pPr algn="ctr"/>
                      <a:r>
                        <a:rPr sz="900" b="0">
                          <a:solidFill>
                            <a:srgbClr val="202020"/>
                          </a:solidFill>
                        </a:rPr>
                        <a:t>0.770</a:t>
                      </a:r>
                    </a:p>
                  </a:txBody>
                  <a:tcPr>
                    <a:solidFill>
                      <a:srgbClr val="E8F0FE"/>
                    </a:solidFill>
                  </a:tcPr>
                </a:tc>
                <a:tc>
                  <a:txBody>
                    <a:bodyPr/>
                    <a:lstStyle/>
                    <a:p>
                      <a:pPr algn="ctr"/>
                      <a:r>
                        <a:rPr sz="900" b="0">
                          <a:solidFill>
                            <a:srgbClr val="202020"/>
                          </a:solidFill>
                        </a:rPr>
                        <a:t>Moderat</a:t>
                      </a:r>
                    </a:p>
                  </a:txBody>
                  <a:tcPr>
                    <a:solidFill>
                      <a:srgbClr val="E8F0FE"/>
                    </a:solidFill>
                  </a:tcPr>
                </a:tc>
              </a:tr>
              <a:tr h="285750">
                <a:tc>
                  <a:txBody>
                    <a:bodyPr/>
                    <a:lstStyle/>
                    <a:p>
                      <a:pPr algn="l"/>
                      <a:r>
                        <a:rPr sz="900" b="1">
                          <a:solidFill>
                            <a:srgbClr val="202020"/>
                          </a:solidFill>
                        </a:rPr>
                        <a:t>Angry</a:t>
                      </a:r>
                    </a:p>
                  </a:txBody>
                  <a:tcPr>
                    <a:solidFill>
                      <a:srgbClr val="FFFFFF"/>
                    </a:solidFill>
                  </a:tcPr>
                </a:tc>
                <a:tc>
                  <a:txBody>
                    <a:bodyPr/>
                    <a:lstStyle/>
                    <a:p>
                      <a:pPr algn="ctr"/>
                      <a:r>
                        <a:rPr sz="900" b="0">
                          <a:solidFill>
                            <a:srgbClr val="202020"/>
                          </a:solidFill>
                        </a:rPr>
                        <a:t>0.634</a:t>
                      </a:r>
                    </a:p>
                  </a:txBody>
                  <a:tcPr>
                    <a:solidFill>
                      <a:srgbClr val="FFFFFF"/>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Fearful</a:t>
                      </a:r>
                    </a:p>
                  </a:txBody>
                  <a:tcPr>
                    <a:solidFill>
                      <a:srgbClr val="E8F0FE"/>
                    </a:solidFill>
                  </a:tcPr>
                </a:tc>
                <a:tc>
                  <a:txBody>
                    <a:bodyPr/>
                    <a:lstStyle/>
                    <a:p>
                      <a:pPr algn="ctr"/>
                      <a:r>
                        <a:rPr sz="900" b="0">
                          <a:solidFill>
                            <a:srgbClr val="202020"/>
                          </a:solidFill>
                        </a:rPr>
                        <a:t>0.671</a:t>
                      </a:r>
                    </a:p>
                  </a:txBody>
                  <a:tcPr>
                    <a:solidFill>
                      <a:srgbClr val="E8F0FE"/>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Disgusted</a:t>
                      </a:r>
                    </a:p>
                  </a:txBody>
                  <a:tcPr>
                    <a:solidFill>
                      <a:srgbClr val="FFFFFF"/>
                    </a:solidFill>
                  </a:tcPr>
                </a:tc>
                <a:tc>
                  <a:txBody>
                    <a:bodyPr/>
                    <a:lstStyle/>
                    <a:p>
                      <a:pPr algn="ctr"/>
                      <a:r>
                        <a:rPr sz="900" b="0">
                          <a:solidFill>
                            <a:srgbClr val="202020"/>
                          </a:solidFill>
                        </a:rPr>
                        <a:t>0.566</a:t>
                      </a:r>
                    </a:p>
                  </a:txBody>
                  <a:tcPr>
                    <a:solidFill>
                      <a:srgbClr val="FFFFFF"/>
                    </a:solidFill>
                  </a:tcPr>
                </a:tc>
                <a:tc>
                  <a:txBody>
                    <a:bodyPr/>
                    <a:lstStyle/>
                    <a:p>
                      <a:pPr algn="ctr"/>
                      <a:r>
                        <a:rPr sz="900" b="1">
                          <a:solidFill>
                            <a:srgbClr val="202020"/>
                          </a:solidFill>
                        </a:rPr>
                        <a:t>SANGAT RENDAH</a:t>
                      </a:r>
                    </a:p>
                  </a:txBody>
                  <a:tcPr>
                    <a:solidFill>
                      <a:srgbClr val="C6EFCE"/>
                    </a:solidFill>
                  </a:tcPr>
                </a:tc>
              </a:tr>
              <a:tr h="285750">
                <a:tc>
                  <a:txBody>
                    <a:bodyPr/>
                    <a:lstStyle/>
                    <a:p>
                      <a:pPr algn="l"/>
                      <a:r>
                        <a:rPr sz="900" b="1">
                          <a:solidFill>
                            <a:srgbClr val="202020"/>
                          </a:solidFill>
                        </a:rPr>
                        <a:t>Surprised</a:t>
                      </a:r>
                    </a:p>
                  </a:txBody>
                  <a:tcPr>
                    <a:solidFill>
                      <a:srgbClr val="E8F0FE"/>
                    </a:solidFill>
                  </a:tcPr>
                </a:tc>
                <a:tc>
                  <a:txBody>
                    <a:bodyPr/>
                    <a:lstStyle/>
                    <a:p>
                      <a:pPr algn="ctr"/>
                      <a:r>
                        <a:rPr sz="900" b="0">
                          <a:solidFill>
                            <a:srgbClr val="202020"/>
                          </a:solidFill>
                        </a:rPr>
                        <a:t>0.730</a:t>
                      </a:r>
                    </a:p>
                  </a:txBody>
                  <a:tcPr>
                    <a:solidFill>
                      <a:srgbClr val="E8F0FE"/>
                    </a:solidFill>
                  </a:tcPr>
                </a:tc>
                <a:tc>
                  <a:txBody>
                    <a:bodyPr/>
                    <a:lstStyle/>
                    <a:p>
                      <a:pPr algn="ctr"/>
                      <a:r>
                        <a:rPr sz="900" b="0">
                          <a:solidFill>
                            <a:srgbClr val="202020"/>
                          </a:solidFill>
                        </a:rPr>
                        <a:t>Moderat</a:t>
                      </a:r>
                    </a:p>
                  </a:txBody>
                  <a:tcPr>
                    <a:solidFill>
                      <a:srgbClr val="E8F0FE"/>
                    </a:solidFill>
                  </a:tcPr>
                </a:tc>
              </a:tr>
            </a:tbl>
          </a:graphicData>
        </a:graphic>
      </p:graphicFrame>
      <p:sp>
        <p:nvSpPr>
          <p:cNvPr id="5" name="TextBox 4"/>
          <p:cNvSpPr txBox="1"/>
          <p:nvPr/>
        </p:nvSpPr>
        <p:spPr>
          <a:xfrm>
            <a:off x="5760720" y="1417320"/>
            <a:ext cx="3108960" cy="2286000"/>
          </a:xfrm>
          <a:prstGeom prst="rect">
            <a:avLst/>
          </a:prstGeom>
          <a:solidFill>
            <a:srgbClr val="E8F0FE"/>
          </a:solidFill>
        </p:spPr>
        <p:txBody>
          <a:bodyPr wrap="square">
            <a:spAutoFit/>
          </a:bodyPr>
          <a:lstStyle/>
          <a:p>
            <a:pPr algn="l"/>
            <a:r>
              <a:rPr sz="1000" b="1" i="0">
                <a:solidFill>
                  <a:srgbClr val="1A73E8"/>
                </a:solidFill>
              </a:rPr>
              <a:t>Strategi Filtering</a:t>
            </a:r>
          </a:p>
          <a:p>
            <a:pPr algn="l"/>
            <a:r>
              <a:rPr sz="400" b="0" i="0"/>
              <a:t/>
            </a:r>
          </a:p>
          <a:p>
            <a:pPr algn="l"/>
            <a:r>
              <a:rPr sz="950" b="0" i="0">
                <a:solidFill>
                  <a:srgbClr val="202020"/>
                </a:solidFill>
              </a:rPr>
              <a:t>Filter sampel confidence &lt; 60%</a:t>
            </a:r>
          </a:p>
          <a:p>
            <a:pPr algn="l"/>
            <a:r>
              <a:rPr sz="300" b="0" i="0"/>
              <a:t/>
            </a:r>
          </a:p>
          <a:p>
            <a:pPr algn="l"/>
            <a:r>
              <a:rPr sz="950" b="1" i="0">
                <a:solidFill>
                  <a:srgbClr val="202020"/>
                </a:solidFill>
              </a:rPr>
              <a:t>Dampak:</a:t>
            </a:r>
          </a:p>
          <a:p>
            <a:pPr algn="l"/>
            <a:r>
              <a:rPr sz="900" b="0" i="0">
                <a:solidFill>
                  <a:srgbClr val="202020"/>
                </a:solidFill>
              </a:rPr>
              <a:t>- Total: 7,091 -&gt; 6,795</a:t>
            </a:r>
          </a:p>
          <a:p>
            <a:pPr algn="l"/>
            <a:r>
              <a:rPr sz="900" b="0" i="0">
                <a:solidFill>
                  <a:srgbClr val="202020"/>
                </a:solidFill>
              </a:rPr>
              <a:t>- Hanya 4.2% data dihilangkan</a:t>
            </a:r>
          </a:p>
          <a:p>
            <a:pPr algn="l"/>
            <a:r>
              <a:rPr sz="900" b="0" i="0">
                <a:solidFill>
                  <a:srgbClr val="202020"/>
                </a:solidFill>
              </a:rPr>
              <a:t>- Kelas minoritas -50-57%</a:t>
            </a:r>
          </a:p>
          <a:p>
            <a:pPr algn="l"/>
            <a:r>
              <a:rPr sz="300" b="0" i="0"/>
              <a:t/>
            </a:r>
          </a:p>
          <a:p>
            <a:pPr algn="l"/>
            <a:r>
              <a:rPr sz="900" b="0" i="1">
                <a:solidFill>
                  <a:srgbClr val="666666"/>
                </a:solidFill>
              </a:rPr>
              <a:t>Prinsip: Data bersih lebih</a:t>
            </a:r>
          </a:p>
          <a:p>
            <a:pPr algn="l"/>
            <a:r>
              <a:rPr sz="900" b="0" i="1">
                <a:solidFill>
                  <a:srgbClr val="666666"/>
                </a:solidFill>
              </a:rPr>
              <a:t>penting dari data banyak</a:t>
            </a:r>
          </a:p>
        </p:txBody>
      </p:sp>
      <p:sp>
        <p:nvSpPr>
          <p:cNvPr id="6" name="TextBox 5"/>
          <p:cNvSpPr txBox="1"/>
          <p:nvPr/>
        </p:nvSpPr>
        <p:spPr>
          <a:xfrm>
            <a:off x="274320" y="3840480"/>
            <a:ext cx="8595360" cy="365760"/>
          </a:xfrm>
          <a:prstGeom prst="rect">
            <a:avLst/>
          </a:prstGeom>
          <a:solidFill>
            <a:srgbClr val="0F9D58"/>
          </a:solidFill>
        </p:spPr>
        <p:txBody>
          <a:bodyPr wrap="square">
            <a:spAutoFit/>
          </a:bodyPr>
          <a:lstStyle/>
          <a:p>
            <a:pPr algn="ctr"/>
            <a:r>
              <a:rPr sz="1000" b="1" i="0">
                <a:solidFill>
                  <a:srgbClr val="FFFFFF"/>
                </a:solidFill>
              </a:rPr>
              <a:t>Hasil: Best F1 naik dari 0.412 -&gt; 0.521 (+26%) | Intermediate TL 4-class B3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Hasil Lengkap Conf60 (Best per Config)</a:t>
            </a:r>
          </a:p>
        </p:txBody>
      </p:sp>
      <p:sp>
        <p:nvSpPr>
          <p:cNvPr id="3" name="TextBox 2"/>
          <p:cNvSpPr txBox="1"/>
          <p:nvPr/>
        </p:nvSpPr>
        <p:spPr>
          <a:xfrm>
            <a:off x="274320" y="685800"/>
            <a:ext cx="4114800" cy="274320"/>
          </a:xfrm>
          <a:prstGeom prst="rect">
            <a:avLst/>
          </a:prstGeom>
          <a:noFill/>
        </p:spPr>
        <p:txBody>
          <a:bodyPr wrap="none">
            <a:spAutoFit/>
          </a:bodyPr>
          <a:lstStyle/>
          <a:p>
            <a:pPr algn="l"/>
            <a:r>
              <a:rPr sz="1000" b="1" i="0">
                <a:solidFill>
                  <a:srgbClr val="1A73E8"/>
                </a:solidFill>
              </a:rPr>
              <a:t>7-Class (Best Macro F1)</a:t>
            </a:r>
          </a:p>
        </p:txBody>
      </p:sp>
      <p:graphicFrame>
        <p:nvGraphicFramePr>
          <p:cNvPr id="4" name="Table 3"/>
          <p:cNvGraphicFramePr>
            <a:graphicFrameLocks noGrp="1"/>
          </p:cNvGraphicFramePr>
          <p:nvPr/>
        </p:nvGraphicFramePr>
        <p:xfrm>
          <a:off x="274320" y="960120"/>
          <a:ext cx="4114798" cy="2194560"/>
        </p:xfrm>
        <a:graphic>
          <a:graphicData uri="http://schemas.openxmlformats.org/drawingml/2006/table">
            <a:tbl>
              <a:tblPr firstRow="1" bandRow="1"/>
              <a:tblGrid>
                <a:gridCol w="1346661"/>
                <a:gridCol w="897774"/>
                <a:gridCol w="897774"/>
                <a:gridCol w="972589"/>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0.277</a:t>
                      </a:r>
                    </a:p>
                  </a:txBody>
                  <a:tcPr>
                    <a:solidFill>
                      <a:srgbClr val="E8F0FE"/>
                    </a:solidFill>
                  </a:tcPr>
                </a:tc>
                <a:tc>
                  <a:txBody>
                    <a:bodyPr/>
                    <a:lstStyle/>
                    <a:p>
                      <a:pPr algn="ctr"/>
                      <a:r>
                        <a:rPr sz="850" b="0">
                          <a:solidFill>
                            <a:srgbClr val="202020"/>
                          </a:solidFill>
                        </a:rPr>
                        <a:t>+102%</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0.158</a:t>
                      </a:r>
                    </a:p>
                  </a:txBody>
                  <a:tcPr>
                    <a:solidFill>
                      <a:srgbClr val="FFFFFF"/>
                    </a:solidFill>
                  </a:tcPr>
                </a:tc>
                <a:tc>
                  <a:txBody>
                    <a:bodyPr/>
                    <a:lstStyle/>
                    <a:p>
                      <a:pPr algn="ctr"/>
                      <a:r>
                        <a:rPr sz="850" b="0">
                          <a:solidFill>
                            <a:srgbClr val="202020"/>
                          </a:solidFill>
                        </a:rPr>
                        <a:t>0.244</a:t>
                      </a:r>
                    </a:p>
                  </a:txBody>
                  <a:tcPr>
                    <a:solidFill>
                      <a:srgbClr val="FFFFFF"/>
                    </a:solidFill>
                  </a:tcPr>
                </a:tc>
                <a:tc>
                  <a:txBody>
                    <a:bodyPr/>
                    <a:lstStyle/>
                    <a:p>
                      <a:pPr algn="ctr"/>
                      <a:r>
                        <a:rPr sz="850" b="0">
                          <a:solidFill>
                            <a:srgbClr val="202020"/>
                          </a:solidFill>
                        </a:rPr>
                        <a:t>+54%</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0.261</a:t>
                      </a:r>
                    </a:p>
                  </a:txBody>
                  <a:tcPr>
                    <a:solidFill>
                      <a:srgbClr val="E8F0FE"/>
                    </a:solidFill>
                  </a:tcPr>
                </a:tc>
                <a:tc>
                  <a:txBody>
                    <a:bodyPr/>
                    <a:lstStyle/>
                    <a:p>
                      <a:pPr algn="ctr"/>
                      <a:r>
                        <a:rPr sz="850" b="0">
                          <a:solidFill>
                            <a:srgbClr val="202020"/>
                          </a:solidFill>
                        </a:rPr>
                        <a:t>+91%</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0.175</a:t>
                      </a:r>
                    </a:p>
                  </a:txBody>
                  <a:tcPr>
                    <a:solidFill>
                      <a:srgbClr val="FFFFFF"/>
                    </a:solidFill>
                  </a:tcPr>
                </a:tc>
                <a:tc>
                  <a:txBody>
                    <a:bodyPr/>
                    <a:lstStyle/>
                    <a:p>
                      <a:pPr algn="ctr"/>
                      <a:r>
                        <a:rPr sz="850" b="0">
                          <a:solidFill>
                            <a:srgbClr val="202020"/>
                          </a:solidFill>
                        </a:rPr>
                        <a:t>0.289</a:t>
                      </a:r>
                    </a:p>
                  </a:txBody>
                  <a:tcPr>
                    <a:solidFill>
                      <a:srgbClr val="FFFFFF"/>
                    </a:solidFill>
                  </a:tcPr>
                </a:tc>
                <a:tc>
                  <a:txBody>
                    <a:bodyPr/>
                    <a:lstStyle/>
                    <a:p>
                      <a:pPr algn="ctr"/>
                      <a:r>
                        <a:rPr sz="850" b="0">
                          <a:solidFill>
                            <a:srgbClr val="202020"/>
                          </a:solidFill>
                        </a:rPr>
                        <a:t>+65%</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0.154</a:t>
                      </a:r>
                    </a:p>
                  </a:txBody>
                  <a:tcPr>
                    <a:solidFill>
                      <a:srgbClr val="E8F0FE"/>
                    </a:solidFill>
                  </a:tcPr>
                </a:tc>
                <a:tc>
                  <a:txBody>
                    <a:bodyPr/>
                    <a:lstStyle/>
                    <a:p>
                      <a:pPr algn="ctr"/>
                      <a:r>
                        <a:rPr sz="850" b="0">
                          <a:solidFill>
                            <a:srgbClr val="202020"/>
                          </a:solidFill>
                        </a:rPr>
                        <a:t>0.273</a:t>
                      </a:r>
                    </a:p>
                  </a:txBody>
                  <a:tcPr>
                    <a:solidFill>
                      <a:srgbClr val="E8F0FE"/>
                    </a:solidFill>
                  </a:tcPr>
                </a:tc>
                <a:tc>
                  <a:txBody>
                    <a:bodyPr/>
                    <a:lstStyle/>
                    <a:p>
                      <a:pPr algn="ctr"/>
                      <a:r>
                        <a:rPr sz="850" b="0">
                          <a:solidFill>
                            <a:srgbClr val="202020"/>
                          </a:solidFill>
                        </a:rPr>
                        <a:t>+77%</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0.180</a:t>
                      </a:r>
                    </a:p>
                  </a:txBody>
                  <a:tcPr>
                    <a:solidFill>
                      <a:srgbClr val="FFFFFF"/>
                    </a:solidFill>
                  </a:tcPr>
                </a:tc>
                <a:tc>
                  <a:txBody>
                    <a:bodyPr/>
                    <a:lstStyle/>
                    <a:p>
                      <a:pPr algn="ctr"/>
                      <a:r>
                        <a:rPr sz="850" b="0">
                          <a:solidFill>
                            <a:srgbClr val="202020"/>
                          </a:solidFill>
                        </a:rPr>
                        <a:t>0.292</a:t>
                      </a:r>
                    </a:p>
                  </a:txBody>
                  <a:tcPr>
                    <a:solidFill>
                      <a:srgbClr val="FFFFFF"/>
                    </a:solidFill>
                  </a:tcPr>
                </a:tc>
                <a:tc>
                  <a:txBody>
                    <a:bodyPr/>
                    <a:lstStyle/>
                    <a:p>
                      <a:pPr algn="ctr"/>
                      <a:r>
                        <a:rPr sz="850" b="0">
                          <a:solidFill>
                            <a:srgbClr val="202020"/>
                          </a:solidFill>
                        </a:rPr>
                        <a:t>+62%</a:t>
                      </a:r>
                    </a:p>
                  </a:txBody>
                  <a:tcPr>
                    <a:solidFill>
                      <a:srgbClr val="FFFFFF"/>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0.167</a:t>
                      </a:r>
                    </a:p>
                  </a:txBody>
                  <a:tcPr>
                    <a:solidFill>
                      <a:srgbClr val="E8F0FE"/>
                    </a:solidFill>
                  </a:tcPr>
                </a:tc>
                <a:tc>
                  <a:txBody>
                    <a:bodyPr/>
                    <a:lstStyle/>
                    <a:p>
                      <a:pPr algn="ctr"/>
                      <a:r>
                        <a:rPr sz="850" b="1">
                          <a:solidFill>
                            <a:srgbClr val="202020"/>
                          </a:solidFill>
                        </a:rPr>
                        <a:t>0.333</a:t>
                      </a:r>
                    </a:p>
                  </a:txBody>
                  <a:tcPr>
                    <a:solidFill>
                      <a:srgbClr val="C6EFCE"/>
                    </a:solidFill>
                  </a:tcPr>
                </a:tc>
                <a:tc>
                  <a:txBody>
                    <a:bodyPr/>
                    <a:lstStyle/>
                    <a:p>
                      <a:pPr algn="ctr"/>
                      <a:r>
                        <a:rPr sz="850" b="0">
                          <a:solidFill>
                            <a:srgbClr val="202020"/>
                          </a:solidFill>
                        </a:rPr>
                        <a:t>+80%</a:t>
                      </a:r>
                    </a:p>
                  </a:txBody>
                  <a:tcPr>
                    <a:solidFill>
                      <a:srgbClr val="E8F0FE"/>
                    </a:solidFill>
                  </a:tcPr>
                </a:tc>
              </a:tr>
            </a:tbl>
          </a:graphicData>
        </a:graphic>
      </p:graphicFrame>
      <p:sp>
        <p:nvSpPr>
          <p:cNvPr id="5" name="TextBox 4"/>
          <p:cNvSpPr txBox="1"/>
          <p:nvPr/>
        </p:nvSpPr>
        <p:spPr>
          <a:xfrm>
            <a:off x="4663440" y="685800"/>
            <a:ext cx="4206240" cy="274320"/>
          </a:xfrm>
          <a:prstGeom prst="rect">
            <a:avLst/>
          </a:prstGeom>
          <a:noFill/>
        </p:spPr>
        <p:txBody>
          <a:bodyPr wrap="none">
            <a:spAutoFit/>
          </a:bodyPr>
          <a:lstStyle/>
          <a:p>
            <a:pPr algn="l"/>
            <a:r>
              <a:rPr sz="1000" b="1" i="0">
                <a:solidFill>
                  <a:srgbClr val="1A73E8"/>
                </a:solidFill>
              </a:rPr>
              <a:t>4-Class (Best Macro F1)</a:t>
            </a:r>
          </a:p>
        </p:txBody>
      </p:sp>
      <p:graphicFrame>
        <p:nvGraphicFramePr>
          <p:cNvPr id="6" name="Table 5"/>
          <p:cNvGraphicFramePr>
            <a:graphicFrameLocks noGrp="1"/>
          </p:cNvGraphicFramePr>
          <p:nvPr/>
        </p:nvGraphicFramePr>
        <p:xfrm>
          <a:off x="4663440" y="960120"/>
          <a:ext cx="4206239" cy="2194560"/>
        </p:xfrm>
        <a:graphic>
          <a:graphicData uri="http://schemas.openxmlformats.org/drawingml/2006/table">
            <a:tbl>
              <a:tblPr firstRow="1" bandRow="1"/>
              <a:tblGrid>
                <a:gridCol w="1376587"/>
                <a:gridCol w="917725"/>
                <a:gridCol w="917725"/>
                <a:gridCol w="994202"/>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0.448</a:t>
                      </a:r>
                    </a:p>
                  </a:txBody>
                  <a:tcPr>
                    <a:solidFill>
                      <a:srgbClr val="E8F0FE"/>
                    </a:solidFill>
                  </a:tcPr>
                </a:tc>
                <a:tc>
                  <a:txBody>
                    <a:bodyPr/>
                    <a:lstStyle/>
                    <a:p>
                      <a:pPr algn="ctr"/>
                      <a:r>
                        <a:rPr sz="850" b="0">
                          <a:solidFill>
                            <a:srgbClr val="202020"/>
                          </a:solidFill>
                        </a:rPr>
                        <a:t>+69%</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0.460</a:t>
                      </a:r>
                    </a:p>
                  </a:txBody>
                  <a:tcPr>
                    <a:solidFill>
                      <a:srgbClr val="FFFFFF"/>
                    </a:solidFill>
                  </a:tcPr>
                </a:tc>
                <a:tc>
                  <a:txBody>
                    <a:bodyPr/>
                    <a:lstStyle/>
                    <a:p>
                      <a:pPr algn="ctr"/>
                      <a:r>
                        <a:rPr sz="850" b="0">
                          <a:solidFill>
                            <a:srgbClr val="202020"/>
                          </a:solidFill>
                        </a:rPr>
                        <a:t>+27%</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0.269</a:t>
                      </a:r>
                    </a:p>
                  </a:txBody>
                  <a:tcPr>
                    <a:solidFill>
                      <a:srgbClr val="E8F0FE"/>
                    </a:solidFill>
                  </a:tcPr>
                </a:tc>
                <a:tc>
                  <a:txBody>
                    <a:bodyPr/>
                    <a:lstStyle/>
                    <a:p>
                      <a:pPr algn="ctr"/>
                      <a:r>
                        <a:rPr sz="850" b="0">
                          <a:solidFill>
                            <a:srgbClr val="202020"/>
                          </a:solidFill>
                        </a:rPr>
                        <a:t>0.445</a:t>
                      </a:r>
                    </a:p>
                  </a:txBody>
                  <a:tcPr>
                    <a:solidFill>
                      <a:srgbClr val="E8F0FE"/>
                    </a:solidFill>
                  </a:tcPr>
                </a:tc>
                <a:tc>
                  <a:txBody>
                    <a:bodyPr/>
                    <a:lstStyle/>
                    <a:p>
                      <a:pPr algn="ctr"/>
                      <a:r>
                        <a:rPr sz="850" b="0">
                          <a:solidFill>
                            <a:srgbClr val="202020"/>
                          </a:solidFill>
                        </a:rPr>
                        <a:t>+65%</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0.482</a:t>
                      </a:r>
                    </a:p>
                  </a:txBody>
                  <a:tcPr>
                    <a:solidFill>
                      <a:srgbClr val="FFFFFF"/>
                    </a:solidFill>
                  </a:tcPr>
                </a:tc>
                <a:tc>
                  <a:txBody>
                    <a:bodyPr/>
                    <a:lstStyle/>
                    <a:p>
                      <a:pPr algn="ctr"/>
                      <a:r>
                        <a:rPr sz="850" b="0">
                          <a:solidFill>
                            <a:srgbClr val="202020"/>
                          </a:solidFill>
                        </a:rPr>
                        <a:t>+22%</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0.274</a:t>
                      </a:r>
                    </a:p>
                  </a:txBody>
                  <a:tcPr>
                    <a:solidFill>
                      <a:srgbClr val="E8F0FE"/>
                    </a:solidFill>
                  </a:tcPr>
                </a:tc>
                <a:tc>
                  <a:txBody>
                    <a:bodyPr/>
                    <a:lstStyle/>
                    <a:p>
                      <a:pPr algn="ctr"/>
                      <a:r>
                        <a:rPr sz="850" b="0">
                          <a:solidFill>
                            <a:srgbClr val="202020"/>
                          </a:solidFill>
                        </a:rPr>
                        <a:t>0.507</a:t>
                      </a:r>
                    </a:p>
                  </a:txBody>
                  <a:tcPr>
                    <a:solidFill>
                      <a:srgbClr val="E8F0FE"/>
                    </a:solidFill>
                  </a:tcPr>
                </a:tc>
                <a:tc>
                  <a:txBody>
                    <a:bodyPr/>
                    <a:lstStyle/>
                    <a:p>
                      <a:pPr algn="ctr"/>
                      <a:r>
                        <a:rPr sz="850" b="0">
                          <a:solidFill>
                            <a:srgbClr val="202020"/>
                          </a:solidFill>
                        </a:rPr>
                        <a:t>+85%</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0.412</a:t>
                      </a:r>
                    </a:p>
                  </a:txBody>
                  <a:tcPr>
                    <a:solidFill>
                      <a:srgbClr val="FFFFFF"/>
                    </a:solidFill>
                  </a:tcPr>
                </a:tc>
                <a:tc>
                  <a:txBody>
                    <a:bodyPr/>
                    <a:lstStyle/>
                    <a:p>
                      <a:pPr algn="ctr"/>
                      <a:r>
                        <a:rPr sz="850" b="1">
                          <a:solidFill>
                            <a:srgbClr val="202020"/>
                          </a:solidFill>
                        </a:rPr>
                        <a:t>0.521</a:t>
                      </a:r>
                    </a:p>
                  </a:txBody>
                  <a:tcPr>
                    <a:solidFill>
                      <a:srgbClr val="C6EFCE"/>
                    </a:solidFill>
                  </a:tcPr>
                </a:tc>
                <a:tc>
                  <a:txBody>
                    <a:bodyPr/>
                    <a:lstStyle/>
                    <a:p>
                      <a:pPr algn="ctr"/>
                      <a:r>
                        <a:rPr sz="850" b="1">
                          <a:solidFill>
                            <a:srgbClr val="202020"/>
                          </a:solidFill>
                        </a:rPr>
                        <a:t>+26%</a:t>
                      </a:r>
                    </a:p>
                  </a:txBody>
                  <a:tcPr>
                    <a:solidFill>
                      <a:srgbClr val="C6EFCE"/>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0.372</a:t>
                      </a:r>
                    </a:p>
                  </a:txBody>
                  <a:tcPr>
                    <a:solidFill>
                      <a:srgbClr val="E8F0FE"/>
                    </a:solidFill>
                  </a:tcPr>
                </a:tc>
                <a:tc>
                  <a:txBody>
                    <a:bodyPr/>
                    <a:lstStyle/>
                    <a:p>
                      <a:pPr algn="l"/>
                      <a:r>
                        <a:rPr sz="850" b="1">
                          <a:solidFill>
                            <a:srgbClr val="202020"/>
                          </a:solidFill>
                        </a:rPr>
                        <a:t>0.521</a:t>
                      </a:r>
                    </a:p>
                  </a:txBody>
                  <a:tcPr>
                    <a:solidFill>
                      <a:srgbClr val="C6EFCE"/>
                    </a:solidFill>
                  </a:tcPr>
                </a:tc>
                <a:tc>
                  <a:txBody>
                    <a:bodyPr/>
                    <a:lstStyle/>
                    <a:p>
                      <a:pPr algn="l"/>
                      <a:r>
                        <a:rPr sz="850" b="1">
                          <a:solidFill>
                            <a:srgbClr val="202020"/>
                          </a:solidFill>
                        </a:rPr>
                        <a:t>+52%</a:t>
                      </a:r>
                    </a:p>
                  </a:txBody>
                  <a:tcPr>
                    <a:solidFill>
                      <a:srgbClr val="C6EFCE"/>
                    </a:solidFill>
                  </a:tcPr>
                </a:tc>
              </a:tr>
            </a:tbl>
          </a:graphicData>
        </a:graphic>
      </p:graphicFrame>
      <p:sp>
        <p:nvSpPr>
          <p:cNvPr id="7" name="TextBox 6"/>
          <p:cNvSpPr txBox="1"/>
          <p:nvPr/>
        </p:nvSpPr>
        <p:spPr>
          <a:xfrm>
            <a:off x="274320" y="3337560"/>
            <a:ext cx="8595360" cy="640080"/>
          </a:xfrm>
          <a:prstGeom prst="rect">
            <a:avLst/>
          </a:prstGeom>
          <a:solidFill>
            <a:srgbClr val="E6F4EA"/>
          </a:solidFill>
        </p:spPr>
        <p:txBody>
          <a:bodyPr wrap="square">
            <a:spAutoFit/>
          </a:bodyPr>
          <a:lstStyle/>
          <a:p>
            <a:pPr algn="l"/>
            <a:r>
              <a:rPr sz="1000" b="1">
                <a:solidFill>
                  <a:srgbClr val="0F9D58"/>
                </a:solidFill>
              </a:rPr>
              <a:t>Semua model mengalami peningkatan signifikan dengan conf60</a:t>
            </a:r>
          </a:p>
          <a:p>
            <a:pPr algn="l"/>
          </a:p>
          <a:p>
            <a:pPr algn="l"/>
          </a:p>
          <a:p>
            <a:r>
              <a:rPr sz="950">
                <a:solidFill>
                  <a:srgbClr val="202020"/>
                </a:solidFill>
              </a:rPr>
              <a:t>Best overall: Intermediate TL 4-class B3 = 0.521 (vs 0.412 sebelumnya, +38%)</a:t>
            </a:r>
          </a:p>
          <a:p>
            <a:r>
              <a:rPr sz="950">
                <a:solidFill>
                  <a:srgbClr val="202020"/>
                </a:solidFill>
              </a:rPr>
              <a:t>Peningkatan rata-rata: 7-class +76%, 4-class +47%</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Confidence Filtering</a:t>
            </a:r>
          </a:p>
        </p:txBody>
      </p:sp>
      <p:sp>
        <p:nvSpPr>
          <p:cNvPr id="3" name="TextBox 2"/>
          <p:cNvSpPr txBox="1"/>
          <p:nvPr/>
        </p:nvSpPr>
        <p:spPr>
          <a:xfrm>
            <a:off x="274320" y="713232"/>
            <a:ext cx="8503920" cy="228600"/>
          </a:xfrm>
          <a:prstGeom prst="rect">
            <a:avLst/>
          </a:prstGeom>
          <a:noFill/>
        </p:spPr>
        <p:txBody>
          <a:bodyPr wrap="none">
            <a:spAutoFit/>
          </a:bodyPr>
          <a:lstStyle/>
          <a:p>
            <a:pPr algn="l"/>
            <a:r>
              <a:rPr sz="900" b="1" i="0">
                <a:solidFill>
                  <a:srgbClr val="1A73E8"/>
                </a:solidFill>
              </a:rPr>
              <a:t>Temuan 24: Breakthrough -- F1 0.412 -&gt; 0.521 (val-tuned proper) (+26%)</a:t>
            </a:r>
          </a:p>
        </p:txBody>
      </p:sp>
      <p:graphicFrame>
        <p:nvGraphicFramePr>
          <p:cNvPr id="4" name="Table 3"/>
          <p:cNvGraphicFramePr>
            <a:graphicFrameLocks noGrp="1"/>
          </p:cNvGraphicFramePr>
          <p:nvPr/>
        </p:nvGraphicFramePr>
        <p:xfrm>
          <a:off x="274320" y="987552"/>
          <a:ext cx="8503919" cy="960120"/>
        </p:xfrm>
        <a:graphic>
          <a:graphicData uri="http://schemas.openxmlformats.org/drawingml/2006/table">
            <a:tbl>
              <a:tblPr firstRow="1" bandRow="1"/>
              <a:tblGrid>
                <a:gridCol w="2286000"/>
                <a:gridCol w="3200399"/>
                <a:gridCol w="3017520"/>
              </a:tblGrid>
              <a:tr h="240030">
                <a:tc>
                  <a:txBody>
                    <a:bodyPr/>
                    <a:lstStyle/>
                    <a:p>
                      <a:pPr algn="ctr"/>
                      <a:r>
                        <a:rPr sz="900" b="1">
                          <a:solidFill>
                            <a:srgbClr val="FFFFFF"/>
                          </a:solidFill>
                        </a:rPr>
                        <a:t>Tahap</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Macro F1</a:t>
                      </a:r>
                    </a:p>
                  </a:txBody>
                  <a:tcPr>
                    <a:solidFill>
                      <a:srgbClr val="1A73E8"/>
                    </a:solidFill>
                  </a:tcPr>
                </a:tc>
              </a:tr>
              <a:tr h="240030">
                <a:tc>
                  <a:txBody>
                    <a:bodyPr/>
                    <a:lstStyle/>
                    <a:p>
                      <a:pPr algn="l"/>
                      <a:r>
                        <a:rPr sz="850" b="1">
                          <a:solidFill>
                            <a:srgbClr val="202020"/>
                          </a:solidFill>
                        </a:rPr>
                        <a:t>Tahap 3 (TL)</a:t>
                      </a:r>
                    </a:p>
                  </a:txBody>
                  <a:tcPr>
                    <a:solidFill>
                      <a:srgbClr val="E8F0FE"/>
                    </a:solidFill>
                  </a:tcPr>
                </a:tc>
                <a:tc>
                  <a:txBody>
                    <a:bodyPr/>
                    <a:lstStyle/>
                    <a:p>
                      <a:pPr algn="ctr"/>
                      <a:r>
                        <a:rPr sz="850" b="0">
                          <a:solidFill>
                            <a:srgbClr val="202020"/>
                          </a:solidFill>
                        </a:rPr>
                        <a:t>Intermediate TL B1</a:t>
                      </a:r>
                    </a:p>
                  </a:txBody>
                  <a:tcPr>
                    <a:solidFill>
                      <a:srgbClr val="E8F0FE"/>
                    </a:solidFill>
                  </a:tcPr>
                </a:tc>
                <a:tc>
                  <a:txBody>
                    <a:bodyPr/>
                    <a:lstStyle/>
                    <a:p>
                      <a:pPr algn="ctr"/>
                      <a:r>
                        <a:rPr sz="850" b="0">
                          <a:solidFill>
                            <a:srgbClr val="202020"/>
                          </a:solidFill>
                        </a:rPr>
                        <a:t>0.412</a:t>
                      </a:r>
                    </a:p>
                  </a:txBody>
                  <a:tcPr>
                    <a:solidFill>
                      <a:srgbClr val="E8F0FE"/>
                    </a:solidFill>
                  </a:tcPr>
                </a:tc>
              </a:tr>
              <a:tr h="240030">
                <a:tc>
                  <a:txBody>
                    <a:bodyPr/>
                    <a:lstStyle/>
                    <a:p>
                      <a:pPr algn="l"/>
                      <a:r>
                        <a:rPr sz="850" b="1">
                          <a:solidFill>
                            <a:srgbClr val="202020"/>
                          </a:solidFill>
                        </a:rPr>
                        <a:t>Tahap 4 (Front-only)</a:t>
                      </a:r>
                    </a:p>
                  </a:txBody>
                  <a:tcPr>
                    <a:solidFill>
                      <a:srgbClr val="FFFFFF"/>
                    </a:solidFill>
                  </a:tcPr>
                </a:tc>
                <a:tc>
                  <a:txBody>
                    <a:bodyPr/>
                    <a:lstStyle/>
                    <a:p>
                      <a:pPr algn="ctr"/>
                      <a:r>
                        <a:rPr sz="850" b="0">
                          <a:solidFill>
                            <a:srgbClr val="202020"/>
                          </a:solidFill>
                        </a:rPr>
                        <a:t>Intermediate TL B1</a:t>
                      </a:r>
                    </a:p>
                  </a:txBody>
                  <a:tcPr>
                    <a:solidFill>
                      <a:srgbClr val="FFFFFF"/>
                    </a:solidFill>
                  </a:tcPr>
                </a:tc>
                <a:tc>
                  <a:txBody>
                    <a:bodyPr/>
                    <a:lstStyle/>
                    <a:p>
                      <a:pPr algn="ctr"/>
                      <a:r>
                        <a:rPr sz="850" b="0">
                          <a:solidFill>
                            <a:srgbClr val="202020"/>
                          </a:solidFill>
                        </a:rPr>
                        <a:t>0.412</a:t>
                      </a:r>
                    </a:p>
                  </a:txBody>
                  <a:tcPr>
                    <a:solidFill>
                      <a:srgbClr val="FFFFFF"/>
                    </a:solidFill>
                  </a:tcPr>
                </a:tc>
              </a:tr>
              <a:tr h="240030">
                <a:tc>
                  <a:txBody>
                    <a:bodyPr/>
                    <a:lstStyle/>
                    <a:p>
                      <a:pPr algn="l"/>
                      <a:r>
                        <a:rPr sz="850" b="1">
                          <a:solidFill>
                            <a:srgbClr val="202020"/>
                          </a:solidFill>
                        </a:rPr>
                        <a:t>Tahap 5 (Conf60)</a:t>
                      </a:r>
                    </a:p>
                  </a:txBody>
                  <a:tcPr>
                    <a:solidFill>
                      <a:srgbClr val="E8F0FE"/>
                    </a:solidFill>
                  </a:tcPr>
                </a:tc>
                <a:tc>
                  <a:txBody>
                    <a:bodyPr/>
                    <a:lstStyle/>
                    <a:p>
                      <a:pPr algn="l"/>
                      <a:r>
                        <a:rPr sz="850" b="1">
                          <a:solidFill>
                            <a:srgbClr val="202020"/>
                          </a:solidFill>
                        </a:rPr>
                        <a:t>Intermediate TL B3</a:t>
                      </a:r>
                    </a:p>
                  </a:txBody>
                  <a:tcPr>
                    <a:solidFill>
                      <a:srgbClr val="E8F0FE"/>
                    </a:solidFill>
                  </a:tcPr>
                </a:tc>
                <a:tc>
                  <a:txBody>
                    <a:bodyPr/>
                    <a:lstStyle/>
                    <a:p>
                      <a:pPr algn="l"/>
                      <a:r>
                        <a:rPr sz="850" b="1">
                          <a:solidFill>
                            <a:srgbClr val="202020"/>
                          </a:solidFill>
                        </a:rPr>
                        <a:t>0.521</a:t>
                      </a:r>
                    </a:p>
                  </a:txBody>
                  <a:tcPr>
                    <a:solidFill>
                      <a:srgbClr val="C6EFCE"/>
                    </a:solidFill>
                  </a:tcPr>
                </a:tc>
              </a:tr>
            </a:tbl>
          </a:graphicData>
        </a:graphic>
      </p:graphicFrame>
      <p:sp>
        <p:nvSpPr>
          <p:cNvPr id="5" name="TextBox 4"/>
          <p:cNvSpPr txBox="1"/>
          <p:nvPr/>
        </p:nvSpPr>
        <p:spPr>
          <a:xfrm>
            <a:off x="274320" y="2057400"/>
            <a:ext cx="4114800" cy="228600"/>
          </a:xfrm>
          <a:prstGeom prst="rect">
            <a:avLst/>
          </a:prstGeom>
          <a:noFill/>
        </p:spPr>
        <p:txBody>
          <a:bodyPr wrap="none">
            <a:spAutoFit/>
          </a:bodyPr>
          <a:lstStyle/>
          <a:p>
            <a:pPr algn="l"/>
            <a:r>
              <a:rPr sz="900" b="1" i="0">
                <a:solidFill>
                  <a:srgbClr val="1A73E8"/>
                </a:solidFill>
              </a:rPr>
              <a:t>Temuan 25: Hanya 4.2% data dihilangkan</a:t>
            </a:r>
          </a:p>
        </p:txBody>
      </p:sp>
      <p:sp>
        <p:nvSpPr>
          <p:cNvPr id="6" name="TextBox 5"/>
          <p:cNvSpPr txBox="1"/>
          <p:nvPr/>
        </p:nvSpPr>
        <p:spPr>
          <a:xfrm>
            <a:off x="274320" y="2331720"/>
            <a:ext cx="4114800" cy="1097280"/>
          </a:xfrm>
          <a:prstGeom prst="rect">
            <a:avLst/>
          </a:prstGeom>
          <a:solidFill>
            <a:srgbClr val="E6F4EA"/>
          </a:solidFill>
        </p:spPr>
        <p:txBody>
          <a:bodyPr wrap="square">
            <a:spAutoFit/>
          </a:bodyPr>
          <a:lstStyle/>
          <a:p>
            <a:pPr algn="l"/>
            <a:r>
              <a:rPr sz="950" b="1" i="0">
                <a:solidFill>
                  <a:srgbClr val="0F9D58"/>
                </a:solidFill>
              </a:rPr>
              <a:t>Trade-off: Sedikit data tapi bersih</a:t>
            </a:r>
          </a:p>
          <a:p>
            <a:pPr algn="l"/>
            <a:r>
              <a:rPr sz="300" b="0" i="0"/>
              <a:t/>
            </a:r>
          </a:p>
          <a:p>
            <a:pPr algn="l"/>
            <a:r>
              <a:rPr sz="900" b="0" i="0">
                <a:solidFill>
                  <a:srgbClr val="202020"/>
                </a:solidFill>
              </a:rPr>
              <a:t>- 7,091 -&gt; 6,795 sampel (4.2% filtered)</a:t>
            </a:r>
          </a:p>
          <a:p>
            <a:pPr algn="l"/>
            <a:r>
              <a:rPr sz="900" b="0" i="0">
                <a:solidFill>
                  <a:srgbClr val="202020"/>
                </a:solidFill>
              </a:rPr>
              <a:t>- Kelas minoritas: 50-57% filtered</a:t>
            </a:r>
          </a:p>
          <a:p>
            <a:pPr algn="l"/>
            <a:r>
              <a:rPr sz="900" b="0" i="0">
                <a:solidFill>
                  <a:srgbClr val="202020"/>
                </a:solidFill>
              </a:rPr>
              <a:t>- Tapi F1 naik signifikan</a:t>
            </a:r>
          </a:p>
          <a:p>
            <a:pPr algn="l"/>
            <a:r>
              <a:rPr sz="300" b="0" i="0"/>
              <a:t/>
            </a:r>
          </a:p>
          <a:p>
            <a:pPr algn="l"/>
            <a:r>
              <a:rPr sz="900" b="0" i="1">
                <a:solidFill>
                  <a:srgbClr val="666666"/>
                </a:solidFill>
              </a:rPr>
              <a:t>Bersih menang vs banyak</a:t>
            </a:r>
          </a:p>
        </p:txBody>
      </p:sp>
      <p:sp>
        <p:nvSpPr>
          <p:cNvPr id="7" name="TextBox 6"/>
          <p:cNvSpPr txBox="1"/>
          <p:nvPr/>
        </p:nvSpPr>
        <p:spPr>
          <a:xfrm>
            <a:off x="4572000" y="2057400"/>
            <a:ext cx="4297680" cy="228600"/>
          </a:xfrm>
          <a:prstGeom prst="rect">
            <a:avLst/>
          </a:prstGeom>
          <a:noFill/>
        </p:spPr>
        <p:txBody>
          <a:bodyPr wrap="none">
            <a:spAutoFit/>
          </a:bodyPr>
          <a:lstStyle/>
          <a:p>
            <a:pPr algn="l"/>
            <a:r>
              <a:rPr sz="900" b="1" i="0">
                <a:solidFill>
                  <a:srgbClr val="1A73E8"/>
                </a:solidFill>
              </a:rPr>
              <a:t>Temuan 26: Label noise adalah masalah utama</a:t>
            </a:r>
          </a:p>
        </p:txBody>
      </p:sp>
      <p:sp>
        <p:nvSpPr>
          <p:cNvPr id="8" name="TextBox 7"/>
          <p:cNvSpPr txBox="1"/>
          <p:nvPr/>
        </p:nvSpPr>
        <p:spPr>
          <a:xfrm>
            <a:off x="4572000" y="2331720"/>
            <a:ext cx="4297680" cy="1097280"/>
          </a:xfrm>
          <a:prstGeom prst="rect">
            <a:avLst/>
          </a:prstGeom>
          <a:solidFill>
            <a:srgbClr val="FCE4E4"/>
          </a:solidFill>
        </p:spPr>
        <p:txBody>
          <a:bodyPr wrap="square">
            <a:spAutoFit/>
          </a:bodyPr>
          <a:lstStyle/>
          <a:p>
            <a:pPr algn="l"/>
            <a:r>
              <a:rPr sz="950" b="1" i="0">
                <a:solidFill>
                  <a:srgbClr val="D93C3C"/>
                </a:solidFill>
              </a:rPr>
              <a:t>Penyebab performa rendah sebelumnya:</a:t>
            </a:r>
          </a:p>
          <a:p>
            <a:pPr algn="l"/>
            <a:r>
              <a:rPr sz="300" b="0" i="0"/>
              <a:t/>
            </a:r>
          </a:p>
          <a:p>
            <a:pPr algn="l"/>
            <a:r>
              <a:rPr sz="900" b="0" i="0">
                <a:solidFill>
                  <a:srgbClr val="202020"/>
                </a:solidFill>
              </a:rPr>
              <a:t>- BUKAN karakteristik data natural</a:t>
            </a:r>
          </a:p>
          <a:p>
            <a:pPr algn="l"/>
            <a:r>
              <a:rPr sz="900" b="0" i="0">
                <a:solidFill>
                  <a:srgbClr val="202020"/>
                </a:solidFill>
              </a:rPr>
              <a:t>- BUKAN arsitektur yang kurang</a:t>
            </a:r>
          </a:p>
          <a:p>
            <a:pPr algn="l"/>
            <a:r>
              <a:rPr sz="900" b="1" i="0">
                <a:solidFill>
                  <a:srgbClr val="202020"/>
                </a:solidFill>
              </a:rPr>
              <a:t>- TAPI label noise Face API</a:t>
            </a:r>
          </a:p>
          <a:p>
            <a:pPr algn="l"/>
            <a:r>
              <a:rPr sz="300" b="0" i="0"/>
              <a:t/>
            </a:r>
          </a:p>
          <a:p>
            <a:pPr algn="l"/>
            <a:r>
              <a:rPr sz="900" b="0" i="1">
                <a:solidFill>
                  <a:srgbClr val="666666"/>
                </a:solidFill>
              </a:rPr>
              <a:t>Memperkuat alasan validasi ahli</a:t>
            </a:r>
          </a:p>
        </p:txBody>
      </p:sp>
      <p:sp>
        <p:nvSpPr>
          <p:cNvPr id="9" name="TextBox 8"/>
          <p:cNvSpPr txBox="1"/>
          <p:nvPr/>
        </p:nvSpPr>
        <p:spPr>
          <a:xfrm>
            <a:off x="274320" y="3520440"/>
            <a:ext cx="8595360" cy="365760"/>
          </a:xfrm>
          <a:prstGeom prst="rect">
            <a:avLst/>
          </a:prstGeom>
          <a:solidFill>
            <a:srgbClr val="1A73E8"/>
          </a:solidFill>
        </p:spPr>
        <p:txBody>
          <a:bodyPr wrap="square">
            <a:spAutoFit/>
          </a:bodyPr>
          <a:lstStyle/>
          <a:p>
            <a:pPr algn="ctr"/>
            <a:r>
              <a:rPr sz="950" b="1" i="0">
                <a:solidFill>
                  <a:srgbClr val="FFFFFF"/>
                </a:solidFill>
              </a:rPr>
              <a:t>Kesimpulan: Kualitas label &gt; kuantitas data. Confidence filtering terbukti efektif meningkatkan performa model.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5C: Undersampling + Conf60 (Kombinasi)</a:t>
            </a:r>
          </a:p>
        </p:txBody>
      </p:sp>
      <p:sp>
        <p:nvSpPr>
          <p:cNvPr id="3" name="TextBox 2"/>
          <p:cNvSpPr txBox="1"/>
          <p:nvPr/>
        </p:nvSpPr>
        <p:spPr>
          <a:xfrm>
            <a:off x="274320" y="685800"/>
            <a:ext cx="8595360" cy="548640"/>
          </a:xfrm>
          <a:prstGeom prst="rect">
            <a:avLst/>
          </a:prstGeom>
          <a:solidFill>
            <a:srgbClr val="FFF0CC"/>
          </a:solidFill>
        </p:spPr>
        <p:txBody>
          <a:bodyPr wrap="square">
            <a:spAutoFit/>
          </a:bodyPr>
          <a:lstStyle/>
          <a:p>
            <a:pPr algn="l"/>
            <a:r>
              <a:rPr sz="1000" b="1" i="0">
                <a:solidFill>
                  <a:srgbClr val="202020"/>
                </a:solidFill>
              </a:rPr>
              <a:t>Menggabungkan 2 strategi terbaik: Conf60 + Undersampling Under-660</a:t>
            </a:r>
          </a:p>
          <a:p>
            <a:pPr algn="l"/>
            <a:r>
              <a:rPr sz="950" b="0" i="0">
                <a:solidFill>
                  <a:srgbClr val="666666"/>
                </a:solidFill>
              </a:rPr>
              <a:t>Target: apakah kombinasi mengalahkan masing-masing strategi?</a:t>
            </a:r>
          </a:p>
          <a:p>
            <a:r>
              <a:rPr sz="850" i="1">
                <a:solidFill>
                  <a:srgbClr val="666666"/>
                </a:solidFill>
              </a:rPr>
              <a:t>Catatan: Hanya 3 model teratas (Intermediate TL, FCNN, Late Fusion). CNN tidak diuji.</a:t>
            </a:r>
          </a:p>
        </p:txBody>
      </p:sp>
      <p:graphicFrame>
        <p:nvGraphicFramePr>
          <p:cNvPr id="4" name="Table 3"/>
          <p:cNvGraphicFramePr>
            <a:graphicFrameLocks noGrp="1"/>
          </p:cNvGraphicFramePr>
          <p:nvPr/>
        </p:nvGraphicFramePr>
        <p:xfrm>
          <a:off x="274320" y="1325880"/>
          <a:ext cx="8595360" cy="1188720"/>
        </p:xfrm>
        <a:graphic>
          <a:graphicData uri="http://schemas.openxmlformats.org/drawingml/2006/table">
            <a:tbl>
              <a:tblPr firstRow="1" bandRow="1"/>
              <a:tblGrid>
                <a:gridCol w="2286000"/>
                <a:gridCol w="2103120"/>
                <a:gridCol w="2103120"/>
                <a:gridCol w="2103120"/>
              </a:tblGrid>
              <a:tr h="29718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Conf60 Original</a:t>
                      </a:r>
                    </a:p>
                  </a:txBody>
                  <a:tcPr>
                    <a:solidFill>
                      <a:srgbClr val="1A73E8"/>
                    </a:solidFill>
                  </a:tcPr>
                </a:tc>
                <a:tc>
                  <a:txBody>
                    <a:bodyPr/>
                    <a:lstStyle/>
                    <a:p>
                      <a:pPr algn="ctr"/>
                      <a:r>
                        <a:rPr sz="1000" b="1">
                          <a:solidFill>
                            <a:srgbClr val="FFFFFF"/>
                          </a:solidFill>
                        </a:rPr>
                        <a:t>Conf60 + Under-660</a:t>
                      </a:r>
                    </a:p>
                  </a:txBody>
                  <a:tcPr>
                    <a:solidFill>
                      <a:srgbClr val="1A73E8"/>
                    </a:solidFill>
                  </a:tcPr>
                </a:tc>
                <a:tc>
                  <a:txBody>
                    <a:bodyPr/>
                    <a:lstStyle/>
                    <a:p>
                      <a:pPr algn="ctr"/>
                      <a:r>
                        <a:rPr sz="1000" b="1">
                          <a:solidFill>
                            <a:srgbClr val="FFFFFF"/>
                          </a:solidFill>
                        </a:rPr>
                        <a:t>Diff</a:t>
                      </a:r>
                    </a:p>
                  </a:txBody>
                  <a:tcPr>
                    <a:solidFill>
                      <a:srgbClr val="1A73E8"/>
                    </a:solidFill>
                  </a:tcPr>
                </a:tc>
              </a:tr>
              <a:tr h="297180">
                <a:tc>
                  <a:txBody>
                    <a:bodyPr/>
                    <a:lstStyle/>
                    <a:p>
                      <a:pPr algn="l"/>
                      <a:r>
                        <a:rPr sz="1000" b="1">
                          <a:solidFill>
                            <a:srgbClr val="202020"/>
                          </a:solidFill>
                        </a:rPr>
                        <a:t>Intermediate TL</a:t>
                      </a:r>
                    </a:p>
                  </a:txBody>
                  <a:tcPr>
                    <a:solidFill>
                      <a:srgbClr val="E8F0FE"/>
                    </a:solidFill>
                  </a:tcPr>
                </a:tc>
                <a:tc>
                  <a:txBody>
                    <a:bodyPr/>
                    <a:lstStyle/>
                    <a:p>
                      <a:pPr algn="ctr"/>
                      <a:r>
                        <a:rPr sz="1000" b="0">
                          <a:solidFill>
                            <a:srgbClr val="202020"/>
                          </a:solidFill>
                        </a:rPr>
                        <a:t>0.478</a:t>
                      </a:r>
                    </a:p>
                  </a:txBody>
                  <a:tcPr>
                    <a:solidFill>
                      <a:srgbClr val="E8F0FE"/>
                    </a:solidFill>
                  </a:tcPr>
                </a:tc>
                <a:tc>
                  <a:txBody>
                    <a:bodyPr/>
                    <a:lstStyle/>
                    <a:p>
                      <a:pPr algn="ctr"/>
                      <a:r>
                        <a:rPr sz="1000" b="0">
                          <a:solidFill>
                            <a:srgbClr val="202020"/>
                          </a:solidFill>
                        </a:rPr>
                        <a:t>0.401</a:t>
                      </a:r>
                    </a:p>
                  </a:txBody>
                  <a:tcPr>
                    <a:solidFill>
                      <a:srgbClr val="E8F0FE"/>
                    </a:solidFill>
                  </a:tcPr>
                </a:tc>
                <a:tc>
                  <a:txBody>
                    <a:bodyPr/>
                    <a:lstStyle/>
                    <a:p>
                      <a:pPr algn="ctr"/>
                      <a:r>
                        <a:rPr sz="1000" b="0">
                          <a:solidFill>
                            <a:srgbClr val="202020"/>
                          </a:solidFill>
                        </a:rPr>
                        <a:t>-16%</a:t>
                      </a:r>
                    </a:p>
                  </a:txBody>
                  <a:tcPr>
                    <a:solidFill>
                      <a:srgbClr val="E8F0FE"/>
                    </a:solidFill>
                  </a:tcPr>
                </a:tc>
              </a:tr>
              <a:tr h="297180">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0.489</a:t>
                      </a:r>
                    </a:p>
                  </a:txBody>
                  <a:tcPr>
                    <a:solidFill>
                      <a:srgbClr val="FFFFFF"/>
                    </a:solidFill>
                  </a:tcPr>
                </a:tc>
                <a:tc>
                  <a:txBody>
                    <a:bodyPr/>
                    <a:lstStyle/>
                    <a:p>
                      <a:pPr algn="ctr"/>
                      <a:r>
                        <a:rPr sz="1000" b="0">
                          <a:solidFill>
                            <a:srgbClr val="202020"/>
                          </a:solidFill>
                        </a:rPr>
                        <a:t>0.433</a:t>
                      </a:r>
                    </a:p>
                  </a:txBody>
                  <a:tcPr>
                    <a:solidFill>
                      <a:srgbClr val="FFFFFF"/>
                    </a:solidFill>
                  </a:tcPr>
                </a:tc>
                <a:tc>
                  <a:txBody>
                    <a:bodyPr/>
                    <a:lstStyle/>
                    <a:p>
                      <a:pPr algn="ctr"/>
                      <a:r>
                        <a:rPr sz="1000" b="0">
                          <a:solidFill>
                            <a:srgbClr val="202020"/>
                          </a:solidFill>
                        </a:rPr>
                        <a:t>-11%</a:t>
                      </a:r>
                    </a:p>
                  </a:txBody>
                  <a:tcPr>
                    <a:solidFill>
                      <a:srgbClr val="FFFFFF"/>
                    </a:solidFill>
                  </a:tcPr>
                </a:tc>
              </a:tr>
              <a:tr h="297180">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0.466</a:t>
                      </a:r>
                    </a:p>
                  </a:txBody>
                  <a:tcPr>
                    <a:solidFill>
                      <a:srgbClr val="E8F0FE"/>
                    </a:solidFill>
                  </a:tcPr>
                </a:tc>
                <a:tc>
                  <a:txBody>
                    <a:bodyPr/>
                    <a:lstStyle/>
                    <a:p>
                      <a:pPr algn="ctr"/>
                      <a:r>
                        <a:rPr sz="1000" b="1">
                          <a:solidFill>
                            <a:srgbClr val="202020"/>
                          </a:solidFill>
                        </a:rPr>
                        <a:t>0.508</a:t>
                      </a:r>
                    </a:p>
                  </a:txBody>
                  <a:tcPr>
                    <a:solidFill>
                      <a:srgbClr val="C6EFCE"/>
                    </a:solidFill>
                  </a:tcPr>
                </a:tc>
                <a:tc>
                  <a:txBody>
                    <a:bodyPr/>
                    <a:lstStyle/>
                    <a:p>
                      <a:pPr algn="ctr"/>
                      <a:r>
                        <a:rPr sz="1000" b="1">
                          <a:solidFill>
                            <a:srgbClr val="202020"/>
                          </a:solidFill>
                        </a:rPr>
                        <a:t>+9%</a:t>
                      </a:r>
                    </a:p>
                  </a:txBody>
                  <a:tcPr>
                    <a:solidFill>
                      <a:srgbClr val="C6EFCE"/>
                    </a:solidFill>
                  </a:tcPr>
                </a:tc>
              </a:tr>
            </a:tbl>
          </a:graphicData>
        </a:graphic>
      </p:graphicFrame>
      <p:sp>
        <p:nvSpPr>
          <p:cNvPr id="5" name="TextBox 4"/>
          <p:cNvSpPr txBox="1"/>
          <p:nvPr/>
        </p:nvSpPr>
        <p:spPr>
          <a:xfrm>
            <a:off x="274320" y="2651760"/>
            <a:ext cx="8595360" cy="274320"/>
          </a:xfrm>
          <a:prstGeom prst="rect">
            <a:avLst/>
          </a:prstGeom>
          <a:noFill/>
        </p:spPr>
        <p:txBody>
          <a:bodyPr wrap="none">
            <a:spAutoFit/>
          </a:bodyPr>
          <a:lstStyle/>
          <a:p>
            <a:pPr algn="l"/>
            <a:r>
              <a:rPr sz="1000" b="1" i="0">
                <a:solidFill>
                  <a:srgbClr val="202020"/>
                </a:solidFill>
              </a:rPr>
              <a:t>Perbandingan dengan Best Overall</a:t>
            </a:r>
          </a:p>
        </p:txBody>
      </p:sp>
      <p:graphicFrame>
        <p:nvGraphicFramePr>
          <p:cNvPr id="6" name="Table 5"/>
          <p:cNvGraphicFramePr>
            <a:graphicFrameLocks noGrp="1"/>
          </p:cNvGraphicFramePr>
          <p:nvPr/>
        </p:nvGraphicFramePr>
        <p:xfrm>
          <a:off x="274320" y="2971800"/>
          <a:ext cx="8595360" cy="1005840"/>
        </p:xfrm>
        <a:graphic>
          <a:graphicData uri="http://schemas.openxmlformats.org/drawingml/2006/table">
            <a:tbl>
              <a:tblPr firstRow="1" bandRow="1"/>
              <a:tblGrid>
                <a:gridCol w="3200400"/>
                <a:gridCol w="3200400"/>
                <a:gridCol w="2194560"/>
              </a:tblGrid>
              <a:tr h="251460">
                <a:tc>
                  <a:txBody>
                    <a:bodyPr/>
                    <a:lstStyle/>
                    <a:p>
                      <a:pPr algn="ctr"/>
                      <a:r>
                        <a:rPr sz="950" b="1">
                          <a:solidFill>
                            <a:srgbClr val="FFFFFF"/>
                          </a:solidFill>
                        </a:rPr>
                        <a:t>Strategi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51460">
                <a:tc>
                  <a:txBody>
                    <a:bodyPr/>
                    <a:lstStyle/>
                    <a:p>
                      <a:pPr algn="l"/>
                      <a:r>
                        <a:rPr sz="950" b="1">
                          <a:solidFill>
                            <a:srgbClr val="202020"/>
                          </a:solidFill>
                        </a:rPr>
                        <a:t>Tahap 5A: Undersampling saja</a:t>
                      </a:r>
                    </a:p>
                  </a:txBody>
                  <a:tcPr>
                    <a:solidFill>
                      <a:srgbClr val="E8F0FE"/>
                    </a:solidFill>
                  </a:tcPr>
                </a:tc>
                <a:tc>
                  <a:txBody>
                    <a:bodyPr/>
                    <a:lstStyle/>
                    <a:p>
                      <a:pPr algn="ctr"/>
                      <a:r>
                        <a:rPr sz="950" b="0">
                          <a:solidFill>
                            <a:srgbClr val="202020"/>
                          </a:solidFill>
                        </a:rPr>
                        <a:t>Late Fusion 4c under-660</a:t>
                      </a:r>
                    </a:p>
                  </a:txBody>
                  <a:tcPr>
                    <a:solidFill>
                      <a:srgbClr val="C6EFCE"/>
                    </a:solidFill>
                  </a:tcPr>
                </a:tc>
                <a:tc>
                  <a:txBody>
                    <a:bodyPr/>
                    <a:lstStyle/>
                    <a:p>
                      <a:pPr algn="ctr"/>
                      <a:r>
                        <a:rPr sz="950" b="0">
                          <a:solidFill>
                            <a:srgbClr val="202020"/>
                          </a:solidFill>
                        </a:rPr>
                        <a:t>0.405</a:t>
                      </a:r>
                    </a:p>
                  </a:txBody>
                  <a:tcPr>
                    <a:solidFill>
                      <a:srgbClr val="C6EFCE"/>
                    </a:solidFill>
                  </a:tcPr>
                </a:tc>
              </a:tr>
              <a:tr h="251460">
                <a:tc>
                  <a:txBody>
                    <a:bodyPr/>
                    <a:lstStyle/>
                    <a:p>
                      <a:pPr algn="l"/>
                      <a:r>
                        <a:rPr sz="950" b="1">
                          <a:solidFill>
                            <a:srgbClr val="202020"/>
                          </a:solidFill>
                        </a:rPr>
                        <a:t>Tahap 5B: Conf60 saja (TL + B3)</a:t>
                      </a:r>
                    </a:p>
                  </a:txBody>
                  <a:tcPr>
                    <a:solidFill>
                      <a:srgbClr val="C6EFCE"/>
                    </a:solidFill>
                  </a:tcPr>
                </a:tc>
                <a:tc>
                  <a:txBody>
                    <a:bodyPr/>
                    <a:lstStyle/>
                    <a:p>
                      <a:pPr algn="ctr"/>
                      <a:r>
                        <a:rPr sz="950" b="1">
                          <a:solidFill>
                            <a:srgbClr val="202020"/>
                          </a:solidFill>
                        </a:rPr>
                        <a:t>Intermediate TL 4c B3</a:t>
                      </a:r>
                    </a:p>
                  </a:txBody>
                  <a:tcPr>
                    <a:solidFill>
                      <a:srgbClr val="C6EFCE"/>
                    </a:solidFill>
                  </a:tcPr>
                </a:tc>
                <a:tc>
                  <a:txBody>
                    <a:bodyPr/>
                    <a:lstStyle/>
                    <a:p>
                      <a:pPr algn="ctr"/>
                      <a:r>
                        <a:rPr sz="950" b="1">
                          <a:solidFill>
                            <a:srgbClr val="202020"/>
                          </a:solidFill>
                        </a:rPr>
                        <a:t>0.521</a:t>
                      </a:r>
                    </a:p>
                  </a:txBody>
                  <a:tcPr>
                    <a:solidFill>
                      <a:srgbClr val="C6EFCE"/>
                    </a:solidFill>
                  </a:tcPr>
                </a:tc>
              </a:tr>
              <a:tr h="251460">
                <a:tc>
                  <a:txBody>
                    <a:bodyPr/>
                    <a:lstStyle/>
                    <a:p>
                      <a:pPr algn="l"/>
                      <a:r>
                        <a:rPr sz="950" b="1">
                          <a:solidFill>
                            <a:srgbClr val="202020"/>
                          </a:solidFill>
                        </a:rPr>
                        <a:t>Tahap 5C: Conf60 + Undersampling</a:t>
                      </a:r>
                    </a:p>
                  </a:txBody>
                  <a:tcPr>
                    <a:solidFill>
                      <a:srgbClr val="E8F0FE"/>
                    </a:solidFill>
                  </a:tcPr>
                </a:tc>
                <a:tc>
                  <a:txBody>
                    <a:bodyPr/>
                    <a:lstStyle/>
                    <a:p>
                      <a:pPr algn="ctr"/>
                      <a:r>
                        <a:rPr sz="950" b="0">
                          <a:solidFill>
                            <a:srgbClr val="202020"/>
                          </a:solidFill>
                        </a:rPr>
                        <a:t>Late Fusion conf60 under-660</a:t>
                      </a:r>
                    </a:p>
                  </a:txBody>
                  <a:tcPr>
                    <a:solidFill>
                      <a:srgbClr val="E8F0FE"/>
                    </a:solidFill>
                  </a:tcPr>
                </a:tc>
                <a:tc>
                  <a:txBody>
                    <a:bodyPr/>
                    <a:lstStyle/>
                    <a:p>
                      <a:pPr algn="ctr"/>
                      <a:r>
                        <a:rPr sz="950" b="0">
                          <a:solidFill>
                            <a:srgbClr val="202020"/>
                          </a:solidFill>
                        </a:rPr>
                        <a:t>0.508</a:t>
                      </a:r>
                    </a:p>
                  </a:txBody>
                  <a:tcPr>
                    <a:solidFill>
                      <a:srgbClr val="E8F0FE"/>
                    </a:solidFill>
                  </a:tcPr>
                </a:tc>
              </a:tr>
            </a:tbl>
          </a:graphicData>
        </a:graphic>
      </p:graphicFrame>
      <p:sp>
        <p:nvSpPr>
          <p:cNvPr id="7" name="TextBox 6"/>
          <p:cNvSpPr txBox="1"/>
          <p:nvPr/>
        </p:nvSpPr>
        <p:spPr>
          <a:xfrm>
            <a:off x="274320" y="4069080"/>
            <a:ext cx="8595360" cy="320040"/>
          </a:xfrm>
          <a:prstGeom prst="rect">
            <a:avLst/>
          </a:prstGeom>
          <a:solidFill>
            <a:srgbClr val="E8F0FE"/>
          </a:solidFill>
        </p:spPr>
        <p:txBody>
          <a:bodyPr wrap="square">
            <a:spAutoFit/>
          </a:bodyPr>
          <a:lstStyle/>
          <a:p>
            <a:pPr algn="ctr"/>
            <a:r>
              <a:rPr sz="950" b="1" i="0">
                <a:solidFill>
                  <a:srgbClr val="202020"/>
                </a:solidFill>
              </a:rPr>
              <a:t>Best overall tetap: Intermediate TL 4-class B3 conf60 = 0.521 (val-tuned) | Kombinasi tidak selalu lebih baik</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411480"/>
          </a:xfrm>
          <a:prstGeom prst="rect">
            <a:avLst/>
          </a:prstGeom>
          <a:noFill/>
        </p:spPr>
        <p:txBody>
          <a:bodyPr wrap="none">
            <a:spAutoFit/>
          </a:bodyPr>
          <a:lstStyle/>
          <a:p>
            <a:pPr algn="l"/>
            <a:r>
              <a:rPr sz="1700" b="1" i="0">
                <a:solidFill>
                  <a:srgbClr val="202020"/>
                </a:solidFill>
              </a:rPr>
              <a:t>Analisis Mendalam Masalah Dataset</a:t>
            </a:r>
          </a:p>
        </p:txBody>
      </p:sp>
      <p:sp>
        <p:nvSpPr>
          <p:cNvPr id="3" name="TextBox 2"/>
          <p:cNvSpPr txBox="1"/>
          <p:nvPr/>
        </p:nvSpPr>
        <p:spPr>
          <a:xfrm>
            <a:off x="274320" y="548640"/>
            <a:ext cx="4114800" cy="228600"/>
          </a:xfrm>
          <a:prstGeom prst="rect">
            <a:avLst/>
          </a:prstGeom>
          <a:noFill/>
        </p:spPr>
        <p:txBody>
          <a:bodyPr wrap="none">
            <a:spAutoFit/>
          </a:bodyPr>
          <a:lstStyle/>
          <a:p>
            <a:pPr algn="l"/>
            <a:r>
              <a:rPr sz="950" b="1" i="0">
                <a:solidFill>
                  <a:srgbClr val="D93C3C"/>
                </a:solidFill>
              </a:rPr>
              <a:t>Masalah 1: Diversity Per-User (12/37 = 32%)</a:t>
            </a:r>
          </a:p>
        </p:txBody>
      </p:sp>
      <p:graphicFrame>
        <p:nvGraphicFramePr>
          <p:cNvPr id="4" name="Table 3"/>
          <p:cNvGraphicFramePr>
            <a:graphicFrameLocks noGrp="1"/>
          </p:cNvGraphicFramePr>
          <p:nvPr/>
        </p:nvGraphicFramePr>
        <p:xfrm>
          <a:off x="274320" y="795528"/>
          <a:ext cx="4114800" cy="1097280"/>
        </p:xfrm>
        <a:graphic>
          <a:graphicData uri="http://schemas.openxmlformats.org/drawingml/2006/table">
            <a:tbl>
              <a:tblPr firstRow="1" bandRow="1"/>
              <a:tblGrid>
                <a:gridCol w="1920240"/>
                <a:gridCol w="2194560"/>
              </a:tblGrid>
              <a:tr h="274320">
                <a:tc>
                  <a:txBody>
                    <a:bodyPr/>
                    <a:lstStyle/>
                    <a:p>
                      <a:pPr algn="ctr"/>
                      <a:r>
                        <a:rPr sz="900" b="1">
                          <a:solidFill>
                            <a:srgbClr val="FFFFFF"/>
                          </a:solidFill>
                        </a:rPr>
                        <a:t>Kategori</a:t>
                      </a:r>
                    </a:p>
                  </a:txBody>
                  <a:tcPr>
                    <a:solidFill>
                      <a:srgbClr val="1A73E8"/>
                    </a:solidFill>
                  </a:tcPr>
                </a:tc>
                <a:tc>
                  <a:txBody>
                    <a:bodyPr/>
                    <a:lstStyle/>
                    <a:p>
                      <a:pPr algn="ctr"/>
                      <a:r>
                        <a:rPr sz="900" b="1">
                          <a:solidFill>
                            <a:srgbClr val="FFFFFF"/>
                          </a:solidFill>
                        </a:rPr>
                        <a:t>User ID</a:t>
                      </a:r>
                    </a:p>
                  </a:txBody>
                  <a:tcPr>
                    <a:solidFill>
                      <a:srgbClr val="1A73E8"/>
                    </a:solidFill>
                  </a:tcPr>
                </a:tc>
              </a:tr>
              <a:tr h="274320">
                <a:tc>
                  <a:txBody>
                    <a:bodyPr/>
                    <a:lstStyle/>
                    <a:p>
                      <a:pPr algn="l"/>
                      <a:r>
                        <a:rPr sz="800" b="1">
                          <a:solidFill>
                            <a:srgbClr val="202020"/>
                          </a:solidFill>
                        </a:rPr>
                        <a:t>Extreme 100% neutral</a:t>
                      </a:r>
                    </a:p>
                  </a:txBody>
                  <a:tcPr>
                    <a:solidFill>
                      <a:srgbClr val="FCE4E4"/>
                    </a:solidFill>
                  </a:tcPr>
                </a:tc>
                <a:tc>
                  <a:txBody>
                    <a:bodyPr/>
                    <a:lstStyle/>
                    <a:p>
                      <a:pPr algn="ctr"/>
                      <a:r>
                        <a:rPr sz="800" b="0">
                          <a:solidFill>
                            <a:srgbClr val="202020"/>
                          </a:solidFill>
                        </a:rPr>
                        <a:t>115, 209</a:t>
                      </a:r>
                    </a:p>
                  </a:txBody>
                  <a:tcPr>
                    <a:solidFill>
                      <a:srgbClr val="FCE4E4"/>
                    </a:solidFill>
                  </a:tcPr>
                </a:tc>
              </a:tr>
              <a:tr h="274320">
                <a:tc>
                  <a:txBody>
                    <a:bodyPr/>
                    <a:lstStyle/>
                    <a:p>
                      <a:pPr algn="l"/>
                      <a:r>
                        <a:rPr sz="800" b="1">
                          <a:solidFill>
                            <a:srgbClr val="202020"/>
                          </a:solidFill>
                        </a:rPr>
                        <a:t>Extreme 95%+ neutral</a:t>
                      </a:r>
                    </a:p>
                  </a:txBody>
                  <a:tcPr>
                    <a:solidFill>
                      <a:srgbClr val="FCE4E4"/>
                    </a:solidFill>
                  </a:tcPr>
                </a:tc>
                <a:tc>
                  <a:txBody>
                    <a:bodyPr/>
                    <a:lstStyle/>
                    <a:p>
                      <a:pPr algn="ctr"/>
                      <a:r>
                        <a:rPr sz="800" b="0">
                          <a:solidFill>
                            <a:srgbClr val="202020"/>
                          </a:solidFill>
                        </a:rPr>
                        <a:t>112, 200, 201, 203, 206, 207</a:t>
                      </a:r>
                    </a:p>
                  </a:txBody>
                  <a:tcPr>
                    <a:solidFill>
                      <a:srgbClr val="FCE4E4"/>
                    </a:solidFill>
                  </a:tcPr>
                </a:tc>
              </a:tr>
              <a:tr h="274320">
                <a:tc>
                  <a:txBody>
                    <a:bodyPr/>
                    <a:lstStyle/>
                    <a:p>
                      <a:pPr algn="l"/>
                      <a:r>
                        <a:rPr sz="800" b="1">
                          <a:solidFill>
                            <a:srgbClr val="202020"/>
                          </a:solidFill>
                        </a:rPr>
                        <a:t>Terlalu sedikit non-neutral</a:t>
                      </a:r>
                    </a:p>
                  </a:txBody>
                  <a:tcPr>
                    <a:solidFill>
                      <a:srgbClr val="E8F0FE"/>
                    </a:solidFill>
                  </a:tcPr>
                </a:tc>
                <a:tc>
                  <a:txBody>
                    <a:bodyPr/>
                    <a:lstStyle/>
                    <a:p>
                      <a:pPr algn="ctr"/>
                      <a:r>
                        <a:rPr sz="800" b="0">
                          <a:solidFill>
                            <a:srgbClr val="202020"/>
                          </a:solidFill>
                        </a:rPr>
                        <a:t>101, 113, 118, 197</a:t>
                      </a:r>
                    </a:p>
                  </a:txBody>
                  <a:tcPr>
                    <a:solidFill>
                      <a:srgbClr val="E8F0FE"/>
                    </a:solidFill>
                  </a:tcPr>
                </a:tc>
              </a:tr>
            </a:tbl>
          </a:graphicData>
        </a:graphic>
      </p:graphicFrame>
      <p:sp>
        <p:nvSpPr>
          <p:cNvPr id="5" name="TextBox 4"/>
          <p:cNvSpPr txBox="1"/>
          <p:nvPr/>
        </p:nvSpPr>
        <p:spPr>
          <a:xfrm>
            <a:off x="4526280" y="548640"/>
            <a:ext cx="4343400" cy="228600"/>
          </a:xfrm>
          <a:prstGeom prst="rect">
            <a:avLst/>
          </a:prstGeom>
          <a:noFill/>
        </p:spPr>
        <p:txBody>
          <a:bodyPr wrap="none">
            <a:spAutoFit/>
          </a:bodyPr>
          <a:lstStyle/>
          <a:p>
            <a:pPr algn="l"/>
            <a:r>
              <a:rPr sz="950" b="1" i="0">
                <a:solidFill>
                  <a:srgbClr val="D93C3C"/>
                </a:solidFill>
              </a:rPr>
              <a:t>Masalah 2: Kelas Minoritas Langka</a:t>
            </a:r>
          </a:p>
        </p:txBody>
      </p:sp>
      <p:graphicFrame>
        <p:nvGraphicFramePr>
          <p:cNvPr id="6" name="Table 5"/>
          <p:cNvGraphicFramePr>
            <a:graphicFrameLocks noGrp="1"/>
          </p:cNvGraphicFramePr>
          <p:nvPr/>
        </p:nvGraphicFramePr>
        <p:xfrm>
          <a:off x="4526280" y="795528"/>
          <a:ext cx="4343397" cy="1828800"/>
        </p:xfrm>
        <a:graphic>
          <a:graphicData uri="http://schemas.openxmlformats.org/drawingml/2006/table">
            <a:tbl>
              <a:tblPr firstRow="1" bandRow="1"/>
              <a:tblGrid>
                <a:gridCol w="1347951"/>
                <a:gridCol w="898634"/>
                <a:gridCol w="1048406"/>
                <a:gridCol w="1048406"/>
              </a:tblGrid>
              <a:tr h="228600">
                <a:tc>
                  <a:txBody>
                    <a:bodyPr/>
                    <a:lstStyle/>
                    <a:p>
                      <a:pPr algn="ctr"/>
                      <a:r>
                        <a:rPr sz="850" b="1">
                          <a:solidFill>
                            <a:srgbClr val="FFFFFF"/>
                          </a:solidFill>
                        </a:rPr>
                        <a:t>Emosi</a:t>
                      </a:r>
                    </a:p>
                  </a:txBody>
                  <a:tcPr>
                    <a:solidFill>
                      <a:srgbClr val="1A73E8"/>
                    </a:solidFill>
                  </a:tcPr>
                </a:tc>
                <a:tc>
                  <a:txBody>
                    <a:bodyPr/>
                    <a:lstStyle/>
                    <a:p>
                      <a:pPr algn="ctr"/>
                      <a:r>
                        <a:rPr sz="850" b="1">
                          <a:solidFill>
                            <a:srgbClr val="FFFFFF"/>
                          </a:solidFill>
                        </a:rPr>
                        <a:t>Total</a:t>
                      </a:r>
                    </a:p>
                  </a:txBody>
                  <a:tcPr>
                    <a:solidFill>
                      <a:srgbClr val="1A73E8"/>
                    </a:solidFill>
                  </a:tcPr>
                </a:tc>
                <a:tc>
                  <a:txBody>
                    <a:bodyPr/>
                    <a:lstStyle/>
                    <a:p>
                      <a:pPr algn="ctr"/>
                      <a:r>
                        <a:rPr sz="850" b="1">
                          <a:solidFill>
                            <a:srgbClr val="FFFFFF"/>
                          </a:solidFill>
                        </a:rPr>
                        <a:t>Conf&gt;=60%</a:t>
                      </a:r>
                    </a:p>
                  </a:txBody>
                  <a:tcPr>
                    <a:solidFill>
                      <a:srgbClr val="1A73E8"/>
                    </a:solidFill>
                  </a:tcPr>
                </a:tc>
                <a:tc>
                  <a:txBody>
                    <a:bodyPr/>
                    <a:lstStyle/>
                    <a:p>
                      <a:pPr algn="ctr"/>
                      <a:r>
                        <a:rPr sz="850" b="1">
                          <a:solidFill>
                            <a:srgbClr val="FFFFFF"/>
                          </a:solidFill>
                        </a:rPr>
                        <a:t>Conf&gt;=90%</a:t>
                      </a:r>
                    </a:p>
                  </a:txBody>
                  <a:tcPr>
                    <a:solidFill>
                      <a:srgbClr val="1A73E8"/>
                    </a:solidFill>
                  </a:tcPr>
                </a:tc>
              </a:tr>
              <a:tr h="228600">
                <a:tc>
                  <a:txBody>
                    <a:bodyPr/>
                    <a:lstStyle/>
                    <a:p>
                      <a:pPr algn="l"/>
                      <a:r>
                        <a:rPr sz="800" b="1">
                          <a:solidFill>
                            <a:srgbClr val="202020"/>
                          </a:solidFill>
                        </a:rPr>
                        <a:t>Neutral</a:t>
                      </a:r>
                    </a:p>
                  </a:txBody>
                  <a:tcPr>
                    <a:solidFill>
                      <a:srgbClr val="E8F0FE"/>
                    </a:solidFill>
                  </a:tcPr>
                </a:tc>
                <a:tc>
                  <a:txBody>
                    <a:bodyPr/>
                    <a:lstStyle/>
                    <a:p>
                      <a:pPr algn="ctr"/>
                      <a:r>
                        <a:rPr sz="800" b="0">
                          <a:solidFill>
                            <a:srgbClr val="202020"/>
                          </a:solidFill>
                        </a:rPr>
                        <a:t>6,054</a:t>
                      </a:r>
                    </a:p>
                  </a:txBody>
                  <a:tcPr>
                    <a:solidFill>
                      <a:srgbClr val="E8F0FE"/>
                    </a:solidFill>
                  </a:tcPr>
                </a:tc>
                <a:tc>
                  <a:txBody>
                    <a:bodyPr/>
                    <a:lstStyle/>
                    <a:p>
                      <a:pPr algn="ctr"/>
                      <a:r>
                        <a:rPr sz="800" b="0">
                          <a:solidFill>
                            <a:srgbClr val="202020"/>
                          </a:solidFill>
                        </a:rPr>
                        <a:t>5,906</a:t>
                      </a:r>
                    </a:p>
                  </a:txBody>
                  <a:tcPr>
                    <a:solidFill>
                      <a:srgbClr val="E8F0FE"/>
                    </a:solidFill>
                  </a:tcPr>
                </a:tc>
                <a:tc>
                  <a:txBody>
                    <a:bodyPr/>
                    <a:lstStyle/>
                    <a:p>
                      <a:pPr algn="ctr"/>
                      <a:r>
                        <a:rPr sz="800" b="0">
                          <a:solidFill>
                            <a:srgbClr val="202020"/>
                          </a:solidFill>
                        </a:rPr>
                        <a:t>5,242</a:t>
                      </a:r>
                    </a:p>
                  </a:txBody>
                  <a:tcPr>
                    <a:solidFill>
                      <a:srgbClr val="E8F0FE"/>
                    </a:solidFill>
                  </a:tcPr>
                </a:tc>
              </a:tr>
              <a:tr h="228600">
                <a:tc>
                  <a:txBody>
                    <a:bodyPr/>
                    <a:lstStyle/>
                    <a:p>
                      <a:pPr algn="l"/>
                      <a:r>
                        <a:rPr sz="800" b="1">
                          <a:solidFill>
                            <a:srgbClr val="202020"/>
                          </a:solidFill>
                        </a:rPr>
                        <a:t>Happy</a:t>
                      </a:r>
                    </a:p>
                  </a:txBody>
                  <a:tcPr>
                    <a:solidFill>
                      <a:srgbClr val="FFFFFF"/>
                    </a:solidFill>
                  </a:tcPr>
                </a:tc>
                <a:tc>
                  <a:txBody>
                    <a:bodyPr/>
                    <a:lstStyle/>
                    <a:p>
                      <a:pPr algn="ctr"/>
                      <a:r>
                        <a:rPr sz="800" b="0">
                          <a:solidFill>
                            <a:srgbClr val="202020"/>
                          </a:solidFill>
                        </a:rPr>
                        <a:t>699</a:t>
                      </a:r>
                    </a:p>
                  </a:txBody>
                  <a:tcPr>
                    <a:solidFill>
                      <a:srgbClr val="FFFFFF"/>
                    </a:solidFill>
                  </a:tcPr>
                </a:tc>
                <a:tc>
                  <a:txBody>
                    <a:bodyPr/>
                    <a:lstStyle/>
                    <a:p>
                      <a:pPr algn="ctr"/>
                      <a:r>
                        <a:rPr sz="800" b="0">
                          <a:solidFill>
                            <a:srgbClr val="202020"/>
                          </a:solidFill>
                        </a:rPr>
                        <a:t>667</a:t>
                      </a:r>
                    </a:p>
                  </a:txBody>
                  <a:tcPr>
                    <a:solidFill>
                      <a:srgbClr val="FFFFFF"/>
                    </a:solidFill>
                  </a:tcPr>
                </a:tc>
                <a:tc>
                  <a:txBody>
                    <a:bodyPr/>
                    <a:lstStyle/>
                    <a:p>
                      <a:pPr algn="ctr"/>
                      <a:r>
                        <a:rPr sz="800" b="0">
                          <a:solidFill>
                            <a:srgbClr val="202020"/>
                          </a:solidFill>
                        </a:rPr>
                        <a:t>514</a:t>
                      </a:r>
                    </a:p>
                  </a:txBody>
                  <a:tcPr>
                    <a:solidFill>
                      <a:srgbClr val="FFFFFF"/>
                    </a:solidFill>
                  </a:tcPr>
                </a:tc>
              </a:tr>
              <a:tr h="228600">
                <a:tc>
                  <a:txBody>
                    <a:bodyPr/>
                    <a:lstStyle/>
                    <a:p>
                      <a:pPr algn="l"/>
                      <a:r>
                        <a:rPr sz="800" b="1">
                          <a:solidFill>
                            <a:srgbClr val="202020"/>
                          </a:solidFill>
                        </a:rPr>
                        <a:t>Sad</a:t>
                      </a:r>
                    </a:p>
                  </a:txBody>
                  <a:tcPr>
                    <a:solidFill>
                      <a:srgbClr val="E8F0FE"/>
                    </a:solidFill>
                  </a:tcPr>
                </a:tc>
                <a:tc>
                  <a:txBody>
                    <a:bodyPr/>
                    <a:lstStyle/>
                    <a:p>
                      <a:pPr algn="ctr"/>
                      <a:r>
                        <a:rPr sz="800" b="0">
                          <a:solidFill>
                            <a:srgbClr val="202020"/>
                          </a:solidFill>
                        </a:rPr>
                        <a:t>451</a:t>
                      </a:r>
                    </a:p>
                  </a:txBody>
                  <a:tcPr>
                    <a:solidFill>
                      <a:srgbClr val="E8F0FE"/>
                    </a:solidFill>
                  </a:tcPr>
                </a:tc>
                <a:tc>
                  <a:txBody>
                    <a:bodyPr/>
                    <a:lstStyle/>
                    <a:p>
                      <a:pPr algn="ctr"/>
                      <a:r>
                        <a:rPr sz="800" b="0">
                          <a:solidFill>
                            <a:srgbClr val="202020"/>
                          </a:solidFill>
                        </a:rPr>
                        <a:t>373</a:t>
                      </a:r>
                    </a:p>
                  </a:txBody>
                  <a:tcPr>
                    <a:solidFill>
                      <a:srgbClr val="E8F0FE"/>
                    </a:solidFill>
                  </a:tcPr>
                </a:tc>
                <a:tc>
                  <a:txBody>
                    <a:bodyPr/>
                    <a:lstStyle/>
                    <a:p>
                      <a:pPr algn="ctr"/>
                      <a:r>
                        <a:rPr sz="800" b="0">
                          <a:solidFill>
                            <a:srgbClr val="202020"/>
                          </a:solidFill>
                        </a:rPr>
                        <a:t>212</a:t>
                      </a:r>
                    </a:p>
                  </a:txBody>
                  <a:tcPr>
                    <a:solidFill>
                      <a:srgbClr val="E8F0FE"/>
                    </a:solidFill>
                  </a:tcPr>
                </a:tc>
              </a:tr>
              <a:tr h="228600">
                <a:tc>
                  <a:txBody>
                    <a:bodyPr/>
                    <a:lstStyle/>
                    <a:p>
                      <a:pPr algn="l"/>
                      <a:r>
                        <a:rPr sz="800" b="1">
                          <a:solidFill>
                            <a:srgbClr val="202020"/>
                          </a:solidFill>
                        </a:rPr>
                        <a:t>Angry</a:t>
                      </a:r>
                    </a:p>
                  </a:txBody>
                  <a:tcPr>
                    <a:solidFill>
                      <a:srgbClr val="FCE4E4"/>
                    </a:solidFill>
                  </a:tcPr>
                </a:tc>
                <a:tc>
                  <a:txBody>
                    <a:bodyPr/>
                    <a:lstStyle/>
                    <a:p>
                      <a:pPr algn="ctr"/>
                      <a:r>
                        <a:rPr sz="800" b="0">
                          <a:solidFill>
                            <a:srgbClr val="202020"/>
                          </a:solidFill>
                        </a:rPr>
                        <a:t>56</a:t>
                      </a:r>
                    </a:p>
                  </a:txBody>
                  <a:tcPr>
                    <a:solidFill>
                      <a:srgbClr val="FCE4E4"/>
                    </a:solidFill>
                  </a:tcPr>
                </a:tc>
                <a:tc>
                  <a:txBody>
                    <a:bodyPr/>
                    <a:lstStyle/>
                    <a:p>
                      <a:pPr algn="ctr"/>
                      <a:r>
                        <a:rPr sz="800" b="0">
                          <a:solidFill>
                            <a:srgbClr val="202020"/>
                          </a:solidFill>
                        </a:rPr>
                        <a:t>35</a:t>
                      </a:r>
                    </a:p>
                  </a:txBody>
                  <a:tcPr>
                    <a:solidFill>
                      <a:srgbClr val="FCE4E4"/>
                    </a:solidFill>
                  </a:tcPr>
                </a:tc>
                <a:tc>
                  <a:txBody>
                    <a:bodyPr/>
                    <a:lstStyle/>
                    <a:p>
                      <a:pPr algn="ctr"/>
                      <a:r>
                        <a:rPr sz="800" b="0">
                          <a:solidFill>
                            <a:srgbClr val="202020"/>
                          </a:solidFill>
                        </a:rPr>
                        <a:t>8</a:t>
                      </a:r>
                    </a:p>
                  </a:txBody>
                  <a:tcPr>
                    <a:solidFill>
                      <a:srgbClr val="FCE4E4"/>
                    </a:solidFill>
                  </a:tcPr>
                </a:tc>
              </a:tr>
              <a:tr h="228600">
                <a:tc>
                  <a:txBody>
                    <a:bodyPr/>
                    <a:lstStyle/>
                    <a:p>
                      <a:pPr algn="l"/>
                      <a:r>
                        <a:rPr sz="800" b="1">
                          <a:solidFill>
                            <a:srgbClr val="202020"/>
                          </a:solidFill>
                        </a:rPr>
                        <a:t>Fearful</a:t>
                      </a:r>
                    </a:p>
                  </a:txBody>
                  <a:tcPr>
                    <a:solidFill>
                      <a:srgbClr val="FCE4E4"/>
                    </a:solidFill>
                  </a:tcPr>
                </a:tc>
                <a:tc>
                  <a:txBody>
                    <a:bodyPr/>
                    <a:lstStyle/>
                    <a:p>
                      <a:pPr algn="ctr"/>
                      <a:r>
                        <a:rPr sz="800" b="0">
                          <a:solidFill>
                            <a:srgbClr val="202020"/>
                          </a:solidFill>
                        </a:rPr>
                        <a:t>10</a:t>
                      </a:r>
                    </a:p>
                  </a:txBody>
                  <a:tcPr>
                    <a:solidFill>
                      <a:srgbClr val="FCE4E4"/>
                    </a:solidFill>
                  </a:tcPr>
                </a:tc>
                <a:tc>
                  <a:txBody>
                    <a:bodyPr/>
                    <a:lstStyle/>
                    <a:p>
                      <a:pPr algn="ctr"/>
                      <a:r>
                        <a:rPr sz="800" b="0">
                          <a:solidFill>
                            <a:srgbClr val="202020"/>
                          </a:solidFill>
                        </a:rPr>
                        <a:t>5</a:t>
                      </a:r>
                    </a:p>
                  </a:txBody>
                  <a:tcPr>
                    <a:solidFill>
                      <a:srgbClr val="FCE4E4"/>
                    </a:solidFill>
                  </a:tcPr>
                </a:tc>
                <a:tc>
                  <a:txBody>
                    <a:bodyPr/>
                    <a:lstStyle/>
                    <a:p>
                      <a:pPr algn="ctr"/>
                      <a:r>
                        <a:rPr sz="800" b="0">
                          <a:solidFill>
                            <a:srgbClr val="202020"/>
                          </a:solidFill>
                        </a:rPr>
                        <a:t>3</a:t>
                      </a:r>
                    </a:p>
                  </a:txBody>
                  <a:tcPr>
                    <a:solidFill>
                      <a:srgbClr val="FCE4E4"/>
                    </a:solidFill>
                  </a:tcPr>
                </a:tc>
              </a:tr>
              <a:tr h="228600">
                <a:tc>
                  <a:txBody>
                    <a:bodyPr/>
                    <a:lstStyle/>
                    <a:p>
                      <a:pPr algn="l"/>
                      <a:r>
                        <a:rPr sz="800" b="1">
                          <a:solidFill>
                            <a:srgbClr val="202020"/>
                          </a:solidFill>
                        </a:rPr>
                        <a:t>Disgusted</a:t>
                      </a:r>
                    </a:p>
                  </a:txBody>
                  <a:tcPr>
                    <a:solidFill>
                      <a:srgbClr val="FCE4E4"/>
                    </a:solidFill>
                  </a:tcPr>
                </a:tc>
                <a:tc>
                  <a:txBody>
                    <a:bodyPr/>
                    <a:lstStyle/>
                    <a:p>
                      <a:pPr algn="ctr"/>
                      <a:r>
                        <a:rPr sz="800" b="0">
                          <a:solidFill>
                            <a:srgbClr val="202020"/>
                          </a:solidFill>
                        </a:rPr>
                        <a:t>21</a:t>
                      </a:r>
                    </a:p>
                  </a:txBody>
                  <a:tcPr>
                    <a:solidFill>
                      <a:srgbClr val="FCE4E4"/>
                    </a:solidFill>
                  </a:tcPr>
                </a:tc>
                <a:tc>
                  <a:txBody>
                    <a:bodyPr/>
                    <a:lstStyle/>
                    <a:p>
                      <a:pPr algn="ctr"/>
                      <a:r>
                        <a:rPr sz="800" b="0">
                          <a:solidFill>
                            <a:srgbClr val="202020"/>
                          </a:solidFill>
                        </a:rPr>
                        <a:t>17</a:t>
                      </a:r>
                    </a:p>
                  </a:txBody>
                  <a:tcPr>
                    <a:solidFill>
                      <a:srgbClr val="FCE4E4"/>
                    </a:solidFill>
                  </a:tcPr>
                </a:tc>
                <a:tc>
                  <a:txBody>
                    <a:bodyPr/>
                    <a:lstStyle/>
                    <a:p>
                      <a:pPr algn="ctr"/>
                      <a:r>
                        <a:rPr sz="800" b="0">
                          <a:solidFill>
                            <a:srgbClr val="202020"/>
                          </a:solidFill>
                        </a:rPr>
                        <a:t>5</a:t>
                      </a:r>
                    </a:p>
                  </a:txBody>
                  <a:tcPr>
                    <a:solidFill>
                      <a:srgbClr val="FCE4E4"/>
                    </a:solidFill>
                  </a:tcPr>
                </a:tc>
              </a:tr>
              <a:tr h="228600">
                <a:tc>
                  <a:txBody>
                    <a:bodyPr/>
                    <a:lstStyle/>
                    <a:p>
                      <a:pPr algn="l"/>
                      <a:r>
                        <a:rPr sz="800" b="1">
                          <a:solidFill>
                            <a:srgbClr val="202020"/>
                          </a:solidFill>
                        </a:rPr>
                        <a:t>Surprised</a:t>
                      </a:r>
                    </a:p>
                  </a:txBody>
                  <a:tcPr>
                    <a:solidFill>
                      <a:srgbClr val="FCE4E4"/>
                    </a:solidFill>
                  </a:tcPr>
                </a:tc>
                <a:tc>
                  <a:txBody>
                    <a:bodyPr/>
                    <a:lstStyle/>
                    <a:p>
                      <a:pPr algn="ctr"/>
                      <a:r>
                        <a:rPr sz="800" b="0">
                          <a:solidFill>
                            <a:srgbClr val="202020"/>
                          </a:solidFill>
                        </a:rPr>
                        <a:t>55</a:t>
                      </a:r>
                    </a:p>
                  </a:txBody>
                  <a:tcPr>
                    <a:solidFill>
                      <a:srgbClr val="FCE4E4"/>
                    </a:solidFill>
                  </a:tcPr>
                </a:tc>
                <a:tc>
                  <a:txBody>
                    <a:bodyPr/>
                    <a:lstStyle/>
                    <a:p>
                      <a:pPr algn="ctr"/>
                      <a:r>
                        <a:rPr sz="800" b="0">
                          <a:solidFill>
                            <a:srgbClr val="202020"/>
                          </a:solidFill>
                        </a:rPr>
                        <a:t>39</a:t>
                      </a:r>
                    </a:p>
                  </a:txBody>
                  <a:tcPr>
                    <a:solidFill>
                      <a:srgbClr val="FCE4E4"/>
                    </a:solidFill>
                  </a:tcPr>
                </a:tc>
                <a:tc>
                  <a:txBody>
                    <a:bodyPr/>
                    <a:lstStyle/>
                    <a:p>
                      <a:pPr algn="ctr"/>
                      <a:r>
                        <a:rPr sz="800" b="0">
                          <a:solidFill>
                            <a:srgbClr val="202020"/>
                          </a:solidFill>
                        </a:rPr>
                        <a:t>19</a:t>
                      </a:r>
                    </a:p>
                  </a:txBody>
                  <a:tcPr>
                    <a:solidFill>
                      <a:srgbClr val="FCE4E4"/>
                    </a:solidFill>
                  </a:tcPr>
                </a:tc>
              </a:tr>
            </a:tbl>
          </a:graphicData>
        </a:graphic>
      </p:graphicFrame>
      <p:sp>
        <p:nvSpPr>
          <p:cNvPr id="7" name="TextBox 6"/>
          <p:cNvSpPr txBox="1"/>
          <p:nvPr/>
        </p:nvSpPr>
        <p:spPr>
          <a:xfrm>
            <a:off x="274320" y="2011680"/>
            <a:ext cx="4114800" cy="228600"/>
          </a:xfrm>
          <a:prstGeom prst="rect">
            <a:avLst/>
          </a:prstGeom>
          <a:noFill/>
        </p:spPr>
        <p:txBody>
          <a:bodyPr wrap="none">
            <a:spAutoFit/>
          </a:bodyPr>
          <a:lstStyle/>
          <a:p>
            <a:pPr algn="l"/>
            <a:r>
              <a:rPr sz="950" b="1" i="0">
                <a:solidFill>
                  <a:srgbClr val="D93C3C"/>
                </a:solidFill>
              </a:rPr>
              <a:t>Masalah 3: Test Set Reliability</a:t>
            </a:r>
          </a:p>
        </p:txBody>
      </p:sp>
      <p:graphicFrame>
        <p:nvGraphicFramePr>
          <p:cNvPr id="8" name="Table 7"/>
          <p:cNvGraphicFramePr>
            <a:graphicFrameLocks noGrp="1"/>
          </p:cNvGraphicFramePr>
          <p:nvPr/>
        </p:nvGraphicFramePr>
        <p:xfrm>
          <a:off x="274320" y="2258568"/>
          <a:ext cx="4114798" cy="1371600"/>
        </p:xfrm>
        <a:graphic>
          <a:graphicData uri="http://schemas.openxmlformats.org/drawingml/2006/table">
            <a:tbl>
              <a:tblPr firstRow="1" bandRow="1"/>
              <a:tblGrid>
                <a:gridCol w="796412"/>
                <a:gridCol w="1659193"/>
                <a:gridCol w="1659193"/>
              </a:tblGrid>
              <a:tr h="274320">
                <a:tc>
                  <a:txBody>
                    <a:bodyPr/>
                    <a:lstStyle/>
                    <a:p>
                      <a:pPr algn="ctr"/>
                      <a:r>
                        <a:rPr sz="850" b="1">
                          <a:solidFill>
                            <a:srgbClr val="FFFFFF"/>
                          </a:solidFill>
                        </a:rPr>
                        <a:t>Test Size</a:t>
                      </a:r>
                    </a:p>
                  </a:txBody>
                  <a:tcPr>
                    <a:solidFill>
                      <a:srgbClr val="1A73E8"/>
                    </a:solidFill>
                  </a:tcPr>
                </a:tc>
                <a:tc>
                  <a:txBody>
                    <a:bodyPr/>
                    <a:lstStyle/>
                    <a:p>
                      <a:pPr algn="ctr"/>
                      <a:r>
                        <a:rPr sz="850" b="1">
                          <a:solidFill>
                            <a:srgbClr val="FFFFFF"/>
                          </a:solidFill>
                        </a:rPr>
                        <a:t>Stabilitas F1</a:t>
                      </a:r>
                    </a:p>
                  </a:txBody>
                  <a:tcPr>
                    <a:solidFill>
                      <a:srgbClr val="1A73E8"/>
                    </a:solidFill>
                  </a:tcPr>
                </a:tc>
                <a:tc>
                  <a:txBody>
                    <a:bodyPr/>
                    <a:lstStyle/>
                    <a:p>
                      <a:pPr algn="ctr"/>
                      <a:r>
                        <a:rPr sz="850" b="1">
                          <a:solidFill>
                            <a:srgbClr val="FFFFFF"/>
                          </a:solidFill>
                        </a:rPr>
                        <a:t>Contoh</a:t>
                      </a:r>
                    </a:p>
                  </a:txBody>
                  <a:tcPr>
                    <a:solidFill>
                      <a:srgbClr val="1A73E8"/>
                    </a:solidFill>
                  </a:tcPr>
                </a:tc>
              </a:tr>
              <a:tr h="274320">
                <a:tc>
                  <a:txBody>
                    <a:bodyPr/>
                    <a:lstStyle/>
                    <a:p>
                      <a:pPr algn="l"/>
                      <a:r>
                        <a:rPr sz="800" b="1">
                          <a:solidFill>
                            <a:srgbClr val="202020"/>
                          </a:solidFill>
                        </a:rPr>
                        <a:t>&lt; 10</a:t>
                      </a:r>
                    </a:p>
                  </a:txBody>
                  <a:tcPr>
                    <a:solidFill>
                      <a:srgbClr val="FCE4E4"/>
                    </a:solidFill>
                  </a:tcPr>
                </a:tc>
                <a:tc>
                  <a:txBody>
                    <a:bodyPr/>
                    <a:lstStyle/>
                    <a:p>
                      <a:pPr algn="ctr"/>
                      <a:r>
                        <a:rPr sz="800" b="0">
                          <a:solidFill>
                            <a:srgbClr val="202020"/>
                          </a:solidFill>
                        </a:rPr>
                        <a:t>Tidak reliable</a:t>
                      </a:r>
                    </a:p>
                  </a:txBody>
                  <a:tcPr>
                    <a:solidFill>
                      <a:srgbClr val="FCE4E4"/>
                    </a:solidFill>
                  </a:tcPr>
                </a:tc>
                <a:tc>
                  <a:txBody>
                    <a:bodyPr/>
                    <a:lstStyle/>
                    <a:p>
                      <a:pPr algn="ctr"/>
                      <a:r>
                        <a:rPr sz="800" b="0">
                          <a:solidFill>
                            <a:srgbClr val="202020"/>
                          </a:solidFill>
                        </a:rPr>
                        <a:t>-</a:t>
                      </a:r>
                    </a:p>
                  </a:txBody>
                  <a:tcPr>
                    <a:solidFill>
                      <a:srgbClr val="FCE4E4"/>
                    </a:solidFill>
                  </a:tcPr>
                </a:tc>
              </a:tr>
              <a:tr h="274320">
                <a:tc>
                  <a:txBody>
                    <a:bodyPr/>
                    <a:lstStyle/>
                    <a:p>
                      <a:pPr algn="l"/>
                      <a:r>
                        <a:rPr sz="800" b="1">
                          <a:solidFill>
                            <a:srgbClr val="202020"/>
                          </a:solidFill>
                        </a:rPr>
                        <a:t>10-30</a:t>
                      </a:r>
                    </a:p>
                  </a:txBody>
                  <a:tcPr>
                    <a:solidFill>
                      <a:srgbClr val="FCE4E4"/>
                    </a:solidFill>
                  </a:tcPr>
                </a:tc>
                <a:tc>
                  <a:txBody>
                    <a:bodyPr/>
                    <a:lstStyle/>
                    <a:p>
                      <a:pPr algn="ctr"/>
                      <a:r>
                        <a:rPr sz="800" b="0">
                          <a:solidFill>
                            <a:srgbClr val="202020"/>
                          </a:solidFill>
                        </a:rPr>
                        <a:t>Hati-hati (variance tinggi)</a:t>
                      </a:r>
                    </a:p>
                  </a:txBody>
                  <a:tcPr>
                    <a:solidFill>
                      <a:srgbClr val="FCE4E4"/>
                    </a:solidFill>
                  </a:tcPr>
                </a:tc>
                <a:tc>
                  <a:txBody>
                    <a:bodyPr/>
                    <a:lstStyle/>
                    <a:p>
                      <a:pPr algn="ctr"/>
                      <a:r>
                        <a:rPr sz="800" b="0">
                          <a:solidFill>
                            <a:srgbClr val="202020"/>
                          </a:solidFill>
                        </a:rPr>
                        <a:t>Happy=10, Negative=16</a:t>
                      </a:r>
                    </a:p>
                  </a:txBody>
                  <a:tcPr>
                    <a:solidFill>
                      <a:srgbClr val="FCE4E4"/>
                    </a:solidFill>
                  </a:tcPr>
                </a:tc>
              </a:tr>
              <a:tr h="274320">
                <a:tc>
                  <a:txBody>
                    <a:bodyPr/>
                    <a:lstStyle/>
                    <a:p>
                      <a:pPr algn="l"/>
                      <a:r>
                        <a:rPr sz="800" b="1">
                          <a:solidFill>
                            <a:srgbClr val="202020"/>
                          </a:solidFill>
                        </a:rPr>
                        <a:t>30-100</a:t>
                      </a:r>
                    </a:p>
                  </a:txBody>
                  <a:tcPr>
                    <a:solidFill>
                      <a:srgbClr val="E8F0FE"/>
                    </a:solidFill>
                  </a:tcPr>
                </a:tc>
                <a:tc>
                  <a:txBody>
                    <a:bodyPr/>
                    <a:lstStyle/>
                    <a:p>
                      <a:pPr algn="ctr"/>
                      <a:r>
                        <a:rPr sz="800" b="0">
                          <a:solidFill>
                            <a:srgbClr val="202020"/>
                          </a:solidFill>
                        </a:rPr>
                        <a:t>Cukup reliable</a:t>
                      </a:r>
                    </a:p>
                  </a:txBody>
                  <a:tcPr>
                    <a:solidFill>
                      <a:srgbClr val="E8F0FE"/>
                    </a:solidFill>
                  </a:tcPr>
                </a:tc>
                <a:tc>
                  <a:txBody>
                    <a:bodyPr/>
                    <a:lstStyle/>
                    <a:p>
                      <a:pPr algn="ctr"/>
                      <a:r>
                        <a:rPr sz="800" b="0">
                          <a:solidFill>
                            <a:srgbClr val="202020"/>
                          </a:solidFill>
                        </a:rPr>
                        <a:t>Sad=29</a:t>
                      </a:r>
                    </a:p>
                  </a:txBody>
                  <a:tcPr>
                    <a:solidFill>
                      <a:srgbClr val="E8F0FE"/>
                    </a:solidFill>
                  </a:tcPr>
                </a:tc>
              </a:tr>
              <a:tr h="274320">
                <a:tc>
                  <a:txBody>
                    <a:bodyPr/>
                    <a:lstStyle/>
                    <a:p>
                      <a:pPr algn="l"/>
                      <a:r>
                        <a:rPr sz="800" b="1">
                          <a:solidFill>
                            <a:srgbClr val="202020"/>
                          </a:solidFill>
                        </a:rPr>
                        <a:t>&gt; 100</a:t>
                      </a:r>
                    </a:p>
                  </a:txBody>
                  <a:tcPr>
                    <a:solidFill>
                      <a:srgbClr val="FFFFFF"/>
                    </a:solidFill>
                  </a:tcPr>
                </a:tc>
                <a:tc>
                  <a:txBody>
                    <a:bodyPr/>
                    <a:lstStyle/>
                    <a:p>
                      <a:pPr algn="ctr"/>
                      <a:r>
                        <a:rPr sz="800" b="0">
                          <a:solidFill>
                            <a:srgbClr val="202020"/>
                          </a:solidFill>
                        </a:rPr>
                        <a:t>Reliable</a:t>
                      </a:r>
                    </a:p>
                  </a:txBody>
                  <a:tcPr>
                    <a:solidFill>
                      <a:srgbClr val="FFFFFF"/>
                    </a:solidFill>
                  </a:tcPr>
                </a:tc>
                <a:tc>
                  <a:txBody>
                    <a:bodyPr/>
                    <a:lstStyle/>
                    <a:p>
                      <a:pPr algn="ctr"/>
                      <a:r>
                        <a:rPr sz="800" b="0">
                          <a:solidFill>
                            <a:srgbClr val="202020"/>
                          </a:solidFill>
                        </a:rPr>
                        <a:t>Neutral=950</a:t>
                      </a:r>
                    </a:p>
                  </a:txBody>
                  <a:tcPr>
                    <a:solidFill>
                      <a:srgbClr val="FFFFFF"/>
                    </a:solidFill>
                  </a:tcPr>
                </a:tc>
              </a:tr>
            </a:tbl>
          </a:graphicData>
        </a:graphic>
      </p:graphicFrame>
      <p:sp>
        <p:nvSpPr>
          <p:cNvPr id="9" name="TextBox 8"/>
          <p:cNvSpPr txBox="1"/>
          <p:nvPr/>
        </p:nvSpPr>
        <p:spPr>
          <a:xfrm>
            <a:off x="4526280" y="2670048"/>
            <a:ext cx="4343400" cy="1005840"/>
          </a:xfrm>
          <a:prstGeom prst="rect">
            <a:avLst/>
          </a:prstGeom>
          <a:solidFill>
            <a:srgbClr val="FCE4E4"/>
          </a:solidFill>
        </p:spPr>
        <p:txBody>
          <a:bodyPr wrap="square">
            <a:spAutoFit/>
          </a:bodyPr>
          <a:lstStyle/>
          <a:p>
            <a:pPr algn="l"/>
            <a:r>
              <a:rPr sz="950" b="1" i="0">
                <a:solidFill>
                  <a:srgbClr val="D93C3C"/>
                </a:solidFill>
              </a:rPr>
              <a:t>Implikasi Kritis:</a:t>
            </a:r>
          </a:p>
          <a:p>
            <a:pPr algn="l"/>
            <a:r>
              <a:rPr sz="300" b="0" i="0"/>
              <a:t/>
            </a:r>
          </a:p>
          <a:p>
            <a:pPr algn="l"/>
            <a:r>
              <a:rPr sz="850" b="0" i="0">
                <a:solidFill>
                  <a:srgbClr val="202020"/>
                </a:solidFill>
              </a:rPr>
              <a:t>- Happy 10 sampel: 1 salah = 10% F1</a:t>
            </a:r>
          </a:p>
          <a:p>
            <a:pPr algn="l"/>
            <a:r>
              <a:rPr sz="850" b="0" i="0">
                <a:solidFill>
                  <a:srgbClr val="202020"/>
                </a:solidFill>
              </a:rPr>
              <a:t>- Negative 16 sampel: sangat variable</a:t>
            </a:r>
          </a:p>
          <a:p>
            <a:pPr algn="l"/>
            <a:r>
              <a:rPr sz="850" b="0" i="0">
                <a:solidFill>
                  <a:srgbClr val="202020"/>
                </a:solidFill>
              </a:rPr>
              <a:t>- Neutral 950 sampel: 1 salah = 0.1%</a:t>
            </a:r>
          </a:p>
          <a:p>
            <a:pPr algn="l"/>
            <a:r>
              <a:rPr sz="300" b="0" i="0"/>
              <a:t/>
            </a:r>
          </a:p>
          <a:p>
            <a:pPr algn="l"/>
            <a:r>
              <a:rPr sz="850" b="1" i="1">
                <a:solidFill>
                  <a:srgbClr val="D93C3C"/>
                </a:solidFill>
              </a:rPr>
              <a:t>Variance tinggi = evaluasi tidak stabil</a:t>
            </a:r>
          </a:p>
        </p:txBody>
      </p:sp>
      <p:sp>
        <p:nvSpPr>
          <p:cNvPr id="10" name="TextBox 9"/>
          <p:cNvSpPr txBox="1"/>
          <p:nvPr/>
        </p:nvSpPr>
        <p:spPr>
          <a:xfrm>
            <a:off x="274320" y="3794760"/>
            <a:ext cx="8595360" cy="274320"/>
          </a:xfrm>
          <a:prstGeom prst="rect">
            <a:avLst/>
          </a:prstGeom>
          <a:solidFill>
            <a:srgbClr val="FFF0CC"/>
          </a:solidFill>
        </p:spPr>
        <p:txBody>
          <a:bodyPr wrap="square">
            <a:spAutoFit/>
          </a:bodyPr>
          <a:lstStyle/>
          <a:p>
            <a:pPr algn="ctr"/>
            <a:r>
              <a:rPr sz="900" b="1" i="0">
                <a:solidFill>
                  <a:srgbClr val="202020"/>
                </a:solidFill>
              </a:rPr>
              <a:t>Kesimpulan: F1 0.521 mungkin sudah batas maksimal dengan dataset ini. Perlu konsultasi solusi lanjutan.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Solusi yang Dapat Dikonsultasikan</a:t>
            </a:r>
          </a:p>
        </p:txBody>
      </p:sp>
      <p:sp>
        <p:nvSpPr>
          <p:cNvPr id="3" name="TextBox 2"/>
          <p:cNvSpPr txBox="1"/>
          <p:nvPr/>
        </p:nvSpPr>
        <p:spPr>
          <a:xfrm>
            <a:off x="274320" y="685800"/>
            <a:ext cx="8595360" cy="320040"/>
          </a:xfrm>
          <a:prstGeom prst="rect">
            <a:avLst/>
          </a:prstGeom>
          <a:solidFill>
            <a:srgbClr val="E8F0FE"/>
          </a:solidFill>
        </p:spPr>
        <p:txBody>
          <a:bodyPr wrap="square">
            <a:spAutoFit/>
          </a:bodyPr>
          <a:lstStyle/>
          <a:p>
            <a:pPr algn="ctr"/>
            <a:r>
              <a:rPr sz="950" b="0" i="1">
                <a:solidFill>
                  <a:srgbClr val="202020"/>
                </a:solidFill>
              </a:rPr>
              <a:t>3 opsi yang dipertimbangkan + mohon arahan jika ada solusi lain dari Bapak/Ibu</a:t>
            </a:r>
          </a:p>
        </p:txBody>
      </p:sp>
      <p:sp>
        <p:nvSpPr>
          <p:cNvPr id="4" name="TextBox 3"/>
          <p:cNvSpPr txBox="1"/>
          <p:nvPr/>
        </p:nvSpPr>
        <p:spPr>
          <a:xfrm>
            <a:off x="274320" y="1097280"/>
            <a:ext cx="8595360" cy="777240"/>
          </a:xfrm>
          <a:prstGeom prst="rect">
            <a:avLst/>
          </a:prstGeom>
          <a:solidFill>
            <a:srgbClr val="FFF0CC"/>
          </a:solidFill>
        </p:spPr>
        <p:txBody>
          <a:bodyPr wrap="square">
            <a:spAutoFit/>
          </a:bodyPr>
          <a:lstStyle/>
          <a:p>
            <a:pPr algn="l"/>
            <a:r>
              <a:rPr sz="1000" b="1" i="0">
                <a:solidFill>
                  <a:srgbClr val="202020"/>
                </a:solidFill>
              </a:rPr>
              <a:t>Opsi A: Drop Problem Users</a:t>
            </a:r>
          </a:p>
          <a:p>
            <a:pPr algn="l"/>
            <a:r>
              <a:rPr sz="900" b="0" i="0">
                <a:solidFill>
                  <a:srgbClr val="202020"/>
                </a:solidFill>
              </a:rPr>
              <a:t>Hilangkan 4 user extreme (112, 115, 200, 209)</a:t>
            </a:r>
          </a:p>
          <a:p>
            <a:pPr algn="l"/>
            <a:r>
              <a:rPr sz="850" b="0" i="1">
                <a:solidFill>
                  <a:srgbClr val="666666"/>
                </a:solidFill>
              </a:rPr>
              <a:t>Pro: Data lebih bersih | Kontra: Test set berkurang</a:t>
            </a:r>
          </a:p>
        </p:txBody>
      </p:sp>
      <p:sp>
        <p:nvSpPr>
          <p:cNvPr id="5" name="TextBox 4"/>
          <p:cNvSpPr txBox="1"/>
          <p:nvPr/>
        </p:nvSpPr>
        <p:spPr>
          <a:xfrm>
            <a:off x="274320" y="1920240"/>
            <a:ext cx="8595360" cy="777240"/>
          </a:xfrm>
          <a:prstGeom prst="rect">
            <a:avLst/>
          </a:prstGeom>
          <a:solidFill>
            <a:srgbClr val="E6F4EA"/>
          </a:solidFill>
        </p:spPr>
        <p:txBody>
          <a:bodyPr wrap="square">
            <a:spAutoFit/>
          </a:bodyPr>
          <a:lstStyle/>
          <a:p>
            <a:pPr algn="l"/>
            <a:r>
              <a:rPr sz="1000" b="1" i="0">
                <a:solidFill>
                  <a:srgbClr val="202020"/>
                </a:solidFill>
              </a:rPr>
              <a:t>Opsi B: Merge ke 3-Class</a:t>
            </a:r>
          </a:p>
          <a:p>
            <a:pPr algn="l"/>
            <a:r>
              <a:rPr sz="900" b="0" i="0">
                <a:solidFill>
                  <a:srgbClr val="202020"/>
                </a:solidFill>
              </a:rPr>
              <a:t>neutral / happy / negative (gabung sad+angry+fearful+disgusted+surprised)</a:t>
            </a:r>
          </a:p>
          <a:p>
            <a:pPr algn="l"/>
            <a:r>
              <a:rPr sz="850" b="0" i="1">
                <a:solidFill>
                  <a:srgbClr val="666666"/>
                </a:solidFill>
              </a:rPr>
              <a:t>Pro: Test set lebih reliable (negative=55) | Kontra: Kehilangan granularitas emosi</a:t>
            </a:r>
          </a:p>
        </p:txBody>
      </p:sp>
      <p:sp>
        <p:nvSpPr>
          <p:cNvPr id="6" name="TextBox 5"/>
          <p:cNvSpPr txBox="1"/>
          <p:nvPr/>
        </p:nvSpPr>
        <p:spPr>
          <a:xfrm>
            <a:off x="274320" y="2743200"/>
            <a:ext cx="8595360" cy="777240"/>
          </a:xfrm>
          <a:prstGeom prst="rect">
            <a:avLst/>
          </a:prstGeom>
          <a:solidFill>
            <a:srgbClr val="FCE4E4"/>
          </a:solidFill>
        </p:spPr>
        <p:txBody>
          <a:bodyPr wrap="square">
            <a:spAutoFit/>
          </a:bodyPr>
          <a:lstStyle/>
          <a:p>
            <a:pPr algn="l"/>
            <a:r>
              <a:rPr sz="1000" b="1" i="0">
                <a:solidFill>
                  <a:srgbClr val="202020"/>
                </a:solidFill>
              </a:rPr>
              <a:t>Opsi C: Binary Classification</a:t>
            </a:r>
          </a:p>
          <a:p>
            <a:pPr algn="l"/>
            <a:r>
              <a:rPr sz="900" b="0" i="0">
                <a:solidFill>
                  <a:srgbClr val="202020"/>
                </a:solidFill>
              </a:rPr>
              <a:t>neutral vs non-neutral saja (1 vs all)</a:t>
            </a:r>
          </a:p>
          <a:p>
            <a:pPr algn="l"/>
            <a:r>
              <a:rPr sz="850" b="0" i="1">
                <a:solidFill>
                  <a:srgbClr val="666666"/>
                </a:solidFill>
              </a:rPr>
              <a:t>Pro: Paling mudah dicapai | Kontra: Scope sempit dari proposal awal</a:t>
            </a:r>
          </a:p>
        </p:txBody>
      </p:sp>
      <p:sp>
        <p:nvSpPr>
          <p:cNvPr id="7" name="TextBox 6"/>
          <p:cNvSpPr txBox="1"/>
          <p:nvPr/>
        </p:nvSpPr>
        <p:spPr>
          <a:xfrm>
            <a:off x="274320" y="3611880"/>
            <a:ext cx="8595360" cy="457200"/>
          </a:xfrm>
          <a:prstGeom prst="rect">
            <a:avLst/>
          </a:prstGeom>
          <a:solidFill>
            <a:srgbClr val="1A73E8"/>
          </a:solidFill>
        </p:spPr>
        <p:txBody>
          <a:bodyPr wrap="square">
            <a:spAutoFit/>
          </a:bodyPr>
          <a:lstStyle/>
          <a:p>
            <a:pPr algn="ctr"/>
            <a:r>
              <a:rPr sz="1000" b="1" i="0">
                <a:solidFill>
                  <a:srgbClr val="FFFFFF"/>
                </a:solidFill>
              </a:rPr>
              <a:t>Pertanyaan untuk Pembimbing:</a:t>
            </a:r>
          </a:p>
          <a:p>
            <a:pPr algn="ctr"/>
            <a:r>
              <a:rPr sz="900" b="0" i="0">
                <a:solidFill>
                  <a:srgbClr val="FFFFFF"/>
                </a:solidFill>
              </a:rPr>
              <a:t>Apakah Bapak/Ibu punya solusi lain? Atau saran opsi mana yang paling tepat?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Tahap 6 — Early Fusion (Arahan Dosen)</a:t>
            </a:r>
          </a:p>
        </p:txBody>
      </p:sp>
      <p:sp>
        <p:nvSpPr>
          <p:cNvPr id="4" name="TextBox 3"/>
          <p:cNvSpPr txBox="1"/>
          <p:nvPr/>
        </p:nvSpPr>
        <p:spPr>
          <a:xfrm>
            <a:off x="274320" y="530352"/>
            <a:ext cx="8595360" cy="914400"/>
          </a:xfrm>
          <a:prstGeom prst="rect">
            <a:avLst/>
          </a:prstGeom>
          <a:solidFill>
            <a:srgbClr val="E8F0FE"/>
          </a:solidFill>
        </p:spPr>
        <p:txBody>
          <a:bodyPr wrap="square">
            <a:spAutoFit/>
          </a:bodyPr>
          <a:lstStyle/>
          <a:p>
            <a:pPr algn="l"/>
            <a:r>
              <a:rPr sz="1000" b="1" i="0">
                <a:solidFill>
                  <a:srgbClr val="1A73E8"/>
                </a:solidFill>
              </a:rPr>
              <a:t>Motivasi &amp; Arsitektur</a:t>
            </a:r>
          </a:p>
          <a:p>
            <a:pPr algn="l"/>
            <a:r>
              <a:rPr sz="850" b="0" i="0">
                <a:solidFill>
                  <a:srgbClr val="202020"/>
                </a:solidFill>
              </a:rPr>
              <a:t>• Dosen meminta Early Fusion: landmark "ditempel" ke gambar</a:t>
            </a:r>
          </a:p>
          <a:p>
            <a:pPr algn="l"/>
            <a:r>
              <a:rPr sz="850" b="0" i="0">
                <a:solidFill>
                  <a:srgbClr val="202020"/>
                </a:solidFill>
              </a:rPr>
              <a:t>• Pendekatan: HAE-Net (Wu et al., MMM 2020) — landmark → Gaussian heatmap 224×224 → concat sebagai channel ke-4 citra RGB</a:t>
            </a:r>
          </a:p>
          <a:p>
            <a:pPr algn="l"/>
            <a:r>
              <a:rPr sz="850" b="0" i="0">
                <a:solidFill>
                  <a:srgbClr val="202020"/>
                </a:solidFill>
              </a:rPr>
              <a:t>• Fusi terjadi di level input (0%), bukan feature level (Intermediate) atau decision level (Late)</a:t>
            </a:r>
          </a:p>
        </p:txBody>
      </p:sp>
      <p:sp>
        <p:nvSpPr>
          <p:cNvPr id="5" name="TextBox 4"/>
          <p:cNvSpPr txBox="1"/>
          <p:nvPr/>
        </p:nvSpPr>
        <p:spPr>
          <a:xfrm>
            <a:off x="274320" y="1508760"/>
            <a:ext cx="8595360" cy="868680"/>
          </a:xfrm>
          <a:prstGeom prst="rect">
            <a:avLst/>
          </a:prstGeom>
          <a:solidFill>
            <a:srgbClr val="FEF7E0"/>
          </a:solidFill>
        </p:spPr>
        <p:txBody>
          <a:bodyPr wrap="square">
            <a:spAutoFit/>
          </a:bodyPr>
          <a:lstStyle/>
          <a:p>
            <a:pPr algn="l"/>
            <a:r>
              <a:rPr sz="1000" b="1" i="0">
                <a:solidFill>
                  <a:srgbClr val="B06800"/>
                </a:solidFill>
              </a:rPr>
              <a:t>Detail Implementasi</a:t>
            </a:r>
          </a:p>
          <a:p>
            <a:pPr algn="l"/>
            <a:r>
              <a:rPr sz="850" b="0" i="0">
                <a:solidFill>
                  <a:srgbClr val="202020"/>
                </a:solidFill>
              </a:rPr>
              <a:t>• Input: Image 224×224×3 + Heatmap 224×224×1 → 224×224×4</a:t>
            </a:r>
          </a:p>
          <a:p>
            <a:pPr algn="l"/>
            <a:r>
              <a:rPr sz="850" b="0" i="0">
                <a:solidFill>
                  <a:srgbClr val="202020"/>
                </a:solidFill>
              </a:rPr>
              <a:t>• Heatmap: 68 landmark → Gaussian blob σ=3px → element-wise max aggregation → single channel [0,1]</a:t>
            </a:r>
          </a:p>
          <a:p>
            <a:pPr algn="l"/>
            <a:r>
              <a:rPr sz="850" b="0" i="0">
                <a:solidFill>
                  <a:srgbClr val="202020"/>
                </a:solidFill>
              </a:rPr>
              <a:t>• TL variant: ResNet18 Conv2d pertama 3→4 channel, weight RGB di-copy, channel ke-4 di-init dari mean RGB</a:t>
            </a:r>
          </a:p>
        </p:txBody>
      </p:sp>
      <p:sp>
        <p:nvSpPr>
          <p:cNvPr id="6" name="TextBox 5"/>
          <p:cNvSpPr txBox="1"/>
          <p:nvPr/>
        </p:nvSpPr>
        <p:spPr>
          <a:xfrm>
            <a:off x="274320" y="2514600"/>
            <a:ext cx="4206240" cy="228600"/>
          </a:xfrm>
          <a:prstGeom prst="rect">
            <a:avLst/>
          </a:prstGeom>
          <a:noFill/>
        </p:spPr>
        <p:txBody>
          <a:bodyPr wrap="none">
            <a:spAutoFit/>
          </a:bodyPr>
          <a:lstStyle/>
          <a:p>
            <a:pPr algn="l"/>
            <a:r>
              <a:rPr sz="1000" b="1" i="0">
                <a:solidFill>
                  <a:srgbClr val="1A73E8"/>
                </a:solidFill>
              </a:rPr>
              <a:t>Hasil Early Fusion conf60 — 7-Class</a:t>
            </a:r>
          </a:p>
        </p:txBody>
      </p:sp>
      <p:graphicFrame>
        <p:nvGraphicFramePr>
          <p:cNvPr id="7" name="Table 6"/>
          <p:cNvGraphicFramePr>
            <a:graphicFrameLocks noGrp="1"/>
          </p:cNvGraphicFramePr>
          <p:nvPr/>
        </p:nvGraphicFramePr>
        <p:xfrm>
          <a:off x="2743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0.246</a:t>
                      </a:r>
                    </a:p>
                  </a:txBody>
                  <a:tcPr>
                    <a:solidFill>
                      <a:srgbClr val="E8F0FE"/>
                    </a:solidFill>
                  </a:tcPr>
                </a:tc>
                <a:tc>
                  <a:txBody>
                    <a:bodyPr/>
                    <a:lstStyle/>
                    <a:p>
                      <a:pPr algn="ctr"/>
                      <a:r>
                        <a:rPr sz="800" b="0">
                          <a:solidFill>
                            <a:srgbClr val="202020"/>
                          </a:solidFill>
                        </a:rPr>
                        <a:t>0.794</a:t>
                      </a:r>
                    </a:p>
                  </a:txBody>
                  <a:tcPr>
                    <a:solidFill>
                      <a:srgbClr val="E8F0FE"/>
                    </a:solidFill>
                  </a:tcPr>
                </a:tc>
                <a:tc>
                  <a:txBody>
                    <a:bodyPr/>
                    <a:lstStyle/>
                    <a:p>
                      <a:pPr algn="ctr"/>
                      <a:r>
                        <a:rPr sz="800" b="0">
                          <a:solidFill>
                            <a:srgbClr val="202020"/>
                          </a:solidFill>
                        </a:rPr>
                        <a:t>0.786</a:t>
                      </a:r>
                    </a:p>
                  </a:txBody>
                  <a:tcPr>
                    <a:solidFill>
                      <a:srgbClr val="E8F0FE"/>
                    </a:solidFill>
                  </a:tcPr>
                </a:tc>
                <a:tc>
                  <a:txBody>
                    <a:bodyPr/>
                    <a:lstStyle/>
                    <a:p>
                      <a:pPr algn="ctr"/>
                      <a:r>
                        <a:rPr sz="800" b="0">
                          <a:solidFill>
                            <a:srgbClr val="202020"/>
                          </a:solidFill>
                        </a:rPr>
                        <a:t>0.794</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0.205</a:t>
                      </a:r>
                    </a:p>
                  </a:txBody>
                  <a:tcPr>
                    <a:solidFill>
                      <a:srgbClr val="FFFFFF"/>
                    </a:solidFill>
                  </a:tcPr>
                </a:tc>
                <a:tc>
                  <a:txBody>
                    <a:bodyPr/>
                    <a:lstStyle/>
                    <a:p>
                      <a:pPr algn="ctr"/>
                      <a:r>
                        <a:rPr sz="800" b="0">
                          <a:solidFill>
                            <a:srgbClr val="202020"/>
                          </a:solidFill>
                        </a:rPr>
                        <a:t>0.520</a:t>
                      </a:r>
                    </a:p>
                  </a:txBody>
                  <a:tcPr>
                    <a:solidFill>
                      <a:srgbClr val="FFFFFF"/>
                    </a:solidFill>
                  </a:tcPr>
                </a:tc>
                <a:tc>
                  <a:txBody>
                    <a:bodyPr/>
                    <a:lstStyle/>
                    <a:p>
                      <a:pPr algn="ctr"/>
                      <a:r>
                        <a:rPr sz="800" b="0">
                          <a:solidFill>
                            <a:srgbClr val="202020"/>
                          </a:solidFill>
                        </a:rPr>
                        <a:t>0.552</a:t>
                      </a:r>
                    </a:p>
                  </a:txBody>
                  <a:tcPr>
                    <a:solidFill>
                      <a:srgbClr val="FFFFFF"/>
                    </a:solidFill>
                  </a:tcPr>
                </a:tc>
                <a:tc>
                  <a:txBody>
                    <a:bodyPr/>
                    <a:lstStyle/>
                    <a:p>
                      <a:pPr algn="ctr"/>
                      <a:r>
                        <a:rPr sz="800" b="0">
                          <a:solidFill>
                            <a:srgbClr val="202020"/>
                          </a:solidFill>
                        </a:rPr>
                        <a:t>0.520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0.264</a:t>
                      </a:r>
                    </a:p>
                  </a:txBody>
                  <a:tcPr>
                    <a:solidFill>
                      <a:srgbClr val="E8F0FE"/>
                    </a:solidFill>
                  </a:tcPr>
                </a:tc>
                <a:tc>
                  <a:txBody>
                    <a:bodyPr/>
                    <a:lstStyle/>
                    <a:p>
                      <a:pPr algn="ctr"/>
                      <a:r>
                        <a:rPr sz="800" b="0">
                          <a:solidFill>
                            <a:srgbClr val="202020"/>
                          </a:solidFill>
                        </a:rPr>
                        <a:t>0.680</a:t>
                      </a:r>
                    </a:p>
                  </a:txBody>
                  <a:tcPr>
                    <a:solidFill>
                      <a:srgbClr val="E8F0FE"/>
                    </a:solidFill>
                  </a:tcPr>
                </a:tc>
                <a:tc>
                  <a:txBody>
                    <a:bodyPr/>
                    <a:lstStyle/>
                    <a:p>
                      <a:pPr algn="ctr"/>
                      <a:r>
                        <a:rPr sz="800" b="0">
                          <a:solidFill>
                            <a:srgbClr val="202020"/>
                          </a:solidFill>
                        </a:rPr>
                        <a:t>0.726</a:t>
                      </a:r>
                    </a:p>
                  </a:txBody>
                  <a:tcPr>
                    <a:solidFill>
                      <a:srgbClr val="E8F0FE"/>
                    </a:solidFill>
                  </a:tcPr>
                </a:tc>
                <a:tc>
                  <a:txBody>
                    <a:bodyPr/>
                    <a:lstStyle/>
                    <a:p>
                      <a:pPr algn="ctr"/>
                      <a:r>
                        <a:rPr sz="800" b="0">
                          <a:solidFill>
                            <a:srgbClr val="202020"/>
                          </a:solidFill>
                        </a:rPr>
                        <a:t>0.680</a:t>
                      </a:r>
                    </a:p>
                  </a:txBody>
                  <a:tcPr>
                    <a:solidFill>
                      <a:srgbClr val="E8F0FE"/>
                    </a:solidFill>
                  </a:tcPr>
                </a:tc>
              </a:tr>
              <a:tr h="306977">
                <a:tc>
                  <a:txBody>
                    <a:bodyPr/>
                    <a:lstStyle/>
                    <a:p>
                      <a:pPr algn="l"/>
                      <a:r>
                        <a:rPr sz="800" b="1">
                          <a:solidFill>
                            <a:srgbClr val="202020"/>
                          </a:solidFill>
                        </a:rPr>
                        <a:t>EF TL B1</a:t>
                      </a:r>
                    </a:p>
                  </a:txBody>
                  <a:tcPr>
                    <a:solidFill>
                      <a:srgbClr val="FFFFFF"/>
                    </a:solidFill>
                  </a:tcPr>
                </a:tc>
                <a:tc>
                  <a:txBody>
                    <a:bodyPr/>
                    <a:lstStyle/>
                    <a:p>
                      <a:pPr algn="ctr"/>
                      <a:r>
                        <a:rPr sz="800" b="0">
                          <a:solidFill>
                            <a:srgbClr val="202020"/>
                          </a:solidFill>
                        </a:rPr>
                        <a:t>0.253</a:t>
                      </a:r>
                    </a:p>
                  </a:txBody>
                  <a:tcPr>
                    <a:solidFill>
                      <a:srgbClr val="FFFFFF"/>
                    </a:solidFill>
                  </a:tcPr>
                </a:tc>
                <a:tc>
                  <a:txBody>
                    <a:bodyPr/>
                    <a:lstStyle/>
                    <a:p>
                      <a:pPr algn="ctr"/>
                      <a:r>
                        <a:rPr sz="800" b="0">
                          <a:solidFill>
                            <a:srgbClr val="202020"/>
                          </a:solidFill>
                        </a:rPr>
                        <a:t>0.713</a:t>
                      </a:r>
                    </a:p>
                  </a:txBody>
                  <a:tcPr>
                    <a:solidFill>
                      <a:srgbClr val="FFFFFF"/>
                    </a:solidFill>
                  </a:tcPr>
                </a:tc>
                <a:tc>
                  <a:txBody>
                    <a:bodyPr/>
                    <a:lstStyle/>
                    <a:p>
                      <a:pPr algn="ctr"/>
                      <a:r>
                        <a:rPr sz="800" b="0">
                          <a:solidFill>
                            <a:srgbClr val="202020"/>
                          </a:solidFill>
                        </a:rPr>
                        <a:t>0.722</a:t>
                      </a:r>
                    </a:p>
                  </a:txBody>
                  <a:tcPr>
                    <a:solidFill>
                      <a:srgbClr val="FFFFFF"/>
                    </a:solidFill>
                  </a:tcPr>
                </a:tc>
                <a:tc>
                  <a:txBody>
                    <a:bodyPr/>
                    <a:lstStyle/>
                    <a:p>
                      <a:pPr algn="ctr"/>
                      <a:r>
                        <a:rPr sz="800" b="0">
                          <a:solidFill>
                            <a:srgbClr val="202020"/>
                          </a:solidFill>
                        </a:rPr>
                        <a:t>0.713</a:t>
                      </a:r>
                    </a:p>
                  </a:txBody>
                  <a:tcPr>
                    <a:solidFill>
                      <a:srgbClr val="FFFFFF"/>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0.247</a:t>
                      </a:r>
                    </a:p>
                  </a:txBody>
                  <a:tcPr>
                    <a:solidFill>
                      <a:srgbClr val="E8F0FE"/>
                    </a:solidFill>
                  </a:tcPr>
                </a:tc>
                <a:tc>
                  <a:txBody>
                    <a:bodyPr/>
                    <a:lstStyle/>
                    <a:p>
                      <a:pPr algn="ctr"/>
                      <a:r>
                        <a:rPr sz="800" b="0">
                          <a:solidFill>
                            <a:srgbClr val="202020"/>
                          </a:solidFill>
                        </a:rPr>
                        <a:t>0.636</a:t>
                      </a:r>
                    </a:p>
                  </a:txBody>
                  <a:tcPr>
                    <a:solidFill>
                      <a:srgbClr val="E8F0FE"/>
                    </a:solidFill>
                  </a:tcPr>
                </a:tc>
                <a:tc>
                  <a:txBody>
                    <a:bodyPr/>
                    <a:lstStyle/>
                    <a:p>
                      <a:pPr algn="ctr"/>
                      <a:r>
                        <a:rPr sz="800" b="0">
                          <a:solidFill>
                            <a:srgbClr val="202020"/>
                          </a:solidFill>
                        </a:rPr>
                        <a:t>0.663</a:t>
                      </a:r>
                    </a:p>
                  </a:txBody>
                  <a:tcPr>
                    <a:solidFill>
                      <a:srgbClr val="E8F0FE"/>
                    </a:solidFill>
                  </a:tcPr>
                </a:tc>
                <a:tc>
                  <a:txBody>
                    <a:bodyPr/>
                    <a:lstStyle/>
                    <a:p>
                      <a:pPr algn="ctr"/>
                      <a:r>
                        <a:rPr sz="800" b="0">
                          <a:solidFill>
                            <a:srgbClr val="202020"/>
                          </a:solidFill>
                        </a:rPr>
                        <a:t>0.636</a:t>
                      </a:r>
                    </a:p>
                  </a:txBody>
                  <a:tcPr>
                    <a:solidFill>
                      <a:srgbClr val="E8F0FE"/>
                    </a:solidFill>
                  </a:tcPr>
                </a:tc>
              </a:tr>
              <a:tr h="306978">
                <a:tc>
                  <a:txBody>
                    <a:bodyPr/>
                    <a:lstStyle/>
                    <a:p>
                      <a:pPr algn="l"/>
                      <a:r>
                        <a:rPr sz="800" b="1">
                          <a:solidFill>
                            <a:srgbClr val="202020"/>
                          </a:solidFill>
                        </a:rPr>
                        <a:t>EF TL B3</a:t>
                      </a:r>
                    </a:p>
                  </a:txBody>
                  <a:tcPr>
                    <a:solidFill>
                      <a:srgbClr val="E6F4EA"/>
                    </a:solidFill>
                  </a:tcPr>
                </a:tc>
                <a:tc>
                  <a:txBody>
                    <a:bodyPr/>
                    <a:lstStyle/>
                    <a:p>
                      <a:pPr algn="ctr"/>
                      <a:r>
                        <a:rPr sz="800" b="0">
                          <a:solidFill>
                            <a:srgbClr val="202020"/>
                          </a:solidFill>
                        </a:rPr>
                        <a:t>0.333</a:t>
                      </a:r>
                    </a:p>
                  </a:txBody>
                  <a:tcPr>
                    <a:solidFill>
                      <a:srgbClr val="E6F4EA"/>
                    </a:solidFill>
                  </a:tcPr>
                </a:tc>
                <a:tc>
                  <a:txBody>
                    <a:bodyPr/>
                    <a:lstStyle/>
                    <a:p>
                      <a:pPr algn="ctr"/>
                      <a:r>
                        <a:rPr sz="800" b="0">
                          <a:solidFill>
                            <a:srgbClr val="202020"/>
                          </a:solidFill>
                        </a:rPr>
                        <a:t>0.753</a:t>
                      </a:r>
                    </a:p>
                  </a:txBody>
                  <a:tcPr>
                    <a:solidFill>
                      <a:srgbClr val="E6F4EA"/>
                    </a:solidFill>
                  </a:tcPr>
                </a:tc>
                <a:tc>
                  <a:txBody>
                    <a:bodyPr/>
                    <a:lstStyle/>
                    <a:p>
                      <a:pPr algn="ctr"/>
                      <a:r>
                        <a:rPr sz="800" b="0">
                          <a:solidFill>
                            <a:srgbClr val="202020"/>
                          </a:solidFill>
                        </a:rPr>
                        <a:t>0.773</a:t>
                      </a:r>
                    </a:p>
                  </a:txBody>
                  <a:tcPr>
                    <a:solidFill>
                      <a:srgbClr val="E6F4EA"/>
                    </a:solidFill>
                  </a:tcPr>
                </a:tc>
                <a:tc>
                  <a:txBody>
                    <a:bodyPr/>
                    <a:lstStyle/>
                    <a:p>
                      <a:pPr algn="ctr"/>
                      <a:r>
                        <a:rPr sz="800" b="0">
                          <a:solidFill>
                            <a:srgbClr val="202020"/>
                          </a:solidFill>
                        </a:rPr>
                        <a:t>0.753</a:t>
                      </a:r>
                    </a:p>
                  </a:txBody>
                  <a:tcPr>
                    <a:solidFill>
                      <a:srgbClr val="E6F4EA"/>
                    </a:solidFill>
                  </a:tcPr>
                </a:tc>
              </a:tr>
            </a:tbl>
          </a:graphicData>
        </a:graphic>
      </p:graphicFrame>
      <p:sp>
        <p:nvSpPr>
          <p:cNvPr id="8" name="TextBox 7"/>
          <p:cNvSpPr txBox="1"/>
          <p:nvPr/>
        </p:nvSpPr>
        <p:spPr>
          <a:xfrm>
            <a:off x="4617720" y="2514600"/>
            <a:ext cx="4206240" cy="228600"/>
          </a:xfrm>
          <a:prstGeom prst="rect">
            <a:avLst/>
          </a:prstGeom>
          <a:noFill/>
        </p:spPr>
        <p:txBody>
          <a:bodyPr wrap="none">
            <a:spAutoFit/>
          </a:bodyPr>
          <a:lstStyle/>
          <a:p>
            <a:pPr algn="l"/>
            <a:r>
              <a:rPr sz="1000" b="1" i="0">
                <a:solidFill>
                  <a:srgbClr val="1A73E8"/>
                </a:solidFill>
              </a:rPr>
              <a:t>Hasil Early Fusion conf60 — 4-Class</a:t>
            </a:r>
          </a:p>
        </p:txBody>
      </p:sp>
      <p:graphicFrame>
        <p:nvGraphicFramePr>
          <p:cNvPr id="9" name="Table 8"/>
          <p:cNvGraphicFramePr>
            <a:graphicFrameLocks noGrp="1"/>
          </p:cNvGraphicFramePr>
          <p:nvPr/>
        </p:nvGraphicFramePr>
        <p:xfrm>
          <a:off x="46177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0.457</a:t>
                      </a:r>
                    </a:p>
                  </a:txBody>
                  <a:tcPr>
                    <a:solidFill>
                      <a:srgbClr val="E8F0FE"/>
                    </a:solidFill>
                  </a:tcPr>
                </a:tc>
                <a:tc>
                  <a:txBody>
                    <a:bodyPr/>
                    <a:lstStyle/>
                    <a:p>
                      <a:pPr algn="ctr"/>
                      <a:r>
                        <a:rPr sz="800" b="0">
                          <a:solidFill>
                            <a:srgbClr val="202020"/>
                          </a:solidFill>
                        </a:rPr>
                        <a:t>0.822</a:t>
                      </a:r>
                    </a:p>
                  </a:txBody>
                  <a:tcPr>
                    <a:solidFill>
                      <a:srgbClr val="E8F0FE"/>
                    </a:solidFill>
                  </a:tcPr>
                </a:tc>
                <a:tc>
                  <a:txBody>
                    <a:bodyPr/>
                    <a:lstStyle/>
                    <a:p>
                      <a:pPr algn="ctr"/>
                      <a:r>
                        <a:rPr sz="800" b="0">
                          <a:solidFill>
                            <a:srgbClr val="202020"/>
                          </a:solidFill>
                        </a:rPr>
                        <a:t>0.816</a:t>
                      </a:r>
                    </a:p>
                  </a:txBody>
                  <a:tcPr>
                    <a:solidFill>
                      <a:srgbClr val="E8F0FE"/>
                    </a:solidFill>
                  </a:tcPr>
                </a:tc>
                <a:tc>
                  <a:txBody>
                    <a:bodyPr/>
                    <a:lstStyle/>
                    <a:p>
                      <a:pPr algn="ctr"/>
                      <a:r>
                        <a:rPr sz="800" b="0">
                          <a:solidFill>
                            <a:srgbClr val="202020"/>
                          </a:solidFill>
                        </a:rPr>
                        <a:t>0.822</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0.427</a:t>
                      </a:r>
                    </a:p>
                  </a:txBody>
                  <a:tcPr>
                    <a:solidFill>
                      <a:srgbClr val="FFFFFF"/>
                    </a:solidFill>
                  </a:tcPr>
                </a:tc>
                <a:tc>
                  <a:txBody>
                    <a:bodyPr/>
                    <a:lstStyle/>
                    <a:p>
                      <a:pPr algn="ctr"/>
                      <a:r>
                        <a:rPr sz="800" b="0">
                          <a:solidFill>
                            <a:srgbClr val="202020"/>
                          </a:solidFill>
                        </a:rPr>
                        <a:t>0.690</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0.690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0.427</a:t>
                      </a:r>
                    </a:p>
                  </a:txBody>
                  <a:tcPr>
                    <a:solidFill>
                      <a:srgbClr val="E8F0FE"/>
                    </a:solidFill>
                  </a:tcPr>
                </a:tc>
                <a:tc>
                  <a:txBody>
                    <a:bodyPr/>
                    <a:lstStyle/>
                    <a:p>
                      <a:pPr algn="ctr"/>
                      <a:r>
                        <a:rPr sz="800" b="0">
                          <a:solidFill>
                            <a:srgbClr val="202020"/>
                          </a:solidFill>
                        </a:rPr>
                        <a:t>0.728</a:t>
                      </a:r>
                    </a:p>
                  </a:txBody>
                  <a:tcPr>
                    <a:solidFill>
                      <a:srgbClr val="E8F0FE"/>
                    </a:solidFill>
                  </a:tcPr>
                </a:tc>
                <a:tc>
                  <a:txBody>
                    <a:bodyPr/>
                    <a:lstStyle/>
                    <a:p>
                      <a:pPr algn="ctr"/>
                      <a:r>
                        <a:rPr sz="800" b="0">
                          <a:solidFill>
                            <a:srgbClr val="202020"/>
                          </a:solidFill>
                        </a:rPr>
                        <a:t>0.752</a:t>
                      </a:r>
                    </a:p>
                  </a:txBody>
                  <a:tcPr>
                    <a:solidFill>
                      <a:srgbClr val="E8F0FE"/>
                    </a:solidFill>
                  </a:tcPr>
                </a:tc>
                <a:tc>
                  <a:txBody>
                    <a:bodyPr/>
                    <a:lstStyle/>
                    <a:p>
                      <a:pPr algn="ctr"/>
                      <a:r>
                        <a:rPr sz="800" b="0">
                          <a:solidFill>
                            <a:srgbClr val="202020"/>
                          </a:solidFill>
                        </a:rPr>
                        <a:t>0.728</a:t>
                      </a:r>
                    </a:p>
                  </a:txBody>
                  <a:tcPr>
                    <a:solidFill>
                      <a:srgbClr val="E8F0FE"/>
                    </a:solidFill>
                  </a:tcPr>
                </a:tc>
              </a:tr>
              <a:tr h="306977">
                <a:tc>
                  <a:txBody>
                    <a:bodyPr/>
                    <a:lstStyle/>
                    <a:p>
                      <a:pPr algn="l"/>
                      <a:r>
                        <a:rPr sz="800" b="1">
                          <a:solidFill>
                            <a:srgbClr val="202020"/>
                          </a:solidFill>
                        </a:rPr>
                        <a:t>EF TL B1</a:t>
                      </a:r>
                    </a:p>
                  </a:txBody>
                  <a:tcPr>
                    <a:solidFill>
                      <a:srgbClr val="E6F4EA"/>
                    </a:solidFill>
                  </a:tcPr>
                </a:tc>
                <a:tc>
                  <a:txBody>
                    <a:bodyPr/>
                    <a:lstStyle/>
                    <a:p>
                      <a:pPr algn="ctr"/>
                      <a:r>
                        <a:rPr sz="800" b="0">
                          <a:solidFill>
                            <a:srgbClr val="202020"/>
                          </a:solidFill>
                        </a:rPr>
                        <a:t>0.471</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0.424</a:t>
                      </a:r>
                    </a:p>
                  </a:txBody>
                  <a:tcPr>
                    <a:solidFill>
                      <a:srgbClr val="E8F0FE"/>
                    </a:solidFill>
                  </a:tcPr>
                </a:tc>
                <a:tc>
                  <a:txBody>
                    <a:bodyPr/>
                    <a:lstStyle/>
                    <a:p>
                      <a:pPr algn="ctr"/>
                      <a:r>
                        <a:rPr sz="800" b="0">
                          <a:solidFill>
                            <a:srgbClr val="202020"/>
                          </a:solidFill>
                        </a:rPr>
                        <a:t>0.642</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0.642</a:t>
                      </a:r>
                    </a:p>
                  </a:txBody>
                  <a:tcPr>
                    <a:solidFill>
                      <a:srgbClr val="E8F0FE"/>
                    </a:solidFill>
                  </a:tcPr>
                </a:tc>
              </a:tr>
              <a:tr h="306978">
                <a:tc>
                  <a:txBody>
                    <a:bodyPr/>
                    <a:lstStyle/>
                    <a:p>
                      <a:pPr algn="l"/>
                      <a:r>
                        <a:rPr sz="800" b="1">
                          <a:solidFill>
                            <a:srgbClr val="202020"/>
                          </a:solidFill>
                        </a:rPr>
                        <a:t>EF TL B3</a:t>
                      </a:r>
                    </a:p>
                  </a:txBody>
                  <a:tcPr>
                    <a:solidFill>
                      <a:srgbClr val="FFFFFF"/>
                    </a:solidFill>
                  </a:tcPr>
                </a:tc>
                <a:tc>
                  <a:txBody>
                    <a:bodyPr/>
                    <a:lstStyle/>
                    <a:p>
                      <a:pPr algn="ctr"/>
                      <a:r>
                        <a:rPr sz="800" b="0">
                          <a:solidFill>
                            <a:srgbClr val="202020"/>
                          </a:solidFill>
                        </a:rPr>
                        <a:t>0.433</a:t>
                      </a:r>
                    </a:p>
                  </a:txBody>
                  <a:tcPr>
                    <a:solidFill>
                      <a:srgbClr val="FFFFFF"/>
                    </a:solidFill>
                  </a:tcPr>
                </a:tc>
                <a:tc>
                  <a:txBody>
                    <a:bodyPr/>
                    <a:lstStyle/>
                    <a:p>
                      <a:pPr algn="ctr"/>
                      <a:r>
                        <a:rPr sz="800" b="0">
                          <a:solidFill>
                            <a:srgbClr val="202020"/>
                          </a:solidFill>
                        </a:rPr>
                        <a:t>0.678</a:t>
                      </a:r>
                    </a:p>
                  </a:txBody>
                  <a:tcPr>
                    <a:solidFill>
                      <a:srgbClr val="FFFFFF"/>
                    </a:solidFill>
                  </a:tcPr>
                </a:tc>
                <a:tc>
                  <a:txBody>
                    <a:bodyPr/>
                    <a:lstStyle/>
                    <a:p>
                      <a:pPr algn="ctr"/>
                      <a:r>
                        <a:rPr sz="800" b="0">
                          <a:solidFill>
                            <a:srgbClr val="202020"/>
                          </a:solidFill>
                        </a:rPr>
                        <a:t>0.709</a:t>
                      </a:r>
                    </a:p>
                  </a:txBody>
                  <a:tcPr>
                    <a:solidFill>
                      <a:srgbClr val="FFFFFF"/>
                    </a:solidFill>
                  </a:tcPr>
                </a:tc>
                <a:tc>
                  <a:txBody>
                    <a:bodyPr/>
                    <a:lstStyle/>
                    <a:p>
                      <a:pPr algn="ctr"/>
                      <a:r>
                        <a:rPr sz="800" b="0">
                          <a:solidFill>
                            <a:srgbClr val="202020"/>
                          </a:solidFill>
                        </a:rPr>
                        <a:t>0.678</a:t>
                      </a:r>
                    </a:p>
                  </a:txBody>
                  <a:tcPr>
                    <a:solidFill>
                      <a:srgbClr val="FFFFFF"/>
                    </a:solidFill>
                  </a:tcPr>
                </a:tc>
              </a:tr>
            </a:tbl>
          </a:graphicData>
        </a:graphic>
      </p:graphicFrame>
      <p:sp>
        <p:nvSpPr>
          <p:cNvPr id="10" name="TextBox 9"/>
          <p:cNvSpPr txBox="1"/>
          <p:nvPr/>
        </p:nvSpPr>
        <p:spPr>
          <a:xfrm>
            <a:off x="274320" y="5029200"/>
            <a:ext cx="8595360" cy="640080"/>
          </a:xfrm>
          <a:prstGeom prst="rect">
            <a:avLst/>
          </a:prstGeom>
          <a:solidFill>
            <a:srgbClr val="E6F4EA"/>
          </a:solidFill>
        </p:spPr>
        <p:txBody>
          <a:bodyPr wrap="square">
            <a:spAutoFit/>
          </a:bodyPr>
          <a:lstStyle/>
          <a:p>
            <a:pPr algn="l"/>
            <a:r>
              <a:rPr sz="1000" b="1" i="0">
                <a:solidFill>
                  <a:srgbClr val="0F9D58"/>
                </a:solidFill>
              </a:rPr>
              <a:t>Best Early Fusion: 7c = EF TL B3 (0.333) | 4c = EF TL B1 (0.471)</a:t>
            </a:r>
          </a:p>
          <a:p>
            <a:pPr algn="l"/>
            <a:r>
              <a:rPr sz="900" b="0" i="0">
                <a:solidFill>
                  <a:srgbClr val="202020"/>
                </a:solidFill>
              </a:rPr>
              <a:t>12 config (6 per kelas) × nb 64 — semua metrik Macro/Micro/Weighted F1 + Accuracy.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(lanjutan): Perbandingan Fusion Strategy &amp; Temuan</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000" b="1" i="0">
                <a:solidFill>
                  <a:srgbClr val="1A73E8"/>
                </a:solidFill>
              </a:rPr>
              <a:t>Perbandingan 5 Fusion Strategy di Primer conf60 (Best per Arsitektur)</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Fusion Strategy</a:t>
                      </a:r>
                    </a:p>
                  </a:txBody>
                  <a:tcPr>
                    <a:solidFill>
                      <a:srgbClr val="1A73E8"/>
                    </a:solidFill>
                  </a:tcPr>
                </a:tc>
                <a:tc>
                  <a:txBody>
                    <a:bodyPr/>
                    <a:lstStyle/>
                    <a:p>
                      <a:pPr algn="ctr"/>
                      <a:r>
                        <a:rPr sz="900" b="1">
                          <a:solidFill>
                            <a:srgbClr val="FFFFFF"/>
                          </a:solidFill>
                        </a:rPr>
                        <a:t>Best 7c Macro F1</a:t>
                      </a:r>
                    </a:p>
                  </a:txBody>
                  <a:tcPr>
                    <a:solidFill>
                      <a:srgbClr val="1A73E8"/>
                    </a:solidFill>
                  </a:tcPr>
                </a:tc>
                <a:tc>
                  <a:txBody>
                    <a:bodyPr/>
                    <a:lstStyle/>
                    <a:p>
                      <a:pPr algn="ctr"/>
                      <a:r>
                        <a:rPr sz="900" b="1">
                          <a:solidFill>
                            <a:srgbClr val="FFFFFF"/>
                          </a:solidFill>
                        </a:rPr>
                        <a:t>Best 4c Macro F1</a:t>
                      </a:r>
                    </a:p>
                  </a:txBody>
                  <a:tcPr>
                    <a:solidFill>
                      <a:srgbClr val="1A73E8"/>
                    </a:solidFill>
                  </a:tcPr>
                </a:tc>
                <a:tc>
                  <a:txBody>
                    <a:bodyPr/>
                    <a:lstStyle/>
                    <a:p>
                      <a:pPr algn="ctr"/>
                      <a:r>
                        <a:rPr sz="900" b="1">
                          <a:solidFill>
                            <a:srgbClr val="FFFFFF"/>
                          </a:solidFill>
                        </a:rPr>
                        <a:t>Fusion Point</a:t>
                      </a:r>
                    </a:p>
                  </a:txBody>
                  <a:tcPr>
                    <a:solidFill>
                      <a:srgbClr val="1A73E8"/>
                    </a:solidFill>
                  </a:tcPr>
                </a:tc>
              </a:tr>
              <a:tr h="320040">
                <a:tc>
                  <a:txBody>
                    <a:bodyPr/>
                    <a:lstStyle/>
                    <a:p>
                      <a:pPr algn="l"/>
                      <a:r>
                        <a:rPr sz="850" b="1">
                          <a:solidFill>
                            <a:srgbClr val="202020"/>
                          </a:solidFill>
                        </a:rPr>
                        <a:t>Single CNN (TL)</a:t>
                      </a:r>
                    </a:p>
                  </a:txBody>
                  <a:tcPr>
                    <a:solidFill>
                      <a:srgbClr val="E8F0FE"/>
                    </a:solidFill>
                  </a:tcPr>
                </a:tc>
                <a:tc>
                  <a:txBody>
                    <a:bodyPr/>
                    <a:lstStyle/>
                    <a:p>
                      <a:pPr algn="ctr"/>
                      <a:r>
                        <a:rPr sz="850" b="0">
                          <a:solidFill>
                            <a:srgbClr val="202020"/>
                          </a:solidFill>
                        </a:rPr>
                        <a:t>0.273 (B1)</a:t>
                      </a:r>
                    </a:p>
                  </a:txBody>
                  <a:tcPr>
                    <a:solidFill>
                      <a:srgbClr val="E8F0FE"/>
                    </a:solidFill>
                  </a:tcPr>
                </a:tc>
                <a:tc>
                  <a:txBody>
                    <a:bodyPr/>
                    <a:lstStyle/>
                    <a:p>
                      <a:pPr algn="ctr"/>
                      <a:r>
                        <a:rPr sz="850" b="0">
                          <a:solidFill>
                            <a:srgbClr val="202020"/>
                          </a:solidFill>
                        </a:rPr>
                        <a:t>0.507 (B3)</a:t>
                      </a:r>
                    </a:p>
                  </a:txBody>
                  <a:tcPr>
                    <a:solidFill>
                      <a:srgbClr val="E8F0FE"/>
                    </a:solidFill>
                  </a:tcPr>
                </a:tc>
                <a:tc>
                  <a:txBody>
                    <a:bodyPr/>
                    <a:lstStyle/>
                    <a:p>
                      <a:pPr algn="ctr"/>
                      <a:r>
                        <a:rPr sz="850" b="0">
                          <a:solidFill>
                            <a:srgbClr val="202020"/>
                          </a:solidFill>
                        </a:rPr>
                        <a:t>— (single modal)</a:t>
                      </a:r>
                    </a:p>
                  </a:txBody>
                  <a:tcPr>
                    <a:solidFill>
                      <a:srgbClr val="E8F0FE"/>
                    </a:solidFill>
                  </a:tcPr>
                </a:tc>
              </a:tr>
              <a:tr h="320040">
                <a:tc>
                  <a:txBody>
                    <a:bodyPr/>
                    <a:lstStyle/>
                    <a:p>
                      <a:pPr algn="l"/>
                      <a:r>
                        <a:rPr sz="850" b="1">
                          <a:solidFill>
                            <a:srgbClr val="202020"/>
                          </a:solidFill>
                        </a:rPr>
                        <a:t>Single FCNN</a:t>
                      </a:r>
                    </a:p>
                  </a:txBody>
                  <a:tcPr>
                    <a:solidFill>
                      <a:srgbClr val="FFFFFF"/>
                    </a:solidFill>
                  </a:tcPr>
                </a:tc>
                <a:tc>
                  <a:txBody>
                    <a:bodyPr/>
                    <a:lstStyle/>
                    <a:p>
                      <a:pPr algn="ctr"/>
                      <a:r>
                        <a:rPr sz="850" b="0">
                          <a:solidFill>
                            <a:srgbClr val="202020"/>
                          </a:solidFill>
                        </a:rPr>
                        <a:t>0.244 (B2)</a:t>
                      </a:r>
                    </a:p>
                  </a:txBody>
                  <a:tcPr>
                    <a:solidFill>
                      <a:srgbClr val="FFFFFF"/>
                    </a:solidFill>
                  </a:tcPr>
                </a:tc>
                <a:tc>
                  <a:txBody>
                    <a:bodyPr/>
                    <a:lstStyle/>
                    <a:p>
                      <a:pPr algn="ctr"/>
                      <a:r>
                        <a:rPr sz="850" b="0">
                          <a:solidFill>
                            <a:srgbClr val="202020"/>
                          </a:solidFill>
                        </a:rPr>
                        <a:t>0.459 (B2)</a:t>
                      </a:r>
                    </a:p>
                  </a:txBody>
                  <a:tcPr>
                    <a:solidFill>
                      <a:srgbClr val="FFFFFF"/>
                    </a:solidFill>
                  </a:tcPr>
                </a:tc>
                <a:tc>
                  <a:txBody>
                    <a:bodyPr/>
                    <a:lstStyle/>
                    <a:p>
                      <a:pPr algn="ctr"/>
                      <a:r>
                        <a:rPr sz="850" b="0">
                          <a:solidFill>
                            <a:srgbClr val="202020"/>
                          </a:solidFill>
                        </a:rPr>
                        <a:t>— (single modal)</a:t>
                      </a:r>
                    </a:p>
                  </a:txBody>
                  <a:tcPr>
                    <a:solidFill>
                      <a:srgbClr val="FFFFFF"/>
                    </a:solidFill>
                  </a:tcPr>
                </a:tc>
              </a:tr>
              <a:tr h="320040">
                <a:tc>
                  <a:txBody>
                    <a:bodyPr/>
                    <a:lstStyle/>
                    <a:p>
                      <a:pPr algn="l"/>
                      <a:r>
                        <a:rPr sz="850" b="1">
                          <a:solidFill>
                            <a:srgbClr val="202020"/>
                          </a:solidFill>
                        </a:rPr>
                        <a:t>Early Fusion (HAE-Net)</a:t>
                      </a:r>
                    </a:p>
                  </a:txBody>
                  <a:tcPr>
                    <a:solidFill>
                      <a:srgbClr val="E8F0FE"/>
                    </a:solidFill>
                  </a:tcPr>
                </a:tc>
                <a:tc>
                  <a:txBody>
                    <a:bodyPr/>
                    <a:lstStyle/>
                    <a:p>
                      <a:pPr algn="ctr"/>
                      <a:r>
                        <a:rPr sz="850" b="0">
                          <a:solidFill>
                            <a:srgbClr val="202020"/>
                          </a:solidFill>
                        </a:rPr>
                        <a:t>0.333 (TL B3)</a:t>
                      </a:r>
                    </a:p>
                  </a:txBody>
                  <a:tcPr>
                    <a:solidFill>
                      <a:srgbClr val="E8F0FE"/>
                    </a:solidFill>
                  </a:tcPr>
                </a:tc>
                <a:tc>
                  <a:txBody>
                    <a:bodyPr/>
                    <a:lstStyle/>
                    <a:p>
                      <a:pPr algn="ctr"/>
                      <a:r>
                        <a:rPr sz="850" b="0">
                          <a:solidFill>
                            <a:srgbClr val="202020"/>
                          </a:solidFill>
                        </a:rPr>
                        <a:t>0.471 (TL B1)</a:t>
                      </a:r>
                    </a:p>
                  </a:txBody>
                  <a:tcPr>
                    <a:solidFill>
                      <a:srgbClr val="E8F0FE"/>
                    </a:solidFill>
                  </a:tcPr>
                </a:tc>
                <a:tc>
                  <a:txBody>
                    <a:bodyPr/>
                    <a:lstStyle/>
                    <a:p>
                      <a:pPr algn="ctr"/>
                      <a:r>
                        <a:rPr sz="850" b="0">
                          <a:solidFill>
                            <a:srgbClr val="202020"/>
                          </a:solidFill>
                        </a:rPr>
                        <a:t>Input (0%)</a:t>
                      </a:r>
                    </a:p>
                  </a:txBody>
                  <a:tcPr>
                    <a:solidFill>
                      <a:srgbClr val="E8F0FE"/>
                    </a:solidFill>
                  </a:tcPr>
                </a:tc>
              </a:tr>
              <a:tr h="320040">
                <a:tc>
                  <a:txBody>
                    <a:bodyPr/>
                    <a:lstStyle/>
                    <a:p>
                      <a:pPr algn="l"/>
                      <a:r>
                        <a:rPr sz="850" b="1">
                          <a:solidFill>
                            <a:srgbClr val="202020"/>
                          </a:solidFill>
                        </a:rPr>
                        <a:t>Intermediate Fusion</a:t>
                      </a:r>
                    </a:p>
                  </a:txBody>
                  <a:tcPr>
                    <a:solidFill>
                      <a:srgbClr val="FFFFFF"/>
                    </a:solidFill>
                  </a:tcPr>
                </a:tc>
                <a:tc>
                  <a:txBody>
                    <a:bodyPr/>
                    <a:lstStyle/>
                    <a:p>
                      <a:pPr algn="ctr"/>
                      <a:r>
                        <a:rPr sz="850" b="0">
                          <a:solidFill>
                            <a:srgbClr val="202020"/>
                          </a:solidFill>
                        </a:rPr>
                        <a:t>0.292 (TL B3)</a:t>
                      </a:r>
                    </a:p>
                  </a:txBody>
                  <a:tcPr>
                    <a:solidFill>
                      <a:srgbClr val="FFFFFF"/>
                    </a:solidFill>
                  </a:tcPr>
                </a:tc>
                <a:tc>
                  <a:txBody>
                    <a:bodyPr/>
                    <a:lstStyle/>
                    <a:p>
                      <a:pPr algn="ctr"/>
                      <a:r>
                        <a:rPr sz="850" b="0">
                          <a:solidFill>
                            <a:srgbClr val="202020"/>
                          </a:solidFill>
                        </a:rPr>
                        <a:t>0.521 (TL B3)</a:t>
                      </a:r>
                    </a:p>
                  </a:txBody>
                  <a:tcPr>
                    <a:solidFill>
                      <a:srgbClr val="FFFFFF"/>
                    </a:solidFill>
                  </a:tcPr>
                </a:tc>
                <a:tc>
                  <a:txBody>
                    <a:bodyPr/>
                    <a:lstStyle/>
                    <a:p>
                      <a:pPr algn="ctr"/>
                      <a:r>
                        <a:rPr sz="850" b="0">
                          <a:solidFill>
                            <a:srgbClr val="202020"/>
                          </a:solidFill>
                        </a:rPr>
                        <a:t>Feature (~50%)</a:t>
                      </a:r>
                    </a:p>
                  </a:txBody>
                  <a:tcPr>
                    <a:solidFill>
                      <a:srgbClr val="FFFFFF"/>
                    </a:solidFill>
                  </a:tcPr>
                </a:tc>
              </a:tr>
              <a:tr h="320040">
                <a:tc>
                  <a:txBody>
                    <a:bodyPr/>
                    <a:lstStyle/>
                    <a:p>
                      <a:pPr algn="l"/>
                      <a:r>
                        <a:rPr sz="850" b="1">
                          <a:solidFill>
                            <a:srgbClr val="202020"/>
                          </a:solidFill>
                        </a:rPr>
                        <a:t>Late Fusion</a:t>
                      </a:r>
                    </a:p>
                  </a:txBody>
                  <a:tcPr>
                    <a:solidFill>
                      <a:srgbClr val="E6F4EA"/>
                    </a:solidFill>
                  </a:tcPr>
                </a:tc>
                <a:tc>
                  <a:txBody>
                    <a:bodyPr/>
                    <a:lstStyle/>
                    <a:p>
                      <a:pPr algn="ctr"/>
                      <a:r>
                        <a:rPr sz="850" b="0">
                          <a:solidFill>
                            <a:srgbClr val="202020"/>
                          </a:solidFill>
                        </a:rPr>
                        <a:t>0.333 (Early TL B3)</a:t>
                      </a:r>
                    </a:p>
                  </a:txBody>
                  <a:tcPr>
                    <a:solidFill>
                      <a:srgbClr val="E6F4EA"/>
                    </a:solidFill>
                  </a:tcPr>
                </a:tc>
                <a:tc>
                  <a:txBody>
                    <a:bodyPr/>
                    <a:lstStyle/>
                    <a:p>
                      <a:pPr algn="ctr"/>
                      <a:r>
                        <a:rPr sz="850" b="0">
                          <a:solidFill>
                            <a:srgbClr val="202020"/>
                          </a:solidFill>
                        </a:rPr>
                        <a:t>0.521 (Inter TL B3) ★</a:t>
                      </a:r>
                    </a:p>
                  </a:txBody>
                  <a:tcPr>
                    <a:solidFill>
                      <a:srgbClr val="E6F4EA"/>
                    </a:solidFill>
                  </a:tcPr>
                </a:tc>
                <a:tc>
                  <a:txBody>
                    <a:bodyPr/>
                    <a:lstStyle/>
                    <a:p>
                      <a:pPr algn="ctr"/>
                      <a:r>
                        <a:rPr sz="850" b="0">
                          <a:solidFill>
                            <a:srgbClr val="202020"/>
                          </a:solidFill>
                        </a:rPr>
                        <a:t>Decision (~95%)</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100" b="1" i="0">
                <a:solidFill>
                  <a:srgbClr val="202020"/>
                </a:solidFill>
              </a:rPr>
              <a:t>Temuan (32-35)</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00" b="1" i="0">
                <a:solidFill>
                  <a:srgbClr val="0F9D58"/>
                </a:solidFill>
              </a:rPr>
              <a:t>Temuan 32: Early Fusion TL B3 tembus best di 7-class (0.333)</a:t>
            </a:r>
          </a:p>
          <a:p>
            <a:pPr algn="l"/>
            <a:r>
              <a:rPr sz="850" b="0" i="0">
                <a:solidFill>
                  <a:srgbClr val="202020"/>
                </a:solidFill>
              </a:rPr>
              <a:t>Melampaui Intermediate TL B3 (0.292) dan Late Fusion TL B1 (0.301). Kombinasi heatmap channel + class weights + augmentation + TL bekerja sinergis untuk 7-class.</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00" b="1" i="0">
                <a:solidFill>
                  <a:srgbClr val="B06800"/>
                </a:solidFill>
              </a:rPr>
              <a:t>Temuan 33: Early Fusion 4-class underperforms (0.471 vs 0.521 Intermediate TL)</a:t>
            </a:r>
          </a:p>
          <a:p>
            <a:pPr algn="l"/>
            <a:r>
              <a:rPr sz="850" b="0" i="0">
                <a:solidFill>
                  <a:srgbClr val="202020"/>
                </a:solidFill>
              </a:rPr>
              <a:t>Heatmap sparse (mostly zeros) kurang informatif ketika class granularity dikurangi; fusion di level feature/decision lebih optimal untuk kasus ini.</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00" b="1" i="0">
                <a:solidFill>
                  <a:srgbClr val="D93C3C"/>
                </a:solidFill>
              </a:rPr>
              <a:t>Temuan 34: B2 class weights merugikan Early Fusion konsisten</a:t>
            </a:r>
          </a:p>
          <a:p>
            <a:pPr algn="l"/>
            <a:r>
              <a:rPr sz="850" b="0" i="0">
                <a:solidFill>
                  <a:srgbClr val="202020"/>
                </a:solidFill>
              </a:rPr>
              <a:t>B2 drop accuracy ~30% vs B1 di semua Early Fusion config. Re-weighting loss merusak learning saat input 4-channel concat. Intermediate/Late Fusion tetap stabil dengan B2.</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00" b="1" i="0">
                <a:solidFill>
                  <a:srgbClr val="1A73E8"/>
                </a:solidFill>
              </a:rPr>
              <a:t>Temuan 35: Ranking fusion strategy berbeda per granularitas kelas</a:t>
            </a:r>
          </a:p>
          <a:p>
            <a:pPr algn="l"/>
            <a:r>
              <a:rPr sz="850" b="0" i="0">
                <a:solidFill>
                  <a:srgbClr val="202020"/>
                </a:solidFill>
              </a:rPr>
              <a:t>7-class: Early TL B3 &gt; Late TL B1 &gt; Intermediate TL B3.  4-class: Late TL B3 &gt; Intermediate TL B3 &gt; Early TL B1.  Tidak ada single strategy dominan — pemilihan tergantung konteks task.</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31: Cross-Dataset Evaluation Lengkap (Skema 2)</a:t>
            </a:r>
          </a:p>
        </p:txBody>
      </p:sp>
      <p:sp>
        <p:nvSpPr>
          <p:cNvPr id="4" name="TextBox 3"/>
          <p:cNvSpPr txBox="1"/>
          <p:nvPr/>
        </p:nvSpPr>
        <p:spPr>
          <a:xfrm>
            <a:off x="274320" y="548640"/>
            <a:ext cx="8595360" cy="502920"/>
          </a:xfrm>
          <a:prstGeom prst="rect">
            <a:avLst/>
          </a:prstGeom>
          <a:solidFill>
            <a:srgbClr val="E8F0FE"/>
          </a:solidFill>
        </p:spPr>
        <p:txBody>
          <a:bodyPr wrap="square">
            <a:spAutoFit/>
          </a:bodyPr>
          <a:lstStyle/>
          <a:p>
            <a:pPr algn="l"/>
            <a:r>
              <a:rPr sz="950" b="1" i="0">
                <a:solidFill>
                  <a:srgbClr val="1A73E8"/>
                </a:solidFill>
              </a:rPr>
              <a:t>Train di public FER benchmark → Test di Primer conf60 (929 imgs)</a:t>
            </a:r>
          </a:p>
          <a:p>
            <a:pPr algn="l"/>
            <a:r>
              <a:rPr sz="850" b="0" i="0">
                <a:solidFill>
                  <a:srgbClr val="202020"/>
                </a:solidFill>
              </a:rPr>
              <a:t>Melengkapi Skema 2: CK+/JAFFE/RAF-DB/KDEF × 7c/4c × 6 arsitektur. Sebelumnya hanya CK+ → Primer 7c yang ditabulasi lengkap.</a:t>
            </a:r>
          </a:p>
        </p:txBody>
      </p:sp>
      <p:sp>
        <p:nvSpPr>
          <p:cNvPr id="5" name="TextBox 4"/>
          <p:cNvSpPr txBox="1"/>
          <p:nvPr/>
        </p:nvSpPr>
        <p:spPr>
          <a:xfrm>
            <a:off x="274320" y="1143000"/>
            <a:ext cx="8595360" cy="228600"/>
          </a:xfrm>
          <a:prstGeom prst="rect">
            <a:avLst/>
          </a:prstGeom>
          <a:noFill/>
        </p:spPr>
        <p:txBody>
          <a:bodyPr wrap="none">
            <a:spAutoFit/>
          </a:bodyPr>
          <a:lstStyle/>
          <a:p>
            <a:pPr algn="l"/>
            <a:r>
              <a:rPr sz="1000" b="1" i="0">
                <a:solidFill>
                  <a:srgbClr val="1A73E8"/>
                </a:solidFill>
              </a:rPr>
              <a:t>Best Model per Source Dataset → Primer conf60</a:t>
            </a:r>
          </a:p>
        </p:txBody>
      </p:sp>
      <p:graphicFrame>
        <p:nvGraphicFramePr>
          <p:cNvPr id="6" name="Table 5"/>
          <p:cNvGraphicFramePr>
            <a:graphicFrameLocks noGrp="1"/>
          </p:cNvGraphicFramePr>
          <p:nvPr/>
        </p:nvGraphicFramePr>
        <p:xfrm>
          <a:off x="274320" y="1417320"/>
          <a:ext cx="8595360" cy="2560320"/>
        </p:xfrm>
        <a:graphic>
          <a:graphicData uri="http://schemas.openxmlformats.org/drawingml/2006/table">
            <a:tbl>
              <a:tblPr firstRow="1" bandRow="1"/>
              <a:tblGrid>
                <a:gridCol w="1504188"/>
                <a:gridCol w="2148840"/>
                <a:gridCol w="1181862"/>
                <a:gridCol w="1396746"/>
                <a:gridCol w="1181862"/>
                <a:gridCol w="1181862"/>
              </a:tblGrid>
              <a:tr h="284480">
                <a:tc>
                  <a:txBody>
                    <a:bodyPr/>
                    <a:lstStyle/>
                    <a:p>
                      <a:pPr algn="ctr"/>
                      <a:r>
                        <a:rPr sz="900" b="1">
                          <a:solidFill>
                            <a:srgbClr val="FFFFFF"/>
                          </a:solidFill>
                        </a:rPr>
                        <a:t>Source</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Acc</a:t>
                      </a:r>
                    </a:p>
                  </a:txBody>
                  <a:tcPr>
                    <a:solidFill>
                      <a:srgbClr val="1A73E8"/>
                    </a:solidFill>
                  </a:tcPr>
                </a:tc>
                <a:tc>
                  <a:txBody>
                    <a:bodyPr/>
                    <a:lstStyle/>
                    <a:p>
                      <a:pPr algn="ctr"/>
                      <a:r>
                        <a:rPr sz="900" b="1">
                          <a:solidFill>
                            <a:srgbClr val="FFFFFF"/>
                          </a:solidFill>
                        </a:rPr>
                        <a:t>Macro F1</a:t>
                      </a:r>
                    </a:p>
                  </a:txBody>
                  <a:tcPr>
                    <a:solidFill>
                      <a:srgbClr val="1A73E8"/>
                    </a:solidFill>
                  </a:tcPr>
                </a:tc>
                <a:tc>
                  <a:txBody>
                    <a:bodyPr/>
                    <a:lstStyle/>
                    <a:p>
                      <a:pPr algn="ctr"/>
                      <a:r>
                        <a:rPr sz="900" b="1">
                          <a:solidFill>
                            <a:srgbClr val="FFFFFF"/>
                          </a:solidFill>
                        </a:rPr>
                        <a:t>Micro F1</a:t>
                      </a:r>
                    </a:p>
                  </a:txBody>
                  <a:tcPr>
                    <a:solidFill>
                      <a:srgbClr val="1A73E8"/>
                    </a:solidFill>
                  </a:tcPr>
                </a:tc>
                <a:tc>
                  <a:txBody>
                    <a:bodyPr/>
                    <a:lstStyle/>
                    <a:p>
                      <a:pPr algn="ctr"/>
                      <a:r>
                        <a:rPr sz="900" b="1">
                          <a:solidFill>
                            <a:srgbClr val="FFFFFF"/>
                          </a:solidFill>
                        </a:rPr>
                        <a:t>W-F1</a:t>
                      </a:r>
                    </a:p>
                  </a:txBody>
                  <a:tcPr>
                    <a:solidFill>
                      <a:srgbClr val="1A73E8"/>
                    </a:solidFill>
                  </a:tcPr>
                </a:tc>
              </a:tr>
              <a:tr h="284480">
                <a:tc>
                  <a:txBody>
                    <a:bodyPr/>
                    <a:lstStyle/>
                    <a:p>
                      <a:pPr algn="l"/>
                      <a:r>
                        <a:rPr sz="850" b="1">
                          <a:solidFill>
                            <a:srgbClr val="202020"/>
                          </a:solidFill>
                        </a:rPr>
                        <a:t>CK+ 7c</a:t>
                      </a:r>
                    </a:p>
                  </a:txBody>
                  <a:tcPr>
                    <a:solidFill>
                      <a:srgbClr val="E8F0FE"/>
                    </a:solidFill>
                  </a:tcPr>
                </a:tc>
                <a:tc>
                  <a:txBody>
                    <a:bodyPr/>
                    <a:lstStyle/>
                    <a:p>
                      <a:pPr algn="ctr"/>
                      <a:r>
                        <a:rPr sz="850" b="0">
                          <a:solidFill>
                            <a:srgbClr val="202020"/>
                          </a:solidFill>
                        </a:rPr>
                        <a:t>FCNN</a:t>
                      </a:r>
                    </a:p>
                  </a:txBody>
                  <a:tcPr>
                    <a:solidFill>
                      <a:srgbClr val="E8F0FE"/>
                    </a:solidFill>
                  </a:tcPr>
                </a:tc>
                <a:tc>
                  <a:txBody>
                    <a:bodyPr/>
                    <a:lstStyle/>
                    <a:p>
                      <a:pPr algn="ctr"/>
                      <a:r>
                        <a:rPr sz="850" b="0">
                          <a:solidFill>
                            <a:srgbClr val="202020"/>
                          </a:solidFill>
                        </a:rPr>
                        <a:t>0.773</a:t>
                      </a:r>
                    </a:p>
                  </a:txBody>
                  <a:tcPr>
                    <a:solidFill>
                      <a:srgbClr val="E8F0FE"/>
                    </a:solidFill>
                  </a:tcPr>
                </a:tc>
                <a:tc>
                  <a:txBody>
                    <a:bodyPr/>
                    <a:lstStyle/>
                    <a:p>
                      <a:pPr algn="ctr"/>
                      <a:r>
                        <a:rPr sz="850" b="0">
                          <a:solidFill>
                            <a:srgbClr val="202020"/>
                          </a:solidFill>
                        </a:rPr>
                        <a:t>0.194</a:t>
                      </a:r>
                    </a:p>
                  </a:txBody>
                  <a:tcPr>
                    <a:solidFill>
                      <a:srgbClr val="E8F0FE"/>
                    </a:solidFill>
                  </a:tcPr>
                </a:tc>
                <a:tc>
                  <a:txBody>
                    <a:bodyPr/>
                    <a:lstStyle/>
                    <a:p>
                      <a:pPr algn="ctr"/>
                      <a:r>
                        <a:rPr sz="850" b="0">
                          <a:solidFill>
                            <a:srgbClr val="202020"/>
                          </a:solidFill>
                        </a:rPr>
                        <a:t>0.773</a:t>
                      </a:r>
                    </a:p>
                  </a:txBody>
                  <a:tcPr>
                    <a:solidFill>
                      <a:srgbClr val="E8F0FE"/>
                    </a:solidFill>
                  </a:tcPr>
                </a:tc>
                <a:tc>
                  <a:txBody>
                    <a:bodyPr/>
                    <a:lstStyle/>
                    <a:p>
                      <a:pPr algn="ctr"/>
                      <a:r>
                        <a:rPr sz="850" b="0">
                          <a:solidFill>
                            <a:srgbClr val="202020"/>
                          </a:solidFill>
                        </a:rPr>
                        <a:t>0.739</a:t>
                      </a:r>
                    </a:p>
                  </a:txBody>
                  <a:tcPr>
                    <a:solidFill>
                      <a:srgbClr val="E8F0FE"/>
                    </a:solidFill>
                  </a:tcPr>
                </a:tc>
              </a:tr>
              <a:tr h="284480">
                <a:tc>
                  <a:txBody>
                    <a:bodyPr/>
                    <a:lstStyle/>
                    <a:p>
                      <a:pPr algn="l"/>
                      <a:r>
                        <a:rPr sz="850" b="1">
                          <a:solidFill>
                            <a:srgbClr val="202020"/>
                          </a:solidFill>
                        </a:rPr>
                        <a:t>CK+ 4c</a:t>
                      </a:r>
                    </a:p>
                  </a:txBody>
                  <a:tcPr>
                    <a:solidFill>
                      <a:srgbClr val="E6F4EA"/>
                    </a:solidFill>
                  </a:tcPr>
                </a:tc>
                <a:tc>
                  <a:txBody>
                    <a:bodyPr/>
                    <a:lstStyle/>
                    <a:p>
                      <a:pPr algn="ctr"/>
                      <a:r>
                        <a:rPr sz="850" b="0">
                          <a:solidFill>
                            <a:srgbClr val="202020"/>
                          </a:solidFill>
                        </a:rPr>
                        <a:t>CNN</a:t>
                      </a:r>
                    </a:p>
                  </a:txBody>
                  <a:tcPr>
                    <a:solidFill>
                      <a:srgbClr val="E6F4EA"/>
                    </a:solidFill>
                  </a:tcPr>
                </a:tc>
                <a:tc>
                  <a:txBody>
                    <a:bodyPr/>
                    <a:lstStyle/>
                    <a:p>
                      <a:pPr algn="ctr"/>
                      <a:r>
                        <a:rPr sz="850" b="0">
                          <a:solidFill>
                            <a:srgbClr val="202020"/>
                          </a:solidFill>
                        </a:rPr>
                        <a:t>0.642</a:t>
                      </a:r>
                    </a:p>
                  </a:txBody>
                  <a:tcPr>
                    <a:solidFill>
                      <a:srgbClr val="E6F4EA"/>
                    </a:solidFill>
                  </a:tcPr>
                </a:tc>
                <a:tc>
                  <a:txBody>
                    <a:bodyPr/>
                    <a:lstStyle/>
                    <a:p>
                      <a:pPr algn="ctr"/>
                      <a:r>
                        <a:rPr sz="850" b="0">
                          <a:solidFill>
                            <a:srgbClr val="202020"/>
                          </a:solidFill>
                        </a:rPr>
                        <a:t>0.396 ★</a:t>
                      </a:r>
                    </a:p>
                  </a:txBody>
                  <a:tcPr>
                    <a:solidFill>
                      <a:srgbClr val="E6F4EA"/>
                    </a:solidFill>
                  </a:tcPr>
                </a:tc>
                <a:tc>
                  <a:txBody>
                    <a:bodyPr/>
                    <a:lstStyle/>
                    <a:p>
                      <a:pPr algn="ctr"/>
                      <a:r>
                        <a:rPr sz="850" b="0">
                          <a:solidFill>
                            <a:srgbClr val="202020"/>
                          </a:solidFill>
                        </a:rPr>
                        <a:t>0.642</a:t>
                      </a:r>
                    </a:p>
                  </a:txBody>
                  <a:tcPr>
                    <a:solidFill>
                      <a:srgbClr val="E6F4EA"/>
                    </a:solidFill>
                  </a:tcPr>
                </a:tc>
                <a:tc>
                  <a:txBody>
                    <a:bodyPr/>
                    <a:lstStyle/>
                    <a:p>
                      <a:pPr algn="ctr"/>
                      <a:r>
                        <a:rPr sz="850" b="0">
                          <a:solidFill>
                            <a:srgbClr val="202020"/>
                          </a:solidFill>
                        </a:rPr>
                        <a:t>0.703</a:t>
                      </a:r>
                    </a:p>
                  </a:txBody>
                  <a:tcPr>
                    <a:solidFill>
                      <a:srgbClr val="E6F4EA"/>
                    </a:solidFill>
                  </a:tcPr>
                </a:tc>
              </a:tr>
              <a:tr h="284480">
                <a:tc>
                  <a:txBody>
                    <a:bodyPr/>
                    <a:lstStyle/>
                    <a:p>
                      <a:pPr algn="l"/>
                      <a:r>
                        <a:rPr sz="850" b="1">
                          <a:solidFill>
                            <a:srgbClr val="202020"/>
                          </a:solidFill>
                        </a:rPr>
                        <a:t>JAFFE 7c</a:t>
                      </a:r>
                    </a:p>
                  </a:txBody>
                  <a:tcPr>
                    <a:solidFill>
                      <a:srgbClr val="E8F0FE"/>
                    </a:solidFill>
                  </a:tcPr>
                </a:tc>
                <a:tc>
                  <a:txBody>
                    <a:bodyPr/>
                    <a:lstStyle/>
                    <a:p>
                      <a:pPr algn="ctr"/>
                      <a:r>
                        <a:rPr sz="850" b="0">
                          <a:solidFill>
                            <a:srgbClr val="202020"/>
                          </a:solidFill>
                        </a:rPr>
                        <a:t>Late Fusion</a:t>
                      </a:r>
                    </a:p>
                  </a:txBody>
                  <a:tcPr>
                    <a:solidFill>
                      <a:srgbClr val="E8F0FE"/>
                    </a:solidFill>
                  </a:tcPr>
                </a:tc>
                <a:tc>
                  <a:txBody>
                    <a:bodyPr/>
                    <a:lstStyle/>
                    <a:p>
                      <a:pPr algn="ctr"/>
                      <a:r>
                        <a:rPr sz="850" b="0">
                          <a:solidFill>
                            <a:srgbClr val="202020"/>
                          </a:solidFill>
                        </a:rPr>
                        <a:t>0.081</a:t>
                      </a:r>
                    </a:p>
                  </a:txBody>
                  <a:tcPr>
                    <a:solidFill>
                      <a:srgbClr val="E8F0FE"/>
                    </a:solidFill>
                  </a:tcPr>
                </a:tc>
                <a:tc>
                  <a:txBody>
                    <a:bodyPr/>
                    <a:lstStyle/>
                    <a:p>
                      <a:pPr algn="ctr"/>
                      <a:r>
                        <a:rPr sz="850" b="0">
                          <a:solidFill>
                            <a:srgbClr val="202020"/>
                          </a:solidFill>
                        </a:rPr>
                        <a:t>0.040</a:t>
                      </a:r>
                    </a:p>
                  </a:txBody>
                  <a:tcPr>
                    <a:solidFill>
                      <a:srgbClr val="E8F0FE"/>
                    </a:solidFill>
                  </a:tcPr>
                </a:tc>
                <a:tc>
                  <a:txBody>
                    <a:bodyPr/>
                    <a:lstStyle/>
                    <a:p>
                      <a:pPr algn="ctr"/>
                      <a:r>
                        <a:rPr sz="850" b="0">
                          <a:solidFill>
                            <a:srgbClr val="202020"/>
                          </a:solidFill>
                        </a:rPr>
                        <a:t>0.081</a:t>
                      </a:r>
                    </a:p>
                  </a:txBody>
                  <a:tcPr>
                    <a:solidFill>
                      <a:srgbClr val="E8F0FE"/>
                    </a:solidFill>
                  </a:tcPr>
                </a:tc>
                <a:tc>
                  <a:txBody>
                    <a:bodyPr/>
                    <a:lstStyle/>
                    <a:p>
                      <a:pPr algn="ctr"/>
                      <a:r>
                        <a:rPr sz="850" b="0">
                          <a:solidFill>
                            <a:srgbClr val="202020"/>
                          </a:solidFill>
                        </a:rPr>
                        <a:t>0.054</a:t>
                      </a:r>
                    </a:p>
                  </a:txBody>
                  <a:tcPr>
                    <a:solidFill>
                      <a:srgbClr val="E8F0FE"/>
                    </a:solidFill>
                  </a:tcPr>
                </a:tc>
              </a:tr>
              <a:tr h="284480">
                <a:tc>
                  <a:txBody>
                    <a:bodyPr/>
                    <a:lstStyle/>
                    <a:p>
                      <a:pPr algn="l"/>
                      <a:r>
                        <a:rPr sz="850" b="1">
                          <a:solidFill>
                            <a:srgbClr val="202020"/>
                          </a:solidFill>
                        </a:rPr>
                        <a:t>JAFFE 4c</a:t>
                      </a:r>
                    </a:p>
                  </a:txBody>
                  <a:tcPr>
                    <a:solidFill>
                      <a:srgbClr val="FFFFFF"/>
                    </a:solidFill>
                  </a:tcPr>
                </a:tc>
                <a:tc>
                  <a:txBody>
                    <a:bodyPr/>
                    <a:lstStyle/>
                    <a:p>
                      <a:pPr algn="ctr"/>
                      <a:r>
                        <a:rPr sz="850" b="0">
                          <a:solidFill>
                            <a:srgbClr val="202020"/>
                          </a:solidFill>
                        </a:rPr>
                        <a:t>Intermediate TL</a:t>
                      </a:r>
                    </a:p>
                  </a:txBody>
                  <a:tcPr>
                    <a:solidFill>
                      <a:srgbClr val="FFFFFF"/>
                    </a:solidFill>
                  </a:tcPr>
                </a:tc>
                <a:tc>
                  <a:txBody>
                    <a:bodyPr/>
                    <a:lstStyle/>
                    <a:p>
                      <a:pPr algn="ctr"/>
                      <a:r>
                        <a:rPr sz="850" b="0">
                          <a:solidFill>
                            <a:srgbClr val="202020"/>
                          </a:solidFill>
                        </a:rPr>
                        <a:t>0.160</a:t>
                      </a:r>
                    </a:p>
                  </a:txBody>
                  <a:tcPr>
                    <a:solidFill>
                      <a:srgbClr val="FFFFFF"/>
                    </a:solidFill>
                  </a:tcPr>
                </a:tc>
                <a:tc>
                  <a:txBody>
                    <a:bodyPr/>
                    <a:lstStyle/>
                    <a:p>
                      <a:pPr algn="ctr"/>
                      <a:r>
                        <a:rPr sz="850" b="0">
                          <a:solidFill>
                            <a:srgbClr val="202020"/>
                          </a:solidFill>
                        </a:rPr>
                        <a:t>0.093</a:t>
                      </a:r>
                    </a:p>
                  </a:txBody>
                  <a:tcPr>
                    <a:solidFill>
                      <a:srgbClr val="FFFFFF"/>
                    </a:solidFill>
                  </a:tcPr>
                </a:tc>
                <a:tc>
                  <a:txBody>
                    <a:bodyPr/>
                    <a:lstStyle/>
                    <a:p>
                      <a:pPr algn="ctr"/>
                      <a:r>
                        <a:rPr sz="850" b="0">
                          <a:solidFill>
                            <a:srgbClr val="202020"/>
                          </a:solidFill>
                        </a:rPr>
                        <a:t>0.160</a:t>
                      </a:r>
                    </a:p>
                  </a:txBody>
                  <a:tcPr>
                    <a:solidFill>
                      <a:srgbClr val="FFFFFF"/>
                    </a:solidFill>
                  </a:tcPr>
                </a:tc>
                <a:tc>
                  <a:txBody>
                    <a:bodyPr/>
                    <a:lstStyle/>
                    <a:p>
                      <a:pPr algn="ctr"/>
                      <a:r>
                        <a:rPr sz="850" b="0">
                          <a:solidFill>
                            <a:srgbClr val="202020"/>
                          </a:solidFill>
                        </a:rPr>
                        <a:t>0.073</a:t>
                      </a:r>
                    </a:p>
                  </a:txBody>
                  <a:tcPr>
                    <a:solidFill>
                      <a:srgbClr val="FFFFFF"/>
                    </a:solidFill>
                  </a:tcPr>
                </a:tc>
              </a:tr>
              <a:tr h="284480">
                <a:tc>
                  <a:txBody>
                    <a:bodyPr/>
                    <a:lstStyle/>
                    <a:p>
                      <a:pPr algn="l"/>
                      <a:r>
                        <a:rPr sz="850" b="1">
                          <a:solidFill>
                            <a:srgbClr val="202020"/>
                          </a:solidFill>
                        </a:rPr>
                        <a:t>RAF-DB 7c</a:t>
                      </a:r>
                    </a:p>
                  </a:txBody>
                  <a:tcPr>
                    <a:solidFill>
                      <a:srgbClr val="E8F0FE"/>
                    </a:solidFill>
                  </a:tcPr>
                </a:tc>
                <a:tc>
                  <a:txBody>
                    <a:bodyPr/>
                    <a:lstStyle/>
                    <a:p>
                      <a:pPr algn="ctr"/>
                      <a:r>
                        <a:rPr sz="850" b="0">
                          <a:solidFill>
                            <a:srgbClr val="202020"/>
                          </a:solidFill>
                        </a:rPr>
                        <a:t>FCNN</a:t>
                      </a:r>
                    </a:p>
                  </a:txBody>
                  <a:tcPr>
                    <a:solidFill>
                      <a:srgbClr val="E8F0FE"/>
                    </a:solidFill>
                  </a:tcPr>
                </a:tc>
                <a:tc>
                  <a:txBody>
                    <a:bodyPr/>
                    <a:lstStyle/>
                    <a:p>
                      <a:pPr algn="ctr"/>
                      <a:r>
                        <a:rPr sz="850" b="0">
                          <a:solidFill>
                            <a:srgbClr val="202020"/>
                          </a:solidFill>
                        </a:rPr>
                        <a:t>0.640</a:t>
                      </a:r>
                    </a:p>
                  </a:txBody>
                  <a:tcPr>
                    <a:solidFill>
                      <a:srgbClr val="E8F0FE"/>
                    </a:solidFill>
                  </a:tcPr>
                </a:tc>
                <a:tc>
                  <a:txBody>
                    <a:bodyPr/>
                    <a:lstStyle/>
                    <a:p>
                      <a:pPr algn="ctr"/>
                      <a:r>
                        <a:rPr sz="850" b="0">
                          <a:solidFill>
                            <a:srgbClr val="202020"/>
                          </a:solidFill>
                        </a:rPr>
                        <a:t>0.183</a:t>
                      </a:r>
                    </a:p>
                  </a:txBody>
                  <a:tcPr>
                    <a:solidFill>
                      <a:srgbClr val="E8F0FE"/>
                    </a:solidFill>
                  </a:tcPr>
                </a:tc>
                <a:tc>
                  <a:txBody>
                    <a:bodyPr/>
                    <a:lstStyle/>
                    <a:p>
                      <a:pPr algn="ctr"/>
                      <a:r>
                        <a:rPr sz="850" b="0">
                          <a:solidFill>
                            <a:srgbClr val="202020"/>
                          </a:solidFill>
                        </a:rPr>
                        <a:t>0.640</a:t>
                      </a:r>
                    </a:p>
                  </a:txBody>
                  <a:tcPr>
                    <a:solidFill>
                      <a:srgbClr val="E8F0FE"/>
                    </a:solidFill>
                  </a:tcPr>
                </a:tc>
                <a:tc>
                  <a:txBody>
                    <a:bodyPr/>
                    <a:lstStyle/>
                    <a:p>
                      <a:pPr algn="ctr"/>
                      <a:r>
                        <a:rPr sz="850" b="0">
                          <a:solidFill>
                            <a:srgbClr val="202020"/>
                          </a:solidFill>
                        </a:rPr>
                        <a:t>0.672</a:t>
                      </a:r>
                    </a:p>
                  </a:txBody>
                  <a:tcPr>
                    <a:solidFill>
                      <a:srgbClr val="E8F0FE"/>
                    </a:solidFill>
                  </a:tcPr>
                </a:tc>
              </a:tr>
              <a:tr h="284480">
                <a:tc>
                  <a:txBody>
                    <a:bodyPr/>
                    <a:lstStyle/>
                    <a:p>
                      <a:pPr algn="l"/>
                      <a:r>
                        <a:rPr sz="850" b="1">
                          <a:solidFill>
                            <a:srgbClr val="202020"/>
                          </a:solidFill>
                        </a:rPr>
                        <a:t>RAF-DB 4c</a:t>
                      </a:r>
                    </a:p>
                  </a:txBody>
                  <a:tcPr>
                    <a:solidFill>
                      <a:srgbClr val="E6F4EA"/>
                    </a:solidFill>
                  </a:tcPr>
                </a:tc>
                <a:tc>
                  <a:txBody>
                    <a:bodyPr/>
                    <a:lstStyle/>
                    <a:p>
                      <a:pPr algn="ctr"/>
                      <a:r>
                        <a:rPr sz="850" b="0">
                          <a:solidFill>
                            <a:srgbClr val="202020"/>
                          </a:solidFill>
                        </a:rPr>
                        <a:t>Intermediate</a:t>
                      </a:r>
                    </a:p>
                  </a:txBody>
                  <a:tcPr>
                    <a:solidFill>
                      <a:srgbClr val="E6F4EA"/>
                    </a:solidFill>
                  </a:tcPr>
                </a:tc>
                <a:tc>
                  <a:txBody>
                    <a:bodyPr/>
                    <a:lstStyle/>
                    <a:p>
                      <a:pPr algn="ctr"/>
                      <a:r>
                        <a:rPr sz="850" b="0">
                          <a:solidFill>
                            <a:srgbClr val="202020"/>
                          </a:solidFill>
                        </a:rPr>
                        <a:t>0.551</a:t>
                      </a:r>
                    </a:p>
                  </a:txBody>
                  <a:tcPr>
                    <a:solidFill>
                      <a:srgbClr val="E6F4EA"/>
                    </a:solidFill>
                  </a:tcPr>
                </a:tc>
                <a:tc>
                  <a:txBody>
                    <a:bodyPr/>
                    <a:lstStyle/>
                    <a:p>
                      <a:pPr algn="ctr"/>
                      <a:r>
                        <a:rPr sz="850" b="0">
                          <a:solidFill>
                            <a:srgbClr val="202020"/>
                          </a:solidFill>
                        </a:rPr>
                        <a:t>0.269</a:t>
                      </a:r>
                    </a:p>
                  </a:txBody>
                  <a:tcPr>
                    <a:solidFill>
                      <a:srgbClr val="E6F4EA"/>
                    </a:solidFill>
                  </a:tcPr>
                </a:tc>
                <a:tc>
                  <a:txBody>
                    <a:bodyPr/>
                    <a:lstStyle/>
                    <a:p>
                      <a:pPr algn="ctr"/>
                      <a:r>
                        <a:rPr sz="850" b="0">
                          <a:solidFill>
                            <a:srgbClr val="202020"/>
                          </a:solidFill>
                        </a:rPr>
                        <a:t>0.551</a:t>
                      </a:r>
                    </a:p>
                  </a:txBody>
                  <a:tcPr>
                    <a:solidFill>
                      <a:srgbClr val="E6F4EA"/>
                    </a:solidFill>
                  </a:tcPr>
                </a:tc>
                <a:tc>
                  <a:txBody>
                    <a:bodyPr/>
                    <a:lstStyle/>
                    <a:p>
                      <a:pPr algn="ctr"/>
                      <a:r>
                        <a:rPr sz="850" b="0">
                          <a:solidFill>
                            <a:srgbClr val="202020"/>
                          </a:solidFill>
                        </a:rPr>
                        <a:t>0.594</a:t>
                      </a:r>
                    </a:p>
                  </a:txBody>
                  <a:tcPr>
                    <a:solidFill>
                      <a:srgbClr val="E6F4EA"/>
                    </a:solidFill>
                  </a:tcPr>
                </a:tc>
              </a:tr>
              <a:tr h="284480">
                <a:tc>
                  <a:txBody>
                    <a:bodyPr/>
                    <a:lstStyle/>
                    <a:p>
                      <a:pPr algn="l"/>
                      <a:r>
                        <a:rPr sz="850" b="1">
                          <a:solidFill>
                            <a:srgbClr val="202020"/>
                          </a:solidFill>
                        </a:rPr>
                        <a:t>KDEF 7c</a:t>
                      </a:r>
                    </a:p>
                  </a:txBody>
                  <a:tcPr>
                    <a:solidFill>
                      <a:srgbClr val="E8F0FE"/>
                    </a:solidFill>
                  </a:tcPr>
                </a:tc>
                <a:tc>
                  <a:txBody>
                    <a:bodyPr/>
                    <a:lstStyle/>
                    <a:p>
                      <a:pPr algn="ctr"/>
                      <a:r>
                        <a:rPr sz="850" b="0">
                          <a:solidFill>
                            <a:srgbClr val="202020"/>
                          </a:solidFill>
                        </a:rPr>
                        <a:t>CNN TL</a:t>
                      </a:r>
                    </a:p>
                  </a:txBody>
                  <a:tcPr>
                    <a:solidFill>
                      <a:srgbClr val="E8F0FE"/>
                    </a:solidFill>
                  </a:tcPr>
                </a:tc>
                <a:tc>
                  <a:txBody>
                    <a:bodyPr/>
                    <a:lstStyle/>
                    <a:p>
                      <a:pPr algn="ctr"/>
                      <a:r>
                        <a:rPr sz="850" b="0">
                          <a:solidFill>
                            <a:srgbClr val="202020"/>
                          </a:solidFill>
                        </a:rPr>
                        <a:t>0.053</a:t>
                      </a:r>
                    </a:p>
                  </a:txBody>
                  <a:tcPr>
                    <a:solidFill>
                      <a:srgbClr val="E8F0FE"/>
                    </a:solidFill>
                  </a:tcPr>
                </a:tc>
                <a:tc>
                  <a:txBody>
                    <a:bodyPr/>
                    <a:lstStyle/>
                    <a:p>
                      <a:pPr algn="ctr"/>
                      <a:r>
                        <a:rPr sz="850" b="0">
                          <a:solidFill>
                            <a:srgbClr val="202020"/>
                          </a:solidFill>
                        </a:rPr>
                        <a:t>0.038</a:t>
                      </a:r>
                    </a:p>
                  </a:txBody>
                  <a:tcPr>
                    <a:solidFill>
                      <a:srgbClr val="E8F0FE"/>
                    </a:solidFill>
                  </a:tcPr>
                </a:tc>
                <a:tc>
                  <a:txBody>
                    <a:bodyPr/>
                    <a:lstStyle/>
                    <a:p>
                      <a:pPr algn="ctr"/>
                      <a:r>
                        <a:rPr sz="850" b="0">
                          <a:solidFill>
                            <a:srgbClr val="202020"/>
                          </a:solidFill>
                        </a:rPr>
                        <a:t>0.053</a:t>
                      </a:r>
                    </a:p>
                  </a:txBody>
                  <a:tcPr>
                    <a:solidFill>
                      <a:srgbClr val="E8F0FE"/>
                    </a:solidFill>
                  </a:tcPr>
                </a:tc>
                <a:tc>
                  <a:txBody>
                    <a:bodyPr/>
                    <a:lstStyle/>
                    <a:p>
                      <a:pPr algn="ctr"/>
                      <a:r>
                        <a:rPr sz="850" b="0">
                          <a:solidFill>
                            <a:srgbClr val="202020"/>
                          </a:solidFill>
                        </a:rPr>
                        <a:t>0.036</a:t>
                      </a:r>
                    </a:p>
                  </a:txBody>
                  <a:tcPr>
                    <a:solidFill>
                      <a:srgbClr val="E8F0FE"/>
                    </a:solidFill>
                  </a:tcPr>
                </a:tc>
              </a:tr>
              <a:tr h="284480">
                <a:tc>
                  <a:txBody>
                    <a:bodyPr/>
                    <a:lstStyle/>
                    <a:p>
                      <a:pPr algn="l"/>
                      <a:r>
                        <a:rPr sz="850" b="1">
                          <a:solidFill>
                            <a:srgbClr val="202020"/>
                          </a:solidFill>
                        </a:rPr>
                        <a:t>KDEF 4c</a:t>
                      </a:r>
                    </a:p>
                  </a:txBody>
                  <a:tcPr>
                    <a:solidFill>
                      <a:srgbClr val="FFFFFF"/>
                    </a:solidFill>
                  </a:tcPr>
                </a:tc>
                <a:tc>
                  <a:txBody>
                    <a:bodyPr/>
                    <a:lstStyle/>
                    <a:p>
                      <a:pPr algn="ctr"/>
                      <a:r>
                        <a:rPr sz="850" b="0">
                          <a:solidFill>
                            <a:srgbClr val="202020"/>
                          </a:solidFill>
                        </a:rPr>
                        <a:t>CNN</a:t>
                      </a:r>
                    </a:p>
                  </a:txBody>
                  <a:tcPr>
                    <a:solidFill>
                      <a:srgbClr val="FFFFFF"/>
                    </a:solidFill>
                  </a:tcPr>
                </a:tc>
                <a:tc>
                  <a:txBody>
                    <a:bodyPr/>
                    <a:lstStyle/>
                    <a:p>
                      <a:pPr algn="ctr"/>
                      <a:r>
                        <a:rPr sz="850" b="0">
                          <a:solidFill>
                            <a:srgbClr val="202020"/>
                          </a:solidFill>
                        </a:rPr>
                        <a:t>0.067</a:t>
                      </a:r>
                    </a:p>
                  </a:txBody>
                  <a:tcPr>
                    <a:solidFill>
                      <a:srgbClr val="FFFFFF"/>
                    </a:solidFill>
                  </a:tcPr>
                </a:tc>
                <a:tc>
                  <a:txBody>
                    <a:bodyPr/>
                    <a:lstStyle/>
                    <a:p>
                      <a:pPr algn="ctr"/>
                      <a:r>
                        <a:rPr sz="850" b="0">
                          <a:solidFill>
                            <a:srgbClr val="202020"/>
                          </a:solidFill>
                        </a:rPr>
                        <a:t>0.079</a:t>
                      </a:r>
                    </a:p>
                  </a:txBody>
                  <a:tcPr>
                    <a:solidFill>
                      <a:srgbClr val="FFFFFF"/>
                    </a:solidFill>
                  </a:tcPr>
                </a:tc>
                <a:tc>
                  <a:txBody>
                    <a:bodyPr/>
                    <a:lstStyle/>
                    <a:p>
                      <a:pPr algn="ctr"/>
                      <a:r>
                        <a:rPr sz="850" b="0">
                          <a:solidFill>
                            <a:srgbClr val="202020"/>
                          </a:solidFill>
                        </a:rPr>
                        <a:t>0.067</a:t>
                      </a:r>
                    </a:p>
                  </a:txBody>
                  <a:tcPr>
                    <a:solidFill>
                      <a:srgbClr val="FFFFFF"/>
                    </a:solidFill>
                  </a:tcPr>
                </a:tc>
                <a:tc>
                  <a:txBody>
                    <a:bodyPr/>
                    <a:lstStyle/>
                    <a:p>
                      <a:pPr algn="ctr"/>
                      <a:r>
                        <a:rPr sz="850" b="0">
                          <a:solidFill>
                            <a:srgbClr val="202020"/>
                          </a:solidFill>
                        </a:rPr>
                        <a:t>0.078</a:t>
                      </a:r>
                    </a:p>
                  </a:txBody>
                  <a:tcPr>
                    <a:solidFill>
                      <a:srgbClr val="FFFFFF"/>
                    </a:solidFill>
                  </a:tcPr>
                </a:tc>
              </a:tr>
            </a:tbl>
          </a:graphicData>
        </a:graphic>
      </p:graphicFrame>
      <p:sp>
        <p:nvSpPr>
          <p:cNvPr id="7" name="TextBox 6"/>
          <p:cNvSpPr txBox="1"/>
          <p:nvPr/>
        </p:nvSpPr>
        <p:spPr>
          <a:xfrm>
            <a:off x="274320" y="4114800"/>
            <a:ext cx="8595360" cy="274320"/>
          </a:xfrm>
          <a:prstGeom prst="rect">
            <a:avLst/>
          </a:prstGeom>
          <a:noFill/>
        </p:spPr>
        <p:txBody>
          <a:bodyPr wrap="none">
            <a:spAutoFit/>
          </a:bodyPr>
          <a:lstStyle/>
          <a:p>
            <a:pPr algn="l"/>
            <a:r>
              <a:rPr sz="1100" b="1" i="0">
                <a:solidFill>
                  <a:srgbClr val="202020"/>
                </a:solidFill>
              </a:rPr>
              <a:t>Temuan (36-40)</a:t>
            </a:r>
          </a:p>
        </p:txBody>
      </p:sp>
      <p:sp>
        <p:nvSpPr>
          <p:cNvPr id="8" name="TextBox 7"/>
          <p:cNvSpPr txBox="1"/>
          <p:nvPr/>
        </p:nvSpPr>
        <p:spPr>
          <a:xfrm>
            <a:off x="274320" y="4407408"/>
            <a:ext cx="4206240" cy="1463040"/>
          </a:xfrm>
          <a:prstGeom prst="rect">
            <a:avLst/>
          </a:prstGeom>
          <a:solidFill>
            <a:srgbClr val="FCE8E6"/>
          </a:solidFill>
        </p:spPr>
        <p:txBody>
          <a:bodyPr wrap="square">
            <a:spAutoFit/>
          </a:bodyPr>
          <a:lstStyle/>
          <a:p>
            <a:pPr algn="l"/>
            <a:r>
              <a:rPr sz="900" b="1" i="0">
                <a:solidFill>
                  <a:srgbClr val="D93C3C"/>
                </a:solidFill>
              </a:rPr>
              <a:t>T36: Semua source gagal generalize</a:t>
            </a:r>
          </a:p>
          <a:p>
            <a:pPr algn="l"/>
            <a:r>
              <a:rPr sz="800" b="0" i="0">
                <a:solidFill>
                  <a:srgbClr val="202020"/>
                </a:solidFill>
              </a:rPr>
              <a:t>Best cross hanya 0.396 (CK+ 4c → Primer dengan CNN B1). Vs Primer self-training best 0.521 — gap -0.17.</a:t>
            </a:r>
          </a:p>
          <a:p>
            <a:pPr algn="l"/>
            <a:r>
              <a:rPr sz="900" b="1" i="0">
                <a:solidFill>
                  <a:srgbClr val="D93C3C"/>
                </a:solidFill>
              </a:rPr>
              <a:t>
T39: JAFFE/KDEF → Primer catastrophic</a:t>
            </a:r>
          </a:p>
          <a:p>
            <a:pPr algn="l"/>
            <a:r>
              <a:rPr sz="800" b="0" i="0">
                <a:solidFill>
                  <a:srgbClr val="202020"/>
                </a:solidFill>
              </a:rPr>
              <a:t>JAFFE &lt; 10% acc. KDEF 5-7% acc. Lab-posed dataset tidak transferable sama sekali ke natural.</a:t>
            </a:r>
          </a:p>
        </p:txBody>
      </p:sp>
      <p:sp>
        <p:nvSpPr>
          <p:cNvPr id="9" name="TextBox 8"/>
          <p:cNvSpPr txBox="1"/>
          <p:nvPr/>
        </p:nvSpPr>
        <p:spPr>
          <a:xfrm>
            <a:off x="4617720" y="4407408"/>
            <a:ext cx="4206240" cy="1463040"/>
          </a:xfrm>
          <a:prstGeom prst="rect">
            <a:avLst/>
          </a:prstGeom>
          <a:solidFill>
            <a:srgbClr val="E6F4EA"/>
          </a:solidFill>
        </p:spPr>
        <p:txBody>
          <a:bodyPr wrap="square">
            <a:spAutoFit/>
          </a:bodyPr>
          <a:lstStyle/>
          <a:p>
            <a:pPr algn="l"/>
            <a:r>
              <a:rPr sz="900" b="1" i="0">
                <a:solidFill>
                  <a:srgbClr val="0F9D58"/>
                </a:solidFill>
              </a:rPr>
              <a:t>T38: Landmark &gt; Visual untuk domain shift</a:t>
            </a:r>
          </a:p>
          <a:p>
            <a:pPr algn="l"/>
            <a:r>
              <a:rPr sz="800" b="0" i="0">
                <a:solidFill>
                  <a:srgbClr val="202020"/>
                </a:solidFill>
              </a:rPr>
              <a:t>FCNN (landmark-only) best di CK+ 7c dan RAF-DB 7c → Primer. Landmark geometry lebih tahan domain shift.</a:t>
            </a:r>
          </a:p>
          <a:p>
            <a:pPr algn="l"/>
            <a:r>
              <a:rPr sz="900" b="1" i="0">
                <a:solidFill>
                  <a:srgbClr val="0F9D58"/>
                </a:solidFill>
              </a:rPr>
              <a:t>
T40: Justifikasi tesis &amp; paper kuat</a:t>
            </a:r>
          </a:p>
          <a:p>
            <a:pPr algn="l"/>
            <a:r>
              <a:rPr sz="800" b="0" i="0">
                <a:solidFill>
                  <a:srgbClr val="202020"/>
                </a:solidFill>
              </a:rPr>
              <a:t>Transfer learning dari public FER tidak viable untuk natural programming. Solusi: Primer self-training + conf60 + fusion + aug.</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Skema 1 Lengkap — CK+ (+ Late Fusion TL)</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5" name="TextBox 4"/>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CK+ 7-Class</a:t>
            </a:r>
          </a:p>
        </p:txBody>
      </p:sp>
      <p:graphicFrame>
        <p:nvGraphicFramePr>
          <p:cNvPr id="6" name="Table 5"/>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0.461</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0.659</a:t>
                      </a:r>
                    </a:p>
                  </a:txBody>
                  <a:tcPr>
                    <a:solidFill>
                      <a:srgbClr val="E8F0FE"/>
                    </a:solidFill>
                  </a:tcPr>
                </a:tc>
                <a:tc>
                  <a:txBody>
                    <a:bodyPr/>
                    <a:lstStyle/>
                    <a:p>
                      <a:pPr algn="ctr"/>
                      <a:r>
                        <a:rPr sz="750" b="0">
                          <a:solidFill>
                            <a:srgbClr val="202020"/>
                          </a:solidFill>
                        </a:rPr>
                        <a:t>0.729</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0.395</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0.614</a:t>
                      </a:r>
                    </a:p>
                  </a:txBody>
                  <a:tcPr>
                    <a:solidFill>
                      <a:srgbClr val="FFFFFF"/>
                    </a:solidFill>
                  </a:tcPr>
                </a:tc>
                <a:tc>
                  <a:txBody>
                    <a:bodyPr/>
                    <a:lstStyle/>
                    <a:p>
                      <a:pPr algn="ctr"/>
                      <a:r>
                        <a:rPr sz="750" b="0">
                          <a:solidFill>
                            <a:srgbClr val="202020"/>
                          </a:solidFill>
                        </a:rPr>
                        <a:t>0.678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0.316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0.585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0.913</a:t>
                      </a:r>
                    </a:p>
                  </a:txBody>
                  <a:tcPr>
                    <a:solidFill>
                      <a:srgbClr val="E6F4EA"/>
                    </a:solidFill>
                  </a:tcPr>
                </a:tc>
                <a:tc>
                  <a:txBody>
                    <a:bodyPr/>
                    <a:lstStyle/>
                    <a:p>
                      <a:pPr algn="ctr"/>
                      <a:r>
                        <a:rPr sz="750" b="0">
                          <a:solidFill>
                            <a:srgbClr val="202020"/>
                          </a:solidFill>
                        </a:rPr>
                        <a:t>0.949</a:t>
                      </a:r>
                    </a:p>
                  </a:txBody>
                  <a:tcPr>
                    <a:solidFill>
                      <a:srgbClr val="E6F4EA"/>
                    </a:solidFill>
                  </a:tcPr>
                </a:tc>
                <a:tc>
                  <a:txBody>
                    <a:bodyPr/>
                    <a:lstStyle/>
                    <a:p>
                      <a:pPr algn="ctr"/>
                      <a:r>
                        <a:rPr sz="750" b="0">
                          <a:solidFill>
                            <a:srgbClr val="202020"/>
                          </a:solidFill>
                        </a:rPr>
                        <a:t>0.946</a:t>
                      </a:r>
                    </a:p>
                  </a:txBody>
                  <a:tcPr>
                    <a:solidFill>
                      <a:srgbClr val="E6F4EA"/>
                    </a:solidFill>
                  </a:tcPr>
                </a:tc>
                <a:tc>
                  <a:txBody>
                    <a:bodyPr/>
                    <a:lstStyle/>
                    <a:p>
                      <a:pPr algn="ctr"/>
                      <a:r>
                        <a:rPr sz="750" b="0">
                          <a:solidFill>
                            <a:srgbClr val="202020"/>
                          </a:solidFill>
                        </a:rPr>
                        <a:t>0.949</a:t>
                      </a:r>
                    </a:p>
                  </a:txBody>
                  <a:tcPr>
                    <a:solidFill>
                      <a:srgbClr val="E6F4EA"/>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0.833</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0.886</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0.494</a:t>
                      </a:r>
                    </a:p>
                  </a:txBody>
                  <a:tcPr>
                    <a:solidFill>
                      <a:srgbClr val="FFFFFF"/>
                    </a:solidFill>
                  </a:tcPr>
                </a:tc>
                <a:tc>
                  <a:txBody>
                    <a:bodyPr/>
                    <a:lstStyle/>
                    <a:p>
                      <a:pPr algn="ctr"/>
                      <a:r>
                        <a:rPr sz="750" b="0">
                          <a:solidFill>
                            <a:srgbClr val="202020"/>
                          </a:solidFill>
                        </a:rPr>
                        <a:t>0.780</a:t>
                      </a:r>
                    </a:p>
                  </a:txBody>
                  <a:tcPr>
                    <a:solidFill>
                      <a:srgbClr val="FFFFFF"/>
                    </a:solidFill>
                  </a:tcPr>
                </a:tc>
                <a:tc>
                  <a:txBody>
                    <a:bodyPr/>
                    <a:lstStyle/>
                    <a:p>
                      <a:pPr algn="ctr"/>
                      <a:r>
                        <a:rPr sz="750" b="0">
                          <a:solidFill>
                            <a:srgbClr val="202020"/>
                          </a:solidFill>
                        </a:rPr>
                        <a:t>0.691</a:t>
                      </a:r>
                    </a:p>
                  </a:txBody>
                  <a:tcPr>
                    <a:solidFill>
                      <a:srgbClr val="FFFFFF"/>
                    </a:solidFill>
                  </a:tcPr>
                </a:tc>
                <a:tc>
                  <a:txBody>
                    <a:bodyPr/>
                    <a:lstStyle/>
                    <a:p>
                      <a:pPr algn="ctr"/>
                      <a:r>
                        <a:rPr sz="750" b="0">
                          <a:solidFill>
                            <a:srgbClr val="202020"/>
                          </a:solidFill>
                        </a:rPr>
                        <a:t>0.780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0.835</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0.890</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0.446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0.665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0.762</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r>
            </a:tbl>
          </a:graphicData>
        </a:graphic>
      </p:graphicFrame>
      <p:sp>
        <p:nvSpPr>
          <p:cNvPr id="7" name="TextBox 6"/>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CK+ 4-Class</a:t>
            </a:r>
          </a:p>
        </p:txBody>
      </p:sp>
      <p:graphicFrame>
        <p:nvGraphicFramePr>
          <p:cNvPr id="8" name="Table 7"/>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0.645</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0.790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0.592</a:t>
                      </a:r>
                    </a:p>
                  </a:txBody>
                  <a:tcPr>
                    <a:solidFill>
                      <a:srgbClr val="FFFFFF"/>
                    </a:solidFill>
                  </a:tcPr>
                </a:tc>
                <a:tc>
                  <a:txBody>
                    <a:bodyPr/>
                    <a:lstStyle/>
                    <a:p>
                      <a:pPr algn="ctr"/>
                      <a:r>
                        <a:rPr sz="750" b="0">
                          <a:solidFill>
                            <a:srgbClr val="202020"/>
                          </a:solidFill>
                        </a:rPr>
                        <a:t>0.758</a:t>
                      </a:r>
                    </a:p>
                  </a:txBody>
                  <a:tcPr>
                    <a:solidFill>
                      <a:srgbClr val="FFFFFF"/>
                    </a:solidFill>
                  </a:tcPr>
                </a:tc>
                <a:tc>
                  <a:txBody>
                    <a:bodyPr/>
                    <a:lstStyle/>
                    <a:p>
                      <a:pPr algn="ctr"/>
                      <a:r>
                        <a:rPr sz="750" b="0">
                          <a:solidFill>
                            <a:srgbClr val="202020"/>
                          </a:solidFill>
                        </a:rPr>
                        <a:t>0.740</a:t>
                      </a:r>
                    </a:p>
                  </a:txBody>
                  <a:tcPr>
                    <a:solidFill>
                      <a:srgbClr val="FFFFFF"/>
                    </a:solidFill>
                  </a:tcPr>
                </a:tc>
                <a:tc>
                  <a:txBody>
                    <a:bodyPr/>
                    <a:lstStyle/>
                    <a:p>
                      <a:pPr algn="ctr"/>
                      <a:r>
                        <a:rPr sz="750" b="0">
                          <a:solidFill>
                            <a:srgbClr val="202020"/>
                          </a:solidFill>
                        </a:rPr>
                        <a:t>0.758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0.567</a:t>
                      </a:r>
                    </a:p>
                  </a:txBody>
                  <a:tcPr>
                    <a:solidFill>
                      <a:srgbClr val="E8F0FE"/>
                    </a:solidFill>
                  </a:tcPr>
                </a:tc>
                <a:tc>
                  <a:txBody>
                    <a:bodyPr/>
                    <a:lstStyle/>
                    <a:p>
                      <a:pPr algn="ctr"/>
                      <a:r>
                        <a:rPr sz="750" b="0">
                          <a:solidFill>
                            <a:srgbClr val="202020"/>
                          </a:solidFill>
                        </a:rPr>
                        <a:t>0.758</a:t>
                      </a:r>
                    </a:p>
                  </a:txBody>
                  <a:tcPr>
                    <a:solidFill>
                      <a:srgbClr val="E8F0FE"/>
                    </a:solidFill>
                  </a:tcPr>
                </a:tc>
                <a:tc>
                  <a:txBody>
                    <a:bodyPr/>
                    <a:lstStyle/>
                    <a:p>
                      <a:pPr algn="ctr"/>
                      <a:r>
                        <a:rPr sz="750" b="0">
                          <a:solidFill>
                            <a:srgbClr val="202020"/>
                          </a:solidFill>
                        </a:rPr>
                        <a:t>0.740</a:t>
                      </a:r>
                    </a:p>
                  </a:txBody>
                  <a:tcPr>
                    <a:solidFill>
                      <a:srgbClr val="E8F0FE"/>
                    </a:solidFill>
                  </a:tcPr>
                </a:tc>
                <a:tc>
                  <a:txBody>
                    <a:bodyPr/>
                    <a:lstStyle/>
                    <a:p>
                      <a:pPr algn="ctr"/>
                      <a:r>
                        <a:rPr sz="750" b="0">
                          <a:solidFill>
                            <a:srgbClr val="202020"/>
                          </a:solidFill>
                        </a:rPr>
                        <a:t>0.758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0.675</a:t>
                      </a:r>
                    </a:p>
                  </a:txBody>
                  <a:tcPr>
                    <a:solidFill>
                      <a:srgbClr val="FFFFFF"/>
                    </a:solidFill>
                  </a:tcPr>
                </a:tc>
                <a:tc>
                  <a:txBody>
                    <a:bodyPr/>
                    <a:lstStyle/>
                    <a:p>
                      <a:pPr algn="ctr"/>
                      <a:r>
                        <a:rPr sz="750" b="0">
                          <a:solidFill>
                            <a:srgbClr val="202020"/>
                          </a:solidFill>
                        </a:rPr>
                        <a:t>0.903</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0.903</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0.837</a:t>
                      </a:r>
                    </a:p>
                  </a:txBody>
                  <a:tcPr>
                    <a:solidFill>
                      <a:srgbClr val="E6F4EA"/>
                    </a:solidFill>
                  </a:tcPr>
                </a:tc>
                <a:tc>
                  <a:txBody>
                    <a:bodyPr/>
                    <a:lstStyle/>
                    <a:p>
                      <a:pPr algn="ctr"/>
                      <a:r>
                        <a:rPr sz="750" b="0">
                          <a:solidFill>
                            <a:srgbClr val="202020"/>
                          </a:solidFill>
                        </a:rPr>
                        <a:t>0.903</a:t>
                      </a:r>
                    </a:p>
                  </a:txBody>
                  <a:tcPr>
                    <a:solidFill>
                      <a:srgbClr val="E6F4EA"/>
                    </a:solidFill>
                  </a:tcPr>
                </a:tc>
                <a:tc>
                  <a:txBody>
                    <a:bodyPr/>
                    <a:lstStyle/>
                    <a:p>
                      <a:pPr algn="ctr"/>
                      <a:r>
                        <a:rPr sz="750" b="0">
                          <a:solidFill>
                            <a:srgbClr val="202020"/>
                          </a:solidFill>
                        </a:rPr>
                        <a:t>0.902</a:t>
                      </a:r>
                    </a:p>
                  </a:txBody>
                  <a:tcPr>
                    <a:solidFill>
                      <a:srgbClr val="E6F4EA"/>
                    </a:solidFill>
                  </a:tcPr>
                </a:tc>
                <a:tc>
                  <a:txBody>
                    <a:bodyPr/>
                    <a:lstStyle/>
                    <a:p>
                      <a:pPr algn="ctr"/>
                      <a:r>
                        <a:rPr sz="750" b="0">
                          <a:solidFill>
                            <a:srgbClr val="202020"/>
                          </a:solidFill>
                        </a:rPr>
                        <a:t>0.903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0.537</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0.681</a:t>
                      </a:r>
                    </a:p>
                  </a:txBody>
                  <a:tcPr>
                    <a:solidFill>
                      <a:srgbClr val="FFFFFF"/>
                    </a:solidFill>
                  </a:tcPr>
                </a:tc>
                <a:tc>
                  <a:txBody>
                    <a:bodyPr/>
                    <a:lstStyle/>
                    <a:p>
                      <a:pPr algn="ctr"/>
                      <a:r>
                        <a:rPr sz="750" b="0">
                          <a:solidFill>
                            <a:srgbClr val="202020"/>
                          </a:solidFill>
                        </a:rPr>
                        <a:t>0.694</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0.604</a:t>
                      </a:r>
                    </a:p>
                  </a:txBody>
                  <a:tcPr>
                    <a:solidFill>
                      <a:srgbClr val="E8F0FE"/>
                    </a:solidFill>
                  </a:tcPr>
                </a:tc>
                <a:tc>
                  <a:txBody>
                    <a:bodyPr/>
                    <a:lstStyle/>
                    <a:p>
                      <a:pPr algn="ctr"/>
                      <a:r>
                        <a:rPr sz="750" b="0">
                          <a:solidFill>
                            <a:srgbClr val="202020"/>
                          </a:solidFill>
                        </a:rPr>
                        <a:t>0.806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0.806</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0.507</a:t>
                      </a:r>
                    </a:p>
                  </a:txBody>
                  <a:tcPr>
                    <a:solidFill>
                      <a:srgbClr val="E8F0FE"/>
                    </a:solidFill>
                  </a:tcPr>
                </a:tc>
                <a:tc>
                  <a:txBody>
                    <a:bodyPr/>
                    <a:lstStyle/>
                    <a:p>
                      <a:pPr algn="ctr"/>
                      <a:r>
                        <a:rPr sz="750" b="0">
                          <a:solidFill>
                            <a:srgbClr val="202020"/>
                          </a:solidFill>
                        </a:rPr>
                        <a:t>0.694</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0.694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0.871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0.871</a:t>
                      </a:r>
                    </a:p>
                  </a:txBody>
                  <a:tcPr>
                    <a:solidFill>
                      <a:srgbClr val="E8F0FE"/>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RAF-DB</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7-Class</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0.815</a:t>
                      </a:r>
                    </a:p>
                  </a:txBody>
                  <a:tcPr>
                    <a:solidFill>
                      <a:srgbClr val="E8F0FE"/>
                    </a:solidFill>
                  </a:tcPr>
                </a:tc>
                <a:tc>
                  <a:txBody>
                    <a:bodyPr/>
                    <a:lstStyle/>
                    <a:p>
                      <a:pPr algn="ctr"/>
                      <a:r>
                        <a:rPr sz="750" b="0">
                          <a:solidFill>
                            <a:srgbClr val="202020"/>
                          </a:solidFill>
                        </a:rPr>
                        <a:t>0.813</a:t>
                      </a:r>
                    </a:p>
                  </a:txBody>
                  <a:tcPr>
                    <a:solidFill>
                      <a:srgbClr val="E8F0FE"/>
                    </a:solidFill>
                  </a:tcPr>
                </a:tc>
                <a:tc>
                  <a:txBody>
                    <a:bodyPr/>
                    <a:lstStyle/>
                    <a:p>
                      <a:pPr algn="ctr"/>
                      <a:r>
                        <a:rPr sz="750" b="0">
                          <a:solidFill>
                            <a:srgbClr val="202020"/>
                          </a:solidFill>
                        </a:rPr>
                        <a:t>0.815</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0.578</a:t>
                      </a:r>
                    </a:p>
                  </a:txBody>
                  <a:tcPr>
                    <a:solidFill>
                      <a:srgbClr val="FFFFFF"/>
                    </a:solidFill>
                  </a:tcPr>
                </a:tc>
                <a:tc>
                  <a:txBody>
                    <a:bodyPr/>
                    <a:lstStyle/>
                    <a:p>
                      <a:pPr algn="ctr"/>
                      <a:r>
                        <a:rPr sz="750" b="0">
                          <a:solidFill>
                            <a:srgbClr val="202020"/>
                          </a:solidFill>
                        </a:rPr>
                        <a:t>0.714</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0.714</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0.696</a:t>
                      </a:r>
                    </a:p>
                  </a:txBody>
                  <a:tcPr>
                    <a:solidFill>
                      <a:srgbClr val="E8F0FE"/>
                    </a:solidFill>
                  </a:tcPr>
                </a:tc>
                <a:tc>
                  <a:txBody>
                    <a:bodyPr/>
                    <a:lstStyle/>
                    <a:p>
                      <a:pPr algn="ctr"/>
                      <a:r>
                        <a:rPr sz="750" b="0">
                          <a:solidFill>
                            <a:srgbClr val="202020"/>
                          </a:solidFill>
                        </a:rPr>
                        <a:t>0.785</a:t>
                      </a:r>
                    </a:p>
                  </a:txBody>
                  <a:tcPr>
                    <a:solidFill>
                      <a:srgbClr val="E8F0FE"/>
                    </a:solidFill>
                  </a:tcPr>
                </a:tc>
                <a:tc>
                  <a:txBody>
                    <a:bodyPr/>
                    <a:lstStyle/>
                    <a:p>
                      <a:pPr algn="ctr"/>
                      <a:r>
                        <a:rPr sz="750" b="0">
                          <a:solidFill>
                            <a:srgbClr val="202020"/>
                          </a:solidFill>
                        </a:rPr>
                        <a:t>0.783</a:t>
                      </a:r>
                    </a:p>
                  </a:txBody>
                  <a:tcPr>
                    <a:solidFill>
                      <a:srgbClr val="E8F0FE"/>
                    </a:solidFill>
                  </a:tcPr>
                </a:tc>
                <a:tc>
                  <a:txBody>
                    <a:bodyPr/>
                    <a:lstStyle/>
                    <a:p>
                      <a:pPr algn="ctr"/>
                      <a:r>
                        <a:rPr sz="750" b="0">
                          <a:solidFill>
                            <a:srgbClr val="202020"/>
                          </a:solidFill>
                        </a:rPr>
                        <a:t>0.785</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0.741</a:t>
                      </a:r>
                    </a:p>
                  </a:txBody>
                  <a:tcPr>
                    <a:solidFill>
                      <a:srgbClr val="FFFFFF"/>
                    </a:solidFill>
                  </a:tcPr>
                </a:tc>
                <a:tc>
                  <a:txBody>
                    <a:bodyPr/>
                    <a:lstStyle/>
                    <a:p>
                      <a:pPr algn="ctr"/>
                      <a:r>
                        <a:rPr sz="750" b="0">
                          <a:solidFill>
                            <a:srgbClr val="202020"/>
                          </a:solidFill>
                        </a:rPr>
                        <a:t>0.830</a:t>
                      </a:r>
                    </a:p>
                  </a:txBody>
                  <a:tcPr>
                    <a:solidFill>
                      <a:srgbClr val="FFFFFF"/>
                    </a:solidFill>
                  </a:tcPr>
                </a:tc>
                <a:tc>
                  <a:txBody>
                    <a:bodyPr/>
                    <a:lstStyle/>
                    <a:p>
                      <a:pPr algn="ctr"/>
                      <a:r>
                        <a:rPr sz="750" b="0">
                          <a:solidFill>
                            <a:srgbClr val="202020"/>
                          </a:solidFill>
                        </a:rPr>
                        <a:t>0.826</a:t>
                      </a:r>
                    </a:p>
                  </a:txBody>
                  <a:tcPr>
                    <a:solidFill>
                      <a:srgbClr val="FFFFFF"/>
                    </a:solidFill>
                  </a:tcPr>
                </a:tc>
                <a:tc>
                  <a:txBody>
                    <a:bodyPr/>
                    <a:lstStyle/>
                    <a:p>
                      <a:pPr algn="ctr"/>
                      <a:r>
                        <a:rPr sz="750" b="0">
                          <a:solidFill>
                            <a:srgbClr val="202020"/>
                          </a:solidFill>
                        </a:rPr>
                        <a:t>0.830</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0.744</a:t>
                      </a:r>
                    </a:p>
                  </a:txBody>
                  <a:tcPr>
                    <a:solidFill>
                      <a:srgbClr val="E6F4EA"/>
                    </a:solidFill>
                  </a:tcPr>
                </a:tc>
                <a:tc>
                  <a:txBody>
                    <a:bodyPr/>
                    <a:lstStyle/>
                    <a:p>
                      <a:pPr algn="ctr"/>
                      <a:r>
                        <a:rPr sz="750" b="0">
                          <a:solidFill>
                            <a:srgbClr val="202020"/>
                          </a:solidFill>
                        </a:rPr>
                        <a:t>0.833</a:t>
                      </a:r>
                    </a:p>
                  </a:txBody>
                  <a:tcPr>
                    <a:solidFill>
                      <a:srgbClr val="E6F4EA"/>
                    </a:solidFill>
                  </a:tcPr>
                </a:tc>
                <a:tc>
                  <a:txBody>
                    <a:bodyPr/>
                    <a:lstStyle/>
                    <a:p>
                      <a:pPr algn="ctr"/>
                      <a:r>
                        <a:rPr sz="750" b="0">
                          <a:solidFill>
                            <a:srgbClr val="202020"/>
                          </a:solidFill>
                        </a:rPr>
                        <a:t>0.832</a:t>
                      </a:r>
                    </a:p>
                  </a:txBody>
                  <a:tcPr>
                    <a:solidFill>
                      <a:srgbClr val="E6F4EA"/>
                    </a:solidFill>
                  </a:tcPr>
                </a:tc>
                <a:tc>
                  <a:txBody>
                    <a:bodyPr/>
                    <a:lstStyle/>
                    <a:p>
                      <a:pPr algn="ctr"/>
                      <a:r>
                        <a:rPr sz="750" b="0">
                          <a:solidFill>
                            <a:srgbClr val="202020"/>
                          </a:solidFill>
                        </a:rPr>
                        <a:t>0.833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0.719</a:t>
                      </a:r>
                    </a:p>
                  </a:txBody>
                  <a:tcPr>
                    <a:solidFill>
                      <a:srgbClr val="FFFFFF"/>
                    </a:solidFill>
                  </a:tcPr>
                </a:tc>
                <a:tc>
                  <a:txBody>
                    <a:bodyPr/>
                    <a:lstStyle/>
                    <a:p>
                      <a:pPr algn="ctr"/>
                      <a:r>
                        <a:rPr sz="750" b="0">
                          <a:solidFill>
                            <a:srgbClr val="202020"/>
                          </a:solidFill>
                        </a:rPr>
                        <a:t>0.809</a:t>
                      </a:r>
                    </a:p>
                  </a:txBody>
                  <a:tcPr>
                    <a:solidFill>
                      <a:srgbClr val="FFFFFF"/>
                    </a:solidFill>
                  </a:tcPr>
                </a:tc>
                <a:tc>
                  <a:txBody>
                    <a:bodyPr/>
                    <a:lstStyle/>
                    <a:p>
                      <a:pPr algn="ctr"/>
                      <a:r>
                        <a:rPr sz="750" b="0">
                          <a:solidFill>
                            <a:srgbClr val="202020"/>
                          </a:solidFill>
                        </a:rPr>
                        <a:t>0.805</a:t>
                      </a:r>
                    </a:p>
                  </a:txBody>
                  <a:tcPr>
                    <a:solidFill>
                      <a:srgbClr val="FFFFFF"/>
                    </a:solidFill>
                  </a:tcPr>
                </a:tc>
                <a:tc>
                  <a:txBody>
                    <a:bodyPr/>
                    <a:lstStyle/>
                    <a:p>
                      <a:pPr algn="ctr"/>
                      <a:r>
                        <a:rPr sz="750" b="0">
                          <a:solidFill>
                            <a:srgbClr val="202020"/>
                          </a:solidFill>
                        </a:rPr>
                        <a:t>0.809</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0.735</a:t>
                      </a:r>
                    </a:p>
                  </a:txBody>
                  <a:tcPr>
                    <a:solidFill>
                      <a:srgbClr val="E8F0FE"/>
                    </a:solidFill>
                  </a:tcPr>
                </a:tc>
                <a:tc>
                  <a:txBody>
                    <a:bodyPr/>
                    <a:lstStyle/>
                    <a:p>
                      <a:pPr algn="ctr"/>
                      <a:r>
                        <a:rPr sz="750" b="0">
                          <a:solidFill>
                            <a:srgbClr val="202020"/>
                          </a:solidFill>
                        </a:rPr>
                        <a:t>0.829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0.710</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0.804</a:t>
                      </a:r>
                    </a:p>
                  </a:txBody>
                  <a:tcPr>
                    <a:solidFill>
                      <a:srgbClr val="E8F0FE"/>
                    </a:solidFill>
                  </a:tcPr>
                </a:tc>
                <a:tc>
                  <a:txBody>
                    <a:bodyPr/>
                    <a:lstStyle/>
                    <a:p>
                      <a:pPr algn="ctr"/>
                      <a:r>
                        <a:rPr sz="750" b="0">
                          <a:solidFill>
                            <a:srgbClr val="202020"/>
                          </a:solidFill>
                        </a:rPr>
                        <a:t>0.808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0.786</a:t>
                      </a:r>
                    </a:p>
                  </a:txBody>
                  <a:tcPr>
                    <a:solidFill>
                      <a:srgbClr val="E8F0FE"/>
                    </a:solidFill>
                  </a:tcPr>
                </a:tc>
                <a:tc>
                  <a:txBody>
                    <a:bodyPr/>
                    <a:lstStyle/>
                    <a:p>
                      <a:pPr algn="ctr"/>
                      <a:r>
                        <a:rPr sz="750" b="0">
                          <a:solidFill>
                            <a:srgbClr val="202020"/>
                          </a:solidFill>
                        </a:rPr>
                        <a:t>0.790</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4-Class</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0.728</a:t>
                      </a:r>
                    </a:p>
                  </a:txBody>
                  <a:tcPr>
                    <a:solidFill>
                      <a:srgbClr val="FFFFFF"/>
                    </a:solidFill>
                  </a:tcPr>
                </a:tc>
                <a:tc>
                  <a:txBody>
                    <a:bodyPr/>
                    <a:lstStyle/>
                    <a:p>
                      <a:pPr algn="ctr"/>
                      <a:r>
                        <a:rPr sz="750" b="0">
                          <a:solidFill>
                            <a:srgbClr val="202020"/>
                          </a:solidFill>
                        </a:rPr>
                        <a:t>0.729</a:t>
                      </a:r>
                    </a:p>
                  </a:txBody>
                  <a:tcPr>
                    <a:solidFill>
                      <a:srgbClr val="FFFFFF"/>
                    </a:solidFill>
                  </a:tcPr>
                </a:tc>
                <a:tc>
                  <a:txBody>
                    <a:bodyPr/>
                    <a:lstStyle/>
                    <a:p>
                      <a:pPr algn="ctr"/>
                      <a:r>
                        <a:rPr sz="750" b="0">
                          <a:solidFill>
                            <a:srgbClr val="202020"/>
                          </a:solidFill>
                        </a:rPr>
                        <a:t>0.728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0.827</a:t>
                      </a:r>
                    </a:p>
                  </a:txBody>
                  <a:tcPr>
                    <a:solidFill>
                      <a:srgbClr val="FFFFFF"/>
                    </a:solidFill>
                  </a:tcPr>
                </a:tc>
                <a:tc>
                  <a:txBody>
                    <a:bodyPr/>
                    <a:lstStyle/>
                    <a:p>
                      <a:pPr algn="ctr"/>
                      <a:r>
                        <a:rPr sz="750" b="0">
                          <a:solidFill>
                            <a:srgbClr val="202020"/>
                          </a:solidFill>
                        </a:rPr>
                        <a:t>0.845</a:t>
                      </a:r>
                    </a:p>
                  </a:txBody>
                  <a:tcPr>
                    <a:solidFill>
                      <a:srgbClr val="FFFFFF"/>
                    </a:solidFill>
                  </a:tcPr>
                </a:tc>
                <a:tc>
                  <a:txBody>
                    <a:bodyPr/>
                    <a:lstStyle/>
                    <a:p>
                      <a:pPr algn="ctr"/>
                      <a:r>
                        <a:rPr sz="750" b="0">
                          <a:solidFill>
                            <a:srgbClr val="202020"/>
                          </a:solidFill>
                        </a:rPr>
                        <a:t>0.846</a:t>
                      </a:r>
                    </a:p>
                  </a:txBody>
                  <a:tcPr>
                    <a:solidFill>
                      <a:srgbClr val="FFFFFF"/>
                    </a:solidFill>
                  </a:tcPr>
                </a:tc>
                <a:tc>
                  <a:txBody>
                    <a:bodyPr/>
                    <a:lstStyle/>
                    <a:p>
                      <a:pPr algn="ctr"/>
                      <a:r>
                        <a:rPr sz="750" b="0">
                          <a:solidFill>
                            <a:srgbClr val="202020"/>
                          </a:solidFill>
                        </a:rPr>
                        <a:t>0.845</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0.836</a:t>
                      </a:r>
                    </a:p>
                  </a:txBody>
                  <a:tcPr>
                    <a:solidFill>
                      <a:srgbClr val="E6F4EA"/>
                    </a:solidFill>
                  </a:tcPr>
                </a:tc>
                <a:tc>
                  <a:txBody>
                    <a:bodyPr/>
                    <a:lstStyle/>
                    <a:p>
                      <a:pPr algn="ctr"/>
                      <a:r>
                        <a:rPr sz="750" b="0">
                          <a:solidFill>
                            <a:srgbClr val="202020"/>
                          </a:solidFill>
                        </a:rPr>
                        <a:t>0.853</a:t>
                      </a:r>
                    </a:p>
                  </a:txBody>
                  <a:tcPr>
                    <a:solidFill>
                      <a:srgbClr val="E6F4EA"/>
                    </a:solidFill>
                  </a:tcPr>
                </a:tc>
                <a:tc>
                  <a:txBody>
                    <a:bodyPr/>
                    <a:lstStyle/>
                    <a:p>
                      <a:pPr algn="ctr"/>
                      <a:r>
                        <a:rPr sz="750" b="0">
                          <a:solidFill>
                            <a:srgbClr val="202020"/>
                          </a:solidFill>
                        </a:rPr>
                        <a:t>0.855</a:t>
                      </a:r>
                    </a:p>
                  </a:txBody>
                  <a:tcPr>
                    <a:solidFill>
                      <a:srgbClr val="E6F4EA"/>
                    </a:solidFill>
                  </a:tcPr>
                </a:tc>
                <a:tc>
                  <a:txBody>
                    <a:bodyPr/>
                    <a:lstStyle/>
                    <a:p>
                      <a:pPr algn="ctr"/>
                      <a:r>
                        <a:rPr sz="750" b="0">
                          <a:solidFill>
                            <a:srgbClr val="202020"/>
                          </a:solidFill>
                        </a:rPr>
                        <a:t>0.853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0.842</a:t>
                      </a:r>
                    </a:p>
                  </a:txBody>
                  <a:tcPr>
                    <a:solidFill>
                      <a:srgbClr val="FFFFFF"/>
                    </a:solidFill>
                  </a:tcPr>
                </a:tc>
                <a:tc>
                  <a:txBody>
                    <a:bodyPr/>
                    <a:lstStyle/>
                    <a:p>
                      <a:pPr algn="ctr"/>
                      <a:r>
                        <a:rPr sz="750" b="0">
                          <a:solidFill>
                            <a:srgbClr val="202020"/>
                          </a:solidFill>
                        </a:rPr>
                        <a:t>0.841</a:t>
                      </a:r>
                    </a:p>
                  </a:txBody>
                  <a:tcPr>
                    <a:solidFill>
                      <a:srgbClr val="FFFFFF"/>
                    </a:solidFill>
                  </a:tcPr>
                </a:tc>
                <a:tc>
                  <a:txBody>
                    <a:bodyPr/>
                    <a:lstStyle/>
                    <a:p>
                      <a:pPr algn="ctr"/>
                      <a:r>
                        <a:rPr sz="750" b="0">
                          <a:solidFill>
                            <a:srgbClr val="202020"/>
                          </a:solidFill>
                        </a:rPr>
                        <a:t>0.842</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0.832</a:t>
                      </a:r>
                    </a:p>
                  </a:txBody>
                  <a:tcPr>
                    <a:solidFill>
                      <a:srgbClr val="E8F0FE"/>
                    </a:solidFill>
                  </a:tcPr>
                </a:tc>
                <a:tc>
                  <a:txBody>
                    <a:bodyPr/>
                    <a:lstStyle/>
                    <a:p>
                      <a:pPr algn="ctr"/>
                      <a:r>
                        <a:rPr sz="750" b="0">
                          <a:solidFill>
                            <a:srgbClr val="202020"/>
                          </a:solidFill>
                        </a:rPr>
                        <a:t>0.849</a:t>
                      </a:r>
                    </a:p>
                  </a:txBody>
                  <a:tcPr>
                    <a:solidFill>
                      <a:srgbClr val="E8F0FE"/>
                    </a:solidFill>
                  </a:tcPr>
                </a:tc>
                <a:tc>
                  <a:txBody>
                    <a:bodyPr/>
                    <a:lstStyle/>
                    <a:p>
                      <a:pPr algn="ctr"/>
                      <a:r>
                        <a:rPr sz="750" b="0">
                          <a:solidFill>
                            <a:srgbClr val="202020"/>
                          </a:solidFill>
                        </a:rPr>
                        <a:t>0.850</a:t>
                      </a:r>
                    </a:p>
                  </a:txBody>
                  <a:tcPr>
                    <a:solidFill>
                      <a:srgbClr val="E8F0FE"/>
                    </a:solidFill>
                  </a:tcPr>
                </a:tc>
                <a:tc>
                  <a:txBody>
                    <a:bodyPr/>
                    <a:lstStyle/>
                    <a:p>
                      <a:pPr algn="ctr"/>
                      <a:r>
                        <a:rPr sz="750" b="0">
                          <a:solidFill>
                            <a:srgbClr val="202020"/>
                          </a:solidFill>
                        </a:rPr>
                        <a:t>0.849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0.819</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Primer (+ Summary)</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Primer 7-Class (conf60, B1 baseline)</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0.270</a:t>
                      </a:r>
                    </a:p>
                  </a:txBody>
                  <a:tcPr>
                    <a:solidFill>
                      <a:srgbClr val="E8F0FE"/>
                    </a:solidFill>
                  </a:tcPr>
                </a:tc>
                <a:tc>
                  <a:txBody>
                    <a:bodyPr/>
                    <a:lstStyle/>
                    <a:p>
                      <a:pPr algn="ctr"/>
                      <a:r>
                        <a:rPr sz="750" b="0">
                          <a:solidFill>
                            <a:srgbClr val="202020"/>
                          </a:solidFill>
                        </a:rPr>
                        <a:t>0.787</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0.787</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0.261</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0.260</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0.793</a:t>
                      </a:r>
                    </a:p>
                  </a:txBody>
                  <a:tcPr>
                    <a:solidFill>
                      <a:srgbClr val="E8F0FE"/>
                    </a:solidFill>
                  </a:tcPr>
                </a:tc>
                <a:tc>
                  <a:txBody>
                    <a:bodyPr/>
                    <a:lstStyle/>
                    <a:p>
                      <a:pPr algn="ctr"/>
                      <a:r>
                        <a:rPr sz="750" b="0">
                          <a:solidFill>
                            <a:srgbClr val="202020"/>
                          </a:solidFill>
                        </a:rPr>
                        <a:t>0.799</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0.814</a:t>
                      </a:r>
                    </a:p>
                  </a:txBody>
                  <a:tcPr>
                    <a:solidFill>
                      <a:srgbClr val="FFFFFF"/>
                    </a:solidFill>
                  </a:tcPr>
                </a:tc>
                <a:tc>
                  <a:txBody>
                    <a:bodyPr/>
                    <a:lstStyle/>
                    <a:p>
                      <a:pPr algn="ctr"/>
                      <a:r>
                        <a:rPr sz="750" b="0">
                          <a:solidFill>
                            <a:srgbClr val="202020"/>
                          </a:solidFill>
                        </a:rPr>
                        <a:t>0.819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0.292</a:t>
                      </a:r>
                    </a:p>
                  </a:txBody>
                  <a:tcPr>
                    <a:solidFill>
                      <a:srgbClr val="E6F4EA"/>
                    </a:solidFill>
                  </a:tcPr>
                </a:tc>
                <a:tc>
                  <a:txBody>
                    <a:bodyPr/>
                    <a:lstStyle/>
                    <a:p>
                      <a:pPr algn="ctr"/>
                      <a:r>
                        <a:rPr sz="750" b="0">
                          <a:solidFill>
                            <a:srgbClr val="202020"/>
                          </a:solidFill>
                        </a:rPr>
                        <a:t>0.808</a:t>
                      </a:r>
                    </a:p>
                  </a:txBody>
                  <a:tcPr>
                    <a:solidFill>
                      <a:srgbClr val="E6F4EA"/>
                    </a:solidFill>
                  </a:tcPr>
                </a:tc>
                <a:tc>
                  <a:txBody>
                    <a:bodyPr/>
                    <a:lstStyle/>
                    <a:p>
                      <a:pPr algn="ctr"/>
                      <a:r>
                        <a:rPr sz="750" b="0">
                          <a:solidFill>
                            <a:srgbClr val="202020"/>
                          </a:solidFill>
                        </a:rPr>
                        <a:t>0.819</a:t>
                      </a:r>
                    </a:p>
                  </a:txBody>
                  <a:tcPr>
                    <a:solidFill>
                      <a:srgbClr val="E6F4EA"/>
                    </a:solidFill>
                  </a:tcPr>
                </a:tc>
                <a:tc>
                  <a:txBody>
                    <a:bodyPr/>
                    <a:lstStyle/>
                    <a:p>
                      <a:pPr algn="ctr"/>
                      <a:r>
                        <a:rPr sz="750" b="0">
                          <a:solidFill>
                            <a:srgbClr val="202020"/>
                          </a:solidFill>
                        </a:rPr>
                        <a:t>0.808</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0.270</a:t>
                      </a:r>
                    </a:p>
                  </a:txBody>
                  <a:tcPr>
                    <a:solidFill>
                      <a:srgbClr val="FFFFFF"/>
                    </a:solidFill>
                  </a:tcPr>
                </a:tc>
                <a:tc>
                  <a:txBody>
                    <a:bodyPr/>
                    <a:lstStyle/>
                    <a:p>
                      <a:pPr algn="ctr"/>
                      <a:r>
                        <a:rPr sz="750" b="0">
                          <a:solidFill>
                            <a:srgbClr val="202020"/>
                          </a:solidFill>
                        </a:rPr>
                        <a:t>0.816</a:t>
                      </a:r>
                    </a:p>
                  </a:txBody>
                  <a:tcPr>
                    <a:solidFill>
                      <a:srgbClr val="FFFFFF"/>
                    </a:solidFill>
                  </a:tcPr>
                </a:tc>
                <a:tc>
                  <a:txBody>
                    <a:bodyPr/>
                    <a:lstStyle/>
                    <a:p>
                      <a:pPr algn="ctr"/>
                      <a:r>
                        <a:rPr sz="750" b="0">
                          <a:solidFill>
                            <a:srgbClr val="202020"/>
                          </a:solidFill>
                        </a:rPr>
                        <a:t>0.812</a:t>
                      </a:r>
                    </a:p>
                  </a:txBody>
                  <a:tcPr>
                    <a:solidFill>
                      <a:srgbClr val="FFFFFF"/>
                    </a:solidFill>
                  </a:tcPr>
                </a:tc>
                <a:tc>
                  <a:txBody>
                    <a:bodyPr/>
                    <a:lstStyle/>
                    <a:p>
                      <a:pPr algn="ctr"/>
                      <a:r>
                        <a:rPr sz="750" b="0">
                          <a:solidFill>
                            <a:srgbClr val="202020"/>
                          </a:solidFill>
                        </a:rPr>
                        <a:t>0.816</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0.784</a:t>
                      </a:r>
                    </a:p>
                  </a:txBody>
                  <a:tcPr>
                    <a:solidFill>
                      <a:srgbClr val="E8F0FE"/>
                    </a:solidFill>
                  </a:tcPr>
                </a:tc>
                <a:tc>
                  <a:txBody>
                    <a:bodyPr/>
                    <a:lstStyle/>
                    <a:p>
                      <a:pPr algn="ctr"/>
                      <a:r>
                        <a:rPr sz="750" b="0">
                          <a:solidFill>
                            <a:srgbClr val="202020"/>
                          </a:solidFill>
                        </a:rPr>
                        <a:t>0.790</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Primer 4-Class (conf60, B1 baseline)</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0.476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0.802</a:t>
                      </a:r>
                    </a:p>
                  </a:txBody>
                  <a:tcPr>
                    <a:solidFill>
                      <a:srgbClr val="E8F0FE"/>
                    </a:solidFill>
                  </a:tcPr>
                </a:tc>
                <a:tc>
                  <a:txBody>
                    <a:bodyPr/>
                    <a:lstStyle/>
                    <a:p>
                      <a:pPr algn="ctr"/>
                      <a:r>
                        <a:rPr sz="750" b="0">
                          <a:solidFill>
                            <a:srgbClr val="202020"/>
                          </a:solidFill>
                        </a:rPr>
                        <a:t>0.803</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0.763</a:t>
                      </a:r>
                    </a:p>
                  </a:txBody>
                  <a:tcPr>
                    <a:solidFill>
                      <a:srgbClr val="FFFFFF"/>
                    </a:solidFill>
                  </a:tcPr>
                </a:tc>
                <a:tc>
                  <a:txBody>
                    <a:bodyPr/>
                    <a:lstStyle/>
                    <a:p>
                      <a:pPr algn="ctr"/>
                      <a:r>
                        <a:rPr sz="750" b="0">
                          <a:solidFill>
                            <a:srgbClr val="202020"/>
                          </a:solidFill>
                        </a:rPr>
                        <a:t>0.774</a:t>
                      </a:r>
                    </a:p>
                  </a:txBody>
                  <a:tcPr>
                    <a:solidFill>
                      <a:srgbClr val="FFFFFF"/>
                    </a:solidFill>
                  </a:tcPr>
                </a:tc>
                <a:tc>
                  <a:txBody>
                    <a:bodyPr/>
                    <a:lstStyle/>
                    <a:p>
                      <a:pPr algn="ctr"/>
                      <a:r>
                        <a:rPr sz="750" b="0">
                          <a:solidFill>
                            <a:srgbClr val="202020"/>
                          </a:solidFill>
                        </a:rPr>
                        <a:t>0.763</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0.444</a:t>
                      </a:r>
                    </a:p>
                  </a:txBody>
                  <a:tcPr>
                    <a:solidFill>
                      <a:srgbClr val="E8F0FE"/>
                    </a:solidFill>
                  </a:tcPr>
                </a:tc>
                <a:tc>
                  <a:txBody>
                    <a:bodyPr/>
                    <a:lstStyle/>
                    <a:p>
                      <a:pPr algn="ctr"/>
                      <a:r>
                        <a:rPr sz="750" b="0">
                          <a:solidFill>
                            <a:srgbClr val="202020"/>
                          </a:solidFill>
                        </a:rPr>
                        <a:t>0.727</a:t>
                      </a:r>
                    </a:p>
                  </a:txBody>
                  <a:tcPr>
                    <a:solidFill>
                      <a:srgbClr val="E8F0FE"/>
                    </a:solidFill>
                  </a:tcPr>
                </a:tc>
                <a:tc>
                  <a:txBody>
                    <a:bodyPr/>
                    <a:lstStyle/>
                    <a:p>
                      <a:pPr algn="ctr"/>
                      <a:r>
                        <a:rPr sz="750" b="0">
                          <a:solidFill>
                            <a:srgbClr val="202020"/>
                          </a:solidFill>
                        </a:rPr>
                        <a:t>0.753</a:t>
                      </a:r>
                    </a:p>
                  </a:txBody>
                  <a:tcPr>
                    <a:solidFill>
                      <a:srgbClr val="E8F0FE"/>
                    </a:solidFill>
                  </a:tcPr>
                </a:tc>
                <a:tc>
                  <a:txBody>
                    <a:bodyPr/>
                    <a:lstStyle/>
                    <a:p>
                      <a:pPr algn="ctr"/>
                      <a:r>
                        <a:rPr sz="750" b="0">
                          <a:solidFill>
                            <a:srgbClr val="202020"/>
                          </a:solidFill>
                        </a:rPr>
                        <a:t>0.727</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0.378</a:t>
                      </a:r>
                    </a:p>
                  </a:txBody>
                  <a:tcPr>
                    <a:solidFill>
                      <a:srgbClr val="FFFFFF"/>
                    </a:solidFill>
                  </a:tcPr>
                </a:tc>
                <a:tc>
                  <a:txBody>
                    <a:bodyPr/>
                    <a:lstStyle/>
                    <a:p>
                      <a:pPr algn="ctr"/>
                      <a:r>
                        <a:rPr sz="750" b="0">
                          <a:solidFill>
                            <a:srgbClr val="202020"/>
                          </a:solidFill>
                        </a:rPr>
                        <a:t>0.721</a:t>
                      </a:r>
                    </a:p>
                  </a:txBody>
                  <a:tcPr>
                    <a:solidFill>
                      <a:srgbClr val="FFFFFF"/>
                    </a:solidFill>
                  </a:tcPr>
                </a:tc>
                <a:tc>
                  <a:txBody>
                    <a:bodyPr/>
                    <a:lstStyle/>
                    <a:p>
                      <a:pPr algn="ctr"/>
                      <a:r>
                        <a:rPr sz="750" b="0">
                          <a:solidFill>
                            <a:srgbClr val="202020"/>
                          </a:solidFill>
                        </a:rPr>
                        <a:t>0.682</a:t>
                      </a:r>
                    </a:p>
                  </a:txBody>
                  <a:tcPr>
                    <a:solidFill>
                      <a:srgbClr val="FFFFFF"/>
                    </a:solidFill>
                  </a:tcPr>
                </a:tc>
                <a:tc>
                  <a:txBody>
                    <a:bodyPr/>
                    <a:lstStyle/>
                    <a:p>
                      <a:pPr algn="ctr"/>
                      <a:r>
                        <a:rPr sz="750" b="0">
                          <a:solidFill>
                            <a:srgbClr val="202020"/>
                          </a:solidFill>
                        </a:rPr>
                        <a:t>0.721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0.482</a:t>
                      </a:r>
                    </a:p>
                  </a:txBody>
                  <a:tcPr>
                    <a:solidFill>
                      <a:srgbClr val="E6F4EA"/>
                    </a:solidFill>
                  </a:tcPr>
                </a:tc>
                <a:tc>
                  <a:txBody>
                    <a:bodyPr/>
                    <a:lstStyle/>
                    <a:p>
                      <a:pPr algn="ctr"/>
                      <a:r>
                        <a:rPr sz="750" b="0">
                          <a:solidFill>
                            <a:srgbClr val="202020"/>
                          </a:solidFill>
                        </a:rPr>
                        <a:t>0.780</a:t>
                      </a:r>
                    </a:p>
                  </a:txBody>
                  <a:tcPr>
                    <a:solidFill>
                      <a:srgbClr val="E6F4EA"/>
                    </a:solidFill>
                  </a:tcPr>
                </a:tc>
                <a:tc>
                  <a:txBody>
                    <a:bodyPr/>
                    <a:lstStyle/>
                    <a:p>
                      <a:pPr algn="ctr"/>
                      <a:r>
                        <a:rPr sz="750" b="0">
                          <a:solidFill>
                            <a:srgbClr val="202020"/>
                          </a:solidFill>
                        </a:rPr>
                        <a:t>0.790</a:t>
                      </a:r>
                    </a:p>
                  </a:txBody>
                  <a:tcPr>
                    <a:solidFill>
                      <a:srgbClr val="E6F4EA"/>
                    </a:solidFill>
                  </a:tcPr>
                </a:tc>
                <a:tc>
                  <a:txBody>
                    <a:bodyPr/>
                    <a:lstStyle/>
                    <a:p>
                      <a:pPr algn="ctr"/>
                      <a:r>
                        <a:rPr sz="750" b="0">
                          <a:solidFill>
                            <a:srgbClr val="202020"/>
                          </a:solidFill>
                        </a:rPr>
                        <a:t>0.780</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0.474</a:t>
                      </a:r>
                    </a:p>
                  </a:txBody>
                  <a:tcPr>
                    <a:solidFill>
                      <a:srgbClr val="FFFFFF"/>
                    </a:solidFill>
                  </a:tcPr>
                </a:tc>
                <a:tc>
                  <a:txBody>
                    <a:bodyPr/>
                    <a:lstStyle/>
                    <a:p>
                      <a:pPr algn="ctr"/>
                      <a:r>
                        <a:rPr sz="750" b="0">
                          <a:solidFill>
                            <a:srgbClr val="202020"/>
                          </a:solidFill>
                        </a:rPr>
                        <a:t>0.807</a:t>
                      </a:r>
                    </a:p>
                  </a:txBody>
                  <a:tcPr>
                    <a:solidFill>
                      <a:srgbClr val="FFFFFF"/>
                    </a:solidFill>
                  </a:tcPr>
                </a:tc>
                <a:tc>
                  <a:txBody>
                    <a:bodyPr/>
                    <a:lstStyle/>
                    <a:p>
                      <a:pPr algn="ctr"/>
                      <a:r>
                        <a:rPr sz="750" b="0">
                          <a:solidFill>
                            <a:srgbClr val="202020"/>
                          </a:solidFill>
                        </a:rPr>
                        <a:t>0.815</a:t>
                      </a:r>
                    </a:p>
                  </a:txBody>
                  <a:tcPr>
                    <a:solidFill>
                      <a:srgbClr val="FFFFFF"/>
                    </a:solidFill>
                  </a:tcPr>
                </a:tc>
                <a:tc>
                  <a:txBody>
                    <a:bodyPr/>
                    <a:lstStyle/>
                    <a:p>
                      <a:pPr algn="ctr"/>
                      <a:r>
                        <a:rPr sz="750" b="0">
                          <a:solidFill>
                            <a:srgbClr val="202020"/>
                          </a:solidFill>
                        </a:rPr>
                        <a:t>0.807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0.422</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0.722</a:t>
                      </a:r>
                    </a:p>
                  </a:txBody>
                  <a:tcPr>
                    <a:solidFill>
                      <a:srgbClr val="E8F0FE"/>
                    </a:solidFill>
                  </a:tcPr>
                </a:tc>
                <a:tc>
                  <a:txBody>
                    <a:bodyPr/>
                    <a:lstStyle/>
                    <a:p>
                      <a:pPr algn="ctr"/>
                      <a:r>
                        <a:rPr sz="750" b="0">
                          <a:solidFill>
                            <a:srgbClr val="202020"/>
                          </a:solidFill>
                        </a:rPr>
                        <a:t>0.695</a:t>
                      </a:r>
                    </a:p>
                  </a:txBody>
                  <a:tcPr>
                    <a:solidFill>
                      <a:srgbClr val="E8F0FE"/>
                    </a:solidFill>
                  </a:tcPr>
                </a:tc>
              </a:tr>
            </a:tbl>
          </a:graphicData>
        </a:graphic>
      </p:graphicFrame>
      <p:sp>
        <p:nvSpPr>
          <p:cNvPr id="8" name="TextBox 7"/>
          <p:cNvSpPr txBox="1"/>
          <p:nvPr/>
        </p:nvSpPr>
        <p:spPr>
          <a:xfrm>
            <a:off x="274320" y="3154680"/>
            <a:ext cx="8595360" cy="457200"/>
          </a:xfrm>
          <a:prstGeom prst="rect">
            <a:avLst/>
          </a:prstGeom>
          <a:solidFill>
            <a:srgbClr val="FEF7E0"/>
          </a:solidFill>
        </p:spPr>
        <p:txBody>
          <a:bodyPr wrap="square">
            <a:spAutoFit/>
          </a:bodyPr>
          <a:lstStyle/>
          <a:p>
            <a:pPr algn="l"/>
            <a:r>
              <a:rPr sz="900" b="1" i="0">
                <a:solidFill>
                  <a:srgbClr val="B06800"/>
                </a:solidFill>
              </a:rPr>
              <a:t>Catatan Primer: tabel di atas B1 (baseline) saja untuk apple-to-apple vs benchmark publik.</a:t>
            </a:r>
          </a:p>
          <a:p>
            <a:pPr algn="l"/>
            <a:r>
              <a:rPr sz="900" b="0" i="0">
                <a:solidFill>
                  <a:srgbClr val="202020"/>
                </a:solidFill>
              </a:rPr>
              <a:t>Best Primer keseluruhan (dengan B3 + TL + augmentation) = Intermediate TL 4c B3 = 0.521.</a:t>
            </a:r>
          </a:p>
        </p:txBody>
      </p:sp>
      <p:sp>
        <p:nvSpPr>
          <p:cNvPr id="9" name="TextBox 8"/>
          <p:cNvSpPr txBox="1"/>
          <p:nvPr/>
        </p:nvSpPr>
        <p:spPr>
          <a:xfrm>
            <a:off x="274320" y="3703320"/>
            <a:ext cx="8595360" cy="274320"/>
          </a:xfrm>
          <a:prstGeom prst="rect">
            <a:avLst/>
          </a:prstGeom>
          <a:noFill/>
        </p:spPr>
        <p:txBody>
          <a:bodyPr wrap="none">
            <a:spAutoFit/>
          </a:bodyPr>
          <a:lstStyle/>
          <a:p>
            <a:pPr algn="l"/>
            <a:r>
              <a:rPr sz="1100" b="1" i="0">
                <a:solidFill>
                  <a:srgbClr val="202020"/>
                </a:solidFill>
              </a:rPr>
              <a:t>Summary Temuan Skema 1</a:t>
            </a:r>
          </a:p>
        </p:txBody>
      </p:sp>
      <p:sp>
        <p:nvSpPr>
          <p:cNvPr id="10" name="TextBox 9"/>
          <p:cNvSpPr txBox="1"/>
          <p:nvPr/>
        </p:nvSpPr>
        <p:spPr>
          <a:xfrm>
            <a:off x="274320" y="4023360"/>
            <a:ext cx="8595360" cy="2286000"/>
          </a:xfrm>
          <a:prstGeom prst="rect">
            <a:avLst/>
          </a:prstGeom>
          <a:solidFill>
            <a:srgbClr val="E8F0FE"/>
          </a:solidFill>
        </p:spPr>
        <p:txBody>
          <a:bodyPr wrap="square">
            <a:spAutoFit/>
          </a:bodyPr>
          <a:lstStyle/>
          <a:p>
            <a:pPr algn="l"/>
            <a:r>
              <a:rPr sz="900" b="0" i="0">
                <a:solidFill>
                  <a:srgbClr val="202020"/>
                </a:solidFill>
              </a:rPr>
              <a:t>• Intermediate TL dominan di RAF-DB 7c/4c, KDEF 7c/4c, Primer 7c/4c, CK+ 4c</a:t>
            </a:r>
          </a:p>
          <a:p>
            <a:pPr algn="l"/>
            <a:r>
              <a:rPr sz="900" b="0" i="0">
                <a:solidFill>
                  <a:srgbClr val="202020"/>
                </a:solidFill>
              </a:rPr>
              <a:t>• CK+ 7c → CNN TL terbaik (0.913) | JAFFE → Late Fusion atau Late Fusion TL (dataset kecil)</a:t>
            </a:r>
          </a:p>
          <a:p>
            <a:pPr algn="l"/>
            <a:r>
              <a:rPr sz="900" b="0" i="0">
                <a:solidFill>
                  <a:srgbClr val="202020"/>
                </a:solidFill>
              </a:rPr>
              <a:t>• Late Fusion TL (baru, nb 65): kompetitif di RAF-DB/KDEF/Primer, tapi kolaps di CK+ 7c (0.835 vs 0.913) dan JAFFE 7c (0.146)</a:t>
            </a:r>
          </a:p>
          <a:p>
            <a:pPr algn="l"/>
            <a:r>
              <a:rPr sz="900" b="0" i="0">
                <a:solidFill>
                  <a:srgbClr val="202020"/>
                </a:solidFill>
              </a:rPr>
              <a:t>• Primer paling challenging: best Primer 4c (val-tuned) = 0.521 (Intermediate TL, B1)</a:t>
            </a:r>
          </a:p>
          <a:p>
            <a:pPr algn="l"/>
            <a:r>
              <a:rPr sz="900" b="0" i="0">
                <a:solidFill>
                  <a:srgbClr val="202020"/>
                </a:solidFill>
              </a:rPr>
              <a:t>• vs benchmark: RAF-DB 4c = 0.836 | KDEF 4c = 0.923 | CK+ 4c = 0.837</a:t>
            </a:r>
          </a:p>
          <a:p>
            <a:pPr algn="l"/>
            <a:r>
              <a:rPr sz="900" b="1" i="0">
                <a:solidFill>
                  <a:srgbClr val="0F9D58"/>
                </a:solidFill>
              </a:rPr>
              <a:t>• Gap ~0.35-0.45 menegaskan: arsitektur bekerja, Primer memang sulit karena natural + imbalance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CK+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5" name="TextBox 4"/>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CK+ → Primer (7-Class)</a:t>
            </a:r>
          </a:p>
        </p:txBody>
      </p:sp>
      <p:graphicFrame>
        <p:nvGraphicFramePr>
          <p:cNvPr id="6" name="Table 5"/>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0.127</a:t>
                      </a:r>
                    </a:p>
                  </a:txBody>
                  <a:tcPr>
                    <a:solidFill>
                      <a:srgbClr val="E8F0FE"/>
                    </a:solidFill>
                  </a:tcPr>
                </a:tc>
                <a:tc>
                  <a:txBody>
                    <a:bodyPr/>
                    <a:lstStyle/>
                    <a:p>
                      <a:pPr algn="ctr"/>
                      <a:r>
                        <a:rPr sz="750" b="0">
                          <a:solidFill>
                            <a:srgbClr val="202020"/>
                          </a:solidFill>
                        </a:rPr>
                        <a:t>0.719</a:t>
                      </a:r>
                    </a:p>
                  </a:txBody>
                  <a:tcPr>
                    <a:solidFill>
                      <a:srgbClr val="E8F0FE"/>
                    </a:solidFill>
                  </a:tcPr>
                </a:tc>
                <a:tc>
                  <a:txBody>
                    <a:bodyPr/>
                    <a:lstStyle/>
                    <a:p>
                      <a:pPr algn="ctr"/>
                      <a:r>
                        <a:rPr sz="750" b="0">
                          <a:solidFill>
                            <a:srgbClr val="202020"/>
                          </a:solidFill>
                        </a:rPr>
                        <a:t>0.635</a:t>
                      </a:r>
                    </a:p>
                  </a:txBody>
                  <a:tcPr>
                    <a:solidFill>
                      <a:srgbClr val="E8F0FE"/>
                    </a:solidFill>
                  </a:tcPr>
                </a:tc>
                <a:tc>
                  <a:txBody>
                    <a:bodyPr/>
                    <a:lstStyle/>
                    <a:p>
                      <a:pPr algn="ctr"/>
                      <a:r>
                        <a:rPr sz="750" b="0">
                          <a:solidFill>
                            <a:srgbClr val="202020"/>
                          </a:solidFill>
                        </a:rPr>
                        <a:t>0.719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0.194</a:t>
                      </a:r>
                    </a:p>
                  </a:txBody>
                  <a:tcPr>
                    <a:solidFill>
                      <a:srgbClr val="E6F4EA"/>
                    </a:solidFill>
                  </a:tcPr>
                </a:tc>
                <a:tc>
                  <a:txBody>
                    <a:bodyPr/>
                    <a:lstStyle/>
                    <a:p>
                      <a:pPr algn="ctr"/>
                      <a:r>
                        <a:rPr sz="750" b="0">
                          <a:solidFill>
                            <a:srgbClr val="202020"/>
                          </a:solidFill>
                        </a:rPr>
                        <a:t>0.773</a:t>
                      </a:r>
                    </a:p>
                  </a:txBody>
                  <a:tcPr>
                    <a:solidFill>
                      <a:srgbClr val="E6F4EA"/>
                    </a:solidFill>
                  </a:tcPr>
                </a:tc>
                <a:tc>
                  <a:txBody>
                    <a:bodyPr/>
                    <a:lstStyle/>
                    <a:p>
                      <a:pPr algn="ctr"/>
                      <a:r>
                        <a:rPr sz="750" b="0">
                          <a:solidFill>
                            <a:srgbClr val="202020"/>
                          </a:solidFill>
                        </a:rPr>
                        <a:t>0.739</a:t>
                      </a:r>
                    </a:p>
                  </a:txBody>
                  <a:tcPr>
                    <a:solidFill>
                      <a:srgbClr val="E6F4EA"/>
                    </a:solidFill>
                  </a:tcPr>
                </a:tc>
                <a:tc>
                  <a:txBody>
                    <a:bodyPr/>
                    <a:lstStyle/>
                    <a:p>
                      <a:pPr algn="ctr"/>
                      <a:r>
                        <a:rPr sz="750" b="0">
                          <a:solidFill>
                            <a:srgbClr val="202020"/>
                          </a:solidFill>
                        </a:rPr>
                        <a:t>0.773</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0.153</a:t>
                      </a:r>
                    </a:p>
                  </a:txBody>
                  <a:tcPr>
                    <a:solidFill>
                      <a:srgbClr val="E8F0FE"/>
                    </a:solidFill>
                  </a:tcPr>
                </a:tc>
                <a:tc>
                  <a:txBody>
                    <a:bodyPr/>
                    <a:lstStyle/>
                    <a:p>
                      <a:pPr algn="ctr"/>
                      <a:r>
                        <a:rPr sz="750" b="0">
                          <a:solidFill>
                            <a:srgbClr val="202020"/>
                          </a:solidFill>
                        </a:rPr>
                        <a:t>0.536</a:t>
                      </a:r>
                    </a:p>
                  </a:txBody>
                  <a:tcPr>
                    <a:solidFill>
                      <a:srgbClr val="E8F0FE"/>
                    </a:solidFill>
                  </a:tcPr>
                </a:tc>
                <a:tc>
                  <a:txBody>
                    <a:bodyPr/>
                    <a:lstStyle/>
                    <a:p>
                      <a:pPr algn="ctr"/>
                      <a:r>
                        <a:rPr sz="750" b="0">
                          <a:solidFill>
                            <a:srgbClr val="202020"/>
                          </a:solidFill>
                        </a:rPr>
                        <a:t>0.593</a:t>
                      </a:r>
                    </a:p>
                  </a:txBody>
                  <a:tcPr>
                    <a:solidFill>
                      <a:srgbClr val="E8F0FE"/>
                    </a:solidFill>
                  </a:tcPr>
                </a:tc>
                <a:tc>
                  <a:txBody>
                    <a:bodyPr/>
                    <a:lstStyle/>
                    <a:p>
                      <a:pPr algn="ctr"/>
                      <a:r>
                        <a:rPr sz="750" b="0">
                          <a:solidFill>
                            <a:srgbClr val="202020"/>
                          </a:solidFill>
                        </a:rPr>
                        <a:t>0.536</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0.163</a:t>
                      </a:r>
                    </a:p>
                  </a:txBody>
                  <a:tcPr>
                    <a:solidFill>
                      <a:srgbClr val="FFFFFF"/>
                    </a:solidFill>
                  </a:tcPr>
                </a:tc>
                <a:tc>
                  <a:txBody>
                    <a:bodyPr/>
                    <a:lstStyle/>
                    <a:p>
                      <a:pPr algn="ctr"/>
                      <a:r>
                        <a:rPr sz="750" b="0">
                          <a:solidFill>
                            <a:srgbClr val="202020"/>
                          </a:solidFill>
                        </a:rPr>
                        <a:t>0.670</a:t>
                      </a:r>
                    </a:p>
                  </a:txBody>
                  <a:tcPr>
                    <a:solidFill>
                      <a:srgbClr val="FFFFFF"/>
                    </a:solidFill>
                  </a:tcPr>
                </a:tc>
                <a:tc>
                  <a:txBody>
                    <a:bodyPr/>
                    <a:lstStyle/>
                    <a:p>
                      <a:pPr algn="ctr"/>
                      <a:r>
                        <a:rPr sz="750" b="0">
                          <a:solidFill>
                            <a:srgbClr val="202020"/>
                          </a:solidFill>
                        </a:rPr>
                        <a:t>0.701</a:t>
                      </a:r>
                    </a:p>
                  </a:txBody>
                  <a:tcPr>
                    <a:solidFill>
                      <a:srgbClr val="FFFFFF"/>
                    </a:solidFill>
                  </a:tcPr>
                </a:tc>
                <a:tc>
                  <a:txBody>
                    <a:bodyPr/>
                    <a:lstStyle/>
                    <a:p>
                      <a:pPr algn="ctr"/>
                      <a:r>
                        <a:rPr sz="750" b="0">
                          <a:solidFill>
                            <a:srgbClr val="202020"/>
                          </a:solidFill>
                        </a:rPr>
                        <a:t>0.670</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0.103</a:t>
                      </a:r>
                    </a:p>
                  </a:txBody>
                  <a:tcPr>
                    <a:solidFill>
                      <a:srgbClr val="E8F0FE"/>
                    </a:solidFill>
                  </a:tcPr>
                </a:tc>
                <a:tc>
                  <a:txBody>
                    <a:bodyPr/>
                    <a:lstStyle/>
                    <a:p>
                      <a:pPr algn="ctr"/>
                      <a:r>
                        <a:rPr sz="750" b="0">
                          <a:solidFill>
                            <a:srgbClr val="202020"/>
                          </a:solidFill>
                        </a:rPr>
                        <a:t>0.152</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0.152</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0.160</a:t>
                      </a:r>
                    </a:p>
                  </a:txBody>
                  <a:tcPr>
                    <a:solidFill>
                      <a:srgbClr val="FFFFFF"/>
                    </a:solidFill>
                  </a:tcPr>
                </a:tc>
                <a:tc>
                  <a:txBody>
                    <a:bodyPr/>
                    <a:lstStyle/>
                    <a:p>
                      <a:pPr algn="ctr"/>
                      <a:r>
                        <a:rPr sz="750" b="0">
                          <a:solidFill>
                            <a:srgbClr val="202020"/>
                          </a:solidFill>
                        </a:rPr>
                        <a:t>0.529</a:t>
                      </a:r>
                    </a:p>
                  </a:txBody>
                  <a:tcPr>
                    <a:solidFill>
                      <a:srgbClr val="FFFFFF"/>
                    </a:solidFill>
                  </a:tcPr>
                </a:tc>
                <a:tc>
                  <a:txBody>
                    <a:bodyPr/>
                    <a:lstStyle/>
                    <a:p>
                      <a:pPr algn="ctr"/>
                      <a:r>
                        <a:rPr sz="750" b="0">
                          <a:solidFill>
                            <a:srgbClr val="202020"/>
                          </a:solidFill>
                        </a:rPr>
                        <a:t>0.580</a:t>
                      </a:r>
                    </a:p>
                  </a:txBody>
                  <a:tcPr>
                    <a:solidFill>
                      <a:srgbClr val="FFFFFF"/>
                    </a:solidFill>
                  </a:tcPr>
                </a:tc>
                <a:tc>
                  <a:txBody>
                    <a:bodyPr/>
                    <a:lstStyle/>
                    <a:p>
                      <a:pPr algn="ctr"/>
                      <a:r>
                        <a:rPr sz="750" b="0">
                          <a:solidFill>
                            <a:srgbClr val="202020"/>
                          </a:solidFill>
                        </a:rPr>
                        <a:t>0.529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0.125</a:t>
                      </a:r>
                    </a:p>
                  </a:txBody>
                  <a:tcPr>
                    <a:solidFill>
                      <a:srgbClr val="FFFFFF"/>
                    </a:solidFill>
                  </a:tcPr>
                </a:tc>
                <a:tc>
                  <a:txBody>
                    <a:bodyPr/>
                    <a:lstStyle/>
                    <a:p>
                      <a:pPr algn="ctr"/>
                      <a:r>
                        <a:rPr sz="750" b="0">
                          <a:solidFill>
                            <a:srgbClr val="202020"/>
                          </a:solidFill>
                        </a:rPr>
                        <a:t>0.686</a:t>
                      </a:r>
                    </a:p>
                  </a:txBody>
                  <a:tcPr>
                    <a:solidFill>
                      <a:srgbClr val="FFFFFF"/>
                    </a:solidFill>
                  </a:tcPr>
                </a:tc>
                <a:tc>
                  <a:txBody>
                    <a:bodyPr/>
                    <a:lstStyle/>
                    <a:p>
                      <a:pPr algn="ctr"/>
                      <a:r>
                        <a:rPr sz="750" b="0">
                          <a:solidFill>
                            <a:srgbClr val="202020"/>
                          </a:solidFill>
                        </a:rPr>
                        <a:t>0.638</a:t>
                      </a:r>
                    </a:p>
                  </a:txBody>
                  <a:tcPr>
                    <a:solidFill>
                      <a:srgbClr val="FFFFFF"/>
                    </a:solidFill>
                  </a:tcPr>
                </a:tc>
                <a:tc>
                  <a:txBody>
                    <a:bodyPr/>
                    <a:lstStyle/>
                    <a:p>
                      <a:pPr algn="ctr"/>
                      <a:r>
                        <a:rPr sz="750" b="0">
                          <a:solidFill>
                            <a:srgbClr val="202020"/>
                          </a:solidFill>
                        </a:rPr>
                        <a:t>0.686</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0.179</a:t>
                      </a:r>
                    </a:p>
                  </a:txBody>
                  <a:tcPr>
                    <a:solidFill>
                      <a:srgbClr val="FFFFFF"/>
                    </a:solidFill>
                  </a:tcPr>
                </a:tc>
                <a:tc>
                  <a:txBody>
                    <a:bodyPr/>
                    <a:lstStyle/>
                    <a:p>
                      <a:pPr algn="ctr"/>
                      <a:r>
                        <a:rPr sz="750" b="0">
                          <a:solidFill>
                            <a:srgbClr val="202020"/>
                          </a:solidFill>
                        </a:rPr>
                        <a:t>0.705</a:t>
                      </a:r>
                    </a:p>
                  </a:txBody>
                  <a:tcPr>
                    <a:solidFill>
                      <a:srgbClr val="FFFFFF"/>
                    </a:solidFill>
                  </a:tcPr>
                </a:tc>
                <a:tc>
                  <a:txBody>
                    <a:bodyPr/>
                    <a:lstStyle/>
                    <a:p>
                      <a:pPr algn="ctr"/>
                      <a:r>
                        <a:rPr sz="750" b="0">
                          <a:solidFill>
                            <a:srgbClr val="202020"/>
                          </a:solidFill>
                        </a:rPr>
                        <a:t>0.676</a:t>
                      </a:r>
                    </a:p>
                  </a:txBody>
                  <a:tcPr>
                    <a:solidFill>
                      <a:srgbClr val="FFFFFF"/>
                    </a:solidFill>
                  </a:tcPr>
                </a:tc>
                <a:tc>
                  <a:txBody>
                    <a:bodyPr/>
                    <a:lstStyle/>
                    <a:p>
                      <a:pPr algn="ctr"/>
                      <a:r>
                        <a:rPr sz="750" b="0">
                          <a:solidFill>
                            <a:srgbClr val="202020"/>
                          </a:solidFill>
                        </a:rPr>
                        <a:t>0.705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0.247</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0.726</a:t>
                      </a:r>
                    </a:p>
                  </a:txBody>
                  <a:tcPr>
                    <a:solidFill>
                      <a:srgbClr val="FFFFFF"/>
                    </a:solidFill>
                  </a:tcPr>
                </a:tc>
                <a:tc>
                  <a:txBody>
                    <a:bodyPr/>
                    <a:lstStyle/>
                    <a:p>
                      <a:pPr algn="ctr"/>
                      <a:r>
                        <a:rPr sz="750" b="0">
                          <a:solidFill>
                            <a:srgbClr val="202020"/>
                          </a:solidFill>
                        </a:rPr>
                        <a:t>0.703</a:t>
                      </a:r>
                    </a:p>
                  </a:txBody>
                  <a:tcPr>
                    <a:solidFill>
                      <a:srgbClr val="FFFFFF"/>
                    </a:solidFill>
                  </a:tcPr>
                </a:tc>
              </a:tr>
            </a:tbl>
          </a:graphicData>
        </a:graphic>
      </p:graphicFrame>
      <p:sp>
        <p:nvSpPr>
          <p:cNvPr id="7" name="TextBox 6"/>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CK+ → Primer (4-Class)</a:t>
            </a:r>
          </a:p>
        </p:txBody>
      </p:sp>
      <p:graphicFrame>
        <p:nvGraphicFramePr>
          <p:cNvPr id="8" name="Table 7"/>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0.396</a:t>
                      </a:r>
                    </a:p>
                  </a:txBody>
                  <a:tcPr>
                    <a:solidFill>
                      <a:srgbClr val="E6F4EA"/>
                    </a:solidFill>
                  </a:tcPr>
                </a:tc>
                <a:tc>
                  <a:txBody>
                    <a:bodyPr/>
                    <a:lstStyle/>
                    <a:p>
                      <a:pPr algn="ctr"/>
                      <a:r>
                        <a:rPr sz="750" b="0">
                          <a:solidFill>
                            <a:srgbClr val="202020"/>
                          </a:solidFill>
                        </a:rPr>
                        <a:t>0.642</a:t>
                      </a:r>
                    </a:p>
                  </a:txBody>
                  <a:tcPr>
                    <a:solidFill>
                      <a:srgbClr val="E6F4EA"/>
                    </a:solidFill>
                  </a:tcPr>
                </a:tc>
                <a:tc>
                  <a:txBody>
                    <a:bodyPr/>
                    <a:lstStyle/>
                    <a:p>
                      <a:pPr algn="ctr"/>
                      <a:r>
                        <a:rPr sz="750" b="0">
                          <a:solidFill>
                            <a:srgbClr val="202020"/>
                          </a:solidFill>
                        </a:rPr>
                        <a:t>0.703</a:t>
                      </a:r>
                    </a:p>
                  </a:txBody>
                  <a:tcPr>
                    <a:solidFill>
                      <a:srgbClr val="E6F4EA"/>
                    </a:solidFill>
                  </a:tcPr>
                </a:tc>
                <a:tc>
                  <a:txBody>
                    <a:bodyPr/>
                    <a:lstStyle/>
                    <a:p>
                      <a:pPr algn="ctr"/>
                      <a:r>
                        <a:rPr sz="750" b="0">
                          <a:solidFill>
                            <a:srgbClr val="202020"/>
                          </a:solidFill>
                        </a:rPr>
                        <a:t>0.642</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0.072</a:t>
                      </a:r>
                    </a:p>
                  </a:txBody>
                  <a:tcPr>
                    <a:solidFill>
                      <a:srgbClr val="FFFFFF"/>
                    </a:solidFill>
                  </a:tcPr>
                </a:tc>
                <a:tc>
                  <a:txBody>
                    <a:bodyPr/>
                    <a:lstStyle/>
                    <a:p>
                      <a:pPr algn="ctr"/>
                      <a:r>
                        <a:rPr sz="750" b="0">
                          <a:solidFill>
                            <a:srgbClr val="202020"/>
                          </a:solidFill>
                        </a:rPr>
                        <a:t>0.102</a:t>
                      </a:r>
                    </a:p>
                  </a:txBody>
                  <a:tcPr>
                    <a:solidFill>
                      <a:srgbClr val="FFFFFF"/>
                    </a:solidFill>
                  </a:tcPr>
                </a:tc>
                <a:tc>
                  <a:txBody>
                    <a:bodyPr/>
                    <a:lstStyle/>
                    <a:p>
                      <a:pPr algn="ctr"/>
                      <a:r>
                        <a:rPr sz="750" b="0">
                          <a:solidFill>
                            <a:srgbClr val="202020"/>
                          </a:solidFill>
                        </a:rPr>
                        <a:t>0.093</a:t>
                      </a:r>
                    </a:p>
                  </a:txBody>
                  <a:tcPr>
                    <a:solidFill>
                      <a:srgbClr val="FFFFFF"/>
                    </a:solidFill>
                  </a:tcPr>
                </a:tc>
                <a:tc>
                  <a:txBody>
                    <a:bodyPr/>
                    <a:lstStyle/>
                    <a:p>
                      <a:pPr algn="ctr"/>
                      <a:r>
                        <a:rPr sz="750" b="0">
                          <a:solidFill>
                            <a:srgbClr val="202020"/>
                          </a:solidFill>
                        </a:rPr>
                        <a:t>0.102</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0.186</a:t>
                      </a:r>
                    </a:p>
                  </a:txBody>
                  <a:tcPr>
                    <a:solidFill>
                      <a:srgbClr val="E8F0FE"/>
                    </a:solidFill>
                  </a:tcPr>
                </a:tc>
                <a:tc>
                  <a:txBody>
                    <a:bodyPr/>
                    <a:lstStyle/>
                    <a:p>
                      <a:pPr algn="ctr"/>
                      <a:r>
                        <a:rPr sz="750" b="0">
                          <a:solidFill>
                            <a:srgbClr val="202020"/>
                          </a:solidFill>
                        </a:rPr>
                        <a:t>0.465</a:t>
                      </a:r>
                    </a:p>
                  </a:txBody>
                  <a:tcPr>
                    <a:solidFill>
                      <a:srgbClr val="E8F0FE"/>
                    </a:solidFill>
                  </a:tcPr>
                </a:tc>
                <a:tc>
                  <a:txBody>
                    <a:bodyPr/>
                    <a:lstStyle/>
                    <a:p>
                      <a:pPr algn="ctr"/>
                      <a:r>
                        <a:rPr sz="750" b="0">
                          <a:solidFill>
                            <a:srgbClr val="202020"/>
                          </a:solidFill>
                        </a:rPr>
                        <a:t>0.532</a:t>
                      </a:r>
                    </a:p>
                  </a:txBody>
                  <a:tcPr>
                    <a:solidFill>
                      <a:srgbClr val="E8F0FE"/>
                    </a:solidFill>
                  </a:tcPr>
                </a:tc>
                <a:tc>
                  <a:txBody>
                    <a:bodyPr/>
                    <a:lstStyle/>
                    <a:p>
                      <a:pPr algn="ctr"/>
                      <a:r>
                        <a:rPr sz="750" b="0">
                          <a:solidFill>
                            <a:srgbClr val="202020"/>
                          </a:solidFill>
                        </a:rPr>
                        <a:t>0.465</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0.258</a:t>
                      </a:r>
                    </a:p>
                  </a:txBody>
                  <a:tcPr>
                    <a:solidFill>
                      <a:srgbClr val="FFFFFF"/>
                    </a:solidFill>
                  </a:tcPr>
                </a:tc>
                <a:tc>
                  <a:txBody>
                    <a:bodyPr/>
                    <a:lstStyle/>
                    <a:p>
                      <a:pPr algn="ctr"/>
                      <a:r>
                        <a:rPr sz="750" b="0">
                          <a:solidFill>
                            <a:srgbClr val="202020"/>
                          </a:solidFill>
                        </a:rPr>
                        <a:t>0.386</a:t>
                      </a:r>
                    </a:p>
                  </a:txBody>
                  <a:tcPr>
                    <a:solidFill>
                      <a:srgbClr val="FFFFFF"/>
                    </a:solidFill>
                  </a:tcPr>
                </a:tc>
                <a:tc>
                  <a:txBody>
                    <a:bodyPr/>
                    <a:lstStyle/>
                    <a:p>
                      <a:pPr algn="ctr"/>
                      <a:r>
                        <a:rPr sz="750" b="0">
                          <a:solidFill>
                            <a:srgbClr val="202020"/>
                          </a:solidFill>
                        </a:rPr>
                        <a:t>0.527</a:t>
                      </a:r>
                    </a:p>
                  </a:txBody>
                  <a:tcPr>
                    <a:solidFill>
                      <a:srgbClr val="FFFFFF"/>
                    </a:solidFill>
                  </a:tcPr>
                </a:tc>
                <a:tc>
                  <a:txBody>
                    <a:bodyPr/>
                    <a:lstStyle/>
                    <a:p>
                      <a:pPr algn="ctr"/>
                      <a:r>
                        <a:rPr sz="750" b="0">
                          <a:solidFill>
                            <a:srgbClr val="202020"/>
                          </a:solidFill>
                        </a:rPr>
                        <a:t>0.386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0.202</a:t>
                      </a:r>
                    </a:p>
                  </a:txBody>
                  <a:tcPr>
                    <a:solidFill>
                      <a:srgbClr val="E8F0FE"/>
                    </a:solidFill>
                  </a:tcPr>
                </a:tc>
                <a:tc>
                  <a:txBody>
                    <a:bodyPr/>
                    <a:lstStyle/>
                    <a:p>
                      <a:pPr algn="ctr"/>
                      <a:r>
                        <a:rPr sz="750" b="0">
                          <a:solidFill>
                            <a:srgbClr val="202020"/>
                          </a:solidFill>
                        </a:rPr>
                        <a:t>0.271</a:t>
                      </a:r>
                    </a:p>
                  </a:txBody>
                  <a:tcPr>
                    <a:solidFill>
                      <a:srgbClr val="E8F0FE"/>
                    </a:solidFill>
                  </a:tcPr>
                </a:tc>
                <a:tc>
                  <a:txBody>
                    <a:bodyPr/>
                    <a:lstStyle/>
                    <a:p>
                      <a:pPr algn="ctr"/>
                      <a:r>
                        <a:rPr sz="750" b="0">
                          <a:solidFill>
                            <a:srgbClr val="202020"/>
                          </a:solidFill>
                        </a:rPr>
                        <a:t>0.381</a:t>
                      </a:r>
                    </a:p>
                  </a:txBody>
                  <a:tcPr>
                    <a:solidFill>
                      <a:srgbClr val="E8F0FE"/>
                    </a:solidFill>
                  </a:tcPr>
                </a:tc>
                <a:tc>
                  <a:txBody>
                    <a:bodyPr/>
                    <a:lstStyle/>
                    <a:p>
                      <a:pPr algn="ctr"/>
                      <a:r>
                        <a:rPr sz="750" b="0">
                          <a:solidFill>
                            <a:srgbClr val="202020"/>
                          </a:solidFill>
                        </a:rPr>
                        <a:t>0.271</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0.245</a:t>
                      </a:r>
                    </a:p>
                  </a:txBody>
                  <a:tcPr>
                    <a:solidFill>
                      <a:srgbClr val="FFFFFF"/>
                    </a:solidFill>
                  </a:tcPr>
                </a:tc>
                <a:tc>
                  <a:txBody>
                    <a:bodyPr/>
                    <a:lstStyle/>
                    <a:p>
                      <a:pPr algn="ctr"/>
                      <a:r>
                        <a:rPr sz="750" b="0">
                          <a:solidFill>
                            <a:srgbClr val="202020"/>
                          </a:solidFill>
                        </a:rPr>
                        <a:t>0.489</a:t>
                      </a:r>
                    </a:p>
                  </a:txBody>
                  <a:tcPr>
                    <a:solidFill>
                      <a:srgbClr val="FFFFFF"/>
                    </a:solidFill>
                  </a:tcPr>
                </a:tc>
                <a:tc>
                  <a:txBody>
                    <a:bodyPr/>
                    <a:lstStyle/>
                    <a:p>
                      <a:pPr algn="ctr"/>
                      <a:r>
                        <a:rPr sz="750" b="0">
                          <a:solidFill>
                            <a:srgbClr val="202020"/>
                          </a:solidFill>
                        </a:rPr>
                        <a:t>0.556</a:t>
                      </a:r>
                    </a:p>
                  </a:txBody>
                  <a:tcPr>
                    <a:solidFill>
                      <a:srgbClr val="FFFFFF"/>
                    </a:solidFill>
                  </a:tcPr>
                </a:tc>
                <a:tc>
                  <a:txBody>
                    <a:bodyPr/>
                    <a:lstStyle/>
                    <a:p>
                      <a:pPr algn="ctr"/>
                      <a:r>
                        <a:rPr sz="750" b="0">
                          <a:solidFill>
                            <a:srgbClr val="202020"/>
                          </a:solidFill>
                        </a:rPr>
                        <a:t>0.489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0.207</a:t>
                      </a:r>
                    </a:p>
                  </a:txBody>
                  <a:tcPr>
                    <a:solidFill>
                      <a:srgbClr val="FFFFFF"/>
                    </a:solidFill>
                  </a:tcPr>
                </a:tc>
                <a:tc>
                  <a:txBody>
                    <a:bodyPr/>
                    <a:lstStyle/>
                    <a:p>
                      <a:pPr algn="ctr"/>
                      <a:r>
                        <a:rPr sz="750" b="0">
                          <a:solidFill>
                            <a:srgbClr val="202020"/>
                          </a:solidFill>
                        </a:rPr>
                        <a:t>0.577</a:t>
                      </a:r>
                    </a:p>
                  </a:txBody>
                  <a:tcPr>
                    <a:solidFill>
                      <a:srgbClr val="FFFFFF"/>
                    </a:solidFill>
                  </a:tcPr>
                </a:tc>
                <a:tc>
                  <a:txBody>
                    <a:bodyPr/>
                    <a:lstStyle/>
                    <a:p>
                      <a:pPr algn="ctr"/>
                      <a:r>
                        <a:rPr sz="750" b="0">
                          <a:solidFill>
                            <a:srgbClr val="202020"/>
                          </a:solidFill>
                        </a:rPr>
                        <a:t>0.582</a:t>
                      </a:r>
                    </a:p>
                  </a:txBody>
                  <a:tcPr>
                    <a:solidFill>
                      <a:srgbClr val="FFFFFF"/>
                    </a:solidFill>
                  </a:tcPr>
                </a:tc>
                <a:tc>
                  <a:txBody>
                    <a:bodyPr/>
                    <a:lstStyle/>
                    <a:p>
                      <a:pPr algn="ctr"/>
                      <a:r>
                        <a:rPr sz="750" b="0">
                          <a:solidFill>
                            <a:srgbClr val="202020"/>
                          </a:solidFill>
                        </a:rPr>
                        <a:t>0.577</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0.194</a:t>
                      </a:r>
                    </a:p>
                  </a:txBody>
                  <a:tcPr>
                    <a:solidFill>
                      <a:srgbClr val="FFFFFF"/>
                    </a:solidFill>
                  </a:tcPr>
                </a:tc>
                <a:tc>
                  <a:txBody>
                    <a:bodyPr/>
                    <a:lstStyle/>
                    <a:p>
                      <a:pPr algn="ctr"/>
                      <a:r>
                        <a:rPr sz="750" b="0">
                          <a:solidFill>
                            <a:srgbClr val="202020"/>
                          </a:solidFill>
                        </a:rPr>
                        <a:t>0.288</a:t>
                      </a:r>
                    </a:p>
                  </a:txBody>
                  <a:tcPr>
                    <a:solidFill>
                      <a:srgbClr val="FFFFFF"/>
                    </a:solidFill>
                  </a:tcPr>
                </a:tc>
                <a:tc>
                  <a:txBody>
                    <a:bodyPr/>
                    <a:lstStyle/>
                    <a:p>
                      <a:pPr algn="ctr"/>
                      <a:r>
                        <a:rPr sz="750" b="0">
                          <a:solidFill>
                            <a:srgbClr val="202020"/>
                          </a:solidFill>
                        </a:rPr>
                        <a:t>0.194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0.141</a:t>
                      </a:r>
                    </a:p>
                  </a:txBody>
                  <a:tcPr>
                    <a:solidFill>
                      <a:srgbClr val="FFFFFF"/>
                    </a:solidFill>
                  </a:tcPr>
                </a:tc>
                <a:tc>
                  <a:txBody>
                    <a:bodyPr/>
                    <a:lstStyle/>
                    <a:p>
                      <a:pPr algn="ctr"/>
                      <a:r>
                        <a:rPr sz="750" b="0">
                          <a:solidFill>
                            <a:srgbClr val="202020"/>
                          </a:solidFill>
                        </a:rPr>
                        <a:t>0.182</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0.182</a:t>
                      </a:r>
                    </a:p>
                  </a:txBody>
                  <a:tcPr>
                    <a:solidFill>
                      <a:srgbClr val="FFFFFF"/>
                    </a:solidFill>
                  </a:tcPr>
                </a:tc>
              </a:tr>
            </a:tbl>
          </a:graphicData>
        </a:graphic>
      </p:graphicFrame>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RAF-DB → Primer</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 Primer (7-Class)</a:t>
            </a:r>
          </a:p>
        </p:txBody>
      </p:sp>
      <p:graphicFrame>
        <p:nvGraphicFramePr>
          <p:cNvPr id="5" name="Table 4"/>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0.099</a:t>
                      </a:r>
                    </a:p>
                  </a:txBody>
                  <a:tcPr>
                    <a:solidFill>
                      <a:srgbClr val="E8F0FE"/>
                    </a:solidFill>
                  </a:tcPr>
                </a:tc>
                <a:tc>
                  <a:txBody>
                    <a:bodyPr/>
                    <a:lstStyle/>
                    <a:p>
                      <a:pPr algn="ctr"/>
                      <a:r>
                        <a:rPr sz="750" b="0">
                          <a:solidFill>
                            <a:srgbClr val="202020"/>
                          </a:solidFill>
                        </a:rPr>
                        <a:t>0.132</a:t>
                      </a:r>
                    </a:p>
                  </a:txBody>
                  <a:tcPr>
                    <a:solidFill>
                      <a:srgbClr val="E8F0FE"/>
                    </a:solidFill>
                  </a:tcPr>
                </a:tc>
                <a:tc>
                  <a:txBody>
                    <a:bodyPr/>
                    <a:lstStyle/>
                    <a:p>
                      <a:pPr algn="ctr"/>
                      <a:r>
                        <a:rPr sz="750" b="0">
                          <a:solidFill>
                            <a:srgbClr val="202020"/>
                          </a:solidFill>
                        </a:rPr>
                        <a:t>0.099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0.183</a:t>
                      </a:r>
                    </a:p>
                  </a:txBody>
                  <a:tcPr>
                    <a:solidFill>
                      <a:srgbClr val="E6F4EA"/>
                    </a:solidFill>
                  </a:tcPr>
                </a:tc>
                <a:tc>
                  <a:txBody>
                    <a:bodyPr/>
                    <a:lstStyle/>
                    <a:p>
                      <a:pPr algn="ctr"/>
                      <a:r>
                        <a:rPr sz="750" b="0">
                          <a:solidFill>
                            <a:srgbClr val="202020"/>
                          </a:solidFill>
                        </a:rPr>
                        <a:t>0.640</a:t>
                      </a:r>
                    </a:p>
                  </a:txBody>
                  <a:tcPr>
                    <a:solidFill>
                      <a:srgbClr val="E6F4EA"/>
                    </a:solidFill>
                  </a:tcPr>
                </a:tc>
                <a:tc>
                  <a:txBody>
                    <a:bodyPr/>
                    <a:lstStyle/>
                    <a:p>
                      <a:pPr algn="ctr"/>
                      <a:r>
                        <a:rPr sz="750" b="0">
                          <a:solidFill>
                            <a:srgbClr val="202020"/>
                          </a:solidFill>
                        </a:rPr>
                        <a:t>0.672</a:t>
                      </a:r>
                    </a:p>
                  </a:txBody>
                  <a:tcPr>
                    <a:solidFill>
                      <a:srgbClr val="E6F4EA"/>
                    </a:solidFill>
                  </a:tcPr>
                </a:tc>
                <a:tc>
                  <a:txBody>
                    <a:bodyPr/>
                    <a:lstStyle/>
                    <a:p>
                      <a:pPr algn="ctr"/>
                      <a:r>
                        <a:rPr sz="750" b="0">
                          <a:solidFill>
                            <a:srgbClr val="202020"/>
                          </a:solidFill>
                        </a:rPr>
                        <a:t>0.640</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0.109</a:t>
                      </a:r>
                    </a:p>
                  </a:txBody>
                  <a:tcPr>
                    <a:solidFill>
                      <a:srgbClr val="E8F0FE"/>
                    </a:solidFill>
                  </a:tcPr>
                </a:tc>
                <a:tc>
                  <a:txBody>
                    <a:bodyPr/>
                    <a:lstStyle/>
                    <a:p>
                      <a:pPr algn="ctr"/>
                      <a:r>
                        <a:rPr sz="750" b="0">
                          <a:solidFill>
                            <a:srgbClr val="202020"/>
                          </a:solidFill>
                        </a:rPr>
                        <a:t>0.237</a:t>
                      </a:r>
                    </a:p>
                  </a:txBody>
                  <a:tcPr>
                    <a:solidFill>
                      <a:srgbClr val="E8F0FE"/>
                    </a:solidFill>
                  </a:tcPr>
                </a:tc>
                <a:tc>
                  <a:txBody>
                    <a:bodyPr/>
                    <a:lstStyle/>
                    <a:p>
                      <a:pPr algn="ctr"/>
                      <a:r>
                        <a:rPr sz="750" b="0">
                          <a:solidFill>
                            <a:srgbClr val="202020"/>
                          </a:solidFill>
                        </a:rPr>
                        <a:t>0.287</a:t>
                      </a:r>
                    </a:p>
                  </a:txBody>
                  <a:tcPr>
                    <a:solidFill>
                      <a:srgbClr val="E8F0FE"/>
                    </a:solidFill>
                  </a:tcPr>
                </a:tc>
                <a:tc>
                  <a:txBody>
                    <a:bodyPr/>
                    <a:lstStyle/>
                    <a:p>
                      <a:pPr algn="ctr"/>
                      <a:r>
                        <a:rPr sz="750" b="0">
                          <a:solidFill>
                            <a:srgbClr val="202020"/>
                          </a:solidFill>
                        </a:rPr>
                        <a:t>0.237</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0.175</a:t>
                      </a:r>
                    </a:p>
                  </a:txBody>
                  <a:tcPr>
                    <a:solidFill>
                      <a:srgbClr val="FFFFFF"/>
                    </a:solidFill>
                  </a:tcPr>
                </a:tc>
                <a:tc>
                  <a:txBody>
                    <a:bodyPr/>
                    <a:lstStyle/>
                    <a:p>
                      <a:pPr algn="ctr"/>
                      <a:r>
                        <a:rPr sz="750" b="0">
                          <a:solidFill>
                            <a:srgbClr val="202020"/>
                          </a:solidFill>
                        </a:rPr>
                        <a:t>0.545</a:t>
                      </a:r>
                    </a:p>
                  </a:txBody>
                  <a:tcPr>
                    <a:solidFill>
                      <a:srgbClr val="FFFFFF"/>
                    </a:solidFill>
                  </a:tcPr>
                </a:tc>
                <a:tc>
                  <a:txBody>
                    <a:bodyPr/>
                    <a:lstStyle/>
                    <a:p>
                      <a:pPr algn="ctr"/>
                      <a:r>
                        <a:rPr sz="750" b="0">
                          <a:solidFill>
                            <a:srgbClr val="202020"/>
                          </a:solidFill>
                        </a:rPr>
                        <a:t>0.611</a:t>
                      </a:r>
                    </a:p>
                  </a:txBody>
                  <a:tcPr>
                    <a:solidFill>
                      <a:srgbClr val="FFFFFF"/>
                    </a:solidFill>
                  </a:tcPr>
                </a:tc>
                <a:tc>
                  <a:txBody>
                    <a:bodyPr/>
                    <a:lstStyle/>
                    <a:p>
                      <a:pPr algn="ctr"/>
                      <a:r>
                        <a:rPr sz="750" b="0">
                          <a:solidFill>
                            <a:srgbClr val="202020"/>
                          </a:solidFill>
                        </a:rPr>
                        <a:t>0.545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0.180</a:t>
                      </a:r>
                    </a:p>
                  </a:txBody>
                  <a:tcPr>
                    <a:solidFill>
                      <a:srgbClr val="E8F0FE"/>
                    </a:solidFill>
                  </a:tcPr>
                </a:tc>
                <a:tc>
                  <a:txBody>
                    <a:bodyPr/>
                    <a:lstStyle/>
                    <a:p>
                      <a:pPr algn="ctr"/>
                      <a:r>
                        <a:rPr sz="750" b="0">
                          <a:solidFill>
                            <a:srgbClr val="202020"/>
                          </a:solidFill>
                        </a:rPr>
                        <a:t>0.479</a:t>
                      </a:r>
                    </a:p>
                  </a:txBody>
                  <a:tcPr>
                    <a:solidFill>
                      <a:srgbClr val="E8F0FE"/>
                    </a:solidFill>
                  </a:tcPr>
                </a:tc>
                <a:tc>
                  <a:txBody>
                    <a:bodyPr/>
                    <a:lstStyle/>
                    <a:p>
                      <a:pPr algn="ctr"/>
                      <a:r>
                        <a:rPr sz="750" b="0">
                          <a:solidFill>
                            <a:srgbClr val="202020"/>
                          </a:solidFill>
                        </a:rPr>
                        <a:t>0.562</a:t>
                      </a:r>
                    </a:p>
                  </a:txBody>
                  <a:tcPr>
                    <a:solidFill>
                      <a:srgbClr val="E8F0FE"/>
                    </a:solidFill>
                  </a:tcPr>
                </a:tc>
                <a:tc>
                  <a:txBody>
                    <a:bodyPr/>
                    <a:lstStyle/>
                    <a:p>
                      <a:pPr algn="ctr"/>
                      <a:r>
                        <a:rPr sz="750" b="0">
                          <a:solidFill>
                            <a:srgbClr val="202020"/>
                          </a:solidFill>
                        </a:rPr>
                        <a:t>0.479</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0.091</a:t>
                      </a:r>
                    </a:p>
                  </a:txBody>
                  <a:tcPr>
                    <a:solidFill>
                      <a:srgbClr val="FFFFFF"/>
                    </a:solidFill>
                  </a:tcPr>
                </a:tc>
                <a:tc>
                  <a:txBody>
                    <a:bodyPr/>
                    <a:lstStyle/>
                    <a:p>
                      <a:pPr algn="ctr"/>
                      <a:r>
                        <a:rPr sz="750" b="0">
                          <a:solidFill>
                            <a:srgbClr val="202020"/>
                          </a:solidFill>
                        </a:rPr>
                        <a:t>0.166</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0.166</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0.142</a:t>
                      </a:r>
                    </a:p>
                  </a:txBody>
                  <a:tcPr>
                    <a:solidFill>
                      <a:srgbClr val="FFFFFF"/>
                    </a:solidFill>
                  </a:tcPr>
                </a:tc>
                <a:tc>
                  <a:txBody>
                    <a:bodyPr/>
                    <a:lstStyle/>
                    <a:p>
                      <a:pPr algn="ctr"/>
                      <a:r>
                        <a:rPr sz="750" b="0">
                          <a:solidFill>
                            <a:srgbClr val="202020"/>
                          </a:solidFill>
                        </a:rPr>
                        <a:t>0.365</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0.365</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0.157</a:t>
                      </a:r>
                    </a:p>
                  </a:txBody>
                  <a:tcPr>
                    <a:solidFill>
                      <a:srgbClr val="FFFFFF"/>
                    </a:solidFill>
                  </a:tcPr>
                </a:tc>
                <a:tc>
                  <a:txBody>
                    <a:bodyPr/>
                    <a:lstStyle/>
                    <a:p>
                      <a:pPr algn="ctr"/>
                      <a:r>
                        <a:rPr sz="750" b="0">
                          <a:solidFill>
                            <a:srgbClr val="202020"/>
                          </a:solidFill>
                        </a:rPr>
                        <a:t>0.685</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0.153</a:t>
                      </a:r>
                    </a:p>
                  </a:txBody>
                  <a:tcPr>
                    <a:solidFill>
                      <a:srgbClr val="FFFFFF"/>
                    </a:solidFill>
                  </a:tcPr>
                </a:tc>
                <a:tc>
                  <a:txBody>
                    <a:bodyPr/>
                    <a:lstStyle/>
                    <a:p>
                      <a:pPr algn="ctr"/>
                      <a:r>
                        <a:rPr sz="750" b="0">
                          <a:solidFill>
                            <a:srgbClr val="202020"/>
                          </a:solidFill>
                        </a:rPr>
                        <a:t>0.483</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0.483</a:t>
                      </a:r>
                    </a:p>
                  </a:txBody>
                  <a:tcPr>
                    <a:solidFill>
                      <a:srgbClr val="FFFFFF"/>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 Primer (4-Class)</a:t>
            </a:r>
          </a:p>
        </p:txBody>
      </p:sp>
      <p:graphicFrame>
        <p:nvGraphicFramePr>
          <p:cNvPr id="7" name="Table 6"/>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0.264</a:t>
                      </a:r>
                    </a:p>
                  </a:txBody>
                  <a:tcPr>
                    <a:solidFill>
                      <a:srgbClr val="FFFFFF"/>
                    </a:solidFill>
                  </a:tcPr>
                </a:tc>
                <a:tc>
                  <a:txBody>
                    <a:bodyPr/>
                    <a:lstStyle/>
                    <a:p>
                      <a:pPr algn="ctr"/>
                      <a:r>
                        <a:rPr sz="750" b="0">
                          <a:solidFill>
                            <a:srgbClr val="202020"/>
                          </a:solidFill>
                        </a:rPr>
                        <a:t>0.487</a:t>
                      </a:r>
                    </a:p>
                  </a:txBody>
                  <a:tcPr>
                    <a:solidFill>
                      <a:srgbClr val="FFFFFF"/>
                    </a:solidFill>
                  </a:tcPr>
                </a:tc>
                <a:tc>
                  <a:txBody>
                    <a:bodyPr/>
                    <a:lstStyle/>
                    <a:p>
                      <a:pPr algn="ctr"/>
                      <a:r>
                        <a:rPr sz="750" b="0">
                          <a:solidFill>
                            <a:srgbClr val="202020"/>
                          </a:solidFill>
                        </a:rPr>
                        <a:t>0.553</a:t>
                      </a:r>
                    </a:p>
                  </a:txBody>
                  <a:tcPr>
                    <a:solidFill>
                      <a:srgbClr val="FFFFFF"/>
                    </a:solidFill>
                  </a:tcPr>
                </a:tc>
                <a:tc>
                  <a:txBody>
                    <a:bodyPr/>
                    <a:lstStyle/>
                    <a:p>
                      <a:pPr algn="ctr"/>
                      <a:r>
                        <a:rPr sz="750" b="0">
                          <a:solidFill>
                            <a:srgbClr val="202020"/>
                          </a:solidFill>
                        </a:rPr>
                        <a:t>0.487</a:t>
                      </a:r>
                    </a:p>
                  </a:txBody>
                  <a:tcPr>
                    <a:solidFill>
                      <a:srgbClr val="FFFFFF"/>
                    </a:solidFill>
                  </a:tcPr>
                </a:tc>
              </a:tr>
              <a:tr h="287382">
                <a:tc>
                  <a:txBody>
                    <a:bodyPr/>
                    <a:lstStyle/>
                    <a:p>
                      <a:pPr algn="l"/>
                      <a:r>
                        <a:rPr sz="750" b="1">
                          <a:solidFill>
                            <a:srgbClr val="202020"/>
                          </a:solidFill>
                        </a:rPr>
                        <a:t>Intermediate</a:t>
                      </a:r>
                    </a:p>
                  </a:txBody>
                  <a:tcPr>
                    <a:solidFill>
                      <a:srgbClr val="E6F4EA"/>
                    </a:solidFill>
                  </a:tcPr>
                </a:tc>
                <a:tc>
                  <a:txBody>
                    <a:bodyPr/>
                    <a:lstStyle/>
                    <a:p>
                      <a:pPr algn="ctr"/>
                      <a:r>
                        <a:rPr sz="750" b="0">
                          <a:solidFill>
                            <a:srgbClr val="202020"/>
                          </a:solidFill>
                        </a:rPr>
                        <a:t>0.269</a:t>
                      </a:r>
                    </a:p>
                  </a:txBody>
                  <a:tcPr>
                    <a:solidFill>
                      <a:srgbClr val="E6F4EA"/>
                    </a:solidFill>
                  </a:tcPr>
                </a:tc>
                <a:tc>
                  <a:txBody>
                    <a:bodyPr/>
                    <a:lstStyle/>
                    <a:p>
                      <a:pPr algn="ctr"/>
                      <a:r>
                        <a:rPr sz="750" b="0">
                          <a:solidFill>
                            <a:srgbClr val="202020"/>
                          </a:solidFill>
                        </a:rPr>
                        <a:t>0.551</a:t>
                      </a:r>
                    </a:p>
                  </a:txBody>
                  <a:tcPr>
                    <a:solidFill>
                      <a:srgbClr val="E6F4EA"/>
                    </a:solidFill>
                  </a:tcPr>
                </a:tc>
                <a:tc>
                  <a:txBody>
                    <a:bodyPr/>
                    <a:lstStyle/>
                    <a:p>
                      <a:pPr algn="ctr"/>
                      <a:r>
                        <a:rPr sz="750" b="0">
                          <a:solidFill>
                            <a:srgbClr val="202020"/>
                          </a:solidFill>
                        </a:rPr>
                        <a:t>0.594</a:t>
                      </a:r>
                    </a:p>
                  </a:txBody>
                  <a:tcPr>
                    <a:solidFill>
                      <a:srgbClr val="E6F4EA"/>
                    </a:solidFill>
                  </a:tcPr>
                </a:tc>
                <a:tc>
                  <a:txBody>
                    <a:bodyPr/>
                    <a:lstStyle/>
                    <a:p>
                      <a:pPr algn="ctr"/>
                      <a:r>
                        <a:rPr sz="750" b="0">
                          <a:solidFill>
                            <a:srgbClr val="202020"/>
                          </a:solidFill>
                        </a:rPr>
                        <a:t>0.551</a:t>
                      </a:r>
                    </a:p>
                  </a:txBody>
                  <a:tcPr>
                    <a:solidFill>
                      <a:srgbClr val="E6F4EA"/>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0.206</a:t>
                      </a:r>
                    </a:p>
                  </a:txBody>
                  <a:tcPr>
                    <a:solidFill>
                      <a:srgbClr val="FFFFFF"/>
                    </a:solidFill>
                  </a:tcPr>
                </a:tc>
                <a:tc>
                  <a:txBody>
                    <a:bodyPr/>
                    <a:lstStyle/>
                    <a:p>
                      <a:pPr algn="ctr"/>
                      <a:r>
                        <a:rPr sz="750" b="0">
                          <a:solidFill>
                            <a:srgbClr val="202020"/>
                          </a:solidFill>
                        </a:rPr>
                        <a:t>0.256</a:t>
                      </a:r>
                    </a:p>
                  </a:txBody>
                  <a:tcPr>
                    <a:solidFill>
                      <a:srgbClr val="FFFFFF"/>
                    </a:solidFill>
                  </a:tcPr>
                </a:tc>
                <a:tc>
                  <a:txBody>
                    <a:bodyPr/>
                    <a:lstStyle/>
                    <a:p>
                      <a:pPr algn="ctr"/>
                      <a:r>
                        <a:rPr sz="750" b="0">
                          <a:solidFill>
                            <a:srgbClr val="202020"/>
                          </a:solidFill>
                        </a:rPr>
                        <a:t>0.357</a:t>
                      </a:r>
                    </a:p>
                  </a:txBody>
                  <a:tcPr>
                    <a:solidFill>
                      <a:srgbClr val="FFFFFF"/>
                    </a:solidFill>
                  </a:tcPr>
                </a:tc>
                <a:tc>
                  <a:txBody>
                    <a:bodyPr/>
                    <a:lstStyle/>
                    <a:p>
                      <a:pPr algn="ctr"/>
                      <a:r>
                        <a:rPr sz="750" b="0">
                          <a:solidFill>
                            <a:srgbClr val="202020"/>
                          </a:solidFill>
                        </a:rPr>
                        <a:t>0.256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0.179</a:t>
                      </a:r>
                    </a:p>
                  </a:txBody>
                  <a:tcPr>
                    <a:solidFill>
                      <a:srgbClr val="E8F0FE"/>
                    </a:solidFill>
                  </a:tcPr>
                </a:tc>
                <a:tc>
                  <a:txBody>
                    <a:bodyPr/>
                    <a:lstStyle/>
                    <a:p>
                      <a:pPr algn="ctr"/>
                      <a:r>
                        <a:rPr sz="750" b="0">
                          <a:solidFill>
                            <a:srgbClr val="202020"/>
                          </a:solidFill>
                        </a:rPr>
                        <a:t>0.306</a:t>
                      </a:r>
                    </a:p>
                  </a:txBody>
                  <a:tcPr>
                    <a:solidFill>
                      <a:srgbClr val="E8F0FE"/>
                    </a:solidFill>
                  </a:tcPr>
                </a:tc>
                <a:tc>
                  <a:txBody>
                    <a:bodyPr/>
                    <a:lstStyle/>
                    <a:p>
                      <a:pPr algn="ctr"/>
                      <a:r>
                        <a:rPr sz="750" b="0">
                          <a:solidFill>
                            <a:srgbClr val="202020"/>
                          </a:solidFill>
                        </a:rPr>
                        <a:t>0.363</a:t>
                      </a:r>
                    </a:p>
                  </a:txBody>
                  <a:tcPr>
                    <a:solidFill>
                      <a:srgbClr val="E8F0FE"/>
                    </a:solidFill>
                  </a:tcPr>
                </a:tc>
                <a:tc>
                  <a:txBody>
                    <a:bodyPr/>
                    <a:lstStyle/>
                    <a:p>
                      <a:pPr algn="ctr"/>
                      <a:r>
                        <a:rPr sz="750" b="0">
                          <a:solidFill>
                            <a:srgbClr val="202020"/>
                          </a:solidFill>
                        </a:rPr>
                        <a:t>0.306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0.170</a:t>
                      </a:r>
                    </a:p>
                  </a:txBody>
                  <a:tcPr>
                    <a:solidFill>
                      <a:srgbClr val="FFFFFF"/>
                    </a:solidFill>
                  </a:tcPr>
                </a:tc>
                <a:tc>
                  <a:txBody>
                    <a:bodyPr/>
                    <a:lstStyle/>
                    <a:p>
                      <a:pPr algn="ctr"/>
                      <a:r>
                        <a:rPr sz="750" b="0">
                          <a:solidFill>
                            <a:srgbClr val="202020"/>
                          </a:solidFill>
                        </a:rPr>
                        <a:t>0.137</a:t>
                      </a:r>
                    </a:p>
                  </a:txBody>
                  <a:tcPr>
                    <a:solidFill>
                      <a:srgbClr val="FFFFFF"/>
                    </a:solidFill>
                  </a:tcPr>
                </a:tc>
                <a:tc>
                  <a:txBody>
                    <a:bodyPr/>
                    <a:lstStyle/>
                    <a:p>
                      <a:pPr algn="ctr"/>
                      <a:r>
                        <a:rPr sz="750" b="0">
                          <a:solidFill>
                            <a:srgbClr val="202020"/>
                          </a:solidFill>
                        </a:rPr>
                        <a:t>0.147</a:t>
                      </a:r>
                    </a:p>
                  </a:txBody>
                  <a:tcPr>
                    <a:solidFill>
                      <a:srgbClr val="FFFFFF"/>
                    </a:solidFill>
                  </a:tcPr>
                </a:tc>
                <a:tc>
                  <a:txBody>
                    <a:bodyPr/>
                    <a:lstStyle/>
                    <a:p>
                      <a:pPr algn="ctr"/>
                      <a:r>
                        <a:rPr sz="750" b="0">
                          <a:solidFill>
                            <a:srgbClr val="202020"/>
                          </a:solidFill>
                        </a:rPr>
                        <a:t>0.137</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0.227</a:t>
                      </a:r>
                    </a:p>
                  </a:txBody>
                  <a:tcPr>
                    <a:solidFill>
                      <a:srgbClr val="FFFFFF"/>
                    </a:solidFill>
                  </a:tcPr>
                </a:tc>
                <a:tc>
                  <a:txBody>
                    <a:bodyPr/>
                    <a:lstStyle/>
                    <a:p>
                      <a:pPr algn="ctr"/>
                      <a:r>
                        <a:rPr sz="750" b="0">
                          <a:solidFill>
                            <a:srgbClr val="202020"/>
                          </a:solidFill>
                        </a:rPr>
                        <a:t>0.404</a:t>
                      </a:r>
                    </a:p>
                  </a:txBody>
                  <a:tcPr>
                    <a:solidFill>
                      <a:srgbClr val="FFFFFF"/>
                    </a:solidFill>
                  </a:tcPr>
                </a:tc>
                <a:tc>
                  <a:txBody>
                    <a:bodyPr/>
                    <a:lstStyle/>
                    <a:p>
                      <a:pPr algn="ctr"/>
                      <a:r>
                        <a:rPr sz="750" b="0">
                          <a:solidFill>
                            <a:srgbClr val="202020"/>
                          </a:solidFill>
                        </a:rPr>
                        <a:t>0.485</a:t>
                      </a:r>
                    </a:p>
                  </a:txBody>
                  <a:tcPr>
                    <a:solidFill>
                      <a:srgbClr val="FFFFFF"/>
                    </a:solidFill>
                  </a:tcPr>
                </a:tc>
                <a:tc>
                  <a:txBody>
                    <a:bodyPr/>
                    <a:lstStyle/>
                    <a:p>
                      <a:pPr algn="ctr"/>
                      <a:r>
                        <a:rPr sz="750" b="0">
                          <a:solidFill>
                            <a:srgbClr val="202020"/>
                          </a:solidFill>
                        </a:rPr>
                        <a:t>0.404</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0.311</a:t>
                      </a:r>
                    </a:p>
                  </a:txBody>
                  <a:tcPr>
                    <a:solidFill>
                      <a:srgbClr val="FFFFFF"/>
                    </a:solidFill>
                  </a:tcPr>
                </a:tc>
                <a:tc>
                  <a:txBody>
                    <a:bodyPr/>
                    <a:lstStyle/>
                    <a:p>
                      <a:pPr algn="ctr"/>
                      <a:r>
                        <a:rPr sz="750" b="0">
                          <a:solidFill>
                            <a:srgbClr val="202020"/>
                          </a:solidFill>
                        </a:rPr>
                        <a:t>0.477</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0.477</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0.517</a:t>
                      </a:r>
                    </a:p>
                  </a:txBody>
                  <a:tcPr>
                    <a:solidFill>
                      <a:srgbClr val="FFFFFF"/>
                    </a:solidFill>
                  </a:tcPr>
                </a:tc>
                <a:tc>
                  <a:txBody>
                    <a:bodyPr/>
                    <a:lstStyle/>
                    <a:p>
                      <a:pPr algn="ctr"/>
                      <a:r>
                        <a:rPr sz="750" b="0">
                          <a:solidFill>
                            <a:srgbClr val="202020"/>
                          </a:solidFill>
                        </a:rPr>
                        <a:t>0.459</a:t>
                      </a:r>
                    </a:p>
                  </a:txBody>
                  <a:tcPr>
                    <a:solidFill>
                      <a:srgbClr val="FFFFFF"/>
                    </a:solidFill>
                  </a:tcPr>
                </a:tc>
              </a:tr>
            </a:tbl>
          </a:graphicData>
        </a:graphic>
      </p:graphicFrame>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800" b="1"/>
              <a:t>SLIDE 33: Soft Label Training (Eksplorasi Liliana 2019-inspired, nb 71)</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100" b="0"/>
              <a:t>4 Loss Variants — CNN TL 4-class B1 Baseline (isolate efek loss function)</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Config</a:t>
                      </a:r>
                    </a:p>
                  </a:txBody>
                  <a:tcPr>
                    <a:solidFill>
                      <a:srgbClr val="1A73E8"/>
                    </a:solidFill>
                  </a:tcPr>
                </a:tc>
                <a:tc>
                  <a:txBody>
                    <a:bodyPr/>
                    <a:lstStyle/>
                    <a:p>
                      <a:pPr algn="ctr"/>
                      <a:r>
                        <a:rPr sz="900" b="1">
                          <a:solidFill>
                            <a:srgbClr val="FFFFFF"/>
                          </a:solidFill>
                        </a:rPr>
                        <a:t>Macro F1</a:t>
                      </a:r>
                    </a:p>
                  </a:txBody>
                  <a:tcPr>
                    <a:solidFill>
                      <a:srgbClr val="1A73E8"/>
                    </a:solidFill>
                  </a:tcPr>
                </a:tc>
                <a:tc>
                  <a:txBody>
                    <a:bodyPr/>
                    <a:lstStyle/>
                    <a:p>
                      <a:pPr algn="ctr"/>
                      <a:r>
                        <a:rPr sz="900" b="1">
                          <a:solidFill>
                            <a:srgbClr val="FFFFFF"/>
                          </a:solidFill>
                        </a:rPr>
                        <a:t>Micro F1</a:t>
                      </a:r>
                    </a:p>
                  </a:txBody>
                  <a:tcPr>
                    <a:solidFill>
                      <a:srgbClr val="1A73E8"/>
                    </a:solidFill>
                  </a:tcPr>
                </a:tc>
                <a:tc>
                  <a:txBody>
                    <a:bodyPr/>
                    <a:lstStyle/>
                    <a:p>
                      <a:pPr algn="ctr"/>
                      <a:r>
                        <a:rPr sz="900" b="1">
                          <a:solidFill>
                            <a:srgbClr val="FFFFFF"/>
                          </a:solidFill>
                        </a:rPr>
                        <a:t>W-F1</a:t>
                      </a:r>
                    </a:p>
                  </a:txBody>
                  <a:tcPr>
                    <a:solidFill>
                      <a:srgbClr val="1A73E8"/>
                    </a:solidFill>
                  </a:tcPr>
                </a:tc>
              </a:tr>
              <a:tr h="320040">
                <a:tc>
                  <a:txBody>
                    <a:bodyPr/>
                    <a:lstStyle/>
                    <a:p>
                      <a:pPr algn="l"/>
                      <a:r>
                        <a:rPr sz="850" b="1">
                          <a:solidFill>
                            <a:srgbClr val="202020"/>
                          </a:solidFill>
                        </a:rPr>
                        <a:t>A. Hard CE (baseline)</a:t>
                      </a:r>
                    </a:p>
                  </a:txBody>
                  <a:tcPr>
                    <a:solidFill>
                      <a:srgbClr val="E8F0FE"/>
                    </a:solidFill>
                  </a:tcPr>
                </a:tc>
                <a:tc>
                  <a:txBody>
                    <a:bodyPr/>
                    <a:lstStyle/>
                    <a:p>
                      <a:pPr algn="ctr"/>
                      <a:r>
                        <a:rPr sz="850" b="0">
                          <a:solidFill>
                            <a:srgbClr val="202020"/>
                          </a:solidFill>
                        </a:rPr>
                        <a:t>0.4269</a:t>
                      </a:r>
                    </a:p>
                  </a:txBody>
                  <a:tcPr>
                    <a:solidFill>
                      <a:srgbClr val="E8F0FE"/>
                    </a:solidFill>
                  </a:tcPr>
                </a:tc>
                <a:tc>
                  <a:txBody>
                    <a:bodyPr/>
                    <a:lstStyle/>
                    <a:p>
                      <a:pPr algn="ctr"/>
                      <a:r>
                        <a:rPr sz="850" b="0">
                          <a:solidFill>
                            <a:srgbClr val="202020"/>
                          </a:solidFill>
                        </a:rPr>
                        <a:t>0.6986</a:t>
                      </a:r>
                    </a:p>
                  </a:txBody>
                  <a:tcPr>
                    <a:solidFill>
                      <a:srgbClr val="E8F0FE"/>
                    </a:solidFill>
                  </a:tcPr>
                </a:tc>
                <a:tc>
                  <a:txBody>
                    <a:bodyPr/>
                    <a:lstStyle/>
                    <a:p>
                      <a:pPr algn="ctr"/>
                      <a:r>
                        <a:rPr sz="850" b="0">
                          <a:solidFill>
                            <a:srgbClr val="202020"/>
                          </a:solidFill>
                        </a:rPr>
                        <a:t>0.7155</a:t>
                      </a:r>
                    </a:p>
                  </a:txBody>
                  <a:tcPr>
                    <a:solidFill>
                      <a:srgbClr val="E8F0FE"/>
                    </a:solidFill>
                  </a:tcPr>
                </a:tc>
              </a:tr>
              <a:tr h="320040">
                <a:tc>
                  <a:txBody>
                    <a:bodyPr/>
                    <a:lstStyle/>
                    <a:p>
                      <a:pPr algn="l"/>
                      <a:r>
                        <a:rPr sz="850" b="1">
                          <a:solidFill>
                            <a:srgbClr val="202020"/>
                          </a:solidFill>
                        </a:rPr>
                        <a:t>B. Soft CE</a:t>
                      </a:r>
                    </a:p>
                  </a:txBody>
                  <a:tcPr>
                    <a:solidFill>
                      <a:srgbClr val="FFFFFF"/>
                    </a:solidFill>
                  </a:tcPr>
                </a:tc>
                <a:tc>
                  <a:txBody>
                    <a:bodyPr/>
                    <a:lstStyle/>
                    <a:p>
                      <a:pPr algn="ctr"/>
                      <a:r>
                        <a:rPr sz="850" b="0">
                          <a:solidFill>
                            <a:srgbClr val="202020"/>
                          </a:solidFill>
                        </a:rPr>
                        <a:t>0.4667</a:t>
                      </a:r>
                    </a:p>
                  </a:txBody>
                  <a:tcPr>
                    <a:solidFill>
                      <a:srgbClr val="FFFFFF"/>
                    </a:solidFill>
                  </a:tcPr>
                </a:tc>
                <a:tc>
                  <a:txBody>
                    <a:bodyPr/>
                    <a:lstStyle/>
                    <a:p>
                      <a:pPr algn="ctr"/>
                      <a:r>
                        <a:rPr sz="850" b="0">
                          <a:solidFill>
                            <a:srgbClr val="202020"/>
                          </a:solidFill>
                        </a:rPr>
                        <a:t>0.8407</a:t>
                      </a:r>
                    </a:p>
                  </a:txBody>
                  <a:tcPr>
                    <a:solidFill>
                      <a:srgbClr val="FFFFFF"/>
                    </a:solidFill>
                  </a:tcPr>
                </a:tc>
                <a:tc>
                  <a:txBody>
                    <a:bodyPr/>
                    <a:lstStyle/>
                    <a:p>
                      <a:pPr algn="ctr"/>
                      <a:r>
                        <a:rPr sz="850" b="0">
                          <a:solidFill>
                            <a:srgbClr val="202020"/>
                          </a:solidFill>
                        </a:rPr>
                        <a:t>0.8281</a:t>
                      </a:r>
                    </a:p>
                  </a:txBody>
                  <a:tcPr>
                    <a:solidFill>
                      <a:srgbClr val="FFFFFF"/>
                    </a:solidFill>
                  </a:tcPr>
                </a:tc>
              </a:tr>
              <a:tr h="320040">
                <a:tc>
                  <a:txBody>
                    <a:bodyPr/>
                    <a:lstStyle/>
                    <a:p>
                      <a:pPr algn="l"/>
                      <a:r>
                        <a:rPr sz="850" b="1">
                          <a:solidFill>
                            <a:srgbClr val="202020"/>
                          </a:solidFill>
                        </a:rPr>
                        <a:t>C. KL-divergence  ⭐</a:t>
                      </a:r>
                    </a:p>
                  </a:txBody>
                  <a:tcPr>
                    <a:solidFill>
                      <a:srgbClr val="E8F0FE"/>
                    </a:solidFill>
                  </a:tcPr>
                </a:tc>
                <a:tc>
                  <a:txBody>
                    <a:bodyPr/>
                    <a:lstStyle/>
                    <a:p>
                      <a:pPr algn="ctr"/>
                      <a:r>
                        <a:rPr sz="850" b="0">
                          <a:solidFill>
                            <a:srgbClr val="202020"/>
                          </a:solidFill>
                        </a:rPr>
                        <a:t>0.5170</a:t>
                      </a:r>
                    </a:p>
                  </a:txBody>
                  <a:tcPr>
                    <a:solidFill>
                      <a:srgbClr val="E8F0FE"/>
                    </a:solidFill>
                  </a:tcPr>
                </a:tc>
                <a:tc>
                  <a:txBody>
                    <a:bodyPr/>
                    <a:lstStyle/>
                    <a:p>
                      <a:pPr algn="ctr"/>
                      <a:r>
                        <a:rPr sz="850" b="0">
                          <a:solidFill>
                            <a:srgbClr val="202020"/>
                          </a:solidFill>
                        </a:rPr>
                        <a:t>0.8213</a:t>
                      </a:r>
                    </a:p>
                  </a:txBody>
                  <a:tcPr>
                    <a:solidFill>
                      <a:srgbClr val="E8F0FE"/>
                    </a:solidFill>
                  </a:tcPr>
                </a:tc>
                <a:tc>
                  <a:txBody>
                    <a:bodyPr/>
                    <a:lstStyle/>
                    <a:p>
                      <a:pPr algn="ctr"/>
                      <a:r>
                        <a:rPr sz="850" b="0">
                          <a:solidFill>
                            <a:srgbClr val="202020"/>
                          </a:solidFill>
                        </a:rPr>
                        <a:t>0.8258</a:t>
                      </a:r>
                    </a:p>
                  </a:txBody>
                  <a:tcPr>
                    <a:solidFill>
                      <a:srgbClr val="E8F0FE"/>
                    </a:solidFill>
                  </a:tcPr>
                </a:tc>
              </a:tr>
              <a:tr h="320040">
                <a:tc>
                  <a:txBody>
                    <a:bodyPr/>
                    <a:lstStyle/>
                    <a:p>
                      <a:pPr algn="l"/>
                      <a:r>
                        <a:rPr sz="850" b="1">
                          <a:solidFill>
                            <a:srgbClr val="202020"/>
                          </a:solidFill>
                        </a:rPr>
                        <a:t>D. Label Smoothing (ε=0.1)</a:t>
                      </a:r>
                    </a:p>
                  </a:txBody>
                  <a:tcPr>
                    <a:solidFill>
                      <a:srgbClr val="FFFFFF"/>
                    </a:solidFill>
                  </a:tcPr>
                </a:tc>
                <a:tc>
                  <a:txBody>
                    <a:bodyPr/>
                    <a:lstStyle/>
                    <a:p>
                      <a:pPr algn="ctr"/>
                      <a:r>
                        <a:rPr sz="850" b="0">
                          <a:solidFill>
                            <a:srgbClr val="202020"/>
                          </a:solidFill>
                        </a:rPr>
                        <a:t>0.4418</a:t>
                      </a:r>
                    </a:p>
                  </a:txBody>
                  <a:tcPr>
                    <a:solidFill>
                      <a:srgbClr val="FFFFFF"/>
                    </a:solidFill>
                  </a:tcPr>
                </a:tc>
                <a:tc>
                  <a:txBody>
                    <a:bodyPr/>
                    <a:lstStyle/>
                    <a:p>
                      <a:pPr algn="ctr"/>
                      <a:r>
                        <a:rPr sz="850" b="0">
                          <a:solidFill>
                            <a:srgbClr val="202020"/>
                          </a:solidFill>
                        </a:rPr>
                        <a:t>0.8202</a:t>
                      </a:r>
                    </a:p>
                  </a:txBody>
                  <a:tcPr>
                    <a:solidFill>
                      <a:srgbClr val="FFFFFF"/>
                    </a:solidFill>
                  </a:tcPr>
                </a:tc>
                <a:tc>
                  <a:txBody>
                    <a:bodyPr/>
                    <a:lstStyle/>
                    <a:p>
                      <a:pPr algn="ctr"/>
                      <a:r>
                        <a:rPr sz="850" b="0">
                          <a:solidFill>
                            <a:srgbClr val="202020"/>
                          </a:solidFill>
                        </a:rPr>
                        <a:t>0.8089</a:t>
                      </a:r>
                    </a:p>
                  </a:txBody>
                  <a:tcPr>
                    <a:solidFill>
                      <a:srgbClr val="FFFFFF"/>
                    </a:solidFill>
                  </a:tcPr>
                </a:tc>
              </a:tr>
              <a:tr h="320040">
                <a:tc>
                  <a:txBody>
                    <a:bodyPr/>
                    <a:lstStyle/>
                    <a:p>
                      <a:pPr algn="l"/>
                      <a:r>
                        <a:rPr sz="850" b="1">
                          <a:solidFill>
                            <a:srgbClr val="202020"/>
                          </a:solidFill>
                        </a:rPr>
                        <a:t>Ref: CNN TL 4c B1 hard (nb 54) = 0.456</a:t>
                      </a:r>
                    </a:p>
                  </a:txBody>
                  <a:tcPr>
                    <a:solidFill>
                      <a:srgbClr val="E6F4EA"/>
                    </a:solidFill>
                  </a:tcPr>
                </a:tc>
                <a:tc>
                  <a:txBody>
                    <a:bodyPr/>
                    <a:lstStyle/>
                    <a:p>
                      <a:pPr algn="ctr"/>
                      <a:r>
                        <a:rPr sz="850" b="0">
                          <a:solidFill>
                            <a:srgbClr val="202020"/>
                          </a:solidFill>
                        </a:rPr>
                        <a:t/>
                      </a:r>
                    </a:p>
                  </a:txBody>
                  <a:tcPr>
                    <a:solidFill>
                      <a:srgbClr val="E6F4EA"/>
                    </a:solidFill>
                  </a:tcPr>
                </a:tc>
                <a:tc>
                  <a:txBody>
                    <a:bodyPr/>
                    <a:lstStyle/>
                    <a:p>
                      <a:pPr algn="ctr"/>
                      <a:r>
                        <a:rPr sz="850" b="0">
                          <a:solidFill>
                            <a:srgbClr val="202020"/>
                          </a:solidFill>
                        </a:rPr>
                        <a:t/>
                      </a:r>
                    </a:p>
                  </a:txBody>
                  <a:tcPr>
                    <a:solidFill>
                      <a:srgbClr val="E6F4EA"/>
                    </a:solidFill>
                  </a:tcPr>
                </a:tc>
                <a:tc>
                  <a:txBody>
                    <a:bodyPr/>
                    <a:lstStyle/>
                    <a:p>
                      <a:pPr algn="ctr"/>
                      <a:r>
                        <a:rPr sz="850" b="0">
                          <a:solidFill>
                            <a:srgbClr val="202020"/>
                          </a:solidFill>
                        </a:rPr>
                        <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200" b="1"/>
              <a:t>Temuan (41-44)</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50" b="1"/>
              <a:t>Temuan 41: KL-divergence soft label beat Hard CE +0.090 Macro F1</a:t>
            </a:r>
          </a:p>
          <a:p>
            <a:r>
              <a:rPr sz="900" b="0"/>
              <a:t>CNN TL 4c: 0.427 (hard) → 0.517 (KL-div). Signifikan. Konsisten hipotesis Liliana 2019: natural emotion recognition diuntungkan target fuzzy/distribusional.</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50" b="1"/>
              <a:t>Temuan 42: Hierarki efektivitas — KL &gt; Soft CE &gt; Label Smoothing &gt; Hard CE</a:t>
            </a:r>
          </a:p>
          <a:p>
            <a:r>
              <a:rPr sz="900" b="0"/>
              <a:t>KL (Face API real) &gt; Soft CE (sama distribusi, beda loss) &gt; Label Smoothing (artificial ε=0.1) &gt; Hard CE. Menunjukkan distribusi Face API membawa sinyal real, bukan sekadar regularisasi.</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50" b="1"/>
              <a:t>Temuan 43: KL-div converge epoch 1 — perlu verifikasi</a:t>
            </a:r>
          </a:p>
          <a:p>
            <a:r>
              <a:rPr sz="900" b="0"/>
              <a:t>best_epoch = 1 (stale 15 epoch lalu early stop). Perlu cek training history + multi-seed run untuk pastikan bukan fluke.</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50" b="1"/>
              <a:t>Temuan 44: Soft label bump accuracy 0.70 → 0.84</a:t>
            </a:r>
          </a:p>
          <a:p>
            <a:r>
              <a:rPr sz="900" b="0"/>
              <a:t>Hard CE acc 0.70 vs Soft CE acc 0.84. Model tidak selalu prediksi neutral dengan soft target — lebih "aware" kelas lain. Next: nb 72 extend ke Late Fusion TL 4c B3.</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a:t>Rencana Eksperimen Lanjutan — Paper-Grounded Experiments</a:t>
            </a:r>
          </a:p>
        </p:txBody>
      </p:sp>
      <p:sp>
        <p:nvSpPr>
          <p:cNvPr id="3" name="TextBox 2"/>
          <p:cNvSpPr txBox="1"/>
          <p:nvPr/>
        </p:nvSpPr>
        <p:spPr>
          <a:xfrm>
            <a:off x="274320" y="685800"/>
            <a:ext cx="8595360" cy="640080"/>
          </a:xfrm>
          <a:prstGeom prst="rect">
            <a:avLst/>
          </a:prstGeom>
          <a:solidFill>
            <a:srgbClr val="FFF0CC"/>
          </a:solidFill>
        </p:spPr>
        <p:txBody>
          <a:bodyPr wrap="square">
            <a:spAutoFit/>
          </a:bodyPr>
          <a:lstStyle/>
          <a:p>
            <a:pPr algn="l"/>
            <a:r>
              <a:rPr sz="1000" b="1"/>
              <a:t>Best saat ini: Intermediate TL 4-class B3 = Macro F1 0.521 (val-tuned proper).</a:t>
            </a:r>
          </a:p>
          <a:p>
            <a:r>
              <a:rPr sz="950" b="0"/>
              <a:t>Tiap eksperimen dirancang berbasis paper referensi — metodologi jelas, reproducible, dan langsung terhubung ke literatur.</a:t>
            </a:r>
          </a:p>
        </p:txBody>
      </p:sp>
      <p:sp>
        <p:nvSpPr>
          <p:cNvPr id="4" name="TextBox 3"/>
          <p:cNvSpPr txBox="1"/>
          <p:nvPr/>
        </p:nvSpPr>
        <p:spPr>
          <a:xfrm>
            <a:off x="274320" y="1463040"/>
            <a:ext cx="4114800" cy="1463040"/>
          </a:xfrm>
          <a:prstGeom prst="rect">
            <a:avLst/>
          </a:prstGeom>
          <a:solidFill>
            <a:srgbClr val="E6F4EA"/>
          </a:solidFill>
        </p:spPr>
        <p:txBody>
          <a:bodyPr wrap="square">
            <a:spAutoFit/>
          </a:bodyPr>
          <a:lstStyle/>
          <a:p>
            <a:pPr algn="l"/>
            <a:r>
              <a:rPr sz="1100" b="1"/>
              <a:t>Liliana et al. (2019) — Cognitive Processing (Springer)</a:t>
            </a:r>
          </a:p>
          <a:p>
            <a:r>
              <a:rPr sz="850" b="0"/>
              <a:t>"Fuzzy emotion: a natural approach to automatic facial expression recognition"  [first author = dosen pembimbing]</a:t>
            </a:r>
          </a:p>
          <a:p>
            <a:r>
              <a:rPr sz="300" b="0"/>
              <a:t/>
            </a:r>
          </a:p>
          <a:p>
            <a:r>
              <a:rPr sz="950" b="1"/>
              <a:t>(A) Soft Label Training  ✅ DONE</a:t>
            </a:r>
          </a:p>
          <a:p>
            <a:r>
              <a:rPr sz="900" b="0"/>
              <a:t>   → Face API distribusi 7-dim sebagai soft target (fuzzy emotion concept)</a:t>
            </a:r>
          </a:p>
          <a:p>
            <a:r>
              <a:rPr sz="900" b="0"/>
              <a:t>   → nb 71 (CNN TL): KL-div 0.517 vs Hard 0.427 (+0.090)</a:t>
            </a:r>
          </a:p>
          <a:p>
            <a:r>
              <a:rPr sz="900" b="0"/>
              <a:t>   → nb 72 (Late Fusion TL): 0.437 — gagal transfer ke weighted softmax</a:t>
            </a:r>
          </a:p>
          <a:p>
            <a:r>
              <a:rPr sz="900" b="0"/>
              <a:t>   → nb 78 (Intermediate TL): queued — joint training + soft target</a:t>
            </a:r>
          </a:p>
          <a:p>
            <a:r>
              <a:rPr sz="300" b="0"/>
              <a:t/>
            </a:r>
          </a:p>
          <a:p>
            <a:r>
              <a:rPr sz="950" b="1"/>
              <a:t>(B) Geometric Features (Table 3 paper)</a:t>
            </a:r>
          </a:p>
          <a:p>
            <a:r>
              <a:rPr sz="900" b="0"/>
              <a:t>   → 10 komponen facial × 2 metrik (eccentricity + dist ratio) = 20-d GF</a:t>
            </a:r>
          </a:p>
          <a:p>
            <a:r>
              <a:rPr sz="900" b="0"/>
              <a:t>   → FCNN_geom (20-d) vs FCNN raw (136-d) — test interpretability</a:t>
            </a:r>
          </a:p>
          <a:p>
            <a:r>
              <a:rPr sz="300" b="0"/>
              <a:t/>
            </a:r>
          </a:p>
          <a:p>
            <a:r>
              <a:rPr sz="950" b="1"/>
              <a:t>(C) Geometric + Soft Label Combined  ★★★★★</a:t>
            </a:r>
          </a:p>
          <a:p>
            <a:r>
              <a:rPr sz="900" b="0"/>
              <a:t>   → Double-extension: 20-d GF + fuzzy soft target (kombinasi A + B)</a:t>
            </a:r>
          </a:p>
          <a:p>
            <a:r>
              <a:rPr sz="900" b="0"/>
              <a:t>   → Novelty tertinggi — direct follow-up dari paper dosen</a:t>
            </a:r>
          </a:p>
          <a:p>
            <a:r>
              <a:rPr sz="300" b="0"/>
              <a:t/>
            </a:r>
          </a:p>
          <a:p>
            <a:r>
              <a:rPr sz="950" b="1"/>
              <a:t>(D) FEIS Fuzzy Rule-Based (replikasi)</a:t>
            </a:r>
          </a:p>
          <a:p>
            <a:r>
              <a:rPr sz="900" b="0"/>
              <a:t>   → Mamdani inference, 6 emotion engines — non-DL baseline</a:t>
            </a:r>
          </a:p>
          <a:p>
            <a:r>
              <a:rPr sz="900" b="0"/>
              <a:t>   → Bandingkan vs DL: apakah rule-based lebih robust di natural data?</a:t>
            </a:r>
          </a:p>
        </p:txBody>
      </p:sp>
      <p:sp>
        <p:nvSpPr>
          <p:cNvPr id="5" name="TextBox 4"/>
          <p:cNvSpPr txBox="1"/>
          <p:nvPr/>
        </p:nvSpPr>
        <p:spPr>
          <a:xfrm>
            <a:off x="4572000" y="1463040"/>
            <a:ext cx="4297680" cy="1463040"/>
          </a:xfrm>
          <a:prstGeom prst="rect">
            <a:avLst/>
          </a:prstGeom>
          <a:solidFill>
            <a:srgbClr val="E8F0FE"/>
          </a:solidFill>
        </p:spPr>
        <p:txBody>
          <a:bodyPr wrap="square">
            <a:spAutoFit/>
          </a:bodyPr>
          <a:lstStyle/>
          <a:p>
            <a:pPr algn="l"/>
            <a:r>
              <a:rPr sz="1100" b="1"/>
              <a:t>Pitaloka et al. (2017)</a:t>
            </a:r>
          </a:p>
          <a:p>
            <a:r>
              <a:rPr sz="850" b="0"/>
              <a:t>"Enhancing CNN with Preprocessing Stage in Automatic Emotion Recognition"</a:t>
            </a:r>
          </a:p>
          <a:p>
            <a:r>
              <a:rPr sz="300" b="0"/>
              <a:t/>
            </a:r>
          </a:p>
          <a:p>
            <a:r>
              <a:rPr sz="950" b="1"/>
              <a:t>(E) GCN Preprocessing Ablation</a:t>
            </a:r>
          </a:p>
          <a:p>
            <a:r>
              <a:rPr sz="900" b="0"/>
              <a:t>   → Paper menunjukkan Global Contrast Normalization &gt; min-max</a:t>
            </a:r>
          </a:p>
          <a:p>
            <a:r>
              <a:rPr sz="900" b="0"/>
              <a:t>   → Ablation: {min-max, GCN, HistEq} × CNN TL best baseline</a:t>
            </a:r>
          </a:p>
          <a:p>
            <a:r>
              <a:rPr sz="900" b="0"/>
              <a:t>   → Quick win: 0.5-1 hari, terukur langsung vs baseline 0.521</a:t>
            </a:r>
          </a:p>
          <a:p>
            <a:r>
              <a:rPr sz="800" b="0"/>
              <a:t/>
            </a:r>
          </a:p>
          <a:p>
            <a:r>
              <a:rPr sz="1000" b="1"/>
              <a:t>Catatan — Pemilihan Paper Referensi:</a:t>
            </a:r>
          </a:p>
          <a:p>
            <a:r>
              <a:rPr sz="900" b="0"/>
              <a:t>• Liliana 2019 dipilih karena paper dosen pembimbing (first author)</a:t>
            </a:r>
          </a:p>
          <a:p>
            <a:r>
              <a:rPr sz="900" b="0"/>
              <a:t>  — novelty tesis = direct extension work beliau</a:t>
            </a:r>
          </a:p>
          <a:p>
            <a:r>
              <a:rPr sz="900" b="0"/>
              <a:t>• Pitaloka 2017 dipilih karena ablation preprocessing</a:t>
            </a:r>
          </a:p>
          <a:p>
            <a:r>
              <a:rPr sz="900" b="0"/>
              <a:t>  — quick win, sesuai pipeline saat ini</a:t>
            </a:r>
          </a:p>
          <a:p>
            <a:r>
              <a:rPr sz="900" b="0"/>
              <a:t>• Total 5 eksperimen paper-grounded (A-E), semua sejalan</a:t>
            </a:r>
          </a:p>
          <a:p>
            <a:r>
              <a:rPr sz="900" b="0"/>
              <a:t>  dengan novelty tesis + paper JITeCS.</a:t>
            </a:r>
          </a:p>
        </p:txBody>
      </p:sp>
      <p:sp>
        <p:nvSpPr>
          <p:cNvPr id="6" name="TextBox 5"/>
          <p:cNvSpPr txBox="1"/>
          <p:nvPr/>
        </p:nvSpPr>
        <p:spPr>
          <a:xfrm>
            <a:off x="274320" y="3063240"/>
            <a:ext cx="8595360" cy="914400"/>
          </a:xfrm>
          <a:prstGeom prst="rect">
            <a:avLst/>
          </a:prstGeom>
          <a:solidFill>
            <a:srgbClr val="F1F3F4"/>
          </a:solidFill>
        </p:spPr>
        <p:txBody>
          <a:bodyPr wrap="square">
            <a:spAutoFit/>
          </a:bodyPr>
          <a:lstStyle/>
          <a:p>
            <a:pPr algn="l"/>
            <a:r>
              <a:rPr sz="1000" b="1"/>
              <a:t>Prioritas berdasarkan paper-grounding + novelty:</a:t>
            </a:r>
          </a:p>
          <a:p>
            <a:r>
              <a:rPr sz="300" b="0"/>
              <a:t/>
            </a:r>
          </a:p>
          <a:p>
            <a:r>
              <a:rPr sz="950" b="0"/>
              <a:t>• Liliana family (A-D): direct extension paper dosen → novelty tertinggi untuk tesis + potensi paper follow-up</a:t>
            </a:r>
          </a:p>
          <a:p>
            <a:r>
              <a:rPr sz="950" b="0"/>
              <a:t>• Pitaloka (E): ablation terukur, quick win — memperkuat preprocessing choice di paper JITeCS</a:t>
            </a:r>
          </a:p>
          <a:p>
            <a:r>
              <a:rPr sz="300" b="0"/>
              <a:t/>
            </a:r>
          </a:p>
          <a:p>
            <a:r>
              <a:rPr sz="900" b="0"/>
              <a:t>Catatan: GradCAM (arahan dosen, terpisah) sudah in-progress via nb 73 untuk qualitative analysis BAB Discussion — bukan push SOTA.</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00" b="1"/>
              <a:t>Status per Apr 2026: A DONE (nb 71/72) + nb 78 queued  |  B/C/D/E belum dimulai  |  Detail: docs/eksplorasi_lanjutan.md</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Apakah multimodal fusion outperforms single-modality?</a:t>
                      </a:r>
                    </a:p>
                  </a:txBody>
                  <a:tcPr>
                    <a:solidFill>
                      <a:srgbClr val="E8F0FE"/>
                    </a:solidFill>
                  </a:tcPr>
                </a:tc>
                <a:tc>
                  <a:txBody>
                    <a:bodyPr/>
                    <a:lstStyle/>
                    <a:p>
                      <a:pPr algn="ctr"/>
                      <a:r>
                        <a:rPr sz="900">
                          <a:solidFill>
                            <a:srgbClr val="202020"/>
                          </a:solidFill>
                        </a:rPr>
                        <a:t>Ya. Best fusion (Intermediate TL 4c B3 = 0.521) &gt; best single-modal (CNN TL 4c B3 = 0.507, FCNN 4c B2 = 0.459). Gain moderat ~+0.01-0.06 Macro F1.</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Strategi fusion mana yang terbaik (Early / Intermediate / Late)?</a:t>
                      </a:r>
                    </a:p>
                  </a:txBody>
                  <a:tcPr>
                    <a:solidFill>
                      <a:srgbClr val="FFFFFF"/>
                    </a:solidFill>
                  </a:tcPr>
                </a:tc>
                <a:tc>
                  <a:txBody>
                    <a:bodyPr/>
                    <a:lstStyle/>
                    <a:p>
                      <a:pPr algn="ctr"/>
                      <a:r>
                        <a:rPr sz="900">
                          <a:solidFill>
                            <a:srgbClr val="202020"/>
                          </a:solidFill>
                        </a:rPr>
                        <a:t>4-class: Intermediate TL (0.521) &gt; Late Fusion scratch B2 (0.479) ≈ Early Fusion TL (0.471). 7-class: Early Fusion TL B3 (0.333) &gt; Intermediate TL (0.292). Val-tuned proper, no leakage.</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Transfer Learning effectiveness?</a:t>
                      </a:r>
                    </a:p>
                  </a:txBody>
                  <a:tcPr>
                    <a:solidFill>
                      <a:srgbClr val="E8F0FE"/>
                    </a:solidFill>
                  </a:tcPr>
                </a:tc>
                <a:tc>
                  <a:txBody>
                    <a:bodyPr/>
                    <a:lstStyle/>
                    <a:p>
                      <a:pPr algn="ctr"/>
                      <a:r>
                        <a:rPr sz="900">
                          <a:solidFill>
                            <a:srgbClr val="202020"/>
                          </a:solidFill>
                        </a:rPr>
                        <a:t>TL konsisten unggul (Intermediate TL vs scratch: +0.127 B3 4c). Gain Late Fusion marginal post val-tuning karena w ≈ 0 pilih FCNN-only. Best 4c val-tuned: Intermediate TL &gt; Late Fusion.</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Best overall bergeser: Late Fusion TL (0.567 test-tuned) → Intermediate TL (0.521 val-tuned)</a:t>
                      </a:r>
                    </a:p>
                  </a:txBody>
                  <a:tcPr>
                    <a:solidFill>
                      <a:srgbClr val="E8F0FE"/>
                    </a:solidFill>
                  </a:tcPr>
                </a:tc>
                <a:tc>
                  <a:txBody>
                    <a:bodyPr/>
                    <a:lstStyle/>
                    <a:p>
                      <a:pPr algn="ctr"/>
                      <a:r>
                        <a:rPr sz="900">
                          <a:solidFill>
                            <a:srgbClr val="202020"/>
                          </a:solidFill>
                        </a:rPr>
                        <a:t>Fix test-set leakage di Late Fusion grid-search w. Mohon konfirmasi narasi paper: pakai angka val-tuned proper (0.521) atau report both dengan caveat?</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Soft Label Training (nb 71) — KL-divergence +0.09 Macro F1</a:t>
                      </a:r>
                    </a:p>
                  </a:txBody>
                  <a:tcPr>
                    <a:solidFill>
                      <a:srgbClr val="FFFFFF"/>
                    </a:solidFill>
                  </a:tcPr>
                </a:tc>
                <a:tc>
                  <a:txBody>
                    <a:bodyPr/>
                    <a:lstStyle/>
                    <a:p>
                      <a:pPr algn="ctr"/>
                      <a:r>
                        <a:rPr sz="900">
                          <a:solidFill>
                            <a:srgbClr val="202020"/>
                          </a:solidFill>
                        </a:rPr>
                        <a:t>Hasil promising di CNN TL single (0.427 → 0.517). Lanjut ke nb 72 (Late Fusion + soft label + B3) untuk coba beat 0.521? Atau cukup dicantumkan sebagai eksplorasi?</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Eksplorasi lanjutan: GradCAM, Space Alignment, Attention (CBAM/Ghost/Triplet), Geometric Features (Liliana)</a:t>
                      </a:r>
                    </a:p>
                  </a:txBody>
                  <a:tcPr>
                    <a:solidFill>
                      <a:srgbClr val="E8F0FE"/>
                    </a:solidFill>
                  </a:tcPr>
                </a:tc>
                <a:tc>
                  <a:txBody>
                    <a:bodyPr/>
                    <a:lstStyle/>
                    <a:p>
                      <a:pPr algn="ctr"/>
                      <a:r>
                        <a:rPr sz="900">
                          <a:solidFill>
                            <a:srgbClr val="202020"/>
                          </a:solidFill>
                        </a:rPr>
                        <a:t>Prioritas mana yang diambil dulu untuk BAB eksperimen tesis? 4-6 item dalam ~2-3 minggu, atau fokus 1-2 item lebih dalam?</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Scope paper JITeCS vs tesis</a:t>
                      </a:r>
                    </a:p>
                  </a:txBody>
                  <a:tcPr>
                    <a:solidFill>
                      <a:srgbClr val="FFFFFF"/>
                    </a:solidFill>
                  </a:tcPr>
                </a:tc>
                <a:tc>
                  <a:txBody>
                    <a:bodyPr/>
                    <a:lstStyle/>
                    <a:p>
                      <a:pPr algn="ctr"/>
                      <a:r>
                        <a:rPr sz="900">
                          <a:solidFill>
                            <a:srgbClr val="202020"/>
                          </a:solidFill>
                        </a:rPr>
                        <a:t>Paper fokus Primer conf60 (5 fusion strategy + TL + imbalance). Eksplorasi lanjutan (8 item) masuk ke tesis saja, bukan paper?</a:t>
                      </a:r>
                    </a:p>
                  </a:txBody>
                  <a:tcPr>
                    <a:solidFill>
                      <a:srgbClr val="FFFFFF"/>
                    </a:solidFill>
                  </a:tcPr>
                </a:tc>
              </a:tr>
            </a:tbl>
          </a:graphicData>
        </a:graphic>
      </p:graphicFrame>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KDEF → Primer</a:t>
            </a:r>
          </a:p>
        </p:txBody>
      </p:sp>
      <p:sp>
        <p:nvSpPr>
          <p:cNvPr id="8" name="TextBox 7"/>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KDEF → Primer (7-Class)</a:t>
            </a:r>
          </a:p>
        </p:txBody>
      </p:sp>
      <p:graphicFrame>
        <p:nvGraphicFramePr>
          <p:cNvPr id="9" name="Table 8"/>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0.036</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0.038</a:t>
                      </a:r>
                    </a:p>
                  </a:txBody>
                  <a:tcPr>
                    <a:solidFill>
                      <a:srgbClr val="E6F4EA"/>
                    </a:solidFill>
                  </a:tcPr>
                </a:tc>
                <a:tc>
                  <a:txBody>
                    <a:bodyPr/>
                    <a:lstStyle/>
                    <a:p>
                      <a:pPr algn="ctr"/>
                      <a:r>
                        <a:rPr sz="750" b="0">
                          <a:solidFill>
                            <a:srgbClr val="202020"/>
                          </a:solidFill>
                        </a:rPr>
                        <a:t>0.053</a:t>
                      </a:r>
                    </a:p>
                  </a:txBody>
                  <a:tcPr>
                    <a:solidFill>
                      <a:srgbClr val="E6F4EA"/>
                    </a:solidFill>
                  </a:tcPr>
                </a:tc>
                <a:tc>
                  <a:txBody>
                    <a:bodyPr/>
                    <a:lstStyle/>
                    <a:p>
                      <a:pPr algn="ctr"/>
                      <a:r>
                        <a:rPr sz="750" b="0">
                          <a:solidFill>
                            <a:srgbClr val="202020"/>
                          </a:solidFill>
                        </a:rPr>
                        <a:t>0.036</a:t>
                      </a:r>
                    </a:p>
                  </a:txBody>
                  <a:tcPr>
                    <a:solidFill>
                      <a:srgbClr val="E6F4EA"/>
                    </a:solidFill>
                  </a:tcPr>
                </a:tc>
                <a:tc>
                  <a:txBody>
                    <a:bodyPr/>
                    <a:lstStyle/>
                    <a:p>
                      <a:pPr algn="ctr"/>
                      <a:r>
                        <a:rPr sz="750" b="0">
                          <a:solidFill>
                            <a:srgbClr val="202020"/>
                          </a:solidFill>
                        </a:rPr>
                        <a:t>0.053</a:t>
                      </a:r>
                    </a:p>
                  </a:txBody>
                  <a:tcPr>
                    <a:solidFill>
                      <a:srgbClr val="E6F4EA"/>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0.034</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0.056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0.005</a:t>
                      </a:r>
                    </a:p>
                  </a:txBody>
                  <a:tcPr>
                    <a:solidFill>
                      <a:srgbClr val="FFFFFF"/>
                    </a:solidFill>
                  </a:tcPr>
                </a:tc>
                <a:tc>
                  <a:txBody>
                    <a:bodyPr/>
                    <a:lstStyle/>
                    <a:p>
                      <a:pPr algn="ctr"/>
                      <a:r>
                        <a:rPr sz="750" b="0">
                          <a:solidFill>
                            <a:srgbClr val="202020"/>
                          </a:solidFill>
                        </a:rPr>
                        <a:t>0.008</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0.029</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0.097</a:t>
                      </a:r>
                    </a:p>
                  </a:txBody>
                  <a:tcPr>
                    <a:solidFill>
                      <a:srgbClr val="FFFFFF"/>
                    </a:solidFill>
                  </a:tcPr>
                </a:tc>
                <a:tc>
                  <a:txBody>
                    <a:bodyPr/>
                    <a:lstStyle/>
                    <a:p>
                      <a:pPr algn="ctr"/>
                      <a:r>
                        <a:rPr sz="750" b="0">
                          <a:solidFill>
                            <a:srgbClr val="202020"/>
                          </a:solidFill>
                        </a:rPr>
                        <a:t>0.054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0.055</a:t>
                      </a:r>
                    </a:p>
                  </a:txBody>
                  <a:tcPr>
                    <a:solidFill>
                      <a:srgbClr val="FFFFFF"/>
                    </a:solidFill>
                  </a:tcPr>
                </a:tc>
                <a:tc>
                  <a:txBody>
                    <a:bodyPr/>
                    <a:lstStyle/>
                    <a:p>
                      <a:pPr algn="ctr"/>
                      <a:r>
                        <a:rPr sz="750" b="0">
                          <a:solidFill>
                            <a:srgbClr val="202020"/>
                          </a:solidFill>
                        </a:rPr>
                        <a:t>0.078</a:t>
                      </a:r>
                    </a:p>
                  </a:txBody>
                  <a:tcPr>
                    <a:solidFill>
                      <a:srgbClr val="FFFFFF"/>
                    </a:solidFill>
                  </a:tcPr>
                </a:tc>
                <a:tc>
                  <a:txBody>
                    <a:bodyPr/>
                    <a:lstStyle/>
                    <a:p>
                      <a:pPr algn="ctr"/>
                      <a:r>
                        <a:rPr sz="750" b="0">
                          <a:solidFill>
                            <a:srgbClr val="202020"/>
                          </a:solidFill>
                        </a:rPr>
                        <a:t>0.063</a:t>
                      </a:r>
                    </a:p>
                  </a:txBody>
                  <a:tcPr>
                    <a:solidFill>
                      <a:srgbClr val="FFFFFF"/>
                    </a:solidFill>
                  </a:tcPr>
                </a:tc>
                <a:tc>
                  <a:txBody>
                    <a:bodyPr/>
                    <a:lstStyle/>
                    <a:p>
                      <a:pPr algn="ctr"/>
                      <a:r>
                        <a:rPr sz="750" b="0">
                          <a:solidFill>
                            <a:srgbClr val="202020"/>
                          </a:solidFill>
                        </a:rPr>
                        <a:t>0.078</a:t>
                      </a:r>
                    </a:p>
                  </a:txBody>
                  <a:tcPr>
                    <a:solidFill>
                      <a:srgbClr val="FFFFFF"/>
                    </a:solidFill>
                  </a:tcPr>
                </a:tc>
              </a:tr>
            </a:tbl>
          </a:graphicData>
        </a:graphic>
      </p:graphicFrame>
      <p:sp>
        <p:nvSpPr>
          <p:cNvPr id="10" name="TextBox 9"/>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KDEF → Primer (4-Class)</a:t>
            </a:r>
          </a:p>
        </p:txBody>
      </p:sp>
      <p:graphicFrame>
        <p:nvGraphicFramePr>
          <p:cNvPr id="11" name="Table 10"/>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0.079</a:t>
                      </a:r>
                    </a:p>
                  </a:txBody>
                  <a:tcPr>
                    <a:solidFill>
                      <a:srgbClr val="E6F4EA"/>
                    </a:solidFill>
                  </a:tcPr>
                </a:tc>
                <a:tc>
                  <a:txBody>
                    <a:bodyPr/>
                    <a:lstStyle/>
                    <a:p>
                      <a:pPr algn="ctr"/>
                      <a:r>
                        <a:rPr sz="750" b="0">
                          <a:solidFill>
                            <a:srgbClr val="202020"/>
                          </a:solidFill>
                        </a:rPr>
                        <a:t>0.067</a:t>
                      </a:r>
                    </a:p>
                  </a:txBody>
                  <a:tcPr>
                    <a:solidFill>
                      <a:srgbClr val="E6F4EA"/>
                    </a:solidFill>
                  </a:tcPr>
                </a:tc>
                <a:tc>
                  <a:txBody>
                    <a:bodyPr/>
                    <a:lstStyle/>
                    <a:p>
                      <a:pPr algn="ctr"/>
                      <a:r>
                        <a:rPr sz="750" b="0">
                          <a:solidFill>
                            <a:srgbClr val="202020"/>
                          </a:solidFill>
                        </a:rPr>
                        <a:t>0.078</a:t>
                      </a:r>
                    </a:p>
                  </a:txBody>
                  <a:tcPr>
                    <a:solidFill>
                      <a:srgbClr val="E6F4EA"/>
                    </a:solidFill>
                  </a:tcPr>
                </a:tc>
                <a:tc>
                  <a:txBody>
                    <a:bodyPr/>
                    <a:lstStyle/>
                    <a:p>
                      <a:pPr algn="ctr"/>
                      <a:r>
                        <a:rPr sz="750" b="0">
                          <a:solidFill>
                            <a:srgbClr val="202020"/>
                          </a:solidFill>
                        </a:rPr>
                        <a:t>0.067</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0.021</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0.068</a:t>
                      </a:r>
                    </a:p>
                  </a:txBody>
                  <a:tcPr>
                    <a:solidFill>
                      <a:srgbClr val="FFFFFF"/>
                    </a:solidFill>
                  </a:tcPr>
                </a:tc>
                <a:tc>
                  <a:txBody>
                    <a:bodyPr/>
                    <a:lstStyle/>
                    <a:p>
                      <a:pPr algn="ctr"/>
                      <a:r>
                        <a:rPr sz="750" b="0">
                          <a:solidFill>
                            <a:srgbClr val="202020"/>
                          </a:solidFill>
                        </a:rPr>
                        <a:t>0.045</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0.054</a:t>
                      </a:r>
                    </a:p>
                  </a:txBody>
                  <a:tcPr>
                    <a:solidFill>
                      <a:srgbClr val="E8F0FE"/>
                    </a:solidFill>
                  </a:tcPr>
                </a:tc>
                <a:tc>
                  <a:txBody>
                    <a:bodyPr/>
                    <a:lstStyle/>
                    <a:p>
                      <a:pPr algn="ctr"/>
                      <a:r>
                        <a:rPr sz="750" b="0">
                          <a:solidFill>
                            <a:srgbClr val="202020"/>
                          </a:solidFill>
                        </a:rPr>
                        <a:t>0.030</a:t>
                      </a:r>
                    </a:p>
                  </a:txBody>
                  <a:tcPr>
                    <a:solidFill>
                      <a:srgbClr val="E8F0FE"/>
                    </a:solidFill>
                  </a:tcPr>
                </a:tc>
                <a:tc>
                  <a:txBody>
                    <a:bodyPr/>
                    <a:lstStyle/>
                    <a:p>
                      <a:pPr algn="ctr"/>
                      <a:r>
                        <a:rPr sz="750" b="0">
                          <a:solidFill>
                            <a:srgbClr val="202020"/>
                          </a:solidFill>
                        </a:rPr>
                        <a:t>0.054</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0.039</a:t>
                      </a:r>
                    </a:p>
                  </a:txBody>
                  <a:tcPr>
                    <a:solidFill>
                      <a:srgbClr val="FFFFFF"/>
                    </a:solidFill>
                  </a:tcPr>
                </a:tc>
                <a:tc>
                  <a:txBody>
                    <a:bodyPr/>
                    <a:lstStyle/>
                    <a:p>
                      <a:pPr algn="ctr"/>
                      <a:r>
                        <a:rPr sz="750" b="0">
                          <a:solidFill>
                            <a:srgbClr val="202020"/>
                          </a:solidFill>
                        </a:rPr>
                        <a:t>0.040</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0.104</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0.152</a:t>
                      </a:r>
                    </a:p>
                  </a:txBody>
                  <a:tcPr>
                    <a:solidFill>
                      <a:srgbClr val="FFFFFF"/>
                    </a:solidFill>
                  </a:tcPr>
                </a:tc>
                <a:tc>
                  <a:txBody>
                    <a:bodyPr/>
                    <a:lstStyle/>
                    <a:p>
                      <a:pPr algn="ctr"/>
                      <a:r>
                        <a:rPr sz="750" b="0">
                          <a:solidFill>
                            <a:srgbClr val="202020"/>
                          </a:solidFill>
                        </a:rPr>
                        <a:t>0.101</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0.017</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0.003</a:t>
                      </a:r>
                    </a:p>
                  </a:txBody>
                  <a:tcPr>
                    <a:solidFill>
                      <a:srgbClr val="FFFFFF"/>
                    </a:solidFill>
                  </a:tcPr>
                </a:tc>
                <a:tc>
                  <a:txBody>
                    <a:bodyPr/>
                    <a:lstStyle/>
                    <a:p>
                      <a:pPr algn="ctr"/>
                      <a:r>
                        <a:rPr sz="750" b="0">
                          <a:solidFill>
                            <a:srgbClr val="202020"/>
                          </a:solidFill>
                        </a:rPr>
                        <a:t>0.011</a:t>
                      </a:r>
                    </a:p>
                  </a:txBody>
                  <a:tcPr>
                    <a:solidFill>
                      <a:srgbClr val="FFFFFF"/>
                    </a:solidFill>
                  </a:tcPr>
                </a:tc>
              </a:tr>
            </a:tbl>
          </a:graphicData>
        </a:graphic>
      </p:graphicFrame>
      <p:sp>
        <p:nvSpPr>
          <p:cNvPr id="12" name="TextBox 11"/>
          <p:cNvSpPr txBox="1"/>
          <p:nvPr/>
        </p:nvSpPr>
        <p:spPr>
          <a:xfrm>
            <a:off x="274320" y="5120640"/>
            <a:ext cx="8595360" cy="1097280"/>
          </a:xfrm>
          <a:prstGeom prst="rect">
            <a:avLst/>
          </a:prstGeom>
          <a:solidFill>
            <a:srgbClr val="E6F4EA"/>
          </a:solidFill>
        </p:spPr>
        <p:txBody>
          <a:bodyPr wrap="square">
            <a:spAutoFit/>
          </a:bodyPr>
          <a:lstStyle/>
          <a:p>
            <a:pPr algn="l"/>
            <a:r>
              <a:rPr sz="1000" b="1" i="0">
                <a:solidFill>
                  <a:srgbClr val="0F9D58"/>
                </a:solidFill>
              </a:rPr>
              <a:t>Kesimpulan Skema 2</a:t>
            </a:r>
          </a:p>
          <a:p>
            <a:pPr algn="l"/>
            <a:r>
              <a:rPr sz="850" b="0" i="0">
                <a:solidFill>
                  <a:srgbClr val="202020"/>
                </a:solidFill>
              </a:rPr>
              <a:t>• RAF-DB 4c paling robust untuk transfer (best 0.269 via Intermediate) — masih jauh dari Primer self (0.521, val-tuned)</a:t>
            </a:r>
          </a:p>
          <a:p>
            <a:pPr algn="l"/>
            <a:r>
              <a:rPr sz="850" b="0" i="0">
                <a:solidFill>
                  <a:srgbClr val="202020"/>
                </a:solidFill>
              </a:rPr>
              <a:t>• KDEF → Primer catastrophic (&lt;0.08 Macro F1 semua combo) — lab high-quality tidak transfer ke natural</a:t>
            </a:r>
          </a:p>
          <a:p>
            <a:pPr algn="l"/>
            <a:r>
              <a:rPr sz="850" b="0" i="0">
                <a:solidFill>
                  <a:srgbClr val="202020"/>
                </a:solidFill>
              </a:rPr>
              <a:t>• FCNN (landmark) / Intermediate Fusion paling tahan domain shift; CNN murni paling rentan</a:t>
            </a:r>
          </a:p>
          <a:p>
            <a:pPr algn="l"/>
            <a:r>
              <a:rPr sz="850" b="1" i="0">
                <a:solidFill>
                  <a:srgbClr val="0F9D58"/>
                </a:solidFill>
              </a:rPr>
              <a:t>• Justifikasi kuat: Primer self-training + conf60 + fusion + augmentation lebih baik daripada TL dari public</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JAFFE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9" name="TextBox 8"/>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JAFFE → Primer (7-Class)</a:t>
            </a:r>
          </a:p>
        </p:txBody>
      </p:sp>
      <p:graphicFrame>
        <p:nvGraphicFramePr>
          <p:cNvPr id="10" name="Table 9"/>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0.001</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0.002</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0.018</a:t>
                      </a:r>
                    </a:p>
                  </a:txBody>
                  <a:tcPr>
                    <a:solidFill>
                      <a:srgbClr val="FFFFFF"/>
                    </a:solidFill>
                  </a:tcPr>
                </a:tc>
                <a:tc>
                  <a:txBody>
                    <a:bodyPr/>
                    <a:lstStyle/>
                    <a:p>
                      <a:pPr algn="ctr"/>
                      <a:r>
                        <a:rPr sz="750" b="0">
                          <a:solidFill>
                            <a:srgbClr val="202020"/>
                          </a:solidFill>
                        </a:rPr>
                        <a:t>0.013</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0.017</a:t>
                      </a:r>
                    </a:p>
                  </a:txBody>
                  <a:tcPr>
                    <a:solidFill>
                      <a:srgbClr val="E8F0FE"/>
                    </a:solidFill>
                  </a:tcPr>
                </a:tc>
                <a:tc>
                  <a:txBody>
                    <a:bodyPr/>
                    <a:lstStyle/>
                    <a:p>
                      <a:pPr algn="ctr"/>
                      <a:r>
                        <a:rPr sz="750" b="0">
                          <a:solidFill>
                            <a:srgbClr val="202020"/>
                          </a:solidFill>
                        </a:rPr>
                        <a:t>0.014</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0.014</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0.006</a:t>
                      </a:r>
                    </a:p>
                  </a:txBody>
                  <a:tcPr>
                    <a:solidFill>
                      <a:srgbClr val="FFFFFF"/>
                    </a:solidFill>
                  </a:tcPr>
                </a:tc>
                <a:tc>
                  <a:txBody>
                    <a:bodyPr/>
                    <a:lstStyle/>
                    <a:p>
                      <a:pPr algn="ctr"/>
                      <a:r>
                        <a:rPr sz="750" b="0">
                          <a:solidFill>
                            <a:srgbClr val="202020"/>
                          </a:solidFill>
                        </a:rPr>
                        <a:t>0.054</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0.028</a:t>
                      </a:r>
                    </a:p>
                  </a:txBody>
                  <a:tcPr>
                    <a:solidFill>
                      <a:srgbClr val="E8F0FE"/>
                    </a:solidFill>
                  </a:tcPr>
                </a:tc>
                <a:tc>
                  <a:txBody>
                    <a:bodyPr/>
                    <a:lstStyle/>
                    <a:p>
                      <a:pPr algn="ctr"/>
                      <a:r>
                        <a:rPr sz="750" b="0">
                          <a:solidFill>
                            <a:srgbClr val="202020"/>
                          </a:solidFill>
                        </a:rPr>
                        <a:t>0.045</a:t>
                      </a:r>
                    </a:p>
                  </a:txBody>
                  <a:tcPr>
                    <a:solidFill>
                      <a:srgbClr val="E8F0FE"/>
                    </a:solidFill>
                  </a:tcPr>
                </a:tc>
                <a:tc>
                  <a:txBody>
                    <a:bodyPr/>
                    <a:lstStyle/>
                    <a:p>
                      <a:pPr algn="ctr"/>
                      <a:r>
                        <a:rPr sz="750" b="0">
                          <a:solidFill>
                            <a:srgbClr val="202020"/>
                          </a:solidFill>
                        </a:rPr>
                        <a:t>0.028</a:t>
                      </a:r>
                    </a:p>
                  </a:txBody>
                  <a:tcPr>
                    <a:solidFill>
                      <a:srgbClr val="E8F0FE"/>
                    </a:solidFill>
                  </a:tcPr>
                </a:tc>
              </a:tr>
              <a:tr h="287388">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0.040</a:t>
                      </a:r>
                    </a:p>
                  </a:txBody>
                  <a:tcPr>
                    <a:solidFill>
                      <a:srgbClr val="E6F4EA"/>
                    </a:solidFill>
                  </a:tcPr>
                </a:tc>
                <a:tc>
                  <a:txBody>
                    <a:bodyPr/>
                    <a:lstStyle/>
                    <a:p>
                      <a:pPr algn="ctr"/>
                      <a:r>
                        <a:rPr sz="750" b="0">
                          <a:solidFill>
                            <a:srgbClr val="202020"/>
                          </a:solidFill>
                        </a:rPr>
                        <a:t>0.081</a:t>
                      </a:r>
                    </a:p>
                  </a:txBody>
                  <a:tcPr>
                    <a:solidFill>
                      <a:srgbClr val="E6F4EA"/>
                    </a:solidFill>
                  </a:tcPr>
                </a:tc>
                <a:tc>
                  <a:txBody>
                    <a:bodyPr/>
                    <a:lstStyle/>
                    <a:p>
                      <a:pPr algn="ctr"/>
                      <a:r>
                        <a:rPr sz="750" b="0">
                          <a:solidFill>
                            <a:srgbClr val="202020"/>
                          </a:solidFill>
                        </a:rPr>
                        <a:t>0.054</a:t>
                      </a:r>
                    </a:p>
                  </a:txBody>
                  <a:tcPr>
                    <a:solidFill>
                      <a:srgbClr val="E6F4EA"/>
                    </a:solidFill>
                  </a:tcPr>
                </a:tc>
                <a:tc>
                  <a:txBody>
                    <a:bodyPr/>
                    <a:lstStyle/>
                    <a:p>
                      <a:pPr algn="ctr"/>
                      <a:r>
                        <a:rPr sz="750" b="0">
                          <a:solidFill>
                            <a:srgbClr val="202020"/>
                          </a:solidFill>
                        </a:rPr>
                        <a:t>0.081</a:t>
                      </a:r>
                    </a:p>
                  </a:txBody>
                  <a:tcPr>
                    <a:solidFill>
                      <a:srgbClr val="E6F4EA"/>
                    </a:solidFill>
                  </a:tcPr>
                </a:tc>
              </a:tr>
              <a:tr h="287388">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r>
              <a:tr h="287388">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0.001</a:t>
                      </a:r>
                    </a:p>
                  </a:txBody>
                  <a:tcPr>
                    <a:solidFill>
                      <a:srgbClr val="E6F4EA"/>
                    </a:solidFill>
                  </a:tcPr>
                </a:tc>
                <a:tc>
                  <a:txBody>
                    <a:bodyPr/>
                    <a:lstStyle/>
                    <a:p>
                      <a:pPr algn="ctr"/>
                      <a:r>
                        <a:rPr sz="750" b="0">
                          <a:solidFill>
                            <a:srgbClr val="202020"/>
                          </a:solidFill>
                        </a:rPr>
                        <a:t>0.002</a:t>
                      </a:r>
                    </a:p>
                  </a:txBody>
                  <a:tcPr>
                    <a:solidFill>
                      <a:srgbClr val="E6F4EA"/>
                    </a:solidFill>
                  </a:tcPr>
                </a:tc>
                <a:tc>
                  <a:txBody>
                    <a:bodyPr/>
                    <a:lstStyle/>
                    <a:p>
                      <a:pPr algn="ctr"/>
                      <a:r>
                        <a:rPr sz="750" b="0">
                          <a:solidFill>
                            <a:srgbClr val="202020"/>
                          </a:solidFill>
                        </a:rPr>
                        <a:t>0.000</a:t>
                      </a:r>
                    </a:p>
                  </a:txBody>
                  <a:tcPr>
                    <a:solidFill>
                      <a:srgbClr val="E6F4EA"/>
                    </a:solidFill>
                  </a:tcPr>
                </a:tc>
                <a:tc>
                  <a:txBody>
                    <a:bodyPr/>
                    <a:lstStyle/>
                    <a:p>
                      <a:pPr algn="ctr"/>
                      <a:r>
                        <a:rPr sz="750" b="0">
                          <a:solidFill>
                            <a:srgbClr val="202020"/>
                          </a:solidFill>
                        </a:rPr>
                        <a:t>0.002</a:t>
                      </a:r>
                    </a:p>
                  </a:txBody>
                  <a:tcPr>
                    <a:solidFill>
                      <a:srgbClr val="E6F4EA"/>
                    </a:solidFill>
                  </a:tcPr>
                </a:tc>
              </a:tr>
              <a:tr h="287388">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0.050</a:t>
                      </a:r>
                    </a:p>
                  </a:txBody>
                  <a:tcPr>
                    <a:solidFill>
                      <a:srgbClr val="E6F4EA"/>
                    </a:solidFill>
                  </a:tcPr>
                </a:tc>
                <a:tc>
                  <a:txBody>
                    <a:bodyPr/>
                    <a:lstStyle/>
                    <a:p>
                      <a:pPr algn="ctr"/>
                      <a:r>
                        <a:rPr sz="750" b="0">
                          <a:solidFill>
                            <a:srgbClr val="202020"/>
                          </a:solidFill>
                        </a:rPr>
                        <a:t>0.118</a:t>
                      </a:r>
                    </a:p>
                  </a:txBody>
                  <a:tcPr>
                    <a:solidFill>
                      <a:srgbClr val="E6F4EA"/>
                    </a:solidFill>
                  </a:tcPr>
                </a:tc>
                <a:tc>
                  <a:txBody>
                    <a:bodyPr/>
                    <a:lstStyle/>
                    <a:p>
                      <a:pPr algn="ctr"/>
                      <a:r>
                        <a:rPr sz="750" b="0">
                          <a:solidFill>
                            <a:srgbClr val="202020"/>
                          </a:solidFill>
                        </a:rPr>
                        <a:t>0.192</a:t>
                      </a:r>
                    </a:p>
                  </a:txBody>
                  <a:tcPr>
                    <a:solidFill>
                      <a:srgbClr val="E6F4EA"/>
                    </a:solidFill>
                  </a:tcPr>
                </a:tc>
                <a:tc>
                  <a:txBody>
                    <a:bodyPr/>
                    <a:lstStyle/>
                    <a:p>
                      <a:pPr algn="ctr"/>
                      <a:r>
                        <a:rPr sz="750" b="0">
                          <a:solidFill>
                            <a:srgbClr val="202020"/>
                          </a:solidFill>
                        </a:rPr>
                        <a:t>0.118</a:t>
                      </a:r>
                    </a:p>
                  </a:txBody>
                  <a:tcPr>
                    <a:solidFill>
                      <a:srgbClr val="E6F4EA"/>
                    </a:solidFill>
                  </a:tcPr>
                </a:tc>
              </a:tr>
            </a:tbl>
          </a:graphicData>
        </a:graphic>
      </p:graphicFrame>
      <p:sp>
        <p:nvSpPr>
          <p:cNvPr id="11" name="TextBox 10"/>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JAFFE → Primer (4-Class)</a:t>
            </a:r>
          </a:p>
        </p:txBody>
      </p:sp>
      <p:graphicFrame>
        <p:nvGraphicFramePr>
          <p:cNvPr id="12" name="Table 11"/>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0.004</a:t>
                      </a:r>
                    </a:p>
                  </a:txBody>
                  <a:tcPr>
                    <a:solidFill>
                      <a:srgbClr val="E8F0FE"/>
                    </a:solidFill>
                  </a:tcPr>
                </a:tc>
                <a:tc>
                  <a:txBody>
                    <a:bodyPr/>
                    <a:lstStyle/>
                    <a:p>
                      <a:pPr algn="ctr"/>
                      <a:r>
                        <a:rPr sz="750" b="0">
                          <a:solidFill>
                            <a:srgbClr val="202020"/>
                          </a:solidFill>
                        </a:rPr>
                        <a:t>0.009</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0.009</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0.005</a:t>
                      </a:r>
                    </a:p>
                  </a:txBody>
                  <a:tcPr>
                    <a:solidFill>
                      <a:srgbClr val="E8F0FE"/>
                    </a:solidFill>
                  </a:tcPr>
                </a:tc>
                <a:tc>
                  <a:txBody>
                    <a:bodyPr/>
                    <a:lstStyle/>
                    <a:p>
                      <a:pPr algn="ctr"/>
                      <a:r>
                        <a:rPr sz="750" b="0">
                          <a:solidFill>
                            <a:srgbClr val="202020"/>
                          </a:solidFill>
                        </a:rPr>
                        <a:t>0.010</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0.010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0.093</a:t>
                      </a:r>
                    </a:p>
                  </a:txBody>
                  <a:tcPr>
                    <a:solidFill>
                      <a:srgbClr val="E6F4EA"/>
                    </a:solidFill>
                  </a:tcPr>
                </a:tc>
                <a:tc>
                  <a:txBody>
                    <a:bodyPr/>
                    <a:lstStyle/>
                    <a:p>
                      <a:pPr algn="ctr"/>
                      <a:r>
                        <a:rPr sz="750" b="0">
                          <a:solidFill>
                            <a:srgbClr val="202020"/>
                          </a:solidFill>
                        </a:rPr>
                        <a:t>0.160</a:t>
                      </a:r>
                    </a:p>
                  </a:txBody>
                  <a:tcPr>
                    <a:solidFill>
                      <a:srgbClr val="E6F4EA"/>
                    </a:solidFill>
                  </a:tcPr>
                </a:tc>
                <a:tc>
                  <a:txBody>
                    <a:bodyPr/>
                    <a:lstStyle/>
                    <a:p>
                      <a:pPr algn="ctr"/>
                      <a:r>
                        <a:rPr sz="750" b="0">
                          <a:solidFill>
                            <a:srgbClr val="202020"/>
                          </a:solidFill>
                        </a:rPr>
                        <a:t>0.073</a:t>
                      </a:r>
                    </a:p>
                  </a:txBody>
                  <a:tcPr>
                    <a:solidFill>
                      <a:srgbClr val="E6F4EA"/>
                    </a:solidFill>
                  </a:tcPr>
                </a:tc>
                <a:tc>
                  <a:txBody>
                    <a:bodyPr/>
                    <a:lstStyle/>
                    <a:p>
                      <a:pPr algn="ctr"/>
                      <a:r>
                        <a:rPr sz="750" b="0">
                          <a:solidFill>
                            <a:srgbClr val="202020"/>
                          </a:solidFill>
                        </a:rPr>
                        <a:t>0.160</a:t>
                      </a:r>
                    </a:p>
                  </a:txBody>
                  <a:tcPr>
                    <a:solidFill>
                      <a:srgbClr val="E6F4EA"/>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0.002</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0.013</a:t>
                      </a:r>
                    </a:p>
                  </a:txBody>
                  <a:tcPr>
                    <a:solidFill>
                      <a:srgbClr val="FFFFFF"/>
                    </a:solidFill>
                  </a:tcPr>
                </a:tc>
              </a:tr>
            </a:tbl>
          </a:graphicData>
        </a:graphic>
      </p:graphicFrame>
      <p:sp>
        <p:nvSpPr>
          <p:cNvPr id="13" name="TextBox 12"/>
          <p:cNvSpPr txBox="1"/>
          <p:nvPr/>
        </p:nvSpPr>
        <p:spPr>
          <a:xfrm>
            <a:off x="274320" y="5577840"/>
            <a:ext cx="8595360" cy="548640"/>
          </a:xfrm>
          <a:prstGeom prst="rect">
            <a:avLst/>
          </a:prstGeom>
          <a:solidFill>
            <a:srgbClr val="FCE8E6"/>
          </a:solidFill>
        </p:spPr>
        <p:txBody>
          <a:bodyPr wrap="square">
            <a:spAutoFit/>
          </a:bodyPr>
          <a:lstStyle/>
          <a:p>
            <a:pPr algn="l"/>
            <a:r>
              <a:rPr sz="900" b="1" i="0">
                <a:solidFill>
                  <a:srgbClr val="D93C3C"/>
                </a:solidFill>
              </a:rPr>
              <a:t>CK+ 4c → Primer dengan CNN B1 = 0.396 (satu-satunya combo &gt; 0.30). JAFFE total collapse di semua combo (&lt;0.10 Macro F1).</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KDEF</a:t>
            </a:r>
          </a:p>
        </p:txBody>
      </p:sp>
      <p:sp>
        <p:nvSpPr>
          <p:cNvPr id="8" name="TextBox 7"/>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KDEF 7-Class</a:t>
            </a:r>
          </a:p>
        </p:txBody>
      </p:sp>
      <p:graphicFrame>
        <p:nvGraphicFramePr>
          <p:cNvPr id="9" name="Table 8"/>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0.666</a:t>
                      </a:r>
                    </a:p>
                  </a:txBody>
                  <a:tcPr>
                    <a:solidFill>
                      <a:srgbClr val="FFFFFF"/>
                    </a:solidFill>
                  </a:tcPr>
                </a:tc>
                <a:tc>
                  <a:txBody>
                    <a:bodyPr/>
                    <a:lstStyle/>
                    <a:p>
                      <a:pPr algn="ctr"/>
                      <a:r>
                        <a:rPr sz="750" b="0">
                          <a:solidFill>
                            <a:srgbClr val="202020"/>
                          </a:solidFill>
                        </a:rPr>
                        <a:t>0.680</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0.671</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0.668</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0.776</a:t>
                      </a:r>
                    </a:p>
                  </a:txBody>
                  <a:tcPr>
                    <a:solidFill>
                      <a:srgbClr val="FFFFFF"/>
                    </a:solidFill>
                  </a:tcPr>
                </a:tc>
                <a:tc>
                  <a:txBody>
                    <a:bodyPr/>
                    <a:lstStyle/>
                    <a:p>
                      <a:pPr algn="ctr"/>
                      <a:r>
                        <a:rPr sz="750" b="0">
                          <a:solidFill>
                            <a:srgbClr val="202020"/>
                          </a:solidFill>
                        </a:rPr>
                        <a:t>0.777</a:t>
                      </a:r>
                    </a:p>
                  </a:txBody>
                  <a:tcPr>
                    <a:solidFill>
                      <a:srgbClr val="FFFFFF"/>
                    </a:solidFill>
                  </a:tcPr>
                </a:tc>
                <a:tc>
                  <a:txBody>
                    <a:bodyPr/>
                    <a:lstStyle/>
                    <a:p>
                      <a:pPr algn="ctr"/>
                      <a:r>
                        <a:rPr sz="750" b="0">
                          <a:solidFill>
                            <a:srgbClr val="202020"/>
                          </a:solidFill>
                        </a:rPr>
                        <a:t>0.775</a:t>
                      </a:r>
                    </a:p>
                  </a:txBody>
                  <a:tcPr>
                    <a:solidFill>
                      <a:srgbClr val="FFFFFF"/>
                    </a:solidFill>
                  </a:tcPr>
                </a:tc>
                <a:tc>
                  <a:txBody>
                    <a:bodyPr/>
                    <a:lstStyle/>
                    <a:p>
                      <a:pPr algn="ctr"/>
                      <a:r>
                        <a:rPr sz="750" b="0">
                          <a:solidFill>
                            <a:srgbClr val="202020"/>
                          </a:solidFill>
                        </a:rPr>
                        <a:t>0.777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0.663</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0.797</a:t>
                      </a:r>
                    </a:p>
                  </a:txBody>
                  <a:tcPr>
                    <a:solidFill>
                      <a:srgbClr val="E8F0FE"/>
                    </a:solidFill>
                  </a:tcPr>
                </a:tc>
                <a:tc>
                  <a:txBody>
                    <a:bodyPr/>
                    <a:lstStyle/>
                    <a:p>
                      <a:pPr algn="ctr"/>
                      <a:r>
                        <a:rPr sz="750" b="0">
                          <a:solidFill>
                            <a:srgbClr val="202020"/>
                          </a:solidFill>
                        </a:rPr>
                        <a:t>0.795</a:t>
                      </a:r>
                    </a:p>
                  </a:txBody>
                  <a:tcPr>
                    <a:solidFill>
                      <a:srgbClr val="E8F0FE"/>
                    </a:solidFill>
                  </a:tcPr>
                </a:tc>
              </a:tr>
            </a:tbl>
          </a:graphicData>
        </a:graphic>
      </p:graphicFrame>
      <p:sp>
        <p:nvSpPr>
          <p:cNvPr id="10" name="TextBox 9"/>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KDEF 4-Class</a:t>
            </a:r>
          </a:p>
        </p:txBody>
      </p:sp>
      <p:graphicFrame>
        <p:nvGraphicFramePr>
          <p:cNvPr id="11" name="Table 10"/>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0.841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0.831</a:t>
                      </a:r>
                    </a:p>
                  </a:txBody>
                  <a:tcPr>
                    <a:solidFill>
                      <a:srgbClr val="E8F0FE"/>
                    </a:solidFill>
                  </a:tcPr>
                </a:tc>
                <a:tc>
                  <a:txBody>
                    <a:bodyPr/>
                    <a:lstStyle/>
                    <a:p>
                      <a:pPr algn="ctr"/>
                      <a:r>
                        <a:rPr sz="750" b="0">
                          <a:solidFill>
                            <a:srgbClr val="202020"/>
                          </a:solidFill>
                        </a:rPr>
                        <a:t>0.828</a:t>
                      </a:r>
                    </a:p>
                  </a:txBody>
                  <a:tcPr>
                    <a:solidFill>
                      <a:srgbClr val="E8F0FE"/>
                    </a:solidFill>
                  </a:tcPr>
                </a:tc>
                <a:tc>
                  <a:txBody>
                    <a:bodyPr/>
                    <a:lstStyle/>
                    <a:p>
                      <a:pPr algn="ctr"/>
                      <a:r>
                        <a:rPr sz="750" b="0">
                          <a:solidFill>
                            <a:srgbClr val="202020"/>
                          </a:solidFill>
                        </a:rPr>
                        <a:t>0.831</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0.918</a:t>
                      </a:r>
                    </a:p>
                  </a:txBody>
                  <a:tcPr>
                    <a:solidFill>
                      <a:srgbClr val="FFFFFF"/>
                    </a:solidFill>
                  </a:tcPr>
                </a:tc>
                <a:tc>
                  <a:txBody>
                    <a:bodyPr/>
                    <a:lstStyle/>
                    <a:p>
                      <a:pPr algn="ctr"/>
                      <a:r>
                        <a:rPr sz="750" b="0">
                          <a:solidFill>
                            <a:srgbClr val="202020"/>
                          </a:solidFill>
                        </a:rPr>
                        <a:t>0.929</a:t>
                      </a:r>
                    </a:p>
                  </a:txBody>
                  <a:tcPr>
                    <a:solidFill>
                      <a:srgbClr val="FFFFFF"/>
                    </a:solidFill>
                  </a:tcPr>
                </a:tc>
                <a:tc>
                  <a:txBody>
                    <a:bodyPr/>
                    <a:lstStyle/>
                    <a:p>
                      <a:pPr algn="ctr"/>
                      <a:r>
                        <a:rPr sz="750" b="0">
                          <a:solidFill>
                            <a:srgbClr val="202020"/>
                          </a:solidFill>
                        </a:rPr>
                        <a:t>0.928</a:t>
                      </a:r>
                    </a:p>
                  </a:txBody>
                  <a:tcPr>
                    <a:solidFill>
                      <a:srgbClr val="FFFFFF"/>
                    </a:solidFill>
                  </a:tcPr>
                </a:tc>
                <a:tc>
                  <a:txBody>
                    <a:bodyPr/>
                    <a:lstStyle/>
                    <a:p>
                      <a:pPr algn="ctr"/>
                      <a:r>
                        <a:rPr sz="750" b="0">
                          <a:solidFill>
                            <a:srgbClr val="202020"/>
                          </a:solidFill>
                        </a:rPr>
                        <a:t>0.929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0.923</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0.859</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0.888</a:t>
                      </a:r>
                    </a:p>
                  </a:txBody>
                  <a:tcPr>
                    <a:solidFill>
                      <a:srgbClr val="FFFFFF"/>
                    </a:solidFill>
                  </a:tcPr>
                </a:tc>
                <a:tc>
                  <a:txBody>
                    <a:bodyPr/>
                    <a:lstStyle/>
                    <a:p>
                      <a:pPr algn="ctr"/>
                      <a:r>
                        <a:rPr sz="750" b="0">
                          <a:solidFill>
                            <a:srgbClr val="202020"/>
                          </a:solidFill>
                        </a:rPr>
                        <a:t>0.890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0.920</a:t>
                      </a:r>
                    </a:p>
                  </a:txBody>
                  <a:tcPr>
                    <a:solidFill>
                      <a:srgbClr val="E8F0FE"/>
                    </a:solidFill>
                  </a:tcPr>
                </a:tc>
                <a:tc>
                  <a:txBody>
                    <a:bodyPr/>
                    <a:lstStyle/>
                    <a:p>
                      <a:pPr algn="ctr"/>
                      <a:r>
                        <a:rPr sz="750" b="0">
                          <a:solidFill>
                            <a:srgbClr val="202020"/>
                          </a:solidFill>
                        </a:rPr>
                        <a:t>0.932</a:t>
                      </a:r>
                    </a:p>
                  </a:txBody>
                  <a:tcPr>
                    <a:solidFill>
                      <a:srgbClr val="E8F0FE"/>
                    </a:solidFill>
                  </a:tcPr>
                </a:tc>
                <a:tc>
                  <a:txBody>
                    <a:bodyPr/>
                    <a:lstStyle/>
                    <a:p>
                      <a:pPr algn="ctr"/>
                      <a:r>
                        <a:rPr sz="750" b="0">
                          <a:solidFill>
                            <a:srgbClr val="202020"/>
                          </a:solidFill>
                        </a:rPr>
                        <a:t>0.930</a:t>
                      </a:r>
                    </a:p>
                  </a:txBody>
                  <a:tcPr>
                    <a:solidFill>
                      <a:srgbClr val="E8F0FE"/>
                    </a:solidFill>
                  </a:tcPr>
                </a:tc>
                <a:tc>
                  <a:txBody>
                    <a:bodyPr/>
                    <a:lstStyle/>
                    <a:p>
                      <a:pPr algn="ctr"/>
                      <a:r>
                        <a:rPr sz="750" b="0">
                          <a:solidFill>
                            <a:srgbClr val="202020"/>
                          </a:solidFill>
                        </a:rPr>
                        <a:t>0.932</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0.763</a:t>
                      </a:r>
                    </a:p>
                  </a:txBody>
                  <a:tcPr>
                    <a:solidFill>
                      <a:srgbClr val="E8F0FE"/>
                    </a:solidFill>
                  </a:tcPr>
                </a:tc>
                <a:tc>
                  <a:txBody>
                    <a:bodyPr/>
                    <a:lstStyle/>
                    <a:p>
                      <a:pPr algn="ctr"/>
                      <a:r>
                        <a:rPr sz="750" b="0">
                          <a:solidFill>
                            <a:srgbClr val="202020"/>
                          </a:solidFill>
                        </a:rPr>
                        <a:t>0.764</a:t>
                      </a:r>
                    </a:p>
                  </a:txBody>
                  <a:tcPr>
                    <a:solidFill>
                      <a:srgbClr val="E8F0FE"/>
                    </a:solidFill>
                  </a:tcPr>
                </a:tc>
                <a:tc>
                  <a:txBody>
                    <a:bodyPr/>
                    <a:lstStyle/>
                    <a:p>
                      <a:pPr algn="ctr"/>
                      <a:r>
                        <a:rPr sz="750" b="0">
                          <a:solidFill>
                            <a:srgbClr val="202020"/>
                          </a:solidFill>
                        </a:rPr>
                        <a:t>0.763</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0.816</a:t>
                      </a:r>
                    </a:p>
                  </a:txBody>
                  <a:tcPr>
                    <a:solidFill>
                      <a:srgbClr val="E8F0FE"/>
                    </a:solidFill>
                  </a:tcPr>
                </a:tc>
                <a:tc>
                  <a:txBody>
                    <a:bodyPr/>
                    <a:lstStyle/>
                    <a:p>
                      <a:pPr algn="ctr"/>
                      <a:r>
                        <a:rPr sz="750" b="0">
                          <a:solidFill>
                            <a:srgbClr val="202020"/>
                          </a:solidFill>
                        </a:rPr>
                        <a:t>0.855</a:t>
                      </a:r>
                    </a:p>
                  </a:txBody>
                  <a:tcPr>
                    <a:solidFill>
                      <a:srgbClr val="E8F0FE"/>
                    </a:solidFill>
                  </a:tcPr>
                </a:tc>
                <a:tc>
                  <a:txBody>
                    <a:bodyPr/>
                    <a:lstStyle/>
                    <a:p>
                      <a:pPr algn="ctr"/>
                      <a:r>
                        <a:rPr sz="750" b="0">
                          <a:solidFill>
                            <a:srgbClr val="202020"/>
                          </a:solidFill>
                        </a:rPr>
                        <a:t>0.854</a:t>
                      </a:r>
                    </a:p>
                  </a:txBody>
                  <a:tcPr>
                    <a:solidFill>
                      <a:srgbClr val="E8F0FE"/>
                    </a:solidFill>
                  </a:tcPr>
                </a:tc>
                <a:tc>
                  <a:txBody>
                    <a:bodyPr/>
                    <a:lstStyle/>
                    <a:p>
                      <a:pPr algn="ctr"/>
                      <a:r>
                        <a:rPr sz="750" b="0">
                          <a:solidFill>
                            <a:srgbClr val="202020"/>
                          </a:solidFill>
                        </a:rPr>
                        <a:t>0.855</a:t>
                      </a:r>
                    </a:p>
                  </a:txBody>
                  <a:tcPr>
                    <a:solidFill>
                      <a:srgbClr val="E8F0FE"/>
                    </a:solidFill>
                  </a:tcPr>
                </a:tc>
              </a:tr>
            </a:tbl>
          </a:graphicData>
        </a:graphic>
      </p:graphicFrame>
      <p:sp>
        <p:nvSpPr>
          <p:cNvPr id="12" name="TextBox 11"/>
          <p:cNvSpPr txBox="1"/>
          <p:nvPr/>
        </p:nvSpPr>
        <p:spPr>
          <a:xfrm>
            <a:off x="274320" y="5715000"/>
            <a:ext cx="8595360" cy="365760"/>
          </a:xfrm>
          <a:prstGeom prst="rect">
            <a:avLst/>
          </a:prstGeom>
          <a:solidFill>
            <a:srgbClr val="E6F4EA"/>
          </a:solidFill>
        </p:spPr>
        <p:txBody>
          <a:bodyPr wrap="square">
            <a:spAutoFit/>
          </a:bodyPr>
          <a:lstStyle/>
          <a:p>
            <a:pPr algn="l"/>
            <a:r>
              <a:rPr sz="900" b="1" i="0">
                <a:solidFill>
                  <a:srgbClr val="0F9D58"/>
                </a:solidFill>
              </a:rPr>
              <a:t>Pola konsisten: Intermediate TL unggul di RAF-DB/KDEF 4c. Late Fusion TL kompetitif (selisih &lt;0.01).</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JAFFE</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9" name="TextBox 8"/>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JAFFE 7-Class</a:t>
            </a:r>
          </a:p>
        </p:txBody>
      </p:sp>
      <p:graphicFrame>
        <p:nvGraphicFramePr>
          <p:cNvPr id="10" name="Table 9"/>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0.304</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0.319</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0.209</a:t>
                      </a:r>
                    </a:p>
                  </a:txBody>
                  <a:tcPr>
                    <a:solidFill>
                      <a:srgbClr val="FFFFFF"/>
                    </a:solidFill>
                  </a:tcPr>
                </a:tc>
                <a:tc>
                  <a:txBody>
                    <a:bodyPr/>
                    <a:lstStyle/>
                    <a:p>
                      <a:pPr algn="ctr"/>
                      <a:r>
                        <a:rPr sz="750" b="0">
                          <a:solidFill>
                            <a:srgbClr val="202020"/>
                          </a:solidFill>
                        </a:rPr>
                        <a:t>0.250</a:t>
                      </a:r>
                    </a:p>
                  </a:txBody>
                  <a:tcPr>
                    <a:solidFill>
                      <a:srgbClr val="FFFFFF"/>
                    </a:solidFill>
                  </a:tcPr>
                </a:tc>
                <a:tc>
                  <a:txBody>
                    <a:bodyPr/>
                    <a:lstStyle/>
                    <a:p>
                      <a:pPr algn="ctr"/>
                      <a:r>
                        <a:rPr sz="750" b="0">
                          <a:solidFill>
                            <a:srgbClr val="202020"/>
                          </a:solidFill>
                        </a:rPr>
                        <a:t>0.169</a:t>
                      </a:r>
                    </a:p>
                  </a:txBody>
                  <a:tcPr>
                    <a:solidFill>
                      <a:srgbClr val="FFFFFF"/>
                    </a:solidFill>
                  </a:tcPr>
                </a:tc>
                <a:tc>
                  <a:txBody>
                    <a:bodyPr/>
                    <a:lstStyle/>
                    <a:p>
                      <a:pPr algn="ctr"/>
                      <a:r>
                        <a:rPr sz="750" b="0">
                          <a:solidFill>
                            <a:srgbClr val="202020"/>
                          </a:solidFill>
                        </a:rPr>
                        <a:t>0.250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0.039</a:t>
                      </a:r>
                    </a:p>
                  </a:txBody>
                  <a:tcPr>
                    <a:solidFill>
                      <a:srgbClr val="E8F0FE"/>
                    </a:solidFill>
                  </a:tcPr>
                </a:tc>
                <a:tc>
                  <a:txBody>
                    <a:bodyPr/>
                    <a:lstStyle/>
                    <a:p>
                      <a:pPr algn="ctr"/>
                      <a:r>
                        <a:rPr sz="750" b="0">
                          <a:solidFill>
                            <a:srgbClr val="202020"/>
                          </a:solidFill>
                        </a:rPr>
                        <a:t>0.150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0.464</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0.437</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0.447</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0.420</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0.314</a:t>
                      </a:r>
                    </a:p>
                  </a:txBody>
                  <a:tcPr>
                    <a:solidFill>
                      <a:srgbClr val="E6F4EA"/>
                    </a:solidFill>
                  </a:tcPr>
                </a:tc>
                <a:tc>
                  <a:txBody>
                    <a:bodyPr/>
                    <a:lstStyle/>
                    <a:p>
                      <a:pPr algn="ctr"/>
                      <a:r>
                        <a:rPr sz="750" b="0">
                          <a:solidFill>
                            <a:srgbClr val="202020"/>
                          </a:solidFill>
                        </a:rPr>
                        <a:t>0.400</a:t>
                      </a:r>
                    </a:p>
                  </a:txBody>
                  <a:tcPr>
                    <a:solidFill>
                      <a:srgbClr val="E6F4EA"/>
                    </a:solidFill>
                  </a:tcPr>
                </a:tc>
                <a:tc>
                  <a:txBody>
                    <a:bodyPr/>
                    <a:lstStyle/>
                    <a:p>
                      <a:pPr algn="ctr"/>
                      <a:r>
                        <a:rPr sz="750" b="0">
                          <a:solidFill>
                            <a:srgbClr val="202020"/>
                          </a:solidFill>
                        </a:rPr>
                        <a:t>0.290</a:t>
                      </a:r>
                    </a:p>
                  </a:txBody>
                  <a:tcPr>
                    <a:solidFill>
                      <a:srgbClr val="E6F4EA"/>
                    </a:solidFill>
                  </a:tcPr>
                </a:tc>
                <a:tc>
                  <a:txBody>
                    <a:bodyPr/>
                    <a:lstStyle/>
                    <a:p>
                      <a:pPr algn="ctr"/>
                      <a:r>
                        <a:rPr sz="750" b="0">
                          <a:solidFill>
                            <a:srgbClr val="202020"/>
                          </a:solidFill>
                        </a:rPr>
                        <a:t>0.400</a:t>
                      </a:r>
                    </a:p>
                  </a:txBody>
                  <a:tcPr>
                    <a:solidFill>
                      <a:srgbClr val="E6F4EA"/>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0.146</a:t>
                      </a:r>
                    </a:p>
                  </a:txBody>
                  <a:tcPr>
                    <a:solidFill>
                      <a:srgbClr val="E8F0FE"/>
                    </a:solidFill>
                  </a:tcPr>
                </a:tc>
                <a:tc>
                  <a:txBody>
                    <a:bodyPr/>
                    <a:lstStyle/>
                    <a:p>
                      <a:pPr algn="ctr"/>
                      <a:r>
                        <a:rPr sz="750" b="0">
                          <a:solidFill>
                            <a:srgbClr val="202020"/>
                          </a:solidFill>
                        </a:rPr>
                        <a:t>0.200</a:t>
                      </a:r>
                    </a:p>
                  </a:txBody>
                  <a:tcPr>
                    <a:solidFill>
                      <a:srgbClr val="E8F0FE"/>
                    </a:solidFill>
                  </a:tcPr>
                </a:tc>
                <a:tc>
                  <a:txBody>
                    <a:bodyPr/>
                    <a:lstStyle/>
                    <a:p>
                      <a:pPr algn="ctr"/>
                      <a:r>
                        <a:rPr sz="750" b="0">
                          <a:solidFill>
                            <a:srgbClr val="202020"/>
                          </a:solidFill>
                        </a:rPr>
                        <a:t>0.120</a:t>
                      </a:r>
                    </a:p>
                  </a:txBody>
                  <a:tcPr>
                    <a:solidFill>
                      <a:srgbClr val="E8F0FE"/>
                    </a:solidFill>
                  </a:tcPr>
                </a:tc>
                <a:tc>
                  <a:txBody>
                    <a:bodyPr/>
                    <a:lstStyle/>
                    <a:p>
                      <a:pPr algn="ctr"/>
                      <a:r>
                        <a:rPr sz="750" b="0">
                          <a:solidFill>
                            <a:srgbClr val="202020"/>
                          </a:solidFill>
                        </a:rPr>
                        <a:t>0.200</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0.286</a:t>
                      </a:r>
                    </a:p>
                  </a:txBody>
                  <a:tcPr>
                    <a:solidFill>
                      <a:srgbClr val="E8F0FE"/>
                    </a:solidFill>
                  </a:tcPr>
                </a:tc>
                <a:tc>
                  <a:txBody>
                    <a:bodyPr/>
                    <a:lstStyle/>
                    <a:p>
                      <a:pPr algn="ctr"/>
                      <a:r>
                        <a:rPr sz="750" b="0">
                          <a:solidFill>
                            <a:srgbClr val="202020"/>
                          </a:solidFill>
                        </a:rPr>
                        <a:t>0.350</a:t>
                      </a:r>
                    </a:p>
                  </a:txBody>
                  <a:tcPr>
                    <a:solidFill>
                      <a:srgbClr val="E8F0FE"/>
                    </a:solidFill>
                  </a:tcPr>
                </a:tc>
                <a:tc>
                  <a:txBody>
                    <a:bodyPr/>
                    <a:lstStyle/>
                    <a:p>
                      <a:pPr algn="ctr"/>
                      <a:r>
                        <a:rPr sz="750" b="0">
                          <a:solidFill>
                            <a:srgbClr val="202020"/>
                          </a:solidFill>
                        </a:rPr>
                        <a:t>0.267</a:t>
                      </a:r>
                    </a:p>
                  </a:txBody>
                  <a:tcPr>
                    <a:solidFill>
                      <a:srgbClr val="E8F0FE"/>
                    </a:solidFill>
                  </a:tcPr>
                </a:tc>
                <a:tc>
                  <a:txBody>
                    <a:bodyPr/>
                    <a:lstStyle/>
                    <a:p>
                      <a:pPr algn="ctr"/>
                      <a:r>
                        <a:rPr sz="750" b="0">
                          <a:solidFill>
                            <a:srgbClr val="202020"/>
                          </a:solidFill>
                        </a:rPr>
                        <a:t>0.350</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0.041</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0.043</a:t>
                      </a:r>
                    </a:p>
                  </a:txBody>
                  <a:tcPr>
                    <a:solidFill>
                      <a:srgbClr val="E8F0FE"/>
                    </a:solidFill>
                  </a:tcPr>
                </a:tc>
                <a:tc>
                  <a:txBody>
                    <a:bodyPr/>
                    <a:lstStyle/>
                    <a:p>
                      <a:pPr algn="ctr"/>
                      <a:r>
                        <a:rPr sz="750" b="0">
                          <a:solidFill>
                            <a:srgbClr val="202020"/>
                          </a:solidFill>
                        </a:rPr>
                        <a:t>0.150</a:t>
                      </a:r>
                    </a:p>
                  </a:txBody>
                  <a:tcPr>
                    <a:solidFill>
                      <a:srgbClr val="E8F0FE"/>
                    </a:solidFill>
                  </a:tcPr>
                </a:tc>
              </a:tr>
            </a:tbl>
          </a:graphicData>
        </a:graphic>
      </p:graphicFrame>
      <p:sp>
        <p:nvSpPr>
          <p:cNvPr id="11" name="TextBox 10"/>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JAFFE 4-Class</a:t>
            </a:r>
          </a:p>
        </p:txBody>
      </p:sp>
      <p:graphicFrame>
        <p:nvGraphicFramePr>
          <p:cNvPr id="12" name="Table 11"/>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0.438</a:t>
                      </a:r>
                    </a:p>
                  </a:txBody>
                  <a:tcPr>
                    <a:solidFill>
                      <a:srgbClr val="FFFFFF"/>
                    </a:solidFill>
                  </a:tcPr>
                </a:tc>
                <a:tc>
                  <a:txBody>
                    <a:bodyPr/>
                    <a:lstStyle/>
                    <a:p>
                      <a:pPr algn="ctr"/>
                      <a:r>
                        <a:rPr sz="750" b="0">
                          <a:solidFill>
                            <a:srgbClr val="202020"/>
                          </a:solidFill>
                        </a:rPr>
                        <a:t>0.550</a:t>
                      </a:r>
                    </a:p>
                  </a:txBody>
                  <a:tcPr>
                    <a:solidFill>
                      <a:srgbClr val="FFFFFF"/>
                    </a:solidFill>
                  </a:tcPr>
                </a:tc>
                <a:tc>
                  <a:txBody>
                    <a:bodyPr/>
                    <a:lstStyle/>
                    <a:p>
                      <a:pPr algn="ctr"/>
                      <a:r>
                        <a:rPr sz="750" b="0">
                          <a:solidFill>
                            <a:srgbClr val="202020"/>
                          </a:solidFill>
                        </a:rPr>
                        <a:t>0.530</a:t>
                      </a:r>
                    </a:p>
                  </a:txBody>
                  <a:tcPr>
                    <a:solidFill>
                      <a:srgbClr val="FFFFFF"/>
                    </a:solidFill>
                  </a:tcPr>
                </a:tc>
                <a:tc>
                  <a:txBody>
                    <a:bodyPr/>
                    <a:lstStyle/>
                    <a:p>
                      <a:pPr algn="ctr"/>
                      <a:r>
                        <a:rPr sz="750" b="0">
                          <a:solidFill>
                            <a:srgbClr val="202020"/>
                          </a:solidFill>
                        </a:rPr>
                        <a:t>0.550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0.329</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0.375</a:t>
                      </a:r>
                    </a:p>
                  </a:txBody>
                  <a:tcPr>
                    <a:solidFill>
                      <a:srgbClr val="E8F0FE"/>
                    </a:solidFill>
                  </a:tcPr>
                </a:tc>
                <a:tc>
                  <a:txBody>
                    <a:bodyPr/>
                    <a:lstStyle/>
                    <a:p>
                      <a:pPr algn="ctr"/>
                      <a:r>
                        <a:rPr sz="750" b="0">
                          <a:solidFill>
                            <a:srgbClr val="202020"/>
                          </a:solidFill>
                        </a:rPr>
                        <a:t>0.650</a:t>
                      </a:r>
                    </a:p>
                  </a:txBody>
                  <a:tcPr>
                    <a:solidFill>
                      <a:srgbClr val="E8F0FE"/>
                    </a:solidFill>
                  </a:tcPr>
                </a:tc>
                <a:tc>
                  <a:txBody>
                    <a:bodyPr/>
                    <a:lstStyle/>
                    <a:p>
                      <a:pPr algn="ctr"/>
                      <a:r>
                        <a:rPr sz="750" b="0">
                          <a:solidFill>
                            <a:srgbClr val="202020"/>
                          </a:solidFill>
                        </a:rPr>
                        <a:t>0.558</a:t>
                      </a:r>
                    </a:p>
                  </a:txBody>
                  <a:tcPr>
                    <a:solidFill>
                      <a:srgbClr val="E8F0FE"/>
                    </a:solidFill>
                  </a:tcPr>
                </a:tc>
                <a:tc>
                  <a:txBody>
                    <a:bodyPr/>
                    <a:lstStyle/>
                    <a:p>
                      <a:pPr algn="ctr"/>
                      <a:r>
                        <a:rPr sz="750" b="0">
                          <a:solidFill>
                            <a:srgbClr val="202020"/>
                          </a:solidFill>
                        </a:rPr>
                        <a:t>0.650</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0.492</a:t>
                      </a:r>
                    </a:p>
                  </a:txBody>
                  <a:tcPr>
                    <a:solidFill>
                      <a:srgbClr val="FFFFFF"/>
                    </a:solidFill>
                  </a:tcPr>
                </a:tc>
                <a:tc>
                  <a:txBody>
                    <a:bodyPr/>
                    <a:lstStyle/>
                    <a:p>
                      <a:pPr algn="ctr"/>
                      <a:r>
                        <a:rPr sz="750" b="0">
                          <a:solidFill>
                            <a:srgbClr val="202020"/>
                          </a:solidFill>
                        </a:rPr>
                        <a:t>0.650</a:t>
                      </a:r>
                    </a:p>
                  </a:txBody>
                  <a:tcPr>
                    <a:solidFill>
                      <a:srgbClr val="FFFFFF"/>
                    </a:solidFill>
                  </a:tcPr>
                </a:tc>
                <a:tc>
                  <a:txBody>
                    <a:bodyPr/>
                    <a:lstStyle/>
                    <a:p>
                      <a:pPr algn="ctr"/>
                      <a:r>
                        <a:rPr sz="750" b="0">
                          <a:solidFill>
                            <a:srgbClr val="202020"/>
                          </a:solidFill>
                        </a:rPr>
                        <a:t>0.615</a:t>
                      </a:r>
                    </a:p>
                  </a:txBody>
                  <a:tcPr>
                    <a:solidFill>
                      <a:srgbClr val="FFFFFF"/>
                    </a:solidFill>
                  </a:tcPr>
                </a:tc>
                <a:tc>
                  <a:txBody>
                    <a:bodyPr/>
                    <a:lstStyle/>
                    <a:p>
                      <a:pPr algn="ctr"/>
                      <a:r>
                        <a:rPr sz="750" b="0">
                          <a:solidFill>
                            <a:srgbClr val="202020"/>
                          </a:solidFill>
                        </a:rPr>
                        <a:t>0.650</a:t>
                      </a:r>
                    </a:p>
                  </a:txBody>
                  <a:tcPr>
                    <a:solidFill>
                      <a:srgbClr val="FFFFFF"/>
                    </a:solidFill>
                  </a:tcPr>
                </a:tc>
              </a:tr>
              <a:tr h="285750">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0.492</a:t>
                      </a:r>
                    </a:p>
                  </a:txBody>
                  <a:tcPr>
                    <a:solidFill>
                      <a:srgbClr val="E6F4EA"/>
                    </a:solidFill>
                  </a:tcPr>
                </a:tc>
                <a:tc>
                  <a:txBody>
                    <a:bodyPr/>
                    <a:lstStyle/>
                    <a:p>
                      <a:pPr algn="ctr"/>
                      <a:r>
                        <a:rPr sz="750" b="0">
                          <a:solidFill>
                            <a:srgbClr val="202020"/>
                          </a:solidFill>
                        </a:rPr>
                        <a:t>0.650</a:t>
                      </a:r>
                    </a:p>
                  </a:txBody>
                  <a:tcPr>
                    <a:solidFill>
                      <a:srgbClr val="E6F4EA"/>
                    </a:solidFill>
                  </a:tcPr>
                </a:tc>
                <a:tc>
                  <a:txBody>
                    <a:bodyPr/>
                    <a:lstStyle/>
                    <a:p>
                      <a:pPr algn="ctr"/>
                      <a:r>
                        <a:rPr sz="750" b="0">
                          <a:solidFill>
                            <a:srgbClr val="202020"/>
                          </a:solidFill>
                        </a:rPr>
                        <a:t>0.615</a:t>
                      </a:r>
                    </a:p>
                  </a:txBody>
                  <a:tcPr>
                    <a:solidFill>
                      <a:srgbClr val="E6F4EA"/>
                    </a:solidFill>
                  </a:tcPr>
                </a:tc>
                <a:tc>
                  <a:txBody>
                    <a:bodyPr/>
                    <a:lstStyle/>
                    <a:p>
                      <a:pPr algn="ctr"/>
                      <a:r>
                        <a:rPr sz="750" b="0">
                          <a:solidFill>
                            <a:srgbClr val="202020"/>
                          </a:solidFill>
                        </a:rPr>
                        <a:t>0.650</a:t>
                      </a:r>
                    </a:p>
                  </a:txBody>
                  <a:tcPr>
                    <a:solidFill>
                      <a:srgbClr val="E6F4EA"/>
                    </a:solidFill>
                  </a:tcPr>
                </a:tc>
              </a:tr>
              <a:tr h="285750">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0.177</a:t>
                      </a:r>
                    </a:p>
                  </a:txBody>
                  <a:tcPr>
                    <a:solidFill>
                      <a:srgbClr val="E6F4EA"/>
                    </a:solidFill>
                  </a:tcPr>
                </a:tc>
                <a:tc>
                  <a:txBody>
                    <a:bodyPr/>
                    <a:lstStyle/>
                    <a:p>
                      <a:pPr algn="ctr"/>
                      <a:r>
                        <a:rPr sz="750" b="0">
                          <a:solidFill>
                            <a:srgbClr val="202020"/>
                          </a:solidFill>
                        </a:rPr>
                        <a:t>0.550</a:t>
                      </a:r>
                    </a:p>
                  </a:txBody>
                  <a:tcPr>
                    <a:solidFill>
                      <a:srgbClr val="E6F4EA"/>
                    </a:solidFill>
                  </a:tcPr>
                </a:tc>
                <a:tc>
                  <a:txBody>
                    <a:bodyPr/>
                    <a:lstStyle/>
                    <a:p>
                      <a:pPr algn="ctr"/>
                      <a:r>
                        <a:rPr sz="750" b="0">
                          <a:solidFill>
                            <a:srgbClr val="202020"/>
                          </a:solidFill>
                        </a:rPr>
                        <a:t>0.390</a:t>
                      </a:r>
                    </a:p>
                  </a:txBody>
                  <a:tcPr>
                    <a:solidFill>
                      <a:srgbClr val="E6F4EA"/>
                    </a:solidFill>
                  </a:tcPr>
                </a:tc>
                <a:tc>
                  <a:txBody>
                    <a:bodyPr/>
                    <a:lstStyle/>
                    <a:p>
                      <a:pPr algn="ctr"/>
                      <a:r>
                        <a:rPr sz="750" b="0">
                          <a:solidFill>
                            <a:srgbClr val="202020"/>
                          </a:solidFill>
                        </a:rPr>
                        <a:t>0.550</a:t>
                      </a:r>
                    </a:p>
                  </a:txBody>
                  <a:tcPr>
                    <a:solidFill>
                      <a:srgbClr val="E6F4EA"/>
                    </a:solidFill>
                  </a:tcPr>
                </a:tc>
              </a:tr>
              <a:tr h="285750">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0.352</a:t>
                      </a:r>
                    </a:p>
                  </a:txBody>
                  <a:tcPr>
                    <a:solidFill>
                      <a:srgbClr val="E6F4EA"/>
                    </a:solidFill>
                  </a:tcPr>
                </a:tc>
                <a:tc>
                  <a:txBody>
                    <a:bodyPr/>
                    <a:lstStyle/>
                    <a:p>
                      <a:pPr algn="ctr"/>
                      <a:r>
                        <a:rPr sz="750" b="0">
                          <a:solidFill>
                            <a:srgbClr val="202020"/>
                          </a:solidFill>
                        </a:rPr>
                        <a:t>0.600</a:t>
                      </a:r>
                    </a:p>
                  </a:txBody>
                  <a:tcPr>
                    <a:solidFill>
                      <a:srgbClr val="E6F4EA"/>
                    </a:solidFill>
                  </a:tcPr>
                </a:tc>
                <a:tc>
                  <a:txBody>
                    <a:bodyPr/>
                    <a:lstStyle/>
                    <a:p>
                      <a:pPr algn="ctr"/>
                      <a:r>
                        <a:rPr sz="750" b="0">
                          <a:solidFill>
                            <a:srgbClr val="202020"/>
                          </a:solidFill>
                        </a:rPr>
                        <a:t>0.507</a:t>
                      </a:r>
                    </a:p>
                  </a:txBody>
                  <a:tcPr>
                    <a:solidFill>
                      <a:srgbClr val="E6F4EA"/>
                    </a:solidFill>
                  </a:tcPr>
                </a:tc>
                <a:tc>
                  <a:txBody>
                    <a:bodyPr/>
                    <a:lstStyle/>
                    <a:p>
                      <a:pPr algn="ctr"/>
                      <a:r>
                        <a:rPr sz="750" b="0">
                          <a:solidFill>
                            <a:srgbClr val="202020"/>
                          </a:solidFill>
                        </a:rPr>
                        <a:t>0.600</a:t>
                      </a:r>
                    </a:p>
                  </a:txBody>
                  <a:tcPr>
                    <a:solidFill>
                      <a:srgbClr val="E6F4EA"/>
                    </a:solidFill>
                  </a:tcPr>
                </a:tc>
              </a:tr>
            </a:tbl>
          </a:graphicData>
        </a:graphic>
      </p:graphicFrame>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